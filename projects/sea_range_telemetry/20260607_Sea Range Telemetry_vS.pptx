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Scope &amp; Boundary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| The model sizes current U.S. and Europe maritime range-support spend before applying ASV addressability gates.</a:t>
            </a:r>
          </a:p>
        </p:txBody>
      </p:sp>
      <p:cxnSp>
        <p:nvCxnSpPr>
          <p:cNvPr id="30" name="Feeder"/>
          <p:cNvCxnSpPr/>
          <p:nvPr/>
        </p:nvCxnSpPr>
        <p:spPr>
          <a:xfrm>
            <a:off x="2853079" y="2047650"/>
            <a:ext cx="120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1" name="Feeder"/>
          <p:cNvCxnSpPr/>
          <p:nvPr/>
        </p:nvCxnSpPr>
        <p:spPr>
          <a:xfrm>
            <a:off x="2853079" y="2879750"/>
            <a:ext cx="120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2" name="Feeder"/>
          <p:cNvCxnSpPr/>
          <p:nvPr/>
        </p:nvCxnSpPr>
        <p:spPr>
          <a:xfrm>
            <a:off x="2853079" y="3711850"/>
            <a:ext cx="120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3" name="Feeder"/>
          <p:cNvCxnSpPr/>
          <p:nvPr/>
        </p:nvCxnSpPr>
        <p:spPr>
          <a:xfrm>
            <a:off x="2853079" y="4543950"/>
            <a:ext cx="120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4" name="MergeBus"/>
          <p:cNvCxnSpPr/>
          <p:nvPr/>
        </p:nvCxnSpPr>
        <p:spPr>
          <a:xfrm>
            <a:off x="2973079" y="2047650"/>
            <a:ext cx="0" cy="24963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5" name="MergeArrow"/>
          <p:cNvCxnSpPr/>
          <p:nvPr/>
        </p:nvCxnSpPr>
        <p:spPr>
          <a:xfrm>
            <a:off x="2973079" y="3295800"/>
            <a:ext cx="33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" name="EvidenceCard"/>
          <p:cNvSpPr txBox="1"/>
          <p:nvPr/>
        </p:nvSpPr>
        <p:spPr>
          <a:xfrm>
            <a:off x="453079" y="1691600"/>
            <a:ext cx="2400000" cy="7121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90000" tIns="45000" rIns="90000" bIns="45000"/>
          <a:lstStyle/>
          <a:p>
            <a:pPr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</a:t>
            </a:r>
          </a:p>
          <a:p>
            <a:pPr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Awards, vendors, values, periods, vessels, TAM buckets</a:t>
            </a:r>
          </a:p>
        </p:txBody>
      </p:sp>
      <p:sp>
        <p:nvSpPr>
          <p:cNvPr id="21" name="EvidenceCard"/>
          <p:cNvSpPr txBox="1"/>
          <p:nvPr/>
        </p:nvSpPr>
        <p:spPr>
          <a:xfrm>
            <a:off x="453079" y="2523700"/>
            <a:ext cx="2400000" cy="7121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45000" rIns="90000" bIns="45000"/>
          <a:lstStyle/>
          <a:p>
            <a:pPr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BUDGETS</a:t>
            </a:r>
          </a:p>
          <a:p>
            <a:pPr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 rows, FY27 PB, maritime shares, SBX and NAVAIR layers</a:t>
            </a:r>
          </a:p>
        </p:txBody>
      </p:sp>
      <p:sp>
        <p:nvSpPr>
          <p:cNvPr id="22" name="EvidenceCard"/>
          <p:cNvSpPr txBox="1"/>
          <p:nvPr/>
        </p:nvSpPr>
        <p:spPr>
          <a:xfrm>
            <a:off x="453079" y="3355800"/>
            <a:ext cx="2400000" cy="7121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90000" tIns="45000" rIns="90000" bIns="45000"/>
          <a:lstStyle/>
          <a:p>
            <a:pPr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EVENTS AND RATES</a:t>
            </a:r>
          </a:p>
          <a:p>
            <a:pPr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Cadence, event cost, vessel / role shares, day rates</a:t>
            </a:r>
          </a:p>
        </p:txBody>
      </p:sp>
      <p:sp>
        <p:nvSpPr>
          <p:cNvPr id="23" name="EvidenceCard"/>
          <p:cNvSpPr txBox="1"/>
          <p:nvPr/>
        </p:nvSpPr>
        <p:spPr>
          <a:xfrm>
            <a:off x="453079" y="4187900"/>
            <a:ext cx="2400000" cy="7121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90000" tIns="45000" rIns="90000" bIns="45000"/>
          <a:lstStyle/>
          <a:p>
            <a:pPr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EUROPE ANCHORS</a:t>
            </a:r>
          </a:p>
          <a:p>
            <a:pPr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Country / segment spend, floors, vessel / role shares</a:t>
            </a:r>
          </a:p>
        </p:txBody>
      </p:sp>
      <p:sp>
        <p:nvSpPr>
          <p:cNvPr id="40" name="CentralCard"/>
          <p:cNvSpPr txBox="1"/>
          <p:nvPr/>
        </p:nvSpPr>
        <p:spPr>
          <a:xfrm>
            <a:off x="3303079" y="2295800"/>
            <a:ext cx="3600000" cy="20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cxnSp>
        <p:nvCxnSpPr>
          <p:cNvPr id="41" name="CardDiv1"/>
          <p:cNvCxnSpPr/>
          <p:nvPr/>
        </p:nvCxnSpPr>
        <p:spPr>
          <a:xfrm>
            <a:off x="3363079" y="2735800"/>
            <a:ext cx="348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42" name="CardDiv2"/>
          <p:cNvCxnSpPr/>
          <p:nvPr/>
        </p:nvCxnSpPr>
        <p:spPr>
          <a:xfrm>
            <a:off x="3363079" y="3765800"/>
            <a:ext cx="348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43" name="MarketName"/>
          <p:cNvSpPr txBox="1"/>
          <p:nvPr/>
        </p:nvSpPr>
        <p:spPr>
          <a:xfrm>
            <a:off x="3303079" y="2295800"/>
            <a:ext cx="36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0000" tIns="20000" rIns="120000" bIns="20000"/>
          <a:lstStyle/>
          <a:p>
            <a:pPr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SEA-RANGE TELEMETRY / MARITIME RANGE-SUPPORT</a:t>
            </a:r>
          </a:p>
        </p:txBody>
      </p:sp>
      <p:sp>
        <p:nvSpPr>
          <p:cNvPr id="44" name="TamCell"/>
          <p:cNvSpPr txBox="1"/>
          <p:nvPr/>
        </p:nvSpPr>
        <p:spPr>
          <a:xfrm>
            <a:off x="3343079" y="2735800"/>
            <a:ext cx="1740000" cy="10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annual spend pool</a:t>
            </a:r>
          </a:p>
        </p:txBody>
      </p:sp>
      <p:sp>
        <p:nvSpPr>
          <p:cNvPr id="45" name="SamCell"/>
          <p:cNvSpPr txBox="1"/>
          <p:nvPr/>
        </p:nvSpPr>
        <p:spPr>
          <a:xfrm>
            <a:off x="5123079" y="2735800"/>
            <a:ext cx="1740000" cy="10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ASV-relevant vessel / role use cases</a:t>
            </a:r>
          </a:p>
        </p:txBody>
      </p:sp>
      <p:sp>
        <p:nvSpPr>
          <p:cNvPr id="46" name="AsvDefinition"/>
          <p:cNvSpPr txBox="1"/>
          <p:nvPr/>
        </p:nvSpPr>
        <p:spPr>
          <a:xfrm>
            <a:off x="3303079" y="3765800"/>
            <a:ext cx="3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0000" tIns="20000" rIns="120000" bIns="20000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ASV-addressable = vessel-related work with an ASV-suitable role</a:t>
            </a:r>
          </a:p>
        </p:txBody>
      </p:sp>
      <p:cxnSp>
        <p:nvCxnSpPr>
          <p:cNvPr id="47" name="GateTie"/>
          <p:cNvCxnSpPr/>
          <p:nvPr/>
        </p:nvCxnSpPr>
        <p:spPr>
          <a:xfrm>
            <a:off x="5103079" y="4295800"/>
            <a:ext cx="0" cy="12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0" name="GateChip"/>
          <p:cNvSpPr txBox="1"/>
          <p:nvPr/>
        </p:nvSpPr>
        <p:spPr>
          <a:xfrm>
            <a:off x="3303079" y="4415800"/>
            <a:ext cx="1500000" cy="500000"/>
          </a:xfrm>
          <a:prstGeom prst="roundRect">
            <a:avLst>
              <a:gd name="adj" fmla="val 14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0000" tIns="40000" rIns="60000" bIns="40000"/>
          <a:lstStyle/>
          <a:p>
            <a:pPr algn="ctr">
              <a:lnSpc>
                <a:spcPct val="115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SHARE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Vessel-related fraction</a:t>
            </a:r>
          </a:p>
        </p:txBody>
      </p:sp>
      <p:sp>
        <p:nvSpPr>
          <p:cNvPr id="51" name="GateOperator"/>
          <p:cNvSpPr txBox="1"/>
          <p:nvPr/>
        </p:nvSpPr>
        <p:spPr>
          <a:xfrm>
            <a:off x="4803079" y="4415800"/>
            <a:ext cx="6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52" name="GateChip"/>
          <p:cNvSpPr txBox="1"/>
          <p:nvPr/>
        </p:nvSpPr>
        <p:spPr>
          <a:xfrm>
            <a:off x="5403079" y="4415800"/>
            <a:ext cx="1500000" cy="500000"/>
          </a:xfrm>
          <a:prstGeom prst="roundRect">
            <a:avLst>
              <a:gd name="adj" fmla="val 14000"/>
            </a:avLst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60000" tIns="40000" rIns="60000" bIns="40000"/>
          <a:lstStyle/>
          <a:p>
            <a:pPr algn="ctr">
              <a:lnSpc>
                <a:spcPct val="115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SHARE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ASV-suitable fraction</a:t>
            </a:r>
          </a:p>
        </p:txBody>
      </p:sp>
      <p:graphicFrame>
        <p:nvGraphicFramePr>
          <p:cNvPr id="60" name="ScopeLedger"/>
          <p:cNvGraphicFramePr>
            <a:graphicFrameLocks noGrp="1"/>
          </p:cNvGraphicFramePr>
          <p:nvPr/>
        </p:nvGraphicFramePr>
        <p:xfrm>
          <a:off x="7253079" y="1691600"/>
          <a:ext cx="4482362" cy="153161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0000"/>
                <a:gridCol w="1580000"/>
                <a:gridCol w="1752362"/>
              </a:tblGrid>
              <a:tr h="22097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INCLUDED 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EXCLUDED / NOT CURRENT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Geography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U.S.; Europe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Rest of world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TAM; ASV-addressable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Full SOM / capture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 basis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annualized 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Multi-year forecast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cases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Vessel-hosted telemetry; range and event support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Full MRIS replacement; SBX replacement; coercive enforcement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Addressability test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Vessel share and role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Generic penetration rate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0" name="Qualifier"/>
          <p:cNvSpPr txBox="1"/>
          <p:nvPr/>
        </p:nvSpPr>
        <p:spPr>
          <a:xfrm>
            <a:off x="453079" y="13716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annualized view; U.S. and Europe; USD $M</a:t>
            </a:r>
          </a:p>
        </p:txBody>
      </p:sp>
      <p:sp>
        <p:nvSpPr>
          <p:cNvPr id="11" name="CaveatChip"/>
          <p:cNvSpPr txBox="1"/>
          <p:nvPr/>
        </p:nvSpPr>
        <p:spPr>
          <a:xfrm>
            <a:off x="9585441" y="1371600"/>
            <a:ext cx="2150000" cy="3000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80000" tIns="30000" rIns="8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SAM excludes future capture upside</a:t>
            </a:r>
          </a:p>
        </p:txBody>
      </p:sp>
      <p:sp>
        <p:nvSpPr>
          <p:cNvPr id="70" name="Commentary"/>
          <p:cNvSpPr txBox="1"/>
          <p:nvPr/>
        </p:nvSpPr>
        <p:spPr>
          <a:xfrm>
            <a:off x="453079" y="4990000"/>
            <a:ext cx="5500000" cy="8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0000" tIns="20000" rIns="90000" bIns="20000"/>
          <a:lstStyle/>
          <a:p>
            <a:pPr>
              <a:lnSpc>
                <a:spcPct val="108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boundary is intentionally narrow.</a:t>
            </a:r>
          </a:p>
          <a:p>
            <a:pPr marL="142875" indent="-142875">
              <a:lnSpc>
                <a:spcPct val="108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starts with sea-range telemetry and maritime range-support, not broader naval autonomy.</a:t>
            </a:r>
          </a:p>
          <a:p>
            <a:pPr marL="142875" indent="-142875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covers current annual TAM and ASV-addressable SAM for the U.S. and Europe.</a:t>
            </a:r>
          </a:p>
        </p:txBody>
      </p:sp>
      <p:sp>
        <p:nvSpPr>
          <p:cNvPr id="71" name="Commentary"/>
          <p:cNvSpPr txBox="1"/>
          <p:nvPr/>
        </p:nvSpPr>
        <p:spPr>
          <a:xfrm>
            <a:off x="6253079" y="4990000"/>
            <a:ext cx="5482362" cy="8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0000" tIns="20000" rIns="90000" bIns="20000"/>
          <a:lstStyle/>
          <a:p>
            <a:pPr>
              <a:lnSpc>
                <a:spcPct val="108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Addressability is role-specific.</a:t>
            </a:r>
          </a:p>
          <a:p>
            <a:pPr marL="142875" indent="-142875">
              <a:lnSpc>
                <a:spcPct val="108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only counts work that is vessel-related and suitable for ASV execution.</a:t>
            </a:r>
          </a:p>
          <a:p>
            <a:pPr marL="142875" indent="-142875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Monitoring, relay, sensing, and patrol-like support enter the filter; major platform replacement and enforcement do not.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USAspending.gov / FPDS award records and DoD FY2027 Budget Justification Books; (2) DOT&amp;E FY2025 Annual Report, NAVAIR VX-30, NASA Wallops, and Point Mugu Sea Range EIS / OEIS; (3) QinetiQ FY25 Annual Report, U.K. MOD LTPA / MSCA releases, DGA EM, CNES / CSG, FMV, Andøya Space, SaxaVord, and company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Evidence Base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Evidence Base | Four source streams feed distinct model functions while assumptions remain source-mapped, bounded, and checkable.</a:t>
            </a:r>
          </a:p>
        </p:txBody>
      </p:sp>
      <p:cxnSp>
        <p:nvCxnSpPr>
          <p:cNvPr id="60" name="FlowSourceToFields"/>
          <p:cNvCxnSpPr/>
          <p:nvPr/>
        </p:nvCxnSpPr>
        <p:spPr>
          <a:xfrm>
            <a:off x="2503079" y="21789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61" name="FlowFieldsToModel"/>
          <p:cNvCxnSpPr/>
          <p:nvPr/>
        </p:nvCxnSpPr>
        <p:spPr>
          <a:xfrm>
            <a:off x="6553079" y="21789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62" name="FlowModelToExamples"/>
          <p:cNvCxnSpPr/>
          <p:nvPr/>
        </p:nvCxnSpPr>
        <p:spPr>
          <a:xfrm>
            <a:off x="8903079" y="21789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63" name="FlowSourceToFields"/>
          <p:cNvCxnSpPr/>
          <p:nvPr/>
        </p:nvCxnSpPr>
        <p:spPr>
          <a:xfrm>
            <a:off x="2503079" y="29435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64" name="FlowFieldsToModel"/>
          <p:cNvCxnSpPr/>
          <p:nvPr/>
        </p:nvCxnSpPr>
        <p:spPr>
          <a:xfrm>
            <a:off x="6553079" y="29435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65" name="FlowModelToExamples"/>
          <p:cNvCxnSpPr/>
          <p:nvPr/>
        </p:nvCxnSpPr>
        <p:spPr>
          <a:xfrm>
            <a:off x="8903079" y="29435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66" name="FlowSourceToFields"/>
          <p:cNvCxnSpPr/>
          <p:nvPr/>
        </p:nvCxnSpPr>
        <p:spPr>
          <a:xfrm>
            <a:off x="2503079" y="37081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67" name="FlowFieldsToModel"/>
          <p:cNvCxnSpPr/>
          <p:nvPr/>
        </p:nvCxnSpPr>
        <p:spPr>
          <a:xfrm>
            <a:off x="6553079" y="37081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68" name="FlowModelToExamples"/>
          <p:cNvCxnSpPr/>
          <p:nvPr/>
        </p:nvCxnSpPr>
        <p:spPr>
          <a:xfrm>
            <a:off x="8903079" y="37081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69" name="FlowSourceToFields"/>
          <p:cNvCxnSpPr/>
          <p:nvPr/>
        </p:nvCxnSpPr>
        <p:spPr>
          <a:xfrm>
            <a:off x="2503079" y="44727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70" name="FlowFieldsToModel"/>
          <p:cNvCxnSpPr/>
          <p:nvPr/>
        </p:nvCxnSpPr>
        <p:spPr>
          <a:xfrm>
            <a:off x="6553079" y="44727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71" name="FlowModelToExamples"/>
          <p:cNvCxnSpPr/>
          <p:nvPr/>
        </p:nvCxnSpPr>
        <p:spPr>
          <a:xfrm>
            <a:off x="8903079" y="4472700"/>
            <a:ext cx="30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20" name="SourceCard"/>
          <p:cNvSpPr txBox="1"/>
          <p:nvPr/>
        </p:nvSpPr>
        <p:spPr>
          <a:xfrm>
            <a:off x="453079" y="1831600"/>
            <a:ext cx="2050000" cy="6946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>
              <a:lnSpc>
                <a:spcPct val="104000"/>
              </a:lnSpc>
              <a:spcAft>
                <a:spcPts val="6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</a:t>
            </a:r>
          </a:p>
          <a:p>
            <a:pPr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PIID-level awards and factor tables</a:t>
            </a:r>
          </a:p>
        </p:txBody>
      </p:sp>
      <p:sp>
        <p:nvSpPr>
          <p:cNvPr id="21" name="SourceCard"/>
          <p:cNvSpPr txBox="1"/>
          <p:nvPr/>
        </p:nvSpPr>
        <p:spPr>
          <a:xfrm>
            <a:off x="453079" y="2596200"/>
            <a:ext cx="2050000" cy="6946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>
              <a:lnSpc>
                <a:spcPct val="104000"/>
              </a:lnSpc>
              <a:spcAft>
                <a:spcPts val="6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BUDGETS</a:t>
            </a:r>
          </a:p>
          <a:p>
            <a:pPr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 lines and maritime shares</a:t>
            </a:r>
          </a:p>
        </p:txBody>
      </p:sp>
      <p:sp>
        <p:nvSpPr>
          <p:cNvPr id="22" name="SourceCard"/>
          <p:cNvSpPr txBox="1"/>
          <p:nvPr/>
        </p:nvSpPr>
        <p:spPr>
          <a:xfrm>
            <a:off x="453079" y="3360800"/>
            <a:ext cx="2050000" cy="6946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>
              <a:lnSpc>
                <a:spcPct val="104000"/>
              </a:lnSpc>
              <a:spcAft>
                <a:spcPts val="6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EVENTS AND RATES</a:t>
            </a:r>
          </a:p>
          <a:p>
            <a:pPr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Cadence, mission cost, and vessel economics</a:t>
            </a:r>
          </a:p>
        </p:txBody>
      </p:sp>
      <p:sp>
        <p:nvSpPr>
          <p:cNvPr id="23" name="SourceCard"/>
          <p:cNvSpPr txBox="1"/>
          <p:nvPr/>
        </p:nvSpPr>
        <p:spPr>
          <a:xfrm>
            <a:off x="453079" y="4125400"/>
            <a:ext cx="2050000" cy="6946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>
              <a:lnSpc>
                <a:spcPct val="104000"/>
              </a:lnSpc>
              <a:spcAft>
                <a:spcPts val="6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EUROPE ANCHORS</a:t>
            </a:r>
          </a:p>
          <a:p>
            <a:pPr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Country and segment spend anchors</a:t>
            </a:r>
          </a:p>
        </p:txBody>
      </p:sp>
      <p:sp>
        <p:nvSpPr>
          <p:cNvPr id="80" name="FieldsAccent"/>
          <p:cNvSpPr txBox="1"/>
          <p:nvPr/>
        </p:nvSpPr>
        <p:spPr>
          <a:xfrm>
            <a:off x="2803079" y="1876600"/>
            <a:ext cx="55000" cy="6046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0" name="FieldsCard"/>
          <p:cNvSpPr txBox="1"/>
          <p:nvPr/>
        </p:nvSpPr>
        <p:spPr>
          <a:xfrm>
            <a:off x="2803079" y="1831600"/>
            <a:ext cx="3750000" cy="694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50000" tIns="30000" rIns="70000" bIns="30000"/>
          <a:lstStyle/>
          <a:p>
            <a:pPr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PIID, vendor, value, value type, period, vessels, agency, TAM bucket, source ID</a:t>
            </a:r>
          </a:p>
          <a:p>
            <a:pPr>
              <a:lnSpc>
                <a:spcPct val="102000"/>
              </a:lnSpc>
              <a:spcAft>
                <a:spcPts val="120"/>
              </a:spcAft>
              <a:buNone/>
            </a:pP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factors: 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relevance, maritime, instrumentation</a:t>
            </a:r>
          </a:p>
          <a:p>
            <a:pPr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ASV factors: 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share, role share</a:t>
            </a:r>
          </a:p>
        </p:txBody>
      </p:sp>
      <p:sp>
        <p:nvSpPr>
          <p:cNvPr id="81" name="FieldsAccent"/>
          <p:cNvSpPr txBox="1"/>
          <p:nvPr/>
        </p:nvSpPr>
        <p:spPr>
          <a:xfrm>
            <a:off x="2803079" y="2641200"/>
            <a:ext cx="55000" cy="604600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" name="FieldsCard"/>
          <p:cNvSpPr txBox="1"/>
          <p:nvPr/>
        </p:nvSpPr>
        <p:spPr>
          <a:xfrm>
            <a:off x="2803079" y="2596200"/>
            <a:ext cx="3750000" cy="694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50000" tIns="30000" rIns="70000" bIns="30000"/>
          <a:lstStyle/>
          <a:p>
            <a:pPr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 code, title, agency, layer, </a:t>
            </a: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FY27 PB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maritime low/base/high shares, source ID</a:t>
            </a:r>
          </a:p>
          <a:p>
            <a:pPr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SBX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decomposition and </a:t>
            </a: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NAVAIR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aviation maritime-range layer</a:t>
            </a:r>
          </a:p>
        </p:txBody>
      </p:sp>
      <p:sp>
        <p:nvSpPr>
          <p:cNvPr id="82" name="FieldsAccent"/>
          <p:cNvSpPr txBox="1"/>
          <p:nvPr/>
        </p:nvSpPr>
        <p:spPr>
          <a:xfrm>
            <a:off x="2803079" y="3405800"/>
            <a:ext cx="55000" cy="604600"/>
          </a:xfrm>
          <a:prstGeom prst="rect">
            <a:avLst/>
          </a:prstGeom>
          <a:solidFill>
            <a:srgbClr val="6E91B1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2" name="FieldsCard"/>
          <p:cNvSpPr txBox="1"/>
          <p:nvPr/>
        </p:nvSpPr>
        <p:spPr>
          <a:xfrm>
            <a:off x="2803079" y="3360800"/>
            <a:ext cx="3750000" cy="694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50000" tIns="30000" rIns="70000" bIns="30000"/>
          <a:lstStyle/>
          <a:p>
            <a:pPr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Program, family codes, annual events, vessels per event, launch site</a:t>
            </a:r>
          </a:p>
          <a:p>
            <a:pPr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Per-event cost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underway days, </a:t>
            </a: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share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share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overlap group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day rates</a:t>
            </a:r>
          </a:p>
        </p:txBody>
      </p:sp>
      <p:sp>
        <p:nvSpPr>
          <p:cNvPr id="83" name="FieldsAccent"/>
          <p:cNvSpPr txBox="1"/>
          <p:nvPr/>
        </p:nvSpPr>
        <p:spPr>
          <a:xfrm>
            <a:off x="2803079" y="4170400"/>
            <a:ext cx="55000" cy="604600"/>
          </a:xfrm>
          <a:prstGeom prst="rect">
            <a:avLst/>
          </a:prstGeom>
          <a:solidFill>
            <a:srgbClr val="3D5972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3" name="FieldsCard"/>
          <p:cNvSpPr txBox="1"/>
          <p:nvPr/>
        </p:nvSpPr>
        <p:spPr>
          <a:xfrm>
            <a:off x="2803079" y="4125400"/>
            <a:ext cx="3750000" cy="694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50000" tIns="30000" rIns="70000" bIns="30000"/>
          <a:lstStyle/>
          <a:p>
            <a:pPr>
              <a:lnSpc>
                <a:spcPct val="102000"/>
              </a:lnSpc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Country/segment, </a:t>
            </a: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floor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low/high, </a:t>
            </a: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modeled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low/base/high, </a:t>
            </a: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share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share</a:t>
            </a: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role category, source ID</a:t>
            </a:r>
          </a:p>
        </p:txBody>
      </p:sp>
      <p:sp>
        <p:nvSpPr>
          <p:cNvPr id="100" name="ModelUseChip"/>
          <p:cNvSpPr txBox="1"/>
          <p:nvPr/>
        </p:nvSpPr>
        <p:spPr>
          <a:xfrm>
            <a:off x="6853079" y="1831600"/>
            <a:ext cx="2050000" cy="327300"/>
          </a:xfrm>
          <a:prstGeom prst="roundRect">
            <a:avLst>
              <a:gd name="adj" fmla="val 12000"/>
            </a:avLst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Recognized contract TAM</a:t>
            </a:r>
          </a:p>
        </p:txBody>
      </p:sp>
      <p:sp>
        <p:nvSpPr>
          <p:cNvPr id="101" name="ModelUseChip"/>
          <p:cNvSpPr txBox="1"/>
          <p:nvPr/>
        </p:nvSpPr>
        <p:spPr>
          <a:xfrm>
            <a:off x="6853079" y="2198900"/>
            <a:ext cx="2050000" cy="327300"/>
          </a:xfrm>
          <a:prstGeom prst="roundRect">
            <a:avLst>
              <a:gd name="adj" fmla="val 12000"/>
            </a:avLst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Contract-anchored SAM</a:t>
            </a:r>
          </a:p>
        </p:txBody>
      </p:sp>
      <p:sp>
        <p:nvSpPr>
          <p:cNvPr id="110" name="ModelUseChip"/>
          <p:cNvSpPr txBox="1"/>
          <p:nvPr/>
        </p:nvSpPr>
        <p:spPr>
          <a:xfrm>
            <a:off x="6853079" y="2596200"/>
            <a:ext cx="2050000" cy="204866"/>
          </a:xfrm>
          <a:prstGeom prst="roundRect">
            <a:avLst>
              <a:gd name="adj" fmla="val 12000"/>
            </a:avLst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 maritime slice</a:t>
            </a:r>
          </a:p>
        </p:txBody>
      </p:sp>
      <p:sp>
        <p:nvSpPr>
          <p:cNvPr id="111" name="ModelUseChip"/>
          <p:cNvSpPr txBox="1"/>
          <p:nvPr/>
        </p:nvSpPr>
        <p:spPr>
          <a:xfrm>
            <a:off x="6853079" y="2841066"/>
            <a:ext cx="2050000" cy="204866"/>
          </a:xfrm>
          <a:prstGeom prst="roundRect">
            <a:avLst>
              <a:gd name="adj" fmla="val 12000"/>
            </a:avLst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NAVAIR TAM component</a:t>
            </a:r>
          </a:p>
        </p:txBody>
      </p:sp>
      <p:sp>
        <p:nvSpPr>
          <p:cNvPr id="112" name="ModelUseChip"/>
          <p:cNvSpPr txBox="1"/>
          <p:nvPr/>
        </p:nvSpPr>
        <p:spPr>
          <a:xfrm>
            <a:off x="6853079" y="3085932"/>
            <a:ext cx="2050000" cy="204866"/>
          </a:xfrm>
          <a:prstGeom prst="roundRect">
            <a:avLst>
              <a:gd name="adj" fmla="val 12000"/>
            </a:avLst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Cross-check anchors</a:t>
            </a:r>
          </a:p>
        </p:txBody>
      </p:sp>
      <p:sp>
        <p:nvSpPr>
          <p:cNvPr id="120" name="ModelUseChip"/>
          <p:cNvSpPr txBox="1"/>
          <p:nvPr/>
        </p:nvSpPr>
        <p:spPr>
          <a:xfrm>
            <a:off x="6853079" y="3360800"/>
            <a:ext cx="2050000" cy="204866"/>
          </a:xfrm>
          <a:prstGeom prst="roundRect">
            <a:avLst>
              <a:gd name="adj" fmla="val 12000"/>
            </a:avLst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Event-derived SAM</a:t>
            </a:r>
          </a:p>
        </p:txBody>
      </p:sp>
      <p:sp>
        <p:nvSpPr>
          <p:cNvPr id="121" name="ModelUseChip"/>
          <p:cNvSpPr txBox="1"/>
          <p:nvPr/>
        </p:nvSpPr>
        <p:spPr>
          <a:xfrm>
            <a:off x="6853079" y="3605666"/>
            <a:ext cx="2050000" cy="204866"/>
          </a:xfrm>
          <a:prstGeom prst="roundRect">
            <a:avLst>
              <a:gd name="adj" fmla="val 12000"/>
            </a:avLst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Pacific_MRIS overlap eligibility</a:t>
            </a:r>
          </a:p>
        </p:txBody>
      </p:sp>
      <p:sp>
        <p:nvSpPr>
          <p:cNvPr id="122" name="ModelUseChip"/>
          <p:cNvSpPr txBox="1"/>
          <p:nvPr/>
        </p:nvSpPr>
        <p:spPr>
          <a:xfrm>
            <a:off x="6853079" y="3850532"/>
            <a:ext cx="2050000" cy="204866"/>
          </a:xfrm>
          <a:prstGeom prst="roundRect">
            <a:avLst>
              <a:gd name="adj" fmla="val 12000"/>
            </a:avLst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Day-rate support</a:t>
            </a:r>
          </a:p>
        </p:txBody>
      </p:sp>
      <p:sp>
        <p:nvSpPr>
          <p:cNvPr id="130" name="ModelUseChip"/>
          <p:cNvSpPr txBox="1"/>
          <p:nvPr/>
        </p:nvSpPr>
        <p:spPr>
          <a:xfrm>
            <a:off x="6853079" y="4125400"/>
            <a:ext cx="2050000" cy="204866"/>
          </a:xfrm>
          <a:prstGeom prst="roundRect">
            <a:avLst>
              <a:gd name="adj" fmla="val 12000"/>
            </a:avLst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Europe TAM</a:t>
            </a:r>
          </a:p>
        </p:txBody>
      </p:sp>
      <p:sp>
        <p:nvSpPr>
          <p:cNvPr id="131" name="ModelUseChip"/>
          <p:cNvSpPr txBox="1"/>
          <p:nvPr/>
        </p:nvSpPr>
        <p:spPr>
          <a:xfrm>
            <a:off x="6853079" y="4370266"/>
            <a:ext cx="2050000" cy="204866"/>
          </a:xfrm>
          <a:prstGeom prst="roundRect">
            <a:avLst>
              <a:gd name="adj" fmla="val 12000"/>
            </a:avLst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Europe SAM</a:t>
            </a:r>
          </a:p>
        </p:txBody>
      </p:sp>
      <p:sp>
        <p:nvSpPr>
          <p:cNvPr id="132" name="ModelUseChip"/>
          <p:cNvSpPr txBox="1"/>
          <p:nvPr/>
        </p:nvSpPr>
        <p:spPr>
          <a:xfrm>
            <a:off x="6853079" y="4615132"/>
            <a:ext cx="2050000" cy="204866"/>
          </a:xfrm>
          <a:prstGeom prst="roundRect">
            <a:avLst>
              <a:gd name="adj" fmla="val 12000"/>
            </a:avLst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0000" tIns="14000" rIns="40000" bIns="1400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Country / segment cut</a:t>
            </a:r>
          </a:p>
        </p:txBody>
      </p:sp>
      <p:cxnSp>
        <p:nvCxnSpPr>
          <p:cNvPr id="50" name="ExampleRule"/>
          <p:cNvCxnSpPr/>
          <p:nvPr/>
        </p:nvCxnSpPr>
        <p:spPr>
          <a:xfrm>
            <a:off x="9203079" y="1876600"/>
            <a:ext cx="0" cy="6046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40" name="ExampleCard"/>
          <p:cNvSpPr txBox="1"/>
          <p:nvPr/>
        </p:nvSpPr>
        <p:spPr>
          <a:xfrm>
            <a:off x="9203079" y="1831600"/>
            <a:ext cx="2532362" cy="694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70000" tIns="24000" rIns="60000" bIns="24000"/>
          <a:lstStyle/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TOTE / Pacific MRIS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Crowley T-AGOS / T-AGM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Hornbeck SURTASS-E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J-TECH II and TETRAS II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Reliance ATR and PMRF primes</a:t>
            </a:r>
          </a:p>
        </p:txBody>
      </p:sp>
      <p:cxnSp>
        <p:nvCxnSpPr>
          <p:cNvPr id="51" name="ExampleRule"/>
          <p:cNvCxnSpPr/>
          <p:nvPr/>
        </p:nvCxnSpPr>
        <p:spPr>
          <a:xfrm>
            <a:off x="9203079" y="2641200"/>
            <a:ext cx="0" cy="6046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41" name="ExampleCard"/>
          <p:cNvSpPr txBox="1"/>
          <p:nvPr/>
        </p:nvSpPr>
        <p:spPr>
          <a:xfrm>
            <a:off x="9203079" y="2596200"/>
            <a:ext cx="2532362" cy="694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70000" tIns="24000" rIns="60000" bIns="24000"/>
          <a:lstStyle/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MDA SBX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Pacific Collector / Tracker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NAVAIR 0605864N / 0605863N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Air Force 0605807F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SBX vessel and OSV categories</a:t>
            </a:r>
          </a:p>
        </p:txBody>
      </p:sp>
      <p:cxnSp>
        <p:nvCxnSpPr>
          <p:cNvPr id="52" name="ExampleRule"/>
          <p:cNvCxnSpPr/>
          <p:nvPr/>
        </p:nvCxnSpPr>
        <p:spPr>
          <a:xfrm>
            <a:off x="9203079" y="3405800"/>
            <a:ext cx="0" cy="6046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42" name="ExampleCard"/>
          <p:cNvSpPr txBox="1"/>
          <p:nvPr/>
        </p:nvSpPr>
        <p:spPr>
          <a:xfrm>
            <a:off x="9203079" y="3360800"/>
            <a:ext cx="2532362" cy="694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70000" tIns="24000" rIns="60000" bIns="24000"/>
          <a:lstStyle/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Aegis BMD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CPS / LRHW common AUR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NGI and THAAD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MACH-TB 2.0 and HTB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SBX, MRIS, OSV rate stack</a:t>
            </a:r>
          </a:p>
        </p:txBody>
      </p:sp>
      <p:cxnSp>
        <p:nvCxnSpPr>
          <p:cNvPr id="53" name="ExampleRule"/>
          <p:cNvCxnSpPr/>
          <p:nvPr/>
        </p:nvCxnSpPr>
        <p:spPr>
          <a:xfrm>
            <a:off x="9203079" y="4170400"/>
            <a:ext cx="0" cy="6046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43" name="ExampleCard"/>
          <p:cNvSpPr txBox="1"/>
          <p:nvPr/>
        </p:nvSpPr>
        <p:spPr>
          <a:xfrm>
            <a:off x="9203079" y="4125400"/>
            <a:ext cx="2532362" cy="694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70000" tIns="24000" rIns="60000" bIns="24000"/>
          <a:lstStyle/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U.K. LTPA and MSCA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DragonFire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DGA EM and Monge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Italy PISQ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Andøya, SaxaVord, CSG, FMV ranges</a:t>
            </a:r>
          </a:p>
        </p:txBody>
      </p:sp>
      <p:sp>
        <p:nvSpPr>
          <p:cNvPr id="10" name="Qualifier"/>
          <p:cNvSpPr txBox="1"/>
          <p:nvPr/>
        </p:nvSpPr>
        <p:spPr>
          <a:xfrm>
            <a:off x="453079" y="1371600"/>
            <a:ext cx="1128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provenance by source family; current annualized U.S. and Europe market-sizing workbook</a:t>
            </a:r>
          </a:p>
        </p:txBody>
      </p:sp>
      <p:sp>
        <p:nvSpPr>
          <p:cNvPr id="11" name="ColumnHeader"/>
          <p:cNvSpPr txBox="1"/>
          <p:nvPr/>
        </p:nvSpPr>
        <p:spPr>
          <a:xfrm>
            <a:off x="453079" y="1631600"/>
            <a:ext cx="235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FAMILY</a:t>
            </a:r>
          </a:p>
        </p:txBody>
      </p:sp>
      <p:sp>
        <p:nvSpPr>
          <p:cNvPr id="12" name="ColumnHeader"/>
          <p:cNvSpPr txBox="1"/>
          <p:nvPr/>
        </p:nvSpPr>
        <p:spPr>
          <a:xfrm>
            <a:off x="2803079" y="1631600"/>
            <a:ext cx="30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FIELDS CAPTURED</a:t>
            </a:r>
          </a:p>
        </p:txBody>
      </p:sp>
      <p:sp>
        <p:nvSpPr>
          <p:cNvPr id="13" name="ColumnHeader"/>
          <p:cNvSpPr txBox="1"/>
          <p:nvPr/>
        </p:nvSpPr>
        <p:spPr>
          <a:xfrm>
            <a:off x="6853079" y="1631600"/>
            <a:ext cx="30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MODEL USES IT</a:t>
            </a:r>
          </a:p>
        </p:txBody>
      </p:sp>
      <p:sp>
        <p:nvSpPr>
          <p:cNvPr id="14" name="ColumnHeader"/>
          <p:cNvSpPr txBox="1"/>
          <p:nvPr/>
        </p:nvSpPr>
        <p:spPr>
          <a:xfrm>
            <a:off x="9203079" y="1631600"/>
            <a:ext cx="2532362" cy="16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 ANCHORS</a:t>
            </a:r>
          </a:p>
        </p:txBody>
      </p:sp>
      <p:cxnSp>
        <p:nvCxnSpPr>
          <p:cNvPr id="15" name="HeaderRule"/>
          <p:cNvCxnSpPr/>
          <p:nvPr/>
        </p:nvCxnSpPr>
        <p:spPr>
          <a:xfrm>
            <a:off x="453079" y="1791600"/>
            <a:ext cx="1128236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00" name="ProvenancePod"/>
          <p:cNvSpPr txBox="1"/>
          <p:nvPr/>
        </p:nvSpPr>
        <p:spPr>
          <a:xfrm>
            <a:off x="453079" y="4890000"/>
            <a:ext cx="4200000" cy="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01" name="ProvenanceCap"/>
          <p:cNvSpPr txBox="1"/>
          <p:nvPr/>
        </p:nvSpPr>
        <p:spPr>
          <a:xfrm>
            <a:off x="453079" y="4890000"/>
            <a:ext cx="4200000" cy="20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20000" tIns="20000" rIns="120000" bIns="2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PROVENANCE CONTROL</a:t>
            </a:r>
          </a:p>
        </p:txBody>
      </p:sp>
      <p:sp>
        <p:nvSpPr>
          <p:cNvPr id="202" name="ProvenanceRow"/>
          <p:cNvSpPr txBox="1"/>
          <p:nvPr/>
        </p:nvSpPr>
        <p:spPr>
          <a:xfrm>
            <a:off x="453079" y="509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0000" tIns="16000" rIns="120000" bIns="16000"/>
          <a:lstStyle/>
          <a:p>
            <a:pPr>
              <a:lnSpc>
                <a:spcPct val="100000"/>
              </a:lnSpc>
              <a:spcAft>
                <a:spcPts val="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IDs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 in Sources &amp; Glossary</a:t>
            </a:r>
          </a:p>
        </p:txBody>
      </p:sp>
      <p:sp>
        <p:nvSpPr>
          <p:cNvPr id="203" name="ProvenanceRow"/>
          <p:cNvSpPr txBox="1"/>
          <p:nvPr/>
        </p:nvSpPr>
        <p:spPr>
          <a:xfrm>
            <a:off x="453079" y="535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0000" tIns="16000" rIns="120000" bIns="16000"/>
          <a:lstStyle/>
          <a:p>
            <a:pPr>
              <a:lnSpc>
                <a:spcPct val="100000"/>
              </a:lnSpc>
              <a:spcAft>
                <a:spcPts val="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Assumption support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Input-to-source map lives outside editable cells</a:t>
            </a:r>
          </a:p>
        </p:txBody>
      </p:sp>
      <p:cxnSp>
        <p:nvCxnSpPr>
          <p:cNvPr id="206" name="PodDivider"/>
          <p:cNvCxnSpPr/>
          <p:nvPr/>
        </p:nvCxnSpPr>
        <p:spPr>
          <a:xfrm>
            <a:off x="543079" y="5350000"/>
            <a:ext cx="402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4" name="ProvenanceRow"/>
          <p:cNvSpPr txBox="1"/>
          <p:nvPr/>
        </p:nvSpPr>
        <p:spPr>
          <a:xfrm>
            <a:off x="453079" y="561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0000" tIns="16000" rIns="120000" bIns="16000"/>
          <a:lstStyle/>
          <a:p>
            <a:pPr>
              <a:lnSpc>
                <a:spcPct val="100000"/>
              </a:lnSpc>
              <a:spcAft>
                <a:spcPts val="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checks</a:t>
            </a:r>
          </a:p>
          <a:p>
            <a:pPr>
              <a:lnSpc>
                <a:spcPct val="100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source IDs, basis summaries, and cross-tab tie-outs</a:t>
            </a:r>
          </a:p>
        </p:txBody>
      </p:sp>
      <p:cxnSp>
        <p:nvCxnSpPr>
          <p:cNvPr id="207" name="PodDivider"/>
          <p:cNvCxnSpPr/>
          <p:nvPr/>
        </p:nvCxnSpPr>
        <p:spPr>
          <a:xfrm>
            <a:off x="543079" y="5610000"/>
            <a:ext cx="402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10" name="Commentary"/>
          <p:cNvSpPr txBox="1"/>
          <p:nvPr/>
        </p:nvSpPr>
        <p:spPr>
          <a:xfrm>
            <a:off x="4953079" y="4890000"/>
            <a:ext cx="3150000" cy="9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0000" tIns="20000" rIns="90000" bIns="20000"/>
          <a:lstStyle/>
          <a:p>
            <a:pPr>
              <a:lnSpc>
                <a:spcPct val="115000"/>
              </a:lnSpc>
              <a:spcAft>
                <a:spcPts val="7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evidence streams are not interchangeable.</a:t>
            </a:r>
          </a:p>
          <a:p>
            <a:pPr marL="142875" indent="-142875">
              <a:lnSpc>
                <a:spcPct val="115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 anchor awarded and obligated activity.</a:t>
            </a:r>
          </a:p>
          <a:p>
            <a:pPr marL="142875" indent="-142875">
              <a:lnSpc>
                <a:spcPct val="115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Budgets cover spend where contracts are thin.</a:t>
            </a:r>
          </a:p>
          <a:p>
            <a:pPr marL="142875" indent="-142875">
              <a:lnSpc>
                <a:spcPct val="115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 and rates convert cadence into event SAM.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Europe anchors set country and segment spend.</a:t>
            </a:r>
          </a:p>
        </p:txBody>
      </p:sp>
      <p:sp>
        <p:nvSpPr>
          <p:cNvPr id="211" name="Commentary"/>
          <p:cNvSpPr txBox="1"/>
          <p:nvPr/>
        </p:nvSpPr>
        <p:spPr>
          <a:xfrm>
            <a:off x="8303079" y="4890000"/>
            <a:ext cx="3432362" cy="9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0000" tIns="20000" rIns="90000" bIns="20000"/>
          <a:lstStyle/>
          <a:p>
            <a:pPr>
              <a:lnSpc>
                <a:spcPct val="115000"/>
              </a:lnSpc>
              <a:spcAft>
                <a:spcPts val="7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Assumptions are bounded and source-mapped.</a:t>
            </a:r>
          </a:p>
          <a:p>
            <a:pPr marL="142875" indent="-142875">
              <a:lnSpc>
                <a:spcPct val="115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Editable knobs sit in the Assumptions tab.</a:t>
            </a:r>
          </a:p>
          <a:p>
            <a:pPr marL="142875" indent="-142875">
              <a:lnSpc>
                <a:spcPct val="115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Source-support map lives in Sources &amp; Glossary.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Checks keep source IDs and basis summaries wired.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USAspending.gov / FPDS award records and SEC EDGAR filings; (2) DoD FY2027 Budget Justification Books, DOT&amp;E FY2025 Annual Report, NAVAIR VX-30, NASA Wallops, and Point Mugu Sea Range EIS / OEIS; (3) QinetiQ FY25 Annual Report, U.K. MOD LTPA / MSCA releases, DGA EM, CNES / CSG, FMV, Andøya Space, SaxaVord, and company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Build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Build | Source evidence is normalized into an annual TAM spend pool before ASV role-suitability filters apply.</a:t>
            </a:r>
          </a:p>
        </p:txBody>
      </p:sp>
      <p:cxnSp>
        <p:nvCxnSpPr>
          <p:cNvPr id="60" name="ContractsDrop"/>
          <p:cNvCxnSpPr/>
          <p:nvPr/>
        </p:nvCxnSpPr>
        <p:spPr>
          <a:xfrm>
            <a:off x="1851660" y="3155800"/>
            <a:ext cx="0" cy="12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61" name="BudgetsDrop"/>
          <p:cNvCxnSpPr/>
          <p:nvPr/>
        </p:nvCxnSpPr>
        <p:spPr>
          <a:xfrm flipV="1">
            <a:off x="1851660" y="3275800"/>
            <a:ext cx="0" cy="12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62" name="UsSegDrop"/>
          <p:cNvCxnSpPr/>
          <p:nvPr/>
        </p:nvCxnSpPr>
        <p:spPr>
          <a:xfrm>
            <a:off x="4549140" y="3155800"/>
            <a:ext cx="0" cy="12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63" name="EuropeDrop"/>
          <p:cNvCxnSpPr/>
          <p:nvPr/>
        </p:nvCxnSpPr>
        <p:spPr>
          <a:xfrm flipV="1">
            <a:off x="4549140" y="3275800"/>
            <a:ext cx="0" cy="12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64" name="CollectorBar"/>
          <p:cNvCxnSpPr/>
          <p:nvPr/>
        </p:nvCxnSpPr>
        <p:spPr>
          <a:xfrm>
            <a:off x="1851660" y="3275800"/>
            <a:ext cx="41833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65" name="ConvergenceSpine"/>
          <p:cNvCxnSpPr/>
          <p:nvPr/>
        </p:nvCxnSpPr>
        <p:spPr>
          <a:xfrm>
            <a:off x="6035040" y="3075800"/>
            <a:ext cx="0" cy="4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66" name="ToRail"/>
          <p:cNvCxnSpPr/>
          <p:nvPr/>
        </p:nvCxnSpPr>
        <p:spPr>
          <a:xfrm>
            <a:off x="6035040" y="3275800"/>
            <a:ext cx="6858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</p:cxnSp>
      <p:sp>
        <p:nvSpPr>
          <p:cNvPr id="67" name="SpineLabel"/>
          <p:cNvSpPr txBox="1"/>
          <p:nvPr/>
        </p:nvSpPr>
        <p:spPr>
          <a:xfrm>
            <a:off x="6075040" y="2995800"/>
            <a:ext cx="6458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 to annual $M</a:t>
            </a:r>
          </a:p>
        </p:txBody>
      </p:sp>
      <p:sp>
        <p:nvSpPr>
          <p:cNvPr id="20" name="EngineCard"/>
          <p:cNvSpPr txBox="1"/>
          <p:nvPr/>
        </p:nvSpPr>
        <p:spPr>
          <a:xfrm>
            <a:off x="640080" y="1671600"/>
            <a:ext cx="2423160" cy="14842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" name="EngineBody"/>
          <p:cNvSpPr txBox="1"/>
          <p:nvPr/>
        </p:nvSpPr>
        <p:spPr>
          <a:xfrm>
            <a:off x="640080" y="1671600"/>
            <a:ext cx="2423160" cy="1194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0" tIns="60000" rIns="100000" bIns="40000"/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Reported value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relevance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maritime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instrumentation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÷ years in PoP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Recognized annual contract TAM</a:t>
            </a:r>
          </a:p>
        </p:txBody>
      </p:sp>
      <p:sp>
        <p:nvSpPr>
          <p:cNvPr id="22" name="EngineCaveat"/>
          <p:cNvSpPr txBox="1"/>
          <p:nvPr/>
        </p:nvSpPr>
        <p:spPr>
          <a:xfrm>
            <a:off x="740080" y="2875800"/>
            <a:ext cx="222316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rows are not re-divided</a:t>
            </a:r>
          </a:p>
        </p:txBody>
      </p:sp>
      <p:sp>
        <p:nvSpPr>
          <p:cNvPr id="30" name="EngineCard"/>
          <p:cNvSpPr txBox="1"/>
          <p:nvPr/>
        </p:nvSpPr>
        <p:spPr>
          <a:xfrm>
            <a:off x="640080" y="3395800"/>
            <a:ext cx="2423160" cy="14842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" name="EngineBody"/>
          <p:cNvSpPr txBox="1"/>
          <p:nvPr/>
        </p:nvSpPr>
        <p:spPr>
          <a:xfrm>
            <a:off x="640080" y="3395800"/>
            <a:ext cx="2423160" cy="1194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0" tIns="60000" rIns="100000" bIns="40000"/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FY27 PB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maritime instrumentation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 maritime slice</a:t>
            </a:r>
          </a:p>
        </p:txBody>
      </p:sp>
      <p:sp>
        <p:nvSpPr>
          <p:cNvPr id="32" name="EngineChip"/>
          <p:cNvSpPr txBox="1"/>
          <p:nvPr/>
        </p:nvSpPr>
        <p:spPr>
          <a:xfrm>
            <a:off x="740080" y="4600000"/>
            <a:ext cx="2223160" cy="2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16000" rIns="40000" bIns="16000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NAVAIR rows; SBX / Pacific Collector anchors</a:t>
            </a:r>
          </a:p>
        </p:txBody>
      </p:sp>
      <p:sp>
        <p:nvSpPr>
          <p:cNvPr id="40" name="EngineCard"/>
          <p:cNvSpPr txBox="1"/>
          <p:nvPr/>
        </p:nvSpPr>
        <p:spPr>
          <a:xfrm>
            <a:off x="3337560" y="1671600"/>
            <a:ext cx="2423160" cy="1484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41" name="EngineBody"/>
          <p:cNvSpPr txBox="1"/>
          <p:nvPr/>
        </p:nvSpPr>
        <p:spPr>
          <a:xfrm>
            <a:off x="3337560" y="1671600"/>
            <a:ext cx="2423160" cy="1194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0" tIns="60000" rIns="100000" bIns="40000"/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SEGMENTS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Vessel-prime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Telemetry and range support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Allocated platform work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Commercial and launch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Bounded low / base / high inputs</a:t>
            </a:r>
          </a:p>
        </p:txBody>
      </p:sp>
      <p:sp>
        <p:nvSpPr>
          <p:cNvPr id="42" name="EngineChip"/>
          <p:cNvSpPr txBox="1"/>
          <p:nvPr/>
        </p:nvSpPr>
        <p:spPr>
          <a:xfrm>
            <a:off x="3437560" y="2875800"/>
            <a:ext cx="2223160" cy="24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40000" tIns="16000" rIns="40000" bIns="16000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DWCF floor = cross-check only</a:t>
            </a:r>
          </a:p>
        </p:txBody>
      </p:sp>
      <p:sp>
        <p:nvSpPr>
          <p:cNvPr id="50" name="EngineCard"/>
          <p:cNvSpPr txBox="1"/>
          <p:nvPr/>
        </p:nvSpPr>
        <p:spPr>
          <a:xfrm>
            <a:off x="3337560" y="3395800"/>
            <a:ext cx="2423160" cy="14842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EngineBody"/>
          <p:cNvSpPr txBox="1"/>
          <p:nvPr/>
        </p:nvSpPr>
        <p:spPr>
          <a:xfrm>
            <a:off x="3337560" y="3395800"/>
            <a:ext cx="2423160" cy="1194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0" tIns="60000" rIns="100000" bIns="40000"/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EUROPE ANCHORS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Country / segment modeled annual spend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Europe TAM</a:t>
            </a:r>
          </a:p>
        </p:txBody>
      </p:sp>
      <p:sp>
        <p:nvSpPr>
          <p:cNvPr id="52" name="EngineChip"/>
          <p:cNvSpPr txBox="1"/>
          <p:nvPr/>
        </p:nvSpPr>
        <p:spPr>
          <a:xfrm>
            <a:off x="3437560" y="4600000"/>
            <a:ext cx="1071580" cy="2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16000" rIns="40000" bIns="16000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Public-record floors</a:t>
            </a:r>
          </a:p>
        </p:txBody>
      </p:sp>
      <p:sp>
        <p:nvSpPr>
          <p:cNvPr id="53" name="EngineChip"/>
          <p:cNvSpPr txBox="1"/>
          <p:nvPr/>
        </p:nvSpPr>
        <p:spPr>
          <a:xfrm>
            <a:off x="4589140" y="4600000"/>
            <a:ext cx="1071580" cy="2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16000" rIns="40000" bIns="16000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Modeled gap</a:t>
            </a:r>
          </a:p>
        </p:txBody>
      </p:sp>
      <p:sp>
        <p:nvSpPr>
          <p:cNvPr id="70" name="TamRail"/>
          <p:cNvSpPr txBox="1"/>
          <p:nvPr/>
        </p:nvSpPr>
        <p:spPr>
          <a:xfrm>
            <a:off x="6720840" y="1671600"/>
            <a:ext cx="5014601" cy="320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1" name="TamRailCap"/>
          <p:cNvSpPr txBox="1"/>
          <p:nvPr/>
        </p:nvSpPr>
        <p:spPr>
          <a:xfrm>
            <a:off x="6720840" y="1671600"/>
            <a:ext cx="5014601" cy="360000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square" anchor="ctr" lIns="120000" tIns="20000" rIns="120000" bIns="20000"/>
          <a:lstStyle/>
          <a:p>
            <a:pPr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ANNUAL TAM SPEND POOL</a:t>
            </a:r>
          </a:p>
        </p:txBody>
      </p:sp>
      <p:sp>
        <p:nvSpPr>
          <p:cNvPr id="72" name="UsTamBand"/>
          <p:cNvSpPr txBox="1"/>
          <p:nvPr/>
        </p:nvSpPr>
        <p:spPr>
          <a:xfrm>
            <a:off x="6720840" y="2031600"/>
            <a:ext cx="5014601" cy="10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30000" tIns="30000" rIns="130000" bIns="30000"/>
          <a:lstStyle/>
          <a:p>
            <a:pPr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TAM</a:t>
            </a:r>
          </a:p>
          <a:p>
            <a:pPr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vessel-prime + telemetry/range-support + allocated work + NAVAIR + commercial / launch</a:t>
            </a:r>
          </a:p>
        </p:txBody>
      </p:sp>
      <p:sp>
        <p:nvSpPr>
          <p:cNvPr id="73" name="EuTamBand"/>
          <p:cNvSpPr txBox="1"/>
          <p:nvPr/>
        </p:nvSpPr>
        <p:spPr>
          <a:xfrm>
            <a:off x="6720840" y="3031600"/>
            <a:ext cx="5014601" cy="7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30000" tIns="30000" rIns="130000" bIns="30000"/>
          <a:lstStyle/>
          <a:p>
            <a:pPr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Europe TAM</a:t>
            </a:r>
          </a:p>
          <a:p>
            <a:pPr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sum of country / segment modeled annual spend</a:t>
            </a:r>
          </a:p>
        </p:txBody>
      </p:sp>
      <p:sp>
        <p:nvSpPr>
          <p:cNvPr id="74" name="TotalTamBand"/>
          <p:cNvSpPr txBox="1"/>
          <p:nvPr/>
        </p:nvSpPr>
        <p:spPr>
          <a:xfrm>
            <a:off x="6720840" y="3751600"/>
            <a:ext cx="5014601" cy="6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30000" tIns="30000" rIns="130000" bIns="30000"/>
          <a:lstStyle/>
          <a:p>
            <a:pPr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TAM</a:t>
            </a:r>
          </a:p>
          <a:p>
            <a:pPr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U.S. TAM + Europe TAM</a:t>
            </a:r>
          </a:p>
        </p:txBody>
      </p:sp>
      <p:sp>
        <p:nvSpPr>
          <p:cNvPr id="75" name="TamRailQualifier"/>
          <p:cNvSpPr txBox="1"/>
          <p:nvPr/>
        </p:nvSpPr>
        <p:spPr>
          <a:xfrm>
            <a:off x="6720840" y="4371600"/>
            <a:ext cx="5014601" cy="508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30000" tIns="20000" rIns="130000" bIns="20000"/>
          <a:lstStyle/>
          <a:p>
            <a:pPr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ASV role suitability is not applied until SAM build</a:t>
            </a:r>
          </a:p>
        </p:txBody>
      </p:sp>
      <p:cxnSp>
        <p:nvCxnSpPr>
          <p:cNvPr id="76" name="TamRailDivider"/>
          <p:cNvCxnSpPr/>
          <p:nvPr/>
        </p:nvCxnSpPr>
        <p:spPr>
          <a:xfrm>
            <a:off x="6820840" y="2031600"/>
            <a:ext cx="481460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7" name="TamRailDivider"/>
          <p:cNvCxnSpPr/>
          <p:nvPr/>
        </p:nvCxnSpPr>
        <p:spPr>
          <a:xfrm>
            <a:off x="6820840" y="3031600"/>
            <a:ext cx="481460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8" name="TamRailDivider"/>
          <p:cNvCxnSpPr/>
          <p:nvPr/>
        </p:nvCxnSpPr>
        <p:spPr>
          <a:xfrm>
            <a:off x="6820840" y="3751600"/>
            <a:ext cx="481460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9" name="TamRailDivider"/>
          <p:cNvCxnSpPr/>
          <p:nvPr/>
        </p:nvCxnSpPr>
        <p:spPr>
          <a:xfrm>
            <a:off x="6820840" y="4371600"/>
            <a:ext cx="481460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0" name="Qualifier"/>
          <p:cNvSpPr txBox="1"/>
          <p:nvPr/>
        </p:nvSpPr>
        <p:spPr>
          <a:xfrm>
            <a:off x="453079" y="1371600"/>
            <a:ext cx="63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method only; SAM addressability starts on the next slide</a:t>
            </a:r>
          </a:p>
        </p:txBody>
      </p:sp>
      <p:sp>
        <p:nvSpPr>
          <p:cNvPr id="11" name="FormulaLegend"/>
          <p:cNvSpPr txBox="1"/>
          <p:nvPr/>
        </p:nvSpPr>
        <p:spPr>
          <a:xfrm>
            <a:off x="7000000" y="1371600"/>
            <a:ext cx="4735441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 terms shown are model operations, not source categories</a:t>
            </a:r>
          </a:p>
        </p:txBody>
      </p:sp>
      <p:sp>
        <p:nvSpPr>
          <p:cNvPr id="80" name="Commentary"/>
          <p:cNvSpPr txBox="1"/>
          <p:nvPr/>
        </p:nvSpPr>
        <p:spPr>
          <a:xfrm>
            <a:off x="453079" y="4970000"/>
            <a:ext cx="55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0000" tIns="20000" rIns="90000" bIns="20000"/>
          <a:lstStyle/>
          <a:p>
            <a:pPr>
              <a:lnSpc>
                <a:spcPct val="106000"/>
              </a:lnSpc>
              <a:spcAft>
                <a:spcPts val="7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is an annual spend pool, not a share assumption.</a:t>
            </a:r>
          </a:p>
          <a:p>
            <a:pPr marL="142875" indent="-142875">
              <a:lnSpc>
                <a:spcPct val="106000"/>
              </a:lnSpc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 are filtered for relevance, maritime content, and instrumentation content before annualization.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lines are sliced by maritime instrumentation share instead of counted at full program value.</a:t>
            </a:r>
          </a:p>
        </p:txBody>
      </p:sp>
      <p:sp>
        <p:nvSpPr>
          <p:cNvPr id="81" name="Commentary"/>
          <p:cNvSpPr txBox="1"/>
          <p:nvPr/>
        </p:nvSpPr>
        <p:spPr>
          <a:xfrm>
            <a:off x="6253079" y="4970000"/>
            <a:ext cx="5482362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0000" tIns="20000" rIns="90000" bIns="20000"/>
          <a:lstStyle/>
          <a:p>
            <a:pPr>
              <a:lnSpc>
                <a:spcPct val="106000"/>
              </a:lnSpc>
              <a:spcAft>
                <a:spcPts val="7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build combines measured anchors with bounded model inputs.</a:t>
            </a:r>
          </a:p>
          <a:p>
            <a:pPr marL="142875" indent="-142875">
              <a:lnSpc>
                <a:spcPct val="106000"/>
              </a:lnSpc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TAM uses explicit segment inputs plus a calculated NAVAIR layer.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Europe TAM uses country / segment modeled annual spend, with public-record floors where available.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USAspending.gov / FPDS award records and SEC EDGAR filings; (2) DoD FY2027 Budget Justification Books and U.S. Treasury / DoD DWCF TAS 097-4930; (3) QinetiQ FY25 Annual Report, U.K. MOD LTPA / MSCA releases, DGA EM, CNES / CSG, FMV, Andøya Space, SaxaVord, and company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Build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Build | ASV-addressable SAM is limited by vessel and role suitability, then de-duplicated on the SAM side.</a:t>
            </a:r>
          </a:p>
        </p:txBody>
      </p:sp>
      <p:cxnSp>
        <p:nvCxnSpPr>
          <p:cNvPr id="80" name="SamToSidecarH1"/>
          <p:cNvCxnSpPr/>
          <p:nvPr/>
        </p:nvCxnSpPr>
        <p:spPr>
          <a:xfrm>
            <a:off x="3203079" y="4660800"/>
            <a:ext cx="150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81" name="SamToSidecarV"/>
          <p:cNvCxnSpPr/>
          <p:nvPr/>
        </p:nvCxnSpPr>
        <p:spPr>
          <a:xfrm flipV="1">
            <a:off x="3353079" y="3832166"/>
            <a:ext cx="0" cy="828634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82" name="SamToSidecarH2"/>
          <p:cNvCxnSpPr/>
          <p:nvPr/>
        </p:nvCxnSpPr>
        <p:spPr>
          <a:xfrm>
            <a:off x="3353079" y="3832166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" name="RailCard"/>
          <p:cNvSpPr txBox="1"/>
          <p:nvPr/>
        </p:nvSpPr>
        <p:spPr>
          <a:xfrm>
            <a:off x="453079" y="1661600"/>
            <a:ext cx="2750000" cy="8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00000" tIns="40000" rIns="10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VALUE</a:t>
            </a:r>
          </a:p>
          <a:p>
            <a:pPr algn="ctr">
              <a:lnSpc>
                <a:spcPct val="106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annual TAM</a:t>
            </a:r>
          </a:p>
          <a:p>
            <a:pPr algn="ctr">
              <a:lnSpc>
                <a:spcPct val="106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 annual value</a:t>
            </a:r>
          </a:p>
          <a:p>
            <a:pPr algn="ctr">
              <a:lnSpc>
                <a:spcPct val="106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Europe modeled spend</a:t>
            </a:r>
          </a:p>
        </p:txBody>
      </p:sp>
      <p:sp>
        <p:nvSpPr>
          <p:cNvPr id="21" name="RailOperator"/>
          <p:cNvSpPr txBox="1"/>
          <p:nvPr/>
        </p:nvSpPr>
        <p:spPr>
          <a:xfrm>
            <a:off x="453079" y="2481600"/>
            <a:ext cx="27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" name="RailCard"/>
          <p:cNvSpPr txBox="1"/>
          <p:nvPr/>
        </p:nvSpPr>
        <p:spPr>
          <a:xfrm>
            <a:off x="453079" y="2721600"/>
            <a:ext cx="2750000" cy="48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00000" tIns="40000" rIns="10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SHARE</a:t>
            </a:r>
          </a:p>
          <a:p>
            <a:pPr algn="ctr">
              <a:lnSpc>
                <a:spcPct val="106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Vessel-related fraction</a:t>
            </a:r>
          </a:p>
        </p:txBody>
      </p:sp>
      <p:sp>
        <p:nvSpPr>
          <p:cNvPr id="23" name="RailOperator"/>
          <p:cNvSpPr txBox="1"/>
          <p:nvPr/>
        </p:nvSpPr>
        <p:spPr>
          <a:xfrm>
            <a:off x="453079" y="3201600"/>
            <a:ext cx="27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4" name="RailCard"/>
          <p:cNvSpPr txBox="1"/>
          <p:nvPr/>
        </p:nvSpPr>
        <p:spPr>
          <a:xfrm>
            <a:off x="453079" y="3441600"/>
            <a:ext cx="2750000" cy="48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00000" tIns="40000" rIns="10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 SHARE</a:t>
            </a:r>
          </a:p>
          <a:p>
            <a:pPr algn="ctr">
              <a:lnSpc>
                <a:spcPct val="106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ASV-suitable fraction</a:t>
            </a:r>
          </a:p>
        </p:txBody>
      </p:sp>
      <p:sp>
        <p:nvSpPr>
          <p:cNvPr id="25" name="RailOperator"/>
          <p:cNvSpPr txBox="1"/>
          <p:nvPr/>
        </p:nvSpPr>
        <p:spPr>
          <a:xfrm>
            <a:off x="453079" y="3921600"/>
            <a:ext cx="27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26" name="RailCard"/>
          <p:cNvSpPr txBox="1"/>
          <p:nvPr/>
        </p:nvSpPr>
        <p:spPr>
          <a:xfrm>
            <a:off x="453079" y="4161600"/>
            <a:ext cx="2750000" cy="9984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00000" tIns="40000" rIns="10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ASV-ADDRESSABLE SAM</a:t>
            </a:r>
          </a:p>
          <a:p>
            <a:pPr algn="ctr">
              <a:lnSpc>
                <a:spcPct val="106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addressable annual value</a:t>
            </a:r>
          </a:p>
        </p:txBody>
      </p:sp>
      <p:sp>
        <p:nvSpPr>
          <p:cNvPr id="29" name="StreamCap"/>
          <p:cNvSpPr txBox="1"/>
          <p:nvPr/>
        </p:nvSpPr>
        <p:spPr>
          <a:xfrm>
            <a:off x="3503079" y="1661600"/>
            <a:ext cx="2650000" cy="24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80000" tIns="20000" rIns="80000" bIns="2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FILTER BY STREAM</a:t>
            </a:r>
          </a:p>
        </p:txBody>
      </p:sp>
      <p:sp>
        <p:nvSpPr>
          <p:cNvPr id="30" name="StreamChip"/>
          <p:cNvSpPr txBox="1"/>
          <p:nvPr/>
        </p:nvSpPr>
        <p:spPr>
          <a:xfrm>
            <a:off x="3503079" y="1966600"/>
            <a:ext cx="2650000" cy="3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70000" tIns="20000" rIns="70000" bIns="20000"/>
          <a:lstStyle/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SAM</a:t>
            </a:r>
          </a:p>
          <a:p>
            <a:pPr>
              <a:lnSpc>
                <a:spcPct val="102000"/>
              </a:lnSpc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annual TAM × vessel share × role share</a:t>
            </a:r>
          </a:p>
        </p:txBody>
      </p:sp>
      <p:sp>
        <p:nvSpPr>
          <p:cNvPr id="31" name="StreamChip"/>
          <p:cNvSpPr txBox="1"/>
          <p:nvPr/>
        </p:nvSpPr>
        <p:spPr>
          <a:xfrm>
            <a:off x="3503079" y="2411600"/>
            <a:ext cx="2650000" cy="3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70000" tIns="20000" rIns="70000" bIns="20000"/>
          <a:lstStyle/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 SAM</a:t>
            </a:r>
          </a:p>
          <a:p>
            <a:pPr>
              <a:lnSpc>
                <a:spcPct val="102000"/>
              </a:lnSpc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events × per-event cost × vessel share × role share</a:t>
            </a:r>
          </a:p>
        </p:txBody>
      </p:sp>
      <p:sp>
        <p:nvSpPr>
          <p:cNvPr id="32" name="StreamChip"/>
          <p:cNvSpPr txBox="1"/>
          <p:nvPr/>
        </p:nvSpPr>
        <p:spPr>
          <a:xfrm>
            <a:off x="3503079" y="2856600"/>
            <a:ext cx="2650000" cy="3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70000" tIns="20000" rIns="70000" bIns="20000"/>
          <a:lstStyle/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Europe SAM</a:t>
            </a:r>
          </a:p>
          <a:p>
            <a:pPr>
              <a:lnSpc>
                <a:spcPct val="102000"/>
              </a:lnSpc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modeled spend × vessel share × role share</a:t>
            </a:r>
          </a:p>
        </p:txBody>
      </p:sp>
      <p:sp>
        <p:nvSpPr>
          <p:cNvPr id="40" name="OverlapSidecar"/>
          <p:cNvSpPr txBox="1"/>
          <p:nvPr/>
        </p:nvSpPr>
        <p:spPr>
          <a:xfrm>
            <a:off x="3503079" y="3356600"/>
            <a:ext cx="2650000" cy="1803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41" name="OverlapCap"/>
          <p:cNvSpPr txBox="1"/>
          <p:nvPr/>
        </p:nvSpPr>
        <p:spPr>
          <a:xfrm>
            <a:off x="3503079" y="3356600"/>
            <a:ext cx="2650000" cy="21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80000" tIns="20000" rIns="80000" bIns="2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DE-DUPLICATION RULE</a:t>
            </a:r>
          </a:p>
        </p:txBody>
      </p:sp>
      <p:sp>
        <p:nvSpPr>
          <p:cNvPr id="42" name="OverlapBand"/>
          <p:cNvSpPr txBox="1"/>
          <p:nvPr/>
        </p:nvSpPr>
        <p:spPr>
          <a:xfrm>
            <a:off x="3503079" y="3566600"/>
            <a:ext cx="2650000" cy="531133"/>
          </a:xfrm>
          <a:prstGeom prst="rect">
            <a:avLst/>
          </a:prstGeom>
          <a:noFill/>
          <a:ln>
            <a:noFill/>
          </a:ln>
        </p:spPr>
        <p:txBody>
          <a:bodyPr wrap="square" anchor="ctr" lIns="90000" tIns="16000" rIns="90000" bIns="16000"/>
          <a:lstStyle/>
          <a:p>
            <a:pPr>
              <a:lnSpc>
                <a:spcPct val="102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SAM</a:t>
            </a:r>
          </a:p>
          <a:p>
            <a:pPr>
              <a:lnSpc>
                <a:spcPct val="104000"/>
              </a:lnSpc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contract SAM + event SAM − Pacific MRIS overlap</a:t>
            </a:r>
          </a:p>
        </p:txBody>
      </p:sp>
      <p:sp>
        <p:nvSpPr>
          <p:cNvPr id="43" name="OverlapBand"/>
          <p:cNvSpPr txBox="1"/>
          <p:nvPr/>
        </p:nvSpPr>
        <p:spPr>
          <a:xfrm>
            <a:off x="3503079" y="4097733"/>
            <a:ext cx="2650000" cy="531133"/>
          </a:xfrm>
          <a:prstGeom prst="rect">
            <a:avLst/>
          </a:prstGeom>
          <a:noFill/>
          <a:ln>
            <a:noFill/>
          </a:ln>
        </p:spPr>
        <p:txBody>
          <a:bodyPr wrap="square" anchor="ctr" lIns="90000" tIns="16000" rIns="90000" bIns="16000"/>
          <a:lstStyle/>
          <a:p>
            <a:pPr>
              <a:lnSpc>
                <a:spcPct val="102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Overlap amount</a:t>
            </a:r>
          </a:p>
          <a:p>
            <a:pPr>
              <a:lnSpc>
                <a:spcPct val="104000"/>
              </a:lnSpc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10% × Pacific_MRIS-tagged event SAM</a:t>
            </a:r>
          </a:p>
        </p:txBody>
      </p:sp>
      <p:cxnSp>
        <p:nvCxnSpPr>
          <p:cNvPr id="46" name="OverlapDivider"/>
          <p:cNvCxnSpPr/>
          <p:nvPr/>
        </p:nvCxnSpPr>
        <p:spPr>
          <a:xfrm>
            <a:off x="3583079" y="4097733"/>
            <a:ext cx="249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44" name="OverlapBand"/>
          <p:cNvSpPr txBox="1"/>
          <p:nvPr/>
        </p:nvSpPr>
        <p:spPr>
          <a:xfrm>
            <a:off x="3503079" y="4628866"/>
            <a:ext cx="2650000" cy="531133"/>
          </a:xfrm>
          <a:prstGeom prst="rect">
            <a:avLst/>
          </a:prstGeom>
          <a:noFill/>
          <a:ln>
            <a:noFill/>
          </a:ln>
        </p:spPr>
        <p:txBody>
          <a:bodyPr wrap="square" anchor="ctr" lIns="90000" tIns="16000" rIns="90000" bIns="16000"/>
          <a:lstStyle/>
          <a:p>
            <a:pPr>
              <a:lnSpc>
                <a:spcPct val="102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to SAM, not TAM</a:t>
            </a:r>
          </a:p>
          <a:p>
            <a:pPr>
              <a:lnSpc>
                <a:spcPct val="104000"/>
              </a:lnSpc>
              <a:buNone/>
            </a:pPr>
            <a:r>
              <a:rPr lang="en-US" sz="8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Double-count risk is between SAM-side pools</a:t>
            </a:r>
          </a:p>
        </p:txBody>
      </p:sp>
      <p:cxnSp>
        <p:nvCxnSpPr>
          <p:cNvPr id="47" name="OverlapDivider"/>
          <p:cNvCxnSpPr/>
          <p:nvPr/>
        </p:nvCxnSpPr>
        <p:spPr>
          <a:xfrm>
            <a:off x="3583079" y="4628866"/>
            <a:ext cx="249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graphicFrame>
        <p:nvGraphicFramePr>
          <p:cNvPr id="50" name="TreatmentCrosswalk"/>
          <p:cNvGraphicFramePr>
            <a:graphicFrameLocks noGrp="1"/>
          </p:cNvGraphicFramePr>
          <p:nvPr/>
        </p:nvGraphicFramePr>
        <p:xfrm>
          <a:off x="6453079" y="1661600"/>
          <a:ext cx="5282362" cy="303275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950000"/>
                <a:gridCol w="1110000"/>
                <a:gridCol w="2222362"/>
              </a:tblGrid>
              <a:tr h="3505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ACTIVITY / 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SAM 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Vessel-hosted telemetry / comms relay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Counted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Surface vessel can host or relay instrumentation payloads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Splash, debris, impact monitoring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Counted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Observation and local sensing can be positioned near event areas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Environmental sensing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Counted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Persistent metocean and local sensing are ASV-suitable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Range clearance / hazard patrol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Discounted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Monitoring role is suitable; authority and enforcement do not transfer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Full MRIS replacement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SAM does not assume replacement of major crewed range ships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SBX replacement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SAM does not assume replacement of SBX platform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Flight termination authority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Safety authority is not treated as ASV-addressable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Coercive enforcement / boarding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Enforcement and boarding are not assumed ASV roles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Qualifier"/>
          <p:cNvSpPr txBox="1"/>
          <p:nvPr/>
        </p:nvSpPr>
        <p:spPr>
          <a:xfrm>
            <a:off x="453079" y="1371600"/>
            <a:ext cx="1128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method only; capture share and future upside are outside current sizing</a:t>
            </a:r>
          </a:p>
        </p:txBody>
      </p:sp>
      <p:sp>
        <p:nvSpPr>
          <p:cNvPr id="60" name="InterpretationCard"/>
          <p:cNvSpPr txBox="1"/>
          <p:nvPr/>
        </p:nvSpPr>
        <p:spPr>
          <a:xfrm>
            <a:off x="453079" y="5250000"/>
            <a:ext cx="5500000" cy="6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50000" rIns="140000" bIns="50000"/>
          <a:lstStyle/>
          <a:p>
            <a:pPr>
              <a:lnSpc>
                <a:spcPct val="106000"/>
              </a:lnSpc>
              <a:spcAft>
                <a:spcPts val="6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is a suitability filter, not a penetration rate.</a:t>
            </a:r>
          </a:p>
          <a:p>
            <a:pPr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Rows must pass both gates: vessel-related work and ASV-suitable role.</a:t>
            </a:r>
          </a:p>
        </p:txBody>
      </p:sp>
      <p:sp>
        <p:nvSpPr>
          <p:cNvPr id="61" name="InterpretationCard"/>
          <p:cNvSpPr txBox="1"/>
          <p:nvPr/>
        </p:nvSpPr>
        <p:spPr>
          <a:xfrm>
            <a:off x="6253079" y="5250000"/>
            <a:ext cx="5482362" cy="6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50000" rIns="140000" bIns="50000"/>
          <a:lstStyle/>
          <a:p>
            <a:pPr>
              <a:lnSpc>
                <a:spcPct val="106000"/>
              </a:lnSpc>
              <a:spcAft>
                <a:spcPts val="6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treatment logic is conservative by design.</a:t>
            </a:r>
          </a:p>
          <a:p>
            <a:pPr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Sensing, relay, monitoring, and patrol-like support count; platform replacement, safety authority, and enforcement do not.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USAspending.gov / FPDS award records; (2) DOT&amp;E FY2025 Annual Report, NAVAIR VX-30, NASA Wallops, Point Mugu Sea Range EIS / OEIS, and SEC EDGAR vessel-rate filings; (3) QinetiQ FY25 Annual Report, U.K. MOD LTPA / MSCA releases, DGA EM, CNES / CSG, FMV, Andøya Space, SaxaVord, and company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Methodology Roadmap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Roadmap | TAM defines the current annual pool; SAM filters it for ASV-addressable roles.</a:t>
            </a:r>
          </a:p>
        </p:txBody>
      </p:sp>
      <p:cxnSp>
        <p:nvCxnSpPr>
          <p:cNvPr id="20" name="ChainArrow"/>
          <p:cNvCxnSpPr/>
          <p:nvPr/>
        </p:nvCxnSpPr>
        <p:spPr>
          <a:xfrm>
            <a:off x="2108472" y="2481600"/>
            <a:ext cx="27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1" name="ChainArrow"/>
          <p:cNvCxnSpPr/>
          <p:nvPr/>
        </p:nvCxnSpPr>
        <p:spPr>
          <a:xfrm>
            <a:off x="4033865" y="2481600"/>
            <a:ext cx="27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2" name="ChainArrow"/>
          <p:cNvCxnSpPr/>
          <p:nvPr/>
        </p:nvCxnSpPr>
        <p:spPr>
          <a:xfrm>
            <a:off x="5959258" y="2481600"/>
            <a:ext cx="27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4" name="ChainArrow"/>
          <p:cNvCxnSpPr/>
          <p:nvPr/>
        </p:nvCxnSpPr>
        <p:spPr>
          <a:xfrm>
            <a:off x="9810044" y="2481600"/>
            <a:ext cx="27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5" name="TamSamSeam"/>
          <p:cNvCxnSpPr/>
          <p:nvPr/>
        </p:nvCxnSpPr>
        <p:spPr>
          <a:xfrm>
            <a:off x="8019651" y="2141600"/>
            <a:ext cx="0" cy="68000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</p:cxnSp>
      <p:sp>
        <p:nvSpPr>
          <p:cNvPr id="30" name="RoadNode"/>
          <p:cNvSpPr txBox="1"/>
          <p:nvPr/>
        </p:nvSpPr>
        <p:spPr>
          <a:xfrm>
            <a:off x="453079" y="2141600"/>
            <a:ext cx="1655393" cy="6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78000" tIns="60000" rIns="78000" bIns="50000"/>
          <a:lstStyle/>
          <a:p>
            <a:pPr>
              <a:lnSpc>
                <a:spcPct val="104000"/>
              </a:lnSpc>
              <a:spcAft>
                <a:spcPts val="4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| Scope gate</a:t>
            </a:r>
          </a:p>
          <a:p>
            <a:pPr>
              <a:lnSpc>
                <a:spcPct val="104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+ Europe; current annual sea-range telemetry / maritime range support</a:t>
            </a:r>
          </a:p>
        </p:txBody>
      </p:sp>
      <p:sp>
        <p:nvSpPr>
          <p:cNvPr id="31" name="RoadNode"/>
          <p:cNvSpPr txBox="1"/>
          <p:nvPr/>
        </p:nvSpPr>
        <p:spPr>
          <a:xfrm>
            <a:off x="2378472" y="2141600"/>
            <a:ext cx="1655393" cy="6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78000" tIns="60000" rIns="78000" bIns="50000"/>
          <a:lstStyle/>
          <a:p>
            <a:pPr>
              <a:lnSpc>
                <a:spcPct val="104000"/>
              </a:lnSpc>
              <a:spcAft>
                <a:spcPts val="4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| Source data</a:t>
            </a:r>
          </a:p>
          <a:p>
            <a:pPr>
              <a:lnSpc>
                <a:spcPct val="104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Contracts, budgets, events / rates, Europe anchors</a:t>
            </a:r>
          </a:p>
        </p:txBody>
      </p:sp>
      <p:sp>
        <p:nvSpPr>
          <p:cNvPr id="32" name="RoadNode"/>
          <p:cNvSpPr txBox="1"/>
          <p:nvPr/>
        </p:nvSpPr>
        <p:spPr>
          <a:xfrm>
            <a:off x="4303865" y="2141600"/>
            <a:ext cx="1655393" cy="6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78000" tIns="60000" rIns="78000" bIns="50000"/>
          <a:lstStyle/>
          <a:p>
            <a:pPr>
              <a:lnSpc>
                <a:spcPct val="104000"/>
              </a:lnSpc>
              <a:spcAft>
                <a:spcPts val="4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| Assumptions</a:t>
            </a:r>
          </a:p>
          <a:p>
            <a:pPr>
              <a:lnSpc>
                <a:spcPct val="104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Editable low / base / high inputs; NAVAIR shown as calculated</a:t>
            </a:r>
          </a:p>
        </p:txBody>
      </p:sp>
      <p:sp>
        <p:nvSpPr>
          <p:cNvPr id="33" name="RoadNode"/>
          <p:cNvSpPr txBox="1"/>
          <p:nvPr/>
        </p:nvSpPr>
        <p:spPr>
          <a:xfrm>
            <a:off x="6229258" y="2141600"/>
            <a:ext cx="1655393" cy="68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t" lIns="78000" tIns="60000" rIns="78000" bIns="50000"/>
          <a:lstStyle/>
          <a:p>
            <a:pPr>
              <a:lnSpc>
                <a:spcPct val="104000"/>
              </a:lnSpc>
              <a:spcAft>
                <a:spcPts val="4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| TAM BUILD</a:t>
            </a:r>
          </a:p>
          <a:p>
            <a:pPr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Annual market size before ASV scoring</a:t>
            </a:r>
          </a:p>
        </p:txBody>
      </p:sp>
      <p:sp>
        <p:nvSpPr>
          <p:cNvPr id="34" name="RoadNode"/>
          <p:cNvSpPr txBox="1"/>
          <p:nvPr/>
        </p:nvSpPr>
        <p:spPr>
          <a:xfrm>
            <a:off x="8154651" y="2141600"/>
            <a:ext cx="1655393" cy="68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78000" tIns="60000" rIns="78000" bIns="50000"/>
          <a:lstStyle/>
          <a:p>
            <a:pPr>
              <a:lnSpc>
                <a:spcPct val="104000"/>
              </a:lnSpc>
              <a:spcAft>
                <a:spcPts val="4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| SAM Build</a:t>
            </a:r>
          </a:p>
          <a:p>
            <a:pPr>
              <a:lnSpc>
                <a:spcPct val="104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value × vessel share × role share</a:t>
            </a:r>
          </a:p>
        </p:txBody>
      </p:sp>
      <p:sp>
        <p:nvSpPr>
          <p:cNvPr id="35" name="RoadNode"/>
          <p:cNvSpPr txBox="1"/>
          <p:nvPr/>
        </p:nvSpPr>
        <p:spPr>
          <a:xfrm>
            <a:off x="10080044" y="2141600"/>
            <a:ext cx="1655393" cy="6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78000" tIns="60000" rIns="78000" bIns="50000"/>
          <a:lstStyle/>
          <a:p>
            <a:pPr>
              <a:lnSpc>
                <a:spcPct val="104000"/>
              </a:lnSpc>
              <a:spcAft>
                <a:spcPts val="4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| Outputs + checks</a:t>
            </a:r>
          </a:p>
          <a:p>
            <a:pPr>
              <a:lnSpc>
                <a:spcPct val="104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Executive Summary, Segmentation, z_ChartData, 31 checks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902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annualized FY27-style view; USD $M per year. Geography is U.S. + Europe. TAM and ASV-addressable SAM are modeled; SOM and future capture are not.</a:t>
            </a:r>
          </a:p>
        </p:txBody>
      </p:sp>
      <p:sp>
        <p:nvSpPr>
          <p:cNvPr id="11" name="StepMarker"/>
          <p:cNvSpPr txBox="1"/>
          <p:nvPr/>
        </p:nvSpPr>
        <p:spPr>
          <a:xfrm>
            <a:off x="9535441" y="1371600"/>
            <a:ext cx="2200000" cy="19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0000" tIns="20000" rIns="60000" bIns="20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1 / 4 — SCOPE + FLOW</a:t>
            </a:r>
          </a:p>
        </p:txBody>
      </p:sp>
      <p:sp>
        <p:nvSpPr>
          <p:cNvPr id="12" name="OutputChip"/>
          <p:cNvSpPr txBox="1"/>
          <p:nvPr/>
        </p:nvSpPr>
        <p:spPr>
          <a:xfrm>
            <a:off x="453079" y="1581600"/>
            <a:ext cx="11282362" cy="29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50000" tIns="30000" rIns="150000" bIns="30000"/>
          <a:lstStyle/>
          <a:p>
            <a:pPr algn="ctr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defines scope, separates evidence from judgment, builds TAM, then filters TAM into ASV-addressable SAM.</a:t>
            </a:r>
          </a:p>
        </p:txBody>
      </p:sp>
      <p:sp>
        <p:nvSpPr>
          <p:cNvPr id="13" name="ChapterLabel"/>
          <p:cNvSpPr txBox="1"/>
          <p:nvPr/>
        </p:nvSpPr>
        <p:spPr>
          <a:xfrm>
            <a:off x="453079" y="1921600"/>
            <a:ext cx="7431572" cy="19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60000" tIns="20000" rIns="60000" bIns="20000"/>
          <a:lstStyle/>
          <a:p>
            <a:pPr algn="ctr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TAM CHAPTER — DEFINE AND SIZE THE ANNUAL MARKET</a:t>
            </a:r>
          </a:p>
        </p:txBody>
      </p:sp>
      <p:sp>
        <p:nvSpPr>
          <p:cNvPr id="14" name="ChapterLabel"/>
          <p:cNvSpPr txBox="1"/>
          <p:nvPr/>
        </p:nvSpPr>
        <p:spPr>
          <a:xfrm>
            <a:off x="8154651" y="1921600"/>
            <a:ext cx="3580786" cy="19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60000" tIns="20000" rIns="60000" bIns="20000"/>
          <a:lstStyle/>
          <a:p>
            <a:pPr algn="ctr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CHAPTER — FILTER THE SAME POOL FOR ASV ROLES</a:t>
            </a:r>
          </a:p>
        </p:txBody>
      </p:sp>
      <p:sp>
        <p:nvSpPr>
          <p:cNvPr id="26" name="SeamNote"/>
          <p:cNvSpPr txBox="1"/>
          <p:nvPr/>
        </p:nvSpPr>
        <p:spPr>
          <a:xfrm>
            <a:off x="7069651" y="2831600"/>
            <a:ext cx="190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TAM ends here; SAM starts here.</a:t>
            </a:r>
          </a:p>
        </p:txBody>
      </p:sp>
      <p:sp>
        <p:nvSpPr>
          <p:cNvPr id="40" name="ScopeHeader"/>
          <p:cNvSpPr txBox="1"/>
          <p:nvPr/>
        </p:nvSpPr>
        <p:spPr>
          <a:xfrm>
            <a:off x="453079" y="3041600"/>
            <a:ext cx="6300000" cy="2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20000" tIns="20000" rIns="120000" bIns="20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 GATE — CURRENT MODEL BOUNDARY</a:t>
            </a:r>
          </a:p>
        </p:txBody>
      </p:sp>
      <p:sp>
        <p:nvSpPr>
          <p:cNvPr id="41" name="ScopeColumn"/>
          <p:cNvSpPr txBox="1"/>
          <p:nvPr/>
        </p:nvSpPr>
        <p:spPr>
          <a:xfrm>
            <a:off x="453079" y="3301600"/>
            <a:ext cx="3150000" cy="19684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95000" tIns="60000" rIns="70000" bIns="45000"/>
          <a:lstStyle/>
          <a:p>
            <a:pPr>
              <a:lnSpc>
                <a:spcPct val="104000"/>
              </a:lnSpc>
              <a:spcAft>
                <a:spcPts val="90"/>
              </a:spcAft>
              <a:buNone/>
            </a:pP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INCLUDED IN MODEL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+ Europe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USD $M / year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annualized FY27-style view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Vessel-hosted telemetry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Range / event support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Maritime instrumentation</a:t>
            </a:r>
          </a:p>
          <a:p>
            <a:pPr marL="142875" indent="-142875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share × role share addressability</a:t>
            </a:r>
          </a:p>
        </p:txBody>
      </p:sp>
      <p:sp>
        <p:nvSpPr>
          <p:cNvPr id="42" name="ScopeColumn"/>
          <p:cNvSpPr txBox="1"/>
          <p:nvPr/>
        </p:nvSpPr>
        <p:spPr>
          <a:xfrm>
            <a:off x="3603079" y="3301600"/>
            <a:ext cx="3150000" cy="196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95000" tIns="60000" rIns="70000" bIns="45000"/>
          <a:lstStyle/>
          <a:p>
            <a:pPr>
              <a:lnSpc>
                <a:spcPct val="104000"/>
              </a:lnSpc>
              <a:spcAft>
                <a:spcPts val="90"/>
              </a:spcAft>
              <a:buNone/>
            </a:pPr>
            <a:r>
              <a:rPr lang="en-US" sz="83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/ NOT CURRENT MODEL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Rest of world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 / capture model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Multi-year revenue forecast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MRIS or SBX replacement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Flight termination authority</a:t>
            </a:r>
          </a:p>
          <a:p>
            <a:pPr marL="142875" indent="-142875">
              <a:lnSpc>
                <a:spcPct val="104000"/>
              </a:lnSpc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Coercive enforcement / boarding</a:t>
            </a:r>
          </a:p>
          <a:p>
            <a:pPr marL="142875" indent="-142875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Generic ASV penetration rate</a:t>
            </a:r>
          </a:p>
        </p:txBody>
      </p:sp>
      <p:sp>
        <p:nvSpPr>
          <p:cNvPr id="50" name="ReaderKeyChip"/>
          <p:cNvSpPr txBox="1"/>
          <p:nvPr/>
        </p:nvSpPr>
        <p:spPr>
          <a:xfrm>
            <a:off x="6933079" y="3041600"/>
            <a:ext cx="4802362" cy="696133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20000" tIns="45000" rIns="120000" bIns="45000"/>
          <a:lstStyle/>
          <a:p>
            <a:pPr>
              <a:lnSpc>
                <a:spcPct val="104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  <a:p>
            <a:pPr>
              <a:lnSpc>
                <a:spcPct val="104000"/>
              </a:lnSpc>
              <a:spcAft>
                <a:spcPts val="55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annual spend pool for sea-range telemetry / maritime range-support.</a:t>
            </a:r>
          </a:p>
          <a:p>
            <a:pPr>
              <a:lnSpc>
                <a:spcPct val="104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TAM + Europe TAM = Total TAM</a:t>
            </a:r>
          </a:p>
        </p:txBody>
      </p:sp>
      <p:sp>
        <p:nvSpPr>
          <p:cNvPr id="51" name="ReaderKeyChip"/>
          <p:cNvSpPr txBox="1"/>
          <p:nvPr/>
        </p:nvSpPr>
        <p:spPr>
          <a:xfrm>
            <a:off x="6933079" y="3807733"/>
            <a:ext cx="4802362" cy="696133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20000" tIns="45000" rIns="120000" bIns="45000"/>
          <a:lstStyle/>
          <a:p>
            <a:pPr>
              <a:lnSpc>
                <a:spcPct val="104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ASV-addressable SAM</a:t>
            </a:r>
          </a:p>
          <a:p>
            <a:pPr>
              <a:lnSpc>
                <a:spcPct val="104000"/>
              </a:lnSpc>
              <a:spcAft>
                <a:spcPts val="55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Portion of TAM tied to vessel-related work and ASV-suitable roles.</a:t>
            </a:r>
          </a:p>
          <a:p>
            <a:pPr>
              <a:lnSpc>
                <a:spcPct val="104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value × vessel share × role share</a:t>
            </a:r>
          </a:p>
        </p:txBody>
      </p:sp>
      <p:sp>
        <p:nvSpPr>
          <p:cNvPr id="52" name="ReaderKeyChip"/>
          <p:cNvSpPr txBox="1"/>
          <p:nvPr/>
        </p:nvSpPr>
        <p:spPr>
          <a:xfrm>
            <a:off x="6933079" y="4573866"/>
            <a:ext cx="4802362" cy="696133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20000" tIns="45000" rIns="120000" bIns="45000"/>
          <a:lstStyle/>
          <a:p>
            <a:pPr>
              <a:lnSpc>
                <a:spcPct val="104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/ base / high</a:t>
            </a:r>
          </a:p>
          <a:p>
            <a:pPr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case is shown centrally; SAM base is the midpoint of modeled low and high SAM cases.</a:t>
            </a:r>
          </a:p>
        </p:txBody>
      </p:sp>
      <p:sp>
        <p:nvSpPr>
          <p:cNvPr id="60" name="Guardrail"/>
          <p:cNvSpPr txBox="1"/>
          <p:nvPr/>
        </p:nvSpPr>
        <p:spPr>
          <a:xfrm>
            <a:off x="453079" y="5350000"/>
            <a:ext cx="11282362" cy="52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60000" tIns="40000" rIns="160000" bIns="40000"/>
          <a:lstStyle/>
          <a:p>
            <a:pPr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Guardrails: </a:t>
            </a:r>
            <a:r>
              <a:rPr lang="en-US" sz="9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awards and budgets size / anchor the market; ASV factors only filter addressability. The model does not include SOM, win probability, pricing, generic autonomy penetration, full crewed-vessel replacement, SBX replacement, or coercive safety authority.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Methodology &amp; Scope tab; (2) Assumptions, TAM Build, SAM Build, Segmentation, Checks, and z_ChartData tabs; (3) sea-range telemetry methodology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Evidence Streams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Evidence Streams | Four source types feed distinct workbook engines rather than one summed evidence pool.</a:t>
            </a:r>
          </a:p>
        </p:txBody>
      </p:sp>
      <p:cxnSp>
        <p:nvCxnSpPr>
          <p:cNvPr id="20" name="SpineArrow"/>
          <p:cNvCxnSpPr/>
          <p:nvPr/>
        </p:nvCxnSpPr>
        <p:spPr>
          <a:xfrm>
            <a:off x="1859130" y="2161600"/>
            <a:ext cx="24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21" name="SpineArrow"/>
          <p:cNvCxnSpPr/>
          <p:nvPr/>
        </p:nvCxnSpPr>
        <p:spPr>
          <a:xfrm>
            <a:off x="3505181" y="2161600"/>
            <a:ext cx="24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22" name="SpineArrow"/>
          <p:cNvCxnSpPr/>
          <p:nvPr/>
        </p:nvCxnSpPr>
        <p:spPr>
          <a:xfrm>
            <a:off x="5151232" y="2161600"/>
            <a:ext cx="24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23" name="SpineArrow"/>
          <p:cNvCxnSpPr/>
          <p:nvPr/>
        </p:nvCxnSpPr>
        <p:spPr>
          <a:xfrm>
            <a:off x="6797283" y="2161600"/>
            <a:ext cx="24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24" name="SpineArrow"/>
          <p:cNvCxnSpPr/>
          <p:nvPr/>
        </p:nvCxnSpPr>
        <p:spPr>
          <a:xfrm>
            <a:off x="8443334" y="2161600"/>
            <a:ext cx="24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25" name="SpineArrow"/>
          <p:cNvCxnSpPr/>
          <p:nvPr/>
        </p:nvCxnSpPr>
        <p:spPr>
          <a:xfrm>
            <a:off x="10089385" y="2161600"/>
            <a:ext cx="24000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30" name="SpineNode"/>
          <p:cNvSpPr txBox="1"/>
          <p:nvPr/>
        </p:nvSpPr>
        <p:spPr>
          <a:xfrm>
            <a:off x="453079" y="1891600"/>
            <a:ext cx="1406051" cy="5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Contracts</a:t>
            </a:r>
          </a:p>
        </p:txBody>
      </p:sp>
      <p:sp>
        <p:nvSpPr>
          <p:cNvPr id="31" name="SpineNode"/>
          <p:cNvSpPr txBox="1"/>
          <p:nvPr/>
        </p:nvSpPr>
        <p:spPr>
          <a:xfrm>
            <a:off x="2099130" y="1891600"/>
            <a:ext cx="1406051" cy="5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Budget</a:t>
            </a:r>
          </a:p>
        </p:txBody>
      </p:sp>
      <p:sp>
        <p:nvSpPr>
          <p:cNvPr id="32" name="SpineNode"/>
          <p:cNvSpPr txBox="1"/>
          <p:nvPr/>
        </p:nvSpPr>
        <p:spPr>
          <a:xfrm>
            <a:off x="3745181" y="1891600"/>
            <a:ext cx="1406051" cy="5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Events</a:t>
            </a:r>
          </a:p>
        </p:txBody>
      </p:sp>
      <p:sp>
        <p:nvSpPr>
          <p:cNvPr id="33" name="SpineNode"/>
          <p:cNvSpPr txBox="1"/>
          <p:nvPr/>
        </p:nvSpPr>
        <p:spPr>
          <a:xfrm>
            <a:off x="5391232" y="1891600"/>
            <a:ext cx="1406051" cy="5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Europe</a:t>
            </a:r>
          </a:p>
        </p:txBody>
      </p:sp>
      <p:sp>
        <p:nvSpPr>
          <p:cNvPr id="34" name="SpineNode"/>
          <p:cNvSpPr txBox="1"/>
          <p:nvPr/>
        </p:nvSpPr>
        <p:spPr>
          <a:xfrm>
            <a:off x="7037283" y="1891600"/>
            <a:ext cx="1406051" cy="5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Assumptions</a:t>
            </a:r>
          </a:p>
        </p:txBody>
      </p:sp>
      <p:sp>
        <p:nvSpPr>
          <p:cNvPr id="35" name="SpineNode"/>
          <p:cNvSpPr txBox="1"/>
          <p:nvPr/>
        </p:nvSpPr>
        <p:spPr>
          <a:xfrm>
            <a:off x="8683334" y="1891600"/>
            <a:ext cx="1406051" cy="54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TAM Build / SAM Build</a:t>
            </a:r>
          </a:p>
        </p:txBody>
      </p:sp>
      <p:sp>
        <p:nvSpPr>
          <p:cNvPr id="36" name="SpineNode"/>
          <p:cNvSpPr txBox="1"/>
          <p:nvPr/>
        </p:nvSpPr>
        <p:spPr>
          <a:xfrm>
            <a:off x="10329385" y="1891600"/>
            <a:ext cx="1406051" cy="5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Executive Summary / Segmentation / Checks / z_ChartData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887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records live in Data tabs; editable judgment lives in Assumptions; source IDs and support mapping live in Sources &amp; Glossary; checks tie outputs back to the model.</a:t>
            </a:r>
          </a:p>
        </p:txBody>
      </p:sp>
      <p:sp>
        <p:nvSpPr>
          <p:cNvPr id="11" name="StepMarker"/>
          <p:cNvSpPr txBox="1"/>
          <p:nvPr/>
        </p:nvSpPr>
        <p:spPr>
          <a:xfrm>
            <a:off x="9385441" y="1371600"/>
            <a:ext cx="2350000" cy="1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0000" tIns="20000" rIns="60000" bIns="20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2 / 4 — EVIDENCE + CONTROL</a:t>
            </a:r>
          </a:p>
        </p:txBody>
      </p:sp>
      <p:sp>
        <p:nvSpPr>
          <p:cNvPr id="12" name="OutputChip"/>
          <p:cNvSpPr txBox="1"/>
          <p:nvPr/>
        </p:nvSpPr>
        <p:spPr>
          <a:xfrm>
            <a:off x="453079" y="1571600"/>
            <a:ext cx="11282362" cy="2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50000" tIns="30000" rIns="150000" bIns="30000"/>
          <a:lstStyle/>
          <a:p>
            <a:pPr algn="ctr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Contracts, budgets, events and rates, and Europe anchors each anchor a different model calculation and validation path.</a:t>
            </a:r>
          </a:p>
        </p:txBody>
      </p:sp>
      <p:sp>
        <p:nvSpPr>
          <p:cNvPr id="37" name="AssumptionsNote"/>
          <p:cNvSpPr txBox="1"/>
          <p:nvPr/>
        </p:nvSpPr>
        <p:spPr>
          <a:xfrm>
            <a:off x="6787283" y="2436600"/>
            <a:ext cx="1906051" cy="1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Editable scenario knobs stay separate from raw evidence.</a:t>
            </a:r>
          </a:p>
        </p:txBody>
      </p:sp>
      <p:sp>
        <p:nvSpPr>
          <p:cNvPr id="40" name="LedgerLabel"/>
          <p:cNvSpPr txBox="1"/>
          <p:nvPr/>
        </p:nvSpPr>
        <p:spPr>
          <a:xfrm>
            <a:off x="453079" y="2616600"/>
            <a:ext cx="705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stream ledger — what each stream anchors</a:t>
            </a:r>
          </a:p>
        </p:txBody>
      </p:sp>
      <p:graphicFrame>
        <p:nvGraphicFramePr>
          <p:cNvPr id="41" name="EvidenceLedger"/>
          <p:cNvGraphicFramePr>
            <a:graphicFrameLocks noGrp="1"/>
          </p:cNvGraphicFramePr>
          <p:nvPr/>
        </p:nvGraphicFramePr>
        <p:xfrm>
          <a:off x="453079" y="2816600"/>
          <a:ext cx="7050000" cy="17130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39500"/>
                <a:gridCol w="1692000"/>
                <a:gridCol w="2185500"/>
                <a:gridCol w="1833000"/>
              </a:tblGrid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WORKBOOK TABS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ANCHORS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EVIDENCE /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Contracts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 Contracts; TAM Build; SAM Build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Awarded / obligated activity; recognized contract TAM; contract-anchored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PIID, vendor, reported value, PoP, TAM factors, ASV factors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 Budget; TAM Build; Assumptions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 maritime slices; NAVAIR layer; SBX / MDA / Pacific Collector cross-checks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FY27 PB, maritime share, PE code, NAVAIR sub-rows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Events &amp; rates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 Events; SAM Build; Segmentation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Test cadence; event-derived SAM; Pacific_MRIS overlap eligibility; charter-rate economics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annual events, per-event cost, day rates, overlap group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Europe anchors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 Europe; TAM Build; SAM Build; Segmentation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Europe TAM; Europe SAM; country / segment cuts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modeled spend, public-record floor, vessel share, role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  <p:sp>
        <p:nvSpPr>
          <p:cNvPr id="50" name="RailHeader"/>
          <p:cNvSpPr txBox="1"/>
          <p:nvPr/>
        </p:nvSpPr>
        <p:spPr>
          <a:xfrm>
            <a:off x="7653079" y="2616600"/>
            <a:ext cx="4082362" cy="30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0000" tIns="20000" rIns="90000" bIns="20000"/>
          <a:lstStyle/>
          <a:p>
            <a:pPr algn="ctr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CONTROL — EVIDENCE AND JUDGMENT STAY SEPARATE</a:t>
            </a:r>
          </a:p>
        </p:txBody>
      </p:sp>
      <p:sp>
        <p:nvSpPr>
          <p:cNvPr id="51" name="ControlCard"/>
          <p:cNvSpPr txBox="1"/>
          <p:nvPr/>
        </p:nvSpPr>
        <p:spPr>
          <a:xfrm>
            <a:off x="7653079" y="2966600"/>
            <a:ext cx="4082362" cy="34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0000" tIns="35000" rIns="110000" bIns="35000"/>
          <a:lstStyle/>
          <a:p>
            <a:pPr>
              <a:lnSpc>
                <a:spcPct val="102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evidence</a:t>
            </a:r>
          </a:p>
          <a:p>
            <a:pPr>
              <a:lnSpc>
                <a:spcPct val="102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tabs carry source records and source IDs.</a:t>
            </a:r>
          </a:p>
        </p:txBody>
      </p:sp>
      <p:sp>
        <p:nvSpPr>
          <p:cNvPr id="52" name="ControlCard"/>
          <p:cNvSpPr txBox="1"/>
          <p:nvPr/>
        </p:nvSpPr>
        <p:spPr>
          <a:xfrm>
            <a:off x="7653079" y="3360280"/>
            <a:ext cx="4082362" cy="34868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0000" tIns="35000" rIns="110000" bIns="35000"/>
          <a:lstStyle/>
          <a:p>
            <a:pPr>
              <a:lnSpc>
                <a:spcPct val="102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Editable judgment</a:t>
            </a:r>
          </a:p>
          <a:p>
            <a:pPr>
              <a:lnSpc>
                <a:spcPct val="102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Assumptions carries low / base / high knobs and basis summaries.</a:t>
            </a:r>
          </a:p>
        </p:txBody>
      </p:sp>
      <p:sp>
        <p:nvSpPr>
          <p:cNvPr id="53" name="ControlCard"/>
          <p:cNvSpPr txBox="1"/>
          <p:nvPr/>
        </p:nvSpPr>
        <p:spPr>
          <a:xfrm>
            <a:off x="7653079" y="3753960"/>
            <a:ext cx="4082362" cy="34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0000" tIns="35000" rIns="110000" bIns="35000"/>
          <a:lstStyle/>
          <a:p>
            <a:pPr>
              <a:lnSpc>
                <a:spcPct val="102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Calculation engines</a:t>
            </a:r>
          </a:p>
          <a:p>
            <a:pPr>
              <a:lnSpc>
                <a:spcPct val="102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Build and SAM Build perform the math.</a:t>
            </a:r>
          </a:p>
        </p:txBody>
      </p:sp>
      <p:sp>
        <p:nvSpPr>
          <p:cNvPr id="54" name="ControlCard"/>
          <p:cNvSpPr txBox="1"/>
          <p:nvPr/>
        </p:nvSpPr>
        <p:spPr>
          <a:xfrm>
            <a:off x="7653079" y="4147640"/>
            <a:ext cx="4082362" cy="34868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0000" tIns="35000" rIns="110000" bIns="35000"/>
          <a:lstStyle/>
          <a:p>
            <a:pPr>
              <a:lnSpc>
                <a:spcPct val="102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Provenance</a:t>
            </a:r>
          </a:p>
          <a:p>
            <a:pPr>
              <a:lnSpc>
                <a:spcPct val="102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 &amp; Glossary resolves source IDs and assumption support.</a:t>
            </a:r>
          </a:p>
        </p:txBody>
      </p:sp>
      <p:sp>
        <p:nvSpPr>
          <p:cNvPr id="55" name="ControlCard"/>
          <p:cNvSpPr txBox="1"/>
          <p:nvPr/>
        </p:nvSpPr>
        <p:spPr>
          <a:xfrm>
            <a:off x="7653079" y="4541320"/>
            <a:ext cx="4082362" cy="34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0000" tIns="35000" rIns="110000" bIns="35000"/>
          <a:lstStyle/>
          <a:p>
            <a:pPr>
              <a:lnSpc>
                <a:spcPct val="102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integrity</a:t>
            </a:r>
          </a:p>
          <a:p>
            <a:pPr>
              <a:lnSpc>
                <a:spcPct val="102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Checks and z_ChartData tie model values to presentation ranges.</a:t>
            </a:r>
          </a:p>
        </p:txBody>
      </p:sp>
      <p:sp>
        <p:nvSpPr>
          <p:cNvPr id="60" name="ExampleStrip"/>
          <p:cNvSpPr txBox="1"/>
          <p:nvPr/>
        </p:nvSpPr>
        <p:spPr>
          <a:xfrm>
            <a:off x="453079" y="4970000"/>
            <a:ext cx="11282362" cy="9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1" name="ExampleStripTitle"/>
          <p:cNvSpPr txBox="1"/>
          <p:nvPr/>
        </p:nvSpPr>
        <p:spPr>
          <a:xfrm>
            <a:off x="453079" y="49700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50000" tIns="30000" rIns="150000" bIns="2000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 — each source stream becomes a different calculation input</a:t>
            </a:r>
          </a:p>
        </p:txBody>
      </p:sp>
      <p:sp>
        <p:nvSpPr>
          <p:cNvPr id="62" name="ExampleMiniCard"/>
          <p:cNvSpPr txBox="1"/>
          <p:nvPr/>
        </p:nvSpPr>
        <p:spPr>
          <a:xfrm>
            <a:off x="603079" y="5190000"/>
            <a:ext cx="2655590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t" lIns="95000" tIns="50000" rIns="80000" bIns="40000"/>
          <a:lstStyle/>
          <a:p>
            <a:pPr>
              <a:lnSpc>
                <a:spcPct val="100000"/>
              </a:lnSpc>
              <a:spcAft>
                <a:spcPts val="40"/>
              </a:spcAft>
              <a:buNone/>
            </a:pPr>
            <a:r>
              <a:rPr lang="en-US" sz="750" b="1" dirty="0">
                <a:solidFill>
                  <a:srgbClr val="3D5972"/>
                </a:solidFill>
                <a:latin typeface="Arial"/>
                <a:ea typeface="Arial"/>
                <a:cs typeface="Arial"/>
              </a:rPr>
              <a:t>CONTRACTS</a:t>
            </a:r>
          </a:p>
          <a:p>
            <a:pPr>
              <a:lnSpc>
                <a:spcPct val="100000"/>
              </a:lnSpc>
              <a:spcAft>
                <a:spcPts val="45"/>
              </a:spcAft>
              <a:buNone/>
            </a:pPr>
            <a:r>
              <a:rPr lang="en-US" sz="87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Recognized TAM</a:t>
            </a:r>
          </a:p>
          <a:p>
            <a:pPr>
              <a:lnSpc>
                <a:spcPct val="10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reported value × relevance × maritime × instrumentation</a:t>
            </a:r>
          </a:p>
        </p:txBody>
      </p:sp>
      <p:sp>
        <p:nvSpPr>
          <p:cNvPr id="63" name="ExampleMiniCard"/>
          <p:cNvSpPr txBox="1"/>
          <p:nvPr/>
        </p:nvSpPr>
        <p:spPr>
          <a:xfrm>
            <a:off x="3378669" y="5190000"/>
            <a:ext cx="2655590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t" lIns="95000" tIns="50000" rIns="80000" bIns="40000"/>
          <a:lstStyle/>
          <a:p>
            <a:pPr>
              <a:lnSpc>
                <a:spcPct val="100000"/>
              </a:lnSpc>
              <a:spcAft>
                <a:spcPts val="40"/>
              </a:spcAft>
              <a:buNone/>
            </a:pPr>
            <a:r>
              <a:rPr lang="en-US" sz="750" b="1" dirty="0">
                <a:solidFill>
                  <a:srgbClr val="3D5972"/>
                </a:solidFill>
                <a:latin typeface="Arial"/>
                <a:ea typeface="Arial"/>
                <a:cs typeface="Arial"/>
              </a:rPr>
              <a:t>BUDGETS</a:t>
            </a:r>
          </a:p>
          <a:p>
            <a:pPr>
              <a:lnSpc>
                <a:spcPct val="100000"/>
              </a:lnSpc>
              <a:spcAft>
                <a:spcPts val="45"/>
              </a:spcAft>
              <a:buNone/>
            </a:pPr>
            <a:r>
              <a:rPr lang="en-US" sz="87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 maritime slice</a:t>
            </a:r>
          </a:p>
          <a:p>
            <a:pPr>
              <a:lnSpc>
                <a:spcPct val="10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FY27 PB × maritime instrumentation share</a:t>
            </a:r>
          </a:p>
        </p:txBody>
      </p:sp>
      <p:sp>
        <p:nvSpPr>
          <p:cNvPr id="64" name="ExampleMiniCard"/>
          <p:cNvSpPr txBox="1"/>
          <p:nvPr/>
        </p:nvSpPr>
        <p:spPr>
          <a:xfrm>
            <a:off x="6154259" y="5190000"/>
            <a:ext cx="2655590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t" lIns="95000" tIns="50000" rIns="80000" bIns="40000"/>
          <a:lstStyle/>
          <a:p>
            <a:pPr>
              <a:lnSpc>
                <a:spcPct val="100000"/>
              </a:lnSpc>
              <a:spcAft>
                <a:spcPts val="40"/>
              </a:spcAft>
              <a:buNone/>
            </a:pPr>
            <a:r>
              <a:rPr lang="en-US" sz="750" b="1" dirty="0">
                <a:solidFill>
                  <a:srgbClr val="3D5972"/>
                </a:solidFill>
                <a:latin typeface="Arial"/>
                <a:ea typeface="Arial"/>
                <a:cs typeface="Arial"/>
              </a:rPr>
              <a:t>EVENTS</a:t>
            </a:r>
          </a:p>
          <a:p>
            <a:pPr>
              <a:lnSpc>
                <a:spcPct val="100000"/>
              </a:lnSpc>
              <a:spcAft>
                <a:spcPts val="45"/>
              </a:spcAft>
              <a:buNone/>
            </a:pPr>
            <a:r>
              <a:rPr lang="en-US" sz="87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 annual value</a:t>
            </a:r>
          </a:p>
          <a:p>
            <a:pPr>
              <a:lnSpc>
                <a:spcPct val="10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cadence × per-event maritime support cost</a:t>
            </a:r>
          </a:p>
        </p:txBody>
      </p:sp>
      <p:sp>
        <p:nvSpPr>
          <p:cNvPr id="65" name="ExampleMiniCard"/>
          <p:cNvSpPr txBox="1"/>
          <p:nvPr/>
        </p:nvSpPr>
        <p:spPr>
          <a:xfrm>
            <a:off x="8929849" y="5190000"/>
            <a:ext cx="2655590" cy="5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t" lIns="95000" tIns="50000" rIns="80000" bIns="40000"/>
          <a:lstStyle/>
          <a:p>
            <a:pPr>
              <a:lnSpc>
                <a:spcPct val="100000"/>
              </a:lnSpc>
              <a:spcAft>
                <a:spcPts val="40"/>
              </a:spcAft>
              <a:buNone/>
            </a:pPr>
            <a:r>
              <a:rPr lang="en-US" sz="750" b="1" dirty="0">
                <a:solidFill>
                  <a:srgbClr val="3D5972"/>
                </a:solidFill>
                <a:latin typeface="Arial"/>
                <a:ea typeface="Arial"/>
                <a:cs typeface="Arial"/>
              </a:rPr>
              <a:t>EUROPE</a:t>
            </a:r>
          </a:p>
          <a:p>
            <a:pPr>
              <a:lnSpc>
                <a:spcPct val="100000"/>
              </a:lnSpc>
              <a:spcAft>
                <a:spcPts val="45"/>
              </a:spcAft>
              <a:buNone/>
            </a:pPr>
            <a:r>
              <a:rPr lang="en-US" sz="87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Country / segment anchor</a:t>
            </a:r>
          </a:p>
          <a:p>
            <a:pPr>
              <a:lnSpc>
                <a:spcPct val="10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modeled annual spend × vessel share × role share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Data Contracts, Data Budget, Data Events, Data Europe tabs; (2) Assumptions and Sources &amp; Glossary tabs; (3) TAM Build, SAM Build, Checks, and z_ChartData tabs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Build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Build | Contracts, budgets, and country anchors create the annual spend pool before ASV scoring.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9072362" cy="1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is the annual spend pool before ASV addressability. It is expressed in USD $M per year and built separately for the U.S. and Europe.</a:t>
            </a:r>
          </a:p>
        </p:txBody>
      </p:sp>
      <p:sp>
        <p:nvSpPr>
          <p:cNvPr id="11" name="StepMarker"/>
          <p:cNvSpPr txBox="1"/>
          <p:nvPr/>
        </p:nvSpPr>
        <p:spPr>
          <a:xfrm>
            <a:off x="9585441" y="1371600"/>
            <a:ext cx="2150000" cy="17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0000" tIns="20000" rIns="60000" bIns="20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3 / 4 — TAM ENGINE</a:t>
            </a:r>
          </a:p>
        </p:txBody>
      </p:sp>
      <p:sp>
        <p:nvSpPr>
          <p:cNvPr id="12" name="OutputChip"/>
          <p:cNvSpPr txBox="1"/>
          <p:nvPr/>
        </p:nvSpPr>
        <p:spPr>
          <a:xfrm>
            <a:off x="453079" y="1561600"/>
            <a:ext cx="11282362" cy="27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50000" tIns="30000" rIns="15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annual TAM is $1,595.5M base: U.S. $1,388.5M and Europe $207.0M.</a:t>
            </a:r>
          </a:p>
        </p:txBody>
      </p:sp>
      <p:sp>
        <p:nvSpPr>
          <p:cNvPr id="13" name="FormulaTitle"/>
          <p:cNvSpPr txBox="1"/>
          <p:nvPr/>
        </p:nvSpPr>
        <p:spPr>
          <a:xfrm>
            <a:off x="453079" y="1866600"/>
            <a:ext cx="11282362" cy="1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conversion logic — recognize, annualize, allocate, and bridge</a:t>
            </a:r>
          </a:p>
        </p:txBody>
      </p:sp>
      <p:sp>
        <p:nvSpPr>
          <p:cNvPr id="100" name="FormulaCard"/>
          <p:cNvSpPr txBox="1"/>
          <p:nvPr/>
        </p:nvSpPr>
        <p:spPr>
          <a:xfrm>
            <a:off x="453079" y="203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spcAft>
                <a:spcPts val="35"/>
              </a:spcAft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Reported contract value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obligated / awarded / ceiling / annual</a:t>
            </a:r>
          </a:p>
        </p:txBody>
      </p:sp>
      <p:sp>
        <p:nvSpPr>
          <p:cNvPr id="101" name="OperatorChip"/>
          <p:cNvSpPr txBox="1"/>
          <p:nvPr/>
        </p:nvSpPr>
        <p:spPr>
          <a:xfrm>
            <a:off x="2060139" y="2111600"/>
            <a:ext cx="320000" cy="3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02" name="FormulaCard"/>
          <p:cNvSpPr txBox="1"/>
          <p:nvPr/>
        </p:nvSpPr>
        <p:spPr>
          <a:xfrm>
            <a:off x="2410139" y="203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spcAft>
                <a:spcPts val="35"/>
              </a:spcAft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factors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relevance × maritime × instrumentation</a:t>
            </a:r>
          </a:p>
        </p:txBody>
      </p:sp>
      <p:sp>
        <p:nvSpPr>
          <p:cNvPr id="103" name="OperatorChip"/>
          <p:cNvSpPr txBox="1"/>
          <p:nvPr/>
        </p:nvSpPr>
        <p:spPr>
          <a:xfrm>
            <a:off x="4017199" y="2111600"/>
            <a:ext cx="320000" cy="3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04" name="FormulaCard"/>
          <p:cNvSpPr txBox="1"/>
          <p:nvPr/>
        </p:nvSpPr>
        <p:spPr>
          <a:xfrm>
            <a:off x="4367199" y="203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spcAft>
                <a:spcPts val="35"/>
              </a:spcAft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Recognized contract TAM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in-scope portion counts</a:t>
            </a:r>
          </a:p>
        </p:txBody>
      </p:sp>
      <p:sp>
        <p:nvSpPr>
          <p:cNvPr id="110" name="FormulaCard"/>
          <p:cNvSpPr txBox="1"/>
          <p:nvPr/>
        </p:nvSpPr>
        <p:spPr>
          <a:xfrm>
            <a:off x="6244260" y="203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Recognized contract TAM</a:t>
            </a:r>
          </a:p>
        </p:txBody>
      </p:sp>
      <p:sp>
        <p:nvSpPr>
          <p:cNvPr id="111" name="OperatorChip"/>
          <p:cNvSpPr txBox="1"/>
          <p:nvPr/>
        </p:nvSpPr>
        <p:spPr>
          <a:xfrm>
            <a:off x="7851320" y="2111600"/>
            <a:ext cx="320000" cy="3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÷</a:t>
            </a:r>
          </a:p>
        </p:txBody>
      </p:sp>
      <p:sp>
        <p:nvSpPr>
          <p:cNvPr id="112" name="FormulaCard"/>
          <p:cNvSpPr txBox="1"/>
          <p:nvPr/>
        </p:nvSpPr>
        <p:spPr>
          <a:xfrm>
            <a:off x="8201320" y="203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spcAft>
                <a:spcPts val="35"/>
              </a:spcAft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Years in PoP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max(1, end - start + 1)</a:t>
            </a:r>
          </a:p>
        </p:txBody>
      </p:sp>
      <p:sp>
        <p:nvSpPr>
          <p:cNvPr id="113" name="OperatorChip"/>
          <p:cNvSpPr txBox="1"/>
          <p:nvPr/>
        </p:nvSpPr>
        <p:spPr>
          <a:xfrm>
            <a:off x="9808380" y="2111600"/>
            <a:ext cx="320000" cy="3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4" name="FormulaCard"/>
          <p:cNvSpPr txBox="1"/>
          <p:nvPr/>
        </p:nvSpPr>
        <p:spPr>
          <a:xfrm>
            <a:off x="10158380" y="203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spcAft>
                <a:spcPts val="35"/>
              </a:spcAft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contract TAM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rows are not re-divided</a:t>
            </a:r>
          </a:p>
        </p:txBody>
      </p:sp>
      <p:sp>
        <p:nvSpPr>
          <p:cNvPr id="120" name="FormulaCard"/>
          <p:cNvSpPr txBox="1"/>
          <p:nvPr/>
        </p:nvSpPr>
        <p:spPr>
          <a:xfrm>
            <a:off x="453079" y="254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spcAft>
                <a:spcPts val="35"/>
              </a:spcAft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FY27 PB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 element budget line</a:t>
            </a:r>
          </a:p>
        </p:txBody>
      </p:sp>
      <p:sp>
        <p:nvSpPr>
          <p:cNvPr id="121" name="OperatorChip"/>
          <p:cNvSpPr txBox="1"/>
          <p:nvPr/>
        </p:nvSpPr>
        <p:spPr>
          <a:xfrm>
            <a:off x="2060139" y="2621600"/>
            <a:ext cx="320000" cy="3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22" name="FormulaCard"/>
          <p:cNvSpPr txBox="1"/>
          <p:nvPr/>
        </p:nvSpPr>
        <p:spPr>
          <a:xfrm>
            <a:off x="2410139" y="254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Maritime instrumentation share</a:t>
            </a:r>
          </a:p>
        </p:txBody>
      </p:sp>
      <p:sp>
        <p:nvSpPr>
          <p:cNvPr id="123" name="OperatorChip"/>
          <p:cNvSpPr txBox="1"/>
          <p:nvPr/>
        </p:nvSpPr>
        <p:spPr>
          <a:xfrm>
            <a:off x="4017199" y="2621600"/>
            <a:ext cx="320000" cy="3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4" name="FormulaCard"/>
          <p:cNvSpPr txBox="1"/>
          <p:nvPr/>
        </p:nvSpPr>
        <p:spPr>
          <a:xfrm>
            <a:off x="4367199" y="254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 maritime slice</a:t>
            </a:r>
          </a:p>
        </p:txBody>
      </p:sp>
      <p:sp>
        <p:nvSpPr>
          <p:cNvPr id="130" name="FormulaCard"/>
          <p:cNvSpPr txBox="1"/>
          <p:nvPr/>
        </p:nvSpPr>
        <p:spPr>
          <a:xfrm>
            <a:off x="6244260" y="254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spcAft>
                <a:spcPts val="35"/>
              </a:spcAft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segment bridge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+ telemetry + allocated + NAVAIR + commercial</a:t>
            </a:r>
          </a:p>
        </p:txBody>
      </p:sp>
      <p:sp>
        <p:nvSpPr>
          <p:cNvPr id="131" name="OperatorChip"/>
          <p:cNvSpPr txBox="1"/>
          <p:nvPr/>
        </p:nvSpPr>
        <p:spPr>
          <a:xfrm>
            <a:off x="7851320" y="2621600"/>
            <a:ext cx="320000" cy="3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2" name="FormulaCard"/>
          <p:cNvSpPr txBox="1"/>
          <p:nvPr/>
        </p:nvSpPr>
        <p:spPr>
          <a:xfrm>
            <a:off x="8201320" y="254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spcAft>
                <a:spcPts val="35"/>
              </a:spcAft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Europe modeled anchors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Σ country / segment modeled spend</a:t>
            </a:r>
          </a:p>
        </p:txBody>
      </p:sp>
      <p:sp>
        <p:nvSpPr>
          <p:cNvPr id="133" name="OperatorChip"/>
          <p:cNvSpPr txBox="1"/>
          <p:nvPr/>
        </p:nvSpPr>
        <p:spPr>
          <a:xfrm>
            <a:off x="9808380" y="2621600"/>
            <a:ext cx="320000" cy="3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34" name="FormulaCard"/>
          <p:cNvSpPr txBox="1"/>
          <p:nvPr/>
        </p:nvSpPr>
        <p:spPr>
          <a:xfrm>
            <a:off x="10158380" y="2546600"/>
            <a:ext cx="157706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5000" tIns="30000" rIns="55000" bIns="30000"/>
          <a:lstStyle/>
          <a:p>
            <a:pPr algn="ctr">
              <a:lnSpc>
                <a:spcPct val="100000"/>
              </a:lnSpc>
              <a:spcAft>
                <a:spcPts val="35"/>
              </a:spcAft>
              <a:buNone/>
            </a:pPr>
            <a:r>
              <a:rPr lang="en-US" sz="82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TAM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+ Europe</a:t>
            </a:r>
          </a:p>
        </p:txBody>
      </p:sp>
      <p:sp>
        <p:nvSpPr>
          <p:cNvPr id="40" name="UsTamLabel"/>
          <p:cNvSpPr txBox="1"/>
          <p:nvPr/>
        </p:nvSpPr>
        <p:spPr>
          <a:xfrm>
            <a:off x="453079" y="3076600"/>
            <a:ext cx="72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TAM bridge — base-case annual spend pool</a:t>
            </a:r>
          </a:p>
        </p:txBody>
      </p:sp>
      <p:graphicFrame>
        <p:nvGraphicFramePr>
          <p:cNvPr id="41" name="UsTamBridge"/>
          <p:cNvGraphicFramePr>
            <a:graphicFrameLocks noGrp="1"/>
          </p:cNvGraphicFramePr>
          <p:nvPr/>
        </p:nvGraphicFramePr>
        <p:xfrm>
          <a:off x="453079" y="3266600"/>
          <a:ext cx="7200000" cy="203497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400000"/>
                <a:gridCol w="1150000"/>
                <a:gridCol w="1150000"/>
                <a:gridCol w="2500000"/>
              </a:tblGrid>
              <a:tr h="25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SEGMENT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 ($M / YR)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 OF U.S.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3832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Vessel-operator prime spending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$492.5M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35.5%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Composite estimate from vessel / range-support IDIQs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Telemetry, range-support, data-processing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$425.0M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Range-services primes and task orders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832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Allocated platform and range-support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$200.0M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14.4%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Mixed-scope platform / range-support allocation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832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NAVAIR aviation maritime-range 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$241.0M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17.4%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Calculated from six NAVAIR / aviation range sub-rows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5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Commercial / institutional launch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$30.0M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Explicit base case, not midpoint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U.S.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$1,388.5M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Defense + commercial current annual pool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50" name="EuropeHeader"/>
          <p:cNvSpPr txBox="1"/>
          <p:nvPr/>
        </p:nvSpPr>
        <p:spPr>
          <a:xfrm>
            <a:off x="7753079" y="3076600"/>
            <a:ext cx="3982362" cy="25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0000" tIns="18000" rIns="90000" bIns="18000"/>
          <a:lstStyle/>
          <a:p>
            <a:pPr algn="ctr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EUROPE TAM — MODELED COUNTRY / SEGMENT ANCHORS</a:t>
            </a:r>
          </a:p>
        </p:txBody>
      </p:sp>
      <p:sp>
        <p:nvSpPr>
          <p:cNvPr id="51" name="EuropeCard"/>
          <p:cNvSpPr txBox="1"/>
          <p:nvPr/>
        </p:nvSpPr>
        <p:spPr>
          <a:xfrm>
            <a:off x="8223079" y="3346600"/>
            <a:ext cx="3512362" cy="46835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0000" tIns="30000" rIns="90000" bIns="30000"/>
          <a:lstStyle/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U.K. public-record anchor</a:t>
            </a:r>
          </a:p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$130.0M base</a:t>
            </a:r>
          </a:p>
          <a:p>
            <a:pPr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LTPA, MSCA, DragonFire vessel-relevant activity</a:t>
            </a:r>
          </a:p>
        </p:txBody>
      </p:sp>
      <p:sp>
        <p:nvSpPr>
          <p:cNvPr id="52" name="EuropeCard"/>
          <p:cNvSpPr txBox="1"/>
          <p:nvPr/>
        </p:nvSpPr>
        <p:spPr>
          <a:xfrm>
            <a:off x="8223079" y="3844950"/>
            <a:ext cx="3512362" cy="46835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0000" tIns="30000" rIns="90000" bIns="30000"/>
          <a:lstStyle/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Non-U.K. public-record floor</a:t>
            </a:r>
          </a:p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$9.5M base</a:t>
            </a:r>
          </a:p>
          <a:p>
            <a:pPr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lower-bound support from selected public records</a:t>
            </a:r>
          </a:p>
        </p:txBody>
      </p:sp>
      <p:sp>
        <p:nvSpPr>
          <p:cNvPr id="53" name="EuropeCard"/>
          <p:cNvSpPr txBox="1"/>
          <p:nvPr/>
        </p:nvSpPr>
        <p:spPr>
          <a:xfrm>
            <a:off x="8223079" y="4343300"/>
            <a:ext cx="3512362" cy="46835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0000" tIns="30000" rIns="90000" bIns="30000"/>
          <a:lstStyle/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Modeled non-U.K. gap</a:t>
            </a:r>
          </a:p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$67.5M base</a:t>
            </a:r>
          </a:p>
          <a:p>
            <a:pPr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explicit modeled gap where public visibility is incomplete</a:t>
            </a:r>
          </a:p>
        </p:txBody>
      </p:sp>
      <p:sp>
        <p:nvSpPr>
          <p:cNvPr id="54" name="EuropeCard"/>
          <p:cNvSpPr txBox="1"/>
          <p:nvPr/>
        </p:nvSpPr>
        <p:spPr>
          <a:xfrm>
            <a:off x="8223079" y="4841650"/>
            <a:ext cx="3512362" cy="46835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0000" tIns="30000" rIns="90000" bIns="30000"/>
          <a:lstStyle/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Europe modeled TAM</a:t>
            </a:r>
          </a:p>
          <a:p>
            <a:pPr>
              <a:lnSpc>
                <a:spcPct val="100000"/>
              </a:lnSpc>
              <a:spcAft>
                <a:spcPts val="3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$207.0M base</a:t>
            </a:r>
          </a:p>
          <a:p>
            <a:pPr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country / segment modeled annual spend</a:t>
            </a:r>
          </a:p>
        </p:txBody>
      </p:sp>
      <p:sp>
        <p:nvSpPr>
          <p:cNvPr id="55" name="OperatorChip"/>
          <p:cNvSpPr txBox="1"/>
          <p:nvPr/>
        </p:nvSpPr>
        <p:spPr>
          <a:xfrm>
            <a:off x="7808079" y="3729950"/>
            <a:ext cx="360000" cy="2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6" name="OperatorChip"/>
          <p:cNvSpPr txBox="1"/>
          <p:nvPr/>
        </p:nvSpPr>
        <p:spPr>
          <a:xfrm>
            <a:off x="7808079" y="4228300"/>
            <a:ext cx="360000" cy="2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7" name="OperatorChip"/>
          <p:cNvSpPr txBox="1"/>
          <p:nvPr/>
        </p:nvSpPr>
        <p:spPr>
          <a:xfrm>
            <a:off x="7808079" y="4726650"/>
            <a:ext cx="360000" cy="2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60" name="Caveat"/>
          <p:cNvSpPr txBox="1"/>
          <p:nvPr/>
        </p:nvSpPr>
        <p:spPr>
          <a:xfrm>
            <a:off x="453079" y="5390000"/>
            <a:ext cx="11282362" cy="48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60000" tIns="40000" rIns="160000" bIns="40000"/>
          <a:lstStyle/>
          <a:p>
            <a:pPr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TAM boundary: </a:t>
            </a:r>
            <a:r>
              <a:rPr lang="en-US" sz="9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TAM does not use vessel share, role share, event-derived SAM, Pacific MRIS overlap, or ASV adoption assumptions. Those are SAM-stage concepts.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TAM Build tab; (2) Data Contracts TAM factors and recognized-TAM detail; (3) Data Budget PE allocation and NAVAIR layer; (4) Data Europe modeled spend bands; (5) Assumptions tab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Build and Validation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Build | Vessel and role gates narrow TAM into current ASV-addressable value.</a:t>
            </a:r>
          </a:p>
        </p:txBody>
      </p:sp>
      <p:cxnSp>
        <p:nvCxnSpPr>
          <p:cNvPr id="24" name="GateArrow"/>
          <p:cNvCxnSpPr/>
          <p:nvPr/>
        </p:nvCxnSpPr>
        <p:spPr>
          <a:xfrm>
            <a:off x="3048669" y="200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5" name="GateArrow"/>
          <p:cNvCxnSpPr/>
          <p:nvPr/>
        </p:nvCxnSpPr>
        <p:spPr>
          <a:xfrm>
            <a:off x="5944259" y="200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6" name="GateArrow"/>
          <p:cNvCxnSpPr/>
          <p:nvPr/>
        </p:nvCxnSpPr>
        <p:spPr>
          <a:xfrm>
            <a:off x="8839849" y="200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" name="GateNode"/>
          <p:cNvSpPr txBox="1"/>
          <p:nvPr/>
        </p:nvSpPr>
        <p:spPr>
          <a:xfrm>
            <a:off x="453079" y="1791600"/>
            <a:ext cx="2595590" cy="4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70000" tIns="35000" rIns="70000" bIns="35000"/>
          <a:lstStyle/>
          <a:p>
            <a:pPr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value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annual TAM, event annual value, or Europe modeled spend</a:t>
            </a:r>
          </a:p>
        </p:txBody>
      </p:sp>
      <p:sp>
        <p:nvSpPr>
          <p:cNvPr id="21" name="GateNode"/>
          <p:cNvSpPr txBox="1"/>
          <p:nvPr/>
        </p:nvSpPr>
        <p:spPr>
          <a:xfrm>
            <a:off x="3348669" y="1791600"/>
            <a:ext cx="2595590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70000" tIns="35000" rIns="70000" bIns="35000"/>
          <a:lstStyle/>
          <a:p>
            <a:pPr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 1 — vessel share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portion tied to surface-vessel or vessel-enabled work</a:t>
            </a:r>
          </a:p>
        </p:txBody>
      </p:sp>
      <p:sp>
        <p:nvSpPr>
          <p:cNvPr id="22" name="GateNode"/>
          <p:cNvSpPr txBox="1"/>
          <p:nvPr/>
        </p:nvSpPr>
        <p:spPr>
          <a:xfrm>
            <a:off x="6244259" y="1791600"/>
            <a:ext cx="2595590" cy="42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70000" tIns="35000" rIns="70000" bIns="35000"/>
          <a:lstStyle/>
          <a:p>
            <a:pPr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 2 — role share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portion suitable for current ASV execution or support</a:t>
            </a:r>
          </a:p>
        </p:txBody>
      </p:sp>
      <p:sp>
        <p:nvSpPr>
          <p:cNvPr id="23" name="GateNode"/>
          <p:cNvSpPr txBox="1"/>
          <p:nvPr/>
        </p:nvSpPr>
        <p:spPr>
          <a:xfrm>
            <a:off x="9139849" y="1791600"/>
            <a:ext cx="2595590" cy="42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70000" tIns="35000" rIns="70000" bIns="35000"/>
          <a:lstStyle/>
          <a:p>
            <a:pPr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ASV-addressable SAM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counted annual value after both gates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902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is current ASV-addressable annual value, not expected revenue. It is scored row by row using vessel-related share and ASV-role-suitable share.</a:t>
            </a:r>
          </a:p>
        </p:txBody>
      </p:sp>
      <p:sp>
        <p:nvSpPr>
          <p:cNvPr id="11" name="StepMarker"/>
          <p:cNvSpPr txBox="1"/>
          <p:nvPr/>
        </p:nvSpPr>
        <p:spPr>
          <a:xfrm>
            <a:off x="9535441" y="1371600"/>
            <a:ext cx="2200000" cy="1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0000" tIns="18000" rIns="60000" bIns="18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4 / 4 — SAM + CHECKS</a:t>
            </a:r>
          </a:p>
        </p:txBody>
      </p:sp>
      <p:sp>
        <p:nvSpPr>
          <p:cNvPr id="12" name="OutputChip"/>
          <p:cNvSpPr txBox="1"/>
          <p:nvPr/>
        </p:nvSpPr>
        <p:spPr>
          <a:xfrm>
            <a:off x="453079" y="1541600"/>
            <a:ext cx="11282362" cy="22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50000" tIns="25000" rIns="150000" bIns="25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ASV-addressable SAM is $118.69M base, 7.44% of TAM: U.S. $90.08M and Europe $28.61M.</a:t>
            </a:r>
          </a:p>
        </p:txBody>
      </p:sp>
      <p:sp>
        <p:nvSpPr>
          <p:cNvPr id="27" name="GateFormula"/>
          <p:cNvSpPr txBox="1"/>
          <p:nvPr/>
        </p:nvSpPr>
        <p:spPr>
          <a:xfrm>
            <a:off x="453079" y="2216600"/>
            <a:ext cx="11282362" cy="1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5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ASV-addressable SAM = annual value × vessel share × role share</a:t>
            </a:r>
          </a:p>
        </p:txBody>
      </p:sp>
      <p:sp>
        <p:nvSpPr>
          <p:cNvPr id="30" name="StreamCard"/>
          <p:cNvSpPr txBox="1"/>
          <p:nvPr/>
        </p:nvSpPr>
        <p:spPr>
          <a:xfrm>
            <a:off x="453079" y="2341600"/>
            <a:ext cx="3627454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" name="StreamHeader"/>
          <p:cNvSpPr txBox="1"/>
          <p:nvPr/>
        </p:nvSpPr>
        <p:spPr>
          <a:xfrm>
            <a:off x="453079" y="2341600"/>
            <a:ext cx="3627454" cy="10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60000" tIns="12000" rIns="60000" bIns="12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CONTRACT-ANCHORED SAM</a:t>
            </a:r>
          </a:p>
        </p:txBody>
      </p:sp>
      <p:sp>
        <p:nvSpPr>
          <p:cNvPr id="32" name="StreamBody"/>
          <p:cNvSpPr txBox="1"/>
          <p:nvPr/>
        </p:nvSpPr>
        <p:spPr>
          <a:xfrm>
            <a:off x="453079" y="2441600"/>
            <a:ext cx="362745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0000" tIns="30000" rIns="80000" bIns="30000"/>
          <a:lstStyle/>
          <a:p>
            <a:pPr>
              <a:lnSpc>
                <a:spcPct val="104000"/>
              </a:lnSpc>
              <a:spcAft>
                <a:spcPts val="7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contract TAM × vessel share × role share</a:t>
            </a:r>
          </a:p>
          <a:p>
            <a:pPr>
              <a:lnSpc>
                <a:spcPct val="104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 contract TAM with ASV factors by PIID.</a:t>
            </a:r>
          </a:p>
        </p:txBody>
      </p:sp>
      <p:sp>
        <p:nvSpPr>
          <p:cNvPr id="40" name="StreamCard"/>
          <p:cNvSpPr txBox="1"/>
          <p:nvPr/>
        </p:nvSpPr>
        <p:spPr>
          <a:xfrm>
            <a:off x="4280533" y="2341600"/>
            <a:ext cx="3627454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41" name="StreamHeader"/>
          <p:cNvSpPr txBox="1"/>
          <p:nvPr/>
        </p:nvSpPr>
        <p:spPr>
          <a:xfrm>
            <a:off x="4280533" y="2341600"/>
            <a:ext cx="3627454" cy="10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60000" tIns="12000" rIns="60000" bIns="12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EVENT-DERIVED SAM</a:t>
            </a:r>
          </a:p>
        </p:txBody>
      </p:sp>
      <p:sp>
        <p:nvSpPr>
          <p:cNvPr id="42" name="StreamBody"/>
          <p:cNvSpPr txBox="1"/>
          <p:nvPr/>
        </p:nvSpPr>
        <p:spPr>
          <a:xfrm>
            <a:off x="4280533" y="2441600"/>
            <a:ext cx="362745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0000" tIns="30000" rIns="80000" bIns="30000"/>
          <a:lstStyle/>
          <a:p>
            <a:pPr>
              <a:lnSpc>
                <a:spcPct val="104000"/>
              </a:lnSpc>
              <a:spcAft>
                <a:spcPts val="7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events × per-event cost × vessel share × role share</a:t>
            </a:r>
          </a:p>
          <a:p>
            <a:pPr>
              <a:lnSpc>
                <a:spcPct val="104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Range-support package cost, not weapon or launch cost.</a:t>
            </a:r>
          </a:p>
        </p:txBody>
      </p:sp>
      <p:sp>
        <p:nvSpPr>
          <p:cNvPr id="50" name="StreamCard"/>
          <p:cNvSpPr txBox="1"/>
          <p:nvPr/>
        </p:nvSpPr>
        <p:spPr>
          <a:xfrm>
            <a:off x="8107987" y="2341600"/>
            <a:ext cx="3627454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StreamHeader"/>
          <p:cNvSpPr txBox="1"/>
          <p:nvPr/>
        </p:nvSpPr>
        <p:spPr>
          <a:xfrm>
            <a:off x="8107987" y="2341600"/>
            <a:ext cx="3627454" cy="10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60000" tIns="12000" rIns="60000" bIns="12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EUROPE SAM</a:t>
            </a:r>
          </a:p>
        </p:txBody>
      </p:sp>
      <p:sp>
        <p:nvSpPr>
          <p:cNvPr id="52" name="StreamBody"/>
          <p:cNvSpPr txBox="1"/>
          <p:nvPr/>
        </p:nvSpPr>
        <p:spPr>
          <a:xfrm>
            <a:off x="8107987" y="2441600"/>
            <a:ext cx="362745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0000" tIns="30000" rIns="80000" bIns="30000"/>
          <a:lstStyle/>
          <a:p>
            <a:pPr>
              <a:lnSpc>
                <a:spcPct val="104000"/>
              </a:lnSpc>
              <a:spcAft>
                <a:spcPts val="7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Modeled annual spend × vessel share × role share</a:t>
            </a:r>
          </a:p>
          <a:p>
            <a:pPr>
              <a:lnSpc>
                <a:spcPct val="104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U.S. event overlay; no Pacific MRIS correction.</a:t>
            </a:r>
          </a:p>
        </p:txBody>
      </p:sp>
      <p:sp>
        <p:nvSpPr>
          <p:cNvPr id="40" name="RoleLead"/>
          <p:cNvSpPr txBox="1"/>
          <p:nvPr/>
        </p:nvSpPr>
        <p:spPr>
          <a:xfrm>
            <a:off x="453079" y="2786600"/>
            <a:ext cx="11282362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suitability is conservative — count support roles, discount authority roles, exclude replacement assumptions</a:t>
            </a:r>
          </a:p>
        </p:txBody>
      </p:sp>
      <p:sp>
        <p:nvSpPr>
          <p:cNvPr id="41" name="RoleChip"/>
          <p:cNvSpPr txBox="1"/>
          <p:nvPr/>
        </p:nvSpPr>
        <p:spPr>
          <a:xfrm>
            <a:off x="453079" y="2931600"/>
            <a:ext cx="3627454" cy="31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5000" tIns="35000" rIns="90000" bIns="35000"/>
          <a:lstStyle/>
          <a:p>
            <a:pPr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COUNTED: 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local_surface_surveillance, modular_payload_hosting, telemetry / relay, splash / debris monitoring</a:t>
            </a:r>
          </a:p>
        </p:txBody>
      </p:sp>
      <p:sp>
        <p:nvSpPr>
          <p:cNvPr id="42" name="RoleChip"/>
          <p:cNvSpPr txBox="1"/>
          <p:nvPr/>
        </p:nvSpPr>
        <p:spPr>
          <a:xfrm>
            <a:off x="4280533" y="2931600"/>
            <a:ext cx="3627454" cy="31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95000" tIns="35000" rIns="90000" bIns="35000"/>
          <a:lstStyle/>
          <a:p>
            <a:pPr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DISCOUNTED: 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range clearance support, blocking / hailing awareness, authority-adjacent support</a:t>
            </a:r>
          </a:p>
        </p:txBody>
      </p:sp>
      <p:sp>
        <p:nvSpPr>
          <p:cNvPr id="43" name="RoleChip"/>
          <p:cNvSpPr txBox="1"/>
          <p:nvPr/>
        </p:nvSpPr>
        <p:spPr>
          <a:xfrm>
            <a:off x="8107987" y="2931600"/>
            <a:ext cx="3627454" cy="3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5000" tIns="35000" rIns="90000" bIns="35000"/>
          <a:lstStyle/>
          <a:p>
            <a:pPr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EXCLUDED: 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MRIS replacement, SBX replacement, flight termination authority, coercive enforcement, boarding</a:t>
            </a:r>
          </a:p>
        </p:txBody>
      </p:sp>
      <p:sp>
        <p:nvSpPr>
          <p:cNvPr id="50" name="SamBridgeLabel"/>
          <p:cNvSpPr txBox="1"/>
          <p:nvPr/>
        </p:nvSpPr>
        <p:spPr>
          <a:xfrm>
            <a:off x="453079" y="3281600"/>
            <a:ext cx="7400000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bridge — contract, event, overlap, and geography rollup</a:t>
            </a:r>
          </a:p>
        </p:txBody>
      </p:sp>
      <p:graphicFrame>
        <p:nvGraphicFramePr>
          <p:cNvPr id="51" name="SamBridge"/>
          <p:cNvGraphicFramePr>
            <a:graphicFrameLocks noGrp="1"/>
          </p:cNvGraphicFramePr>
          <p:nvPr/>
        </p:nvGraphicFramePr>
        <p:xfrm>
          <a:off x="453079" y="3446600"/>
          <a:ext cx="7400000" cy="1912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200000"/>
                <a:gridCol w="850000"/>
                <a:gridCol w="900000"/>
                <a:gridCol w="850000"/>
                <a:gridCol w="2600000"/>
              </a:tblGrid>
              <a:tr h="239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LOW ($M / YR)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 ($M / YR)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HIGH ($M / YR)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39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Contract-anchored subtotal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$6.43M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$39.88M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$73.34M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Annual contract TAM × vessel × 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9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Event-derived subtotal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$10.63M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$53.14M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$95.65M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Events × per-event cost × vessel × 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9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U.S.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$17.05M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$93.02M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$168.99M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Contract + event before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39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Pacific MRIS overlap amount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($0.67M)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($2.94M)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($5.21M)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10% × Pacific_MRIS-tagged event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39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U.S.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$16.38M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$90.08M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$163.78M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-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9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Europe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$5.88M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$28.61M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$51.33M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Europe modeled spend × vessel × 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9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$22.26M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$118.69M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$215.11M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U.S. + Europe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60" name="AuditHeader"/>
          <p:cNvSpPr txBox="1"/>
          <p:nvPr/>
        </p:nvSpPr>
        <p:spPr>
          <a:xfrm>
            <a:off x="7953079" y="3281600"/>
            <a:ext cx="3782362" cy="25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0000" tIns="18000" rIns="90000" bIns="18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 CONTROLS — 31 CHECKS PASS</a:t>
            </a:r>
          </a:p>
        </p:txBody>
      </p:sp>
      <p:sp>
        <p:nvSpPr>
          <p:cNvPr id="61" name="AuditCard"/>
          <p:cNvSpPr txBox="1"/>
          <p:nvPr/>
        </p:nvSpPr>
        <p:spPr>
          <a:xfrm>
            <a:off x="7953079" y="3556600"/>
            <a:ext cx="3782362" cy="29774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00000" tIns="30000" rIns="90000" bIns="30000"/>
          <a:lstStyle/>
          <a:p>
            <a:pPr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integrity — 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and Europe SAM base lie between low and high.</a:t>
            </a:r>
          </a:p>
        </p:txBody>
      </p:sp>
      <p:sp>
        <p:nvSpPr>
          <p:cNvPr id="62" name="AuditCard"/>
          <p:cNvSpPr txBox="1"/>
          <p:nvPr/>
        </p:nvSpPr>
        <p:spPr>
          <a:xfrm>
            <a:off x="7953079" y="3870344"/>
            <a:ext cx="3782362" cy="29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00000" tIns="30000" rIns="90000" bIns="30000"/>
          <a:lstStyle/>
          <a:p>
            <a:pPr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 tie-outs — 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U.S. TAM = defense + commercial; U.S. SAM = gross - overlap.</a:t>
            </a:r>
          </a:p>
        </p:txBody>
      </p:sp>
      <p:sp>
        <p:nvSpPr>
          <p:cNvPr id="63" name="AuditCard"/>
          <p:cNvSpPr txBox="1"/>
          <p:nvPr/>
        </p:nvSpPr>
        <p:spPr>
          <a:xfrm>
            <a:off x="7953079" y="4184088"/>
            <a:ext cx="3782362" cy="1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00000" tIns="30000" rIns="90000" bIns="30000"/>
          <a:lstStyle/>
          <a:p>
            <a:pPr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 integrity — 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factors remain inside [0, 1].</a:t>
            </a:r>
          </a:p>
        </p:txBody>
      </p:sp>
      <p:sp>
        <p:nvSpPr>
          <p:cNvPr id="64" name="AuditCard"/>
          <p:cNvSpPr txBox="1"/>
          <p:nvPr/>
        </p:nvSpPr>
        <p:spPr>
          <a:xfrm>
            <a:off x="7953079" y="4380088"/>
            <a:ext cx="3782362" cy="29774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00000" tIns="30000" rIns="90000" bIns="30000"/>
          <a:lstStyle/>
          <a:p>
            <a:pPr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Double-count guards — 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LRHW separate row is zero; SLCM-N cadence is zero-current.</a:t>
            </a:r>
          </a:p>
        </p:txBody>
      </p:sp>
      <p:sp>
        <p:nvSpPr>
          <p:cNvPr id="65" name="AuditCard"/>
          <p:cNvSpPr txBox="1"/>
          <p:nvPr/>
        </p:nvSpPr>
        <p:spPr>
          <a:xfrm>
            <a:off x="7953079" y="4693832"/>
            <a:ext cx="3782362" cy="29774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00000" tIns="30000" rIns="90000" bIns="30000"/>
          <a:lstStyle/>
          <a:p>
            <a:pPr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Provenance — 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and assumption source IDs resolve in Sources &amp; Glossary.</a:t>
            </a:r>
          </a:p>
        </p:txBody>
      </p:sp>
      <p:sp>
        <p:nvSpPr>
          <p:cNvPr id="66" name="AuditCard"/>
          <p:cNvSpPr txBox="1"/>
          <p:nvPr/>
        </p:nvSpPr>
        <p:spPr>
          <a:xfrm>
            <a:off x="7953079" y="5007576"/>
            <a:ext cx="3782362" cy="297744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00000" tIns="30000" rIns="90000" bIns="30000"/>
          <a:lstStyle/>
          <a:p>
            <a:pPr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integrity — </a:t>
            </a: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Executive Summary, Segmentation, and z_ChartData tie to TAM / SAM engines.</a:t>
            </a:r>
          </a:p>
        </p:txBody>
      </p:sp>
      <p:sp>
        <p:nvSpPr>
          <p:cNvPr id="70" name="Diligence"/>
          <p:cNvSpPr txBox="1"/>
          <p:nvPr/>
        </p:nvSpPr>
        <p:spPr>
          <a:xfrm>
            <a:off x="453079" y="5470000"/>
            <a:ext cx="11282362" cy="40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60000" tIns="35000" rIns="160000" bIns="35000"/>
          <a:lstStyle/>
          <a:p>
            <a:pPr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limitations: </a:t>
            </a:r>
            <a:r>
              <a:rPr lang="en-US" sz="9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Europe modeled gap, commercial / institutional launch TAM, Pacific MRIS overlap, event cadence refresh, and ASV role suitability remain diligence items. Current SAM is not a revenue forecast and does not assume full crewed-vessel replacement.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 Build contract, event, and Europe rollups; (2) Data Contracts ASV factors; (3) Data Events event cadence, per-event cost, and overlap group; (4) Data Europe vessel / role shares; (5) Checks tab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deck_sea_range_telemetry</Application>
  <PresentationFormat>Widescreen</PresentationFormat>
  <Slides>8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Sea Range Telemetry</dc:title>
  <dc:creator>deck_sea_range_telemetry build_deck.py</dc:creator>
  <cp:lastModifiedBy>deck_sea_range_telemetry build_deck.py</cp:lastModifiedBy>
  <cp:revision>1</cp:revision>
  <dcterms:created xsi:type="dcterms:W3CDTF">2026-06-09T01:25:28Z</dcterms:created>
  <dcterms:modified xsi:type="dcterms:W3CDTF">2026-06-09T01:25:28Z</dcterms:modified>
</cp:coreProperties>
</file>