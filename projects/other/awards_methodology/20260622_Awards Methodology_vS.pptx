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312"/>
          <c:y val="0.089"/>
          <c:w val="0.682"/>
          <c:h val="0.8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/ base term</c:v>
                </c:pt>
              </c:strCache>
            </c:strRef>
          </c:tx>
          <c:spPr>
            <a:noFill/>
            <a:ln w="1270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Definitive contract</c:v>
                </c:pt>
                <c:pt idx="1">
                  <c:v>Single-award IDIQ</c:v>
                </c:pt>
                <c:pt idx="2">
                  <c:v>Multiple-award IDIQ</c:v>
                </c:pt>
                <c:pt idx="3">
                  <c:v>BPA</c:v>
                </c:pt>
                <c:pt idx="4">
                  <c:v>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2.16</c:v>
                </c:pt>
                <c:pt idx="1">
                  <c:v>2.01</c:v>
                </c:pt>
                <c:pt idx="2">
                  <c:v>1.71</c:v>
                </c:pt>
                <c:pt idx="3">
                  <c:v>1.54</c:v>
                </c:pt>
                <c:pt idx="4">
                  <c:v>2.11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/ extension capacity</c:v>
                </c:pt>
              </c:strCache>
            </c:strRef>
          </c:tx>
          <c:spPr>
            <a:noFill/>
            <a:ln w="12700">
              <a:solidFill>
                <a:srgbClr val="000000"/>
              </a:solidFill>
              <a:prstDash val="dash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Definitive contract</c:v>
                </c:pt>
                <c:pt idx="1">
                  <c:v>Single-award IDIQ</c:v>
                </c:pt>
                <c:pt idx="2">
                  <c:v>Multiple-award IDIQ</c:v>
                </c:pt>
                <c:pt idx="3">
                  <c:v>BPA</c:v>
                </c:pt>
                <c:pt idx="4">
                  <c:v>OT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</c:v>
                </c:pt>
                <c:pt idx="1">
                  <c:v>1.1</c:v>
                </c:pt>
                <c:pt idx="2">
                  <c:v>1.01</c:v>
                </c:pt>
                <c:pt idx="3">
                  <c:v>0.94</c:v>
                </c:pt>
                <c:pt idx="4">
                  <c:v>1.22</c:v>
                </c:pt>
              </c:numCache>
            </c:numRef>
          </c:val>
        </c:ser>
        <c:gapWidth val="30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FFFFFF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.25"/>
          <c:min val="0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 cap="flat">
            <a:solidFill>
              <a:srgbClr val="FFFFFF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01"/>
          <c:y val="0.089"/>
          <c:w val="0.793"/>
          <c:h val="0.89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/ base term</c:v>
                </c:pt>
              </c:strCache>
            </c:strRef>
          </c:tx>
          <c:spPr>
            <a:noFill/>
            <a:ln w="1270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Definitive contract</c:v>
                </c:pt>
                <c:pt idx="1">
                  <c:v>Single-award IDIQ</c:v>
                </c:pt>
                <c:pt idx="2">
                  <c:v>Multiple-award IDIQ</c:v>
                </c:pt>
                <c:pt idx="3">
                  <c:v>BPA</c:v>
                </c:pt>
                <c:pt idx="4">
                  <c:v>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2.16</c:v>
                </c:pt>
                <c:pt idx="1">
                  <c:v>2.01</c:v>
                </c:pt>
                <c:pt idx="2">
                  <c:v>1.71</c:v>
                </c:pt>
                <c:pt idx="3">
                  <c:v>1.54</c:v>
                </c:pt>
                <c:pt idx="4">
                  <c:v>2.11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/ extension capacity</c:v>
                </c:pt>
              </c:strCache>
            </c:strRef>
          </c:tx>
          <c:spPr>
            <a:noFill/>
            <a:ln w="12700">
              <a:solidFill>
                <a:srgbClr val="000000"/>
              </a:solidFill>
              <a:prstDash val="dash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Definitive contract</c:v>
                </c:pt>
                <c:pt idx="1">
                  <c:v>Single-award IDIQ</c:v>
                </c:pt>
                <c:pt idx="2">
                  <c:v>Multiple-award IDIQ</c:v>
                </c:pt>
                <c:pt idx="3">
                  <c:v>BPA</c:v>
                </c:pt>
                <c:pt idx="4">
                  <c:v>OT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</c:v>
                </c:pt>
                <c:pt idx="1">
                  <c:v>1.1</c:v>
                </c:pt>
                <c:pt idx="2">
                  <c:v>1.01</c:v>
                </c:pt>
                <c:pt idx="3">
                  <c:v>0.94</c:v>
                </c:pt>
                <c:pt idx="4">
                  <c:v>1.22</c:v>
                </c:pt>
              </c:numCache>
            </c:numRef>
          </c:val>
        </c:ser>
        <c:gapWidth val="30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FFFFFF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.25"/>
          <c:min val="0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 cap="flat">
            <a:solidFill>
              <a:srgbClr val="FFFFFF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Recompete Addressability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| A vehicle's last date to order sets the recompete clock, not its last task order's end date.</a:t>
            </a:r>
          </a:p>
        </p:txBody>
      </p:sp>
      <p:graphicFrame>
        <p:nvGraphicFramePr>
          <p:cNvPr id="10" name="RecompeteTimelineChart"/>
          <p:cNvGraphicFramePr/>
          <p:nvPr/>
        </p:nvGraphicFramePr>
        <p:xfrm>
          <a:off x="453079" y="2240280"/>
          <a:ext cx="5687568" cy="2871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LaneLabel_1"/>
          <p:cNvSpPr txBox="1"/>
          <p:nvPr/>
        </p:nvSpPr>
        <p:spPr>
          <a:xfrm>
            <a:off x="453079" y="2525053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Standalone definitive
contract</a:t>
            </a:r>
          </a:p>
        </p:txBody>
      </p:sp>
      <p:sp>
        <p:nvSpPr>
          <p:cNvPr id="12" name="LaneLabel_2"/>
          <p:cNvSpPr txBox="1"/>
          <p:nvPr/>
        </p:nvSpPr>
        <p:spPr>
          <a:xfrm>
            <a:off x="453079" y="3040723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Single-award
Indefinite-Delivery/
Indefinite-Quantity (IDIQ)</a:t>
            </a:r>
          </a:p>
        </p:txBody>
      </p:sp>
      <p:sp>
        <p:nvSpPr>
          <p:cNvPr id="13" name="LaneLabel_3"/>
          <p:cNvSpPr txBox="1"/>
          <p:nvPr/>
        </p:nvSpPr>
        <p:spPr>
          <a:xfrm>
            <a:off x="453079" y="3556393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Multiple-award
Indefinite-Delivery/
Indefinite-Quantity (IDIQ)</a:t>
            </a:r>
          </a:p>
        </p:txBody>
      </p:sp>
      <p:sp>
        <p:nvSpPr>
          <p:cNvPr id="14" name="LaneLabel_4"/>
          <p:cNvSpPr txBox="1"/>
          <p:nvPr/>
        </p:nvSpPr>
        <p:spPr>
          <a:xfrm>
            <a:off x="453079" y="4072063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Blanket Purchase Agreement
(BPA)</a:t>
            </a:r>
          </a:p>
        </p:txBody>
      </p:sp>
      <p:sp>
        <p:nvSpPr>
          <p:cNvPr id="15" name="LaneLabel_5"/>
          <p:cNvSpPr txBox="1"/>
          <p:nvPr/>
        </p:nvSpPr>
        <p:spPr>
          <a:xfrm>
            <a:off x="453079" y="4587733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Transaction (OT)
agreement</a:t>
            </a:r>
          </a:p>
        </p:txBody>
      </p:sp>
      <p:sp>
        <p:nvSpPr>
          <p:cNvPr id="16" name="ClockReframe"/>
          <p:cNvSpPr txBox="1"/>
          <p:nvPr/>
        </p:nvSpPr>
        <p:spPr>
          <a:xfrm>
            <a:off x="453079" y="1371600"/>
            <a:ext cx="7168896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Recompete is when authority to place new orders ends, not when the latest task order ends.</a:t>
            </a:r>
          </a:p>
          <a:p>
            <a:pPr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an Indefinite Delivery Vehicle (IDV), the parent's last date to order controls; orders placed during the ordering period can keep performing after it. Reading the latest child-order end as the recompete date is the common false signal.</a:t>
            </a:r>
          </a:p>
        </p:txBody>
      </p:sp>
      <p:cxnSp>
        <p:nvCxnSpPr>
          <p:cNvPr id="17" name="SectionDivider"/>
          <p:cNvCxnSpPr/>
          <p:nvPr/>
        </p:nvCxnSpPr>
        <p:spPr>
          <a:xfrm>
            <a:off x="7722559" y="1371600"/>
            <a:ext cx="1" cy="3858768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cxnSp>
        <p:nvCxnSpPr>
          <p:cNvPr id="18" name="TriggerLegendTick"/>
          <p:cNvCxnSpPr/>
          <p:nvPr/>
        </p:nvCxnSpPr>
        <p:spPr>
          <a:xfrm>
            <a:off x="3580327" y="2093976"/>
            <a:ext cx="1" cy="1645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sp>
        <p:nvSpPr>
          <p:cNvPr id="19" name="TriggerLegend"/>
          <p:cNvSpPr txBox="1"/>
          <p:nvPr/>
        </p:nvSpPr>
        <p:spPr>
          <a:xfrm>
            <a:off x="3671767" y="2048256"/>
            <a:ext cx="10698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last date to order
(recompete trigger)</a:t>
            </a:r>
          </a:p>
        </p:txBody>
      </p:sp>
      <p:sp>
        <p:nvSpPr>
          <p:cNvPr id="20" name="TailLegend"/>
          <p:cNvSpPr txBox="1"/>
          <p:nvPr/>
        </p:nvSpPr>
        <p:spPr>
          <a:xfrm>
            <a:off x="4750759" y="2048256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child-order performance tail
(continues past the trigger)</a:t>
            </a:r>
          </a:p>
        </p:txBody>
      </p:sp>
      <p:cxnSp>
        <p:nvCxnSpPr>
          <p:cNvPr id="21" name="TimeAxis"/>
          <p:cNvCxnSpPr/>
          <p:nvPr/>
        </p:nvCxnSpPr>
        <p:spPr>
          <a:xfrm>
            <a:off x="2227600" y="2395728"/>
            <a:ext cx="3878921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2" name="TodayLine"/>
          <p:cNvCxnSpPr/>
          <p:nvPr/>
        </p:nvCxnSpPr>
        <p:spPr>
          <a:xfrm>
            <a:off x="2227600" y="2368296"/>
            <a:ext cx="1" cy="2962656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</p:cxnSp>
      <p:cxnSp>
        <p:nvCxnSpPr>
          <p:cNvPr id="23" name="DecisionHorizonLine"/>
          <p:cNvCxnSpPr/>
          <p:nvPr/>
        </p:nvCxnSpPr>
        <p:spPr>
          <a:xfrm>
            <a:off x="5531528" y="2368296"/>
            <a:ext cx="1" cy="2962656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</p:cxnSp>
      <p:sp>
        <p:nvSpPr>
          <p:cNvPr id="24" name="TodayLabel"/>
          <p:cNvSpPr txBox="1"/>
          <p:nvPr/>
        </p:nvSpPr>
        <p:spPr>
          <a:xfrm>
            <a:off x="1989856" y="217627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25" name="DecisionHorizonLabel"/>
          <p:cNvSpPr txBox="1"/>
          <p:nvPr/>
        </p:nvSpPr>
        <p:spPr>
          <a:xfrm>
            <a:off x="5110904" y="2414016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decision horizon</a:t>
            </a:r>
          </a:p>
        </p:txBody>
      </p:sp>
      <p:sp>
        <p:nvSpPr>
          <p:cNvPr id="26" name="BarLabel_Definitive"/>
          <p:cNvSpPr txBox="1"/>
          <p:nvPr/>
        </p:nvSpPr>
        <p:spPr>
          <a:xfrm>
            <a:off x="2227600" y="2685073"/>
            <a:ext cx="19714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term</a:t>
            </a:r>
          </a:p>
        </p:txBody>
      </p:sp>
      <p:sp>
        <p:nvSpPr>
          <p:cNvPr id="27" name="ExtLabel_Definitive"/>
          <p:cNvSpPr txBox="1"/>
          <p:nvPr/>
        </p:nvSpPr>
        <p:spPr>
          <a:xfrm>
            <a:off x="4199004" y="2685073"/>
            <a:ext cx="118649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option capacity</a:t>
            </a:r>
          </a:p>
        </p:txBody>
      </p:sp>
      <p:cxnSp>
        <p:nvCxnSpPr>
          <p:cNvPr id="28" name="Trigger_Definitive"/>
          <p:cNvCxnSpPr/>
          <p:nvPr/>
        </p:nvCxnSpPr>
        <p:spPr>
          <a:xfrm>
            <a:off x="4199004" y="257077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29" name="TriggerDrop_Definitive"/>
          <p:cNvCxnSpPr/>
          <p:nvPr/>
        </p:nvCxnSpPr>
        <p:spPr>
          <a:xfrm>
            <a:off x="4199004" y="2822233"/>
            <a:ext cx="1" cy="192024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0" name="RouteToGate_Definitive"/>
          <p:cNvCxnSpPr/>
          <p:nvPr/>
        </p:nvCxnSpPr>
        <p:spPr>
          <a:xfrm>
            <a:off x="4199004" y="3014257"/>
            <a:ext cx="2033083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1" name="BarLabel_SA_IDIQ"/>
          <p:cNvSpPr txBox="1"/>
          <p:nvPr/>
        </p:nvSpPr>
        <p:spPr>
          <a:xfrm>
            <a:off x="2227600" y="3200743"/>
            <a:ext cx="1834501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ordering period</a:t>
            </a:r>
          </a:p>
        </p:txBody>
      </p:sp>
      <p:sp>
        <p:nvSpPr>
          <p:cNvPr id="32" name="ChildLabel_SA_IDIQ"/>
          <p:cNvSpPr txBox="1"/>
          <p:nvPr/>
        </p:nvSpPr>
        <p:spPr>
          <a:xfrm>
            <a:off x="2227600" y="333333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33" name="ChildTail_SA_IDIQ_1"/>
          <p:cNvSpPr/>
          <p:nvPr/>
        </p:nvSpPr>
        <p:spPr>
          <a:xfrm>
            <a:off x="2702197" y="3342475"/>
            <a:ext cx="2811077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34" name="ChildTail_SA_IDIQ_2"/>
          <p:cNvSpPr/>
          <p:nvPr/>
        </p:nvSpPr>
        <p:spPr>
          <a:xfrm>
            <a:off x="3797422" y="3433915"/>
            <a:ext cx="2126561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35" name="Trigger_SA_IDIQ"/>
          <p:cNvCxnSpPr/>
          <p:nvPr/>
        </p:nvCxnSpPr>
        <p:spPr>
          <a:xfrm>
            <a:off x="5066057" y="308644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36" name="RouteToGate_SA_IDIQ"/>
          <p:cNvCxnSpPr/>
          <p:nvPr/>
        </p:nvCxnSpPr>
        <p:spPr>
          <a:xfrm>
            <a:off x="5066057" y="3269323"/>
            <a:ext cx="1166030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7" name="BarLabel_MA_IDIQ"/>
          <p:cNvSpPr txBox="1"/>
          <p:nvPr/>
        </p:nvSpPr>
        <p:spPr>
          <a:xfrm>
            <a:off x="2227600" y="3716413"/>
            <a:ext cx="1560695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vehicle</a:t>
            </a:r>
          </a:p>
        </p:txBody>
      </p:sp>
      <p:sp>
        <p:nvSpPr>
          <p:cNvPr id="38" name="ChildLabel_MA_IDIQ"/>
          <p:cNvSpPr txBox="1"/>
          <p:nvPr/>
        </p:nvSpPr>
        <p:spPr>
          <a:xfrm>
            <a:off x="2227600" y="384900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39" name="ChildTail_MA_IDIQ_1"/>
          <p:cNvSpPr/>
          <p:nvPr/>
        </p:nvSpPr>
        <p:spPr>
          <a:xfrm>
            <a:off x="2638309" y="3858145"/>
            <a:ext cx="2601159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0" name="ChildTail_MA_IDIQ_2"/>
          <p:cNvSpPr/>
          <p:nvPr/>
        </p:nvSpPr>
        <p:spPr>
          <a:xfrm>
            <a:off x="3505362" y="3949585"/>
            <a:ext cx="2473382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1" name="ChildTail_MA_IDIQ_3"/>
          <p:cNvSpPr/>
          <p:nvPr/>
        </p:nvSpPr>
        <p:spPr>
          <a:xfrm>
            <a:off x="4171623" y="4041025"/>
            <a:ext cx="1825375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42" name="Trigger_MA_IDIQ"/>
          <p:cNvCxnSpPr/>
          <p:nvPr/>
        </p:nvCxnSpPr>
        <p:spPr>
          <a:xfrm>
            <a:off x="4710109" y="360211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43" name="RouteToGate_MA_IDIQ"/>
          <p:cNvCxnSpPr/>
          <p:nvPr/>
        </p:nvCxnSpPr>
        <p:spPr>
          <a:xfrm>
            <a:off x="4710109" y="3784993"/>
            <a:ext cx="1521978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44" name="BarLabel_BPA"/>
          <p:cNvSpPr txBox="1"/>
          <p:nvPr/>
        </p:nvSpPr>
        <p:spPr>
          <a:xfrm>
            <a:off x="2227600" y="4232083"/>
            <a:ext cx="1405538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 / call period</a:t>
            </a:r>
          </a:p>
        </p:txBody>
      </p:sp>
      <p:sp>
        <p:nvSpPr>
          <p:cNvPr id="45" name="ChildLabel_BPA"/>
          <p:cNvSpPr txBox="1"/>
          <p:nvPr/>
        </p:nvSpPr>
        <p:spPr>
          <a:xfrm>
            <a:off x="2227600" y="436467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46" name="ChildTail_BPA_1"/>
          <p:cNvSpPr/>
          <p:nvPr/>
        </p:nvSpPr>
        <p:spPr>
          <a:xfrm>
            <a:off x="2793466" y="4373815"/>
            <a:ext cx="2519017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7" name="ChildTail_BPA_2"/>
          <p:cNvSpPr/>
          <p:nvPr/>
        </p:nvSpPr>
        <p:spPr>
          <a:xfrm>
            <a:off x="3687899" y="4465255"/>
            <a:ext cx="2217830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48" name="Trigger_BPA"/>
          <p:cNvCxnSpPr/>
          <p:nvPr/>
        </p:nvCxnSpPr>
        <p:spPr>
          <a:xfrm>
            <a:off x="4491064" y="411778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49" name="RouteToGate_BPA"/>
          <p:cNvCxnSpPr/>
          <p:nvPr/>
        </p:nvCxnSpPr>
        <p:spPr>
          <a:xfrm>
            <a:off x="4491064" y="4300663"/>
            <a:ext cx="1741023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50" name="BarLabel_OT"/>
          <p:cNvSpPr txBox="1"/>
          <p:nvPr/>
        </p:nvSpPr>
        <p:spPr>
          <a:xfrm>
            <a:off x="2227600" y="4747753"/>
            <a:ext cx="192577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agreement-specific term</a:t>
            </a:r>
          </a:p>
        </p:txBody>
      </p:sp>
      <p:sp>
        <p:nvSpPr>
          <p:cNvPr id="51" name="ChildLabel_OT"/>
          <p:cNvSpPr txBox="1"/>
          <p:nvPr/>
        </p:nvSpPr>
        <p:spPr>
          <a:xfrm>
            <a:off x="2227600" y="488034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52" name="ChildTail_OT_1"/>
          <p:cNvSpPr/>
          <p:nvPr/>
        </p:nvSpPr>
        <p:spPr>
          <a:xfrm>
            <a:off x="3185921" y="4889485"/>
            <a:ext cx="2920600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53" name="Trigger_OT"/>
          <p:cNvCxnSpPr/>
          <p:nvPr/>
        </p:nvCxnSpPr>
        <p:spPr>
          <a:xfrm>
            <a:off x="5266848" y="463345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54" name="RouteToGate_OT"/>
          <p:cNvCxnSpPr/>
          <p:nvPr/>
        </p:nvCxnSpPr>
        <p:spPr>
          <a:xfrm>
            <a:off x="5266848" y="4816333"/>
            <a:ext cx="965239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55" name="StandaloneDecisionLabel"/>
          <p:cNvSpPr txBox="1"/>
          <p:nvPr/>
        </p:nvSpPr>
        <p:spPr>
          <a:xfrm>
            <a:off x="3824100" y="2771941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option decision</a:t>
            </a:r>
          </a:p>
        </p:txBody>
      </p:sp>
      <p:sp>
        <p:nvSpPr>
          <p:cNvPr id="56" name="StandaloneUltimateLabel"/>
          <p:cNvSpPr txBox="1"/>
          <p:nvPr/>
        </p:nvSpPr>
        <p:spPr>
          <a:xfrm>
            <a:off x="4964874" y="2771941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ultimate end</a:t>
            </a:r>
          </a:p>
        </p:txBody>
      </p:sp>
      <p:sp>
        <p:nvSpPr>
          <p:cNvPr id="57" name="AddressableBadge"/>
          <p:cNvSpPr txBox="1"/>
          <p:nvPr/>
        </p:nvSpPr>
        <p:spPr>
          <a:xfrm>
            <a:off x="6232087" y="2359152"/>
            <a:ext cx="1444752" cy="36576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none" anchor="ctr" lIns="36576" tIns="9144" rIns="36576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ADDRESSABLE?</a:t>
            </a:r>
          </a:p>
        </p:txBody>
      </p:sp>
      <p:sp>
        <p:nvSpPr>
          <p:cNvPr id="58" name="AddressableGuardrail"/>
          <p:cNvSpPr txBox="1"/>
          <p:nvPr/>
        </p:nvSpPr>
        <p:spPr>
          <a:xfrm>
            <a:off x="6232087" y="2724912"/>
            <a:ext cx="1444752" cy="2414016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Expired does not mean addressable.</a:t>
            </a:r>
          </a:p>
          <a:p>
            <a:pPr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SUCCESSOR CHECK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 a follow-on already been awarded? If yes, classify it as superseded, not overdue.</a:t>
            </a:r>
          </a:p>
          <a:p>
            <a:pPr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ACCESS CHECK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the company compete? FAR 16.505 may limit the next order to existing vehicle holders.</a:t>
            </a:r>
          </a:p>
        </p:txBody>
      </p:sp>
      <p:graphicFrame>
        <p:nvGraphicFramePr>
          <p:cNvPr id="59" name="VehicleClockRules"/>
          <p:cNvGraphicFramePr>
            <a:graphicFrameLocks noGrp="1"/>
          </p:cNvGraphicFramePr>
          <p:nvPr/>
        </p:nvGraphicFramePr>
        <p:xfrm>
          <a:off x="7804855" y="1371600"/>
          <a:ext cx="3930586" cy="27660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51560"/>
                <a:gridCol w="960120"/>
                <a:gridCol w="658368"/>
                <a:gridCol w="126053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 type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Recompete clock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Standalone definitive contract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and ultimate completion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may be an option decision; ultimate is the outer horizon.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29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Indefinite-delivery / indefinite-quantity (IDIQ), single- or multiple-award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last date to order; child end for holders-only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 (parent)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governs vehicle; child follow-on may be holders-only.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Task order or delivery order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Child ultimate completion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Follow-on may be holders-only.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Blanket Purchase Agreement (BPA)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Agreement or call-period logic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Inspect parent and call rules.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Ordering Agreement (BOA)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Nominal agreement end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contract; not a guaranteed recompete.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 Transaction (OT) agreement or order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Agreement-specific terms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Read governing agreement; validate externally.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0" name="GateToStateClassification"/>
          <p:cNvCxnSpPr/>
          <p:nvPr/>
        </p:nvCxnSpPr>
        <p:spPr>
          <a:xfrm>
            <a:off x="7676839" y="4754880"/>
            <a:ext cx="128016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61" name="StateHeader"/>
          <p:cNvSpPr txBox="1"/>
          <p:nvPr/>
        </p:nvSpPr>
        <p:spPr>
          <a:xfrm>
            <a:off x="7804855" y="4654296"/>
            <a:ext cx="393058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STATE, AFTER BOTH GATES</a:t>
            </a:r>
          </a:p>
        </p:txBody>
      </p:sp>
      <p:sp>
        <p:nvSpPr>
          <p:cNvPr id="62" name="StateChip1"/>
          <p:cNvSpPr txBox="1"/>
          <p:nvPr/>
        </p:nvSpPr>
        <p:spPr>
          <a:xfrm>
            <a:off x="7804855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now</a:t>
            </a:r>
          </a:p>
        </p:txBody>
      </p:sp>
      <p:sp>
        <p:nvSpPr>
          <p:cNvPr id="63" name="StateChip2"/>
          <p:cNvSpPr txBox="1"/>
          <p:nvPr/>
        </p:nvSpPr>
        <p:spPr>
          <a:xfrm>
            <a:off x="9133338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decision</a:t>
            </a:r>
          </a:p>
        </p:txBody>
      </p:sp>
      <p:sp>
        <p:nvSpPr>
          <p:cNvPr id="64" name="StateChip3"/>
          <p:cNvSpPr txBox="1"/>
          <p:nvPr/>
        </p:nvSpPr>
        <p:spPr>
          <a:xfrm>
            <a:off x="10461821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upcoming</a:t>
            </a:r>
          </a:p>
        </p:txBody>
      </p:sp>
      <p:sp>
        <p:nvSpPr>
          <p:cNvPr id="65" name="StateChip4"/>
          <p:cNvSpPr txBox="1"/>
          <p:nvPr/>
        </p:nvSpPr>
        <p:spPr>
          <a:xfrm>
            <a:off x="7804855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Holders-only</a:t>
            </a:r>
          </a:p>
        </p:txBody>
      </p:sp>
      <p:sp>
        <p:nvSpPr>
          <p:cNvPr id="66" name="StateChip5"/>
          <p:cNvSpPr txBox="1"/>
          <p:nvPr/>
        </p:nvSpPr>
        <p:spPr>
          <a:xfrm>
            <a:off x="9133338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Superseded</a:t>
            </a:r>
          </a:p>
        </p:txBody>
      </p:sp>
      <p:sp>
        <p:nvSpPr>
          <p:cNvPr id="67" name="StateChip6"/>
          <p:cNvSpPr txBox="1"/>
          <p:nvPr/>
        </p:nvSpPr>
        <p:spPr>
          <a:xfrm>
            <a:off x="10461821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required</a:t>
            </a:r>
          </a:p>
        </p:txBody>
      </p:sp>
      <p:cxnSp>
        <p:nvCxnSpPr>
          <p:cNvPr id="68" name="CaveatRailRule"/>
          <p:cNvCxnSpPr/>
          <p:nvPr/>
        </p:nvCxnSpPr>
        <p:spPr>
          <a:xfrm>
            <a:off x="453079" y="5394960"/>
            <a:ext cx="11282362" cy="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69" name="CaveatRail"/>
          <p:cNvSpPr txBox="1"/>
          <p:nvPr/>
        </p:nvSpPr>
        <p:spPr>
          <a:xfrm>
            <a:off x="453079" y="5422392"/>
            <a:ext cx="1128236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Timing is one of four reads;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recurrence, authority, competition route, and bidder eligibility remain separate.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Timing confidence varies by vehicle type | A Basic Ordering Agreement (BOA) nominal end is not a guaranteed recompete | A later Procurement Instrument Identifier (PIID) may already be the successor | Option value is capacity, not guaranteed revenue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Contract Awards API; FAR 16.505, 16.703, 17.207; FPDS and internal Army Market Mapping workbook. Figures illustrative of method; as of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Obligated and Unobligated Value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Obligated vs. Unobligated | Unobligated ceiling is capacity already inside awarded vehicles, not unspent budget authority.</a:t>
            </a:r>
          </a:p>
        </p:txBody>
      </p:sp>
      <p:sp>
        <p:nvSpPr>
          <p:cNvPr id="10" name="MoneyMeasuresFinding"/>
          <p:cNvSpPr txBox="1"/>
          <p:nvPr/>
        </p:nvSpPr>
        <p:spPr>
          <a:xfrm>
            <a:off x="453079" y="1371600"/>
            <a:ext cx="7150608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contract-value measures, never summed.</a:t>
            </a:r>
          </a:p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Obligated, current value, and ceiling restate the same money. Only the per-action obligation stream is additive; sum it, never the cumulative snapshots.</a:t>
            </a:r>
          </a:p>
        </p:txBody>
      </p:sp>
      <p:sp>
        <p:nvSpPr>
          <p:cNvPr id="11" name="VehicleFamilyFrame"/>
          <p:cNvSpPr txBox="1"/>
          <p:nvPr/>
        </p:nvSpPr>
        <p:spPr>
          <a:xfrm>
            <a:off x="453079" y="1993392"/>
            <a:ext cx="5394960" cy="22128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VehicleFamilyCap"/>
          <p:cNvSpPr txBox="1"/>
          <p:nvPr/>
        </p:nvSpPr>
        <p:spPr>
          <a:xfrm>
            <a:off x="562807" y="2048256"/>
            <a:ext cx="3474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COLLAPSED VEHICLE FAMILY | parent, child orders, and modifications counted once</a:t>
            </a:r>
          </a:p>
        </p:txBody>
      </p:sp>
      <p:sp>
        <p:nvSpPr>
          <p:cNvPr id="13" name="CeilingOutline"/>
          <p:cNvSpPr txBox="1"/>
          <p:nvPr/>
        </p:nvSpPr>
        <p:spPr>
          <a:xfrm>
            <a:off x="663391" y="2331720"/>
            <a:ext cx="4892040" cy="14173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4" name="CurrentValueField"/>
          <p:cNvSpPr txBox="1"/>
          <p:nvPr/>
        </p:nvSpPr>
        <p:spPr>
          <a:xfrm>
            <a:off x="992575" y="2615184"/>
            <a:ext cx="4233672" cy="886968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" name="CeilingGapTop"/>
          <p:cNvSpPr/>
          <p:nvPr/>
        </p:nvSpPr>
        <p:spPr>
          <a:xfrm>
            <a:off x="663391" y="2331720"/>
            <a:ext cx="4892040" cy="283464"/>
          </a:xfrm>
          <a:prstGeom prst="rect">
            <a:avLst/>
          </a:prstGeom>
          <a:pattFill prst="ltUpDiag">
            <a:fgClr>
              <a:srgbClr val="BFBFBF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6" name="CeilingGapBottom"/>
          <p:cNvSpPr/>
          <p:nvPr/>
        </p:nvSpPr>
        <p:spPr>
          <a:xfrm>
            <a:off x="663391" y="3502152"/>
            <a:ext cx="4892040" cy="246888"/>
          </a:xfrm>
          <a:prstGeom prst="rect">
            <a:avLst/>
          </a:prstGeom>
          <a:pattFill prst="ltUpDiag">
            <a:fgClr>
              <a:srgbClr val="BFBFBF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7" name="CeilingGapLeft"/>
          <p:cNvSpPr/>
          <p:nvPr/>
        </p:nvSpPr>
        <p:spPr>
          <a:xfrm>
            <a:off x="663391" y="2615184"/>
            <a:ext cx="329184" cy="886968"/>
          </a:xfrm>
          <a:prstGeom prst="rect">
            <a:avLst/>
          </a:prstGeom>
          <a:pattFill prst="ltUpDiag">
            <a:fgClr>
              <a:srgbClr val="BFBFBF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8" name="CeilingGapRight"/>
          <p:cNvSpPr/>
          <p:nvPr/>
        </p:nvSpPr>
        <p:spPr>
          <a:xfrm>
            <a:off x="5226247" y="2615184"/>
            <a:ext cx="329184" cy="886968"/>
          </a:xfrm>
          <a:prstGeom prst="rect">
            <a:avLst/>
          </a:prstGeom>
          <a:pattFill prst="ltUpDiag">
            <a:fgClr>
              <a:srgbClr val="BFBFBF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9" name="CurrentGapTop"/>
          <p:cNvSpPr/>
          <p:nvPr/>
        </p:nvSpPr>
        <p:spPr>
          <a:xfrm>
            <a:off x="992575" y="2615184"/>
            <a:ext cx="4233672" cy="219456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B6C8D8"/>
            </a:bgClr>
          </a:pattFill>
          <a:ln>
            <a:noFill/>
          </a:ln>
        </p:spPr>
      </p:sp>
      <p:sp>
        <p:nvSpPr>
          <p:cNvPr id="20" name="CurrentGapBottom"/>
          <p:cNvSpPr/>
          <p:nvPr/>
        </p:nvSpPr>
        <p:spPr>
          <a:xfrm>
            <a:off x="992575" y="3364992"/>
            <a:ext cx="4233672" cy="137160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B6C8D8"/>
            </a:bgClr>
          </a:pattFill>
          <a:ln>
            <a:noFill/>
          </a:ln>
        </p:spPr>
      </p:sp>
      <p:sp>
        <p:nvSpPr>
          <p:cNvPr id="21" name="CurrentGapLeft"/>
          <p:cNvSpPr/>
          <p:nvPr/>
        </p:nvSpPr>
        <p:spPr>
          <a:xfrm>
            <a:off x="992575" y="2834640"/>
            <a:ext cx="393192" cy="530352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B6C8D8"/>
            </a:bgClr>
          </a:pattFill>
          <a:ln>
            <a:noFill/>
          </a:ln>
        </p:spPr>
      </p:sp>
      <p:sp>
        <p:nvSpPr>
          <p:cNvPr id="22" name="CurrentGapRight"/>
          <p:cNvSpPr/>
          <p:nvPr/>
        </p:nvSpPr>
        <p:spPr>
          <a:xfrm>
            <a:off x="4759903" y="2834640"/>
            <a:ext cx="466344" cy="530352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B6C8D8"/>
            </a:bgClr>
          </a:pattFill>
          <a:ln>
            <a:noFill/>
          </a:ln>
        </p:spPr>
      </p:sp>
      <p:sp>
        <p:nvSpPr>
          <p:cNvPr id="23" name="CeilingLabel"/>
          <p:cNvSpPr txBox="1"/>
          <p:nvPr/>
        </p:nvSpPr>
        <p:spPr>
          <a:xfrm>
            <a:off x="736543" y="2359152"/>
            <a:ext cx="21031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 | base and all options</a:t>
            </a:r>
          </a:p>
        </p:txBody>
      </p:sp>
      <p:sp>
        <p:nvSpPr>
          <p:cNvPr id="24" name="CurrentValueLabel"/>
          <p:cNvSpPr txBox="1"/>
          <p:nvPr/>
        </p:nvSpPr>
        <p:spPr>
          <a:xfrm>
            <a:off x="1065727" y="2642616"/>
            <a:ext cx="2651760" cy="201168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value | base and exercised options</a:t>
            </a:r>
          </a:p>
        </p:txBody>
      </p:sp>
      <p:sp>
        <p:nvSpPr>
          <p:cNvPr id="25" name="CumulativeObligationCore"/>
          <p:cNvSpPr txBox="1"/>
          <p:nvPr/>
        </p:nvSpPr>
        <p:spPr>
          <a:xfrm>
            <a:off x="1385767" y="2834640"/>
            <a:ext cx="3374136" cy="530352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6" name="CumulativeObligationLabel"/>
          <p:cNvSpPr txBox="1"/>
          <p:nvPr/>
        </p:nvSpPr>
        <p:spPr>
          <a:xfrm>
            <a:off x="1458919" y="2852928"/>
            <a:ext cx="3227832" cy="173736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8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Cumulative obligation (award) | executed</a:t>
            </a:r>
          </a:p>
        </p:txBody>
      </p:sp>
      <p:sp>
        <p:nvSpPr>
          <p:cNvPr id="27" name="ActionObligation1"/>
          <p:cNvSpPr txBox="1"/>
          <p:nvPr/>
        </p:nvSpPr>
        <p:spPr>
          <a:xfrm>
            <a:off x="147720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28" name="ActionObligation2"/>
          <p:cNvSpPr txBox="1"/>
          <p:nvPr/>
        </p:nvSpPr>
        <p:spPr>
          <a:xfrm>
            <a:off x="2124602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29" name="ActionObligation3"/>
          <p:cNvSpPr txBox="1"/>
          <p:nvPr/>
        </p:nvSpPr>
        <p:spPr>
          <a:xfrm>
            <a:off x="277199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30" name="ActionObligation4"/>
          <p:cNvSpPr txBox="1"/>
          <p:nvPr/>
        </p:nvSpPr>
        <p:spPr>
          <a:xfrm>
            <a:off x="3419392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1" name="ActionObligation5"/>
          <p:cNvSpPr txBox="1"/>
          <p:nvPr/>
        </p:nvSpPr>
        <p:spPr>
          <a:xfrm>
            <a:off x="406678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32" name="ActionStreamLabel"/>
          <p:cNvSpPr txBox="1"/>
          <p:nvPr/>
        </p:nvSpPr>
        <p:spPr>
          <a:xfrm>
            <a:off x="1458919" y="3209544"/>
            <a:ext cx="3227832" cy="137160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7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obligations (transactions) | ONLY ADDITIVE LAYER</a:t>
            </a:r>
          </a:p>
        </p:txBody>
      </p:sp>
      <p:sp>
        <p:nvSpPr>
          <p:cNvPr id="33" name="UnobligatedCapacityLabel"/>
          <p:cNvSpPr txBox="1"/>
          <p:nvPr/>
        </p:nvSpPr>
        <p:spPr>
          <a:xfrm>
            <a:off x="4110679" y="2039112"/>
            <a:ext cx="16642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UNOBLIGATED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75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= remaining capacity | indicative</a:t>
            </a:r>
          </a:p>
        </p:txBody>
      </p:sp>
      <p:cxnSp>
        <p:nvCxnSpPr>
          <p:cNvPr id="34" name="UnobligatedCapacityPointer"/>
          <p:cNvCxnSpPr/>
          <p:nvPr/>
        </p:nvCxnSpPr>
        <p:spPr>
          <a:xfrm>
            <a:off x="4942783" y="2313432"/>
            <a:ext cx="1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35" name="CapacityFormula"/>
          <p:cNvSpPr txBox="1"/>
          <p:nvPr/>
        </p:nvSpPr>
        <p:spPr>
          <a:xfrm>
            <a:off x="709111" y="3867912"/>
            <a:ext cx="4882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unobligated remaining capacity = parent ceiling minus family obligations (indicative)</a:t>
            </a:r>
          </a:p>
        </p:txBody>
      </p:sp>
      <p:sp>
        <p:nvSpPr>
          <p:cNvPr id="36" name="SeparateUniversesHeader"/>
          <p:cNvSpPr txBox="1"/>
          <p:nvPr/>
        </p:nvSpPr>
        <p:spPr>
          <a:xfrm>
            <a:off x="6049207" y="2020824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UNIVERSES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not outer rings</a:t>
            </a:r>
          </a:p>
        </p:txBody>
      </p:sp>
      <p:sp>
        <p:nvSpPr>
          <p:cNvPr id="37" name="SeparateUniverse1"/>
          <p:cNvSpPr txBox="1"/>
          <p:nvPr/>
        </p:nvSpPr>
        <p:spPr>
          <a:xfrm>
            <a:off x="6049207" y="2478024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Outlay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disbursed</a:t>
            </a:r>
          </a:p>
        </p:txBody>
      </p:sp>
      <p:sp>
        <p:nvSpPr>
          <p:cNvPr id="38" name="SeparateUniverse2"/>
          <p:cNvSpPr txBox="1"/>
          <p:nvPr/>
        </p:nvSpPr>
        <p:spPr>
          <a:xfrm>
            <a:off x="6049207" y="2971800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demand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requested or enacted</a:t>
            </a:r>
          </a:p>
        </p:txBody>
      </p:sp>
      <p:sp>
        <p:nvSpPr>
          <p:cNvPr id="39" name="SeparateUniverse3"/>
          <p:cNvSpPr txBox="1"/>
          <p:nvPr/>
        </p:nvSpPr>
        <p:spPr>
          <a:xfrm>
            <a:off x="6049207" y="3465576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 flow</a:t>
            </a:r>
          </a:p>
        </p:txBody>
      </p:sp>
      <p:sp>
        <p:nvSpPr>
          <p:cNvPr id="40" name="SeparateUniverseCaption"/>
          <p:cNvSpPr txBox="1"/>
          <p:nvPr/>
        </p:nvSpPr>
        <p:spPr>
          <a:xfrm>
            <a:off x="6049207" y="399592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never summed with the nest</a:t>
            </a:r>
          </a:p>
        </p:txBody>
      </p:sp>
      <p:sp>
        <p:nvSpPr>
          <p:cNvPr id="41" name="CapacityNoteSwatch"/>
          <p:cNvSpPr/>
          <p:nvPr/>
        </p:nvSpPr>
        <p:spPr>
          <a:xfrm>
            <a:off x="453079" y="4379976"/>
            <a:ext cx="182880" cy="182880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42" name="CapacityInterpretation"/>
          <p:cNvSpPr txBox="1"/>
          <p:nvPr/>
        </p:nvSpPr>
        <p:spPr>
          <a:xfrm>
            <a:off x="718255" y="4325112"/>
            <a:ext cx="6885432" cy="8138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 the capacity once, and call it indicative.</a:t>
            </a:r>
          </a:p>
          <a:p>
            <a:pPr>
              <a:lnSpc>
                <a:spcPct val="100000"/>
              </a:lnSpc>
              <a:buNone/>
            </a:pPr>
            <a:r>
              <a:rPr lang="en-US" sz="850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Collapse parent, child orders, and modifications into one family before reading the gap. A ceiling may be shared across many holders and never used, so the gap is an opportunity indicator, not pipeline value.</a:t>
            </a:r>
          </a:p>
        </p:txBody>
      </p:sp>
      <p:sp>
        <p:nvSpPr>
          <p:cNvPr id="43" name="TwoSensesCard"/>
          <p:cNvSpPr txBox="1"/>
          <p:nvPr/>
        </p:nvSpPr>
        <p:spPr>
          <a:xfrm>
            <a:off x="7768279" y="1371600"/>
            <a:ext cx="3967162" cy="1188720"/>
          </a:xfrm>
          <a:prstGeom prst="rect">
            <a:avLst/>
          </a:prstGeom>
          <a:solidFill>
            <a:srgbClr val="E2E9EF"/>
          </a:solidFill>
          <a:ln w="1905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4" name="TwoSensesHeadline"/>
          <p:cNvSpPr txBox="1"/>
          <p:nvPr/>
        </p:nvSpPr>
        <p:spPr>
          <a:xfrm>
            <a:off x="7878007" y="1444752"/>
            <a:ext cx="374770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"Unobligated" has two senses; this slide means the contract one.</a:t>
            </a:r>
          </a:p>
        </p:txBody>
      </p:sp>
      <p:sp>
        <p:nvSpPr>
          <p:cNvPr id="45" name="ContractSense"/>
          <p:cNvSpPr txBox="1"/>
          <p:nvPr/>
        </p:nvSpPr>
        <p:spPr>
          <a:xfrm>
            <a:off x="7878007" y="1828800"/>
            <a:ext cx="1828133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SENSE (THIS SLIDE)</a:t>
            </a:r>
          </a:p>
          <a:p>
            <a:pPr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ceiling not yet obligated; capacity already inside an IDIQ.</a:t>
            </a:r>
          </a:p>
        </p:txBody>
      </p:sp>
      <p:cxnSp>
        <p:nvCxnSpPr>
          <p:cNvPr id="46" name="TwoSensesDivider"/>
          <p:cNvCxnSpPr/>
          <p:nvPr/>
        </p:nvCxnSpPr>
        <p:spPr>
          <a:xfrm>
            <a:off x="9751860" y="1828800"/>
            <a:ext cx="1" cy="64008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47" name="BudgetSense"/>
          <p:cNvSpPr txBox="1"/>
          <p:nvPr/>
        </p:nvSpPr>
        <p:spPr>
          <a:xfrm>
            <a:off x="9843300" y="1828800"/>
            <a:ext cx="1828133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SENSE (NOT THIS SLIDE)</a:t>
            </a:r>
          </a:p>
          <a:p>
            <a:pPr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Appropriated authority not yet placed on contract. Different number, different universe.</a:t>
            </a:r>
          </a:p>
        </p:txBody>
      </p:sp>
      <p:sp>
        <p:nvSpPr>
          <p:cNvPr id="48" name="GlossaryTitle"/>
          <p:cNvSpPr txBox="1"/>
          <p:nvPr/>
        </p:nvSpPr>
        <p:spPr>
          <a:xfrm>
            <a:off x="7768279" y="2679192"/>
            <a:ext cx="39671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MONEY-MEASURES GLOSSARY | nested contract measures</a:t>
            </a:r>
          </a:p>
        </p:txBody>
      </p:sp>
      <p:graphicFrame>
        <p:nvGraphicFramePr>
          <p:cNvPr id="49" name="MoneyMeasuresGlossary"/>
          <p:cNvGraphicFramePr>
            <a:graphicFrameLocks noGrp="1"/>
          </p:cNvGraphicFramePr>
          <p:nvPr/>
        </p:nvGraphicFramePr>
        <p:xfrm>
          <a:off x="7768279" y="2916936"/>
          <a:ext cx="3967162" cy="221284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822960"/>
                <a:gridCol w="960120"/>
                <a:gridCol w="960120"/>
                <a:gridCol w="12239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is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it appears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 misread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Action obligation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transaction or modification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action and transaction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Summing cumulative snapshots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obligation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Restated running total to date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record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Treating each restatement as new money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and exercised options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 value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Reading it as the ceiling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Potential / ceiling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and all options; maximum authority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 ceiling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Treating ceiling as funded or guaranteed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MoneyDisciplineRail"/>
          <p:cNvSpPr txBox="1"/>
          <p:nvPr/>
        </p:nvSpPr>
        <p:spPr>
          <a:xfrm>
            <a:off x="453079" y="5276088"/>
            <a:ext cx="11282362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MoneyDiscipline1"/>
          <p:cNvSpPr txBox="1"/>
          <p:nvPr/>
        </p:nvSpPr>
        <p:spPr>
          <a:xfrm>
            <a:off x="453079" y="5276088"/>
            <a:ext cx="151790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 action obligations only</a:t>
            </a:r>
          </a:p>
        </p:txBody>
      </p:sp>
      <p:cxnSp>
        <p:nvCxnSpPr>
          <p:cNvPr id="52" name="MoneyDisciplineDivider1"/>
          <p:cNvCxnSpPr/>
          <p:nvPr/>
        </p:nvCxnSpPr>
        <p:spPr>
          <a:xfrm>
            <a:off x="1970983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3" name="MoneyDiscipline2"/>
          <p:cNvSpPr txBox="1"/>
          <p:nvPr/>
        </p:nvSpPr>
        <p:spPr>
          <a:xfrm>
            <a:off x="1970983" y="5276088"/>
            <a:ext cx="1755648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Never sum cumulative snapshots</a:t>
            </a:r>
          </a:p>
        </p:txBody>
      </p:sp>
      <p:cxnSp>
        <p:nvCxnSpPr>
          <p:cNvPr id="54" name="MoneyDisciplineDivider2"/>
          <p:cNvCxnSpPr/>
          <p:nvPr/>
        </p:nvCxnSpPr>
        <p:spPr>
          <a:xfrm>
            <a:off x="3726631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5" name="MoneyDiscipline3"/>
          <p:cNvSpPr txBox="1"/>
          <p:nvPr/>
        </p:nvSpPr>
        <p:spPr>
          <a:xfrm>
            <a:off x="3726631" y="5276088"/>
            <a:ext cx="3273552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obligations, current value, ceiling, outlays, budget demand, and subawards separate</a:t>
            </a:r>
          </a:p>
        </p:txBody>
      </p:sp>
      <p:cxnSp>
        <p:nvCxnSpPr>
          <p:cNvPr id="56" name="MoneyDisciplineDivider3"/>
          <p:cNvCxnSpPr/>
          <p:nvPr/>
        </p:nvCxnSpPr>
        <p:spPr>
          <a:xfrm>
            <a:off x="7000183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7" name="MoneyDiscipline4"/>
          <p:cNvSpPr txBox="1"/>
          <p:nvPr/>
        </p:nvSpPr>
        <p:spPr>
          <a:xfrm>
            <a:off x="7000183" y="5276088"/>
            <a:ext cx="22677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 the vehicle and its children into one family</a:t>
            </a:r>
          </a:p>
        </p:txBody>
      </p:sp>
      <p:cxnSp>
        <p:nvCxnSpPr>
          <p:cNvPr id="58" name="MoneyDisciplineDivider4"/>
          <p:cNvCxnSpPr/>
          <p:nvPr/>
        </p:nvCxnSpPr>
        <p:spPr>
          <a:xfrm>
            <a:off x="9267895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9" name="MoneyDiscipline5"/>
          <p:cNvSpPr txBox="1"/>
          <p:nvPr/>
        </p:nvSpPr>
        <p:spPr>
          <a:xfrm>
            <a:off x="9267895" y="5276088"/>
            <a:ext cx="246754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 and option value are not guaranteed revenue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Ceiling and current value: SAM.gov Contract Awards API; action-level obligations and outlays: USAspending transactions, reconciled with FPDS lineage; family roll-up and worked figures: internal Army Market Mapping workbook | Note: Then-year dollars; figures illustrative of method; as of 2026-06-22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Sources and Validation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Sourcing | SAM Contract Awards anchors the pull; funding and subaward layers enrich it, and validation precedes any total.</a:t>
            </a:r>
          </a:p>
        </p:txBody>
      </p:sp>
      <p:sp>
        <p:nvSpPr>
          <p:cNvPr id="10" name="PullBand"/>
          <p:cNvSpPr txBox="1"/>
          <p:nvPr/>
        </p:nvSpPr>
        <p:spPr>
          <a:xfrm>
            <a:off x="453079" y="1371600"/>
            <a:ext cx="2423160" cy="1636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" name="EnrichBand"/>
          <p:cNvSpPr txBox="1"/>
          <p:nvPr/>
        </p:nvSpPr>
        <p:spPr>
          <a:xfrm>
            <a:off x="2876239" y="1371600"/>
            <a:ext cx="4572000" cy="1636776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ValidateBand"/>
          <p:cNvSpPr txBox="1"/>
          <p:nvPr/>
        </p:nvSpPr>
        <p:spPr>
          <a:xfrm>
            <a:off x="7448239" y="1371600"/>
            <a:ext cx="1417320" cy="1636776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3" name="PullLabel"/>
          <p:cNvSpPr txBox="1"/>
          <p:nvPr/>
        </p:nvSpPr>
        <p:spPr>
          <a:xfrm>
            <a:off x="526231" y="1380744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4" name="EnrichLabel"/>
          <p:cNvSpPr txBox="1"/>
          <p:nvPr/>
        </p:nvSpPr>
        <p:spPr>
          <a:xfrm>
            <a:off x="2949391" y="1380744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5" name="ValidateLabel"/>
          <p:cNvSpPr txBox="1"/>
          <p:nvPr/>
        </p:nvSpPr>
        <p:spPr>
          <a:xfrm>
            <a:off x="7521391" y="1380744"/>
            <a:ext cx="804672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OutputsLabel"/>
          <p:cNvSpPr txBox="1"/>
          <p:nvPr/>
        </p:nvSpPr>
        <p:spPr>
          <a:xfrm>
            <a:off x="9258751" y="1380744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7" name="ModernBaseNote"/>
          <p:cNvSpPr txBox="1"/>
          <p:nvPr/>
        </p:nvSpPr>
        <p:spPr>
          <a:xfrm>
            <a:off x="562807" y="1545336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36576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modern base pull is SAM Contract Awards, not the FPDS Atom feed.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FPDS remains useful for legacy lineage and per-action validation; the workflow does not depend on a feed slated to retire in FY2026.</a:t>
            </a:r>
          </a:p>
        </p:txBody>
      </p:sp>
      <p:sp>
        <p:nvSpPr>
          <p:cNvPr id="20" name="Step3"/>
          <p:cNvSpPr txBox="1"/>
          <p:nvPr/>
        </p:nvSpPr>
        <p:spPr>
          <a:xfrm>
            <a:off x="3086551" y="1527048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Verb3"/>
          <p:cNvSpPr txBox="1"/>
          <p:nvPr/>
        </p:nvSpPr>
        <p:spPr>
          <a:xfrm>
            <a:off x="3283147" y="152704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2" name="Step4"/>
          <p:cNvSpPr txBox="1"/>
          <p:nvPr/>
        </p:nvSpPr>
        <p:spPr>
          <a:xfrm>
            <a:off x="4202119" y="1527048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Verb4"/>
          <p:cNvSpPr txBox="1"/>
          <p:nvPr/>
        </p:nvSpPr>
        <p:spPr>
          <a:xfrm>
            <a:off x="4398715" y="152704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24" name="Step5"/>
          <p:cNvSpPr txBox="1"/>
          <p:nvPr/>
        </p:nvSpPr>
        <p:spPr>
          <a:xfrm>
            <a:off x="5317687" y="1527048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Verb5"/>
          <p:cNvSpPr txBox="1"/>
          <p:nvPr/>
        </p:nvSpPr>
        <p:spPr>
          <a:xfrm>
            <a:off x="5514283" y="152704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26" name="Step6"/>
          <p:cNvSpPr txBox="1"/>
          <p:nvPr/>
        </p:nvSpPr>
        <p:spPr>
          <a:xfrm>
            <a:off x="6433255" y="1527048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Verb6"/>
          <p:cNvSpPr txBox="1"/>
          <p:nvPr/>
        </p:nvSpPr>
        <p:spPr>
          <a:xfrm>
            <a:off x="6629851" y="152704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8" name="USAspending"/>
          <p:cNvSpPr txBox="1"/>
          <p:nvPr/>
        </p:nvSpPr>
        <p:spPr>
          <a:xfrm>
            <a:off x="2995111" y="1741932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USASPENDING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obligations, TAS</a:t>
            </a:r>
          </a:p>
        </p:txBody>
      </p:sp>
      <p:sp>
        <p:nvSpPr>
          <p:cNvPr id="29" name="VehicleFamilies"/>
          <p:cNvSpPr txBox="1"/>
          <p:nvPr/>
        </p:nvSpPr>
        <p:spPr>
          <a:xfrm>
            <a:off x="4110679" y="1741932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FAMILY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Parent/child orders</a:t>
            </a:r>
          </a:p>
        </p:txBody>
      </p:sp>
      <p:sp>
        <p:nvSpPr>
          <p:cNvPr id="30" name="Subawards"/>
          <p:cNvSpPr txBox="1"/>
          <p:nvPr/>
        </p:nvSpPr>
        <p:spPr>
          <a:xfrm>
            <a:off x="5226247" y="1741932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SUBAWARDS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suppliers</a:t>
            </a:r>
          </a:p>
        </p:txBody>
      </p:sp>
      <p:sp>
        <p:nvSpPr>
          <p:cNvPr id="31" name="EntityManagement"/>
          <p:cNvSpPr txBox="1"/>
          <p:nvPr/>
        </p:nvSpPr>
        <p:spPr>
          <a:xfrm>
            <a:off x="6341815" y="1741932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ENTITY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/ CAGE / NAICS</a:t>
            </a:r>
          </a:p>
        </p:txBody>
      </p:sp>
      <p:sp>
        <p:nvSpPr>
          <p:cNvPr id="32" name="USAspendingComment"/>
          <p:cNvSpPr txBox="1"/>
          <p:nvPr/>
        </p:nvSpPr>
        <p:spPr>
          <a:xfrm>
            <a:off x="2995111" y="2089404"/>
            <a:ext cx="1417320" cy="36118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BRIDGE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 and TAS; reconcile to SAM.</a:t>
            </a:r>
          </a:p>
        </p:txBody>
      </p:sp>
      <p:sp>
        <p:nvSpPr>
          <p:cNvPr id="33" name="SubawardComment"/>
          <p:cNvSpPr txBox="1"/>
          <p:nvPr/>
        </p:nvSpPr>
        <p:spPr>
          <a:xfrm>
            <a:off x="5226247" y="2089404"/>
            <a:ext cx="1417320" cy="361188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QUESTION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Lagged first-tier only; never add to primes.</a:t>
            </a:r>
          </a:p>
        </p:txBody>
      </p:sp>
      <p:cxnSp>
        <p:nvCxnSpPr>
          <p:cNvPr id="34" name="USABoxToCard"/>
          <p:cNvCxnSpPr/>
          <p:nvPr/>
        </p:nvCxnSpPr>
        <p:spPr>
          <a:xfrm>
            <a:off x="3507175" y="2048256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35" name="USACardToSpine"/>
          <p:cNvCxnSpPr/>
          <p:nvPr/>
        </p:nvCxnSpPr>
        <p:spPr>
          <a:xfrm>
            <a:off x="3507175" y="2450592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6" name="VehicleToSpine"/>
          <p:cNvCxnSpPr/>
          <p:nvPr/>
        </p:nvCxnSpPr>
        <p:spPr>
          <a:xfrm>
            <a:off x="4622743" y="2048256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7" name="SubawardBoxToCard"/>
          <p:cNvCxnSpPr/>
          <p:nvPr/>
        </p:nvCxnSpPr>
        <p:spPr>
          <a:xfrm>
            <a:off x="5738311" y="2048256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38" name="SubawardCardToSpine"/>
          <p:cNvCxnSpPr/>
          <p:nvPr/>
        </p:nvCxnSpPr>
        <p:spPr>
          <a:xfrm>
            <a:off x="5738311" y="2450592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9" name="EntityToSpine"/>
          <p:cNvCxnSpPr/>
          <p:nvPr/>
        </p:nvCxnSpPr>
        <p:spPr>
          <a:xfrm>
            <a:off x="6853879" y="2048256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0" name="DefineMarketSpine"/>
          <p:cNvSpPr txBox="1"/>
          <p:nvPr/>
        </p:nvSpPr>
        <p:spPr>
          <a:xfrm>
            <a:off x="544519" y="2468880"/>
            <a:ext cx="1078992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PE/BLI and money color</a:t>
            </a:r>
          </a:p>
        </p:txBody>
      </p:sp>
      <p:sp>
        <p:nvSpPr>
          <p:cNvPr id="41" name="SAMContractAwardsSpine"/>
          <p:cNvSpPr txBox="1"/>
          <p:nvPr/>
        </p:nvSpPr>
        <p:spPr>
          <a:xfrm>
            <a:off x="1842967" y="2468880"/>
            <a:ext cx="5285232" cy="310896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CONTRACT 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Primes, IDVs, orders/calls and ceiling</a:t>
            </a:r>
          </a:p>
        </p:txBody>
      </p:sp>
      <p:sp>
        <p:nvSpPr>
          <p:cNvPr id="42" name="Step1"/>
          <p:cNvSpPr txBox="1"/>
          <p:nvPr/>
        </p:nvSpPr>
        <p:spPr>
          <a:xfrm>
            <a:off x="635959" y="2253996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Verb1"/>
          <p:cNvSpPr txBox="1"/>
          <p:nvPr/>
        </p:nvSpPr>
        <p:spPr>
          <a:xfrm>
            <a:off x="832555" y="225399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44" name="Step2"/>
          <p:cNvSpPr txBox="1"/>
          <p:nvPr/>
        </p:nvSpPr>
        <p:spPr>
          <a:xfrm>
            <a:off x="1934407" y="2253996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Verb2"/>
          <p:cNvSpPr txBox="1"/>
          <p:nvPr/>
        </p:nvSpPr>
        <p:spPr>
          <a:xfrm>
            <a:off x="2131003" y="225399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cxnSp>
        <p:nvCxnSpPr>
          <p:cNvPr id="46" name="DefineToSpine"/>
          <p:cNvCxnSpPr/>
          <p:nvPr/>
        </p:nvCxnSpPr>
        <p:spPr>
          <a:xfrm>
            <a:off x="1623511" y="2624328"/>
            <a:ext cx="219456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47" name="ValidationGate"/>
          <p:cNvSpPr txBox="1"/>
          <p:nvPr/>
        </p:nvSpPr>
        <p:spPr>
          <a:xfrm>
            <a:off x="7512247" y="2066544"/>
            <a:ext cx="1353312" cy="877824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45000" tIns="22000" rIns="45000" bIns="18000"/>
          <a:lstStyle/>
          <a:p>
            <a:pPr algn="ctr">
              <a:lnSpc>
                <a:spcPct val="95000"/>
              </a:lnSpc>
              <a:buNone/>
            </a:pPr>
            <a:r>
              <a:rPr lang="en-US" sz="13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56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Tag source, vintage, measure, family and confidence</a:t>
            </a:r>
          </a:p>
        </p:txBody>
      </p:sp>
      <p:sp>
        <p:nvSpPr>
          <p:cNvPr id="48" name="Step7"/>
          <p:cNvSpPr txBox="1"/>
          <p:nvPr/>
        </p:nvSpPr>
        <p:spPr>
          <a:xfrm>
            <a:off x="7621975" y="1851660"/>
            <a:ext cx="164592" cy="164592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9" name="Verb7"/>
          <p:cNvSpPr txBox="1"/>
          <p:nvPr/>
        </p:nvSpPr>
        <p:spPr>
          <a:xfrm>
            <a:off x="7818571" y="1851660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cxnSp>
        <p:nvCxnSpPr>
          <p:cNvPr id="50" name="SpineToGate"/>
          <p:cNvCxnSpPr/>
          <p:nvPr/>
        </p:nvCxnSpPr>
        <p:spPr>
          <a:xfrm>
            <a:off x="7128199" y="2624328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51" name="FPDSLegacy"/>
          <p:cNvSpPr txBox="1"/>
          <p:nvPr/>
        </p:nvSpPr>
        <p:spPr>
          <a:xfrm>
            <a:off x="4769047" y="2788920"/>
            <a:ext cx="2468880" cy="2011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35000" tIns="8000" rIns="35000" bIns="8000"/>
          <a:lstStyle/>
          <a:p>
            <a:pPr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FPDS ATOM | legacy lineage and validation; retiring FY2026</a:t>
            </a:r>
          </a:p>
        </p:txBody>
      </p:sp>
      <p:cxnSp>
        <p:nvCxnSpPr>
          <p:cNvPr id="52" name="FPDSToGate"/>
          <p:cNvCxnSpPr/>
          <p:nvPr/>
        </p:nvCxnSpPr>
        <p:spPr>
          <a:xfrm>
            <a:off x="7237927" y="2889504"/>
            <a:ext cx="274320" cy="0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53" name="ExternalProgramEvidence"/>
          <p:cNvSpPr txBox="1"/>
          <p:nvPr/>
        </p:nvSpPr>
        <p:spPr>
          <a:xfrm>
            <a:off x="9249607" y="1527048"/>
            <a:ext cx="2412682" cy="4297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EXTERNAL PROGRAM EVIDENCE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End-user, low confidence. Payer, buyer and user often differ; place of performance is not proof.</a:t>
            </a:r>
          </a:p>
        </p:txBody>
      </p:sp>
      <p:cxnSp>
        <p:nvCxnSpPr>
          <p:cNvPr id="54" name="ExternalEvidenceLeft"/>
          <p:cNvCxnSpPr/>
          <p:nvPr/>
        </p:nvCxnSpPr>
        <p:spPr>
          <a:xfrm flipH="1">
            <a:off x="8188903" y="1741932"/>
            <a:ext cx="106070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cxnSp>
        <p:nvCxnSpPr>
          <p:cNvPr id="55" name="ExternalEvidenceDown"/>
          <p:cNvCxnSpPr/>
          <p:nvPr/>
        </p:nvCxnSpPr>
        <p:spPr>
          <a:xfrm>
            <a:off x="8188903" y="1741932"/>
            <a:ext cx="0" cy="324612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56" name="GateToOutputBus"/>
          <p:cNvCxnSpPr/>
          <p:nvPr/>
        </p:nvCxnSpPr>
        <p:spPr>
          <a:xfrm>
            <a:off x="8865559" y="2505456"/>
            <a:ext cx="16459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57" name="OutputBus"/>
          <p:cNvCxnSpPr/>
          <p:nvPr/>
        </p:nvCxnSpPr>
        <p:spPr>
          <a:xfrm>
            <a:off x="9030151" y="2139696"/>
            <a:ext cx="0" cy="612648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8" name="MarketOutput"/>
          <p:cNvSpPr txBox="1"/>
          <p:nvPr/>
        </p:nvSpPr>
        <p:spPr>
          <a:xfrm>
            <a:off x="9249607" y="2002536"/>
            <a:ext cx="2412682" cy="27432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SIZE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Funded-demand spine</a:t>
            </a:r>
          </a:p>
        </p:txBody>
      </p:sp>
      <p:sp>
        <p:nvSpPr>
          <p:cNvPr id="59" name="OpportunityOutput"/>
          <p:cNvSpPr txBox="1"/>
          <p:nvPr/>
        </p:nvSpPr>
        <p:spPr>
          <a:xfrm>
            <a:off x="9249607" y="2313432"/>
            <a:ext cx="2412682" cy="27432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MAP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Opportunities, vehicles and incumbents</a:t>
            </a:r>
          </a:p>
        </p:txBody>
      </p:sp>
      <p:sp>
        <p:nvSpPr>
          <p:cNvPr id="60" name="EndUserOutput"/>
          <p:cNvSpPr txBox="1"/>
          <p:nvPr/>
        </p:nvSpPr>
        <p:spPr>
          <a:xfrm>
            <a:off x="9249607" y="2615184"/>
            <a:ext cx="241268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END-USER READ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evidence, confidence-tagged</a:t>
            </a:r>
          </a:p>
        </p:txBody>
      </p:sp>
      <p:cxnSp>
        <p:nvCxnSpPr>
          <p:cNvPr id="61" name="BusToMarket"/>
          <p:cNvCxnSpPr/>
          <p:nvPr/>
        </p:nvCxnSpPr>
        <p:spPr>
          <a:xfrm>
            <a:off x="9030151" y="2139696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62" name="BusToOpportunity"/>
          <p:cNvCxnSpPr/>
          <p:nvPr/>
        </p:nvCxnSpPr>
        <p:spPr>
          <a:xfrm>
            <a:off x="9030151" y="2450592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63" name="BusToEndUser"/>
          <p:cNvCxnSpPr/>
          <p:nvPr/>
        </p:nvCxnSpPr>
        <p:spPr>
          <a:xfrm>
            <a:off x="9030151" y="2752344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graphicFrame>
        <p:nvGraphicFramePr>
          <p:cNvPr id="70" name="SourceRoleLegend"/>
          <p:cNvGraphicFramePr>
            <a:graphicFrameLocks noGrp="1"/>
          </p:cNvGraphicFramePr>
          <p:nvPr/>
        </p:nvGraphicFramePr>
        <p:xfrm>
          <a:off x="453079" y="3044952"/>
          <a:ext cx="11282362" cy="233172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55648"/>
                <a:gridCol w="1417320"/>
                <a:gridCol w="2743200"/>
                <a:gridCol w="2971800"/>
                <a:gridCol w="2394394"/>
              </a:tblGrid>
              <a:tr h="22479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 in workflow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Best answers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Caveat / rule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Slide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President's Budget / justification (P-1, R-1)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Forward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Funded by account, PE/BLI, color of money?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lines do not map to NAICS/PSC or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Funded-demand spine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 API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and vehicle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Awards/IDVs; parent-child structure; ceilings?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double-count vehicle and child orders; tag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Vehicle, incumbent and capacity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79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bridge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Transaction FY obligations; funding TAS?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 to procurement record; fields differ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bridge and FY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79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Subaward Reporting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Which reported suppliers sit under a prime?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Lagged/incomplete; separate from prime obligations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and workshare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enrichment sources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and pipeline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UEI/CAGE/NAICS; what is posted pre-award?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Registration/posting does not prove program relevance or award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segments and watchlist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79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FPDS Atom feed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Legacy 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does the older action feed show?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the future base; retiring FY2026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Lineage 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1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External program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End-user attribution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Who requires, tests, or fields the capability?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Cite and confidence-tag; place of performance is not proof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End-user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71" name="ValidationRailBackground"/>
          <p:cNvSpPr txBox="1"/>
          <p:nvPr/>
        </p:nvSpPr>
        <p:spPr>
          <a:xfrm>
            <a:off x="453079" y="5413248"/>
            <a:ext cx="11282362" cy="456752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2" name="ValidationRailFinding"/>
          <p:cNvSpPr txBox="1"/>
          <p:nvPr/>
        </p:nvSpPr>
        <p:spPr>
          <a:xfrm>
            <a:off x="453079" y="5413248"/>
            <a:ext cx="2880360" cy="456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IS THE METHOD.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errors come from mixed money universes or double counting. Award data names the buyer, not the user.</a:t>
            </a:r>
          </a:p>
        </p:txBody>
      </p:sp>
      <p:sp>
        <p:nvSpPr>
          <p:cNvPr id="73" name="ValidationRailRulesA"/>
          <p:cNvSpPr txBox="1"/>
          <p:nvPr/>
        </p:nvSpPr>
        <p:spPr>
          <a:xfrm>
            <a:off x="3333439" y="5413248"/>
            <a:ext cx="4160520" cy="456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>
              <a:lnSpc>
                <a:spcPct val="105000"/>
              </a:lnSpc>
              <a:buNone/>
            </a:pPr>
            <a:r>
              <a:rPr lang="en-US" sz="7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 IDs by source | Validate returned filters | Sum action obligations, not cumulative totals | Keep money universes separate</a:t>
            </a:r>
          </a:p>
        </p:txBody>
      </p:sp>
      <p:sp>
        <p:nvSpPr>
          <p:cNvPr id="74" name="ValidationRailRulesB"/>
          <p:cNvSpPr txBox="1"/>
          <p:nvPr/>
        </p:nvSpPr>
        <p:spPr>
          <a:xfrm>
            <a:off x="7493959" y="5413248"/>
            <a:ext cx="4241482" cy="456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>
              <a:lnSpc>
                <a:spcPct val="105000"/>
              </a:lnSpc>
              <a:buNone/>
            </a:pPr>
            <a:r>
              <a:rPr lang="en-US" sz="7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 the vehicle and child orders into one family | Reconcile SAM and USAspending | Tag source, date, measure, coverage and confidence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Contract Awards API; USAspending; SAM Acquisition Subaward Reporting; SAM Entity Management and Opportunities; President's Budget P-1 / R-1; external program and operational reporting; FPDS Atom (legacy validation, slated to retire FY2026) | As of 2026-06-22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Recompete Addressability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| A vehicle's last date to order sets the recompete clock, not its last task order's end date.</a:t>
            </a:r>
          </a:p>
        </p:txBody>
      </p:sp>
      <p:graphicFrame>
        <p:nvGraphicFramePr>
          <p:cNvPr id="10" name="RecompeteTimelineChart"/>
          <p:cNvGraphicFramePr/>
          <p:nvPr/>
        </p:nvGraphicFramePr>
        <p:xfrm>
          <a:off x="453079" y="2240280"/>
          <a:ext cx="5687568" cy="2871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LaneLabel_1"/>
          <p:cNvSpPr txBox="1"/>
          <p:nvPr/>
        </p:nvSpPr>
        <p:spPr>
          <a:xfrm>
            <a:off x="453079" y="2525053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Standalone definitive contract</a:t>
            </a:r>
          </a:p>
        </p:txBody>
      </p:sp>
      <p:sp>
        <p:nvSpPr>
          <p:cNvPr id="12" name="LaneLabel_2"/>
          <p:cNvSpPr txBox="1"/>
          <p:nvPr/>
        </p:nvSpPr>
        <p:spPr>
          <a:xfrm>
            <a:off x="453079" y="3040723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Single-award IDIQ</a:t>
            </a:r>
          </a:p>
        </p:txBody>
      </p:sp>
      <p:sp>
        <p:nvSpPr>
          <p:cNvPr id="13" name="LaneLabel_3"/>
          <p:cNvSpPr txBox="1"/>
          <p:nvPr/>
        </p:nvSpPr>
        <p:spPr>
          <a:xfrm>
            <a:off x="453079" y="3556393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Multiple-award IDIQ</a:t>
            </a:r>
          </a:p>
        </p:txBody>
      </p:sp>
      <p:sp>
        <p:nvSpPr>
          <p:cNvPr id="14" name="LaneLabel_4"/>
          <p:cNvSpPr txBox="1"/>
          <p:nvPr/>
        </p:nvSpPr>
        <p:spPr>
          <a:xfrm>
            <a:off x="453079" y="4072063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BPA</a:t>
            </a:r>
          </a:p>
        </p:txBody>
      </p:sp>
      <p:sp>
        <p:nvSpPr>
          <p:cNvPr id="15" name="LaneLabel_5"/>
          <p:cNvSpPr txBox="1"/>
          <p:nvPr/>
        </p:nvSpPr>
        <p:spPr>
          <a:xfrm>
            <a:off x="453079" y="4587733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</a:t>
            </a:r>
          </a:p>
        </p:txBody>
      </p:sp>
      <p:sp>
        <p:nvSpPr>
          <p:cNvPr id="16" name="ClockReframe"/>
          <p:cNvSpPr txBox="1"/>
          <p:nvPr/>
        </p:nvSpPr>
        <p:spPr>
          <a:xfrm>
            <a:off x="453079" y="1371600"/>
            <a:ext cx="7168896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Recompete is when authority to place new orders ends, not when the latest task order ends.</a:t>
            </a:r>
          </a:p>
          <a:p>
            <a:pPr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an Indefinite Delivery Vehicle (IDV), the parent's last date to order controls; orders placed during the ordering period can keep performing after it. Reading the latest child-order end as the recompete date is the common false signal.</a:t>
            </a:r>
          </a:p>
        </p:txBody>
      </p:sp>
      <p:cxnSp>
        <p:nvCxnSpPr>
          <p:cNvPr id="17" name="SectionDivider"/>
          <p:cNvCxnSpPr/>
          <p:nvPr/>
        </p:nvCxnSpPr>
        <p:spPr>
          <a:xfrm>
            <a:off x="7722559" y="1371600"/>
            <a:ext cx="1" cy="3858768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cxnSp>
        <p:nvCxnSpPr>
          <p:cNvPr id="18" name="TriggerLegendTick"/>
          <p:cNvCxnSpPr/>
          <p:nvPr/>
        </p:nvCxnSpPr>
        <p:spPr>
          <a:xfrm>
            <a:off x="3580327" y="2093976"/>
            <a:ext cx="1" cy="1645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sp>
        <p:nvSpPr>
          <p:cNvPr id="19" name="TriggerLegend"/>
          <p:cNvSpPr txBox="1"/>
          <p:nvPr/>
        </p:nvSpPr>
        <p:spPr>
          <a:xfrm>
            <a:off x="3671767" y="2048256"/>
            <a:ext cx="10698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8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last date to order
(recompete trigger)</a:t>
            </a:r>
          </a:p>
        </p:txBody>
      </p:sp>
      <p:sp>
        <p:nvSpPr>
          <p:cNvPr id="20" name="TailLegend"/>
          <p:cNvSpPr txBox="1"/>
          <p:nvPr/>
        </p:nvSpPr>
        <p:spPr>
          <a:xfrm>
            <a:off x="4750759" y="2048256"/>
            <a:ext cx="14447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child-order performance tail
(continues past the trigger)</a:t>
            </a:r>
          </a:p>
        </p:txBody>
      </p:sp>
      <p:cxnSp>
        <p:nvCxnSpPr>
          <p:cNvPr id="21" name="TimeAxis"/>
          <p:cNvCxnSpPr/>
          <p:nvPr/>
        </p:nvCxnSpPr>
        <p:spPr>
          <a:xfrm>
            <a:off x="1596280" y="2395728"/>
            <a:ext cx="4510241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cxnSp>
        <p:nvCxnSpPr>
          <p:cNvPr id="22" name="TodayLine"/>
          <p:cNvCxnSpPr/>
          <p:nvPr/>
        </p:nvCxnSpPr>
        <p:spPr>
          <a:xfrm>
            <a:off x="1596280" y="2368296"/>
            <a:ext cx="1" cy="2962656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</p:cxnSp>
      <p:cxnSp>
        <p:nvCxnSpPr>
          <p:cNvPr id="23" name="DecisionHorizonLine"/>
          <p:cNvCxnSpPr/>
          <p:nvPr/>
        </p:nvCxnSpPr>
        <p:spPr>
          <a:xfrm>
            <a:off x="5437944" y="2368296"/>
            <a:ext cx="1" cy="2962656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</p:cxnSp>
      <p:sp>
        <p:nvSpPr>
          <p:cNvPr id="24" name="TodayLabel"/>
          <p:cNvSpPr txBox="1"/>
          <p:nvPr/>
        </p:nvSpPr>
        <p:spPr>
          <a:xfrm>
            <a:off x="1358536" y="2176272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25" name="DecisionHorizonLabel"/>
          <p:cNvSpPr txBox="1"/>
          <p:nvPr/>
        </p:nvSpPr>
        <p:spPr>
          <a:xfrm>
            <a:off x="5017320" y="2414016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decision horizon</a:t>
            </a:r>
          </a:p>
        </p:txBody>
      </p:sp>
      <p:sp>
        <p:nvSpPr>
          <p:cNvPr id="26" name="BarLabel_Definitive"/>
          <p:cNvSpPr txBox="1"/>
          <p:nvPr/>
        </p:nvSpPr>
        <p:spPr>
          <a:xfrm>
            <a:off x="1596280" y="2685073"/>
            <a:ext cx="2292263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term</a:t>
            </a:r>
          </a:p>
        </p:txBody>
      </p:sp>
      <p:sp>
        <p:nvSpPr>
          <p:cNvPr id="27" name="ExtLabel_Definitive"/>
          <p:cNvSpPr txBox="1"/>
          <p:nvPr/>
        </p:nvSpPr>
        <p:spPr>
          <a:xfrm>
            <a:off x="3888543" y="2685073"/>
            <a:ext cx="1379603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option capacity</a:t>
            </a:r>
          </a:p>
        </p:txBody>
      </p:sp>
      <p:cxnSp>
        <p:nvCxnSpPr>
          <p:cNvPr id="28" name="Trigger_Definitive"/>
          <p:cNvCxnSpPr/>
          <p:nvPr/>
        </p:nvCxnSpPr>
        <p:spPr>
          <a:xfrm>
            <a:off x="3888543" y="257077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29" name="TriggerDrop_Definitive"/>
          <p:cNvCxnSpPr/>
          <p:nvPr/>
        </p:nvCxnSpPr>
        <p:spPr>
          <a:xfrm>
            <a:off x="3888543" y="2822233"/>
            <a:ext cx="1" cy="192024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30" name="RouteToGate_Definitive"/>
          <p:cNvCxnSpPr/>
          <p:nvPr/>
        </p:nvCxnSpPr>
        <p:spPr>
          <a:xfrm>
            <a:off x="3888543" y="3014257"/>
            <a:ext cx="2343544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1" name="BarLabel_SA_IDIQ"/>
          <p:cNvSpPr txBox="1"/>
          <p:nvPr/>
        </p:nvSpPr>
        <p:spPr>
          <a:xfrm>
            <a:off x="1596280" y="3200743"/>
            <a:ext cx="2133078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ordering period</a:t>
            </a:r>
          </a:p>
        </p:txBody>
      </p:sp>
      <p:sp>
        <p:nvSpPr>
          <p:cNvPr id="32" name="ChildLabel_SA_IDIQ"/>
          <p:cNvSpPr txBox="1"/>
          <p:nvPr/>
        </p:nvSpPr>
        <p:spPr>
          <a:xfrm>
            <a:off x="1596280" y="333333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33" name="ChildTail_SA_IDIQ_1"/>
          <p:cNvSpPr/>
          <p:nvPr/>
        </p:nvSpPr>
        <p:spPr>
          <a:xfrm>
            <a:off x="2148121" y="3342475"/>
            <a:ext cx="3268598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34" name="ChildTail_SA_IDIQ_2"/>
          <p:cNvSpPr/>
          <p:nvPr/>
        </p:nvSpPr>
        <p:spPr>
          <a:xfrm>
            <a:off x="3421601" y="3433915"/>
            <a:ext cx="2472673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35" name="Trigger_SA_IDIQ"/>
          <p:cNvCxnSpPr/>
          <p:nvPr/>
        </p:nvCxnSpPr>
        <p:spPr>
          <a:xfrm>
            <a:off x="4896715" y="308644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36" name="RouteToGate_SA_IDIQ"/>
          <p:cNvCxnSpPr/>
          <p:nvPr/>
        </p:nvCxnSpPr>
        <p:spPr>
          <a:xfrm>
            <a:off x="4896715" y="3269323"/>
            <a:ext cx="1335372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37" name="BarLabel_MA_IDIQ"/>
          <p:cNvSpPr txBox="1"/>
          <p:nvPr/>
        </p:nvSpPr>
        <p:spPr>
          <a:xfrm>
            <a:off x="1596280" y="3716413"/>
            <a:ext cx="1814708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vehicle</a:t>
            </a:r>
          </a:p>
        </p:txBody>
      </p:sp>
      <p:sp>
        <p:nvSpPr>
          <p:cNvPr id="38" name="ChildLabel_MA_IDIQ"/>
          <p:cNvSpPr txBox="1"/>
          <p:nvPr/>
        </p:nvSpPr>
        <p:spPr>
          <a:xfrm>
            <a:off x="1596280" y="384900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39" name="ChildTail_MA_IDIQ_1"/>
          <p:cNvSpPr/>
          <p:nvPr/>
        </p:nvSpPr>
        <p:spPr>
          <a:xfrm>
            <a:off x="2073834" y="3858145"/>
            <a:ext cx="3024515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0" name="ChildTail_MA_IDIQ_2"/>
          <p:cNvSpPr/>
          <p:nvPr/>
        </p:nvSpPr>
        <p:spPr>
          <a:xfrm>
            <a:off x="3082006" y="3949585"/>
            <a:ext cx="2875942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1" name="ChildTail_MA_IDIQ_3"/>
          <p:cNvSpPr/>
          <p:nvPr/>
        </p:nvSpPr>
        <p:spPr>
          <a:xfrm>
            <a:off x="3856706" y="4041025"/>
            <a:ext cx="2122467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42" name="Trigger_MA_IDIQ"/>
          <p:cNvCxnSpPr/>
          <p:nvPr/>
        </p:nvCxnSpPr>
        <p:spPr>
          <a:xfrm>
            <a:off x="4482834" y="360211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43" name="RouteToGate_MA_IDIQ"/>
          <p:cNvCxnSpPr/>
          <p:nvPr/>
        </p:nvCxnSpPr>
        <p:spPr>
          <a:xfrm>
            <a:off x="4482834" y="3784993"/>
            <a:ext cx="1749253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44" name="BarLabel_BPA"/>
          <p:cNvSpPr txBox="1"/>
          <p:nvPr/>
        </p:nvSpPr>
        <p:spPr>
          <a:xfrm>
            <a:off x="1596280" y="4232083"/>
            <a:ext cx="1634299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 / call period</a:t>
            </a:r>
          </a:p>
        </p:txBody>
      </p:sp>
      <p:sp>
        <p:nvSpPr>
          <p:cNvPr id="45" name="ChildLabel_BPA"/>
          <p:cNvSpPr txBox="1"/>
          <p:nvPr/>
        </p:nvSpPr>
        <p:spPr>
          <a:xfrm>
            <a:off x="1596280" y="436467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46" name="ChildTail_BPA_1"/>
          <p:cNvSpPr/>
          <p:nvPr/>
        </p:nvSpPr>
        <p:spPr>
          <a:xfrm>
            <a:off x="2254244" y="4373815"/>
            <a:ext cx="2929004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7" name="ChildTail_BPA_2"/>
          <p:cNvSpPr/>
          <p:nvPr/>
        </p:nvSpPr>
        <p:spPr>
          <a:xfrm>
            <a:off x="3294253" y="4465255"/>
            <a:ext cx="2578796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48" name="Trigger_BPA"/>
          <p:cNvCxnSpPr/>
          <p:nvPr/>
        </p:nvCxnSpPr>
        <p:spPr>
          <a:xfrm>
            <a:off x="4228138" y="411778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49" name="RouteToGate_BPA"/>
          <p:cNvCxnSpPr/>
          <p:nvPr/>
        </p:nvCxnSpPr>
        <p:spPr>
          <a:xfrm>
            <a:off x="4228138" y="4300663"/>
            <a:ext cx="2003949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50" name="BarLabel_OT"/>
          <p:cNvSpPr txBox="1"/>
          <p:nvPr/>
        </p:nvSpPr>
        <p:spPr>
          <a:xfrm>
            <a:off x="1596280" y="4747753"/>
            <a:ext cx="2239202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5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agreement-specific term</a:t>
            </a:r>
          </a:p>
        </p:txBody>
      </p:sp>
      <p:sp>
        <p:nvSpPr>
          <p:cNvPr id="51" name="ChildLabel_OT"/>
          <p:cNvSpPr txBox="1"/>
          <p:nvPr/>
        </p:nvSpPr>
        <p:spPr>
          <a:xfrm>
            <a:off x="1596280" y="4880341"/>
            <a:ext cx="4389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05000"/>
              </a:lnSpc>
              <a:buNone/>
            </a:pPr>
            <a:r>
              <a:rPr lang="en-US" sz="75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52" name="ChildTail_OT_1"/>
          <p:cNvSpPr/>
          <p:nvPr/>
        </p:nvSpPr>
        <p:spPr>
          <a:xfrm>
            <a:off x="2710574" y="4889485"/>
            <a:ext cx="3395947" cy="548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cxnSp>
        <p:nvCxnSpPr>
          <p:cNvPr id="53" name="Trigger_OT"/>
          <p:cNvCxnSpPr/>
          <p:nvPr/>
        </p:nvCxnSpPr>
        <p:spPr>
          <a:xfrm>
            <a:off x="5130186" y="4633453"/>
            <a:ext cx="1" cy="393192"/>
          </a:xfrm>
          <a:prstGeom prst="line">
            <a:avLst/>
          </a:prstGeom>
          <a:ln w="25400">
            <a:solidFill>
              <a:srgbClr val="6E91B1"/>
            </a:solidFill>
          </a:ln>
        </p:spPr>
      </p:cxnSp>
      <p:cxnSp>
        <p:nvCxnSpPr>
          <p:cNvPr id="54" name="RouteToGate_OT"/>
          <p:cNvCxnSpPr/>
          <p:nvPr/>
        </p:nvCxnSpPr>
        <p:spPr>
          <a:xfrm>
            <a:off x="5130186" y="4816333"/>
            <a:ext cx="1101901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55" name="StandaloneDecisionLabel"/>
          <p:cNvSpPr txBox="1"/>
          <p:nvPr/>
        </p:nvSpPr>
        <p:spPr>
          <a:xfrm>
            <a:off x="3513639" y="2771941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option decision</a:t>
            </a:r>
          </a:p>
        </p:txBody>
      </p:sp>
      <p:sp>
        <p:nvSpPr>
          <p:cNvPr id="56" name="StandaloneUltimateLabel"/>
          <p:cNvSpPr txBox="1"/>
          <p:nvPr/>
        </p:nvSpPr>
        <p:spPr>
          <a:xfrm>
            <a:off x="4847522" y="2771941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ultimate end</a:t>
            </a:r>
          </a:p>
        </p:txBody>
      </p:sp>
      <p:sp>
        <p:nvSpPr>
          <p:cNvPr id="57" name="AddressableBadge"/>
          <p:cNvSpPr txBox="1"/>
          <p:nvPr/>
        </p:nvSpPr>
        <p:spPr>
          <a:xfrm>
            <a:off x="6232087" y="2359152"/>
            <a:ext cx="1444752" cy="36576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none" anchor="ctr" lIns="36576" tIns="9144" rIns="36576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ADDRESSABLE?</a:t>
            </a:r>
          </a:p>
        </p:txBody>
      </p:sp>
      <p:sp>
        <p:nvSpPr>
          <p:cNvPr id="58" name="AddressableGuardrail"/>
          <p:cNvSpPr txBox="1"/>
          <p:nvPr/>
        </p:nvSpPr>
        <p:spPr>
          <a:xfrm>
            <a:off x="6232087" y="2724912"/>
            <a:ext cx="1444752" cy="2414016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114300" tIns="76200" rIns="114300" bIns="76200"/>
          <a:lstStyle/>
          <a:p>
            <a:pPr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Expired does not mean addressable.</a:t>
            </a:r>
          </a:p>
          <a:p>
            <a:pPr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SUCCESSOR CHECK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 a follow-on already been awarded? If yes, classify it as superseded, not overdue.</a:t>
            </a:r>
          </a:p>
          <a:p>
            <a:pPr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ACCESS CHECK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the company compete? FAR 16.505 may limit the next order to existing vehicle holders.</a:t>
            </a:r>
          </a:p>
        </p:txBody>
      </p:sp>
      <p:sp>
        <p:nvSpPr>
          <p:cNvPr id="59" name="VehicleClockTableCaption"/>
          <p:cNvSpPr txBox="1"/>
          <p:nvPr/>
        </p:nvSpPr>
        <p:spPr>
          <a:xfrm>
            <a:off x="7804855" y="1371600"/>
            <a:ext cx="3930586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5000"/>
              </a:lnSpc>
              <a:buNone/>
            </a:pPr>
            <a:r>
              <a:rPr lang="en-US" sz="700" b="0" i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Charted vehicles first; the two (not charted) cases are reference-only.</a:t>
            </a:r>
          </a:p>
        </p:txBody>
      </p:sp>
      <p:graphicFrame>
        <p:nvGraphicFramePr>
          <p:cNvPr id="60" name="VehicleClockRules"/>
          <p:cNvGraphicFramePr>
            <a:graphicFrameLocks noGrp="1"/>
          </p:cNvGraphicFramePr>
          <p:nvPr/>
        </p:nvGraphicFramePr>
        <p:xfrm>
          <a:off x="7804855" y="1517904"/>
          <a:ext cx="3930586" cy="28575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51560"/>
                <a:gridCol w="960120"/>
                <a:gridCol w="658368"/>
                <a:gridCol w="1260538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 type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Recompete clock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Standalone definitive contract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and ultimate completion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may be an option decision; ultimate is outer horizon.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Single-award IDIQ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last date to order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Child orders may perform past the trigger.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Multiple-award IDIQ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 last date to order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6E91B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Follow-on order may be holders-only.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Blanket Purchase Agreement (BPA)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Agreement or call-period logic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Inspect parent and call rules.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 Transaction (OT)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Agreement-specific terms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Read governing agreement; validate externally.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Task or delivery order  (not charted)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Child ultimate completion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Child-level follow-on may be holders-only.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43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1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Basic Ordering Agreement (BOA)  (not charted)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Nominal agreement end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contract; not a guaranteed recompete.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1" name="GateToStateClassification"/>
          <p:cNvCxnSpPr/>
          <p:nvPr/>
        </p:nvCxnSpPr>
        <p:spPr>
          <a:xfrm>
            <a:off x="7676839" y="4754880"/>
            <a:ext cx="128016" cy="1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62" name="StateHeader"/>
          <p:cNvSpPr txBox="1"/>
          <p:nvPr/>
        </p:nvSpPr>
        <p:spPr>
          <a:xfrm>
            <a:off x="7804855" y="4654296"/>
            <a:ext cx="3930586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STATE, AFTER BOTH GATES</a:t>
            </a:r>
          </a:p>
        </p:txBody>
      </p:sp>
      <p:sp>
        <p:nvSpPr>
          <p:cNvPr id="63" name="StateChip1"/>
          <p:cNvSpPr txBox="1"/>
          <p:nvPr/>
        </p:nvSpPr>
        <p:spPr>
          <a:xfrm>
            <a:off x="7804855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now</a:t>
            </a:r>
          </a:p>
        </p:txBody>
      </p:sp>
      <p:sp>
        <p:nvSpPr>
          <p:cNvPr id="64" name="StateChip2"/>
          <p:cNvSpPr txBox="1"/>
          <p:nvPr/>
        </p:nvSpPr>
        <p:spPr>
          <a:xfrm>
            <a:off x="9133338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 decision</a:t>
            </a:r>
          </a:p>
        </p:txBody>
      </p:sp>
      <p:sp>
        <p:nvSpPr>
          <p:cNvPr id="65" name="StateChip3"/>
          <p:cNvSpPr txBox="1"/>
          <p:nvPr/>
        </p:nvSpPr>
        <p:spPr>
          <a:xfrm>
            <a:off x="10461821" y="49103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upcoming</a:t>
            </a:r>
          </a:p>
        </p:txBody>
      </p:sp>
      <p:sp>
        <p:nvSpPr>
          <p:cNvPr id="66" name="StateChip4"/>
          <p:cNvSpPr txBox="1"/>
          <p:nvPr/>
        </p:nvSpPr>
        <p:spPr>
          <a:xfrm>
            <a:off x="7804855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Holders-only</a:t>
            </a:r>
          </a:p>
        </p:txBody>
      </p:sp>
      <p:sp>
        <p:nvSpPr>
          <p:cNvPr id="67" name="StateChip5"/>
          <p:cNvSpPr txBox="1"/>
          <p:nvPr/>
        </p:nvSpPr>
        <p:spPr>
          <a:xfrm>
            <a:off x="9133338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Superseded</a:t>
            </a:r>
          </a:p>
        </p:txBody>
      </p:sp>
      <p:sp>
        <p:nvSpPr>
          <p:cNvPr id="68" name="StateChip6"/>
          <p:cNvSpPr txBox="1"/>
          <p:nvPr/>
        </p:nvSpPr>
        <p:spPr>
          <a:xfrm>
            <a:off x="10461821" y="5138928"/>
            <a:ext cx="1273619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required</a:t>
            </a:r>
          </a:p>
        </p:txBody>
      </p:sp>
      <p:cxnSp>
        <p:nvCxnSpPr>
          <p:cNvPr id="69" name="CaveatRailRule"/>
          <p:cNvCxnSpPr/>
          <p:nvPr/>
        </p:nvCxnSpPr>
        <p:spPr>
          <a:xfrm>
            <a:off x="453079" y="5394960"/>
            <a:ext cx="11282362" cy="1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70" name="CaveatRail"/>
          <p:cNvSpPr txBox="1"/>
          <p:nvPr/>
        </p:nvSpPr>
        <p:spPr>
          <a:xfrm>
            <a:off x="453079" y="5422392"/>
            <a:ext cx="1128236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Timing is one of four reads; </a:t>
            </a: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recurrence, authority, competition route, and bidder eligibility remain separate.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Timing confidence varies by vehicle type | A Basic Ordering Agreement (BOA) nominal end is not a guaranteed recompete | A later Procurement Instrument Identifier (PIID) may already be the successor | Option value is capacity, not guaranteed revenue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Contract Awards API; FAR 16.505, 16.703, 17.207; FPDS and internal Army Market Mapping workbook. Figures illustrative of method; as of 2026-06-22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Obligated and Unobligated Value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Obligated vs. Unobligated | Unobligated ceiling is capacity already inside awarded vehicles, not unspent budget authority.</a:t>
            </a:r>
          </a:p>
        </p:txBody>
      </p:sp>
      <p:sp>
        <p:nvSpPr>
          <p:cNvPr id="10" name="MoneyMeasuresFinding"/>
          <p:cNvSpPr txBox="1"/>
          <p:nvPr/>
        </p:nvSpPr>
        <p:spPr>
          <a:xfrm>
            <a:off x="453079" y="1371600"/>
            <a:ext cx="7150608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contract-value measures, never summed.</a:t>
            </a:r>
          </a:p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Obligated, current value, and ceiling restate the same money. Only the per-action obligation stream is additive; sum it, never the cumulative snapshots.</a:t>
            </a:r>
          </a:p>
        </p:txBody>
      </p:sp>
      <p:sp>
        <p:nvSpPr>
          <p:cNvPr id="11" name="VehicleFamilyFrame"/>
          <p:cNvSpPr txBox="1"/>
          <p:nvPr/>
        </p:nvSpPr>
        <p:spPr>
          <a:xfrm>
            <a:off x="453079" y="1993392"/>
            <a:ext cx="5394960" cy="221284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VehicleFamilyCap"/>
          <p:cNvSpPr txBox="1"/>
          <p:nvPr/>
        </p:nvSpPr>
        <p:spPr>
          <a:xfrm>
            <a:off x="562807" y="2048256"/>
            <a:ext cx="3474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85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COLLAPSED VEHICLE FAMILY | parent, child orders, and modifications counted once</a:t>
            </a:r>
          </a:p>
        </p:txBody>
      </p:sp>
      <p:sp>
        <p:nvSpPr>
          <p:cNvPr id="13" name="CeilingOutline"/>
          <p:cNvSpPr txBox="1"/>
          <p:nvPr/>
        </p:nvSpPr>
        <p:spPr>
          <a:xfrm>
            <a:off x="663391" y="2331720"/>
            <a:ext cx="4892040" cy="141732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4" name="CurrentValueField"/>
          <p:cNvSpPr txBox="1"/>
          <p:nvPr/>
        </p:nvSpPr>
        <p:spPr>
          <a:xfrm>
            <a:off x="992575" y="2615184"/>
            <a:ext cx="4233672" cy="886968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" name="CeilingGapTop"/>
          <p:cNvSpPr/>
          <p:nvPr/>
        </p:nvSpPr>
        <p:spPr>
          <a:xfrm>
            <a:off x="663391" y="2331720"/>
            <a:ext cx="4892040" cy="283464"/>
          </a:xfrm>
          <a:prstGeom prst="rect">
            <a:avLst/>
          </a:prstGeom>
          <a:pattFill prst="dkUpDiag">
            <a:fgClr>
              <a:srgbClr val="646464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6" name="CeilingGapBottom"/>
          <p:cNvSpPr/>
          <p:nvPr/>
        </p:nvSpPr>
        <p:spPr>
          <a:xfrm>
            <a:off x="663391" y="3502152"/>
            <a:ext cx="4892040" cy="246888"/>
          </a:xfrm>
          <a:prstGeom prst="rect">
            <a:avLst/>
          </a:prstGeom>
          <a:pattFill prst="dkUpDiag">
            <a:fgClr>
              <a:srgbClr val="646464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7" name="CeilingGapLeft"/>
          <p:cNvSpPr/>
          <p:nvPr/>
        </p:nvSpPr>
        <p:spPr>
          <a:xfrm>
            <a:off x="663391" y="2615184"/>
            <a:ext cx="329184" cy="886968"/>
          </a:xfrm>
          <a:prstGeom prst="rect">
            <a:avLst/>
          </a:prstGeom>
          <a:pattFill prst="dkUpDiag">
            <a:fgClr>
              <a:srgbClr val="646464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8" name="CeilingGapRight"/>
          <p:cNvSpPr/>
          <p:nvPr/>
        </p:nvSpPr>
        <p:spPr>
          <a:xfrm>
            <a:off x="5226247" y="2615184"/>
            <a:ext cx="329184" cy="886968"/>
          </a:xfrm>
          <a:prstGeom prst="rect">
            <a:avLst/>
          </a:prstGeom>
          <a:pattFill prst="dkUpDiag">
            <a:fgClr>
              <a:srgbClr val="646464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19" name="CurrentGapTop"/>
          <p:cNvSpPr/>
          <p:nvPr/>
        </p:nvSpPr>
        <p:spPr>
          <a:xfrm>
            <a:off x="992575" y="2615184"/>
            <a:ext cx="4233672" cy="219456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F2F2F2"/>
            </a:bgClr>
          </a:pattFill>
          <a:ln>
            <a:noFill/>
          </a:ln>
        </p:spPr>
      </p:sp>
      <p:sp>
        <p:nvSpPr>
          <p:cNvPr id="20" name="CurrentGapBottom"/>
          <p:cNvSpPr/>
          <p:nvPr/>
        </p:nvSpPr>
        <p:spPr>
          <a:xfrm>
            <a:off x="992575" y="3364992"/>
            <a:ext cx="4233672" cy="137160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F2F2F2"/>
            </a:bgClr>
          </a:pattFill>
          <a:ln>
            <a:noFill/>
          </a:ln>
        </p:spPr>
      </p:sp>
      <p:sp>
        <p:nvSpPr>
          <p:cNvPr id="21" name="CurrentGapLeft"/>
          <p:cNvSpPr/>
          <p:nvPr/>
        </p:nvSpPr>
        <p:spPr>
          <a:xfrm>
            <a:off x="992575" y="2834640"/>
            <a:ext cx="393192" cy="530352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F2F2F2"/>
            </a:bgClr>
          </a:pattFill>
          <a:ln>
            <a:noFill/>
          </a:ln>
        </p:spPr>
      </p:sp>
      <p:sp>
        <p:nvSpPr>
          <p:cNvPr id="22" name="CurrentGapRight"/>
          <p:cNvSpPr/>
          <p:nvPr/>
        </p:nvSpPr>
        <p:spPr>
          <a:xfrm>
            <a:off x="4759903" y="2834640"/>
            <a:ext cx="466344" cy="530352"/>
          </a:xfrm>
          <a:prstGeom prst="rect">
            <a:avLst/>
          </a:prstGeom>
          <a:pattFill prst="ltUpDiag">
            <a:fgClr>
              <a:srgbClr val="7F7F7F"/>
            </a:fgClr>
            <a:bgClr>
              <a:srgbClr val="F2F2F2"/>
            </a:bgClr>
          </a:pattFill>
          <a:ln>
            <a:noFill/>
          </a:ln>
        </p:spPr>
      </p:sp>
      <p:sp>
        <p:nvSpPr>
          <p:cNvPr id="23" name="CeilingLabel"/>
          <p:cNvSpPr txBox="1"/>
          <p:nvPr/>
        </p:nvSpPr>
        <p:spPr>
          <a:xfrm>
            <a:off x="736543" y="2359152"/>
            <a:ext cx="21031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 | base and all options</a:t>
            </a:r>
          </a:p>
        </p:txBody>
      </p:sp>
      <p:sp>
        <p:nvSpPr>
          <p:cNvPr id="24" name="CurrentValueLabel"/>
          <p:cNvSpPr txBox="1"/>
          <p:nvPr/>
        </p:nvSpPr>
        <p:spPr>
          <a:xfrm>
            <a:off x="1065727" y="2642616"/>
            <a:ext cx="2651760" cy="201168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9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value | base and exercised options</a:t>
            </a:r>
          </a:p>
        </p:txBody>
      </p:sp>
      <p:sp>
        <p:nvSpPr>
          <p:cNvPr id="25" name="CumulativeObligationCore"/>
          <p:cNvSpPr txBox="1"/>
          <p:nvPr/>
        </p:nvSpPr>
        <p:spPr>
          <a:xfrm>
            <a:off x="1385767" y="2834640"/>
            <a:ext cx="3374136" cy="530352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6" name="CumulativeObligationLabel"/>
          <p:cNvSpPr txBox="1"/>
          <p:nvPr/>
        </p:nvSpPr>
        <p:spPr>
          <a:xfrm>
            <a:off x="1458919" y="2852928"/>
            <a:ext cx="3227832" cy="173736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l">
              <a:lnSpc>
                <a:spcPct val="100000"/>
              </a:lnSpc>
              <a:buNone/>
            </a:pPr>
            <a:r>
              <a:rPr lang="en-US" sz="8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Cumulative obligation (award) | executed</a:t>
            </a:r>
          </a:p>
        </p:txBody>
      </p:sp>
      <p:sp>
        <p:nvSpPr>
          <p:cNvPr id="27" name="ActionObligation1"/>
          <p:cNvSpPr txBox="1"/>
          <p:nvPr/>
        </p:nvSpPr>
        <p:spPr>
          <a:xfrm>
            <a:off x="147720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28" name="ActionObligation2"/>
          <p:cNvSpPr txBox="1"/>
          <p:nvPr/>
        </p:nvSpPr>
        <p:spPr>
          <a:xfrm>
            <a:off x="2124602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29" name="ActionObligation3"/>
          <p:cNvSpPr txBox="1"/>
          <p:nvPr/>
        </p:nvSpPr>
        <p:spPr>
          <a:xfrm>
            <a:off x="277199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30" name="ActionObligation4"/>
          <p:cNvSpPr txBox="1"/>
          <p:nvPr/>
        </p:nvSpPr>
        <p:spPr>
          <a:xfrm>
            <a:off x="3419392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1" name="ActionObligation5"/>
          <p:cNvSpPr txBox="1"/>
          <p:nvPr/>
        </p:nvSpPr>
        <p:spPr>
          <a:xfrm>
            <a:off x="4066787" y="3017520"/>
            <a:ext cx="601675" cy="18288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32" name="ActionStreamLabel"/>
          <p:cNvSpPr txBox="1"/>
          <p:nvPr/>
        </p:nvSpPr>
        <p:spPr>
          <a:xfrm>
            <a:off x="1458919" y="3209544"/>
            <a:ext cx="3227832" cy="137160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7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obligations (transactions) | ONLY ADDITIVE LAYER</a:t>
            </a:r>
          </a:p>
        </p:txBody>
      </p:sp>
      <p:sp>
        <p:nvSpPr>
          <p:cNvPr id="33" name="UnobligatedCapacityLabel"/>
          <p:cNvSpPr txBox="1"/>
          <p:nvPr/>
        </p:nvSpPr>
        <p:spPr>
          <a:xfrm>
            <a:off x="4110679" y="2039112"/>
            <a:ext cx="16642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UNOBLIGATED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75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= remaining capacity | indicative</a:t>
            </a:r>
          </a:p>
        </p:txBody>
      </p:sp>
      <p:cxnSp>
        <p:nvCxnSpPr>
          <p:cNvPr id="34" name="UnobligatedCapacityPointer"/>
          <p:cNvCxnSpPr/>
          <p:nvPr/>
        </p:nvCxnSpPr>
        <p:spPr>
          <a:xfrm>
            <a:off x="4942783" y="2313432"/>
            <a:ext cx="1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35" name="CapacityFormula"/>
          <p:cNvSpPr txBox="1"/>
          <p:nvPr/>
        </p:nvSpPr>
        <p:spPr>
          <a:xfrm>
            <a:off x="709111" y="3867912"/>
            <a:ext cx="4882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unobligated remaining capacity = parent ceiling minus family obligations (indicative)</a:t>
            </a:r>
          </a:p>
        </p:txBody>
      </p:sp>
      <p:sp>
        <p:nvSpPr>
          <p:cNvPr id="36" name="SeparateUniversesHeader"/>
          <p:cNvSpPr txBox="1"/>
          <p:nvPr/>
        </p:nvSpPr>
        <p:spPr>
          <a:xfrm>
            <a:off x="6049207" y="2020824"/>
            <a:ext cx="155448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UNIVERSES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not outer rings</a:t>
            </a:r>
          </a:p>
        </p:txBody>
      </p:sp>
      <p:sp>
        <p:nvSpPr>
          <p:cNvPr id="37" name="SeparateUniverse1"/>
          <p:cNvSpPr txBox="1"/>
          <p:nvPr/>
        </p:nvSpPr>
        <p:spPr>
          <a:xfrm>
            <a:off x="6049207" y="2478024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Outlay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disbursed</a:t>
            </a:r>
          </a:p>
        </p:txBody>
      </p:sp>
      <p:sp>
        <p:nvSpPr>
          <p:cNvPr id="38" name="SeparateUniverse2"/>
          <p:cNvSpPr txBox="1"/>
          <p:nvPr/>
        </p:nvSpPr>
        <p:spPr>
          <a:xfrm>
            <a:off x="6049207" y="2971800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demand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requested or enacted</a:t>
            </a:r>
          </a:p>
        </p:txBody>
      </p:sp>
      <p:sp>
        <p:nvSpPr>
          <p:cNvPr id="39" name="SeparateUniverse3"/>
          <p:cNvSpPr txBox="1"/>
          <p:nvPr/>
        </p:nvSpPr>
        <p:spPr>
          <a:xfrm>
            <a:off x="6049207" y="3465576"/>
            <a:ext cx="1554480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 flow</a:t>
            </a:r>
          </a:p>
        </p:txBody>
      </p:sp>
      <p:sp>
        <p:nvSpPr>
          <p:cNvPr id="40" name="SeparateUniverseCaption"/>
          <p:cNvSpPr txBox="1"/>
          <p:nvPr/>
        </p:nvSpPr>
        <p:spPr>
          <a:xfrm>
            <a:off x="6049207" y="399592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never summed with the nest</a:t>
            </a:r>
          </a:p>
        </p:txBody>
      </p:sp>
      <p:sp>
        <p:nvSpPr>
          <p:cNvPr id="41" name="CapacityNoteSwatch"/>
          <p:cNvSpPr/>
          <p:nvPr/>
        </p:nvSpPr>
        <p:spPr>
          <a:xfrm>
            <a:off x="453079" y="4379976"/>
            <a:ext cx="182880" cy="182880"/>
          </a:xfrm>
          <a:prstGeom prst="rect">
            <a:avLst/>
          </a:prstGeom>
          <a:pattFill prst="dkUpDiag">
            <a:fgClr>
              <a:srgbClr val="646464"/>
            </a:fgClr>
            <a:bgClr>
              <a:srgbClr val="E2E9EF"/>
            </a:bgClr>
          </a:pattFill>
          <a:ln>
            <a:noFill/>
          </a:ln>
        </p:spPr>
      </p:sp>
      <p:sp>
        <p:nvSpPr>
          <p:cNvPr id="42" name="CapacityInterpretation"/>
          <p:cNvSpPr txBox="1"/>
          <p:nvPr/>
        </p:nvSpPr>
        <p:spPr>
          <a:xfrm>
            <a:off x="718255" y="4325112"/>
            <a:ext cx="6885432" cy="8138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 the capacity once, and call it indicative.</a:t>
            </a:r>
          </a:p>
          <a:p>
            <a:pPr>
              <a:lnSpc>
                <a:spcPct val="100000"/>
              </a:lnSpc>
              <a:buNone/>
            </a:pPr>
            <a:r>
              <a:rPr lang="en-US" sz="850" dirty="0">
                <a:solidFill>
                  <a:srgbClr val="646464"/>
                </a:solidFill>
                <a:latin typeface="Arial"/>
                <a:ea typeface="Arial"/>
                <a:cs typeface="Arial"/>
              </a:rPr>
              <a:t>Collapse parent, child orders, and modifications into one family before reading the gap. A ceiling may be shared across many holders and never used, so the gap is an opportunity indicator, not pipeline value.</a:t>
            </a:r>
          </a:p>
        </p:txBody>
      </p:sp>
      <p:sp>
        <p:nvSpPr>
          <p:cNvPr id="43" name="TwoSensesCard"/>
          <p:cNvSpPr txBox="1"/>
          <p:nvPr/>
        </p:nvSpPr>
        <p:spPr>
          <a:xfrm>
            <a:off x="7768279" y="1371600"/>
            <a:ext cx="3967162" cy="1188720"/>
          </a:xfrm>
          <a:prstGeom prst="rect">
            <a:avLst/>
          </a:prstGeom>
          <a:solidFill>
            <a:srgbClr val="E2E9EF"/>
          </a:solidFill>
          <a:ln w="1905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4" name="TwoSensesHeadline"/>
          <p:cNvSpPr txBox="1"/>
          <p:nvPr/>
        </p:nvSpPr>
        <p:spPr>
          <a:xfrm>
            <a:off x="7878007" y="1444752"/>
            <a:ext cx="374770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"Unobligated" has two senses; this slide means the contract one.</a:t>
            </a:r>
          </a:p>
        </p:txBody>
      </p:sp>
      <p:sp>
        <p:nvSpPr>
          <p:cNvPr id="45" name="ContractSense"/>
          <p:cNvSpPr txBox="1"/>
          <p:nvPr/>
        </p:nvSpPr>
        <p:spPr>
          <a:xfrm>
            <a:off x="7878007" y="1828800"/>
            <a:ext cx="1828133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CONTRACT SENSE (THIS SLIDE)</a:t>
            </a:r>
          </a:p>
          <a:p>
            <a:pPr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ceiling not yet obligated; capacity already inside an IDIQ.</a:t>
            </a:r>
          </a:p>
        </p:txBody>
      </p:sp>
      <p:cxnSp>
        <p:nvCxnSpPr>
          <p:cNvPr id="46" name="TwoSensesDivider"/>
          <p:cNvCxnSpPr/>
          <p:nvPr/>
        </p:nvCxnSpPr>
        <p:spPr>
          <a:xfrm>
            <a:off x="9751860" y="1828800"/>
            <a:ext cx="1" cy="64008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47" name="BudgetSense"/>
          <p:cNvSpPr txBox="1"/>
          <p:nvPr/>
        </p:nvSpPr>
        <p:spPr>
          <a:xfrm>
            <a:off x="9843300" y="1828800"/>
            <a:ext cx="1828133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SENSE (NOT THIS SLIDE)</a:t>
            </a:r>
          </a:p>
          <a:p>
            <a:pPr>
              <a:lnSpc>
                <a:spcPct val="9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Appropriated authority not yet placed on contract. Different number, different universe.</a:t>
            </a:r>
          </a:p>
        </p:txBody>
      </p:sp>
      <p:sp>
        <p:nvSpPr>
          <p:cNvPr id="48" name="GlossaryTitle"/>
          <p:cNvSpPr txBox="1"/>
          <p:nvPr/>
        </p:nvSpPr>
        <p:spPr>
          <a:xfrm>
            <a:off x="7768279" y="2679192"/>
            <a:ext cx="39671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MONEY-MEASURES GLOSSARY | nested contract measures</a:t>
            </a:r>
          </a:p>
        </p:txBody>
      </p:sp>
      <p:graphicFrame>
        <p:nvGraphicFramePr>
          <p:cNvPr id="49" name="MoneyMeasuresGlossary"/>
          <p:cNvGraphicFramePr>
            <a:graphicFrameLocks noGrp="1"/>
          </p:cNvGraphicFramePr>
          <p:nvPr/>
        </p:nvGraphicFramePr>
        <p:xfrm>
          <a:off x="7768279" y="2916936"/>
          <a:ext cx="3967162" cy="221284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822960"/>
                <a:gridCol w="960120"/>
                <a:gridCol w="960120"/>
                <a:gridCol w="1223962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is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it appears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 misread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Action obligation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transaction or modification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action and transaction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Summing cumulative snapshots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obligation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Restated running total to date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record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Treating each restatement as new money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and exercised options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 value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Reading it as the ceiling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Potential / ceiling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and all options; maximum authority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 ceiling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00" b="0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Treating ceiling as funded or guaranteed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MoneyDisciplineRail"/>
          <p:cNvSpPr txBox="1"/>
          <p:nvPr/>
        </p:nvSpPr>
        <p:spPr>
          <a:xfrm>
            <a:off x="453079" y="5276088"/>
            <a:ext cx="11282362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MoneyDiscipline1"/>
          <p:cNvSpPr txBox="1"/>
          <p:nvPr/>
        </p:nvSpPr>
        <p:spPr>
          <a:xfrm>
            <a:off x="453079" y="5276088"/>
            <a:ext cx="151790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 action obligations only</a:t>
            </a:r>
          </a:p>
        </p:txBody>
      </p:sp>
      <p:cxnSp>
        <p:nvCxnSpPr>
          <p:cNvPr id="52" name="MoneyDisciplineDivider1"/>
          <p:cNvCxnSpPr/>
          <p:nvPr/>
        </p:nvCxnSpPr>
        <p:spPr>
          <a:xfrm>
            <a:off x="1970983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3" name="MoneyDiscipline2"/>
          <p:cNvSpPr txBox="1"/>
          <p:nvPr/>
        </p:nvSpPr>
        <p:spPr>
          <a:xfrm>
            <a:off x="1970983" y="5276088"/>
            <a:ext cx="1755648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Never sum cumulative snapshots</a:t>
            </a:r>
          </a:p>
        </p:txBody>
      </p:sp>
      <p:cxnSp>
        <p:nvCxnSpPr>
          <p:cNvPr id="54" name="MoneyDisciplineDivider2"/>
          <p:cNvCxnSpPr/>
          <p:nvPr/>
        </p:nvCxnSpPr>
        <p:spPr>
          <a:xfrm>
            <a:off x="3726631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5" name="MoneyDiscipline3"/>
          <p:cNvSpPr txBox="1"/>
          <p:nvPr/>
        </p:nvSpPr>
        <p:spPr>
          <a:xfrm>
            <a:off x="3726631" y="5276088"/>
            <a:ext cx="3273552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obligations, current value, ceiling, outlays, budget demand, and subawards separate</a:t>
            </a:r>
          </a:p>
        </p:txBody>
      </p:sp>
      <p:cxnSp>
        <p:nvCxnSpPr>
          <p:cNvPr id="56" name="MoneyDisciplineDivider3"/>
          <p:cNvCxnSpPr/>
          <p:nvPr/>
        </p:nvCxnSpPr>
        <p:spPr>
          <a:xfrm>
            <a:off x="7000183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7" name="MoneyDiscipline4"/>
          <p:cNvSpPr txBox="1"/>
          <p:nvPr/>
        </p:nvSpPr>
        <p:spPr>
          <a:xfrm>
            <a:off x="7000183" y="5276088"/>
            <a:ext cx="22677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 the vehicle and its children into one family</a:t>
            </a:r>
          </a:p>
        </p:txBody>
      </p:sp>
      <p:cxnSp>
        <p:nvCxnSpPr>
          <p:cNvPr id="58" name="MoneyDisciplineDivider4"/>
          <p:cNvCxnSpPr/>
          <p:nvPr/>
        </p:nvCxnSpPr>
        <p:spPr>
          <a:xfrm>
            <a:off x="9267895" y="5349240"/>
            <a:ext cx="1" cy="438912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59" name="MoneyDiscipline5"/>
          <p:cNvSpPr txBox="1"/>
          <p:nvPr/>
        </p:nvSpPr>
        <p:spPr>
          <a:xfrm>
            <a:off x="9267895" y="5276088"/>
            <a:ext cx="2467546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tIns="27432" rIns="54864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 and option value are not guaranteed revenue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Ceiling and current value: SAM.gov Contract Awards API; action-level obligations and outlays: USAspending transactions, reconciled with FPDS lineage; family roll-up and worked figures: internal Army Market Mapping workbook | Note: Then-year dollars; figures illustrative of method; as of 2026-06-22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Sources and Validation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Sourcing | SAM Contract Awards anchors the pull; funding and subaward layers enrich it, and validation precedes any total.</a:t>
            </a:r>
          </a:p>
        </p:txBody>
      </p:sp>
      <p:sp>
        <p:nvSpPr>
          <p:cNvPr id="10" name="PullBand"/>
          <p:cNvSpPr txBox="1"/>
          <p:nvPr/>
        </p:nvSpPr>
        <p:spPr>
          <a:xfrm>
            <a:off x="453079" y="2537236"/>
            <a:ext cx="2423160" cy="1636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" name="EnrichBand"/>
          <p:cNvSpPr txBox="1"/>
          <p:nvPr/>
        </p:nvSpPr>
        <p:spPr>
          <a:xfrm>
            <a:off x="2876239" y="2537236"/>
            <a:ext cx="4572000" cy="1636776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" name="ValidateBand"/>
          <p:cNvSpPr txBox="1"/>
          <p:nvPr/>
        </p:nvSpPr>
        <p:spPr>
          <a:xfrm>
            <a:off x="7448239" y="2537236"/>
            <a:ext cx="1417320" cy="1636776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3" name="PullLabel"/>
          <p:cNvSpPr txBox="1"/>
          <p:nvPr/>
        </p:nvSpPr>
        <p:spPr>
          <a:xfrm>
            <a:off x="526231" y="2546380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4" name="EnrichLabel"/>
          <p:cNvSpPr txBox="1"/>
          <p:nvPr/>
        </p:nvSpPr>
        <p:spPr>
          <a:xfrm>
            <a:off x="2949391" y="2546380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5" name="ValidateLabel"/>
          <p:cNvSpPr txBox="1"/>
          <p:nvPr/>
        </p:nvSpPr>
        <p:spPr>
          <a:xfrm>
            <a:off x="7521391" y="2546380"/>
            <a:ext cx="804672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OutputsLabel"/>
          <p:cNvSpPr txBox="1"/>
          <p:nvPr/>
        </p:nvSpPr>
        <p:spPr>
          <a:xfrm>
            <a:off x="9258751" y="2546380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7" name="ModernBaseNote"/>
          <p:cNvSpPr txBox="1"/>
          <p:nvPr/>
        </p:nvSpPr>
        <p:spPr>
          <a:xfrm>
            <a:off x="562807" y="2710972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36576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modern base pull is SAM Contract Awards, not the FPDS Atom feed.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FPDS remains useful for legacy lineage and per-action validation; the workflow does not depend on a feed slated to retire in FY2026.</a:t>
            </a:r>
          </a:p>
        </p:txBody>
      </p:sp>
      <p:sp>
        <p:nvSpPr>
          <p:cNvPr id="20" name="Step3"/>
          <p:cNvSpPr txBox="1"/>
          <p:nvPr/>
        </p:nvSpPr>
        <p:spPr>
          <a:xfrm>
            <a:off x="3086551" y="2692684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Verb3"/>
          <p:cNvSpPr txBox="1"/>
          <p:nvPr/>
        </p:nvSpPr>
        <p:spPr>
          <a:xfrm>
            <a:off x="3283147" y="269268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2" name="Step4"/>
          <p:cNvSpPr txBox="1"/>
          <p:nvPr/>
        </p:nvSpPr>
        <p:spPr>
          <a:xfrm>
            <a:off x="4202119" y="2692684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Verb4"/>
          <p:cNvSpPr txBox="1"/>
          <p:nvPr/>
        </p:nvSpPr>
        <p:spPr>
          <a:xfrm>
            <a:off x="4398715" y="269268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24" name="Step5"/>
          <p:cNvSpPr txBox="1"/>
          <p:nvPr/>
        </p:nvSpPr>
        <p:spPr>
          <a:xfrm>
            <a:off x="5317687" y="2692684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Verb5"/>
          <p:cNvSpPr txBox="1"/>
          <p:nvPr/>
        </p:nvSpPr>
        <p:spPr>
          <a:xfrm>
            <a:off x="5514283" y="269268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26" name="Step6"/>
          <p:cNvSpPr txBox="1"/>
          <p:nvPr/>
        </p:nvSpPr>
        <p:spPr>
          <a:xfrm>
            <a:off x="6433255" y="2692684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Verb6"/>
          <p:cNvSpPr txBox="1"/>
          <p:nvPr/>
        </p:nvSpPr>
        <p:spPr>
          <a:xfrm>
            <a:off x="6629851" y="269268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8" name="USAspending"/>
          <p:cNvSpPr txBox="1"/>
          <p:nvPr/>
        </p:nvSpPr>
        <p:spPr>
          <a:xfrm>
            <a:off x="2995111" y="2907568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USASPENDING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obligations, TAS</a:t>
            </a:r>
          </a:p>
        </p:txBody>
      </p:sp>
      <p:sp>
        <p:nvSpPr>
          <p:cNvPr id="29" name="VehicleFamilies"/>
          <p:cNvSpPr txBox="1"/>
          <p:nvPr/>
        </p:nvSpPr>
        <p:spPr>
          <a:xfrm>
            <a:off x="4110679" y="2907568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FAMILY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Parent/child orders</a:t>
            </a:r>
          </a:p>
        </p:txBody>
      </p:sp>
      <p:sp>
        <p:nvSpPr>
          <p:cNvPr id="30" name="Subawards"/>
          <p:cNvSpPr txBox="1"/>
          <p:nvPr/>
        </p:nvSpPr>
        <p:spPr>
          <a:xfrm>
            <a:off x="5226247" y="2907568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SUBAWARDS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suppliers</a:t>
            </a:r>
          </a:p>
        </p:txBody>
      </p:sp>
      <p:sp>
        <p:nvSpPr>
          <p:cNvPr id="31" name="EntityManagement"/>
          <p:cNvSpPr txBox="1"/>
          <p:nvPr/>
        </p:nvSpPr>
        <p:spPr>
          <a:xfrm>
            <a:off x="6341815" y="2907568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ENTITY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/ CAGE / NAICS</a:t>
            </a:r>
          </a:p>
        </p:txBody>
      </p:sp>
      <p:sp>
        <p:nvSpPr>
          <p:cNvPr id="32" name="USAspendingComment"/>
          <p:cNvSpPr txBox="1"/>
          <p:nvPr/>
        </p:nvSpPr>
        <p:spPr>
          <a:xfrm>
            <a:off x="2995111" y="3255040"/>
            <a:ext cx="1417320" cy="36118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BRIDGE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 and TAS; reconcile to SAM.</a:t>
            </a:r>
          </a:p>
        </p:txBody>
      </p:sp>
      <p:sp>
        <p:nvSpPr>
          <p:cNvPr id="33" name="SubawardComment"/>
          <p:cNvSpPr txBox="1"/>
          <p:nvPr/>
        </p:nvSpPr>
        <p:spPr>
          <a:xfrm>
            <a:off x="5226247" y="3255040"/>
            <a:ext cx="1417320" cy="361188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QUESTION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Lagged first-tier only; never add to primes.</a:t>
            </a:r>
          </a:p>
        </p:txBody>
      </p:sp>
      <p:cxnSp>
        <p:nvCxnSpPr>
          <p:cNvPr id="34" name="USABoxToCard"/>
          <p:cNvCxnSpPr/>
          <p:nvPr/>
        </p:nvCxnSpPr>
        <p:spPr>
          <a:xfrm>
            <a:off x="3507175" y="3213892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35" name="USACardToSpine"/>
          <p:cNvCxnSpPr/>
          <p:nvPr/>
        </p:nvCxnSpPr>
        <p:spPr>
          <a:xfrm>
            <a:off x="3507175" y="3616228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6" name="VehicleToSpine"/>
          <p:cNvCxnSpPr/>
          <p:nvPr/>
        </p:nvCxnSpPr>
        <p:spPr>
          <a:xfrm>
            <a:off x="4622743" y="3213892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7" name="SubawardBoxToCard"/>
          <p:cNvCxnSpPr/>
          <p:nvPr/>
        </p:nvCxnSpPr>
        <p:spPr>
          <a:xfrm>
            <a:off x="5738311" y="3213892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38" name="SubawardCardToSpine"/>
          <p:cNvCxnSpPr/>
          <p:nvPr/>
        </p:nvCxnSpPr>
        <p:spPr>
          <a:xfrm>
            <a:off x="5738311" y="3616228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39" name="EntityToSpine"/>
          <p:cNvCxnSpPr/>
          <p:nvPr/>
        </p:nvCxnSpPr>
        <p:spPr>
          <a:xfrm>
            <a:off x="6853879" y="3213892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40" name="DefineMarketSpine"/>
          <p:cNvSpPr txBox="1"/>
          <p:nvPr/>
        </p:nvSpPr>
        <p:spPr>
          <a:xfrm>
            <a:off x="544519" y="3634516"/>
            <a:ext cx="1078992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PE/BLI and money color</a:t>
            </a:r>
          </a:p>
        </p:txBody>
      </p:sp>
      <p:sp>
        <p:nvSpPr>
          <p:cNvPr id="41" name="SAMContractAwardsSpine"/>
          <p:cNvSpPr txBox="1"/>
          <p:nvPr/>
        </p:nvSpPr>
        <p:spPr>
          <a:xfrm>
            <a:off x="1842967" y="3634516"/>
            <a:ext cx="5285232" cy="310896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CONTRACT 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Primes, IDVs, orders/calls and ceiling</a:t>
            </a:r>
          </a:p>
        </p:txBody>
      </p:sp>
      <p:sp>
        <p:nvSpPr>
          <p:cNvPr id="42" name="Step1"/>
          <p:cNvSpPr txBox="1"/>
          <p:nvPr/>
        </p:nvSpPr>
        <p:spPr>
          <a:xfrm>
            <a:off x="635959" y="3419632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Verb1"/>
          <p:cNvSpPr txBox="1"/>
          <p:nvPr/>
        </p:nvSpPr>
        <p:spPr>
          <a:xfrm>
            <a:off x="832555" y="3419632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44" name="Step2"/>
          <p:cNvSpPr txBox="1"/>
          <p:nvPr/>
        </p:nvSpPr>
        <p:spPr>
          <a:xfrm>
            <a:off x="1934407" y="3419632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Verb2"/>
          <p:cNvSpPr txBox="1"/>
          <p:nvPr/>
        </p:nvSpPr>
        <p:spPr>
          <a:xfrm>
            <a:off x="2131003" y="3419632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cxnSp>
        <p:nvCxnSpPr>
          <p:cNvPr id="46" name="DefineToSpine"/>
          <p:cNvCxnSpPr/>
          <p:nvPr/>
        </p:nvCxnSpPr>
        <p:spPr>
          <a:xfrm>
            <a:off x="1623511" y="3789964"/>
            <a:ext cx="219456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47" name="ValidationGate"/>
          <p:cNvSpPr txBox="1"/>
          <p:nvPr/>
        </p:nvSpPr>
        <p:spPr>
          <a:xfrm>
            <a:off x="7512247" y="3232180"/>
            <a:ext cx="1353312" cy="877824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45000" tIns="22000" rIns="45000" bIns="18000"/>
          <a:lstStyle/>
          <a:p>
            <a:pPr algn="ctr">
              <a:lnSpc>
                <a:spcPct val="95000"/>
              </a:lnSpc>
              <a:buNone/>
            </a:pPr>
            <a:r>
              <a:rPr lang="en-US" sz="13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56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Tag source, vintage, measure, family and confidence</a:t>
            </a:r>
          </a:p>
        </p:txBody>
      </p:sp>
      <p:sp>
        <p:nvSpPr>
          <p:cNvPr id="48" name="Step7"/>
          <p:cNvSpPr txBox="1"/>
          <p:nvPr/>
        </p:nvSpPr>
        <p:spPr>
          <a:xfrm>
            <a:off x="7621975" y="3017296"/>
            <a:ext cx="164592" cy="164592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9" name="Verb7"/>
          <p:cNvSpPr txBox="1"/>
          <p:nvPr/>
        </p:nvSpPr>
        <p:spPr>
          <a:xfrm>
            <a:off x="7818571" y="301729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cxnSp>
        <p:nvCxnSpPr>
          <p:cNvPr id="50" name="SpineToGate"/>
          <p:cNvCxnSpPr/>
          <p:nvPr/>
        </p:nvCxnSpPr>
        <p:spPr>
          <a:xfrm>
            <a:off x="7128199" y="3789964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51" name="FPDSLegacy"/>
          <p:cNvSpPr txBox="1"/>
          <p:nvPr/>
        </p:nvSpPr>
        <p:spPr>
          <a:xfrm>
            <a:off x="4769047" y="3954556"/>
            <a:ext cx="2468880" cy="2011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35000" tIns="8000" rIns="35000" bIns="8000"/>
          <a:lstStyle/>
          <a:p>
            <a:pPr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FPDS ATOM | legacy lineage and validation; retiring FY2026</a:t>
            </a:r>
          </a:p>
        </p:txBody>
      </p:sp>
      <p:cxnSp>
        <p:nvCxnSpPr>
          <p:cNvPr id="52" name="FPDSToGate"/>
          <p:cNvCxnSpPr/>
          <p:nvPr/>
        </p:nvCxnSpPr>
        <p:spPr>
          <a:xfrm>
            <a:off x="7237927" y="4055140"/>
            <a:ext cx="274320" cy="0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53" name="ExternalProgramEvidence"/>
          <p:cNvSpPr txBox="1"/>
          <p:nvPr/>
        </p:nvSpPr>
        <p:spPr>
          <a:xfrm>
            <a:off x="9249607" y="2692684"/>
            <a:ext cx="2412682" cy="4297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EXTERNAL PROGRAM EVIDENCE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End-user, low confidence. Payer, buyer and user often differ; place of performance is not proof.</a:t>
            </a:r>
          </a:p>
        </p:txBody>
      </p:sp>
      <p:cxnSp>
        <p:nvCxnSpPr>
          <p:cNvPr id="54" name="ExternalEvidenceLeft"/>
          <p:cNvCxnSpPr/>
          <p:nvPr/>
        </p:nvCxnSpPr>
        <p:spPr>
          <a:xfrm flipH="1">
            <a:off x="8188903" y="2907568"/>
            <a:ext cx="106070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cxnSp>
        <p:nvCxnSpPr>
          <p:cNvPr id="55" name="ExternalEvidenceDown"/>
          <p:cNvCxnSpPr/>
          <p:nvPr/>
        </p:nvCxnSpPr>
        <p:spPr>
          <a:xfrm>
            <a:off x="8188903" y="2907568"/>
            <a:ext cx="0" cy="324612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56" name="GateToOutputBus"/>
          <p:cNvCxnSpPr/>
          <p:nvPr/>
        </p:nvCxnSpPr>
        <p:spPr>
          <a:xfrm>
            <a:off x="8865559" y="3671092"/>
            <a:ext cx="16459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57" name="OutputBus"/>
          <p:cNvCxnSpPr/>
          <p:nvPr/>
        </p:nvCxnSpPr>
        <p:spPr>
          <a:xfrm>
            <a:off x="9030151" y="3305332"/>
            <a:ext cx="0" cy="612648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8" name="MarketOutput"/>
          <p:cNvSpPr txBox="1"/>
          <p:nvPr/>
        </p:nvSpPr>
        <p:spPr>
          <a:xfrm>
            <a:off x="9249607" y="3168172"/>
            <a:ext cx="2412682" cy="27432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SIZE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Funded-demand spine</a:t>
            </a:r>
          </a:p>
        </p:txBody>
      </p:sp>
      <p:sp>
        <p:nvSpPr>
          <p:cNvPr id="59" name="OpportunityOutput"/>
          <p:cNvSpPr txBox="1"/>
          <p:nvPr/>
        </p:nvSpPr>
        <p:spPr>
          <a:xfrm>
            <a:off x="9249607" y="3479068"/>
            <a:ext cx="2412682" cy="27432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MAP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Opportunities, vehicles and incumbents</a:t>
            </a:r>
          </a:p>
        </p:txBody>
      </p:sp>
      <p:sp>
        <p:nvSpPr>
          <p:cNvPr id="60" name="EndUserOutput"/>
          <p:cNvSpPr txBox="1"/>
          <p:nvPr/>
        </p:nvSpPr>
        <p:spPr>
          <a:xfrm>
            <a:off x="9249607" y="3780820"/>
            <a:ext cx="241268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END-USER READ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evidence, confidence-tagged</a:t>
            </a:r>
          </a:p>
        </p:txBody>
      </p:sp>
      <p:cxnSp>
        <p:nvCxnSpPr>
          <p:cNvPr id="61" name="BusToMarket"/>
          <p:cNvCxnSpPr/>
          <p:nvPr/>
        </p:nvCxnSpPr>
        <p:spPr>
          <a:xfrm>
            <a:off x="9030151" y="3305332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62" name="BusToOpportunity"/>
          <p:cNvCxnSpPr/>
          <p:nvPr/>
        </p:nvCxnSpPr>
        <p:spPr>
          <a:xfrm>
            <a:off x="9030151" y="3616228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63" name="BusToEndUser"/>
          <p:cNvCxnSpPr/>
          <p:nvPr/>
        </p:nvCxnSpPr>
        <p:spPr>
          <a:xfrm>
            <a:off x="9030151" y="3917980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71" name="ValidationRailBackground"/>
          <p:cNvSpPr txBox="1"/>
          <p:nvPr/>
        </p:nvSpPr>
        <p:spPr>
          <a:xfrm>
            <a:off x="453079" y="5339648"/>
            <a:ext cx="11282362" cy="530352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2" name="ValidationRailFinding"/>
          <p:cNvSpPr txBox="1"/>
          <p:nvPr/>
        </p:nvSpPr>
        <p:spPr>
          <a:xfrm>
            <a:off x="453079" y="5339648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IS THE METHOD.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errors come from mixed money universes or double counting. Award data names the buyer, not the user.</a:t>
            </a:r>
          </a:p>
        </p:txBody>
      </p:sp>
      <p:sp>
        <p:nvSpPr>
          <p:cNvPr id="73" name="ValidationRailRule1"/>
          <p:cNvSpPr txBox="1"/>
          <p:nvPr/>
        </p:nvSpPr>
        <p:spPr>
          <a:xfrm>
            <a:off x="3333439" y="5339648"/>
            <a:ext cx="21005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 algn="ctr">
              <a:lnSpc>
                <a:spcPct val="105000"/>
              </a:lnSpc>
              <a:buNone/>
            </a:pPr>
            <a:r>
              <a:rPr lang="en-US" sz="7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 IDs by source</a:t>
            </a:r>
          </a:p>
        </p:txBody>
      </p:sp>
      <p:sp>
        <p:nvSpPr>
          <p:cNvPr id="74" name="ValidationRailRule2"/>
          <p:cNvSpPr txBox="1"/>
          <p:nvPr/>
        </p:nvSpPr>
        <p:spPr>
          <a:xfrm>
            <a:off x="5433939" y="5339648"/>
            <a:ext cx="21005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 algn="ctr">
              <a:lnSpc>
                <a:spcPct val="105000"/>
              </a:lnSpc>
              <a:buNone/>
            </a:pPr>
            <a:r>
              <a:rPr lang="en-US" sz="7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returned filters before totals</a:t>
            </a:r>
          </a:p>
        </p:txBody>
      </p:sp>
      <p:sp>
        <p:nvSpPr>
          <p:cNvPr id="75" name="ValidationRailRule3"/>
          <p:cNvSpPr txBox="1"/>
          <p:nvPr/>
        </p:nvSpPr>
        <p:spPr>
          <a:xfrm>
            <a:off x="7534439" y="5339648"/>
            <a:ext cx="21005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 algn="ctr">
              <a:lnSpc>
                <a:spcPct val="105000"/>
              </a:lnSpc>
              <a:buNone/>
            </a:pPr>
            <a:r>
              <a:rPr lang="en-US" sz="7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 action obligations, not cumulative snapshots</a:t>
            </a:r>
          </a:p>
        </p:txBody>
      </p:sp>
      <p:sp>
        <p:nvSpPr>
          <p:cNvPr id="76" name="ValidationRailRule4"/>
          <p:cNvSpPr txBox="1"/>
          <p:nvPr/>
        </p:nvSpPr>
        <p:spPr>
          <a:xfrm>
            <a:off x="9634939" y="5339648"/>
            <a:ext cx="2100502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1148" rIns="73152" bIns="27432"/>
          <a:lstStyle/>
          <a:p>
            <a:pPr algn="ctr">
              <a:lnSpc>
                <a:spcPct val="105000"/>
              </a:lnSpc>
              <a:buNone/>
            </a:pPr>
            <a:r>
              <a:rPr lang="en-US" sz="7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money universes separate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SAM.gov Contract Awards API; USAspending; SAM Acquisition Subaward Reporting; SAM Entity Management and Opportunities; President's Budget P-1 / R-1; external program and operational reporting; FPDS Atom (legacy validation, slated to retire FY2026) | As of 2026-06-22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deck_awards_methodology</Application>
  <PresentationFormat>Widescreen</PresentationFormat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Awards Methodology</dc:title>
  <dc:creator>deck_awards_methodology build_deck.py</dc:creator>
  <cp:lastModifiedBy>deck_awards_methodology build_deck.py</cp:lastModifiedBy>
  <cp:revision>1</cp:revision>
  <dcterms:created xsi:type="dcterms:W3CDTF">2026-06-23T18:33:00Z</dcterms:created>
  <dcterms:modified xsi:type="dcterms:W3CDTF">2026-06-23T18:33:00Z</dcterms:modified>
</cp:coreProperties>
</file>