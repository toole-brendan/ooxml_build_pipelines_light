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8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312"/>
          <c:y val="0.089"/>
          <c:w val="0.682"/>
          <c:h val="0.89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/ base term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2.16</c:v>
                </c:pt>
                <c:pt idx="1">
                  <c:v>2.01</c:v>
                </c:pt>
                <c:pt idx="2">
                  <c:v>1.71</c:v>
                </c:pt>
                <c:pt idx="3">
                  <c:v>1.54</c:v>
                </c:pt>
                <c:pt idx="4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Option / extension capacity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  <a:prstDash val="dash"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</c:v>
                </c:pt>
                <c:pt idx="1">
                  <c:v>1.1</c:v>
                </c:pt>
                <c:pt idx="2">
                  <c:v>1.01</c:v>
                </c:pt>
                <c:pt idx="3">
                  <c:v>0.94</c:v>
                </c:pt>
                <c:pt idx="4">
                  <c:v>1.22</c:v>
                </c:pt>
              </c:numCache>
            </c:numRef>
          </c:val>
        </c:ser>
        <c:gapWidth val="30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25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312"/>
          <c:y val="0.089"/>
          <c:w val="0.682"/>
          <c:h val="0.89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/ base term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2.16</c:v>
                </c:pt>
                <c:pt idx="1">
                  <c:v>2.01</c:v>
                </c:pt>
                <c:pt idx="2">
                  <c:v>1.71</c:v>
                </c:pt>
                <c:pt idx="3">
                  <c:v>1.54</c:v>
                </c:pt>
                <c:pt idx="4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Option / extension capacity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  <a:prstDash val="dash"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</c:v>
                </c:pt>
                <c:pt idx="1">
                  <c:v>1.1</c:v>
                </c:pt>
                <c:pt idx="2">
                  <c:v>1.01</c:v>
                </c:pt>
                <c:pt idx="3">
                  <c:v>0.94</c:v>
                </c:pt>
                <c:pt idx="4">
                  <c:v>1.22</c:v>
                </c:pt>
              </c:numCache>
            </c:numRef>
          </c:val>
        </c:ser>
        <c:gapWidth val="30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25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graphicFrame>
        <p:nvGraphicFramePr>
          <p:cNvPr id="10" name="RecompeteTimelineChart"/>
          <p:cNvGraphicFramePr/>
          <p:nvPr/>
        </p:nvGraphicFramePr>
        <p:xfrm>
          <a:off x="453079" y="2240280"/>
          <a:ext cx="5687568" cy="2871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LaneLabel_1"/>
          <p:cNvSpPr txBox="1"/>
          <p:nvPr/>
        </p:nvSpPr>
        <p:spPr>
          <a:xfrm>
            <a:off x="453079" y="252505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
contract</a:t>
            </a:r>
          </a:p>
        </p:txBody>
      </p:sp>
      <p:sp>
        <p:nvSpPr>
          <p:cNvPr id="12" name="LaneLabel_2"/>
          <p:cNvSpPr txBox="1"/>
          <p:nvPr/>
        </p:nvSpPr>
        <p:spPr>
          <a:xfrm>
            <a:off x="453079" y="304072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
Indefinite-Delivery/
Indefinite-Quantity (IDIQ)</a:t>
            </a:r>
          </a:p>
        </p:txBody>
      </p:sp>
      <p:sp>
        <p:nvSpPr>
          <p:cNvPr id="13" name="LaneLabel_3"/>
          <p:cNvSpPr txBox="1"/>
          <p:nvPr/>
        </p:nvSpPr>
        <p:spPr>
          <a:xfrm>
            <a:off x="453079" y="355639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
Indefinite-Delivery/
Indefinite-Quantity (IDIQ)</a:t>
            </a:r>
          </a:p>
        </p:txBody>
      </p:sp>
      <p:sp>
        <p:nvSpPr>
          <p:cNvPr id="14" name="LaneLabel_4"/>
          <p:cNvSpPr txBox="1"/>
          <p:nvPr/>
        </p:nvSpPr>
        <p:spPr>
          <a:xfrm>
            <a:off x="453079" y="407206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Blanket Purchase Agreement
(BPA)</a:t>
            </a:r>
          </a:p>
        </p:txBody>
      </p:sp>
      <p:sp>
        <p:nvSpPr>
          <p:cNvPr id="15" name="LaneLabel_5"/>
          <p:cNvSpPr txBox="1"/>
          <p:nvPr/>
        </p:nvSpPr>
        <p:spPr>
          <a:xfrm>
            <a:off x="453079" y="458773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Transaction (OT)
agreement</a:t>
            </a:r>
          </a:p>
        </p:txBody>
      </p:sp>
      <p:sp>
        <p:nvSpPr>
          <p:cNvPr id="16" name="ClockReframe"/>
          <p:cNvSpPr txBox="1"/>
          <p:nvPr/>
        </p:nvSpPr>
        <p:spPr>
          <a:xfrm>
            <a:off x="453079" y="1371600"/>
            <a:ext cx="7168896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7" name="SectionDivider"/>
          <p:cNvCxnSpPr/>
          <p:nvPr/>
        </p:nvCxnSpPr>
        <p:spPr>
          <a:xfrm>
            <a:off x="7722559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8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9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20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21" name="TimeAxis"/>
          <p:cNvCxnSpPr/>
          <p:nvPr/>
        </p:nvCxnSpPr>
        <p:spPr>
          <a:xfrm>
            <a:off x="2227600" y="2395728"/>
            <a:ext cx="387892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22" name="TodayLine"/>
          <p:cNvCxnSpPr/>
          <p:nvPr/>
        </p:nvCxnSpPr>
        <p:spPr>
          <a:xfrm>
            <a:off x="2227600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23" name="DecisionHorizonLine"/>
          <p:cNvCxnSpPr/>
          <p:nvPr/>
        </p:nvCxnSpPr>
        <p:spPr>
          <a:xfrm>
            <a:off x="5531528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24" name="TodayLabel"/>
          <p:cNvSpPr txBox="1"/>
          <p:nvPr/>
        </p:nvSpPr>
        <p:spPr>
          <a:xfrm>
            <a:off x="1989856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5" name="DecisionHorizonLabel"/>
          <p:cNvSpPr txBox="1"/>
          <p:nvPr/>
        </p:nvSpPr>
        <p:spPr>
          <a:xfrm>
            <a:off x="5110904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sp>
        <p:nvSpPr>
          <p:cNvPr id="26" name="BarLabel_Definitive"/>
          <p:cNvSpPr txBox="1"/>
          <p:nvPr/>
        </p:nvSpPr>
        <p:spPr>
          <a:xfrm>
            <a:off x="2227600" y="2685073"/>
            <a:ext cx="197140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ExtLabel_Definitive"/>
          <p:cNvSpPr txBox="1"/>
          <p:nvPr/>
        </p:nvSpPr>
        <p:spPr>
          <a:xfrm>
            <a:off x="4199004" y="2685073"/>
            <a:ext cx="118649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Trigger_Definitive"/>
          <p:cNvCxnSpPr/>
          <p:nvPr/>
        </p:nvCxnSpPr>
        <p:spPr>
          <a:xfrm>
            <a:off x="4199004" y="257077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29" name="TriggerDrop_Definitive"/>
          <p:cNvCxnSpPr/>
          <p:nvPr/>
        </p:nvCxnSpPr>
        <p:spPr>
          <a:xfrm>
            <a:off x="4199004" y="2822233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RouteToGate_Definitive"/>
          <p:cNvCxnSpPr/>
          <p:nvPr/>
        </p:nvCxnSpPr>
        <p:spPr>
          <a:xfrm>
            <a:off x="4199004" y="3014257"/>
            <a:ext cx="203308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1" name="BarLabel_SA_IDIQ"/>
          <p:cNvSpPr txBox="1"/>
          <p:nvPr/>
        </p:nvSpPr>
        <p:spPr>
          <a:xfrm>
            <a:off x="2227600" y="3200743"/>
            <a:ext cx="1834501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2" name="ChildLabel_SA_IDIQ"/>
          <p:cNvSpPr txBox="1"/>
          <p:nvPr/>
        </p:nvSpPr>
        <p:spPr>
          <a:xfrm>
            <a:off x="2227600" y="333333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3" name="ChildTail_SA_IDIQ_1"/>
          <p:cNvSpPr/>
          <p:nvPr/>
        </p:nvSpPr>
        <p:spPr>
          <a:xfrm>
            <a:off x="2702197" y="3342475"/>
            <a:ext cx="281107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4" name="ChildTail_SA_IDIQ_2"/>
          <p:cNvSpPr/>
          <p:nvPr/>
        </p:nvSpPr>
        <p:spPr>
          <a:xfrm>
            <a:off x="3797422" y="3433915"/>
            <a:ext cx="2126561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5" name="Trigger_SA_IDIQ"/>
          <p:cNvCxnSpPr/>
          <p:nvPr/>
        </p:nvCxnSpPr>
        <p:spPr>
          <a:xfrm>
            <a:off x="5066057" y="308644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6" name="RouteToGate_SA_IDIQ"/>
          <p:cNvCxnSpPr/>
          <p:nvPr/>
        </p:nvCxnSpPr>
        <p:spPr>
          <a:xfrm>
            <a:off x="5066057" y="3269323"/>
            <a:ext cx="116603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7" name="BarLabel_MA_IDIQ"/>
          <p:cNvSpPr txBox="1"/>
          <p:nvPr/>
        </p:nvSpPr>
        <p:spPr>
          <a:xfrm>
            <a:off x="2227600" y="3716413"/>
            <a:ext cx="1560695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38" name="ChildLabel_MA_IDIQ"/>
          <p:cNvSpPr txBox="1"/>
          <p:nvPr/>
        </p:nvSpPr>
        <p:spPr>
          <a:xfrm>
            <a:off x="2227600" y="384900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9" name="ChildTail_MA_IDIQ_1"/>
          <p:cNvSpPr/>
          <p:nvPr/>
        </p:nvSpPr>
        <p:spPr>
          <a:xfrm>
            <a:off x="2638309" y="3858145"/>
            <a:ext cx="2601159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0" name="ChildTail_MA_IDIQ_2"/>
          <p:cNvSpPr/>
          <p:nvPr/>
        </p:nvSpPr>
        <p:spPr>
          <a:xfrm>
            <a:off x="3505362" y="3949585"/>
            <a:ext cx="2473382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ChildTail_MA_IDIQ_3"/>
          <p:cNvSpPr/>
          <p:nvPr/>
        </p:nvSpPr>
        <p:spPr>
          <a:xfrm>
            <a:off x="4171623" y="4041025"/>
            <a:ext cx="1825375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2" name="Trigger_MA_IDIQ"/>
          <p:cNvCxnSpPr/>
          <p:nvPr/>
        </p:nvCxnSpPr>
        <p:spPr>
          <a:xfrm>
            <a:off x="4710109" y="360211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3" name="RouteToGate_MA_IDIQ"/>
          <p:cNvCxnSpPr/>
          <p:nvPr/>
        </p:nvCxnSpPr>
        <p:spPr>
          <a:xfrm>
            <a:off x="4710109" y="3784993"/>
            <a:ext cx="152197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4" name="BarLabel_BPA"/>
          <p:cNvSpPr txBox="1"/>
          <p:nvPr/>
        </p:nvSpPr>
        <p:spPr>
          <a:xfrm>
            <a:off x="2227600" y="4232083"/>
            <a:ext cx="140553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45" name="ChildLabel_BPA"/>
          <p:cNvSpPr txBox="1"/>
          <p:nvPr/>
        </p:nvSpPr>
        <p:spPr>
          <a:xfrm>
            <a:off x="2227600" y="436467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46" name="ChildTail_BPA_1"/>
          <p:cNvSpPr/>
          <p:nvPr/>
        </p:nvSpPr>
        <p:spPr>
          <a:xfrm>
            <a:off x="2793466" y="4373815"/>
            <a:ext cx="251901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ChildTail_BPA_2"/>
          <p:cNvSpPr/>
          <p:nvPr/>
        </p:nvSpPr>
        <p:spPr>
          <a:xfrm>
            <a:off x="3687899" y="4465255"/>
            <a:ext cx="221783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Trigger_BPA"/>
          <p:cNvCxnSpPr/>
          <p:nvPr/>
        </p:nvCxnSpPr>
        <p:spPr>
          <a:xfrm>
            <a:off x="4491064" y="411778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Gate_BPA"/>
          <p:cNvCxnSpPr/>
          <p:nvPr/>
        </p:nvCxnSpPr>
        <p:spPr>
          <a:xfrm>
            <a:off x="4491064" y="4300663"/>
            <a:ext cx="174102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BarLabel_OT"/>
          <p:cNvSpPr txBox="1"/>
          <p:nvPr/>
        </p:nvSpPr>
        <p:spPr>
          <a:xfrm>
            <a:off x="2227600" y="4747753"/>
            <a:ext cx="1925770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51" name="ChildLabel_OT"/>
          <p:cNvSpPr txBox="1"/>
          <p:nvPr/>
        </p:nvSpPr>
        <p:spPr>
          <a:xfrm>
            <a:off x="2227600" y="488034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52" name="ChildTail_OT_1"/>
          <p:cNvSpPr/>
          <p:nvPr/>
        </p:nvSpPr>
        <p:spPr>
          <a:xfrm>
            <a:off x="3185921" y="4889485"/>
            <a:ext cx="29206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3" name="Trigger_OT"/>
          <p:cNvCxnSpPr/>
          <p:nvPr/>
        </p:nvCxnSpPr>
        <p:spPr>
          <a:xfrm>
            <a:off x="5266848" y="463345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4" name="RouteToGate_OT"/>
          <p:cNvCxnSpPr/>
          <p:nvPr/>
        </p:nvCxnSpPr>
        <p:spPr>
          <a:xfrm>
            <a:off x="5266848" y="4816333"/>
            <a:ext cx="965239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5" name="StandaloneDecisionLabel"/>
          <p:cNvSpPr txBox="1"/>
          <p:nvPr/>
        </p:nvSpPr>
        <p:spPr>
          <a:xfrm>
            <a:off x="3824100" y="2771941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6" name="StandaloneUltimateLabel"/>
          <p:cNvSpPr txBox="1"/>
          <p:nvPr/>
        </p:nvSpPr>
        <p:spPr>
          <a:xfrm>
            <a:off x="4964874" y="2771941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sp>
        <p:nvSpPr>
          <p:cNvPr id="57" name="AddressableBadge"/>
          <p:cNvSpPr txBox="1"/>
          <p:nvPr/>
        </p:nvSpPr>
        <p:spPr>
          <a:xfrm>
            <a:off x="6232087" y="2359152"/>
            <a:ext cx="144475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36576" tIns="9144" rIns="36576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58" name="AddressableGuardrail"/>
          <p:cNvSpPr txBox="1"/>
          <p:nvPr/>
        </p:nvSpPr>
        <p:spPr>
          <a:xfrm>
            <a:off x="6232087" y="2724912"/>
            <a:ext cx="144475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Expired does not mean addressable.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graphicFrame>
        <p:nvGraphicFramePr>
          <p:cNvPr id="59" name="VehicleClockRules"/>
          <p:cNvGraphicFramePr>
            <a:graphicFrameLocks noGrp="1"/>
          </p:cNvGraphicFramePr>
          <p:nvPr/>
        </p:nvGraphicFramePr>
        <p:xfrm>
          <a:off x="7804855" y="1371600"/>
          <a:ext cx="3930586" cy="27660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51560"/>
                <a:gridCol w="960120"/>
                <a:gridCol w="658368"/>
                <a:gridCol w="126053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the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629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Indefinite-delivery / indefinite-quantity (IDIQ), single- or multiple-award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order; child end for holders-only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 (parent)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governs vehicle; child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Task order or delivery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Blanket Purchase Agreement (BPA)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Ordering Agreement (BOA)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Transaction (OT)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0" name="GateToStateClassification"/>
          <p:cNvCxnSpPr/>
          <p:nvPr/>
        </p:nvCxnSpPr>
        <p:spPr>
          <a:xfrm>
            <a:off x="7676839" y="4754880"/>
            <a:ext cx="12801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1" name="StateHeader"/>
          <p:cNvSpPr txBox="1"/>
          <p:nvPr/>
        </p:nvSpPr>
        <p:spPr>
          <a:xfrm>
            <a:off x="7804855" y="4654296"/>
            <a:ext cx="3930586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62" name="StateChip1"/>
          <p:cNvSpPr txBox="1"/>
          <p:nvPr/>
        </p:nvSpPr>
        <p:spPr>
          <a:xfrm>
            <a:off x="7804855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63" name="StateChip2"/>
          <p:cNvSpPr txBox="1"/>
          <p:nvPr/>
        </p:nvSpPr>
        <p:spPr>
          <a:xfrm>
            <a:off x="9133338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64" name="StateChip3"/>
          <p:cNvSpPr txBox="1"/>
          <p:nvPr/>
        </p:nvSpPr>
        <p:spPr>
          <a:xfrm>
            <a:off x="10461821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65" name="StateChip4"/>
          <p:cNvSpPr txBox="1"/>
          <p:nvPr/>
        </p:nvSpPr>
        <p:spPr>
          <a:xfrm>
            <a:off x="7804855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66" name="StateChip5"/>
          <p:cNvSpPr txBox="1"/>
          <p:nvPr/>
        </p:nvSpPr>
        <p:spPr>
          <a:xfrm>
            <a:off x="9133338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67" name="StateChip6"/>
          <p:cNvSpPr txBox="1"/>
          <p:nvPr/>
        </p:nvSpPr>
        <p:spPr>
          <a:xfrm>
            <a:off x="10461821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68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69" name="CaveatRail"/>
          <p:cNvSpPr txBox="1"/>
          <p:nvPr/>
        </p:nvSpPr>
        <p:spPr>
          <a:xfrm>
            <a:off x="453079" y="5422392"/>
            <a:ext cx="11282362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reads;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recurrence, authority, competition route, and bidder eligibility remain separate.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1371600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1371600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1371600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1380744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1380744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1545336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3086551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283147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202119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98715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317687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514283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433255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629851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2089404"/>
            <a:ext cx="1417320" cy="36118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2089404"/>
            <a:ext cx="1417320" cy="361188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2468880"/>
            <a:ext cx="107899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2468880"/>
            <a:ext cx="5285232" cy="310896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635959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832555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934407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131003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2624328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2066544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3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56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21975" y="1851660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18571" y="185166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2624328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2788920"/>
            <a:ext cx="2468880" cy="2011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2889504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1527048"/>
            <a:ext cx="2412682" cy="4297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1741932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1741932"/>
            <a:ext cx="0" cy="324612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2505456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2139696"/>
            <a:ext cx="0" cy="612648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2002536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2313432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2615184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2139696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245059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2752344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graphicFrame>
        <p:nvGraphicFramePr>
          <p:cNvPr id="70" name="SourceRoleLegend"/>
          <p:cNvGraphicFramePr>
            <a:graphicFrameLocks noGrp="1"/>
          </p:cNvGraphicFramePr>
          <p:nvPr/>
        </p:nvGraphicFramePr>
        <p:xfrm>
          <a:off x="453079" y="3044952"/>
          <a:ext cx="11282362" cy="23317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55648"/>
                <a:gridCol w="1417320"/>
                <a:gridCol w="2743200"/>
                <a:gridCol w="2971800"/>
                <a:gridCol w="2394394"/>
              </a:tblGrid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 in workflow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Best answers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Caveat / rule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Slide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President's Budget / justification (P-1, R-1)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Forward 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 by account, PE/BLI, color of money?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lines do not map to NAICS/PSC or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Funded-demand spine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API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and vehicle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Awards/IDVs; parent-child structure; ceilings?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double-count vehicle and child orders; tag coverage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Vehicle, incumbent and capacity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USAspending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bridge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Transaction FY obligations; funding TAS?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 to procurement record; fields differ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 bridge and FY 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Subaward Reporting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Which reported suppliers sit under a prime?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Lagged/incomplete; separate from prime obligations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and workshare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enrichment sources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and pipeline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UEI/CAGE/NAICS; what is posted pre-award?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Registration/posting does not prove program relevance or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segments and watchlist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FPDS Atom feed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Legacy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does the older action feed show?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the future base; retiring FY2026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Lineage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External program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attribution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Who requires, tests, or fields the capability?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Cite and confidence-tag; place of performance is not proof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71" name="ValidationRailBackground"/>
          <p:cNvSpPr txBox="1"/>
          <p:nvPr/>
        </p:nvSpPr>
        <p:spPr>
          <a:xfrm>
            <a:off x="453079" y="5413248"/>
            <a:ext cx="11282362" cy="4567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413248"/>
            <a:ext cx="288036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sA"/>
          <p:cNvSpPr txBox="1"/>
          <p:nvPr/>
        </p:nvSpPr>
        <p:spPr>
          <a:xfrm>
            <a:off x="3333439" y="5413248"/>
            <a:ext cx="416052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 | Validate returned filters | Sum action obligations, not cumulative totals | Keep money universes separate</a:t>
            </a:r>
          </a:p>
        </p:txBody>
      </p:sp>
      <p:sp>
        <p:nvSpPr>
          <p:cNvPr id="74" name="ValidationRailRulesB"/>
          <p:cNvSpPr txBox="1"/>
          <p:nvPr/>
        </p:nvSpPr>
        <p:spPr>
          <a:xfrm>
            <a:off x="7493959" y="5413248"/>
            <a:ext cx="4241482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child orders into one family | Reconcile SAM and USAspending | Tag source, date, measure, coverage and confidence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 Acquisition Subaward Reporting; SAM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graphicFrame>
        <p:nvGraphicFramePr>
          <p:cNvPr id="10" name="RecompeteTimelineChart"/>
          <p:cNvGraphicFramePr/>
          <p:nvPr/>
        </p:nvGraphicFramePr>
        <p:xfrm>
          <a:off x="453079" y="2240280"/>
          <a:ext cx="5687568" cy="2871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LaneLabel_1"/>
          <p:cNvSpPr txBox="1"/>
          <p:nvPr/>
        </p:nvSpPr>
        <p:spPr>
          <a:xfrm>
            <a:off x="453079" y="252505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
contract</a:t>
            </a:r>
          </a:p>
        </p:txBody>
      </p:sp>
      <p:sp>
        <p:nvSpPr>
          <p:cNvPr id="12" name="LaneLabel_2"/>
          <p:cNvSpPr txBox="1"/>
          <p:nvPr/>
        </p:nvSpPr>
        <p:spPr>
          <a:xfrm>
            <a:off x="453079" y="304072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
Indefinite-Delivery/
Indefinite-Quantity (IDIQ)</a:t>
            </a:r>
          </a:p>
        </p:txBody>
      </p:sp>
      <p:sp>
        <p:nvSpPr>
          <p:cNvPr id="13" name="LaneLabel_3"/>
          <p:cNvSpPr txBox="1"/>
          <p:nvPr/>
        </p:nvSpPr>
        <p:spPr>
          <a:xfrm>
            <a:off x="453079" y="355639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
Indefinite-Delivery/
Indefinite-Quantity (IDIQ)</a:t>
            </a:r>
          </a:p>
        </p:txBody>
      </p:sp>
      <p:sp>
        <p:nvSpPr>
          <p:cNvPr id="14" name="LaneLabel_4"/>
          <p:cNvSpPr txBox="1"/>
          <p:nvPr/>
        </p:nvSpPr>
        <p:spPr>
          <a:xfrm>
            <a:off x="453079" y="407206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Blanket Purchase Agreement
(BPA)</a:t>
            </a:r>
          </a:p>
        </p:txBody>
      </p:sp>
      <p:sp>
        <p:nvSpPr>
          <p:cNvPr id="15" name="LaneLabel_5"/>
          <p:cNvSpPr txBox="1"/>
          <p:nvPr/>
        </p:nvSpPr>
        <p:spPr>
          <a:xfrm>
            <a:off x="453079" y="4587733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Transaction (OT)
agreement</a:t>
            </a:r>
          </a:p>
        </p:txBody>
      </p:sp>
      <p:sp>
        <p:nvSpPr>
          <p:cNvPr id="16" name="ClockReframe"/>
          <p:cNvSpPr txBox="1"/>
          <p:nvPr/>
        </p:nvSpPr>
        <p:spPr>
          <a:xfrm>
            <a:off x="453079" y="1371600"/>
            <a:ext cx="7168896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7" name="SectionDivider"/>
          <p:cNvCxnSpPr/>
          <p:nvPr/>
        </p:nvCxnSpPr>
        <p:spPr>
          <a:xfrm>
            <a:off x="7722559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8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9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20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21" name="TimeAxis"/>
          <p:cNvCxnSpPr/>
          <p:nvPr/>
        </p:nvCxnSpPr>
        <p:spPr>
          <a:xfrm>
            <a:off x="2227600" y="2395728"/>
            <a:ext cx="387892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22" name="TodayLine"/>
          <p:cNvCxnSpPr/>
          <p:nvPr/>
        </p:nvCxnSpPr>
        <p:spPr>
          <a:xfrm>
            <a:off x="2227600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23" name="DecisionHorizonLine"/>
          <p:cNvCxnSpPr/>
          <p:nvPr/>
        </p:nvCxnSpPr>
        <p:spPr>
          <a:xfrm>
            <a:off x="5531528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24" name="TodayLabel"/>
          <p:cNvSpPr txBox="1"/>
          <p:nvPr/>
        </p:nvSpPr>
        <p:spPr>
          <a:xfrm>
            <a:off x="1989856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5" name="DecisionHorizonLabel"/>
          <p:cNvSpPr txBox="1"/>
          <p:nvPr/>
        </p:nvSpPr>
        <p:spPr>
          <a:xfrm>
            <a:off x="5110904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sp>
        <p:nvSpPr>
          <p:cNvPr id="26" name="BarLabel_Definitive"/>
          <p:cNvSpPr txBox="1"/>
          <p:nvPr/>
        </p:nvSpPr>
        <p:spPr>
          <a:xfrm>
            <a:off x="2227600" y="2685073"/>
            <a:ext cx="197140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ExtLabel_Definitive"/>
          <p:cNvSpPr txBox="1"/>
          <p:nvPr/>
        </p:nvSpPr>
        <p:spPr>
          <a:xfrm>
            <a:off x="4199004" y="2685073"/>
            <a:ext cx="118649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Trigger_Definitive"/>
          <p:cNvCxnSpPr/>
          <p:nvPr/>
        </p:nvCxnSpPr>
        <p:spPr>
          <a:xfrm>
            <a:off x="4199004" y="257077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29" name="TriggerDrop_Definitive"/>
          <p:cNvCxnSpPr/>
          <p:nvPr/>
        </p:nvCxnSpPr>
        <p:spPr>
          <a:xfrm>
            <a:off x="4199004" y="2822233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RouteToGate_Definitive"/>
          <p:cNvCxnSpPr/>
          <p:nvPr/>
        </p:nvCxnSpPr>
        <p:spPr>
          <a:xfrm>
            <a:off x="4199004" y="3014257"/>
            <a:ext cx="203308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1" name="BarLabel_SA_IDIQ"/>
          <p:cNvSpPr txBox="1"/>
          <p:nvPr/>
        </p:nvSpPr>
        <p:spPr>
          <a:xfrm>
            <a:off x="2227600" y="3200743"/>
            <a:ext cx="1834501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2" name="ChildLabel_SA_IDIQ"/>
          <p:cNvSpPr txBox="1"/>
          <p:nvPr/>
        </p:nvSpPr>
        <p:spPr>
          <a:xfrm>
            <a:off x="2227600" y="333333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3" name="ChildTail_SA_IDIQ_1"/>
          <p:cNvSpPr/>
          <p:nvPr/>
        </p:nvSpPr>
        <p:spPr>
          <a:xfrm>
            <a:off x="2702197" y="3342475"/>
            <a:ext cx="281107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4" name="ChildTail_SA_IDIQ_2"/>
          <p:cNvSpPr/>
          <p:nvPr/>
        </p:nvSpPr>
        <p:spPr>
          <a:xfrm>
            <a:off x="3797422" y="3433915"/>
            <a:ext cx="2126561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5" name="Trigger_SA_IDIQ"/>
          <p:cNvCxnSpPr/>
          <p:nvPr/>
        </p:nvCxnSpPr>
        <p:spPr>
          <a:xfrm>
            <a:off x="5066057" y="308644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6" name="RouteToGate_SA_IDIQ"/>
          <p:cNvCxnSpPr/>
          <p:nvPr/>
        </p:nvCxnSpPr>
        <p:spPr>
          <a:xfrm>
            <a:off x="5066057" y="3269323"/>
            <a:ext cx="116603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7" name="BarLabel_MA_IDIQ"/>
          <p:cNvSpPr txBox="1"/>
          <p:nvPr/>
        </p:nvSpPr>
        <p:spPr>
          <a:xfrm>
            <a:off x="2227600" y="3716413"/>
            <a:ext cx="1560695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38" name="ChildLabel_MA_IDIQ"/>
          <p:cNvSpPr txBox="1"/>
          <p:nvPr/>
        </p:nvSpPr>
        <p:spPr>
          <a:xfrm>
            <a:off x="2227600" y="384900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9" name="ChildTail_MA_IDIQ_1"/>
          <p:cNvSpPr/>
          <p:nvPr/>
        </p:nvSpPr>
        <p:spPr>
          <a:xfrm>
            <a:off x="2638309" y="3858145"/>
            <a:ext cx="2601159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0" name="ChildTail_MA_IDIQ_2"/>
          <p:cNvSpPr/>
          <p:nvPr/>
        </p:nvSpPr>
        <p:spPr>
          <a:xfrm>
            <a:off x="3505362" y="3949585"/>
            <a:ext cx="2473382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ChildTail_MA_IDIQ_3"/>
          <p:cNvSpPr/>
          <p:nvPr/>
        </p:nvSpPr>
        <p:spPr>
          <a:xfrm>
            <a:off x="4171623" y="4041025"/>
            <a:ext cx="1825375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2" name="Trigger_MA_IDIQ"/>
          <p:cNvCxnSpPr/>
          <p:nvPr/>
        </p:nvCxnSpPr>
        <p:spPr>
          <a:xfrm>
            <a:off x="4710109" y="360211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3" name="RouteToGate_MA_IDIQ"/>
          <p:cNvCxnSpPr/>
          <p:nvPr/>
        </p:nvCxnSpPr>
        <p:spPr>
          <a:xfrm>
            <a:off x="4710109" y="3784993"/>
            <a:ext cx="152197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4" name="BarLabel_BPA"/>
          <p:cNvSpPr txBox="1"/>
          <p:nvPr/>
        </p:nvSpPr>
        <p:spPr>
          <a:xfrm>
            <a:off x="2227600" y="4232083"/>
            <a:ext cx="140553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45" name="ChildLabel_BPA"/>
          <p:cNvSpPr txBox="1"/>
          <p:nvPr/>
        </p:nvSpPr>
        <p:spPr>
          <a:xfrm>
            <a:off x="2227600" y="436467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46" name="ChildTail_BPA_1"/>
          <p:cNvSpPr/>
          <p:nvPr/>
        </p:nvSpPr>
        <p:spPr>
          <a:xfrm>
            <a:off x="2793466" y="4373815"/>
            <a:ext cx="251901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ChildTail_BPA_2"/>
          <p:cNvSpPr/>
          <p:nvPr/>
        </p:nvSpPr>
        <p:spPr>
          <a:xfrm>
            <a:off x="3687899" y="4465255"/>
            <a:ext cx="221783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Trigger_BPA"/>
          <p:cNvCxnSpPr/>
          <p:nvPr/>
        </p:nvCxnSpPr>
        <p:spPr>
          <a:xfrm>
            <a:off x="4491064" y="411778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Gate_BPA"/>
          <p:cNvCxnSpPr/>
          <p:nvPr/>
        </p:nvCxnSpPr>
        <p:spPr>
          <a:xfrm>
            <a:off x="4491064" y="4300663"/>
            <a:ext cx="174102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BarLabel_OT"/>
          <p:cNvSpPr txBox="1"/>
          <p:nvPr/>
        </p:nvSpPr>
        <p:spPr>
          <a:xfrm>
            <a:off x="2227600" y="4747753"/>
            <a:ext cx="1925770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51" name="ChildLabel_OT"/>
          <p:cNvSpPr txBox="1"/>
          <p:nvPr/>
        </p:nvSpPr>
        <p:spPr>
          <a:xfrm>
            <a:off x="2227600" y="488034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52" name="ChildTail_OT_1"/>
          <p:cNvSpPr/>
          <p:nvPr/>
        </p:nvSpPr>
        <p:spPr>
          <a:xfrm>
            <a:off x="3185921" y="4889485"/>
            <a:ext cx="29206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3" name="Trigger_OT"/>
          <p:cNvCxnSpPr/>
          <p:nvPr/>
        </p:nvCxnSpPr>
        <p:spPr>
          <a:xfrm>
            <a:off x="5266848" y="463345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4" name="RouteToGate_OT"/>
          <p:cNvCxnSpPr/>
          <p:nvPr/>
        </p:nvCxnSpPr>
        <p:spPr>
          <a:xfrm>
            <a:off x="5266848" y="4816333"/>
            <a:ext cx="965239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5" name="StandaloneDecisionLabel"/>
          <p:cNvSpPr txBox="1"/>
          <p:nvPr/>
        </p:nvSpPr>
        <p:spPr>
          <a:xfrm>
            <a:off x="3824100" y="2771941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6" name="StandaloneUltimateLabel"/>
          <p:cNvSpPr txBox="1"/>
          <p:nvPr/>
        </p:nvSpPr>
        <p:spPr>
          <a:xfrm>
            <a:off x="4964874" y="2771941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sp>
        <p:nvSpPr>
          <p:cNvPr id="57" name="AddressableBadge"/>
          <p:cNvSpPr txBox="1"/>
          <p:nvPr/>
        </p:nvSpPr>
        <p:spPr>
          <a:xfrm>
            <a:off x="6232087" y="2359152"/>
            <a:ext cx="144475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36576" tIns="9144" rIns="36576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58" name="AddressableGuardrail"/>
          <p:cNvSpPr txBox="1"/>
          <p:nvPr/>
        </p:nvSpPr>
        <p:spPr>
          <a:xfrm>
            <a:off x="6232087" y="2724912"/>
            <a:ext cx="144475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Expired does not mean addressable.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sp>
        <p:nvSpPr>
          <p:cNvPr id="59" name="VehicleClockTableCaption"/>
          <p:cNvSpPr txBox="1"/>
          <p:nvPr/>
        </p:nvSpPr>
        <p:spPr>
          <a:xfrm>
            <a:off x="7804855" y="1371600"/>
            <a:ext cx="3930586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Charted vehicles first; the two (not charted) cases are reference-only.</a:t>
            </a:r>
          </a:p>
        </p:txBody>
      </p:sp>
      <p:graphicFrame>
        <p:nvGraphicFramePr>
          <p:cNvPr id="60" name="VehicleClockRules"/>
          <p:cNvGraphicFramePr>
            <a:graphicFrameLocks noGrp="1"/>
          </p:cNvGraphicFramePr>
          <p:nvPr/>
        </p:nvGraphicFramePr>
        <p:xfrm>
          <a:off x="7804855" y="1517904"/>
          <a:ext cx="3930586" cy="27432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51560"/>
                <a:gridCol w="960120"/>
                <a:gridCol w="658368"/>
                <a:gridCol w="126053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Single-award IDIQ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orders may perform past the trigger.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Multiple-award IDIQ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order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BPA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Task or delivery order  (not charted)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Child-level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BOA  (not charted)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1" name="GateToStateClassification"/>
          <p:cNvCxnSpPr/>
          <p:nvPr/>
        </p:nvCxnSpPr>
        <p:spPr>
          <a:xfrm>
            <a:off x="7676839" y="4754880"/>
            <a:ext cx="12801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2" name="StateHeader"/>
          <p:cNvSpPr txBox="1"/>
          <p:nvPr/>
        </p:nvSpPr>
        <p:spPr>
          <a:xfrm>
            <a:off x="7804855" y="4654296"/>
            <a:ext cx="3930586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63" name="StateChip1"/>
          <p:cNvSpPr txBox="1"/>
          <p:nvPr/>
        </p:nvSpPr>
        <p:spPr>
          <a:xfrm>
            <a:off x="7804855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64" name="StateChip2"/>
          <p:cNvSpPr txBox="1"/>
          <p:nvPr/>
        </p:nvSpPr>
        <p:spPr>
          <a:xfrm>
            <a:off x="9133338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65" name="StateChip3"/>
          <p:cNvSpPr txBox="1"/>
          <p:nvPr/>
        </p:nvSpPr>
        <p:spPr>
          <a:xfrm>
            <a:off x="10461821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66" name="StateChip4"/>
          <p:cNvSpPr txBox="1"/>
          <p:nvPr/>
        </p:nvSpPr>
        <p:spPr>
          <a:xfrm>
            <a:off x="7804855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67" name="StateChip5"/>
          <p:cNvSpPr txBox="1"/>
          <p:nvPr/>
        </p:nvSpPr>
        <p:spPr>
          <a:xfrm>
            <a:off x="9133338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68" name="StateChip6"/>
          <p:cNvSpPr txBox="1"/>
          <p:nvPr/>
        </p:nvSpPr>
        <p:spPr>
          <a:xfrm>
            <a:off x="10461821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69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70" name="CaveatRail"/>
          <p:cNvSpPr txBox="1"/>
          <p:nvPr/>
        </p:nvSpPr>
        <p:spPr>
          <a:xfrm>
            <a:off x="453079" y="5422392"/>
            <a:ext cx="11282362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reads;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recurrence, authority, competition route, and bidder eligibility remain separate.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F2F2F2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dkUpDiag">
            <a:fgClr>
              <a:srgbClr val="646464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2537236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2537236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2537236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2546380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2546380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2546380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2546380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2710972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3086551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283147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202119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98715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317687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514283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433255" y="269268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629851" y="2692684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2907568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2907568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2907568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2907568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3255040"/>
            <a:ext cx="1417320" cy="36118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3255040"/>
            <a:ext cx="1417320" cy="361188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3213892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3616228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3213892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3213892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3616228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3213892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3634516"/>
            <a:ext cx="107899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3634516"/>
            <a:ext cx="5285232" cy="310896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635959" y="3419632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832555" y="3419632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934407" y="3419632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131003" y="3419632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3789964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3232180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3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56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21975" y="3017296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18571" y="30172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3789964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3954556"/>
            <a:ext cx="2468880" cy="2011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4055140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2692684"/>
            <a:ext cx="2412682" cy="4297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2907568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2907568"/>
            <a:ext cx="0" cy="324612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3671092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3305332"/>
            <a:ext cx="0" cy="612648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3168172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3479068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3780820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330533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3616228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3917980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71" name="ValidationRailBackground"/>
          <p:cNvSpPr txBox="1"/>
          <p:nvPr/>
        </p:nvSpPr>
        <p:spPr>
          <a:xfrm>
            <a:off x="453079" y="5339648"/>
            <a:ext cx="11282362" cy="5303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339648"/>
            <a:ext cx="288036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1"/>
          <p:cNvSpPr txBox="1"/>
          <p:nvPr/>
        </p:nvSpPr>
        <p:spPr>
          <a:xfrm>
            <a:off x="3333439" y="5339648"/>
            <a:ext cx="21005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</a:t>
            </a:r>
          </a:p>
        </p:txBody>
      </p:sp>
      <p:sp>
        <p:nvSpPr>
          <p:cNvPr id="74" name="ValidationRailRule2"/>
          <p:cNvSpPr txBox="1"/>
          <p:nvPr/>
        </p:nvSpPr>
        <p:spPr>
          <a:xfrm>
            <a:off x="5433939" y="5339648"/>
            <a:ext cx="21005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 returned filters before totals</a:t>
            </a:r>
          </a:p>
        </p:txBody>
      </p:sp>
      <p:sp>
        <p:nvSpPr>
          <p:cNvPr id="75" name="ValidationRailRule3"/>
          <p:cNvSpPr txBox="1"/>
          <p:nvPr/>
        </p:nvSpPr>
        <p:spPr>
          <a:xfrm>
            <a:off x="7534439" y="5339648"/>
            <a:ext cx="2100500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obligations, not cumulative snapshots</a:t>
            </a:r>
          </a:p>
        </p:txBody>
      </p:sp>
      <p:sp>
        <p:nvSpPr>
          <p:cNvPr id="76" name="ValidationRailRule4"/>
          <p:cNvSpPr txBox="1"/>
          <p:nvPr/>
        </p:nvSpPr>
        <p:spPr>
          <a:xfrm>
            <a:off x="9634939" y="5339648"/>
            <a:ext cx="2100502" cy="5303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 algn="ctr">
              <a:lnSpc>
                <a:spcPct val="105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money universes separate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 Acquisition Subaward Reporting; SAM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deck_awards_methodology</Application>
  <PresentationFormat>Widescreen</PresentationFormat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Awards Methodology</dc:title>
  <dc:creator>deck_awards_methodology build_deck.py</dc:creator>
  <cp:lastModifiedBy>deck_awards_methodology build_deck.py</cp:lastModifiedBy>
  <cp:revision>1</cp:revision>
  <dcterms:created xsi:type="dcterms:W3CDTF">2026-06-23T18:10:12Z</dcterms:created>
  <dcterms:modified xsi:type="dcterms:W3CDTF">2026-06-23T18:10:12Z</dcterms:modified>
</cp:coreProperties>
</file>