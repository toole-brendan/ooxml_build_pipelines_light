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5"/>
  </p:handoutMasterIdLst>
  <p:sldIdLst>
    <p:sldId id="256" r:id="rId2"/>
    <p:sldId id="257" r:id="rId3"/>
    <p:sldId id="258" r:id="rId4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sp>
        <p:nvSpPr>
          <p:cNvPr id="10" name="ClockReframe"/>
          <p:cNvSpPr txBox="1"/>
          <p:nvPr/>
        </p:nvSpPr>
        <p:spPr>
          <a:xfrm>
            <a:off x="453079" y="1371600"/>
            <a:ext cx="7406640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1" name="SectionDivider"/>
          <p:cNvCxnSpPr/>
          <p:nvPr/>
        </p:nvCxnSpPr>
        <p:spPr>
          <a:xfrm>
            <a:off x="7942015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2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3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14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15" name="TimeAxis"/>
          <p:cNvCxnSpPr/>
          <p:nvPr/>
        </p:nvCxnSpPr>
        <p:spPr>
          <a:xfrm>
            <a:off x="2227015" y="2395728"/>
            <a:ext cx="387705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6" name="TodayLine"/>
          <p:cNvCxnSpPr/>
          <p:nvPr/>
        </p:nvCxnSpPr>
        <p:spPr>
          <a:xfrm>
            <a:off x="2227015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17" name="DecisionHorizonLine"/>
          <p:cNvCxnSpPr/>
          <p:nvPr/>
        </p:nvCxnSpPr>
        <p:spPr>
          <a:xfrm>
            <a:off x="5537143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18" name="TodayLabel"/>
          <p:cNvSpPr txBox="1"/>
          <p:nvPr/>
        </p:nvSpPr>
        <p:spPr>
          <a:xfrm>
            <a:off x="1989271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19" name="DecisionHorizonLabel"/>
          <p:cNvSpPr txBox="1"/>
          <p:nvPr/>
        </p:nvSpPr>
        <p:spPr>
          <a:xfrm>
            <a:off x="5116519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cxnSp>
        <p:nvCxnSpPr>
          <p:cNvPr id="20" name="LaneSeparator"/>
          <p:cNvCxnSpPr/>
          <p:nvPr/>
        </p:nvCxnSpPr>
        <p:spPr>
          <a:xfrm>
            <a:off x="453079" y="2980944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1" name="LaneSeparator"/>
          <p:cNvCxnSpPr/>
          <p:nvPr/>
        </p:nvCxnSpPr>
        <p:spPr>
          <a:xfrm>
            <a:off x="453079" y="3502152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2" name="LaneSeparator"/>
          <p:cNvCxnSpPr/>
          <p:nvPr/>
        </p:nvCxnSpPr>
        <p:spPr>
          <a:xfrm>
            <a:off x="453079" y="4023360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3" name="LaneSeparator"/>
          <p:cNvCxnSpPr/>
          <p:nvPr/>
        </p:nvCxnSpPr>
        <p:spPr>
          <a:xfrm>
            <a:off x="453079" y="4544568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4" name="LaneSeparator"/>
          <p:cNvCxnSpPr/>
          <p:nvPr/>
        </p:nvCxnSpPr>
        <p:spPr>
          <a:xfrm>
            <a:off x="453079" y="5065776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sp>
        <p:nvSpPr>
          <p:cNvPr id="25" name="LaneLabel"/>
          <p:cNvSpPr txBox="1"/>
          <p:nvPr/>
        </p:nvSpPr>
        <p:spPr>
          <a:xfrm>
            <a:off x="453079" y="2523744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
contract</a:t>
            </a:r>
          </a:p>
        </p:txBody>
      </p:sp>
      <p:sp>
        <p:nvSpPr>
          <p:cNvPr id="26" name="StandaloneBase"/>
          <p:cNvSpPr txBox="1"/>
          <p:nvPr/>
        </p:nvSpPr>
        <p:spPr>
          <a:xfrm>
            <a:off x="2227015" y="2615184"/>
            <a:ext cx="1975104" cy="13716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StandaloneOptions"/>
          <p:cNvSpPr txBox="1"/>
          <p:nvPr/>
        </p:nvSpPr>
        <p:spPr>
          <a:xfrm>
            <a:off x="4202119" y="2615184"/>
            <a:ext cx="1188720" cy="137160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RecompeteTrigger"/>
          <p:cNvCxnSpPr/>
          <p:nvPr/>
        </p:nvCxnSpPr>
        <p:spPr>
          <a:xfrm>
            <a:off x="4202119" y="2551176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29" name="StandaloneDecisionLabel"/>
          <p:cNvSpPr txBox="1"/>
          <p:nvPr/>
        </p:nvSpPr>
        <p:spPr>
          <a:xfrm>
            <a:off x="3854647" y="2770632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30" name="StandaloneUltimateLabel"/>
          <p:cNvSpPr txBox="1"/>
          <p:nvPr/>
        </p:nvSpPr>
        <p:spPr>
          <a:xfrm>
            <a:off x="4641031" y="2770632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cxnSp>
        <p:nvCxnSpPr>
          <p:cNvPr id="31" name="StandaloneDrop"/>
          <p:cNvCxnSpPr/>
          <p:nvPr/>
        </p:nvCxnSpPr>
        <p:spPr>
          <a:xfrm>
            <a:off x="4202119" y="2752344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2" name="RouteToAddressableGate"/>
          <p:cNvCxnSpPr/>
          <p:nvPr/>
        </p:nvCxnSpPr>
        <p:spPr>
          <a:xfrm>
            <a:off x="4202119" y="2944368"/>
            <a:ext cx="202996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3" name="LaneLabel"/>
          <p:cNvSpPr txBox="1"/>
          <p:nvPr/>
        </p:nvSpPr>
        <p:spPr>
          <a:xfrm>
            <a:off x="453079" y="3044952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
Indefinite-Delivery/
Indefinite-Quantity (IDIQ)</a:t>
            </a:r>
          </a:p>
        </p:txBody>
      </p:sp>
      <p:sp>
        <p:nvSpPr>
          <p:cNvPr id="34" name="SAIDIQBase"/>
          <p:cNvSpPr txBox="1"/>
          <p:nvPr/>
        </p:nvSpPr>
        <p:spPr>
          <a:xfrm>
            <a:off x="2227015" y="3118104"/>
            <a:ext cx="1837944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5" name="SAIDIQOptions"/>
          <p:cNvSpPr/>
          <p:nvPr/>
        </p:nvSpPr>
        <p:spPr>
          <a:xfrm>
            <a:off x="4064959" y="3118104"/>
            <a:ext cx="1005840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36" name="SAIDIQChildLabel"/>
          <p:cNvSpPr txBox="1"/>
          <p:nvPr/>
        </p:nvSpPr>
        <p:spPr>
          <a:xfrm>
            <a:off x="2227015" y="3300984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7" name="SAIDIQChild1"/>
          <p:cNvSpPr/>
          <p:nvPr/>
        </p:nvSpPr>
        <p:spPr>
          <a:xfrm>
            <a:off x="2702503" y="3291840"/>
            <a:ext cx="2816352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8" name="SAIDIQChild2"/>
          <p:cNvSpPr/>
          <p:nvPr/>
        </p:nvSpPr>
        <p:spPr>
          <a:xfrm>
            <a:off x="3799783" y="3392424"/>
            <a:ext cx="2130552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9" name="RecompeteTrigger"/>
          <p:cNvCxnSpPr/>
          <p:nvPr/>
        </p:nvCxnSpPr>
        <p:spPr>
          <a:xfrm>
            <a:off x="5070799" y="3063240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0" name="RouteToAddressableGate"/>
          <p:cNvCxnSpPr/>
          <p:nvPr/>
        </p:nvCxnSpPr>
        <p:spPr>
          <a:xfrm>
            <a:off x="5070799" y="3182112"/>
            <a:ext cx="116128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1" name="LaneLabel"/>
          <p:cNvSpPr txBox="1"/>
          <p:nvPr/>
        </p:nvSpPr>
        <p:spPr>
          <a:xfrm>
            <a:off x="453079" y="3566160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
Indefinite-Delivery/
Indefinite-Quantity (IDIQ)</a:t>
            </a:r>
          </a:p>
        </p:txBody>
      </p:sp>
      <p:sp>
        <p:nvSpPr>
          <p:cNvPr id="42" name="MAIDIQBase"/>
          <p:cNvSpPr txBox="1"/>
          <p:nvPr/>
        </p:nvSpPr>
        <p:spPr>
          <a:xfrm>
            <a:off x="2227015" y="3621024"/>
            <a:ext cx="1563624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43" name="MAIDIQOptions"/>
          <p:cNvSpPr/>
          <p:nvPr/>
        </p:nvSpPr>
        <p:spPr>
          <a:xfrm>
            <a:off x="3790639" y="3621024"/>
            <a:ext cx="923544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44" name="MAIDIQChildLabel"/>
          <p:cNvSpPr txBox="1"/>
          <p:nvPr/>
        </p:nvSpPr>
        <p:spPr>
          <a:xfrm>
            <a:off x="2227015" y="379476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45" name="MAIDIQChild1"/>
          <p:cNvSpPr/>
          <p:nvPr/>
        </p:nvSpPr>
        <p:spPr>
          <a:xfrm>
            <a:off x="2638495" y="3785616"/>
            <a:ext cx="260604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6" name="MAIDIQChild2"/>
          <p:cNvSpPr/>
          <p:nvPr/>
        </p:nvSpPr>
        <p:spPr>
          <a:xfrm>
            <a:off x="3507175" y="3867912"/>
            <a:ext cx="2478024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MAIDIQChild3"/>
          <p:cNvSpPr/>
          <p:nvPr/>
        </p:nvSpPr>
        <p:spPr>
          <a:xfrm>
            <a:off x="4174687" y="3950208"/>
            <a:ext cx="18288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RecompeteTrigger"/>
          <p:cNvCxnSpPr/>
          <p:nvPr/>
        </p:nvCxnSpPr>
        <p:spPr>
          <a:xfrm>
            <a:off x="4714183" y="3575304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AddressableGate"/>
          <p:cNvCxnSpPr/>
          <p:nvPr/>
        </p:nvCxnSpPr>
        <p:spPr>
          <a:xfrm>
            <a:off x="4714183" y="3685032"/>
            <a:ext cx="1517904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LaneLabel"/>
          <p:cNvSpPr txBox="1"/>
          <p:nvPr/>
        </p:nvSpPr>
        <p:spPr>
          <a:xfrm>
            <a:off x="453079" y="4087368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Blanket Purchase Agreement
(BPA)</a:t>
            </a:r>
          </a:p>
        </p:txBody>
      </p:sp>
      <p:sp>
        <p:nvSpPr>
          <p:cNvPr id="51" name="BPABase"/>
          <p:cNvSpPr txBox="1"/>
          <p:nvPr/>
        </p:nvSpPr>
        <p:spPr>
          <a:xfrm>
            <a:off x="2227015" y="4160520"/>
            <a:ext cx="1408176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52" name="BPAOptions"/>
          <p:cNvSpPr/>
          <p:nvPr/>
        </p:nvSpPr>
        <p:spPr>
          <a:xfrm>
            <a:off x="3635191" y="4160520"/>
            <a:ext cx="859536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53" name="BPAChildLabel"/>
          <p:cNvSpPr txBox="1"/>
          <p:nvPr/>
        </p:nvSpPr>
        <p:spPr>
          <a:xfrm>
            <a:off x="2227015" y="434340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54" name="BPAChild1"/>
          <p:cNvSpPr/>
          <p:nvPr/>
        </p:nvSpPr>
        <p:spPr>
          <a:xfrm>
            <a:off x="2793943" y="4334256"/>
            <a:ext cx="2523744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5" name="BPAChild2"/>
          <p:cNvSpPr/>
          <p:nvPr/>
        </p:nvSpPr>
        <p:spPr>
          <a:xfrm>
            <a:off x="3690055" y="4434840"/>
            <a:ext cx="2221992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6" name="RecompeteTrigger"/>
          <p:cNvCxnSpPr/>
          <p:nvPr/>
        </p:nvCxnSpPr>
        <p:spPr>
          <a:xfrm>
            <a:off x="4494727" y="4105656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7" name="RouteToAddressableGate"/>
          <p:cNvCxnSpPr/>
          <p:nvPr/>
        </p:nvCxnSpPr>
        <p:spPr>
          <a:xfrm>
            <a:off x="4494727" y="4224528"/>
            <a:ext cx="173736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8" name="LaneLabel"/>
          <p:cNvSpPr txBox="1"/>
          <p:nvPr/>
        </p:nvSpPr>
        <p:spPr>
          <a:xfrm>
            <a:off x="453079" y="4608576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Transaction (OT)
agreement</a:t>
            </a:r>
          </a:p>
        </p:txBody>
      </p:sp>
      <p:sp>
        <p:nvSpPr>
          <p:cNvPr id="59" name="OTBase"/>
          <p:cNvSpPr txBox="1"/>
          <p:nvPr/>
        </p:nvSpPr>
        <p:spPr>
          <a:xfrm>
            <a:off x="2227015" y="4681728"/>
            <a:ext cx="1929384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60" name="OTOptions"/>
          <p:cNvSpPr/>
          <p:nvPr/>
        </p:nvSpPr>
        <p:spPr>
          <a:xfrm>
            <a:off x="4156399" y="4681728"/>
            <a:ext cx="1115568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61" name="OTChildLabel"/>
          <p:cNvSpPr txBox="1"/>
          <p:nvPr/>
        </p:nvSpPr>
        <p:spPr>
          <a:xfrm>
            <a:off x="2227015" y="4882896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62" name="OTChild1"/>
          <p:cNvSpPr/>
          <p:nvPr/>
        </p:nvSpPr>
        <p:spPr>
          <a:xfrm>
            <a:off x="3187135" y="4873752"/>
            <a:ext cx="2926080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63" name="RecompeteTrigger"/>
          <p:cNvCxnSpPr/>
          <p:nvPr/>
        </p:nvCxnSpPr>
        <p:spPr>
          <a:xfrm>
            <a:off x="5271967" y="4626864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64" name="RouteToAddressableGate"/>
          <p:cNvCxnSpPr/>
          <p:nvPr/>
        </p:nvCxnSpPr>
        <p:spPr>
          <a:xfrm>
            <a:off x="5271967" y="4745736"/>
            <a:ext cx="96012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5" name="AddressableBadge"/>
          <p:cNvSpPr txBox="1"/>
          <p:nvPr/>
        </p:nvSpPr>
        <p:spPr>
          <a:xfrm>
            <a:off x="6232087" y="2359152"/>
            <a:ext cx="162763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66" name="AddressableGuardrail"/>
          <p:cNvSpPr txBox="1"/>
          <p:nvPr/>
        </p:nvSpPr>
        <p:spPr>
          <a:xfrm>
            <a:off x="6232087" y="2724912"/>
            <a:ext cx="162763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expiring vehicle is not automatically an opportunity.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graphicFrame>
        <p:nvGraphicFramePr>
          <p:cNvPr id="67" name="VehicleClockRules"/>
          <p:cNvGraphicFramePr>
            <a:graphicFrameLocks noGrp="1"/>
          </p:cNvGraphicFramePr>
          <p:nvPr/>
        </p:nvGraphicFramePr>
        <p:xfrm>
          <a:off x="8024311" y="1371600"/>
          <a:ext cx="3711130" cy="313944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41832"/>
                <a:gridCol w="713232"/>
                <a:gridCol w="1233106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791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the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01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IDIQ, single or multiple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order; child end for holders-only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 (parent)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governs vehicle; child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Task or delivery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BPA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BOA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8" name="GateToStateClassification"/>
          <p:cNvCxnSpPr/>
          <p:nvPr/>
        </p:nvCxnSpPr>
        <p:spPr>
          <a:xfrm>
            <a:off x="7859719" y="4620768"/>
            <a:ext cx="164592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9" name="StateHeader"/>
          <p:cNvSpPr txBox="1"/>
          <p:nvPr/>
        </p:nvSpPr>
        <p:spPr>
          <a:xfrm>
            <a:off x="8024311" y="4538472"/>
            <a:ext cx="3711130" cy="164592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70" name="StateChip1"/>
          <p:cNvSpPr txBox="1"/>
          <p:nvPr/>
        </p:nvSpPr>
        <p:spPr>
          <a:xfrm>
            <a:off x="8024311" y="4748784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71" name="StateChip2"/>
          <p:cNvSpPr txBox="1"/>
          <p:nvPr/>
        </p:nvSpPr>
        <p:spPr>
          <a:xfrm>
            <a:off x="9279642" y="4748784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72" name="StateChip3"/>
          <p:cNvSpPr txBox="1"/>
          <p:nvPr/>
        </p:nvSpPr>
        <p:spPr>
          <a:xfrm>
            <a:off x="10534973" y="4748784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73" name="StateChip4"/>
          <p:cNvSpPr txBox="1"/>
          <p:nvPr/>
        </p:nvSpPr>
        <p:spPr>
          <a:xfrm>
            <a:off x="8024311" y="4940808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74" name="StateChip5"/>
          <p:cNvSpPr txBox="1"/>
          <p:nvPr/>
        </p:nvSpPr>
        <p:spPr>
          <a:xfrm>
            <a:off x="9279642" y="4940808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75" name="StateChip6"/>
          <p:cNvSpPr txBox="1"/>
          <p:nvPr/>
        </p:nvSpPr>
        <p:spPr>
          <a:xfrm>
            <a:off x="10534973" y="4940808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76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77" name="CaveatRail"/>
          <p:cNvSpPr txBox="1"/>
          <p:nvPr/>
        </p:nvSpPr>
        <p:spPr>
          <a:xfrm>
            <a:off x="453079" y="5422392"/>
            <a:ext cx="11282362" cy="3931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reads.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 recurrence, authority lapse, competition route, and eligible bidder set are separate questions; the clock answers only the second.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1371600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1371600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1371600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1380744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1380744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1545336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2995111" y="1485900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191707" y="1485900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110679" y="1485900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07275" y="1485900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226247" y="1485900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422843" y="1485900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341815" y="1485900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538411" y="1485900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1687068"/>
            <a:ext cx="1024128" cy="3154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1687068"/>
            <a:ext cx="1024128" cy="31546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1687068"/>
            <a:ext cx="1024128" cy="3154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1687068"/>
            <a:ext cx="1024128" cy="31546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2039112"/>
            <a:ext cx="1417320" cy="37490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2039112"/>
            <a:ext cx="1417320" cy="374904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2002536"/>
            <a:ext cx="0" cy="36576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2414016"/>
            <a:ext cx="0" cy="36576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2002536"/>
            <a:ext cx="0" cy="448056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2002536"/>
            <a:ext cx="0" cy="36576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2414016"/>
            <a:ext cx="0" cy="36576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2002536"/>
            <a:ext cx="0" cy="448056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2450592"/>
            <a:ext cx="1078992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2450592"/>
            <a:ext cx="5285232" cy="329184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562807" y="224942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759403" y="2249424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861255" y="2249424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057851" y="2249424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2615184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2048256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2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40263" y="1847088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36859" y="1847088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2615184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2779776"/>
            <a:ext cx="2468880" cy="21945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2889504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1527048"/>
            <a:ext cx="2412682" cy="40233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60000" tIns="35000" rIns="60000" bIns="35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1728216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1728216"/>
            <a:ext cx="0" cy="32004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2487168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2093976"/>
            <a:ext cx="0" cy="621792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1956816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2267712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2578608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2093976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240487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2715768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graphicFrame>
        <p:nvGraphicFramePr>
          <p:cNvPr id="70" name="SourceRoleLegend"/>
          <p:cNvGraphicFramePr>
            <a:graphicFrameLocks noGrp="1"/>
          </p:cNvGraphicFramePr>
          <p:nvPr/>
        </p:nvGraphicFramePr>
        <p:xfrm>
          <a:off x="453079" y="3044952"/>
          <a:ext cx="11282362" cy="23317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55648"/>
                <a:gridCol w="1417320"/>
                <a:gridCol w="2743200"/>
                <a:gridCol w="2971800"/>
                <a:gridCol w="2394394"/>
              </a:tblGrid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 in workflow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Best answers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Caveat / rule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Slide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President's Budget / justification (P-1, R-1)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Forward 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 by account, PE/BLI, color of money?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lines do not map to NAICS/PSC or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Funded-demand spine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API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and vehicle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Awards/IDVs; parent-child structure; ceilings?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double-count vehicle and child orders; tag coverage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Vehicle, incumbent and capacity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USAspending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bridge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Transaction FY obligations; funding TAS?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 to procurement record; fields differ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 bridge and FY 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Subaward Reporting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Which reported suppliers sit under a prime?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Lagged/incomplete; separate from prime obligations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and workshare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enrichment sources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and pipeline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UEI/CAGE/NAICS; what is posted pre-award?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Registration/posting does not prove program relevance or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segments and watchlist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FPDS Atom feed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Legacy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does the older action feed show?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the future base; retiring FY2026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Lineage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External program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attribution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Who requires, tests, or fields the capability?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Cite and confidence-tag; place of performance is not proof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71" name="ValidationRailBackground"/>
          <p:cNvSpPr txBox="1"/>
          <p:nvPr/>
        </p:nvSpPr>
        <p:spPr>
          <a:xfrm>
            <a:off x="453079" y="5413248"/>
            <a:ext cx="11282362" cy="4567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413248"/>
            <a:ext cx="288036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sA"/>
          <p:cNvSpPr txBox="1"/>
          <p:nvPr/>
        </p:nvSpPr>
        <p:spPr>
          <a:xfrm>
            <a:off x="3333439" y="5413248"/>
            <a:ext cx="416052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 | Validate returned filters | Sum action obligations, not cumulative totals | Keep money universes separate</a:t>
            </a:r>
          </a:p>
        </p:txBody>
      </p:sp>
      <p:sp>
        <p:nvSpPr>
          <p:cNvPr id="74" name="ValidationRailRulesB"/>
          <p:cNvSpPr txBox="1"/>
          <p:nvPr/>
        </p:nvSpPr>
        <p:spPr>
          <a:xfrm>
            <a:off x="7493959" y="5413248"/>
            <a:ext cx="4241482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child orders into one family | Reconcile SAM and USAspending | Tag source, date, measure, coverage and confidence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 Acquisition Subaward Reporting; SAM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deck_awards_methodology</Application>
  <PresentationFormat>Widescreen</PresentationFormat>
  <Slides>3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Awards Methodology</dc:title>
  <dc:creator>deck_awards_methodology build_deck.py</dc:creator>
  <cp:lastModifiedBy>deck_awards_methodology build_deck.py</cp:lastModifiedBy>
  <cp:revision>1</cp:revision>
  <dcterms:created xsi:type="dcterms:W3CDTF">2026-06-23T13:11:26Z</dcterms:created>
  <dcterms:modified xsi:type="dcterms:W3CDTF">2026-06-23T13:11:26Z</dcterms:modified>
</cp:coreProperties>
</file>