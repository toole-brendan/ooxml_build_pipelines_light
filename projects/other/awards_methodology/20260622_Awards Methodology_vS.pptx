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jpg" ContentType="image/jpeg"/>
  <Default Extension="png" ContentType="image/png"/>
  <Default Extension="svg" ContentType="image/svg+xml"/>
  <Default Extension="emf" ContentType="image/x-emf"/>
  <Default Extension="bin" ContentType="application/vnd.openxmlformats-officedocument.oleObjec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embeddings/Microsoft_Excel_Worksheet1.xlsx" ContentType="application/vnd.openxmlformats-officedocument.spreadsheetml.sheet"/>
  <Override PartName="/ppt/theme/theme1.xml" ContentType="application/vnd.openxmlformats-officedocument.theme+xml"/>
  <Override PartName="/ppt/theme/theme2.xml" ContentType="application/vnd.openxmlformats-officedocument.theme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handoutMasterIdLst>
    <p:handoutMasterId r:id="rId6"/>
  </p:handoutMasterIdLst>
  <p:sldIdLst>
    <p:sldId id="256" r:id="rId2"/>
    <p:sldId id="257" r:id="rId3"/>
    <p:sldId id="258" r:id="rId4"/>
    <p:sldId id="259" r:id="rId5"/>
  </p:sldIdLst>
  <p:sldSz cx="12192000" cy="6858000"/>
  <p:notesSz cx="6934200" cy="92202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5972"/>
    <a:srgbClr val="6E91B1"/>
    <a:srgbClr val="B6C8D8"/>
    <a:srgbClr val="E2E9EF"/>
    <a:srgbClr val="F2F2F2"/>
    <a:srgbClr val="447BB2"/>
    <a:srgbClr val="D1D1D1"/>
    <a:srgbClr val="BFBFBF"/>
    <a:srgbClr val="1D4D68"/>
    <a:srgbClr val="7983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38" autoAdjust="0"/>
    <p:restoredTop sz="94660"/>
  </p:normalViewPr>
  <p:slideViewPr>
    <p:cSldViewPr snapToGrid="0">
      <p:cViewPr varScale="1">
        <p:scale>
          <a:sx n="97" d="100"/>
          <a:sy n="97" d="100"/>
        </p:scale>
        <p:origin x="1038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handoutMaster" Target="handoutMasters/handout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1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roundedCorners val="0"/>
  <c:chart>
    <c:autoTitleDeleted val="1"/>
    <c:plotArea>
      <c:layout>
        <c:manualLayout>
          <c:layoutTarget val="inner"/>
          <c:xMode val="edge"/>
          <c:yMode val="edge"/>
          <c:x val="0.312"/>
          <c:y val="0.089"/>
          <c:w val="0.682"/>
          <c:h val="0.898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Active / base term</c:v>
                </c:pt>
              </c:strCache>
            </c:strRef>
          </c:tx>
          <c:spPr>
            <a:noFill/>
            <a:ln w="12700">
              <a:solidFill>
                <a:srgbClr val="000000"/>
              </a:solidFill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Definitive contract</c:v>
                </c:pt>
                <c:pt idx="1">
                  <c:v>Single-award IDIQ</c:v>
                </c:pt>
                <c:pt idx="2">
                  <c:v>Multiple-award IDIQ</c:v>
                </c:pt>
                <c:pt idx="3">
                  <c:v>BPA</c:v>
                </c:pt>
                <c:pt idx="4">
                  <c:v>OT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2.16</c:v>
                </c:pt>
                <c:pt idx="1">
                  <c:v>2.01</c:v>
                </c:pt>
                <c:pt idx="2">
                  <c:v>1.71</c:v>
                </c:pt>
                <c:pt idx="3">
                  <c:v>1.54</c:v>
                </c:pt>
                <c:pt idx="4">
                  <c:v>2.11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Option / extension capacity</c:v>
                </c:pt>
              </c:strCache>
            </c:strRef>
          </c:tx>
          <c:spPr>
            <a:noFill/>
            <a:ln w="12700">
              <a:solidFill>
                <a:srgbClr val="000000"/>
              </a:solidFill>
              <a:prstDash val="dash"/>
            </a:ln>
          </c:spPr>
          <c:invertIfNegative val="0"/>
          <c:cat>
            <c:strRef>
              <c:f>Sheet1!$A$2:$A$6</c:f>
              <c:strCache>
                <c:ptCount val="5"/>
                <c:pt idx="0">
                  <c:v>Definitive contract</c:v>
                </c:pt>
                <c:pt idx="1">
                  <c:v>Single-award IDIQ</c:v>
                </c:pt>
                <c:pt idx="2">
                  <c:v>Multiple-award IDIQ</c:v>
                </c:pt>
                <c:pt idx="3">
                  <c:v>BPA</c:v>
                </c:pt>
                <c:pt idx="4">
                  <c:v>OT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1.3</c:v>
                </c:pt>
                <c:pt idx="1">
                  <c:v>1.1</c:v>
                </c:pt>
                <c:pt idx="2">
                  <c:v>1.01</c:v>
                </c:pt>
                <c:pt idx="3">
                  <c:v>0.94</c:v>
                </c:pt>
                <c:pt idx="4">
                  <c:v>1.22</c:v>
                </c:pt>
              </c:numCache>
            </c:numRef>
          </c:val>
        </c:ser>
        <c:gapWidth val="300"/>
        <c:overlap val="100"/>
        <c:axId val="111111111"/>
        <c:axId val="222222222"/>
      </c:barChart>
      <c:catAx>
        <c:axId val="111111111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9525" cap="flat">
            <a:solidFill>
              <a:srgbClr val="FFFFFF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222222222"/>
        <c:crosses val="autoZero"/>
        <c:auto val="1"/>
        <c:lblAlgn val="ctr"/>
        <c:lblOffset val="100"/>
        <c:noMultiLvlLbl val="0"/>
      </c:catAx>
      <c:valAx>
        <c:axId val="222222222"/>
        <c:scaling>
          <c:orientation val="minMax"/>
          <c:max val="4.25"/>
          <c:min val="0"/>
        </c:scaling>
        <c:delete val="0"/>
        <c:axPos val="b"/>
        <c:numFmt formatCode="General" sourceLinked="0"/>
        <c:majorTickMark val="none"/>
        <c:minorTickMark val="none"/>
        <c:tickLblPos val="none"/>
        <c:spPr>
          <a:ln w="9525" cap="flat">
            <a:solidFill>
              <a:srgbClr val="FFFFFF"/>
            </a:solidFill>
            <a:prstDash val="solid"/>
          </a:ln>
        </c:spPr>
        <c:txPr>
          <a:bodyPr rot="0" spcFirstLastPara="1" vertOverflow="ellipsis" wrap="square" anchor="ctr" anchorCtr="1"/>
          <a:lstStyle/>
          <a:p>
            <a:pPr>
              <a:defRPr sz="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endParaRPr lang="en-US"/>
          </a:p>
        </c:txPr>
        <c:crossAx val="111111111"/>
        <c:crosses val="autoZero"/>
        <c:crossBetween val="between"/>
      </c:valAx>
    </c:plotArea>
    <c:plotVisOnly val="1"/>
    <c:dispBlanksAs val="gap"/>
  </c:chart>
  <c:externalData r:id="rId1">
    <c:autoUpdate val="0"/>
  </c:externalData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04820" cy="462612"/>
          </a:xfrm>
          <a:prstGeom prst="rect">
            <a:avLst/>
          </a:prstGeom>
        </p:spPr>
        <p:txBody>
          <a:bodyPr vert="horz" lIns="92307" tIns="46153" rIns="92307" bIns="46153" rtlCol="0"/>
          <a:lstStyle>
            <a:lvl1pPr algn="l">
              <a:defRPr sz="1200"/>
            </a:lvl1pPr>
          </a:lstStyle>
          <a:p>
            <a:endParaRPr lang="en-US">
              <a:latin typeface="Arial" panose="020B0604020202020204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27776" y="0"/>
            <a:ext cx="3004820" cy="462612"/>
          </a:xfrm>
          <a:prstGeom prst="rect">
            <a:avLst/>
          </a:prstGeom>
        </p:spPr>
        <p:txBody>
          <a:bodyPr vert="horz" lIns="92307" tIns="46153" rIns="92307" bIns="46153" rtlCol="0"/>
          <a:lstStyle>
            <a:lvl1pPr algn="r">
              <a:defRPr sz="1200"/>
            </a:lvl1pPr>
          </a:lstStyle>
          <a:p>
            <a:fld id="{8ACBDEED-51C7-9D44-8B0E-E5493C8A1496}" type="datetimeFigureOut">
              <a:rPr lang="en-US">
                <a:latin typeface="Arial" panose="020B0604020202020204" pitchFamily="34" charset="0"/>
              </a:rPr>
              <a:t>5/15/2026</a:t>
            </a:fld>
            <a:endParaRPr lang="en-US">
              <a:latin typeface="Arial" panose="020B06040202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757591"/>
            <a:ext cx="3004820" cy="462611"/>
          </a:xfrm>
          <a:prstGeom prst="rect">
            <a:avLst/>
          </a:prstGeom>
        </p:spPr>
        <p:txBody>
          <a:bodyPr vert="horz" lIns="92307" tIns="46153" rIns="92307" bIns="46153" rtlCol="0" anchor="b"/>
          <a:lstStyle>
            <a:lvl1pPr algn="l">
              <a:defRPr sz="1200"/>
            </a:lvl1pPr>
          </a:lstStyle>
          <a:p>
            <a:endParaRPr lang="en-US">
              <a:latin typeface="Arial" panose="020B0604020202020204" pitchFamily="34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27776" y="8757591"/>
            <a:ext cx="3004820" cy="462611"/>
          </a:xfrm>
          <a:prstGeom prst="rect">
            <a:avLst/>
          </a:prstGeom>
        </p:spPr>
        <p:txBody>
          <a:bodyPr vert="horz" lIns="92307" tIns="46153" rIns="92307" bIns="46153" rtlCol="0" anchor="b"/>
          <a:lstStyle>
            <a:lvl1pPr algn="r">
              <a:defRPr sz="1200"/>
            </a:lvl1pPr>
          </a:lstStyle>
          <a:p>
            <a:fld id="{89B20CC8-1D49-1F4A-B7DF-0C6E98397D09}" type="slidenum">
              <a:rPr>
                <a:latin typeface="Arial" panose="020B0604020202020204" pitchFamily="34" charset="0"/>
              </a:rPr>
              <a:t>‹#›</a:t>
            </a:fld>
            <a:endParaRPr lang="en-US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022943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53080" y="5640670"/>
            <a:ext cx="7776391" cy="473423"/>
          </a:xfrm>
        </p:spPr>
        <p:txBody>
          <a:bodyPr anchor="t"/>
          <a:lstStyle>
            <a:lvl1pPr>
              <a:defRPr sz="1600">
                <a:solidFill>
                  <a:schemeClr val="bg2"/>
                </a:solidFill>
              </a:defRPr>
            </a:lvl1pPr>
          </a:lstStyle>
          <a:p>
            <a:r>
              <a:rPr lang="en-US"/>
              <a:t>Date (16 PT)</a:t>
            </a:r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635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 userDrawn="1"/>
        </p:nvSpPr>
        <p:spPr>
          <a:xfrm>
            <a:off x="4220848" y="6521083"/>
            <a:ext cx="37503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SARONIC PROPRIETARY AND CONFIDENTIAL</a:t>
            </a:r>
          </a:p>
        </p:txBody>
      </p:sp>
      <p:sp>
        <p:nvSpPr>
          <p:cNvPr id="9" name="Rectangle 8"/>
          <p:cNvSpPr/>
          <p:nvPr userDrawn="1"/>
        </p:nvSpPr>
        <p:spPr>
          <a:xfrm>
            <a:off x="0" y="3429000"/>
            <a:ext cx="0" cy="136506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 Placeholder 26"/>
          <p:cNvSpPr>
            <a:spLocks noGrp="1"/>
          </p:cNvSpPr>
          <p:nvPr>
            <p:ph type="body" sz="quarter" idx="12" hasCustomPrompt="1"/>
          </p:nvPr>
        </p:nvSpPr>
        <p:spPr>
          <a:xfrm>
            <a:off x="453080" y="3260838"/>
            <a:ext cx="7776399" cy="2162129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Title (36 PT)</a:t>
            </a:r>
          </a:p>
        </p:txBody>
      </p:sp>
      <p:grpSp>
        <p:nvGrpSpPr>
          <p:cNvPr id="4" name="Group 3"/>
          <p:cNvGrpSpPr/>
          <p:nvPr userDrawn="1"/>
        </p:nvGrpSpPr>
        <p:grpSpPr>
          <a:xfrm>
            <a:off x="453080" y="743907"/>
            <a:ext cx="11230920" cy="1637662"/>
            <a:chOff x="588922" y="596464"/>
            <a:chExt cx="10697007" cy="1559809"/>
          </a:xfrm>
        </p:grpSpPr>
        <p:pic>
          <p:nvPicPr>
            <p:cNvPr id="5" name="Graphic 4"/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88922" y="596464"/>
              <a:ext cx="7799041" cy="1559809"/>
            </a:xfrm>
            <a:prstGeom prst="rect">
              <a:avLst/>
            </a:prstGeom>
          </p:spPr>
        </p:pic>
        <p:pic>
          <p:nvPicPr>
            <p:cNvPr id="6" name="Graphic 5"/>
            <p:cNvPicPr>
              <a:picLocks noChangeAspect="1"/>
            </p:cNvPicPr>
            <p:nvPr userDrawn="1"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980882" y="913377"/>
              <a:ext cx="2305047" cy="91439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071211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 userDrawn="1"/>
        </p:nvSpPr>
        <p:spPr>
          <a:xfrm>
            <a:off x="4220848" y="6521083"/>
            <a:ext cx="37503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SARONIC PROPRIETARY AND CONFIDENTIAL</a:t>
            </a:r>
          </a:p>
        </p:txBody>
      </p:sp>
      <p:sp>
        <p:nvSpPr>
          <p:cNvPr id="7" name="Text Placeholder 26"/>
          <p:cNvSpPr>
            <a:spLocks noGrp="1"/>
          </p:cNvSpPr>
          <p:nvPr>
            <p:ph type="body" sz="quarter" idx="11" hasCustomPrompt="1"/>
          </p:nvPr>
        </p:nvSpPr>
        <p:spPr>
          <a:xfrm>
            <a:off x="453082" y="2383743"/>
            <a:ext cx="9153537" cy="2105200"/>
          </a:xfrm>
        </p:spPr>
        <p:txBody>
          <a:bodyPr anchor="b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36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Section Divider Title (36 PT)</a:t>
            </a:r>
          </a:p>
        </p:txBody>
      </p:sp>
      <p:sp>
        <p:nvSpPr>
          <p:cNvPr id="8" name="Text Placeholder 26"/>
          <p:cNvSpPr>
            <a:spLocks noGrp="1"/>
          </p:cNvSpPr>
          <p:nvPr>
            <p:ph type="body" sz="quarter" idx="12" hasCustomPrompt="1"/>
          </p:nvPr>
        </p:nvSpPr>
        <p:spPr>
          <a:xfrm>
            <a:off x="453082" y="4715093"/>
            <a:ext cx="9153537" cy="499503"/>
          </a:xfrm>
        </p:spPr>
        <p:txBody>
          <a:bodyPr anchor="t">
            <a:noAutofit/>
          </a:bodyPr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ct val="120000"/>
              <a:buFont typeface="Arial" panose="020B0604020202020204" pitchFamily="34" charset="0"/>
              <a:buNone/>
              <a:tabLst/>
              <a:defRPr sz="16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Subsections / Headline Paragraph (16 PT)</a:t>
            </a:r>
          </a:p>
        </p:txBody>
      </p:sp>
      <p:pic>
        <p:nvPicPr>
          <p:cNvPr id="29" name="Graphic 28"/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5439" y="6477927"/>
            <a:ext cx="226315" cy="301753"/>
          </a:xfrm>
          <a:prstGeom prst="rect">
            <a:avLst/>
          </a:prstGeom>
        </p:spPr>
      </p:pic>
      <p:sp>
        <p:nvSpPr>
          <p:cNvPr id="2" name="TextBox 1"/>
          <p:cNvSpPr txBox="1"/>
          <p:nvPr userDrawn="1"/>
        </p:nvSpPr>
        <p:spPr>
          <a:xfrm>
            <a:off x="11724460" y="6567249"/>
            <a:ext cx="46753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fld id="{F8FBCD80-1BA2-9C4B-8FD8-FBEEFF13001D}" type="slidenum">
              <a:rPr lang="en-US" sz="800" smtClean="0">
                <a:solidFill>
                  <a:schemeClr val="accent4"/>
                </a:solidFill>
              </a:rPr>
              <a:pPr algn="ctr"/>
              <a:t>‹#›</a:t>
            </a:fld>
            <a:endParaRPr lang="en-US" sz="80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90492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0% Bloc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 userDrawn="1"/>
        </p:nvSpPr>
        <p:spPr>
          <a:xfrm>
            <a:off x="0" y="0"/>
            <a:ext cx="6096000" cy="640079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5838" y="566400"/>
            <a:ext cx="5181827" cy="566928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Title (20 PT)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455460" y="263452"/>
            <a:ext cx="4874834" cy="1538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sz="1000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Category / Description (10 PT)</a:t>
            </a:r>
          </a:p>
        </p:txBody>
      </p:sp>
      <p:sp>
        <p:nvSpPr>
          <p:cNvPr id="3" name="Content Placeholder 5"/>
          <p:cNvSpPr>
            <a:spLocks noGrp="1"/>
          </p:cNvSpPr>
          <p:nvPr>
            <p:ph sz="quarter" idx="15" hasCustomPrompt="1"/>
          </p:nvPr>
        </p:nvSpPr>
        <p:spPr>
          <a:xfrm>
            <a:off x="6552217" y="1424682"/>
            <a:ext cx="5182583" cy="4712658"/>
          </a:xfrm>
        </p:spPr>
        <p:txBody>
          <a:bodyPr/>
          <a:lstStyle/>
          <a:p>
            <a:pPr lvl="0"/>
            <a:r>
              <a:rPr lang="en-US"/>
              <a:t>Click to edit Content (12 PT)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6" hasCustomPrompt="1"/>
          </p:nvPr>
        </p:nvSpPr>
        <p:spPr>
          <a:xfrm>
            <a:off x="455460" y="1424682"/>
            <a:ext cx="5181827" cy="4712657"/>
          </a:xfrm>
        </p:spPr>
        <p:txBody>
          <a:bodyPr/>
          <a:lstStyle>
            <a:lvl1pPr>
              <a:buClr>
                <a:schemeClr val="bg2"/>
              </a:buClr>
              <a:defRPr>
                <a:solidFill>
                  <a:schemeClr val="bg2"/>
                </a:solidFill>
              </a:defRPr>
            </a:lvl1pPr>
            <a:lvl2pPr>
              <a:buClr>
                <a:schemeClr val="bg2"/>
              </a:buClr>
              <a:defRPr>
                <a:solidFill>
                  <a:schemeClr val="bg2"/>
                </a:solidFill>
              </a:defRPr>
            </a:lvl2pPr>
            <a:lvl3pPr>
              <a:buClr>
                <a:schemeClr val="bg2"/>
              </a:buClr>
              <a:defRPr>
                <a:solidFill>
                  <a:schemeClr val="bg2"/>
                </a:solidFill>
              </a:defRPr>
            </a:lvl3pPr>
            <a:lvl4pPr>
              <a:buClr>
                <a:schemeClr val="bg2"/>
              </a:buClr>
              <a:defRPr>
                <a:solidFill>
                  <a:schemeClr val="bg2"/>
                </a:solidFill>
              </a:defRPr>
            </a:lvl4pPr>
            <a:lvl5pPr>
              <a:buClr>
                <a:schemeClr val="bg2"/>
              </a:buClr>
              <a:defRPr>
                <a:solidFill>
                  <a:schemeClr val="bg2"/>
                </a:solidFill>
              </a:defRPr>
            </a:lvl5pPr>
          </a:lstStyle>
          <a:p>
            <a:pPr lvl="0"/>
            <a:r>
              <a:rPr lang="en-US"/>
              <a:t>Click to edit Content (12 PT)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596963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452701" y="263452"/>
            <a:ext cx="4874834" cy="1538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>
              <a:buNone/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Category / Description (10 PT)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53079" y="566400"/>
            <a:ext cx="11282099" cy="5669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 (20 PT)</a:t>
            </a:r>
          </a:p>
        </p:txBody>
      </p:sp>
    </p:spTree>
    <p:extLst>
      <p:ext uri="{BB962C8B-B14F-4D97-AF65-F5344CB8AC3E}">
        <p14:creationId xmlns:p14="http://schemas.microsoft.com/office/powerpoint/2010/main" val="36652981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 not remove" hidden="1"/>
          <p:cNvSpPr/>
          <p:nvPr userDrawn="1"/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905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7125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Gloss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ags" Target="../tags/tag1.xml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sv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emf"/><Relationship Id="rId4" Type="http://schemas.openxmlformats.org/officeDocument/2006/relationships/slideLayout" Target="../slideLayouts/slideLayout4.xml"/><Relationship Id="rId9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D5435E64-C67E-B7D2-F1D2-3FF5E4CADA9A}"/>
              </a:ext>
            </a:extLst>
          </p:cNvPr>
          <p:cNvGraphicFramePr>
            <a:graphicFrameLocks/>
          </p:cNvGraphicFramePr>
          <p:nvPr userDrawn="1">
            <p:custDataLst>
              <p:tags r:id="rId8"/>
            </p:custDataLst>
            <p:extLst>
              <p:ext uri="{D42A27DB-BD31-4B8C-83A1-F6EECF244321}">
                <p14:modId xmlns:p14="http://schemas.microsoft.com/office/powerpoint/2010/main" val="129009287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04" imgH="405" progId="TCLayout.ActiveDocument.1">
                  <p:embed/>
                </p:oleObj>
              </mc:Choice>
              <mc:Fallback>
                <p:oleObj name="think-cell Slide" r:id="rId9" imgW="404" imgH="405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2702" y="566399"/>
            <a:ext cx="11282100" cy="566919"/>
          </a:xfrm>
          <a:prstGeom prst="rect">
            <a:avLst/>
          </a:prstGeom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/>
              <a:t>Click to edit Master Title (20 PT)</a:t>
            </a:r>
            <a:br>
              <a:rPr lang="en-US"/>
            </a:br>
            <a:br>
              <a:rPr lang="en-US"/>
            </a:br>
            <a:endParaRPr lang="en-US"/>
          </a:p>
        </p:txBody>
      </p:sp>
      <p:cxnSp>
        <p:nvCxnSpPr>
          <p:cNvPr id="10" name="Straight Connector 9"/>
          <p:cNvCxnSpPr/>
          <p:nvPr userDrawn="1"/>
        </p:nvCxnSpPr>
        <p:spPr>
          <a:xfrm>
            <a:off x="0" y="6400800"/>
            <a:ext cx="12192000" cy="0"/>
          </a:xfrm>
          <a:prstGeom prst="line">
            <a:avLst/>
          </a:prstGeom>
          <a:ln w="635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 Placeholder 25"/>
          <p:cNvSpPr>
            <a:spLocks noGrp="1"/>
          </p:cNvSpPr>
          <p:nvPr>
            <p:ph type="body" idx="1"/>
          </p:nvPr>
        </p:nvSpPr>
        <p:spPr>
          <a:xfrm>
            <a:off x="452701" y="1424682"/>
            <a:ext cx="11282099" cy="471265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 (12 PT)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Box 10"/>
          <p:cNvSpPr txBox="1"/>
          <p:nvPr userDrawn="1"/>
        </p:nvSpPr>
        <p:spPr>
          <a:xfrm>
            <a:off x="4220848" y="6521083"/>
            <a:ext cx="375030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SARONIC PROPRIETARY AND CONFIDENTIAL</a:t>
            </a:r>
          </a:p>
        </p:txBody>
      </p:sp>
      <p:sp>
        <p:nvSpPr>
          <p:cNvPr id="12" name="TextBox 11"/>
          <p:cNvSpPr txBox="1"/>
          <p:nvPr userDrawn="1"/>
        </p:nvSpPr>
        <p:spPr>
          <a:xfrm>
            <a:off x="11724460" y="6567249"/>
            <a:ext cx="467539" cy="12311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fld id="{F8FBCD80-1BA2-9C4B-8FD8-FBEEFF13001D}" type="slidenum">
              <a:rPr lang="en-US" sz="800" smtClean="0">
                <a:solidFill>
                  <a:schemeClr val="tx2"/>
                </a:solidFill>
              </a:rPr>
              <a:pPr algn="ctr"/>
              <a:t>‹#›</a:t>
            </a:fld>
            <a:endParaRPr lang="en-US" sz="800">
              <a:solidFill>
                <a:schemeClr val="tx2"/>
              </a:solidFill>
            </a:endParaRPr>
          </a:p>
        </p:txBody>
      </p:sp>
      <p:cxnSp>
        <p:nvCxnSpPr>
          <p:cNvPr id="20" name="Straight Connector 19"/>
          <p:cNvCxnSpPr>
            <a:cxnSpLocks/>
          </p:cNvCxnSpPr>
          <p:nvPr userDrawn="1"/>
        </p:nvCxnSpPr>
        <p:spPr>
          <a:xfrm>
            <a:off x="457193" y="6400800"/>
            <a:ext cx="0" cy="457200"/>
          </a:xfrm>
          <a:prstGeom prst="line">
            <a:avLst/>
          </a:prstGeom>
          <a:ln w="635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>
            <a:cxnSpLocks/>
          </p:cNvCxnSpPr>
          <p:nvPr userDrawn="1"/>
        </p:nvCxnSpPr>
        <p:spPr>
          <a:xfrm>
            <a:off x="11724461" y="6400800"/>
            <a:ext cx="0" cy="457200"/>
          </a:xfrm>
          <a:prstGeom prst="line">
            <a:avLst/>
          </a:prstGeom>
          <a:ln w="6350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9" name="Graphic 28"/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15439" y="6477927"/>
            <a:ext cx="226315" cy="301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3979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54" r:id="rId2"/>
    <p:sldLayoutId id="2147483658" r:id="rId3"/>
    <p:sldLayoutId id="2147483661" r:id="rId4"/>
    <p:sldLayoutId id="2147483691" r:id="rId5"/>
    <p:sldLayoutId id="2147483696" r:id="rId6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20650" indent="-120650" algn="l" defTabSz="914400" rtl="0" eaLnBrk="1" latinLnBrk="0" hangingPunct="1">
        <a:lnSpc>
          <a:spcPct val="100000"/>
        </a:lnSpc>
        <a:spcBef>
          <a:spcPts val="800"/>
        </a:spcBef>
        <a:buClr>
          <a:schemeClr val="tx2"/>
        </a:buClr>
        <a:buSzPct val="120000"/>
        <a:buFont typeface="Arial" panose="020B0604020202020204" pitchFamily="34" charset="0"/>
        <a:buChar char="•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1pPr>
      <a:lvl2pPr marL="233363" indent="-117475" algn="l" defTabSz="914400" rtl="0" eaLnBrk="1" latinLnBrk="0" hangingPunct="1">
        <a:lnSpc>
          <a:spcPct val="100000"/>
        </a:lnSpc>
        <a:spcBef>
          <a:spcPts val="800"/>
        </a:spcBef>
        <a:buClr>
          <a:schemeClr val="tx2"/>
        </a:buClr>
        <a:buSzPct val="120000"/>
        <a:buFont typeface="Arial" panose="020B0604020202020204" pitchFamily="34" charset="0"/>
        <a:buChar char="-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2pPr>
      <a:lvl3pPr marL="350838" indent="-117475" algn="l" defTabSz="914400" rtl="0" eaLnBrk="1" latinLnBrk="0" hangingPunct="1">
        <a:lnSpc>
          <a:spcPct val="100000"/>
        </a:lnSpc>
        <a:spcBef>
          <a:spcPts val="800"/>
        </a:spcBef>
        <a:buClr>
          <a:schemeClr val="tx2"/>
        </a:buClr>
        <a:buSzPct val="90000"/>
        <a:buFont typeface="Wingdings" pitchFamily="2" charset="2"/>
        <a:buChar char="§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3pPr>
      <a:lvl4pPr marL="463550" indent="-111125" algn="l" defTabSz="914400" rtl="0" eaLnBrk="1" latinLnBrk="0" hangingPunct="1">
        <a:lnSpc>
          <a:spcPct val="100000"/>
        </a:lnSpc>
        <a:spcBef>
          <a:spcPts val="800"/>
        </a:spcBef>
        <a:buSzPct val="90000"/>
        <a:buFont typeface="Wingdings" pitchFamily="2" charset="2"/>
        <a:buChar char="§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573088" indent="-109538" algn="l" defTabSz="914400" rtl="0" eaLnBrk="1" latinLnBrk="0" hangingPunct="1">
        <a:lnSpc>
          <a:spcPct val="100000"/>
        </a:lnSpc>
        <a:spcBef>
          <a:spcPts val="800"/>
        </a:spcBef>
        <a:buSzPct val="90000"/>
        <a:buFont typeface="Wingdings" pitchFamily="2" charset="2"/>
        <a:buChar char="§"/>
        <a:tabLst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Market Sizing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Recompete Addressability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Recompete Timing | A vehicle's last date to order sets the recompete clock, not its last task order's end date.</a:t>
            </a:r>
          </a:p>
        </p:txBody>
      </p:sp>
      <p:sp>
        <p:nvSpPr>
          <p:cNvPr id="10" name="ClockReframe"/>
          <p:cNvSpPr txBox="1"/>
          <p:nvPr/>
        </p:nvSpPr>
        <p:spPr>
          <a:xfrm>
            <a:off x="453079" y="1371600"/>
            <a:ext cx="7406640" cy="63093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Recompete is when authority to place new orders ends, not when the latest task order ends.</a:t>
            </a:r>
          </a:p>
          <a:p>
            <a:pPr>
              <a:lnSpc>
                <a:spcPct val="108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 an Indefinite Delivery Vehicle (IDV), the parent's last date to order controls; orders placed during the ordering period can keep performing after it. Reading the latest child-order end as the recompete date is the common false signal.</a:t>
            </a:r>
          </a:p>
        </p:txBody>
      </p:sp>
      <p:cxnSp>
        <p:nvCxnSpPr>
          <p:cNvPr id="11" name="SectionDivider"/>
          <p:cNvCxnSpPr/>
          <p:nvPr/>
        </p:nvCxnSpPr>
        <p:spPr>
          <a:xfrm>
            <a:off x="7942015" y="1371600"/>
            <a:ext cx="1" cy="3858768"/>
          </a:xfrm>
          <a:prstGeom prst="line">
            <a:avLst/>
          </a:prstGeom>
          <a:ln w="6350">
            <a:solidFill>
              <a:srgbClr val="BFBFBF"/>
            </a:solidFill>
          </a:ln>
        </p:spPr>
      </p:cxnSp>
      <p:cxnSp>
        <p:nvCxnSpPr>
          <p:cNvPr id="12" name="TriggerLegendTick"/>
          <p:cNvCxnSpPr/>
          <p:nvPr/>
        </p:nvCxnSpPr>
        <p:spPr>
          <a:xfrm>
            <a:off x="3580327" y="2093976"/>
            <a:ext cx="1" cy="164592"/>
          </a:xfrm>
          <a:prstGeom prst="line">
            <a:avLst/>
          </a:prstGeom>
          <a:ln w="25400">
            <a:solidFill>
              <a:srgbClr val="6E91B1"/>
            </a:solidFill>
          </a:ln>
        </p:spPr>
      </p:cxnSp>
      <p:sp>
        <p:nvSpPr>
          <p:cNvPr id="13" name="TriggerLegend"/>
          <p:cNvSpPr txBox="1"/>
          <p:nvPr/>
        </p:nvSpPr>
        <p:spPr>
          <a:xfrm>
            <a:off x="3671767" y="2048256"/>
            <a:ext cx="1069848" cy="25603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800" b="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last date to order
(recompete trigger)</a:t>
            </a:r>
          </a:p>
        </p:txBody>
      </p:sp>
      <p:sp>
        <p:nvSpPr>
          <p:cNvPr id="14" name="TailLegend"/>
          <p:cNvSpPr txBox="1"/>
          <p:nvPr/>
        </p:nvSpPr>
        <p:spPr>
          <a:xfrm>
            <a:off x="4750759" y="2048256"/>
            <a:ext cx="1444752" cy="329184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75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child-order performance tail
(continues past the trigger)</a:t>
            </a:r>
          </a:p>
        </p:txBody>
      </p:sp>
      <p:cxnSp>
        <p:nvCxnSpPr>
          <p:cNvPr id="15" name="TimeAxis"/>
          <p:cNvCxnSpPr/>
          <p:nvPr/>
        </p:nvCxnSpPr>
        <p:spPr>
          <a:xfrm>
            <a:off x="2227015" y="2395728"/>
            <a:ext cx="3877056" cy="1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cxnSp>
        <p:nvCxnSpPr>
          <p:cNvPr id="16" name="TodayLine"/>
          <p:cNvCxnSpPr/>
          <p:nvPr/>
        </p:nvCxnSpPr>
        <p:spPr>
          <a:xfrm>
            <a:off x="2227015" y="2368296"/>
            <a:ext cx="1" cy="2962656"/>
          </a:xfrm>
          <a:prstGeom prst="line">
            <a:avLst/>
          </a:prstGeom>
          <a:ln w="6350">
            <a:solidFill>
              <a:srgbClr val="BFBFBF"/>
            </a:solidFill>
            <a:prstDash val="dash"/>
          </a:ln>
        </p:spPr>
      </p:cxnSp>
      <p:cxnSp>
        <p:nvCxnSpPr>
          <p:cNvPr id="17" name="DecisionHorizonLine"/>
          <p:cNvCxnSpPr/>
          <p:nvPr/>
        </p:nvCxnSpPr>
        <p:spPr>
          <a:xfrm>
            <a:off x="5537143" y="2368296"/>
            <a:ext cx="1" cy="2962656"/>
          </a:xfrm>
          <a:prstGeom prst="line">
            <a:avLst/>
          </a:prstGeom>
          <a:ln w="6350">
            <a:solidFill>
              <a:srgbClr val="BFBFBF"/>
            </a:solidFill>
            <a:prstDash val="dash"/>
          </a:ln>
        </p:spPr>
      </p:cxnSp>
      <p:sp>
        <p:nvSpPr>
          <p:cNvPr id="18" name="TodayLabel"/>
          <p:cNvSpPr txBox="1"/>
          <p:nvPr/>
        </p:nvSpPr>
        <p:spPr>
          <a:xfrm>
            <a:off x="1989271" y="2176272"/>
            <a:ext cx="530352" cy="16459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80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TODAY</a:t>
            </a:r>
          </a:p>
        </p:txBody>
      </p:sp>
      <p:sp>
        <p:nvSpPr>
          <p:cNvPr id="19" name="DecisionHorizonLabel"/>
          <p:cNvSpPr txBox="1"/>
          <p:nvPr/>
        </p:nvSpPr>
        <p:spPr>
          <a:xfrm>
            <a:off x="5116519" y="2414016"/>
            <a:ext cx="841248" cy="12801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75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decision horizon</a:t>
            </a:r>
          </a:p>
        </p:txBody>
      </p:sp>
      <p:cxnSp>
        <p:nvCxnSpPr>
          <p:cNvPr id="20" name="LaneSeparator"/>
          <p:cNvCxnSpPr/>
          <p:nvPr/>
        </p:nvCxnSpPr>
        <p:spPr>
          <a:xfrm>
            <a:off x="453079" y="2980944"/>
            <a:ext cx="5779008" cy="1"/>
          </a:xfrm>
          <a:prstGeom prst="line">
            <a:avLst/>
          </a:prstGeom>
          <a:ln w="3175">
            <a:solidFill>
              <a:srgbClr val="D9D9D9"/>
            </a:solidFill>
          </a:ln>
        </p:spPr>
      </p:cxnSp>
      <p:cxnSp>
        <p:nvCxnSpPr>
          <p:cNvPr id="21" name="LaneSeparator"/>
          <p:cNvCxnSpPr/>
          <p:nvPr/>
        </p:nvCxnSpPr>
        <p:spPr>
          <a:xfrm>
            <a:off x="453079" y="3502152"/>
            <a:ext cx="5779008" cy="1"/>
          </a:xfrm>
          <a:prstGeom prst="line">
            <a:avLst/>
          </a:prstGeom>
          <a:ln w="3175">
            <a:solidFill>
              <a:srgbClr val="D9D9D9"/>
            </a:solidFill>
          </a:ln>
        </p:spPr>
      </p:cxnSp>
      <p:cxnSp>
        <p:nvCxnSpPr>
          <p:cNvPr id="22" name="LaneSeparator"/>
          <p:cNvCxnSpPr/>
          <p:nvPr/>
        </p:nvCxnSpPr>
        <p:spPr>
          <a:xfrm>
            <a:off x="453079" y="4023360"/>
            <a:ext cx="5779008" cy="1"/>
          </a:xfrm>
          <a:prstGeom prst="line">
            <a:avLst/>
          </a:prstGeom>
          <a:ln w="3175">
            <a:solidFill>
              <a:srgbClr val="D9D9D9"/>
            </a:solidFill>
          </a:ln>
        </p:spPr>
      </p:cxnSp>
      <p:cxnSp>
        <p:nvCxnSpPr>
          <p:cNvPr id="23" name="LaneSeparator"/>
          <p:cNvCxnSpPr/>
          <p:nvPr/>
        </p:nvCxnSpPr>
        <p:spPr>
          <a:xfrm>
            <a:off x="453079" y="4544568"/>
            <a:ext cx="5779008" cy="1"/>
          </a:xfrm>
          <a:prstGeom prst="line">
            <a:avLst/>
          </a:prstGeom>
          <a:ln w="3175">
            <a:solidFill>
              <a:srgbClr val="D9D9D9"/>
            </a:solidFill>
          </a:ln>
        </p:spPr>
      </p:cxnSp>
      <p:cxnSp>
        <p:nvCxnSpPr>
          <p:cNvPr id="24" name="LaneSeparator"/>
          <p:cNvCxnSpPr/>
          <p:nvPr/>
        </p:nvCxnSpPr>
        <p:spPr>
          <a:xfrm>
            <a:off x="453079" y="5065776"/>
            <a:ext cx="5779008" cy="1"/>
          </a:xfrm>
          <a:prstGeom prst="line">
            <a:avLst/>
          </a:prstGeom>
          <a:ln w="3175">
            <a:solidFill>
              <a:srgbClr val="D9D9D9"/>
            </a:solidFill>
          </a:ln>
        </p:spPr>
      </p:cxnSp>
      <p:sp>
        <p:nvSpPr>
          <p:cNvPr id="25" name="LaneLabel"/>
          <p:cNvSpPr txBox="1"/>
          <p:nvPr/>
        </p:nvSpPr>
        <p:spPr>
          <a:xfrm>
            <a:off x="453079" y="2523744"/>
            <a:ext cx="1627632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85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Standalone definitive
contract</a:t>
            </a:r>
          </a:p>
        </p:txBody>
      </p:sp>
      <p:sp>
        <p:nvSpPr>
          <p:cNvPr id="26" name="StandaloneBase"/>
          <p:cNvSpPr txBox="1"/>
          <p:nvPr/>
        </p:nvSpPr>
        <p:spPr>
          <a:xfrm>
            <a:off x="2227015" y="2615184"/>
            <a:ext cx="1975104" cy="13716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base term</a:t>
            </a:r>
          </a:p>
        </p:txBody>
      </p:sp>
      <p:sp>
        <p:nvSpPr>
          <p:cNvPr id="27" name="StandaloneOptions"/>
          <p:cNvSpPr txBox="1"/>
          <p:nvPr/>
        </p:nvSpPr>
        <p:spPr>
          <a:xfrm>
            <a:off x="4202119" y="2615184"/>
            <a:ext cx="1188720" cy="137160"/>
          </a:xfrm>
          <a:prstGeom prst="rect">
            <a:avLst/>
          </a:prstGeom>
          <a:noFill/>
          <a:ln w="12700">
            <a:solidFill>
              <a:srgbClr val="000000"/>
            </a:solidFill>
            <a:prstDash val="dash"/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option capacity</a:t>
            </a:r>
          </a:p>
        </p:txBody>
      </p:sp>
      <p:cxnSp>
        <p:nvCxnSpPr>
          <p:cNvPr id="28" name="RecompeteTrigger"/>
          <p:cNvCxnSpPr/>
          <p:nvPr/>
        </p:nvCxnSpPr>
        <p:spPr>
          <a:xfrm>
            <a:off x="4202119" y="2551176"/>
            <a:ext cx="1" cy="393192"/>
          </a:xfrm>
          <a:prstGeom prst="line">
            <a:avLst/>
          </a:prstGeom>
          <a:ln w="25400">
            <a:solidFill>
              <a:srgbClr val="6E91B1"/>
            </a:solidFill>
          </a:ln>
        </p:spPr>
      </p:cxnSp>
      <p:sp>
        <p:nvSpPr>
          <p:cNvPr id="29" name="StandaloneDecisionLabel"/>
          <p:cNvSpPr txBox="1"/>
          <p:nvPr/>
        </p:nvSpPr>
        <p:spPr>
          <a:xfrm>
            <a:off x="3854647" y="2770632"/>
            <a:ext cx="749808" cy="12801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70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option decision</a:t>
            </a:r>
          </a:p>
        </p:txBody>
      </p:sp>
      <p:sp>
        <p:nvSpPr>
          <p:cNvPr id="30" name="StandaloneUltimateLabel"/>
          <p:cNvSpPr txBox="1"/>
          <p:nvPr/>
        </p:nvSpPr>
        <p:spPr>
          <a:xfrm>
            <a:off x="4641031" y="2770632"/>
            <a:ext cx="841248" cy="12801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70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ultimate end</a:t>
            </a:r>
          </a:p>
        </p:txBody>
      </p:sp>
      <p:cxnSp>
        <p:nvCxnSpPr>
          <p:cNvPr id="31" name="StandaloneDrop"/>
          <p:cNvCxnSpPr/>
          <p:nvPr/>
        </p:nvCxnSpPr>
        <p:spPr>
          <a:xfrm>
            <a:off x="4202119" y="2752344"/>
            <a:ext cx="1" cy="192024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cxnSp>
        <p:nvCxnSpPr>
          <p:cNvPr id="32" name="RouteToAddressableGate"/>
          <p:cNvCxnSpPr/>
          <p:nvPr/>
        </p:nvCxnSpPr>
        <p:spPr>
          <a:xfrm>
            <a:off x="4202119" y="2944368"/>
            <a:ext cx="2029968" cy="1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sp>
        <p:nvSpPr>
          <p:cNvPr id="33" name="LaneLabel"/>
          <p:cNvSpPr txBox="1"/>
          <p:nvPr/>
        </p:nvSpPr>
        <p:spPr>
          <a:xfrm>
            <a:off x="453079" y="3044952"/>
            <a:ext cx="1627632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85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Single-award
Indefinite-Delivery/
Indefinite-Quantity (IDIQ)</a:t>
            </a:r>
          </a:p>
        </p:txBody>
      </p:sp>
      <p:sp>
        <p:nvSpPr>
          <p:cNvPr id="34" name="SAIDIQBase"/>
          <p:cNvSpPr txBox="1"/>
          <p:nvPr/>
        </p:nvSpPr>
        <p:spPr>
          <a:xfrm>
            <a:off x="2227015" y="3118104"/>
            <a:ext cx="1837944" cy="128016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parent ordering period</a:t>
            </a:r>
          </a:p>
        </p:txBody>
      </p:sp>
      <p:sp>
        <p:nvSpPr>
          <p:cNvPr id="35" name="SAIDIQOptions"/>
          <p:cNvSpPr/>
          <p:nvPr/>
        </p:nvSpPr>
        <p:spPr>
          <a:xfrm>
            <a:off x="4064959" y="3118104"/>
            <a:ext cx="1005840" cy="128016"/>
          </a:xfrm>
          <a:prstGeom prst="rect">
            <a:avLst/>
          </a:prstGeom>
          <a:noFill/>
          <a:ln w="12700">
            <a:solidFill>
              <a:srgbClr val="000000"/>
            </a:solidFill>
            <a:prstDash val="dash"/>
          </a:ln>
        </p:spPr>
      </p:sp>
      <p:sp>
        <p:nvSpPr>
          <p:cNvPr id="36" name="SAIDIQChildLabel"/>
          <p:cNvSpPr txBox="1"/>
          <p:nvPr/>
        </p:nvSpPr>
        <p:spPr>
          <a:xfrm>
            <a:off x="2227015" y="3300984"/>
            <a:ext cx="438912" cy="11887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75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orders</a:t>
            </a:r>
          </a:p>
        </p:txBody>
      </p:sp>
      <p:sp>
        <p:nvSpPr>
          <p:cNvPr id="37" name="SAIDIQChild1"/>
          <p:cNvSpPr/>
          <p:nvPr/>
        </p:nvSpPr>
        <p:spPr>
          <a:xfrm>
            <a:off x="2702503" y="3291840"/>
            <a:ext cx="2816352" cy="64008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sp>
        <p:nvSpPr>
          <p:cNvPr id="38" name="SAIDIQChild2"/>
          <p:cNvSpPr/>
          <p:nvPr/>
        </p:nvSpPr>
        <p:spPr>
          <a:xfrm>
            <a:off x="3799783" y="3392424"/>
            <a:ext cx="2130552" cy="64008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cxnSp>
        <p:nvCxnSpPr>
          <p:cNvPr id="39" name="RecompeteTrigger"/>
          <p:cNvCxnSpPr/>
          <p:nvPr/>
        </p:nvCxnSpPr>
        <p:spPr>
          <a:xfrm>
            <a:off x="5070799" y="3063240"/>
            <a:ext cx="1" cy="393192"/>
          </a:xfrm>
          <a:prstGeom prst="line">
            <a:avLst/>
          </a:prstGeom>
          <a:ln w="25400">
            <a:solidFill>
              <a:srgbClr val="6E91B1"/>
            </a:solidFill>
          </a:ln>
        </p:spPr>
      </p:cxnSp>
      <p:cxnSp>
        <p:nvCxnSpPr>
          <p:cNvPr id="40" name="RouteToAddressableGate"/>
          <p:cNvCxnSpPr/>
          <p:nvPr/>
        </p:nvCxnSpPr>
        <p:spPr>
          <a:xfrm>
            <a:off x="5070799" y="3182112"/>
            <a:ext cx="1161288" cy="1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sp>
        <p:nvSpPr>
          <p:cNvPr id="41" name="LaneLabel"/>
          <p:cNvSpPr txBox="1"/>
          <p:nvPr/>
        </p:nvSpPr>
        <p:spPr>
          <a:xfrm>
            <a:off x="453079" y="3566160"/>
            <a:ext cx="1627632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85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Multiple-award
Indefinite-Delivery/
Indefinite-Quantity (IDIQ)</a:t>
            </a:r>
          </a:p>
        </p:txBody>
      </p:sp>
      <p:sp>
        <p:nvSpPr>
          <p:cNvPr id="42" name="MAIDIQBase"/>
          <p:cNvSpPr txBox="1"/>
          <p:nvPr/>
        </p:nvSpPr>
        <p:spPr>
          <a:xfrm>
            <a:off x="2227015" y="3621024"/>
            <a:ext cx="1563624" cy="128016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parent vehicle</a:t>
            </a:r>
          </a:p>
        </p:txBody>
      </p:sp>
      <p:sp>
        <p:nvSpPr>
          <p:cNvPr id="43" name="MAIDIQOptions"/>
          <p:cNvSpPr/>
          <p:nvPr/>
        </p:nvSpPr>
        <p:spPr>
          <a:xfrm>
            <a:off x="3790639" y="3621024"/>
            <a:ext cx="923544" cy="128016"/>
          </a:xfrm>
          <a:prstGeom prst="rect">
            <a:avLst/>
          </a:prstGeom>
          <a:noFill/>
          <a:ln w="12700">
            <a:solidFill>
              <a:srgbClr val="000000"/>
            </a:solidFill>
            <a:prstDash val="dash"/>
          </a:ln>
        </p:spPr>
      </p:sp>
      <p:sp>
        <p:nvSpPr>
          <p:cNvPr id="44" name="MAIDIQChildLabel"/>
          <p:cNvSpPr txBox="1"/>
          <p:nvPr/>
        </p:nvSpPr>
        <p:spPr>
          <a:xfrm>
            <a:off x="2227015" y="3794760"/>
            <a:ext cx="438912" cy="11887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75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orders</a:t>
            </a:r>
          </a:p>
        </p:txBody>
      </p:sp>
      <p:sp>
        <p:nvSpPr>
          <p:cNvPr id="45" name="MAIDIQChild1"/>
          <p:cNvSpPr/>
          <p:nvPr/>
        </p:nvSpPr>
        <p:spPr>
          <a:xfrm>
            <a:off x="2638495" y="3785616"/>
            <a:ext cx="2606040" cy="54864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sp>
        <p:nvSpPr>
          <p:cNvPr id="46" name="MAIDIQChild2"/>
          <p:cNvSpPr/>
          <p:nvPr/>
        </p:nvSpPr>
        <p:spPr>
          <a:xfrm>
            <a:off x="3507175" y="3867912"/>
            <a:ext cx="2478024" cy="54864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sp>
        <p:nvSpPr>
          <p:cNvPr id="47" name="MAIDIQChild3"/>
          <p:cNvSpPr/>
          <p:nvPr/>
        </p:nvSpPr>
        <p:spPr>
          <a:xfrm>
            <a:off x="4174687" y="3950208"/>
            <a:ext cx="1828800" cy="54864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cxnSp>
        <p:nvCxnSpPr>
          <p:cNvPr id="48" name="RecompeteTrigger"/>
          <p:cNvCxnSpPr/>
          <p:nvPr/>
        </p:nvCxnSpPr>
        <p:spPr>
          <a:xfrm>
            <a:off x="4714183" y="3575304"/>
            <a:ext cx="1" cy="393192"/>
          </a:xfrm>
          <a:prstGeom prst="line">
            <a:avLst/>
          </a:prstGeom>
          <a:ln w="25400">
            <a:solidFill>
              <a:srgbClr val="6E91B1"/>
            </a:solidFill>
          </a:ln>
        </p:spPr>
      </p:cxnSp>
      <p:cxnSp>
        <p:nvCxnSpPr>
          <p:cNvPr id="49" name="RouteToAddressableGate"/>
          <p:cNvCxnSpPr/>
          <p:nvPr/>
        </p:nvCxnSpPr>
        <p:spPr>
          <a:xfrm>
            <a:off x="4714183" y="3685032"/>
            <a:ext cx="1517904" cy="1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sp>
        <p:nvSpPr>
          <p:cNvPr id="50" name="LaneLabel"/>
          <p:cNvSpPr txBox="1"/>
          <p:nvPr/>
        </p:nvSpPr>
        <p:spPr>
          <a:xfrm>
            <a:off x="453079" y="4087368"/>
            <a:ext cx="1627632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85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Blanket Purchase Agreement
(BPA)</a:t>
            </a:r>
          </a:p>
        </p:txBody>
      </p:sp>
      <p:sp>
        <p:nvSpPr>
          <p:cNvPr id="51" name="BPABase"/>
          <p:cNvSpPr txBox="1"/>
          <p:nvPr/>
        </p:nvSpPr>
        <p:spPr>
          <a:xfrm>
            <a:off x="2227015" y="4160520"/>
            <a:ext cx="1408176" cy="128016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agreement / call period</a:t>
            </a:r>
          </a:p>
        </p:txBody>
      </p:sp>
      <p:sp>
        <p:nvSpPr>
          <p:cNvPr id="52" name="BPAOptions"/>
          <p:cNvSpPr/>
          <p:nvPr/>
        </p:nvSpPr>
        <p:spPr>
          <a:xfrm>
            <a:off x="3635191" y="4160520"/>
            <a:ext cx="859536" cy="128016"/>
          </a:xfrm>
          <a:prstGeom prst="rect">
            <a:avLst/>
          </a:prstGeom>
          <a:noFill/>
          <a:ln w="12700">
            <a:solidFill>
              <a:srgbClr val="000000"/>
            </a:solidFill>
            <a:prstDash val="dash"/>
          </a:ln>
        </p:spPr>
      </p:sp>
      <p:sp>
        <p:nvSpPr>
          <p:cNvPr id="53" name="BPAChildLabel"/>
          <p:cNvSpPr txBox="1"/>
          <p:nvPr/>
        </p:nvSpPr>
        <p:spPr>
          <a:xfrm>
            <a:off x="2227015" y="4343400"/>
            <a:ext cx="438912" cy="11887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75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calls</a:t>
            </a:r>
          </a:p>
        </p:txBody>
      </p:sp>
      <p:sp>
        <p:nvSpPr>
          <p:cNvPr id="54" name="BPAChild1"/>
          <p:cNvSpPr/>
          <p:nvPr/>
        </p:nvSpPr>
        <p:spPr>
          <a:xfrm>
            <a:off x="2793943" y="4334256"/>
            <a:ext cx="2523744" cy="64008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sp>
        <p:nvSpPr>
          <p:cNvPr id="55" name="BPAChild2"/>
          <p:cNvSpPr/>
          <p:nvPr/>
        </p:nvSpPr>
        <p:spPr>
          <a:xfrm>
            <a:off x="3690055" y="4434840"/>
            <a:ext cx="2221992" cy="64008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cxnSp>
        <p:nvCxnSpPr>
          <p:cNvPr id="56" name="RecompeteTrigger"/>
          <p:cNvCxnSpPr/>
          <p:nvPr/>
        </p:nvCxnSpPr>
        <p:spPr>
          <a:xfrm>
            <a:off x="4494727" y="4105656"/>
            <a:ext cx="1" cy="393192"/>
          </a:xfrm>
          <a:prstGeom prst="line">
            <a:avLst/>
          </a:prstGeom>
          <a:ln w="25400">
            <a:solidFill>
              <a:srgbClr val="6E91B1"/>
            </a:solidFill>
          </a:ln>
        </p:spPr>
      </p:cxnSp>
      <p:cxnSp>
        <p:nvCxnSpPr>
          <p:cNvPr id="57" name="RouteToAddressableGate"/>
          <p:cNvCxnSpPr/>
          <p:nvPr/>
        </p:nvCxnSpPr>
        <p:spPr>
          <a:xfrm>
            <a:off x="4494727" y="4224528"/>
            <a:ext cx="1737360" cy="1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sp>
        <p:nvSpPr>
          <p:cNvPr id="58" name="LaneLabel"/>
          <p:cNvSpPr txBox="1"/>
          <p:nvPr/>
        </p:nvSpPr>
        <p:spPr>
          <a:xfrm>
            <a:off x="453079" y="4608576"/>
            <a:ext cx="1627632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85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Other Transaction (OT)
agreement</a:t>
            </a:r>
          </a:p>
        </p:txBody>
      </p:sp>
      <p:sp>
        <p:nvSpPr>
          <p:cNvPr id="59" name="OTBase"/>
          <p:cNvSpPr txBox="1"/>
          <p:nvPr/>
        </p:nvSpPr>
        <p:spPr>
          <a:xfrm>
            <a:off x="2227015" y="4681728"/>
            <a:ext cx="1929384" cy="128016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agreement-specific term</a:t>
            </a:r>
          </a:p>
        </p:txBody>
      </p:sp>
      <p:sp>
        <p:nvSpPr>
          <p:cNvPr id="60" name="OTOptions"/>
          <p:cNvSpPr/>
          <p:nvPr/>
        </p:nvSpPr>
        <p:spPr>
          <a:xfrm>
            <a:off x="4156399" y="4681728"/>
            <a:ext cx="1115568" cy="128016"/>
          </a:xfrm>
          <a:prstGeom prst="rect">
            <a:avLst/>
          </a:prstGeom>
          <a:noFill/>
          <a:ln w="12700">
            <a:solidFill>
              <a:srgbClr val="000000"/>
            </a:solidFill>
            <a:prstDash val="dash"/>
          </a:ln>
        </p:spPr>
      </p:sp>
      <p:sp>
        <p:nvSpPr>
          <p:cNvPr id="61" name="OTChildLabel"/>
          <p:cNvSpPr txBox="1"/>
          <p:nvPr/>
        </p:nvSpPr>
        <p:spPr>
          <a:xfrm>
            <a:off x="2227015" y="4882896"/>
            <a:ext cx="438912" cy="11887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75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orders</a:t>
            </a:r>
          </a:p>
        </p:txBody>
      </p:sp>
      <p:sp>
        <p:nvSpPr>
          <p:cNvPr id="62" name="OTChild1"/>
          <p:cNvSpPr/>
          <p:nvPr/>
        </p:nvSpPr>
        <p:spPr>
          <a:xfrm>
            <a:off x="3187135" y="4873752"/>
            <a:ext cx="2926080" cy="64008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cxnSp>
        <p:nvCxnSpPr>
          <p:cNvPr id="63" name="RecompeteTrigger"/>
          <p:cNvCxnSpPr/>
          <p:nvPr/>
        </p:nvCxnSpPr>
        <p:spPr>
          <a:xfrm>
            <a:off x="5271967" y="4626864"/>
            <a:ext cx="1" cy="393192"/>
          </a:xfrm>
          <a:prstGeom prst="line">
            <a:avLst/>
          </a:prstGeom>
          <a:ln w="25400">
            <a:solidFill>
              <a:srgbClr val="6E91B1"/>
            </a:solidFill>
          </a:ln>
        </p:spPr>
      </p:cxnSp>
      <p:cxnSp>
        <p:nvCxnSpPr>
          <p:cNvPr id="64" name="RouteToAddressableGate"/>
          <p:cNvCxnSpPr/>
          <p:nvPr/>
        </p:nvCxnSpPr>
        <p:spPr>
          <a:xfrm>
            <a:off x="5271967" y="4745736"/>
            <a:ext cx="960120" cy="1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sp>
        <p:nvSpPr>
          <p:cNvPr id="65" name="AddressableBadge"/>
          <p:cNvSpPr txBox="1"/>
          <p:nvPr/>
        </p:nvSpPr>
        <p:spPr>
          <a:xfrm>
            <a:off x="6232087" y="2359152"/>
            <a:ext cx="1627632" cy="365760"/>
          </a:xfrm>
          <a:prstGeom prst="rect">
            <a:avLst/>
          </a:prstGeom>
          <a:solidFill>
            <a:srgbClr val="3D5972"/>
          </a:solidFill>
          <a:ln w="19050">
            <a:solidFill>
              <a:srgbClr val="000000"/>
            </a:solidFill>
          </a:ln>
        </p:spPr>
        <p:txBody>
          <a:bodyPr wrap="non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ADDRESSABLE?</a:t>
            </a:r>
          </a:p>
        </p:txBody>
      </p:sp>
      <p:sp>
        <p:nvSpPr>
          <p:cNvPr id="66" name="AddressableGuardrail"/>
          <p:cNvSpPr txBox="1"/>
          <p:nvPr/>
        </p:nvSpPr>
        <p:spPr>
          <a:xfrm>
            <a:off x="6232087" y="2724912"/>
            <a:ext cx="1627632" cy="2414016"/>
          </a:xfrm>
          <a:prstGeom prst="rect">
            <a:avLst/>
          </a:prstGeom>
          <a:solidFill>
            <a:srgbClr val="B6C8D8"/>
          </a:solidFill>
          <a:ln w="12700">
            <a:solidFill>
              <a:srgbClr val="000000"/>
            </a:solidFill>
          </a:ln>
        </p:spPr>
        <p:txBody>
          <a:bodyPr wrap="square" anchor="t" lIns="114300" tIns="76200" rIns="114300" bIns="76200"/>
          <a:lstStyle/>
          <a:p>
            <a:pPr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 expiring vehicle is not automatically an opportunity.</a:t>
            </a:r>
          </a:p>
          <a:p>
            <a:pPr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  SUCCESSOR CHECK</a:t>
            </a:r>
          </a:p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Has a follow-on already been awarded? If yes, classify it as superseded, not overdue.</a:t>
            </a:r>
          </a:p>
          <a:p>
            <a:pPr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  ACCESS CHECK</a:t>
            </a:r>
          </a:p>
          <a:p>
            <a:pPr>
              <a:lnSpc>
                <a:spcPct val="10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Can the company compete? FAR 16.505 may limit the next order to existing vehicle holders.</a:t>
            </a:r>
          </a:p>
        </p:txBody>
      </p:sp>
      <p:graphicFrame>
        <p:nvGraphicFramePr>
          <p:cNvPr id="67" name="VehicleClockRules"/>
          <p:cNvGraphicFramePr>
            <a:graphicFrameLocks noGrp="1"/>
          </p:cNvGraphicFramePr>
          <p:nvPr/>
        </p:nvGraphicFramePr>
        <p:xfrm>
          <a:off x="8024311" y="1371600"/>
          <a:ext cx="3711130" cy="3139440"/>
        </p:xfrm>
        <a:graphic>
          <a:graphicData uri="http://schemas.openxmlformats.org/drawingml/2006/table">
            <a:tbl>
              <a:tblPr firstRow="1" firstCol="1" bandRow="0">
                <a:tableStyleId>{2D5ABB26-0587-4C30-8999-92F81FD0307C}</a:tableStyleId>
              </a:tblPr>
              <a:tblGrid>
                <a:gridCol w="822960"/>
                <a:gridCol w="941832"/>
                <a:gridCol w="713232"/>
                <a:gridCol w="1233106"/>
              </a:tblGrid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Vehicle type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Recompete clock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Confidence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Note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5791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Standalone definitive contract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Current and ultimate completion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High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6E91B1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Current may be an option decision; ultimate is the outer horizon.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70104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IDIQ, single or multiple award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Parent last date to order; child end for holders-only work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High (parent)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6E91B1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Parent governs vehicle; child follow-on may be holders-only.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3528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Task or delivery order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Child ultimate completion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Medium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6C8D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Follow-on may be holders-only.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BPA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Agreement or call-period logic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Medium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6C8D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Inspect parent and call rules.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3528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BOA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Nominal agreement end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Low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Not a contract; not a guaranteed recompete.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5720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OT agreement or order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Agreement-specific terms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Variable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Read governing agreement; validate externally.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68" name="GateToStateClassification"/>
          <p:cNvCxnSpPr/>
          <p:nvPr/>
        </p:nvCxnSpPr>
        <p:spPr>
          <a:xfrm>
            <a:off x="7859719" y="4620768"/>
            <a:ext cx="164592" cy="1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sp>
        <p:nvSpPr>
          <p:cNvPr id="69" name="StateHeader"/>
          <p:cNvSpPr txBox="1"/>
          <p:nvPr/>
        </p:nvSpPr>
        <p:spPr>
          <a:xfrm>
            <a:off x="8024311" y="4538472"/>
            <a:ext cx="3711130" cy="164592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OPPORTUNITY STATE, AFTER BOTH GATES</a:t>
            </a:r>
          </a:p>
        </p:txBody>
      </p:sp>
      <p:sp>
        <p:nvSpPr>
          <p:cNvPr id="70" name="StateChip1"/>
          <p:cNvSpPr txBox="1"/>
          <p:nvPr/>
        </p:nvSpPr>
        <p:spPr>
          <a:xfrm>
            <a:off x="8024311" y="4748784"/>
            <a:ext cx="1200467" cy="18288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Open now</a:t>
            </a:r>
          </a:p>
        </p:txBody>
      </p:sp>
      <p:sp>
        <p:nvSpPr>
          <p:cNvPr id="71" name="StateChip2"/>
          <p:cNvSpPr txBox="1"/>
          <p:nvPr/>
        </p:nvSpPr>
        <p:spPr>
          <a:xfrm>
            <a:off x="9279642" y="4748784"/>
            <a:ext cx="1200467" cy="18288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Option decision</a:t>
            </a:r>
          </a:p>
        </p:txBody>
      </p:sp>
      <p:sp>
        <p:nvSpPr>
          <p:cNvPr id="72" name="StateChip3"/>
          <p:cNvSpPr txBox="1"/>
          <p:nvPr/>
        </p:nvSpPr>
        <p:spPr>
          <a:xfrm>
            <a:off x="10534973" y="4748784"/>
            <a:ext cx="1200467" cy="18288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Likely upcoming</a:t>
            </a:r>
          </a:p>
        </p:txBody>
      </p:sp>
      <p:sp>
        <p:nvSpPr>
          <p:cNvPr id="73" name="StateChip4"/>
          <p:cNvSpPr txBox="1"/>
          <p:nvPr/>
        </p:nvSpPr>
        <p:spPr>
          <a:xfrm>
            <a:off x="8024311" y="4940808"/>
            <a:ext cx="1200467" cy="18288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Holders-only</a:t>
            </a:r>
          </a:p>
        </p:txBody>
      </p:sp>
      <p:sp>
        <p:nvSpPr>
          <p:cNvPr id="74" name="StateChip5"/>
          <p:cNvSpPr txBox="1"/>
          <p:nvPr/>
        </p:nvSpPr>
        <p:spPr>
          <a:xfrm>
            <a:off x="9279642" y="4940808"/>
            <a:ext cx="1200467" cy="18288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Superseded</a:t>
            </a:r>
          </a:p>
        </p:txBody>
      </p:sp>
      <p:sp>
        <p:nvSpPr>
          <p:cNvPr id="75" name="StateChip6"/>
          <p:cNvSpPr txBox="1"/>
          <p:nvPr/>
        </p:nvSpPr>
        <p:spPr>
          <a:xfrm>
            <a:off x="10534973" y="4940808"/>
            <a:ext cx="1200467" cy="18288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Research required</a:t>
            </a:r>
          </a:p>
        </p:txBody>
      </p:sp>
      <p:cxnSp>
        <p:nvCxnSpPr>
          <p:cNvPr id="76" name="CaveatRailRule"/>
          <p:cNvCxnSpPr/>
          <p:nvPr/>
        </p:nvCxnSpPr>
        <p:spPr>
          <a:xfrm>
            <a:off x="453079" y="5394960"/>
            <a:ext cx="11282362" cy="1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sp>
        <p:nvSpPr>
          <p:cNvPr id="77" name="CaveatRail"/>
          <p:cNvSpPr txBox="1"/>
          <p:nvPr/>
        </p:nvSpPr>
        <p:spPr>
          <a:xfrm>
            <a:off x="453079" y="5422392"/>
            <a:ext cx="11282362" cy="39319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Timing is one of four reads. </a:t>
            </a: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Requirement recurrence, authority lapse, competition route, and eligible bidder set are separate questions; the clock answers only the second.</a:t>
            </a:r>
          </a:p>
          <a:p>
            <a:pPr>
              <a:lnSpc>
                <a:spcPct val="100000"/>
              </a:lnSpc>
              <a:buNone/>
            </a:pPr>
            <a:r>
              <a:rPr lang="en-US" sz="750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Timing confidence varies by vehicle type | A Basic Ordering Agreement (BOA) nominal end is not a guaranteed recompete | A later Procurement Instrument Identifier (PIID) may already be the successor | Option value is capacity, not guaranteed revenue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SAM.gov Contract Awards API; FAR 16.505, 16.703, 17.207; FPDS and internal Army Market Mapping workbook. Figures illustrative of method; as of 2026-06-22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Market Sizing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Recompete Addressability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Recompete Timing | A vehicle's last date to order sets the recompete clock, not its last task order's end date.</a:t>
            </a:r>
          </a:p>
        </p:txBody>
      </p:sp>
      <p:graphicFrame>
        <p:nvGraphicFramePr>
          <p:cNvPr id="10" name="RecompeteTimelineChart"/>
          <p:cNvGraphicFramePr/>
          <p:nvPr/>
        </p:nvGraphicFramePr>
        <p:xfrm>
          <a:off x="453079" y="2240280"/>
          <a:ext cx="5687568" cy="28712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1" name="ClockReframe"/>
          <p:cNvSpPr txBox="1"/>
          <p:nvPr/>
        </p:nvSpPr>
        <p:spPr>
          <a:xfrm>
            <a:off x="453079" y="1371600"/>
            <a:ext cx="7168896" cy="63093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08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Recompete is when authority to place new orders ends, not when the latest task order ends.</a:t>
            </a:r>
          </a:p>
          <a:p>
            <a:pPr>
              <a:lnSpc>
                <a:spcPct val="108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 an Indefinite Delivery Vehicle (IDV), the parent's last date to order controls; orders placed during the ordering period can keep performing after it. Reading the latest child-order end as the recompete date is the common false signal.</a:t>
            </a:r>
          </a:p>
        </p:txBody>
      </p:sp>
      <p:cxnSp>
        <p:nvCxnSpPr>
          <p:cNvPr id="12" name="SectionDivider"/>
          <p:cNvCxnSpPr/>
          <p:nvPr/>
        </p:nvCxnSpPr>
        <p:spPr>
          <a:xfrm>
            <a:off x="7722559" y="1371600"/>
            <a:ext cx="1" cy="3858768"/>
          </a:xfrm>
          <a:prstGeom prst="line">
            <a:avLst/>
          </a:prstGeom>
          <a:ln w="6350">
            <a:solidFill>
              <a:srgbClr val="BFBFBF"/>
            </a:solidFill>
          </a:ln>
        </p:spPr>
      </p:cxnSp>
      <p:cxnSp>
        <p:nvCxnSpPr>
          <p:cNvPr id="13" name="TriggerLegendTick"/>
          <p:cNvCxnSpPr/>
          <p:nvPr/>
        </p:nvCxnSpPr>
        <p:spPr>
          <a:xfrm>
            <a:off x="3580327" y="2093976"/>
            <a:ext cx="1" cy="164592"/>
          </a:xfrm>
          <a:prstGeom prst="line">
            <a:avLst/>
          </a:prstGeom>
          <a:ln w="25400">
            <a:solidFill>
              <a:srgbClr val="6E91B1"/>
            </a:solidFill>
          </a:ln>
        </p:spPr>
      </p:cxnSp>
      <p:sp>
        <p:nvSpPr>
          <p:cNvPr id="14" name="TriggerLegend"/>
          <p:cNvSpPr txBox="1"/>
          <p:nvPr/>
        </p:nvSpPr>
        <p:spPr>
          <a:xfrm>
            <a:off x="3671767" y="2048256"/>
            <a:ext cx="1069848" cy="25603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800" b="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last date to order
(recompete trigger)</a:t>
            </a:r>
          </a:p>
        </p:txBody>
      </p:sp>
      <p:sp>
        <p:nvSpPr>
          <p:cNvPr id="15" name="TailLegend"/>
          <p:cNvSpPr txBox="1"/>
          <p:nvPr/>
        </p:nvSpPr>
        <p:spPr>
          <a:xfrm>
            <a:off x="4750759" y="2048256"/>
            <a:ext cx="1444752" cy="329184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75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child-order performance tail
(continues past the trigger)</a:t>
            </a:r>
          </a:p>
        </p:txBody>
      </p:sp>
      <p:cxnSp>
        <p:nvCxnSpPr>
          <p:cNvPr id="16" name="TimeAxis"/>
          <p:cNvCxnSpPr/>
          <p:nvPr/>
        </p:nvCxnSpPr>
        <p:spPr>
          <a:xfrm>
            <a:off x="2227600" y="2395728"/>
            <a:ext cx="3878921" cy="1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cxnSp>
        <p:nvCxnSpPr>
          <p:cNvPr id="17" name="TodayLine"/>
          <p:cNvCxnSpPr/>
          <p:nvPr/>
        </p:nvCxnSpPr>
        <p:spPr>
          <a:xfrm>
            <a:off x="2227600" y="2368296"/>
            <a:ext cx="1" cy="2962656"/>
          </a:xfrm>
          <a:prstGeom prst="line">
            <a:avLst/>
          </a:prstGeom>
          <a:ln w="6350">
            <a:solidFill>
              <a:srgbClr val="BFBFBF"/>
            </a:solidFill>
            <a:prstDash val="dash"/>
          </a:ln>
        </p:spPr>
      </p:cxnSp>
      <p:cxnSp>
        <p:nvCxnSpPr>
          <p:cNvPr id="18" name="DecisionHorizonLine"/>
          <p:cNvCxnSpPr/>
          <p:nvPr/>
        </p:nvCxnSpPr>
        <p:spPr>
          <a:xfrm>
            <a:off x="5531528" y="2368296"/>
            <a:ext cx="1" cy="2962656"/>
          </a:xfrm>
          <a:prstGeom prst="line">
            <a:avLst/>
          </a:prstGeom>
          <a:ln w="6350">
            <a:solidFill>
              <a:srgbClr val="BFBFBF"/>
            </a:solidFill>
            <a:prstDash val="dash"/>
          </a:ln>
        </p:spPr>
      </p:cxnSp>
      <p:sp>
        <p:nvSpPr>
          <p:cNvPr id="19" name="TodayLabel"/>
          <p:cNvSpPr txBox="1"/>
          <p:nvPr/>
        </p:nvSpPr>
        <p:spPr>
          <a:xfrm>
            <a:off x="1989856" y="2176272"/>
            <a:ext cx="530352" cy="16459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80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TODAY</a:t>
            </a:r>
          </a:p>
        </p:txBody>
      </p:sp>
      <p:sp>
        <p:nvSpPr>
          <p:cNvPr id="20" name="DecisionHorizonLabel"/>
          <p:cNvSpPr txBox="1"/>
          <p:nvPr/>
        </p:nvSpPr>
        <p:spPr>
          <a:xfrm>
            <a:off x="5110904" y="2414016"/>
            <a:ext cx="841248" cy="12801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75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decision horizon</a:t>
            </a:r>
          </a:p>
        </p:txBody>
      </p:sp>
      <p:sp>
        <p:nvSpPr>
          <p:cNvPr id="21" name="BarLabel_Definitive"/>
          <p:cNvSpPr txBox="1"/>
          <p:nvPr/>
        </p:nvSpPr>
        <p:spPr>
          <a:xfrm>
            <a:off x="2227600" y="2685073"/>
            <a:ext cx="1971404" cy="1371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750" b="0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base term</a:t>
            </a:r>
          </a:p>
        </p:txBody>
      </p:sp>
      <p:sp>
        <p:nvSpPr>
          <p:cNvPr id="22" name="ExtLabel_Definitive"/>
          <p:cNvSpPr txBox="1"/>
          <p:nvPr/>
        </p:nvSpPr>
        <p:spPr>
          <a:xfrm>
            <a:off x="4199004" y="2685073"/>
            <a:ext cx="1186494" cy="1371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70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option capacity</a:t>
            </a:r>
          </a:p>
        </p:txBody>
      </p:sp>
      <p:cxnSp>
        <p:nvCxnSpPr>
          <p:cNvPr id="23" name="Trigger_Definitive"/>
          <p:cNvCxnSpPr/>
          <p:nvPr/>
        </p:nvCxnSpPr>
        <p:spPr>
          <a:xfrm>
            <a:off x="4199004" y="2570773"/>
            <a:ext cx="1" cy="393192"/>
          </a:xfrm>
          <a:prstGeom prst="line">
            <a:avLst/>
          </a:prstGeom>
          <a:ln w="25400">
            <a:solidFill>
              <a:srgbClr val="6E91B1"/>
            </a:solidFill>
          </a:ln>
        </p:spPr>
      </p:cxnSp>
      <p:cxnSp>
        <p:nvCxnSpPr>
          <p:cNvPr id="24" name="TriggerDrop_Definitive"/>
          <p:cNvCxnSpPr/>
          <p:nvPr/>
        </p:nvCxnSpPr>
        <p:spPr>
          <a:xfrm>
            <a:off x="4199004" y="2822233"/>
            <a:ext cx="1" cy="192024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cxnSp>
        <p:nvCxnSpPr>
          <p:cNvPr id="25" name="RouteToGate_Definitive"/>
          <p:cNvCxnSpPr/>
          <p:nvPr/>
        </p:nvCxnSpPr>
        <p:spPr>
          <a:xfrm>
            <a:off x="4199004" y="3014257"/>
            <a:ext cx="2033083" cy="1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sp>
        <p:nvSpPr>
          <p:cNvPr id="26" name="BarLabel_SA_IDIQ"/>
          <p:cNvSpPr txBox="1"/>
          <p:nvPr/>
        </p:nvSpPr>
        <p:spPr>
          <a:xfrm>
            <a:off x="2227600" y="3200743"/>
            <a:ext cx="1834501" cy="1371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750" b="0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parent ordering period</a:t>
            </a:r>
          </a:p>
        </p:txBody>
      </p:sp>
      <p:sp>
        <p:nvSpPr>
          <p:cNvPr id="27" name="ChildLabel_SA_IDIQ"/>
          <p:cNvSpPr txBox="1"/>
          <p:nvPr/>
        </p:nvSpPr>
        <p:spPr>
          <a:xfrm>
            <a:off x="2227600" y="3333331"/>
            <a:ext cx="438912" cy="11887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75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orders</a:t>
            </a:r>
          </a:p>
        </p:txBody>
      </p:sp>
      <p:sp>
        <p:nvSpPr>
          <p:cNvPr id="28" name="ChildTail_SA_IDIQ_1"/>
          <p:cNvSpPr/>
          <p:nvPr/>
        </p:nvSpPr>
        <p:spPr>
          <a:xfrm>
            <a:off x="2702197" y="3342475"/>
            <a:ext cx="2811077" cy="54864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sp>
        <p:nvSpPr>
          <p:cNvPr id="29" name="ChildTail_SA_IDIQ_2"/>
          <p:cNvSpPr/>
          <p:nvPr/>
        </p:nvSpPr>
        <p:spPr>
          <a:xfrm>
            <a:off x="3797422" y="3433915"/>
            <a:ext cx="2126561" cy="54864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cxnSp>
        <p:nvCxnSpPr>
          <p:cNvPr id="30" name="Trigger_SA_IDIQ"/>
          <p:cNvCxnSpPr/>
          <p:nvPr/>
        </p:nvCxnSpPr>
        <p:spPr>
          <a:xfrm>
            <a:off x="5066057" y="3086443"/>
            <a:ext cx="1" cy="393192"/>
          </a:xfrm>
          <a:prstGeom prst="line">
            <a:avLst/>
          </a:prstGeom>
          <a:ln w="25400">
            <a:solidFill>
              <a:srgbClr val="6E91B1"/>
            </a:solidFill>
          </a:ln>
        </p:spPr>
      </p:cxnSp>
      <p:cxnSp>
        <p:nvCxnSpPr>
          <p:cNvPr id="31" name="RouteToGate_SA_IDIQ"/>
          <p:cNvCxnSpPr/>
          <p:nvPr/>
        </p:nvCxnSpPr>
        <p:spPr>
          <a:xfrm>
            <a:off x="5066057" y="3269323"/>
            <a:ext cx="1166030" cy="1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sp>
        <p:nvSpPr>
          <p:cNvPr id="32" name="BarLabel_MA_IDIQ"/>
          <p:cNvSpPr txBox="1"/>
          <p:nvPr/>
        </p:nvSpPr>
        <p:spPr>
          <a:xfrm>
            <a:off x="2227600" y="3716413"/>
            <a:ext cx="1560695" cy="1371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750" b="0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parent vehicle</a:t>
            </a:r>
          </a:p>
        </p:txBody>
      </p:sp>
      <p:sp>
        <p:nvSpPr>
          <p:cNvPr id="33" name="ChildLabel_MA_IDIQ"/>
          <p:cNvSpPr txBox="1"/>
          <p:nvPr/>
        </p:nvSpPr>
        <p:spPr>
          <a:xfrm>
            <a:off x="2227600" y="3849001"/>
            <a:ext cx="438912" cy="11887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75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orders</a:t>
            </a:r>
          </a:p>
        </p:txBody>
      </p:sp>
      <p:sp>
        <p:nvSpPr>
          <p:cNvPr id="34" name="ChildTail_MA_IDIQ_1"/>
          <p:cNvSpPr/>
          <p:nvPr/>
        </p:nvSpPr>
        <p:spPr>
          <a:xfrm>
            <a:off x="2638309" y="3858145"/>
            <a:ext cx="2601159" cy="54864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sp>
        <p:nvSpPr>
          <p:cNvPr id="35" name="ChildTail_MA_IDIQ_2"/>
          <p:cNvSpPr/>
          <p:nvPr/>
        </p:nvSpPr>
        <p:spPr>
          <a:xfrm>
            <a:off x="3505362" y="3949585"/>
            <a:ext cx="2473382" cy="54864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sp>
        <p:nvSpPr>
          <p:cNvPr id="36" name="ChildTail_MA_IDIQ_3"/>
          <p:cNvSpPr/>
          <p:nvPr/>
        </p:nvSpPr>
        <p:spPr>
          <a:xfrm>
            <a:off x="4171623" y="4041025"/>
            <a:ext cx="1825375" cy="54864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cxnSp>
        <p:nvCxnSpPr>
          <p:cNvPr id="37" name="Trigger_MA_IDIQ"/>
          <p:cNvCxnSpPr/>
          <p:nvPr/>
        </p:nvCxnSpPr>
        <p:spPr>
          <a:xfrm>
            <a:off x="4710109" y="3602113"/>
            <a:ext cx="1" cy="393192"/>
          </a:xfrm>
          <a:prstGeom prst="line">
            <a:avLst/>
          </a:prstGeom>
          <a:ln w="25400">
            <a:solidFill>
              <a:srgbClr val="6E91B1"/>
            </a:solidFill>
          </a:ln>
        </p:spPr>
      </p:cxnSp>
      <p:cxnSp>
        <p:nvCxnSpPr>
          <p:cNvPr id="38" name="RouteToGate_MA_IDIQ"/>
          <p:cNvCxnSpPr/>
          <p:nvPr/>
        </p:nvCxnSpPr>
        <p:spPr>
          <a:xfrm>
            <a:off x="4710109" y="3784993"/>
            <a:ext cx="1521978" cy="1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sp>
        <p:nvSpPr>
          <p:cNvPr id="39" name="BarLabel_BPA"/>
          <p:cNvSpPr txBox="1"/>
          <p:nvPr/>
        </p:nvSpPr>
        <p:spPr>
          <a:xfrm>
            <a:off x="2227600" y="4232083"/>
            <a:ext cx="1405538" cy="1371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750" b="0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agreement / call period</a:t>
            </a:r>
          </a:p>
        </p:txBody>
      </p:sp>
      <p:sp>
        <p:nvSpPr>
          <p:cNvPr id="40" name="ChildLabel_BPA"/>
          <p:cNvSpPr txBox="1"/>
          <p:nvPr/>
        </p:nvSpPr>
        <p:spPr>
          <a:xfrm>
            <a:off x="2227600" y="4364671"/>
            <a:ext cx="438912" cy="11887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75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calls</a:t>
            </a:r>
          </a:p>
        </p:txBody>
      </p:sp>
      <p:sp>
        <p:nvSpPr>
          <p:cNvPr id="41" name="ChildTail_BPA_1"/>
          <p:cNvSpPr/>
          <p:nvPr/>
        </p:nvSpPr>
        <p:spPr>
          <a:xfrm>
            <a:off x="2793466" y="4373815"/>
            <a:ext cx="2519017" cy="54864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sp>
        <p:nvSpPr>
          <p:cNvPr id="42" name="ChildTail_BPA_2"/>
          <p:cNvSpPr/>
          <p:nvPr/>
        </p:nvSpPr>
        <p:spPr>
          <a:xfrm>
            <a:off x="3687899" y="4465255"/>
            <a:ext cx="2217830" cy="54864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cxnSp>
        <p:nvCxnSpPr>
          <p:cNvPr id="43" name="Trigger_BPA"/>
          <p:cNvCxnSpPr/>
          <p:nvPr/>
        </p:nvCxnSpPr>
        <p:spPr>
          <a:xfrm>
            <a:off x="4491064" y="4117783"/>
            <a:ext cx="1" cy="393192"/>
          </a:xfrm>
          <a:prstGeom prst="line">
            <a:avLst/>
          </a:prstGeom>
          <a:ln w="25400">
            <a:solidFill>
              <a:srgbClr val="6E91B1"/>
            </a:solidFill>
          </a:ln>
        </p:spPr>
      </p:cxnSp>
      <p:cxnSp>
        <p:nvCxnSpPr>
          <p:cNvPr id="44" name="RouteToGate_BPA"/>
          <p:cNvCxnSpPr/>
          <p:nvPr/>
        </p:nvCxnSpPr>
        <p:spPr>
          <a:xfrm>
            <a:off x="4491064" y="4300663"/>
            <a:ext cx="1741023" cy="1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sp>
        <p:nvSpPr>
          <p:cNvPr id="45" name="BarLabel_OT"/>
          <p:cNvSpPr txBox="1"/>
          <p:nvPr/>
        </p:nvSpPr>
        <p:spPr>
          <a:xfrm>
            <a:off x="2227600" y="4747753"/>
            <a:ext cx="1925770" cy="13716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750" b="0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agreement-specific term</a:t>
            </a:r>
          </a:p>
        </p:txBody>
      </p:sp>
      <p:sp>
        <p:nvSpPr>
          <p:cNvPr id="46" name="ChildLabel_OT"/>
          <p:cNvSpPr txBox="1"/>
          <p:nvPr/>
        </p:nvSpPr>
        <p:spPr>
          <a:xfrm>
            <a:off x="2227600" y="4880341"/>
            <a:ext cx="438912" cy="11887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l">
              <a:lnSpc>
                <a:spcPct val="105000"/>
              </a:lnSpc>
              <a:buNone/>
            </a:pPr>
            <a:r>
              <a:rPr lang="en-US" sz="75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orders</a:t>
            </a:r>
          </a:p>
        </p:txBody>
      </p:sp>
      <p:sp>
        <p:nvSpPr>
          <p:cNvPr id="47" name="ChildTail_OT_1"/>
          <p:cNvSpPr/>
          <p:nvPr/>
        </p:nvSpPr>
        <p:spPr>
          <a:xfrm>
            <a:off x="3185921" y="4889485"/>
            <a:ext cx="2920600" cy="54864"/>
          </a:xfrm>
          <a:prstGeom prst="rect">
            <a:avLst/>
          </a:prstGeom>
          <a:noFill/>
          <a:ln w="9525">
            <a:solidFill>
              <a:srgbClr val="7F7F7F"/>
            </a:solidFill>
          </a:ln>
        </p:spPr>
      </p:sp>
      <p:cxnSp>
        <p:nvCxnSpPr>
          <p:cNvPr id="48" name="Trigger_OT"/>
          <p:cNvCxnSpPr/>
          <p:nvPr/>
        </p:nvCxnSpPr>
        <p:spPr>
          <a:xfrm>
            <a:off x="5266848" y="4633453"/>
            <a:ext cx="1" cy="393192"/>
          </a:xfrm>
          <a:prstGeom prst="line">
            <a:avLst/>
          </a:prstGeom>
          <a:ln w="25400">
            <a:solidFill>
              <a:srgbClr val="6E91B1"/>
            </a:solidFill>
          </a:ln>
        </p:spPr>
      </p:cxnSp>
      <p:cxnSp>
        <p:nvCxnSpPr>
          <p:cNvPr id="49" name="RouteToGate_OT"/>
          <p:cNvCxnSpPr/>
          <p:nvPr/>
        </p:nvCxnSpPr>
        <p:spPr>
          <a:xfrm>
            <a:off x="5266848" y="4816333"/>
            <a:ext cx="965239" cy="1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sp>
        <p:nvSpPr>
          <p:cNvPr id="50" name="StandaloneDecisionLabel"/>
          <p:cNvSpPr txBox="1"/>
          <p:nvPr/>
        </p:nvSpPr>
        <p:spPr>
          <a:xfrm>
            <a:off x="3824100" y="2845093"/>
            <a:ext cx="749808" cy="12801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70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option decision</a:t>
            </a:r>
          </a:p>
        </p:txBody>
      </p:sp>
      <p:sp>
        <p:nvSpPr>
          <p:cNvPr id="51" name="StandaloneUltimateLabel"/>
          <p:cNvSpPr txBox="1"/>
          <p:nvPr/>
        </p:nvSpPr>
        <p:spPr>
          <a:xfrm>
            <a:off x="4964874" y="2845093"/>
            <a:ext cx="841248" cy="12801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5000"/>
              </a:lnSpc>
              <a:buNone/>
            </a:pPr>
            <a:r>
              <a:rPr lang="en-US" sz="700" b="0" i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ultimate end</a:t>
            </a:r>
          </a:p>
        </p:txBody>
      </p:sp>
      <p:sp>
        <p:nvSpPr>
          <p:cNvPr id="52" name="AddressableBadge"/>
          <p:cNvSpPr txBox="1"/>
          <p:nvPr/>
        </p:nvSpPr>
        <p:spPr>
          <a:xfrm>
            <a:off x="6232087" y="2359152"/>
            <a:ext cx="1444752" cy="365760"/>
          </a:xfrm>
          <a:prstGeom prst="rect">
            <a:avLst/>
          </a:prstGeom>
          <a:solidFill>
            <a:srgbClr val="3D5972"/>
          </a:solidFill>
          <a:ln w="19050">
            <a:solidFill>
              <a:srgbClr val="000000"/>
            </a:solidFill>
          </a:ln>
        </p:spPr>
        <p:txBody>
          <a:bodyPr wrap="none" anchor="ctr" lIns="45720" tIns="9144" rIns="45720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ADDRESSABLE?</a:t>
            </a:r>
          </a:p>
        </p:txBody>
      </p:sp>
      <p:sp>
        <p:nvSpPr>
          <p:cNvPr id="53" name="AddressableGuardrail"/>
          <p:cNvSpPr txBox="1"/>
          <p:nvPr/>
        </p:nvSpPr>
        <p:spPr>
          <a:xfrm>
            <a:off x="6232087" y="2724912"/>
            <a:ext cx="1444752" cy="2414016"/>
          </a:xfrm>
          <a:prstGeom prst="rect">
            <a:avLst/>
          </a:prstGeom>
          <a:solidFill>
            <a:srgbClr val="B6C8D8"/>
          </a:solidFill>
          <a:ln w="12700">
            <a:solidFill>
              <a:srgbClr val="000000"/>
            </a:solidFill>
          </a:ln>
        </p:spPr>
        <p:txBody>
          <a:bodyPr wrap="square" anchor="t" lIns="114300" tIns="76200" rIns="114300" bIns="76200"/>
          <a:lstStyle/>
          <a:p>
            <a:pPr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Expired does not mean addressable.</a:t>
            </a:r>
          </a:p>
          <a:p>
            <a:pPr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  SUCCESSOR CHECK</a:t>
            </a:r>
          </a:p>
          <a:p>
            <a:pPr>
              <a:lnSpc>
                <a:spcPct val="1050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Has a follow-on already been awarded? If yes, classify it as superseded, not overdue.</a:t>
            </a:r>
          </a:p>
          <a:p>
            <a:pPr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  ACCESS CHECK</a:t>
            </a:r>
          </a:p>
          <a:p>
            <a:pPr>
              <a:lnSpc>
                <a:spcPct val="10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Can the company compete? FAR 16.505 may limit the next order to existing vehicle holders.</a:t>
            </a:r>
          </a:p>
        </p:txBody>
      </p:sp>
      <p:graphicFrame>
        <p:nvGraphicFramePr>
          <p:cNvPr id="54" name="VehicleClockRules"/>
          <p:cNvGraphicFramePr>
            <a:graphicFrameLocks noGrp="1"/>
          </p:cNvGraphicFramePr>
          <p:nvPr/>
        </p:nvGraphicFramePr>
        <p:xfrm>
          <a:off x="7804855" y="1371600"/>
          <a:ext cx="3930586" cy="2766060"/>
        </p:xfrm>
        <a:graphic>
          <a:graphicData uri="http://schemas.openxmlformats.org/drawingml/2006/table">
            <a:tbl>
              <a:tblPr firstRow="1" firstCol="1" bandRow="0">
                <a:tableStyleId>{2D5ABB26-0587-4C30-8999-92F81FD0307C}</a:tableStyleId>
              </a:tblPr>
              <a:tblGrid>
                <a:gridCol w="1051560"/>
                <a:gridCol w="960120"/>
                <a:gridCol w="658368"/>
                <a:gridCol w="1260538"/>
              </a:tblGrid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Vehicle type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Recompete clock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Confidence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Note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3434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Standalone definitive contract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Current and ultimate completion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High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6E91B1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Current may be an option decision; ultimate is the outer horizon.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66294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Indefinite-delivery / indefinite-quantity (IDIQ), single- or multiple-award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Parent last date to order; child end for holders-only work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High (parent)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6E91B1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Parent governs vehicle; child follow-on may be holders-only.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2004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Task order or delivery order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Child ultimate completion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Medium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6C8D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Follow-on may be holders-only.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2004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Blanket Purchase Agreement (BPA)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Agreement or call-period logic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Medium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6C8D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Inspect parent and call rules.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2004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Basic Ordering Agreement (BOA)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Nominal agreement end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Low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Not a contract; not a guaranteed recompete.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3434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Other Transaction (OT) agreement or order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Agreement-specific terms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Variable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75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Read governing agreement; validate externally.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cxnSp>
        <p:nvCxnSpPr>
          <p:cNvPr id="55" name="GateToStateClassification"/>
          <p:cNvCxnSpPr/>
          <p:nvPr/>
        </p:nvCxnSpPr>
        <p:spPr>
          <a:xfrm>
            <a:off x="7676839" y="4754880"/>
            <a:ext cx="128016" cy="1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sp>
        <p:nvSpPr>
          <p:cNvPr id="56" name="StateHeader"/>
          <p:cNvSpPr txBox="1"/>
          <p:nvPr/>
        </p:nvSpPr>
        <p:spPr>
          <a:xfrm>
            <a:off x="7804855" y="4654296"/>
            <a:ext cx="3930586" cy="201168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OPPORTUNITY STATE, AFTER BOTH GATES</a:t>
            </a:r>
          </a:p>
        </p:txBody>
      </p:sp>
      <p:sp>
        <p:nvSpPr>
          <p:cNvPr id="57" name="StateChip1"/>
          <p:cNvSpPr txBox="1"/>
          <p:nvPr/>
        </p:nvSpPr>
        <p:spPr>
          <a:xfrm>
            <a:off x="7804855" y="4910328"/>
            <a:ext cx="1273619" cy="201168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Open now</a:t>
            </a:r>
          </a:p>
        </p:txBody>
      </p:sp>
      <p:sp>
        <p:nvSpPr>
          <p:cNvPr id="58" name="StateChip2"/>
          <p:cNvSpPr txBox="1"/>
          <p:nvPr/>
        </p:nvSpPr>
        <p:spPr>
          <a:xfrm>
            <a:off x="9133338" y="4910328"/>
            <a:ext cx="1273619" cy="201168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Option decision</a:t>
            </a:r>
          </a:p>
        </p:txBody>
      </p:sp>
      <p:sp>
        <p:nvSpPr>
          <p:cNvPr id="59" name="StateChip3"/>
          <p:cNvSpPr txBox="1"/>
          <p:nvPr/>
        </p:nvSpPr>
        <p:spPr>
          <a:xfrm>
            <a:off x="10461821" y="4910328"/>
            <a:ext cx="1273619" cy="201168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Likely upcoming</a:t>
            </a:r>
          </a:p>
        </p:txBody>
      </p:sp>
      <p:sp>
        <p:nvSpPr>
          <p:cNvPr id="60" name="StateChip4"/>
          <p:cNvSpPr txBox="1"/>
          <p:nvPr/>
        </p:nvSpPr>
        <p:spPr>
          <a:xfrm>
            <a:off x="7804855" y="5138928"/>
            <a:ext cx="1273619" cy="201168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Holders-only</a:t>
            </a:r>
          </a:p>
        </p:txBody>
      </p:sp>
      <p:sp>
        <p:nvSpPr>
          <p:cNvPr id="61" name="StateChip5"/>
          <p:cNvSpPr txBox="1"/>
          <p:nvPr/>
        </p:nvSpPr>
        <p:spPr>
          <a:xfrm>
            <a:off x="9133338" y="5138928"/>
            <a:ext cx="1273619" cy="201168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Superseded</a:t>
            </a:r>
          </a:p>
        </p:txBody>
      </p:sp>
      <p:sp>
        <p:nvSpPr>
          <p:cNvPr id="62" name="StateChip6"/>
          <p:cNvSpPr txBox="1"/>
          <p:nvPr/>
        </p:nvSpPr>
        <p:spPr>
          <a:xfrm>
            <a:off x="10461821" y="5138928"/>
            <a:ext cx="1273619" cy="201168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Research required</a:t>
            </a:r>
          </a:p>
        </p:txBody>
      </p:sp>
      <p:cxnSp>
        <p:nvCxnSpPr>
          <p:cNvPr id="63" name="CaveatRailRule"/>
          <p:cNvCxnSpPr/>
          <p:nvPr/>
        </p:nvCxnSpPr>
        <p:spPr>
          <a:xfrm>
            <a:off x="453079" y="5394960"/>
            <a:ext cx="11282362" cy="1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sp>
        <p:nvSpPr>
          <p:cNvPr id="64" name="CaveatRail"/>
          <p:cNvSpPr txBox="1"/>
          <p:nvPr/>
        </p:nvSpPr>
        <p:spPr>
          <a:xfrm>
            <a:off x="453079" y="5422392"/>
            <a:ext cx="11282362" cy="438912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Timing is one of four reads; </a:t>
            </a:r>
            <a:r>
              <a:rPr lang="en-US" sz="10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recurrence, authority, competition route, and bidder eligibility remain separate.</a:t>
            </a:r>
          </a:p>
          <a:p>
            <a:pPr>
              <a:lnSpc>
                <a:spcPct val="100000"/>
              </a:lnSpc>
              <a:buNone/>
            </a:pPr>
            <a:r>
              <a:rPr lang="en-US" sz="750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Timing confidence varies by vehicle type | A Basic Ordering Agreement (BOA) nominal end is not a guaranteed recompete | A later Procurement Instrument Identifier (PIID) may already be the successor | Option value is capacity, not guaranteed revenue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SAM.gov Contract Awards API; FAR 16.505, 16.703, 17.207; FPDS and internal Army Market Mapping workbook. Figures illustrative of method; as of 2026-06-22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Market Sizing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Obligated and Unobligated Value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Obligated vs. Unobligated | Unobligated ceiling is capacity already inside awarded vehicles, not unspent budget authority.</a:t>
            </a:r>
          </a:p>
        </p:txBody>
      </p:sp>
      <p:sp>
        <p:nvSpPr>
          <p:cNvPr id="10" name="MoneyMeasuresFinding"/>
          <p:cNvSpPr txBox="1"/>
          <p:nvPr/>
        </p:nvSpPr>
        <p:spPr>
          <a:xfrm>
            <a:off x="453079" y="1371600"/>
            <a:ext cx="7150608" cy="54864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Three contract-value measures, never summed.</a:t>
            </a:r>
          </a:p>
          <a:p>
            <a:pPr>
              <a:lnSpc>
                <a:spcPct val="100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Obligated, current value, and ceiling restate the same money. Only the per-action obligation stream is additive; sum it, never the cumulative snapshots.</a:t>
            </a:r>
          </a:p>
        </p:txBody>
      </p:sp>
      <p:sp>
        <p:nvSpPr>
          <p:cNvPr id="11" name="VehicleFamilyFrame"/>
          <p:cNvSpPr txBox="1"/>
          <p:nvPr/>
        </p:nvSpPr>
        <p:spPr>
          <a:xfrm>
            <a:off x="453079" y="1993392"/>
            <a:ext cx="5394960" cy="2212848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12" name="VehicleFamilyCap"/>
          <p:cNvSpPr txBox="1"/>
          <p:nvPr/>
        </p:nvSpPr>
        <p:spPr>
          <a:xfrm>
            <a:off x="562807" y="2048256"/>
            <a:ext cx="3474720" cy="24688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lIns="45720" tIns="9144" rIns="45720" bIns="9144"/>
          <a:lstStyle/>
          <a:p>
            <a:pPr algn="l">
              <a:lnSpc>
                <a:spcPct val="100000"/>
              </a:lnSpc>
              <a:buNone/>
            </a:pPr>
            <a:r>
              <a:rPr lang="en-US" sz="85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COLLAPSED VEHICLE FAMILY | parent, child orders, and modifications counted once</a:t>
            </a:r>
          </a:p>
        </p:txBody>
      </p:sp>
      <p:sp>
        <p:nvSpPr>
          <p:cNvPr id="13" name="CeilingOutline"/>
          <p:cNvSpPr txBox="1"/>
          <p:nvPr/>
        </p:nvSpPr>
        <p:spPr>
          <a:xfrm>
            <a:off x="663391" y="2331720"/>
            <a:ext cx="4892040" cy="1417320"/>
          </a:xfrm>
          <a:prstGeom prst="rect">
            <a:avLst/>
          </a:prstGeom>
          <a:noFill/>
          <a:ln w="12700">
            <a:solidFill>
              <a:srgbClr val="000000"/>
            </a:solidFill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14" name="CurrentValueField"/>
          <p:cNvSpPr txBox="1"/>
          <p:nvPr/>
        </p:nvSpPr>
        <p:spPr>
          <a:xfrm>
            <a:off x="992575" y="2615184"/>
            <a:ext cx="4233672" cy="886968"/>
          </a:xfrm>
          <a:prstGeom prst="rect">
            <a:avLst/>
          </a:prstGeom>
          <a:solidFill>
            <a:srgbClr val="B6C8D8"/>
          </a:solidFill>
          <a:ln w="12700">
            <a:solidFill>
              <a:srgbClr val="000000"/>
            </a:solidFill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15" name="CeilingGapTop"/>
          <p:cNvSpPr/>
          <p:nvPr/>
        </p:nvSpPr>
        <p:spPr>
          <a:xfrm>
            <a:off x="663391" y="2331720"/>
            <a:ext cx="4892040" cy="283464"/>
          </a:xfrm>
          <a:prstGeom prst="rect">
            <a:avLst/>
          </a:prstGeom>
          <a:pattFill prst="ltUpDiag">
            <a:fgClr>
              <a:srgbClr val="BFBFBF"/>
            </a:fgClr>
            <a:bgClr>
              <a:srgbClr val="E2E9EF"/>
            </a:bgClr>
          </a:pattFill>
          <a:ln>
            <a:noFill/>
          </a:ln>
        </p:spPr>
      </p:sp>
      <p:sp>
        <p:nvSpPr>
          <p:cNvPr id="16" name="CeilingGapBottom"/>
          <p:cNvSpPr/>
          <p:nvPr/>
        </p:nvSpPr>
        <p:spPr>
          <a:xfrm>
            <a:off x="663391" y="3502152"/>
            <a:ext cx="4892040" cy="246888"/>
          </a:xfrm>
          <a:prstGeom prst="rect">
            <a:avLst/>
          </a:prstGeom>
          <a:pattFill prst="ltUpDiag">
            <a:fgClr>
              <a:srgbClr val="BFBFBF"/>
            </a:fgClr>
            <a:bgClr>
              <a:srgbClr val="E2E9EF"/>
            </a:bgClr>
          </a:pattFill>
          <a:ln>
            <a:noFill/>
          </a:ln>
        </p:spPr>
      </p:sp>
      <p:sp>
        <p:nvSpPr>
          <p:cNvPr id="17" name="CeilingGapLeft"/>
          <p:cNvSpPr/>
          <p:nvPr/>
        </p:nvSpPr>
        <p:spPr>
          <a:xfrm>
            <a:off x="663391" y="2615184"/>
            <a:ext cx="329184" cy="886968"/>
          </a:xfrm>
          <a:prstGeom prst="rect">
            <a:avLst/>
          </a:prstGeom>
          <a:pattFill prst="ltUpDiag">
            <a:fgClr>
              <a:srgbClr val="BFBFBF"/>
            </a:fgClr>
            <a:bgClr>
              <a:srgbClr val="E2E9EF"/>
            </a:bgClr>
          </a:pattFill>
          <a:ln>
            <a:noFill/>
          </a:ln>
        </p:spPr>
      </p:sp>
      <p:sp>
        <p:nvSpPr>
          <p:cNvPr id="18" name="CeilingGapRight"/>
          <p:cNvSpPr/>
          <p:nvPr/>
        </p:nvSpPr>
        <p:spPr>
          <a:xfrm>
            <a:off x="5226247" y="2615184"/>
            <a:ext cx="329184" cy="886968"/>
          </a:xfrm>
          <a:prstGeom prst="rect">
            <a:avLst/>
          </a:prstGeom>
          <a:pattFill prst="ltUpDiag">
            <a:fgClr>
              <a:srgbClr val="BFBFBF"/>
            </a:fgClr>
            <a:bgClr>
              <a:srgbClr val="E2E9EF"/>
            </a:bgClr>
          </a:pattFill>
          <a:ln>
            <a:noFill/>
          </a:ln>
        </p:spPr>
      </p:sp>
      <p:sp>
        <p:nvSpPr>
          <p:cNvPr id="19" name="CurrentGapTop"/>
          <p:cNvSpPr/>
          <p:nvPr/>
        </p:nvSpPr>
        <p:spPr>
          <a:xfrm>
            <a:off x="992575" y="2615184"/>
            <a:ext cx="4233672" cy="219456"/>
          </a:xfrm>
          <a:prstGeom prst="rect">
            <a:avLst/>
          </a:prstGeom>
          <a:pattFill prst="ltUpDiag">
            <a:fgClr>
              <a:srgbClr val="7F7F7F"/>
            </a:fgClr>
            <a:bgClr>
              <a:srgbClr val="B6C8D8"/>
            </a:bgClr>
          </a:pattFill>
          <a:ln>
            <a:noFill/>
          </a:ln>
        </p:spPr>
      </p:sp>
      <p:sp>
        <p:nvSpPr>
          <p:cNvPr id="20" name="CurrentGapBottom"/>
          <p:cNvSpPr/>
          <p:nvPr/>
        </p:nvSpPr>
        <p:spPr>
          <a:xfrm>
            <a:off x="992575" y="3364992"/>
            <a:ext cx="4233672" cy="137160"/>
          </a:xfrm>
          <a:prstGeom prst="rect">
            <a:avLst/>
          </a:prstGeom>
          <a:pattFill prst="ltUpDiag">
            <a:fgClr>
              <a:srgbClr val="7F7F7F"/>
            </a:fgClr>
            <a:bgClr>
              <a:srgbClr val="B6C8D8"/>
            </a:bgClr>
          </a:pattFill>
          <a:ln>
            <a:noFill/>
          </a:ln>
        </p:spPr>
      </p:sp>
      <p:sp>
        <p:nvSpPr>
          <p:cNvPr id="21" name="CurrentGapLeft"/>
          <p:cNvSpPr/>
          <p:nvPr/>
        </p:nvSpPr>
        <p:spPr>
          <a:xfrm>
            <a:off x="992575" y="2834640"/>
            <a:ext cx="393192" cy="530352"/>
          </a:xfrm>
          <a:prstGeom prst="rect">
            <a:avLst/>
          </a:prstGeom>
          <a:pattFill prst="ltUpDiag">
            <a:fgClr>
              <a:srgbClr val="7F7F7F"/>
            </a:fgClr>
            <a:bgClr>
              <a:srgbClr val="B6C8D8"/>
            </a:bgClr>
          </a:pattFill>
          <a:ln>
            <a:noFill/>
          </a:ln>
        </p:spPr>
      </p:sp>
      <p:sp>
        <p:nvSpPr>
          <p:cNvPr id="22" name="CurrentGapRight"/>
          <p:cNvSpPr/>
          <p:nvPr/>
        </p:nvSpPr>
        <p:spPr>
          <a:xfrm>
            <a:off x="4759903" y="2834640"/>
            <a:ext cx="466344" cy="530352"/>
          </a:xfrm>
          <a:prstGeom prst="rect">
            <a:avLst/>
          </a:prstGeom>
          <a:pattFill prst="ltUpDiag">
            <a:fgClr>
              <a:srgbClr val="7F7F7F"/>
            </a:fgClr>
            <a:bgClr>
              <a:srgbClr val="B6C8D8"/>
            </a:bgClr>
          </a:pattFill>
          <a:ln>
            <a:noFill/>
          </a:ln>
        </p:spPr>
      </p:sp>
      <p:sp>
        <p:nvSpPr>
          <p:cNvPr id="23" name="CeilingLabel"/>
          <p:cNvSpPr txBox="1"/>
          <p:nvPr/>
        </p:nvSpPr>
        <p:spPr>
          <a:xfrm>
            <a:off x="736543" y="2359152"/>
            <a:ext cx="2103120" cy="2103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lIns="45720" tIns="9144" rIns="45720" bIns="9144"/>
          <a:lstStyle/>
          <a:p>
            <a:pPr algn="l">
              <a:lnSpc>
                <a:spcPct val="100000"/>
              </a:lnSpc>
              <a:buNone/>
            </a:pPr>
            <a:r>
              <a:rPr lang="en-US" sz="90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Ceiling | base and all options</a:t>
            </a:r>
          </a:p>
        </p:txBody>
      </p:sp>
      <p:sp>
        <p:nvSpPr>
          <p:cNvPr id="24" name="CurrentValueLabel"/>
          <p:cNvSpPr txBox="1"/>
          <p:nvPr/>
        </p:nvSpPr>
        <p:spPr>
          <a:xfrm>
            <a:off x="1065727" y="2642616"/>
            <a:ext cx="2651760" cy="201168"/>
          </a:xfrm>
          <a:prstGeom prst="rect">
            <a:avLst/>
          </a:prstGeom>
          <a:solidFill>
            <a:srgbClr val="B6C8D8"/>
          </a:solidFill>
          <a:ln>
            <a:noFill/>
          </a:ln>
        </p:spPr>
        <p:txBody>
          <a:bodyPr wrap="square" anchor="ctr" lIns="45720" tIns="9144" rIns="45720" bIns="9144"/>
          <a:lstStyle/>
          <a:p>
            <a:pPr algn="l">
              <a:lnSpc>
                <a:spcPct val="100000"/>
              </a:lnSpc>
              <a:buNone/>
            </a:pPr>
            <a:r>
              <a:rPr lang="en-US" sz="900" b="1" i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Current value | base and exercised options</a:t>
            </a:r>
          </a:p>
        </p:txBody>
      </p:sp>
      <p:sp>
        <p:nvSpPr>
          <p:cNvPr id="25" name="CumulativeObligationCore"/>
          <p:cNvSpPr txBox="1"/>
          <p:nvPr/>
        </p:nvSpPr>
        <p:spPr>
          <a:xfrm>
            <a:off x="1385767" y="2834640"/>
            <a:ext cx="3374136" cy="530352"/>
          </a:xfrm>
          <a:prstGeom prst="rect">
            <a:avLst/>
          </a:prstGeom>
          <a:solidFill>
            <a:srgbClr val="3D5972"/>
          </a:solidFill>
          <a:ln w="12700">
            <a:solidFill>
              <a:srgbClr val="000000"/>
            </a:solidFill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26" name="CumulativeObligationLabel"/>
          <p:cNvSpPr txBox="1"/>
          <p:nvPr/>
        </p:nvSpPr>
        <p:spPr>
          <a:xfrm>
            <a:off x="1458919" y="2852928"/>
            <a:ext cx="3227832" cy="173736"/>
          </a:xfrm>
          <a:prstGeom prst="rect">
            <a:avLst/>
          </a:prstGeom>
          <a:solidFill>
            <a:srgbClr val="3D5972"/>
          </a:solidFill>
          <a:ln>
            <a:noFill/>
          </a:ln>
        </p:spPr>
        <p:txBody>
          <a:bodyPr wrap="square" anchor="ctr" lIns="45720" tIns="9144" rIns="45720" bIns="9144"/>
          <a:lstStyle/>
          <a:p>
            <a:pPr algn="l">
              <a:lnSpc>
                <a:spcPct val="100000"/>
              </a:lnSpc>
              <a:buNone/>
            </a:pPr>
            <a:r>
              <a:rPr lang="en-US" sz="850" b="1" i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Cumulative obligation (award) | executed</a:t>
            </a:r>
          </a:p>
        </p:txBody>
      </p:sp>
      <p:sp>
        <p:nvSpPr>
          <p:cNvPr id="27" name="ActionObligation1"/>
          <p:cNvSpPr txBox="1"/>
          <p:nvPr/>
        </p:nvSpPr>
        <p:spPr>
          <a:xfrm>
            <a:off x="1477207" y="3017520"/>
            <a:ext cx="601675" cy="182880"/>
          </a:xfrm>
          <a:prstGeom prst="rect">
            <a:avLst/>
          </a:prstGeom>
          <a:solidFill>
            <a:srgbClr val="263746"/>
          </a:solidFill>
          <a:ln w="6350">
            <a:solidFill>
              <a:srgbClr val="FFFFFF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A1</a:t>
            </a:r>
          </a:p>
        </p:txBody>
      </p:sp>
      <p:sp>
        <p:nvSpPr>
          <p:cNvPr id="28" name="ActionObligation2"/>
          <p:cNvSpPr txBox="1"/>
          <p:nvPr/>
        </p:nvSpPr>
        <p:spPr>
          <a:xfrm>
            <a:off x="2124602" y="3017520"/>
            <a:ext cx="601675" cy="182880"/>
          </a:xfrm>
          <a:prstGeom prst="rect">
            <a:avLst/>
          </a:prstGeom>
          <a:solidFill>
            <a:srgbClr val="263746"/>
          </a:solidFill>
          <a:ln w="6350">
            <a:solidFill>
              <a:srgbClr val="FFFFFF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A2</a:t>
            </a:r>
          </a:p>
        </p:txBody>
      </p:sp>
      <p:sp>
        <p:nvSpPr>
          <p:cNvPr id="29" name="ActionObligation3"/>
          <p:cNvSpPr txBox="1"/>
          <p:nvPr/>
        </p:nvSpPr>
        <p:spPr>
          <a:xfrm>
            <a:off x="2771997" y="3017520"/>
            <a:ext cx="601675" cy="182880"/>
          </a:xfrm>
          <a:prstGeom prst="rect">
            <a:avLst/>
          </a:prstGeom>
          <a:solidFill>
            <a:srgbClr val="263746"/>
          </a:solidFill>
          <a:ln w="6350">
            <a:solidFill>
              <a:srgbClr val="FFFFFF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A3</a:t>
            </a:r>
          </a:p>
        </p:txBody>
      </p:sp>
      <p:sp>
        <p:nvSpPr>
          <p:cNvPr id="30" name="ActionObligation4"/>
          <p:cNvSpPr txBox="1"/>
          <p:nvPr/>
        </p:nvSpPr>
        <p:spPr>
          <a:xfrm>
            <a:off x="3419392" y="3017520"/>
            <a:ext cx="601675" cy="182880"/>
          </a:xfrm>
          <a:prstGeom prst="rect">
            <a:avLst/>
          </a:prstGeom>
          <a:solidFill>
            <a:srgbClr val="263746"/>
          </a:solidFill>
          <a:ln w="6350">
            <a:solidFill>
              <a:srgbClr val="FFFFFF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A4</a:t>
            </a:r>
          </a:p>
        </p:txBody>
      </p:sp>
      <p:sp>
        <p:nvSpPr>
          <p:cNvPr id="31" name="ActionObligation5"/>
          <p:cNvSpPr txBox="1"/>
          <p:nvPr/>
        </p:nvSpPr>
        <p:spPr>
          <a:xfrm>
            <a:off x="4066787" y="3017520"/>
            <a:ext cx="601675" cy="182880"/>
          </a:xfrm>
          <a:prstGeom prst="rect">
            <a:avLst/>
          </a:prstGeom>
          <a:solidFill>
            <a:srgbClr val="263746"/>
          </a:solidFill>
          <a:ln w="6350">
            <a:solidFill>
              <a:srgbClr val="FFFFFF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A5</a:t>
            </a:r>
          </a:p>
        </p:txBody>
      </p:sp>
      <p:sp>
        <p:nvSpPr>
          <p:cNvPr id="32" name="ActionStreamLabel"/>
          <p:cNvSpPr txBox="1"/>
          <p:nvPr/>
        </p:nvSpPr>
        <p:spPr>
          <a:xfrm>
            <a:off x="1458919" y="3209544"/>
            <a:ext cx="3227832" cy="137160"/>
          </a:xfrm>
          <a:prstGeom prst="rect">
            <a:avLst/>
          </a:prstGeom>
          <a:solidFill>
            <a:srgbClr val="3D5972"/>
          </a:solidFill>
          <a:ln>
            <a:noFill/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100000"/>
              </a:lnSpc>
              <a:buNone/>
            </a:pPr>
            <a:r>
              <a:rPr lang="en-US" sz="750" b="1" i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Action obligations (transactions) | ONLY ADDITIVE LAYER</a:t>
            </a:r>
          </a:p>
        </p:txBody>
      </p:sp>
      <p:sp>
        <p:nvSpPr>
          <p:cNvPr id="33" name="UnobligatedCapacityLabel"/>
          <p:cNvSpPr txBox="1"/>
          <p:nvPr/>
        </p:nvSpPr>
        <p:spPr>
          <a:xfrm>
            <a:off x="4110679" y="2039112"/>
            <a:ext cx="1664208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90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UNOBLIGATED</a:t>
            </a:r>
          </a:p>
          <a:p>
            <a:pPr algn="ctr">
              <a:lnSpc>
                <a:spcPct val="90000"/>
              </a:lnSpc>
              <a:buNone/>
            </a:pPr>
            <a:r>
              <a:rPr lang="en-US" sz="750" i="1" dirty="0">
                <a:solidFill>
                  <a:srgbClr val="646464"/>
                </a:solidFill>
                <a:latin typeface="Arial"/>
                <a:ea typeface="Arial"/>
                <a:cs typeface="Arial"/>
              </a:rPr>
              <a:t>= remaining capacity | indicative</a:t>
            </a:r>
          </a:p>
        </p:txBody>
      </p:sp>
      <p:cxnSp>
        <p:nvCxnSpPr>
          <p:cNvPr id="34" name="UnobligatedCapacityPointer"/>
          <p:cNvCxnSpPr/>
          <p:nvPr/>
        </p:nvCxnSpPr>
        <p:spPr>
          <a:xfrm>
            <a:off x="4942783" y="2313432"/>
            <a:ext cx="1" cy="18288"/>
          </a:xfrm>
          <a:prstGeom prst="line">
            <a:avLst/>
          </a:prstGeom>
          <a:ln w="6350">
            <a:solidFill>
              <a:srgbClr val="000000"/>
            </a:solidFill>
            <a:tailEnd type="triangle" w="med" len="med"/>
          </a:ln>
        </p:spPr>
      </p:cxnSp>
      <p:sp>
        <p:nvSpPr>
          <p:cNvPr id="35" name="CapacityFormula"/>
          <p:cNvSpPr txBox="1"/>
          <p:nvPr/>
        </p:nvSpPr>
        <p:spPr>
          <a:xfrm>
            <a:off x="709111" y="3867912"/>
            <a:ext cx="4882896" cy="246888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850" i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unobligated remaining capacity = parent ceiling minus family obligations (indicative)</a:t>
            </a:r>
          </a:p>
        </p:txBody>
      </p:sp>
      <p:sp>
        <p:nvSpPr>
          <p:cNvPr id="36" name="SeparateUniversesHeader"/>
          <p:cNvSpPr txBox="1"/>
          <p:nvPr/>
        </p:nvSpPr>
        <p:spPr>
          <a:xfrm>
            <a:off x="6049207" y="2020824"/>
            <a:ext cx="1554480" cy="393192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SEPARATE UNIVERSES</a:t>
            </a:r>
          </a:p>
          <a:p>
            <a:pPr algn="ctr">
              <a:lnSpc>
                <a:spcPct val="95000"/>
              </a:lnSpc>
              <a:buNone/>
            </a:pPr>
            <a:r>
              <a:rPr lang="en-US" sz="850" i="1" dirty="0">
                <a:solidFill>
                  <a:srgbClr val="646464"/>
                </a:solidFill>
                <a:latin typeface="Arial"/>
                <a:ea typeface="Arial"/>
                <a:cs typeface="Arial"/>
              </a:rPr>
              <a:t>not outer rings</a:t>
            </a:r>
          </a:p>
        </p:txBody>
      </p:sp>
      <p:sp>
        <p:nvSpPr>
          <p:cNvPr id="37" name="SeparateUniverse1"/>
          <p:cNvSpPr txBox="1"/>
          <p:nvPr/>
        </p:nvSpPr>
        <p:spPr>
          <a:xfrm>
            <a:off x="6049207" y="2478024"/>
            <a:ext cx="1554480" cy="420624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Outlay</a:t>
            </a:r>
          </a:p>
          <a:p>
            <a:pPr algn="ctr">
              <a:lnSpc>
                <a:spcPct val="9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cash disbursed</a:t>
            </a:r>
          </a:p>
        </p:txBody>
      </p:sp>
      <p:sp>
        <p:nvSpPr>
          <p:cNvPr id="38" name="SeparateUniverse2"/>
          <p:cNvSpPr txBox="1"/>
          <p:nvPr/>
        </p:nvSpPr>
        <p:spPr>
          <a:xfrm>
            <a:off x="6049207" y="2971800"/>
            <a:ext cx="1554480" cy="420624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Budget demand</a:t>
            </a:r>
          </a:p>
          <a:p>
            <a:pPr algn="ctr">
              <a:lnSpc>
                <a:spcPct val="9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requested or enacted</a:t>
            </a:r>
          </a:p>
        </p:txBody>
      </p:sp>
      <p:sp>
        <p:nvSpPr>
          <p:cNvPr id="39" name="SeparateUniverse3"/>
          <p:cNvSpPr txBox="1"/>
          <p:nvPr/>
        </p:nvSpPr>
        <p:spPr>
          <a:xfrm>
            <a:off x="6049207" y="3465576"/>
            <a:ext cx="1554480" cy="420624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>
              <a:lnSpc>
                <a:spcPct val="95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Subaward</a:t>
            </a:r>
          </a:p>
          <a:p>
            <a:pPr algn="ctr">
              <a:lnSpc>
                <a:spcPct val="950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first-tier supplier flow</a:t>
            </a:r>
          </a:p>
        </p:txBody>
      </p:sp>
      <p:sp>
        <p:nvSpPr>
          <p:cNvPr id="40" name="SeparateUniverseCaption"/>
          <p:cNvSpPr txBox="1"/>
          <p:nvPr/>
        </p:nvSpPr>
        <p:spPr>
          <a:xfrm>
            <a:off x="6049207" y="3995928"/>
            <a:ext cx="1554480" cy="182880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 algn="ctr">
              <a:lnSpc>
                <a:spcPct val="95000"/>
              </a:lnSpc>
              <a:buNone/>
            </a:pPr>
            <a:r>
              <a:rPr lang="en-US" sz="800" i="1" dirty="0">
                <a:solidFill>
                  <a:srgbClr val="646464"/>
                </a:solidFill>
                <a:latin typeface="Arial"/>
                <a:ea typeface="Arial"/>
                <a:cs typeface="Arial"/>
              </a:rPr>
              <a:t>never summed with the nest</a:t>
            </a:r>
          </a:p>
        </p:txBody>
      </p:sp>
      <p:sp>
        <p:nvSpPr>
          <p:cNvPr id="41" name="CapacityNoteSwatch"/>
          <p:cNvSpPr/>
          <p:nvPr/>
        </p:nvSpPr>
        <p:spPr>
          <a:xfrm>
            <a:off x="453079" y="4379976"/>
            <a:ext cx="182880" cy="182880"/>
          </a:xfrm>
          <a:prstGeom prst="rect">
            <a:avLst/>
          </a:prstGeom>
          <a:pattFill prst="ltUpDiag">
            <a:fgClr>
              <a:srgbClr val="7F7F7F"/>
            </a:fgClr>
            <a:bgClr>
              <a:srgbClr val="E2E9EF"/>
            </a:bgClr>
          </a:pattFill>
          <a:ln>
            <a:noFill/>
          </a:ln>
        </p:spPr>
      </p:sp>
      <p:sp>
        <p:nvSpPr>
          <p:cNvPr id="42" name="CapacityInterpretation"/>
          <p:cNvSpPr txBox="1"/>
          <p:nvPr/>
        </p:nvSpPr>
        <p:spPr>
          <a:xfrm>
            <a:off x="718255" y="4325112"/>
            <a:ext cx="6885432" cy="81381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Count the capacity once, and call it indicative.</a:t>
            </a:r>
          </a:p>
          <a:p>
            <a:pPr>
              <a:lnSpc>
                <a:spcPct val="100000"/>
              </a:lnSpc>
              <a:buNone/>
            </a:pPr>
            <a:r>
              <a:rPr lang="en-US" sz="850" dirty="0">
                <a:solidFill>
                  <a:srgbClr val="646464"/>
                </a:solidFill>
                <a:latin typeface="Arial"/>
                <a:ea typeface="Arial"/>
                <a:cs typeface="Arial"/>
              </a:rPr>
              <a:t>Collapse parent, child orders, and modifications into one family before reading the gap. A ceiling may be shared across many holders and never used, so the gap is an opportunity indicator, not pipeline value.</a:t>
            </a:r>
          </a:p>
        </p:txBody>
      </p:sp>
      <p:sp>
        <p:nvSpPr>
          <p:cNvPr id="43" name="TwoSensesCard"/>
          <p:cNvSpPr txBox="1"/>
          <p:nvPr/>
        </p:nvSpPr>
        <p:spPr>
          <a:xfrm>
            <a:off x="7768279" y="1371600"/>
            <a:ext cx="3967162" cy="1188720"/>
          </a:xfrm>
          <a:prstGeom prst="rect">
            <a:avLst/>
          </a:prstGeom>
          <a:solidFill>
            <a:srgbClr val="E2E9EF"/>
          </a:solidFill>
          <a:ln w="19050">
            <a:solidFill>
              <a:srgbClr val="000000"/>
            </a:solidFill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44" name="TwoSensesHeadline"/>
          <p:cNvSpPr txBox="1"/>
          <p:nvPr/>
        </p:nvSpPr>
        <p:spPr>
          <a:xfrm>
            <a:off x="7878007" y="1444752"/>
            <a:ext cx="3747706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"Unobligated" has two senses; this slide means the contract one.</a:t>
            </a:r>
          </a:p>
        </p:txBody>
      </p:sp>
      <p:sp>
        <p:nvSpPr>
          <p:cNvPr id="45" name="ContractSense"/>
          <p:cNvSpPr txBox="1"/>
          <p:nvPr/>
        </p:nvSpPr>
        <p:spPr>
          <a:xfrm>
            <a:off x="7878007" y="1828800"/>
            <a:ext cx="1828133" cy="6400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CONTRACT SENSE (THIS SLIDE)</a:t>
            </a:r>
          </a:p>
          <a:p>
            <a:pPr>
              <a:lnSpc>
                <a:spcPct val="9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Vehicle ceiling not yet obligated; capacity already inside an IDIQ.</a:t>
            </a:r>
          </a:p>
        </p:txBody>
      </p:sp>
      <p:cxnSp>
        <p:nvCxnSpPr>
          <p:cNvPr id="46" name="TwoSensesDivider"/>
          <p:cNvCxnSpPr/>
          <p:nvPr/>
        </p:nvCxnSpPr>
        <p:spPr>
          <a:xfrm>
            <a:off x="9751860" y="1828800"/>
            <a:ext cx="1" cy="640080"/>
          </a:xfrm>
          <a:prstGeom prst="line">
            <a:avLst/>
          </a:prstGeom>
          <a:ln w="6350">
            <a:solidFill>
              <a:srgbClr val="000000"/>
            </a:solidFill>
          </a:ln>
        </p:spPr>
      </p:cxnSp>
      <p:sp>
        <p:nvSpPr>
          <p:cNvPr id="47" name="BudgetSense"/>
          <p:cNvSpPr txBox="1"/>
          <p:nvPr/>
        </p:nvSpPr>
        <p:spPr>
          <a:xfrm>
            <a:off x="9843300" y="1828800"/>
            <a:ext cx="1828133" cy="640080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95000"/>
              </a:lnSpc>
              <a:buNone/>
            </a:pPr>
            <a:r>
              <a:rPr lang="en-US" sz="8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BUDGET SENSE (NOT THIS SLIDE)</a:t>
            </a:r>
          </a:p>
          <a:p>
            <a:pPr>
              <a:lnSpc>
                <a:spcPct val="95000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Appropriated authority not yet placed on contract. Different number, different universe.</a:t>
            </a:r>
          </a:p>
        </p:txBody>
      </p:sp>
      <p:sp>
        <p:nvSpPr>
          <p:cNvPr id="48" name="GlossaryTitle"/>
          <p:cNvSpPr txBox="1"/>
          <p:nvPr/>
        </p:nvSpPr>
        <p:spPr>
          <a:xfrm>
            <a:off x="7768279" y="2679192"/>
            <a:ext cx="3967162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tIns="0" rIns="0" bIns="0"/>
          <a:lstStyle/>
          <a:p>
            <a:pPr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MONEY-MEASURES GLOSSARY | nested contract measures</a:t>
            </a:r>
          </a:p>
        </p:txBody>
      </p:sp>
      <p:graphicFrame>
        <p:nvGraphicFramePr>
          <p:cNvPr id="49" name="MoneyMeasuresGlossary"/>
          <p:cNvGraphicFramePr>
            <a:graphicFrameLocks noGrp="1"/>
          </p:cNvGraphicFramePr>
          <p:nvPr/>
        </p:nvGraphicFramePr>
        <p:xfrm>
          <a:off x="7768279" y="2916936"/>
          <a:ext cx="3967162" cy="2212848"/>
        </p:xfrm>
        <a:graphic>
          <a:graphicData uri="http://schemas.openxmlformats.org/drawingml/2006/table">
            <a:tbl>
              <a:tblPr firstRow="1" firstCol="1" bandRow="0">
                <a:tableStyleId>{2D5ABB26-0587-4C30-8999-92F81FD0307C}</a:tableStyleId>
              </a:tblPr>
              <a:tblGrid>
                <a:gridCol w="822960"/>
                <a:gridCol w="960120"/>
                <a:gridCol w="960120"/>
                <a:gridCol w="1223962"/>
              </a:tblGrid>
              <a:tr h="27432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Measure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What it is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Where it appears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Common misread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84632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Action obligation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One transaction or modification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Award action and transaction records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646464"/>
                          </a:solidFill>
                          <a:latin typeface="Arial"/>
                          <a:ea typeface="Arial"/>
                          <a:cs typeface="Arial"/>
                        </a:rPr>
                        <a:t>Summing cumulative snapshots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84632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Cumulative obligation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Restated running total to date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Award record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646464"/>
                          </a:solidFill>
                          <a:latin typeface="Arial"/>
                          <a:ea typeface="Arial"/>
                          <a:cs typeface="Arial"/>
                        </a:rPr>
                        <a:t>Treating each restatement as new money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84632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Current value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Base and exercised options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SAM Contract Awards value fields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646464"/>
                          </a:solidFill>
                          <a:latin typeface="Arial"/>
                          <a:ea typeface="Arial"/>
                          <a:cs typeface="Arial"/>
                        </a:rPr>
                        <a:t>Reading it as the ceiling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84632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Potential / ceiling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Base and all options; maximum authority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SAM Contract Awards ceiling fields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00" b="0" dirty="0">
                          <a:solidFill>
                            <a:srgbClr val="646464"/>
                          </a:solidFill>
                          <a:latin typeface="Arial"/>
                          <a:ea typeface="Arial"/>
                          <a:cs typeface="Arial"/>
                        </a:rPr>
                        <a:t>Treating ceiling as funded or guaranteed revenue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0" name="MoneyDisciplineRail"/>
          <p:cNvSpPr txBox="1"/>
          <p:nvPr/>
        </p:nvSpPr>
        <p:spPr>
          <a:xfrm>
            <a:off x="453079" y="5276088"/>
            <a:ext cx="11282362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51" name="MoneyDiscipline1"/>
          <p:cNvSpPr txBox="1"/>
          <p:nvPr/>
        </p:nvSpPr>
        <p:spPr>
          <a:xfrm>
            <a:off x="453079" y="5276088"/>
            <a:ext cx="1517904" cy="585216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tIns="27432" rIns="54864" bIns="27432"/>
          <a:lstStyle/>
          <a:p>
            <a:pPr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Sum action obligations only</a:t>
            </a:r>
          </a:p>
        </p:txBody>
      </p:sp>
      <p:cxnSp>
        <p:nvCxnSpPr>
          <p:cNvPr id="52" name="MoneyDisciplineDivider1"/>
          <p:cNvCxnSpPr/>
          <p:nvPr/>
        </p:nvCxnSpPr>
        <p:spPr>
          <a:xfrm>
            <a:off x="1970983" y="5349240"/>
            <a:ext cx="1" cy="438912"/>
          </a:xfrm>
          <a:prstGeom prst="line">
            <a:avLst/>
          </a:prstGeom>
          <a:ln w="6350">
            <a:solidFill>
              <a:srgbClr val="000000"/>
            </a:solidFill>
          </a:ln>
        </p:spPr>
      </p:cxnSp>
      <p:sp>
        <p:nvSpPr>
          <p:cNvPr id="53" name="MoneyDiscipline2"/>
          <p:cNvSpPr txBox="1"/>
          <p:nvPr/>
        </p:nvSpPr>
        <p:spPr>
          <a:xfrm>
            <a:off x="1970983" y="5276088"/>
            <a:ext cx="1755648" cy="585216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tIns="27432" rIns="54864" bIns="27432"/>
          <a:lstStyle/>
          <a:p>
            <a:pPr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Never sum cumulative snapshots</a:t>
            </a:r>
          </a:p>
        </p:txBody>
      </p:sp>
      <p:cxnSp>
        <p:nvCxnSpPr>
          <p:cNvPr id="54" name="MoneyDisciplineDivider2"/>
          <p:cNvCxnSpPr/>
          <p:nvPr/>
        </p:nvCxnSpPr>
        <p:spPr>
          <a:xfrm>
            <a:off x="3726631" y="5349240"/>
            <a:ext cx="1" cy="438912"/>
          </a:xfrm>
          <a:prstGeom prst="line">
            <a:avLst/>
          </a:prstGeom>
          <a:ln w="6350">
            <a:solidFill>
              <a:srgbClr val="000000"/>
            </a:solidFill>
          </a:ln>
        </p:spPr>
      </p:cxnSp>
      <p:sp>
        <p:nvSpPr>
          <p:cNvPr id="55" name="MoneyDiscipline3"/>
          <p:cNvSpPr txBox="1"/>
          <p:nvPr/>
        </p:nvSpPr>
        <p:spPr>
          <a:xfrm>
            <a:off x="3726631" y="5276088"/>
            <a:ext cx="3273552" cy="585216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tIns="27432" rIns="54864" bIns="27432"/>
          <a:lstStyle/>
          <a:p>
            <a:pPr algn="ctr">
              <a:lnSpc>
                <a:spcPct val="100000"/>
              </a:lnSpc>
              <a:buNone/>
            </a:pPr>
            <a:r>
              <a:rPr lang="en-US" sz="100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Keep obligations, current value, ceiling, outlays, budget demand, and subawards separate</a:t>
            </a:r>
          </a:p>
        </p:txBody>
      </p:sp>
      <p:cxnSp>
        <p:nvCxnSpPr>
          <p:cNvPr id="56" name="MoneyDisciplineDivider3"/>
          <p:cNvCxnSpPr/>
          <p:nvPr/>
        </p:nvCxnSpPr>
        <p:spPr>
          <a:xfrm>
            <a:off x="7000183" y="5349240"/>
            <a:ext cx="1" cy="438912"/>
          </a:xfrm>
          <a:prstGeom prst="line">
            <a:avLst/>
          </a:prstGeom>
          <a:ln w="6350">
            <a:solidFill>
              <a:srgbClr val="000000"/>
            </a:solidFill>
          </a:ln>
        </p:spPr>
      </p:cxnSp>
      <p:sp>
        <p:nvSpPr>
          <p:cNvPr id="57" name="MoneyDiscipline4"/>
          <p:cNvSpPr txBox="1"/>
          <p:nvPr/>
        </p:nvSpPr>
        <p:spPr>
          <a:xfrm>
            <a:off x="7000183" y="5276088"/>
            <a:ext cx="2267712" cy="585216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tIns="27432" rIns="54864" bIns="27432"/>
          <a:lstStyle/>
          <a:p>
            <a:pPr algn="ctr">
              <a:lnSpc>
                <a:spcPct val="100000"/>
              </a:lnSpc>
              <a:buNone/>
            </a:pPr>
            <a:r>
              <a:rPr lang="en-US" sz="1000" b="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Roll the vehicle and its children into one family</a:t>
            </a:r>
          </a:p>
        </p:txBody>
      </p:sp>
      <p:cxnSp>
        <p:nvCxnSpPr>
          <p:cNvPr id="58" name="MoneyDisciplineDivider4"/>
          <p:cNvCxnSpPr/>
          <p:nvPr/>
        </p:nvCxnSpPr>
        <p:spPr>
          <a:xfrm>
            <a:off x="9267895" y="5349240"/>
            <a:ext cx="1" cy="438912"/>
          </a:xfrm>
          <a:prstGeom prst="line">
            <a:avLst/>
          </a:prstGeom>
          <a:ln w="6350">
            <a:solidFill>
              <a:srgbClr val="000000"/>
            </a:solidFill>
          </a:ln>
        </p:spPr>
      </p:cxnSp>
      <p:sp>
        <p:nvSpPr>
          <p:cNvPr id="59" name="MoneyDiscipline5"/>
          <p:cNvSpPr txBox="1"/>
          <p:nvPr/>
        </p:nvSpPr>
        <p:spPr>
          <a:xfrm>
            <a:off x="9267895" y="5276088"/>
            <a:ext cx="2467546" cy="585216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tIns="27432" rIns="54864" bIns="27432"/>
          <a:lstStyle/>
          <a:p>
            <a:pPr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Ceiling and option value are not guaranteed revenue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Ceiling and current value: SAM.gov Contract Awards API; action-level obligations and outlays: USAspending transactions, reconciled with FPDS lineage; family roll-up and worked figures: internal Army Market Mapping workbook | Note: Then-year dollars; figures illustrative of method; as of 2026-06-22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eadcrumb"/>
          <p:cNvSpPr>
            <a:spLocks noGrp="1"/>
          </p:cNvSpPr>
          <p:nvPr>
            <p:ph type="body" sz="quarter" idx="10"/>
          </p:nvPr>
        </p:nvSpPr>
        <p:spPr>
          <a:xfrm>
            <a:off x="453079" y="263452"/>
            <a:ext cx="11282362" cy="153888"/>
          </a:xfrm>
        </p:spPr>
        <p:txBody>
          <a:bodyPr/>
          <a:lstStyle/>
          <a:p>
            <a:r>
              <a:rPr lang="en-US" sz="1000" b="1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Market Sizing</a:t>
            </a:r>
            <a:r>
              <a:rPr lang="en-US" sz="1000" kern="1200" dirty="0">
                <a:solidFill>
                  <a:srgbClr val="44505C"/>
                </a:solidFill>
                <a:latin typeface="Arial"/>
                <a:ea typeface="Arial"/>
                <a:cs typeface="Arial"/>
              </a:rPr>
              <a:t> / Sources and Validation</a:t>
            </a:r>
          </a:p>
        </p:txBody>
      </p:sp>
      <p:sp>
        <p:nvSpPr>
          <p:cNvPr id="4" name="PrelimChip"/>
          <p:cNvSpPr txBox="1"/>
          <p:nvPr/>
        </p:nvSpPr>
        <p:spPr>
          <a:xfrm>
            <a:off x="10267829" y="111556"/>
            <a:ext cx="1467612" cy="290000"/>
          </a:xfrm>
          <a:prstGeom prst="rect">
            <a:avLst/>
          </a:prstGeom>
          <a:solidFill>
            <a:srgbClr val="FFFFCC"/>
          </a:solidFill>
          <a:ln w="19050">
            <a:solidFill>
              <a:srgbClr val="000000"/>
            </a:solidFill>
          </a:ln>
        </p:spPr>
        <p:txBody>
          <a:bodyPr wrap="square" anchor="ctr" lIns="45720" tIns="9144" rIns="45720" bIns="9144"/>
          <a:lstStyle/>
          <a:p>
            <a:pPr algn="ctr"/>
            <a:r>
              <a:rPr lang="en-US" sz="1200" b="1" kern="12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Preliminary</a:t>
            </a:r>
          </a:p>
        </p:txBody>
      </p:sp>
      <p:sp>
        <p:nvSpPr>
          <p:cNvPr id="3" name="Title"/>
          <p:cNvSpPr>
            <a:spLocks noGrp="1"/>
          </p:cNvSpPr>
          <p:nvPr>
            <p:ph type="title"/>
          </p:nvPr>
        </p:nvSpPr>
        <p:spPr>
          <a:xfrm>
            <a:off x="453079" y="554500"/>
            <a:ext cx="11282362" cy="640080"/>
          </a:xfrm>
        </p:spPr>
        <p:txBody>
          <a:bodyPr rIns="0"/>
          <a:lstStyle/>
          <a:p>
            <a:r>
              <a:rPr lang="en-US" sz="20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Award Data Sourcing | SAM Contract Awards anchors the pull; funding and subaward layers enrich it, and validation precedes any total.</a:t>
            </a:r>
          </a:p>
        </p:txBody>
      </p:sp>
      <p:sp>
        <p:nvSpPr>
          <p:cNvPr id="10" name="PullBand"/>
          <p:cNvSpPr txBox="1"/>
          <p:nvPr/>
        </p:nvSpPr>
        <p:spPr>
          <a:xfrm>
            <a:off x="453079" y="1371600"/>
            <a:ext cx="2423160" cy="1636776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11" name="EnrichBand"/>
          <p:cNvSpPr txBox="1"/>
          <p:nvPr/>
        </p:nvSpPr>
        <p:spPr>
          <a:xfrm>
            <a:off x="2876239" y="1371600"/>
            <a:ext cx="4572000" cy="1636776"/>
          </a:xfrm>
          <a:prstGeom prst="rect">
            <a:avLst/>
          </a:prstGeom>
          <a:solidFill>
            <a:srgbClr val="E2E9EF"/>
          </a:solidFill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12" name="ValidateBand"/>
          <p:cNvSpPr txBox="1"/>
          <p:nvPr/>
        </p:nvSpPr>
        <p:spPr>
          <a:xfrm>
            <a:off x="7448239" y="1371600"/>
            <a:ext cx="1417320" cy="1636776"/>
          </a:xfrm>
          <a:prstGeom prst="rect">
            <a:avLst/>
          </a:prstGeom>
          <a:solidFill>
            <a:srgbClr val="B6C8D8"/>
          </a:solidFill>
          <a:ln>
            <a:noFill/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13" name="PullLabel"/>
          <p:cNvSpPr txBox="1"/>
          <p:nvPr/>
        </p:nvSpPr>
        <p:spPr>
          <a:xfrm>
            <a:off x="526231" y="1380744"/>
            <a:ext cx="594360" cy="128016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PULL</a:t>
            </a:r>
          </a:p>
        </p:txBody>
      </p:sp>
      <p:sp>
        <p:nvSpPr>
          <p:cNvPr id="14" name="EnrichLabel"/>
          <p:cNvSpPr txBox="1"/>
          <p:nvPr/>
        </p:nvSpPr>
        <p:spPr>
          <a:xfrm>
            <a:off x="2949391" y="1380744"/>
            <a:ext cx="685800" cy="128016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ENRICH</a:t>
            </a:r>
          </a:p>
        </p:txBody>
      </p:sp>
      <p:sp>
        <p:nvSpPr>
          <p:cNvPr id="15" name="ValidateLabel"/>
          <p:cNvSpPr txBox="1"/>
          <p:nvPr/>
        </p:nvSpPr>
        <p:spPr>
          <a:xfrm>
            <a:off x="7521391" y="1380744"/>
            <a:ext cx="804672" cy="128016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VALIDATE</a:t>
            </a:r>
          </a:p>
        </p:txBody>
      </p:sp>
      <p:sp>
        <p:nvSpPr>
          <p:cNvPr id="16" name="OutputsLabel"/>
          <p:cNvSpPr txBox="1"/>
          <p:nvPr/>
        </p:nvSpPr>
        <p:spPr>
          <a:xfrm>
            <a:off x="9258751" y="1380744"/>
            <a:ext cx="685800" cy="128016"/>
          </a:xfrm>
          <a:prstGeom prst="rect">
            <a:avLst/>
          </a:prstGeom>
          <a:noFill/>
          <a:ln>
            <a:noFill/>
          </a:ln>
        </p:spPr>
        <p:txBody>
          <a:bodyPr wrap="none" anchor="t" lIns="0" tIns="0" rIns="0" bIns="0"/>
          <a:lstStyle/>
          <a:p>
            <a:pPr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OUTPUTS</a:t>
            </a:r>
          </a:p>
        </p:txBody>
      </p:sp>
      <p:sp>
        <p:nvSpPr>
          <p:cNvPr id="17" name="ModernBaseNote"/>
          <p:cNvSpPr txBox="1"/>
          <p:nvPr/>
        </p:nvSpPr>
        <p:spPr>
          <a:xfrm>
            <a:off x="562807" y="1545336"/>
            <a:ext cx="2176272" cy="676656"/>
          </a:xfrm>
          <a:prstGeom prst="rect">
            <a:avLst/>
          </a:prstGeom>
          <a:noFill/>
          <a:ln>
            <a:noFill/>
          </a:ln>
        </p:spPr>
        <p:txBody>
          <a:bodyPr wrap="square" anchor="t" lIns="0" tIns="0" rIns="36576" bIns="0"/>
          <a:lstStyle/>
          <a:p>
            <a:pPr>
              <a:lnSpc>
                <a:spcPct val="102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modern base pull is SAM Contract Awards, not the FPDS Atom feed.</a:t>
            </a:r>
          </a:p>
          <a:p>
            <a:pPr>
              <a:lnSpc>
                <a:spcPct val="100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FPDS remains useful for legacy lineage and per-action validation; the workflow does not depend on a feed slated to retire in FY2026.</a:t>
            </a:r>
          </a:p>
        </p:txBody>
      </p:sp>
      <p:sp>
        <p:nvSpPr>
          <p:cNvPr id="20" name="Step3"/>
          <p:cNvSpPr txBox="1"/>
          <p:nvPr/>
        </p:nvSpPr>
        <p:spPr>
          <a:xfrm>
            <a:off x="3086551" y="1527048"/>
            <a:ext cx="164592" cy="164592"/>
          </a:xfrm>
          <a:prstGeom prst="ellipse">
            <a:avLst/>
          </a:prstGeom>
          <a:solidFill>
            <a:srgbClr val="6E91B1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Verb3"/>
          <p:cNvSpPr txBox="1"/>
          <p:nvPr/>
        </p:nvSpPr>
        <p:spPr>
          <a:xfrm>
            <a:off x="3283147" y="1527048"/>
            <a:ext cx="749808" cy="164592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l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ADD</a:t>
            </a:r>
          </a:p>
        </p:txBody>
      </p:sp>
      <p:sp>
        <p:nvSpPr>
          <p:cNvPr id="22" name="Step4"/>
          <p:cNvSpPr txBox="1"/>
          <p:nvPr/>
        </p:nvSpPr>
        <p:spPr>
          <a:xfrm>
            <a:off x="4202119" y="1527048"/>
            <a:ext cx="164592" cy="164592"/>
          </a:xfrm>
          <a:prstGeom prst="ellipse">
            <a:avLst/>
          </a:prstGeom>
          <a:solidFill>
            <a:srgbClr val="6E91B1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3" name="Verb4"/>
          <p:cNvSpPr txBox="1"/>
          <p:nvPr/>
        </p:nvSpPr>
        <p:spPr>
          <a:xfrm>
            <a:off x="4398715" y="1527048"/>
            <a:ext cx="749808" cy="164592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l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LINK</a:t>
            </a:r>
          </a:p>
        </p:txBody>
      </p:sp>
      <p:sp>
        <p:nvSpPr>
          <p:cNvPr id="24" name="Step5"/>
          <p:cNvSpPr txBox="1"/>
          <p:nvPr/>
        </p:nvSpPr>
        <p:spPr>
          <a:xfrm>
            <a:off x="5317687" y="1527048"/>
            <a:ext cx="164592" cy="164592"/>
          </a:xfrm>
          <a:prstGeom prst="ellipse">
            <a:avLst/>
          </a:prstGeom>
          <a:solidFill>
            <a:srgbClr val="6E91B1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5" name="Verb5"/>
          <p:cNvSpPr txBox="1"/>
          <p:nvPr/>
        </p:nvSpPr>
        <p:spPr>
          <a:xfrm>
            <a:off x="5514283" y="1527048"/>
            <a:ext cx="749808" cy="164592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l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PULL</a:t>
            </a:r>
          </a:p>
        </p:txBody>
      </p:sp>
      <p:sp>
        <p:nvSpPr>
          <p:cNvPr id="26" name="Step6"/>
          <p:cNvSpPr txBox="1"/>
          <p:nvPr/>
        </p:nvSpPr>
        <p:spPr>
          <a:xfrm>
            <a:off x="6433255" y="1527048"/>
            <a:ext cx="164592" cy="164592"/>
          </a:xfrm>
          <a:prstGeom prst="ellipse">
            <a:avLst/>
          </a:prstGeom>
          <a:solidFill>
            <a:srgbClr val="6E91B1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7" name="Verb6"/>
          <p:cNvSpPr txBox="1"/>
          <p:nvPr/>
        </p:nvSpPr>
        <p:spPr>
          <a:xfrm>
            <a:off x="6629851" y="1527048"/>
            <a:ext cx="749808" cy="164592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l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RESOLVE</a:t>
            </a:r>
          </a:p>
        </p:txBody>
      </p:sp>
      <p:sp>
        <p:nvSpPr>
          <p:cNvPr id="28" name="USAspending"/>
          <p:cNvSpPr txBox="1"/>
          <p:nvPr/>
        </p:nvSpPr>
        <p:spPr>
          <a:xfrm>
            <a:off x="2995111" y="1741932"/>
            <a:ext cx="1024128" cy="306324"/>
          </a:xfrm>
          <a:prstGeom prst="rect">
            <a:avLst/>
          </a:prstGeom>
          <a:solidFill>
            <a:srgbClr val="B6C8D8"/>
          </a:solidFill>
          <a:ln w="12700">
            <a:solidFill>
              <a:srgbClr val="000000"/>
            </a:solidFill>
          </a:ln>
        </p:spPr>
        <p:txBody>
          <a:bodyPr wrap="square" anchor="ctr" lIns="40000" tIns="18000" rIns="40000" bIns="18000"/>
          <a:lstStyle/>
          <a:p>
            <a:pPr algn="ctr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USASPENDING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6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 obligations, TAS</a:t>
            </a:r>
          </a:p>
        </p:txBody>
      </p:sp>
      <p:sp>
        <p:nvSpPr>
          <p:cNvPr id="29" name="VehicleFamilies"/>
          <p:cNvSpPr txBox="1"/>
          <p:nvPr/>
        </p:nvSpPr>
        <p:spPr>
          <a:xfrm>
            <a:off x="4110679" y="1741932"/>
            <a:ext cx="1024128" cy="306324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40000" tIns="18000" rIns="40000" bIns="18000"/>
          <a:lstStyle/>
          <a:p>
            <a:pPr algn="ctr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VEHICLE FAMILY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6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Parent/child orders</a:t>
            </a:r>
          </a:p>
        </p:txBody>
      </p:sp>
      <p:sp>
        <p:nvSpPr>
          <p:cNvPr id="30" name="Subawards"/>
          <p:cNvSpPr txBox="1"/>
          <p:nvPr/>
        </p:nvSpPr>
        <p:spPr>
          <a:xfrm>
            <a:off x="5226247" y="1741932"/>
            <a:ext cx="1024128" cy="306324"/>
          </a:xfrm>
          <a:prstGeom prst="rect">
            <a:avLst/>
          </a:prstGeom>
          <a:solidFill>
            <a:srgbClr val="B6C8D8"/>
          </a:solidFill>
          <a:ln w="12700">
            <a:solidFill>
              <a:srgbClr val="000000"/>
            </a:solidFill>
          </a:ln>
        </p:spPr>
        <p:txBody>
          <a:bodyPr wrap="square" anchor="ctr" lIns="40000" tIns="18000" rIns="40000" bIns="18000"/>
          <a:lstStyle/>
          <a:p>
            <a:pPr algn="ctr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SAM SUBAWARDS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6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First-tier suppliers</a:t>
            </a:r>
          </a:p>
        </p:txBody>
      </p:sp>
      <p:sp>
        <p:nvSpPr>
          <p:cNvPr id="31" name="EntityManagement"/>
          <p:cNvSpPr txBox="1"/>
          <p:nvPr/>
        </p:nvSpPr>
        <p:spPr>
          <a:xfrm>
            <a:off x="6341815" y="1741932"/>
            <a:ext cx="1024128" cy="306324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40000" tIns="18000" rIns="40000" bIns="18000"/>
          <a:lstStyle/>
          <a:p>
            <a:pPr algn="ctr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SAM ENTITY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6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UEI / CAGE / NAICS</a:t>
            </a:r>
          </a:p>
        </p:txBody>
      </p:sp>
      <p:sp>
        <p:nvSpPr>
          <p:cNvPr id="32" name="USAspendingComment"/>
          <p:cNvSpPr txBox="1"/>
          <p:nvPr/>
        </p:nvSpPr>
        <p:spPr>
          <a:xfrm>
            <a:off x="2995111" y="2089404"/>
            <a:ext cx="1417320" cy="361188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t" lIns="40000" tIns="18000" rIns="40000" bIns="18000"/>
          <a:lstStyle/>
          <a:p>
            <a:pPr algn="l">
              <a:lnSpc>
                <a:spcPct val="100000"/>
              </a:lnSpc>
              <a:buNone/>
            </a:pPr>
            <a:r>
              <a:rPr lang="en-US" sz="775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BUDGET BRIDGE</a:t>
            </a:r>
          </a:p>
          <a:p>
            <a:pPr algn="l">
              <a:lnSpc>
                <a:spcPct val="100000"/>
              </a:lnSpc>
              <a:buNone/>
            </a:pPr>
            <a:r>
              <a:rPr lang="en-US" sz="625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FY obligations and TAS; reconcile to SAM.</a:t>
            </a:r>
          </a:p>
        </p:txBody>
      </p:sp>
      <p:sp>
        <p:nvSpPr>
          <p:cNvPr id="33" name="SubawardComment"/>
          <p:cNvSpPr txBox="1"/>
          <p:nvPr/>
        </p:nvSpPr>
        <p:spPr>
          <a:xfrm>
            <a:off x="5226247" y="2089404"/>
            <a:ext cx="1417320" cy="361188"/>
          </a:xfrm>
          <a:prstGeom prst="rect">
            <a:avLst/>
          </a:prstGeom>
          <a:solidFill>
            <a:srgbClr val="D9D9D9"/>
          </a:solidFill>
          <a:ln w="12700">
            <a:solidFill>
              <a:srgbClr val="000000"/>
            </a:solidFill>
          </a:ln>
        </p:spPr>
        <p:txBody>
          <a:bodyPr wrap="square" anchor="t" lIns="40000" tIns="18000" rIns="40000" bIns="18000"/>
          <a:lstStyle/>
          <a:p>
            <a:pPr algn="l">
              <a:lnSpc>
                <a:spcPct val="100000"/>
              </a:lnSpc>
              <a:buNone/>
            </a:pPr>
            <a:r>
              <a:rPr lang="en-US" sz="675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DIFFERENT QUESTION</a:t>
            </a:r>
          </a:p>
          <a:p>
            <a:pPr algn="l">
              <a:lnSpc>
                <a:spcPct val="100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Lagged first-tier only; never add to primes.</a:t>
            </a:r>
          </a:p>
        </p:txBody>
      </p:sp>
      <p:cxnSp>
        <p:nvCxnSpPr>
          <p:cNvPr id="34" name="USABoxToCard"/>
          <p:cNvCxnSpPr/>
          <p:nvPr/>
        </p:nvCxnSpPr>
        <p:spPr>
          <a:xfrm>
            <a:off x="3507175" y="2048256"/>
            <a:ext cx="0" cy="41148"/>
          </a:xfrm>
          <a:prstGeom prst="line">
            <a:avLst/>
          </a:prstGeom>
          <a:ln w="6350">
            <a:solidFill>
              <a:srgbClr val="000000"/>
            </a:solidFill>
          </a:ln>
        </p:spPr>
      </p:cxnSp>
      <p:cxnSp>
        <p:nvCxnSpPr>
          <p:cNvPr id="35" name="USACardToSpine"/>
          <p:cNvCxnSpPr/>
          <p:nvPr/>
        </p:nvCxnSpPr>
        <p:spPr>
          <a:xfrm>
            <a:off x="3507175" y="2450592"/>
            <a:ext cx="0" cy="18288"/>
          </a:xfrm>
          <a:prstGeom prst="line">
            <a:avLst/>
          </a:prstGeom>
          <a:ln w="6350">
            <a:solidFill>
              <a:srgbClr val="000000"/>
            </a:solidFill>
            <a:tailEnd type="triangle" w="med" len="med"/>
          </a:ln>
        </p:spPr>
      </p:cxnSp>
      <p:cxnSp>
        <p:nvCxnSpPr>
          <p:cNvPr id="36" name="VehicleToSpine"/>
          <p:cNvCxnSpPr/>
          <p:nvPr/>
        </p:nvCxnSpPr>
        <p:spPr>
          <a:xfrm>
            <a:off x="4622743" y="2048256"/>
            <a:ext cx="0" cy="420624"/>
          </a:xfrm>
          <a:prstGeom prst="line">
            <a:avLst/>
          </a:prstGeom>
          <a:ln w="6350">
            <a:solidFill>
              <a:srgbClr val="000000"/>
            </a:solidFill>
            <a:tailEnd type="triangle" w="med" len="med"/>
          </a:ln>
        </p:spPr>
      </p:cxnSp>
      <p:cxnSp>
        <p:nvCxnSpPr>
          <p:cNvPr id="37" name="SubawardBoxToCard"/>
          <p:cNvCxnSpPr/>
          <p:nvPr/>
        </p:nvCxnSpPr>
        <p:spPr>
          <a:xfrm>
            <a:off x="5738311" y="2048256"/>
            <a:ext cx="0" cy="41148"/>
          </a:xfrm>
          <a:prstGeom prst="line">
            <a:avLst/>
          </a:prstGeom>
          <a:ln w="6350">
            <a:solidFill>
              <a:srgbClr val="000000"/>
            </a:solidFill>
          </a:ln>
        </p:spPr>
      </p:cxnSp>
      <p:cxnSp>
        <p:nvCxnSpPr>
          <p:cNvPr id="38" name="SubawardCardToSpine"/>
          <p:cNvCxnSpPr/>
          <p:nvPr/>
        </p:nvCxnSpPr>
        <p:spPr>
          <a:xfrm>
            <a:off x="5738311" y="2450592"/>
            <a:ext cx="0" cy="18288"/>
          </a:xfrm>
          <a:prstGeom prst="line">
            <a:avLst/>
          </a:prstGeom>
          <a:ln w="6350">
            <a:solidFill>
              <a:srgbClr val="000000"/>
            </a:solidFill>
            <a:tailEnd type="triangle" w="med" len="med"/>
          </a:ln>
        </p:spPr>
      </p:cxnSp>
      <p:cxnSp>
        <p:nvCxnSpPr>
          <p:cNvPr id="39" name="EntityToSpine"/>
          <p:cNvCxnSpPr/>
          <p:nvPr/>
        </p:nvCxnSpPr>
        <p:spPr>
          <a:xfrm>
            <a:off x="6853879" y="2048256"/>
            <a:ext cx="0" cy="420624"/>
          </a:xfrm>
          <a:prstGeom prst="line">
            <a:avLst/>
          </a:prstGeom>
          <a:ln w="6350">
            <a:solidFill>
              <a:srgbClr val="000000"/>
            </a:solidFill>
            <a:tailEnd type="triangle" w="med" len="med"/>
          </a:ln>
        </p:spPr>
      </p:cxnSp>
      <p:sp>
        <p:nvSpPr>
          <p:cNvPr id="40" name="DefineMarketSpine"/>
          <p:cNvSpPr txBox="1"/>
          <p:nvPr/>
        </p:nvSpPr>
        <p:spPr>
          <a:xfrm>
            <a:off x="544519" y="2468880"/>
            <a:ext cx="1078992" cy="310896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0000" tIns="18000" rIns="40000" bIns="18000"/>
          <a:lstStyle/>
          <a:p>
            <a:pPr algn="ctr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PRESIDENT'S BUDGET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6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PE/BLI and money color</a:t>
            </a:r>
          </a:p>
        </p:txBody>
      </p:sp>
      <p:sp>
        <p:nvSpPr>
          <p:cNvPr id="41" name="SAMContractAwardsSpine"/>
          <p:cNvSpPr txBox="1"/>
          <p:nvPr/>
        </p:nvSpPr>
        <p:spPr>
          <a:xfrm>
            <a:off x="1842967" y="2468880"/>
            <a:ext cx="5285232" cy="310896"/>
          </a:xfrm>
          <a:prstGeom prst="rect">
            <a:avLst/>
          </a:prstGeom>
          <a:solidFill>
            <a:srgbClr val="6E91B1"/>
          </a:solidFill>
          <a:ln w="12700">
            <a:solidFill>
              <a:srgbClr val="000000"/>
            </a:solidFill>
          </a:ln>
        </p:spPr>
        <p:txBody>
          <a:bodyPr wrap="square" anchor="ctr" lIns="60000" tIns="35000" rIns="60000" bIns="35000"/>
          <a:lstStyle/>
          <a:p>
            <a:pPr algn="ctr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SAM CONTRACT AWARDS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775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Primes, IDVs, orders/calls and ceiling</a:t>
            </a:r>
          </a:p>
        </p:txBody>
      </p:sp>
      <p:sp>
        <p:nvSpPr>
          <p:cNvPr id="42" name="Step1"/>
          <p:cNvSpPr txBox="1"/>
          <p:nvPr/>
        </p:nvSpPr>
        <p:spPr>
          <a:xfrm>
            <a:off x="635959" y="2253996"/>
            <a:ext cx="164592" cy="164592"/>
          </a:xfrm>
          <a:prstGeom prst="ellipse">
            <a:avLst/>
          </a:prstGeom>
          <a:solidFill>
            <a:srgbClr val="6E91B1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3" name="Verb1"/>
          <p:cNvSpPr txBox="1"/>
          <p:nvPr/>
        </p:nvSpPr>
        <p:spPr>
          <a:xfrm>
            <a:off x="832555" y="2253996"/>
            <a:ext cx="749808" cy="164592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l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DEFINE</a:t>
            </a:r>
          </a:p>
        </p:txBody>
      </p:sp>
      <p:sp>
        <p:nvSpPr>
          <p:cNvPr id="44" name="Step2"/>
          <p:cNvSpPr txBox="1"/>
          <p:nvPr/>
        </p:nvSpPr>
        <p:spPr>
          <a:xfrm>
            <a:off x="1934407" y="2253996"/>
            <a:ext cx="164592" cy="164592"/>
          </a:xfrm>
          <a:prstGeom prst="ellipse">
            <a:avLst/>
          </a:prstGeom>
          <a:solidFill>
            <a:srgbClr val="6E91B1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45" name="Verb2"/>
          <p:cNvSpPr txBox="1"/>
          <p:nvPr/>
        </p:nvSpPr>
        <p:spPr>
          <a:xfrm>
            <a:off x="2131003" y="2253996"/>
            <a:ext cx="749808" cy="164592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l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PULL</a:t>
            </a:r>
          </a:p>
        </p:txBody>
      </p:sp>
      <p:cxnSp>
        <p:nvCxnSpPr>
          <p:cNvPr id="46" name="DefineToSpine"/>
          <p:cNvCxnSpPr/>
          <p:nvPr/>
        </p:nvCxnSpPr>
        <p:spPr>
          <a:xfrm>
            <a:off x="1623511" y="2624328"/>
            <a:ext cx="219456" cy="0"/>
          </a:xfrm>
          <a:prstGeom prst="line">
            <a:avLst/>
          </a:prstGeom>
          <a:ln w="9525">
            <a:solidFill>
              <a:srgbClr val="000000"/>
            </a:solidFill>
            <a:tailEnd type="triangle" w="med" len="med"/>
          </a:ln>
        </p:spPr>
      </p:cxnSp>
      <p:sp>
        <p:nvSpPr>
          <p:cNvPr id="47" name="ValidationGate"/>
          <p:cNvSpPr txBox="1"/>
          <p:nvPr/>
        </p:nvSpPr>
        <p:spPr>
          <a:xfrm>
            <a:off x="7512247" y="2066544"/>
            <a:ext cx="1353312" cy="877824"/>
          </a:xfrm>
          <a:prstGeom prst="rect">
            <a:avLst/>
          </a:prstGeom>
          <a:solidFill>
            <a:srgbClr val="263746"/>
          </a:solidFill>
          <a:ln w="19050">
            <a:solidFill>
              <a:srgbClr val="000000"/>
            </a:solidFill>
          </a:ln>
        </p:spPr>
        <p:txBody>
          <a:bodyPr wrap="square" anchor="ctr" lIns="45000" tIns="22000" rIns="45000" bIns="18000"/>
          <a:lstStyle/>
          <a:p>
            <a:pPr algn="ctr">
              <a:lnSpc>
                <a:spcPct val="95000"/>
              </a:lnSpc>
              <a:buNone/>
            </a:pPr>
            <a:r>
              <a:rPr lang="en-US" sz="1325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VALIDATION</a:t>
            </a:r>
          </a:p>
          <a:p>
            <a:pPr algn="ctr">
              <a:lnSpc>
                <a:spcPct val="9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GATE</a:t>
            </a:r>
          </a:p>
          <a:p>
            <a:pPr algn="ctr">
              <a:lnSpc>
                <a:spcPct val="100000"/>
              </a:lnSpc>
              <a:buNone/>
            </a:pPr>
            <a:r>
              <a:rPr lang="en-US" sz="56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Tag source, vintage, measure, family and confidence</a:t>
            </a:r>
          </a:p>
        </p:txBody>
      </p:sp>
      <p:sp>
        <p:nvSpPr>
          <p:cNvPr id="48" name="Step7"/>
          <p:cNvSpPr txBox="1"/>
          <p:nvPr/>
        </p:nvSpPr>
        <p:spPr>
          <a:xfrm>
            <a:off x="7621975" y="1851660"/>
            <a:ext cx="164592" cy="164592"/>
          </a:xfrm>
          <a:prstGeom prst="ellipse">
            <a:avLst/>
          </a:prstGeom>
          <a:solidFill>
            <a:srgbClr val="263746"/>
          </a:solidFill>
          <a:ln w="12700">
            <a:solidFill>
              <a:srgbClr val="000000"/>
            </a:solidFill>
          </a:ln>
        </p:spPr>
        <p:txBody>
          <a:bodyPr wrap="square" anchor="ctr" lIns="0" tIns="0" rIns="0" bIns="0"/>
          <a:lstStyle/>
          <a:p>
            <a:pPr algn="ctr">
              <a:lnSpc>
                <a:spcPct val="100000"/>
              </a:lnSpc>
              <a:buNone/>
            </a:pPr>
            <a:r>
              <a:rPr lang="en-US" sz="7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49" name="Verb7"/>
          <p:cNvSpPr txBox="1"/>
          <p:nvPr/>
        </p:nvSpPr>
        <p:spPr>
          <a:xfrm>
            <a:off x="7818571" y="1851660"/>
            <a:ext cx="749808" cy="164592"/>
          </a:xfrm>
          <a:prstGeom prst="rect">
            <a:avLst/>
          </a:prstGeom>
          <a:noFill/>
          <a:ln>
            <a:noFill/>
          </a:ln>
        </p:spPr>
        <p:txBody>
          <a:bodyPr wrap="none" anchor="ctr" lIns="0" tIns="0" rIns="0" bIns="0"/>
          <a:lstStyle/>
          <a:p>
            <a:pPr algn="l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VALIDATE</a:t>
            </a:r>
          </a:p>
        </p:txBody>
      </p:sp>
      <p:cxnSp>
        <p:nvCxnSpPr>
          <p:cNvPr id="50" name="SpineToGate"/>
          <p:cNvCxnSpPr/>
          <p:nvPr/>
        </p:nvCxnSpPr>
        <p:spPr>
          <a:xfrm>
            <a:off x="7128199" y="2624328"/>
            <a:ext cx="384048" cy="0"/>
          </a:xfrm>
          <a:prstGeom prst="line">
            <a:avLst/>
          </a:prstGeom>
          <a:ln w="12700">
            <a:solidFill>
              <a:srgbClr val="000000"/>
            </a:solidFill>
            <a:tailEnd type="triangle" w="med" len="med"/>
          </a:ln>
        </p:spPr>
      </p:cxnSp>
      <p:sp>
        <p:nvSpPr>
          <p:cNvPr id="51" name="FPDSLegacy"/>
          <p:cNvSpPr txBox="1"/>
          <p:nvPr/>
        </p:nvSpPr>
        <p:spPr>
          <a:xfrm>
            <a:off x="4769047" y="2788920"/>
            <a:ext cx="2468880" cy="201168"/>
          </a:xfrm>
          <a:prstGeom prst="rect">
            <a:avLst/>
          </a:prstGeom>
          <a:noFill/>
          <a:ln w="12700">
            <a:solidFill>
              <a:srgbClr val="000000"/>
            </a:solidFill>
            <a:prstDash val="dash"/>
          </a:ln>
        </p:spPr>
        <p:txBody>
          <a:bodyPr wrap="square" anchor="ctr" lIns="35000" tIns="8000" rIns="35000" bIns="8000"/>
          <a:lstStyle/>
          <a:p>
            <a:pPr algn="ctr">
              <a:lnSpc>
                <a:spcPct val="100000"/>
              </a:lnSpc>
              <a:buNone/>
            </a:pPr>
            <a:r>
              <a:rPr lang="en-US" sz="650" b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FPDS ATOM | legacy lineage and validation; retiring FY2026</a:t>
            </a:r>
          </a:p>
        </p:txBody>
      </p:sp>
      <p:cxnSp>
        <p:nvCxnSpPr>
          <p:cNvPr id="52" name="FPDSToGate"/>
          <p:cNvCxnSpPr/>
          <p:nvPr/>
        </p:nvCxnSpPr>
        <p:spPr>
          <a:xfrm>
            <a:off x="7237927" y="2889504"/>
            <a:ext cx="274320" cy="0"/>
          </a:xfrm>
          <a:prstGeom prst="line">
            <a:avLst/>
          </a:prstGeom>
          <a:ln w="6350">
            <a:solidFill>
              <a:srgbClr val="000000"/>
            </a:solidFill>
            <a:prstDash val="dash"/>
            <a:tailEnd type="triangle" w="med" len="med"/>
          </a:ln>
        </p:spPr>
      </p:cxnSp>
      <p:sp>
        <p:nvSpPr>
          <p:cNvPr id="53" name="ExternalProgramEvidence"/>
          <p:cNvSpPr txBox="1"/>
          <p:nvPr/>
        </p:nvSpPr>
        <p:spPr>
          <a:xfrm>
            <a:off x="9249607" y="1527048"/>
            <a:ext cx="2412682" cy="429768"/>
          </a:xfrm>
          <a:prstGeom prst="rect">
            <a:avLst/>
          </a:prstGeom>
          <a:noFill/>
          <a:ln w="12700">
            <a:solidFill>
              <a:srgbClr val="000000"/>
            </a:solidFill>
            <a:prstDash val="dash"/>
          </a:ln>
        </p:spPr>
        <p:txBody>
          <a:bodyPr wrap="square" anchor="t" lIns="40000" tIns="18000" rIns="40000" bIns="18000"/>
          <a:lstStyle/>
          <a:p>
            <a:pPr algn="l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EXTERNAL PROGRAM EVIDENCE</a:t>
            </a:r>
          </a:p>
          <a:p>
            <a:pPr algn="l">
              <a:lnSpc>
                <a:spcPct val="100000"/>
              </a:lnSpc>
              <a:buNone/>
            </a:pPr>
            <a:r>
              <a:rPr lang="en-US" sz="650" dirty="0">
                <a:solidFill>
                  <a:srgbClr val="7F7F7F"/>
                </a:solidFill>
                <a:latin typeface="Arial"/>
                <a:ea typeface="Arial"/>
                <a:cs typeface="Arial"/>
              </a:rPr>
              <a:t>End-user, low confidence. Payer, buyer and user often differ; place of performance is not proof.</a:t>
            </a:r>
          </a:p>
        </p:txBody>
      </p:sp>
      <p:cxnSp>
        <p:nvCxnSpPr>
          <p:cNvPr id="54" name="ExternalEvidenceLeft"/>
          <p:cNvCxnSpPr/>
          <p:nvPr/>
        </p:nvCxnSpPr>
        <p:spPr>
          <a:xfrm flipH="1">
            <a:off x="8188903" y="1741932"/>
            <a:ext cx="1060704" cy="0"/>
          </a:xfrm>
          <a:prstGeom prst="line">
            <a:avLst/>
          </a:prstGeom>
          <a:ln w="6350">
            <a:solidFill>
              <a:srgbClr val="000000"/>
            </a:solidFill>
            <a:prstDash val="dash"/>
          </a:ln>
        </p:spPr>
      </p:cxnSp>
      <p:cxnSp>
        <p:nvCxnSpPr>
          <p:cNvPr id="55" name="ExternalEvidenceDown"/>
          <p:cNvCxnSpPr/>
          <p:nvPr/>
        </p:nvCxnSpPr>
        <p:spPr>
          <a:xfrm>
            <a:off x="8188903" y="1741932"/>
            <a:ext cx="0" cy="324612"/>
          </a:xfrm>
          <a:prstGeom prst="line">
            <a:avLst/>
          </a:prstGeom>
          <a:ln w="6350">
            <a:solidFill>
              <a:srgbClr val="000000"/>
            </a:solidFill>
            <a:prstDash val="dash"/>
            <a:tailEnd type="triangle" w="med" len="med"/>
          </a:ln>
        </p:spPr>
      </p:cxnSp>
      <p:cxnSp>
        <p:nvCxnSpPr>
          <p:cNvPr id="56" name="GateToOutputBus"/>
          <p:cNvCxnSpPr/>
          <p:nvPr/>
        </p:nvCxnSpPr>
        <p:spPr>
          <a:xfrm>
            <a:off x="8865559" y="2505456"/>
            <a:ext cx="164592" cy="0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cxnSp>
        <p:nvCxnSpPr>
          <p:cNvPr id="57" name="OutputBus"/>
          <p:cNvCxnSpPr/>
          <p:nvPr/>
        </p:nvCxnSpPr>
        <p:spPr>
          <a:xfrm>
            <a:off x="9030151" y="2139696"/>
            <a:ext cx="0" cy="612648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sp>
        <p:nvSpPr>
          <p:cNvPr id="58" name="MarketOutput"/>
          <p:cNvSpPr txBox="1"/>
          <p:nvPr/>
        </p:nvSpPr>
        <p:spPr>
          <a:xfrm>
            <a:off x="9249607" y="2002536"/>
            <a:ext cx="2412682" cy="274320"/>
          </a:xfrm>
          <a:prstGeom prst="rect">
            <a:avLst/>
          </a:prstGeom>
          <a:solidFill>
            <a:srgbClr val="B6C8D8"/>
          </a:solidFill>
          <a:ln w="12700">
            <a:solidFill>
              <a:srgbClr val="000000"/>
            </a:solidFill>
          </a:ln>
        </p:spPr>
        <p:txBody>
          <a:bodyPr wrap="square" anchor="ctr" lIns="40000" tIns="18000" rIns="40000" bIns="18000"/>
          <a:lstStyle/>
          <a:p>
            <a:pPr algn="l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MARKET SIZE</a:t>
            </a:r>
          </a:p>
          <a:p>
            <a:pPr algn="l">
              <a:lnSpc>
                <a:spcPct val="100000"/>
              </a:lnSpc>
              <a:buNone/>
            </a:pPr>
            <a:r>
              <a:rPr lang="en-US" sz="6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Funded-demand spine</a:t>
            </a:r>
          </a:p>
        </p:txBody>
      </p:sp>
      <p:sp>
        <p:nvSpPr>
          <p:cNvPr id="59" name="OpportunityOutput"/>
          <p:cNvSpPr txBox="1"/>
          <p:nvPr/>
        </p:nvSpPr>
        <p:spPr>
          <a:xfrm>
            <a:off x="9249607" y="2313432"/>
            <a:ext cx="2412682" cy="274320"/>
          </a:xfrm>
          <a:prstGeom prst="rect">
            <a:avLst/>
          </a:prstGeom>
          <a:solidFill>
            <a:srgbClr val="E2E9EF"/>
          </a:solidFill>
          <a:ln w="12700">
            <a:solidFill>
              <a:srgbClr val="000000"/>
            </a:solidFill>
          </a:ln>
        </p:spPr>
        <p:txBody>
          <a:bodyPr wrap="square" anchor="ctr" lIns="40000" tIns="18000" rIns="40000" bIns="18000"/>
          <a:lstStyle/>
          <a:p>
            <a:pPr algn="l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OPPORTUNITY MAP</a:t>
            </a:r>
          </a:p>
          <a:p>
            <a:pPr algn="l">
              <a:lnSpc>
                <a:spcPct val="100000"/>
              </a:lnSpc>
              <a:buNone/>
            </a:pPr>
            <a:r>
              <a:rPr lang="en-US" sz="6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SAM Opportunities, vehicles and incumbents</a:t>
            </a:r>
          </a:p>
        </p:txBody>
      </p:sp>
      <p:sp>
        <p:nvSpPr>
          <p:cNvPr id="60" name="EndUserOutput"/>
          <p:cNvSpPr txBox="1"/>
          <p:nvPr/>
        </p:nvSpPr>
        <p:spPr>
          <a:xfrm>
            <a:off x="9249607" y="2615184"/>
            <a:ext cx="2412682" cy="274320"/>
          </a:xfrm>
          <a:prstGeom prst="rect">
            <a:avLst/>
          </a:prstGeom>
          <a:solidFill>
            <a:srgbClr val="F2F2F2"/>
          </a:solidFill>
          <a:ln w="12700">
            <a:solidFill>
              <a:srgbClr val="000000"/>
            </a:solidFill>
          </a:ln>
        </p:spPr>
        <p:txBody>
          <a:bodyPr wrap="square" anchor="ctr" lIns="40000" tIns="18000" rIns="40000" bIns="18000"/>
          <a:lstStyle/>
          <a:p>
            <a:pPr algn="l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END-USER READ</a:t>
            </a:r>
          </a:p>
          <a:p>
            <a:pPr algn="l">
              <a:lnSpc>
                <a:spcPct val="100000"/>
              </a:lnSpc>
              <a:buNone/>
            </a:pPr>
            <a:r>
              <a:rPr lang="en-US" sz="6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External evidence, confidence-tagged</a:t>
            </a:r>
          </a:p>
        </p:txBody>
      </p:sp>
      <p:cxnSp>
        <p:nvCxnSpPr>
          <p:cNvPr id="61" name="BusToMarket"/>
          <p:cNvCxnSpPr/>
          <p:nvPr/>
        </p:nvCxnSpPr>
        <p:spPr>
          <a:xfrm>
            <a:off x="9030151" y="2139696"/>
            <a:ext cx="219456" cy="0"/>
          </a:xfrm>
          <a:prstGeom prst="line">
            <a:avLst/>
          </a:prstGeom>
          <a:ln w="6350">
            <a:solidFill>
              <a:srgbClr val="000000"/>
            </a:solidFill>
            <a:tailEnd type="triangle" w="med" len="med"/>
          </a:ln>
        </p:spPr>
      </p:cxnSp>
      <p:cxnSp>
        <p:nvCxnSpPr>
          <p:cNvPr id="62" name="BusToOpportunity"/>
          <p:cNvCxnSpPr/>
          <p:nvPr/>
        </p:nvCxnSpPr>
        <p:spPr>
          <a:xfrm>
            <a:off x="9030151" y="2450592"/>
            <a:ext cx="219456" cy="0"/>
          </a:xfrm>
          <a:prstGeom prst="line">
            <a:avLst/>
          </a:prstGeom>
          <a:ln w="6350">
            <a:solidFill>
              <a:srgbClr val="000000"/>
            </a:solidFill>
            <a:tailEnd type="triangle" w="med" len="med"/>
          </a:ln>
        </p:spPr>
      </p:cxnSp>
      <p:cxnSp>
        <p:nvCxnSpPr>
          <p:cNvPr id="63" name="BusToEndUser"/>
          <p:cNvCxnSpPr/>
          <p:nvPr/>
        </p:nvCxnSpPr>
        <p:spPr>
          <a:xfrm>
            <a:off x="9030151" y="2752344"/>
            <a:ext cx="219456" cy="0"/>
          </a:xfrm>
          <a:prstGeom prst="line">
            <a:avLst/>
          </a:prstGeom>
          <a:ln w="6350">
            <a:solidFill>
              <a:srgbClr val="000000"/>
            </a:solidFill>
            <a:tailEnd type="triangle" w="med" len="med"/>
          </a:ln>
        </p:spPr>
      </p:cxnSp>
      <p:graphicFrame>
        <p:nvGraphicFramePr>
          <p:cNvPr id="70" name="SourceRoleLegend"/>
          <p:cNvGraphicFramePr>
            <a:graphicFrameLocks noGrp="1"/>
          </p:cNvGraphicFramePr>
          <p:nvPr/>
        </p:nvGraphicFramePr>
        <p:xfrm>
          <a:off x="453079" y="3044952"/>
          <a:ext cx="11282362" cy="2331720"/>
        </p:xfrm>
        <a:graphic>
          <a:graphicData uri="http://schemas.openxmlformats.org/drawingml/2006/table">
            <a:tbl>
              <a:tblPr firstRow="1" firstCol="1" bandRow="0">
                <a:tableStyleId>{2D5ABB26-0587-4C30-8999-92F81FD0307C}</a:tableStyleId>
              </a:tblPr>
              <a:tblGrid>
                <a:gridCol w="1755648"/>
                <a:gridCol w="1417320"/>
                <a:gridCol w="2743200"/>
                <a:gridCol w="2971800"/>
                <a:gridCol w="2394394"/>
              </a:tblGrid>
              <a:tr h="22479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Source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Role in workflow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Best answers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Caveat / rule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Slide output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5814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President's Budget / justification (P-1, R-1)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Forward funding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Funded by account, PE/BLI, color of money?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Budget lines do not map to NAICS/PSC or vendors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Funded-demand spine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</a:tr>
              <a:tr h="35814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SAM Contract Awards API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6E91B1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Prime and vehicle pull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Awards/IDVs; parent-child structure; ceilings?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Do not double-count vehicle and child orders; tag coverage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Vehicle, incumbent and capacity map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</a:tr>
              <a:tr h="22479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USAspending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6C8D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Budget bridge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Transaction FY obligations; funding TAS?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Reconcile to procurement record; fields differ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TAS bridge and FY view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</a:tr>
              <a:tr h="22479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SAM Subaward Reporting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B6C8D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First-tier layer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Which reported suppliers sit under a prime?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Lagged/incomplete; separate from prime obligations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Supplier and workshare map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</a:tr>
              <a:tr h="35814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SAM enrichment sources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Resolve and pipeline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UEI/CAGE/NAICS; what is posted pre-award?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Registration/posting does not prove program relevance or award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Vendor segments and watchlist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</a:tr>
              <a:tr h="22479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FPDS Atom feed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Legacy validation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What does the older action feed show?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Not the future base; retiring FY2026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Lineage validation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</a:lnB>
                    <a:solidFill>
                      <a:srgbClr val="E2E9EF"/>
                    </a:solidFill>
                  </a:tcPr>
                </a:tc>
              </a:tr>
              <a:tr h="358140"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External program evidence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End-user attribution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Who requires, tests, or fields the capability?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0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Cite and confidence-tag; place of performance is not proof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lang="en-US" sz="875" b="1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</a:rPr>
                        <a:t>End-user map</a:t>
                      </a:r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E2E9EF"/>
                    </a:solidFill>
                  </a:tcPr>
                </a:tc>
              </a:tr>
            </a:tbl>
          </a:graphicData>
        </a:graphic>
      </p:graphicFrame>
      <p:sp>
        <p:nvSpPr>
          <p:cNvPr id="71" name="ValidationRailBackground"/>
          <p:cNvSpPr txBox="1"/>
          <p:nvPr/>
        </p:nvSpPr>
        <p:spPr>
          <a:xfrm>
            <a:off x="453079" y="5413248"/>
            <a:ext cx="11282362" cy="456752"/>
          </a:xfrm>
          <a:prstGeom prst="rect">
            <a:avLst/>
          </a:prstGeom>
          <a:solidFill>
            <a:srgbClr val="B6C8D8"/>
          </a:solidFill>
          <a:ln w="12700">
            <a:solidFill>
              <a:srgbClr val="000000"/>
            </a:solidFill>
          </a:ln>
        </p:spPr>
        <p:txBody>
          <a:bodyPr wrap="square" anchor="t" lIns="0" tIns="0" rIns="0" bIns="0"/>
          <a:lstStyle/>
          <a:p>
            <a:pPr>
              <a:lnSpc>
                <a:spcPct val="115000"/>
              </a:lnSpc>
              <a:buNone/>
            </a:pPr>
            <a:endParaRPr lang="en-US"/>
          </a:p>
        </p:txBody>
      </p:sp>
      <p:sp>
        <p:nvSpPr>
          <p:cNvPr id="72" name="ValidationRailFinding"/>
          <p:cNvSpPr txBox="1"/>
          <p:nvPr/>
        </p:nvSpPr>
        <p:spPr>
          <a:xfrm>
            <a:off x="453079" y="5413248"/>
            <a:ext cx="2880360" cy="456752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41148" rIns="73152" bIns="27432"/>
          <a:lstStyle/>
          <a:p>
            <a:pPr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VALIDATION IS THE METHOD.</a:t>
            </a:r>
          </a:p>
          <a:p>
            <a:pPr>
              <a:lnSpc>
                <a:spcPct val="10000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Most errors come from mixed money universes or double counting. Award data names the buyer, not the user.</a:t>
            </a:r>
          </a:p>
        </p:txBody>
      </p:sp>
      <p:sp>
        <p:nvSpPr>
          <p:cNvPr id="73" name="ValidationRailRulesA"/>
          <p:cNvSpPr txBox="1"/>
          <p:nvPr/>
        </p:nvSpPr>
        <p:spPr>
          <a:xfrm>
            <a:off x="3333439" y="5413248"/>
            <a:ext cx="4160520" cy="456752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41148" rIns="73152" bIns="27432"/>
          <a:lstStyle/>
          <a:p>
            <a:pPr>
              <a:lnSpc>
                <a:spcPct val="105000"/>
              </a:lnSpc>
              <a:buNone/>
            </a:pPr>
            <a:r>
              <a:rPr lang="en-US" sz="775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Normalize IDs by source | Validate returned filters | Sum action obligations, not cumulative totals | Keep money universes separate</a:t>
            </a:r>
          </a:p>
        </p:txBody>
      </p:sp>
      <p:sp>
        <p:nvSpPr>
          <p:cNvPr id="74" name="ValidationRailRulesB"/>
          <p:cNvSpPr txBox="1"/>
          <p:nvPr/>
        </p:nvSpPr>
        <p:spPr>
          <a:xfrm>
            <a:off x="7493959" y="5413248"/>
            <a:ext cx="4241482" cy="456752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41148" rIns="73152" bIns="27432"/>
          <a:lstStyle/>
          <a:p>
            <a:pPr>
              <a:lnSpc>
                <a:spcPct val="105000"/>
              </a:lnSpc>
              <a:buNone/>
            </a:pPr>
            <a:r>
              <a:rPr lang="en-US" sz="775" dirty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Roll the vehicle and child orders into one family | Reconcile SAM and USAspending | Tag source, date, measure, coverage and confidence</a:t>
            </a:r>
          </a:p>
        </p:txBody>
      </p:sp>
      <p:sp>
        <p:nvSpPr>
          <p:cNvPr id="9999" name="Sources"/>
          <p:cNvSpPr txBox="1"/>
          <p:nvPr/>
        </p:nvSpPr>
        <p:spPr>
          <a:xfrm>
            <a:off x="453079" y="5930000"/>
            <a:ext cx="11282362" cy="5400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45720" rIns="91440" bIns="45720"/>
          <a:lstStyle/>
          <a:p>
            <a:r>
              <a:rPr lang="en-US" sz="800" kern="1200" dirty="0">
                <a:solidFill>
                  <a:srgbClr val="162029"/>
                </a:solidFill>
                <a:latin typeface="Arial"/>
                <a:ea typeface="Arial"/>
                <a:cs typeface="Arial"/>
              </a:rPr>
              <a:t>Sources: SAM.gov Contract Awards API; USAspending; SAM Acquisition Subaward Reporting; SAM Entity Management and Opportunities; President's Budget P-1 / R-1; external program and operational reporting; FPDS Atom (legacy validation, slated to retire FY2026) | As of 2026-06-22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Saronic Theme">
  <a:themeElements>
    <a:clrScheme name="Saronic">
      <a:dk1>
        <a:srgbClr val="162029"/>
      </a:dk1>
      <a:lt1>
        <a:srgbClr val="FFFFFF"/>
      </a:lt1>
      <a:dk2>
        <a:srgbClr val="44505C"/>
      </a:dk2>
      <a:lt2>
        <a:srgbClr val="F2F6FA"/>
      </a:lt2>
      <a:accent1>
        <a:srgbClr val="79838F"/>
      </a:accent1>
      <a:accent2>
        <a:srgbClr val="1D4D68"/>
      </a:accent2>
      <a:accent3>
        <a:srgbClr val="486D82"/>
      </a:accent3>
      <a:accent4>
        <a:srgbClr val="89A2B0"/>
      </a:accent4>
      <a:accent5>
        <a:srgbClr val="AFC2CC"/>
      </a:accent5>
      <a:accent6>
        <a:srgbClr val="D8E3EB"/>
      </a:accent6>
      <a:hlink>
        <a:srgbClr val="1D4D68"/>
      </a:hlink>
      <a:folHlink>
        <a:srgbClr val="89A2B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7799b1f-9a79-4131-92f4-d7e1a1e8fbf9}" enabled="0" method="" siteId="{97799b1f-9a79-4131-92f4-d7e1a1e8fbf9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Application>deck_awards_methodology</Application>
  <PresentationFormat>Widescreen</PresentationFormat>
  <Slides>4</Slides>
  <Notes>0</Notes>
  <HiddenSlides>0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Awards Methodology</dc:title>
  <dc:creator>deck_awards_methodology build_deck.py</dc:creator>
  <cp:lastModifiedBy>deck_awards_methodology build_deck.py</cp:lastModifiedBy>
  <cp:revision>1</cp:revision>
  <dcterms:created xsi:type="dcterms:W3CDTF">2026-06-23T16:19:41Z</dcterms:created>
  <dcterms:modified xsi:type="dcterms:W3CDTF">2026-06-23T16:19:41Z</dcterms:modified>
</cp:coreProperties>
</file>