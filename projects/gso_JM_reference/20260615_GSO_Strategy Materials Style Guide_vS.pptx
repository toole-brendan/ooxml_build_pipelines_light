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embeddings/Microsoft_Excel_BinaryWorksheet1.xlsb" ContentType="application/vnd.ms-excel.sheet.binary.macroEnabled.12"/>
  <Override PartName="/ppt/embeddings/Microsoft_Excel_BinaryWorksheet2.xlsb" ContentType="application/vnd.ms-excel.sheet.binary.macroEnabled.12"/>
  <Override PartName="/ppt/embeddings/Microsoft_Excel_BinaryWorksheet3.xlsb" ContentType="application/vnd.ms-excel.sheet.binary.macroEnabled.12"/>
  <Override PartName="/ppt/embeddings/Microsoft_Excel_BinaryWorksheet4.xlsb" ContentType="application/vnd.ms-excel.sheet.binary.macroEnabled.12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7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1.xlsb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2.xlsb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3.xlsb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4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6302478502781994E-2"/>
          <c:y val="5.3463855421686746E-2"/>
          <c:w val="0.947395042994436"/>
          <c:h val="0.89307228915662651"/>
        </c:manualLayout>
      </c:layout>
      <c:barChart>
        <c:barDir val="bar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76E8-41E8-AA4E-1412FFDFB1B1}"/>
              </c:ext>
            </c:extLst>
          </c:dPt>
          <c:dPt>
            <c:idx val="7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6E8-41E8-AA4E-1412FFDFB1B1}"/>
              </c:ext>
            </c:extLst>
          </c:dPt>
          <c:dPt>
            <c:idx val="9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76E8-41E8-AA4E-1412FFDFB1B1}"/>
              </c:ext>
            </c:extLst>
          </c:dPt>
          <c:dLbls>
            <c:dLbl>
              <c:idx val="7"/>
              <c:layout>
                <c:manualLayout>
                  <c:x val="0.18209408194233687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6E8-41E8-AA4E-1412FFDFB1B1}"/>
                </c:ext>
              </c:extLst>
            </c:dLbl>
            <c:dLbl>
              <c:idx val="9"/>
              <c:layout>
                <c:manualLayout>
                  <c:x val="0.11836115326251896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6E8-41E8-AA4E-1412FFDFB1B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Sheet1!$A$1:$J$1</c:f>
              <c:numCache>
                <c:formatCode>General</c:formatCode>
                <c:ptCount val="10"/>
                <c:pt idx="0">
                  <c:v>363.49</c:v>
                </c:pt>
                <c:pt idx="1">
                  <c:v>240.71</c:v>
                </c:pt>
                <c:pt idx="2">
                  <c:v>234.24</c:v>
                </c:pt>
                <c:pt idx="3">
                  <c:v>204.82</c:v>
                </c:pt>
                <c:pt idx="4">
                  <c:v>130.84</c:v>
                </c:pt>
                <c:pt idx="5">
                  <c:v>130.84</c:v>
                </c:pt>
                <c:pt idx="6">
                  <c:v>114</c:v>
                </c:pt>
                <c:pt idx="7">
                  <c:v>114</c:v>
                </c:pt>
                <c:pt idx="8">
                  <c:v>69.599999999999994</c:v>
                </c:pt>
                <c:pt idx="9">
                  <c:v>69.599999999999994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6E8-41E8-AA4E-1412FFDFB1B1}"/>
            </c:ext>
          </c:extLst>
        </c:ser>
        <c:ser>
          <c:idx val="1"/>
          <c:order val="1"/>
          <c:spPr>
            <a:solidFill>
              <a:srgbClr val="FFC00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76E8-41E8-AA4E-1412FFDFB1B1}"/>
              </c:ext>
            </c:extLst>
          </c:dPt>
          <c:dPt>
            <c:idx val="2"/>
            <c:invertIfNegative val="0"/>
            <c:bubble3D val="0"/>
            <c:spPr>
              <a:solidFill>
                <a:srgbClr val="4C6C9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76E8-41E8-AA4E-1412FFDFB1B1}"/>
              </c:ext>
            </c:extLst>
          </c:dPt>
          <c:dPt>
            <c:idx val="3"/>
            <c:invertIfNegative val="0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76E8-41E8-AA4E-1412FFDFB1B1}"/>
              </c:ext>
            </c:extLst>
          </c:dPt>
          <c:dPt>
            <c:idx val="4"/>
            <c:invertIfNegative val="0"/>
            <c:bubble3D val="0"/>
            <c:spPr>
              <a:solidFill>
                <a:srgbClr val="9DB1C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76E8-41E8-AA4E-1412FFDFB1B1}"/>
              </c:ext>
            </c:extLst>
          </c:dPt>
          <c:dPt>
            <c:idx val="6"/>
            <c:invertIfNegative val="0"/>
            <c:bubble3D val="0"/>
            <c:spPr>
              <a:solidFill>
                <a:srgbClr val="C30C3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76E8-41E8-AA4E-1412FFDFB1B1}"/>
              </c:ext>
            </c:extLst>
          </c:dPt>
          <c:dPt>
            <c:idx val="8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76E8-41E8-AA4E-1412FFDFB1B1}"/>
              </c:ext>
            </c:extLst>
          </c:dPt>
          <c:dLbls>
            <c:dLbl>
              <c:idx val="1"/>
              <c:layout>
                <c:manualLayout>
                  <c:x val="0.19221041982802226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76E8-41E8-AA4E-1412FFDFB1B1}"/>
                </c:ext>
              </c:extLst>
            </c:dLbl>
            <c:dLbl>
              <c:idx val="2"/>
              <c:layout>
                <c:manualLayout>
                  <c:x val="3.2372281234193223E-2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76E8-41E8-AA4E-1412FFDFB1B1}"/>
                </c:ext>
              </c:extLst>
            </c:dLbl>
            <c:dLbl>
              <c:idx val="3"/>
              <c:layout>
                <c:manualLayout>
                  <c:x val="7.0814365199797669E-2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76E8-41E8-AA4E-1412FFDFB1B1}"/>
                </c:ext>
              </c:extLst>
            </c:dLbl>
            <c:dLbl>
              <c:idx val="4"/>
              <c:layout>
                <c:manualLayout>
                  <c:x val="0.12341932220536166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76E8-41E8-AA4E-1412FFDFB1B1}"/>
                </c:ext>
              </c:extLst>
            </c:dLbl>
            <c:dLbl>
              <c:idx val="6"/>
              <c:layout>
                <c:manualLayout>
                  <c:x val="5.614567526555387E-2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76E8-41E8-AA4E-1412FFDFB1B1}"/>
                </c:ext>
              </c:extLst>
            </c:dLbl>
            <c:dLbl>
              <c:idx val="8"/>
              <c:layout>
                <c:manualLayout>
                  <c:x val="8.8517956499747086E-2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76E8-41E8-AA4E-1412FFDFB1B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Sheet1!$A$2:$J$2</c:f>
              <c:numCache>
                <c:formatCode>General</c:formatCode>
                <c:ptCount val="10"/>
                <c:pt idx="1">
                  <c:v>122.78</c:v>
                </c:pt>
                <c:pt idx="2">
                  <c:v>6.4699999999999989</c:v>
                </c:pt>
                <c:pt idx="3">
                  <c:v>29.420000000000016</c:v>
                </c:pt>
                <c:pt idx="4">
                  <c:v>73.97999999999999</c:v>
                </c:pt>
                <c:pt idx="5">
                  <c:v>0</c:v>
                </c:pt>
                <c:pt idx="6">
                  <c:v>16.840000000000003</c:v>
                </c:pt>
                <c:pt idx="8">
                  <c:v>44.400000000000006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6E8-41E8-AA4E-1412FFDFB1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539855008"/>
        <c:axId val="1"/>
      </c:barChart>
      <c:catAx>
        <c:axId val="539855008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0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53985500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267044114177872E-2"/>
          <c:y val="8.0727686185332576E-2"/>
          <c:w val="0.97546591177164421"/>
          <c:h val="0.8385446276293349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CF8-4D5C-8032-A73D1FB8DAAA}"/>
              </c:ext>
            </c:extLst>
          </c:dPt>
          <c:dPt>
            <c:idx val="3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CF8-4D5C-8032-A73D1FB8DAAA}"/>
              </c:ext>
            </c:extLst>
          </c:dPt>
          <c:dLbls>
            <c:dLbl>
              <c:idx val="3"/>
              <c:layout>
                <c:manualLayout>
                  <c:x val="0"/>
                  <c:y val="-7.78851620238772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CF8-4D5C-8032-A73D1FB8DAA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16.16</c:v>
                </c:pt>
                <c:pt idx="1">
                  <c:v>8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CF8-4D5C-8032-A73D1FB8DAAA}"/>
            </c:ext>
          </c:extLst>
        </c:ser>
        <c:ser>
          <c:idx val="1"/>
          <c:order val="1"/>
          <c:spPr>
            <a:solidFill>
              <a:srgbClr val="C30C3E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CF8-4D5C-8032-A73D1FB8DAAA}"/>
              </c:ext>
            </c:extLst>
          </c:dPt>
          <c:dLbls>
            <c:dLbl>
              <c:idx val="1"/>
              <c:layout>
                <c:manualLayout>
                  <c:x val="0"/>
                  <c:y val="-0.1506537805571347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CF8-4D5C-8032-A73D1FB8DAA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Sheet1!$A$2:$D$2</c:f>
              <c:numCache>
                <c:formatCode>General</c:formatCode>
                <c:ptCount val="4"/>
                <c:pt idx="1">
                  <c:v>8.16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CF8-4D5C-8032-A73D1FB8DAAA}"/>
            </c:ext>
          </c:extLst>
        </c:ser>
        <c:ser>
          <c:idx val="2"/>
          <c:order val="2"/>
          <c:spPr>
            <a:pattFill prst="pct1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c:spPr>
          <c:invertIfNegative val="0"/>
          <c:val>
            <c:numRef>
              <c:f>Sheet1!$A$3:$D$3</c:f>
              <c:numCache>
                <c:formatCode>General</c:formatCode>
                <c:ptCount val="4"/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CF8-4D5C-8032-A73D1FB8DA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16342112"/>
        <c:axId val="1"/>
      </c:barChart>
      <c:catAx>
        <c:axId val="2163421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21634211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080667593880391E-2"/>
          <c:y val="8.0727686185332576E-2"/>
          <c:w val="0.96383866481223923"/>
          <c:h val="0.838544627629334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80808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646-4F4C-90B8-3BE5853437CC}"/>
              </c:ext>
            </c:extLst>
          </c:dPt>
          <c:dLbls>
            <c:dLbl>
              <c:idx val="1"/>
              <c:layout>
                <c:manualLayout>
                  <c:x val="0"/>
                  <c:y val="-8.2433200682205804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6-4F4C-90B8-3BE5853437CC}"/>
                </c:ext>
              </c:extLst>
            </c:dLbl>
            <c:dLbl>
              <c:idx val="2"/>
              <c:layout>
                <c:manualLayout>
                  <c:x val="0"/>
                  <c:y val="-7.78851620238772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6-4F4C-90B8-3BE5853437CC}"/>
                </c:ext>
              </c:extLst>
            </c:dLbl>
            <c:dLbl>
              <c:idx val="3"/>
              <c:layout>
                <c:manualLayout>
                  <c:x val="0"/>
                  <c:y val="-7.78851620238772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6-4F4C-90B8-3BE5853437C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15.55</c:v>
                </c:pt>
                <c:pt idx="1">
                  <c:v>3.3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6-4F4C-90B8-3BE5853437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85011759"/>
        <c:axId val="1"/>
      </c:barChart>
      <c:catAx>
        <c:axId val="850117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8501175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4205354117248397E-2"/>
          <c:y val="3.7634408602150539E-2"/>
          <c:w val="0.88817350050830224"/>
          <c:h val="0.9247311827956988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7770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EB-404B-9A32-74C8332AE6E7}"/>
            </c:ext>
          </c:extLst>
        </c:ser>
        <c:ser>
          <c:idx val="1"/>
          <c:order val="1"/>
          <c:spPr>
            <a:solidFill>
              <a:srgbClr val="C0C0C0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EB-404B-9A32-74C8332AE6E7}"/>
            </c:ext>
          </c:extLst>
        </c:ser>
        <c:ser>
          <c:idx val="2"/>
          <c:order val="2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EB-404B-9A32-74C8332AE6E7}"/>
            </c:ext>
          </c:extLst>
        </c:ser>
        <c:ser>
          <c:idx val="3"/>
          <c:order val="3"/>
          <c:spPr>
            <a:solidFill>
              <a:srgbClr val="4C6C9C"/>
            </a:solidFill>
            <a:ln>
              <a:noFill/>
            </a:ln>
          </c:spPr>
          <c:invertIfNegative val="0"/>
          <c:val>
            <c:numRef>
              <c:f>Sheet1!$A$4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AEB-404B-9A32-74C8332AE6E7}"/>
            </c:ext>
          </c:extLst>
        </c:ser>
        <c:ser>
          <c:idx val="4"/>
          <c:order val="4"/>
          <c:spPr>
            <a:solidFill>
              <a:srgbClr val="000000"/>
            </a:solidFill>
            <a:ln>
              <a:noFill/>
            </a:ln>
          </c:spPr>
          <c:invertIfNegative val="0"/>
          <c:val>
            <c:numRef>
              <c:f>Sheet1!$A$5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AEB-404B-9A32-74C8332AE6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22436735"/>
        <c:axId val="1"/>
      </c:barChart>
      <c:catAx>
        <c:axId val="42243673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2436735"/>
        <c:crosses val="min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image" Target="../media/image6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1" name="Table 330"/>
          <p:cNvGraphicFramePr>
            <a:graphicFrameLocks noGrp="1"/>
          </p:cNvGraphicFramePr>
          <p:nvPr/>
        </p:nvGraphicFramePr>
        <p:xfrm>
          <a:off x="4678000" y="1103793"/>
          <a:ext cx="7294923" cy="47976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6550"/>
                <a:gridCol w="876300"/>
                <a:gridCol w="3936571"/>
                <a:gridCol w="617751"/>
                <a:gridCol w="617751"/>
              </a:tblGrid>
              <a:tr h="252505">
                <a:tc rowSpan="2"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Cost Category</a:t>
                      </a:r>
                      <a:endParaRPr lang="en-US" sz="10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00000"/>
                          </a:solidFill>
                        </a:rPr>
                        <a:t>Reduction vs. US today</a:t>
                      </a:r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Rationale</a:t>
                      </a:r>
                      <a:endParaRPr kumimoji="0" lang="en-US" sz="1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Drivers</a:t>
                      </a:r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50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BuildCo</a:t>
                      </a:r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Policy</a:t>
                      </a:r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415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Labor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64D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~85-90%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2713" marR="0" lvl="0" indent="-1127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Productivity reaches 10 manhours per compensated gross ton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surpassing global best-in-class yards (mid-teens in ROK) </a:t>
                      </a:r>
                    </a:p>
                    <a:p>
                      <a:pPr marL="112713" marR="0" lvl="0" indent="-1127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Unlocked by fully robotic welding, automated block assembly, outfitting, and painting and coating enabled by developing greenfield site; Experience curve driven by USG-generated demand (SHIPS Act)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286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681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Raw Materials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C6C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~25-30%</a:t>
                      </a:r>
                      <a:r>
                        <a:rPr kumimoji="0" lang="en-US" sz="10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2713" marR="0" lvl="0" indent="-1127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Steel cost reduced ~10% (2035 values)</a:t>
                      </a:r>
                    </a:p>
                    <a:p>
                      <a:pPr marL="112713" marR="0" lvl="0" indent="-1127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Achieved via contracted offtake w/ mills that warrant steel producer investment in mill efficiency, enabled by USG policy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286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259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Equipment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8D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~35-40%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2713" marR="0" lvl="0" indent="-1127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Procurement cost reduced ~35%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, in line with current Japan costs after including transport / OEM support fees (2035 values)</a:t>
                      </a:r>
                    </a:p>
                    <a:p>
                      <a:pPr marL="112713" marR="0" lvl="0" indent="-1127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Achieved by purchasing equipment from Japan; SCF vessels not required to have US-manufactured parts 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286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286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259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Overhead ex-D&amp;A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B1C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~70-75%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2713" marR="0" lvl="0" indent="-1127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Non-Production headcount reduced by 40-45%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; professional services, legal, and marketing spend cut by ~50-80%</a:t>
                      </a:r>
                    </a:p>
                    <a:p>
                      <a:pPr marL="112713" marR="0" lvl="0" indent="-1127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Gain over US today also attributable to overhead spread across more hulls (25/yr) vs. Hanwha Philly (low single digits)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286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03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D&amp;A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Impact of shipyard ITCs accounted for in Repricing at Target Margin line as Hanwha Philly’s D&amp;A is not disclosed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5715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03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Repricing at Target Margin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0C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Targeting 5% EBIT margins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in line with US builders today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286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03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Vessel Investment Tax Credits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40% price reduction for vessel owners</a:t>
                      </a:r>
                    </a:p>
                    <a:p>
                      <a:pPr marL="114300" marR="0" lvl="0" indent="-1143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Achieved by tax credit eligibility extension beyond ‘32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286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08" name="Chart 7"/>
          <p:cNvGraphicFramePr/>
          <p:nvPr/>
        </p:nvGraphicFramePr>
        <p:xfrm>
          <a:off x="1595438" y="1362075"/>
          <a:ext cx="3138487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5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2701" y="1653291"/>
            <a:ext cx="431800" cy="227369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cxnSp>
        <p:nvCxnSpPr>
          <p:cNvPr id="315" name="Straight Connector 14"/>
          <p:cNvCxnSpPr/>
          <p:nvPr/>
        </p:nvCxnSpPr>
        <p:spPr bwMode="auto">
          <a:xfrm>
            <a:off x="4379913" y="1879600"/>
            <a:ext cx="0" cy="1666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8" name="Straight Connector 237"/>
          <p:cNvCxnSpPr/>
          <p:nvPr/>
        </p:nvCxnSpPr>
        <p:spPr bwMode="auto">
          <a:xfrm>
            <a:off x="3467100" y="2255838"/>
            <a:ext cx="0" cy="1666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6" name="Straight Connector 245"/>
          <p:cNvCxnSpPr/>
          <p:nvPr/>
        </p:nvCxnSpPr>
        <p:spPr bwMode="auto">
          <a:xfrm>
            <a:off x="3419475" y="2633663"/>
            <a:ext cx="0" cy="1666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4" name="Straight Connector 253"/>
          <p:cNvCxnSpPr/>
          <p:nvPr/>
        </p:nvCxnSpPr>
        <p:spPr bwMode="auto">
          <a:xfrm>
            <a:off x="3200400" y="3009900"/>
            <a:ext cx="0" cy="1666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2" name="Straight Connector 531"/>
          <p:cNvCxnSpPr/>
          <p:nvPr/>
        </p:nvCxnSpPr>
        <p:spPr bwMode="auto">
          <a:xfrm>
            <a:off x="2651125" y="3386137"/>
            <a:ext cx="0" cy="1666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Straight Connector 615"/>
          <p:cNvCxnSpPr/>
          <p:nvPr/>
        </p:nvCxnSpPr>
        <p:spPr bwMode="auto">
          <a:xfrm>
            <a:off x="2651125" y="3762375"/>
            <a:ext cx="0" cy="1666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7" name="Straight Connector 266"/>
          <p:cNvCxnSpPr/>
          <p:nvPr/>
        </p:nvCxnSpPr>
        <p:spPr bwMode="auto">
          <a:xfrm>
            <a:off x="2525713" y="4138613"/>
            <a:ext cx="0" cy="1666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8" name="Straight Connector 267"/>
          <p:cNvCxnSpPr/>
          <p:nvPr/>
        </p:nvCxnSpPr>
        <p:spPr bwMode="auto">
          <a:xfrm>
            <a:off x="2525713" y="4516438"/>
            <a:ext cx="0" cy="1666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4" name="Straight Connector 273"/>
          <p:cNvCxnSpPr/>
          <p:nvPr/>
        </p:nvCxnSpPr>
        <p:spPr bwMode="auto">
          <a:xfrm>
            <a:off x="2195513" y="4892675"/>
            <a:ext cx="0" cy="1666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Rectangle 26"/>
          <p:cNvSpPr/>
          <p:nvPr/>
        </p:nvSpPr>
        <p:spPr bwMode="auto">
          <a:xfrm>
            <a:off x="2647950" y="3552825"/>
            <a:ext cx="6350" cy="20955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Text Placeholder 25"/>
          <p:cNvSpPr>
            <a:spLocks/>
          </p:cNvSpPr>
          <p:nvPr/>
        </p:nvSpPr>
        <p:spPr bwMode="auto">
          <a:xfrm>
            <a:off x="1030288" y="1698625"/>
            <a:ext cx="56197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US Today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324" name="Text Placeholder 25"/>
          <p:cNvSpPr>
            <a:spLocks/>
          </p:cNvSpPr>
          <p:nvPr/>
        </p:nvSpPr>
        <p:spPr bwMode="auto">
          <a:xfrm>
            <a:off x="1270000" y="2074863"/>
            <a:ext cx="322263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Labor</a:t>
            </a:r>
            <a:endParaRPr lang="en-US" sz="1000" baseline="30000">
              <a:solidFill>
                <a:srgbClr val="000000"/>
              </a:solidFill>
            </a:endParaRPr>
          </a:p>
        </p:txBody>
      </p:sp>
      <p:sp>
        <p:nvSpPr>
          <p:cNvPr id="333" name="Text Placeholder 25"/>
          <p:cNvSpPr>
            <a:spLocks/>
          </p:cNvSpPr>
          <p:nvPr/>
        </p:nvSpPr>
        <p:spPr bwMode="auto">
          <a:xfrm>
            <a:off x="788988" y="2451100"/>
            <a:ext cx="80327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Raw Materials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325" name="Text Placeholder 25"/>
          <p:cNvSpPr>
            <a:spLocks/>
          </p:cNvSpPr>
          <p:nvPr/>
        </p:nvSpPr>
        <p:spPr bwMode="auto">
          <a:xfrm>
            <a:off x="989013" y="2828925"/>
            <a:ext cx="6032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Equipment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334" name="Text Placeholder 25"/>
          <p:cNvSpPr>
            <a:spLocks/>
          </p:cNvSpPr>
          <p:nvPr/>
        </p:nvSpPr>
        <p:spPr bwMode="auto">
          <a:xfrm>
            <a:off x="566738" y="3205163"/>
            <a:ext cx="10255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Overhead ex-D&amp;A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39" name="Text Placeholder 25"/>
          <p:cNvSpPr>
            <a:spLocks/>
          </p:cNvSpPr>
          <p:nvPr/>
        </p:nvSpPr>
        <p:spPr bwMode="auto">
          <a:xfrm>
            <a:off x="1331913" y="3581400"/>
            <a:ext cx="2603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D&amp;A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918" name="Text Placeholder 25"/>
          <p:cNvSpPr>
            <a:spLocks/>
          </p:cNvSpPr>
          <p:nvPr/>
        </p:nvSpPr>
        <p:spPr bwMode="auto">
          <a:xfrm>
            <a:off x="95250" y="3957638"/>
            <a:ext cx="1497013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Repricing at Target Margin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28" name="Text Placeholder 25"/>
          <p:cNvSpPr>
            <a:spLocks/>
          </p:cNvSpPr>
          <p:nvPr/>
        </p:nvSpPr>
        <p:spPr bwMode="auto">
          <a:xfrm>
            <a:off x="1000125" y="4333875"/>
            <a:ext cx="592138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US ex-ITC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29" name="Text Placeholder 25"/>
          <p:cNvSpPr>
            <a:spLocks/>
          </p:cNvSpPr>
          <p:nvPr/>
        </p:nvSpPr>
        <p:spPr bwMode="auto">
          <a:xfrm>
            <a:off x="973138" y="4711700"/>
            <a:ext cx="6191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Vessel ITC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52" name="Text Placeholder 25"/>
          <p:cNvSpPr>
            <a:spLocks/>
          </p:cNvSpPr>
          <p:nvPr/>
        </p:nvSpPr>
        <p:spPr bwMode="auto">
          <a:xfrm>
            <a:off x="895350" y="5087938"/>
            <a:ext cx="696913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US post-ITC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326" name="Text Placeholder 25"/>
          <p:cNvSpPr>
            <a:spLocks/>
          </p:cNvSpPr>
          <p:nvPr/>
        </p:nvSpPr>
        <p:spPr bwMode="gray">
          <a:xfrm>
            <a:off x="2676525" y="3581400"/>
            <a:ext cx="10477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  <a:effectLst/>
              </a:rPr>
              <a:t>0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0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52701" y="263452"/>
            <a:ext cx="6035040" cy="153888"/>
          </a:xfrm>
        </p:spPr>
        <p:txBody>
          <a:bodyPr/>
          <a:lstStyle/>
          <a:p>
            <a:r>
              <a:rPr lang="en-US" b="1" dirty="0"/>
              <a:t>Strategy Materials Style Guide</a:t>
            </a:r>
            <a:endParaRPr lang="en-US" dirty="0"/>
          </a:p>
        </p:txBody>
      </p:sp>
      <p:sp>
        <p:nvSpPr>
          <p:cNvPr id="304" name="Title 3"/>
          <p:cNvSpPr>
            <a:spLocks noGrp="1"/>
          </p:cNvSpPr>
          <p:nvPr>
            <p:ph type="title"/>
          </p:nvPr>
        </p:nvSpPr>
        <p:spPr>
          <a:xfrm>
            <a:off x="453080" y="566400"/>
            <a:ext cx="11247120" cy="548640"/>
          </a:xfrm>
        </p:spPr>
        <p:txBody>
          <a:bodyPr vert="horz" rIns="0"/>
          <a:lstStyle/>
          <a:p>
            <a:pPr marL="0"/>
            <a:r>
              <a:rPr lang="en-US" dirty="0">
                <a:solidFill>
                  <a:srgbClr val="000000"/>
                </a:solidFill>
              </a:rPr>
              <a:t>Bridge Charts (1/2) | Title…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3" name="Rectangle 2"/>
          <p:cNvSpPr/>
          <p:nvPr/>
        </p:nvSpPr>
        <p:spPr>
          <a:xfrm>
            <a:off x="10232214" y="158582"/>
            <a:ext cx="1467986" cy="198438"/>
          </a:xfrm>
          <a:prstGeom prst="rect">
            <a:avLst/>
          </a:prstGeom>
          <a:solidFill>
            <a:srgbClr val="FFFFC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00000"/>
                </a:solidFill>
              </a:rPr>
              <a:t>Preliminary</a:t>
            </a:r>
          </a:p>
        </p:txBody>
      </p:sp>
      <p:sp>
        <p:nvSpPr>
          <p:cNvPr id="827" name="Rectangle 526"/>
          <p:cNvSpPr/>
          <p:nvPr/>
        </p:nvSpPr>
        <p:spPr>
          <a:xfrm>
            <a:off x="4280834" y="1701372"/>
            <a:ext cx="498475" cy="149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000000"/>
                </a:solidFill>
              </a:rPr>
              <a:t>363</a:t>
            </a:r>
          </a:p>
        </p:txBody>
      </p:sp>
      <p:sp>
        <p:nvSpPr>
          <p:cNvPr id="892" name="TextBox 591"/>
          <p:cNvSpPr txBox="1"/>
          <p:nvPr/>
        </p:nvSpPr>
        <p:spPr>
          <a:xfrm>
            <a:off x="453080" y="1196061"/>
            <a:ext cx="3919538" cy="400110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rgbClr val="000000"/>
                </a:solidFill>
              </a:rPr>
              <a:t>Newbuild Price Reduction Levers </a:t>
            </a:r>
            <a:br>
              <a:rPr lang="en-US" sz="1000" b="1" dirty="0">
                <a:solidFill>
                  <a:srgbClr val="000000"/>
                </a:solidFill>
              </a:rPr>
            </a:br>
            <a:r>
              <a:rPr lang="en-US" sz="1000" b="1" dirty="0">
                <a:solidFill>
                  <a:srgbClr val="000000"/>
                </a:solidFill>
              </a:rPr>
              <a:t>($M, ’25E, for 3,600 TEU containership)</a:t>
            </a:r>
          </a:p>
        </p:txBody>
      </p:sp>
      <p:sp>
        <p:nvSpPr>
          <p:cNvPr id="342" name="Speech Bubble: Rectangle 41"/>
          <p:cNvSpPr/>
          <p:nvPr/>
        </p:nvSpPr>
        <p:spPr>
          <a:xfrm>
            <a:off x="2875607" y="4212822"/>
            <a:ext cx="1472193" cy="858120"/>
          </a:xfrm>
          <a:prstGeom prst="wedgeRectCallout">
            <a:avLst>
              <a:gd name="adj1" fmla="val -57848"/>
              <a:gd name="adj2" fmla="val 21127"/>
            </a:avLst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i="1" dirty="0">
                <a:solidFill>
                  <a:srgbClr val="C00000"/>
                </a:solidFill>
              </a:rPr>
              <a:t>ITC eligibility requires flagging as US vessel for 10 years; without operating subsidies, vessels likely unprofitable vs. foreign-flagged given US crew, R&amp;M, and dry-dock premiums</a:t>
            </a:r>
          </a:p>
        </p:txBody>
      </p:sp>
      <p:sp>
        <p:nvSpPr>
          <p:cNvPr id="339" name="Rectangle 38"/>
          <p:cNvSpPr/>
          <p:nvPr/>
        </p:nvSpPr>
        <p:spPr>
          <a:xfrm>
            <a:off x="453079" y="6102019"/>
            <a:ext cx="11308083" cy="296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dirty="0">
                <a:solidFill>
                  <a:srgbClr val="000000"/>
                </a:solidFill>
                <a:ea typeface="Inter" panose="02000503000000020004" pitchFamily="2" charset="0"/>
              </a:rPr>
              <a:t>Note: (1) Raw material prices expected to see slower growth (~1% CAGR) than deflator 2.5%, driving differential between steel cost cuts and reduction vs. US Today | Source: </a:t>
            </a:r>
            <a:r>
              <a:rPr lang="en-US" sz="800" dirty="0">
                <a:solidFill>
                  <a:srgbClr val="000000"/>
                </a:solidFill>
                <a:ea typeface="Inter" panose="02000503000000020004" pitchFamily="2" charset="0"/>
              </a:rPr>
              <a:t>Building Ships in America</a:t>
            </a:r>
            <a:r>
              <a:rPr lang="en-US" sz="800" dirty="0">
                <a:solidFill>
                  <a:srgbClr val="000000"/>
                </a:solidFill>
                <a:ea typeface="Inter" panose="02000503000000020004" pitchFamily="2" charset="0"/>
              </a:rPr>
              <a:t>; </a:t>
            </a:r>
            <a:r>
              <a:rPr lang="en-US" sz="800" dirty="0">
                <a:solidFill>
                  <a:srgbClr val="000000"/>
                </a:solidFill>
                <a:ea typeface="Inter" panose="02000503000000020004" pitchFamily="2" charset="0"/>
              </a:rPr>
              <a:t>FRED (PPI, BE Inflation);</a:t>
            </a:r>
            <a:r>
              <a:rPr lang="en-US" sz="800" dirty="0">
                <a:solidFill>
                  <a:srgbClr val="000000"/>
                </a:solidFill>
                <a:ea typeface="Inter" panose="02000503000000020004" pitchFamily="2" charset="0"/>
              </a:rPr>
              <a:t> S&amp;P (Current and forecast prices, FX rates, US trade volumes and destinations); Clarksons (Orderbook); Market participant feedback (Service life, build assumptions); FMI (Labor hours); Internal estimates</a:t>
            </a:r>
          </a:p>
        </p:txBody>
      </p:sp>
      <p:sp>
        <p:nvSpPr>
          <p:cNvPr id="353" name="Rectangle 52"/>
          <p:cNvSpPr/>
          <p:nvPr/>
        </p:nvSpPr>
        <p:spPr>
          <a:xfrm>
            <a:off x="6801145" y="158582"/>
            <a:ext cx="3291840" cy="198438"/>
          </a:xfrm>
          <a:prstGeom prst="rect">
            <a:avLst/>
          </a:prstGeom>
          <a:solidFill>
            <a:srgbClr val="FB6B3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solidFill>
                  <a:schemeClr val="bg1"/>
                </a:solidFill>
              </a:rPr>
              <a:t>Incorporates reductions from prior page</a:t>
            </a:r>
          </a:p>
        </p:txBody>
      </p:sp>
      <p:sp>
        <p:nvSpPr>
          <p:cNvPr id="318" name="Speech Bubble: Rectangle 17"/>
          <p:cNvSpPr/>
          <p:nvPr/>
        </p:nvSpPr>
        <p:spPr>
          <a:xfrm>
            <a:off x="452701" y="5360957"/>
            <a:ext cx="4179915" cy="540437"/>
          </a:xfrm>
          <a:prstGeom prst="wedgeRectCallout">
            <a:avLst>
              <a:gd name="adj1" fmla="val -41409"/>
              <a:gd name="adj2" fmla="val 30378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i="1" dirty="0">
                <a:solidFill>
                  <a:srgbClr val="000000"/>
                </a:solidFill>
              </a:rPr>
              <a:t>Reduction found by subtracting 2035 costs (in real 2025 $) from 2025 costs for Labor, Raw Materials, and Equipment categories; same approach used on following pages </a:t>
            </a:r>
            <a:br>
              <a:rPr lang="en-US" sz="800" i="1" dirty="0">
                <a:solidFill>
                  <a:srgbClr val="000000"/>
                </a:solidFill>
              </a:rPr>
            </a:br>
            <a:r>
              <a:rPr lang="en-US" sz="800" i="1" dirty="0">
                <a:solidFill>
                  <a:srgbClr val="000000"/>
                </a:solidFill>
              </a:rPr>
              <a:t>“US Today” represents Aloha-class vessels under construction at Hanwha Philly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" name="Chart 7"/>
          <p:cNvGraphicFramePr/>
          <p:nvPr/>
        </p:nvGraphicFramePr>
        <p:xfrm>
          <a:off x="369888" y="1687513"/>
          <a:ext cx="6729412" cy="2792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17" name="Chart 16"/>
          <p:cNvGraphicFramePr/>
          <p:nvPr/>
        </p:nvGraphicFramePr>
        <p:xfrm>
          <a:off x="7251700" y="1687513"/>
          <a:ext cx="4565650" cy="2792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352" name="Picture 4" descr="Hafnia | LinkedIn"/>
          <p:cNvPicPr>
            <a:picLocks noChangeAspect="1" noChangeArrowheads="1"/>
          </p:cNvPicPr>
          <p:nvPr/>
        </p:nvPicPr>
        <p:blipFill rotWithShape="1">
          <a:blip r:embed="rId4"/>
          <a:srcRect t="38486" b="39730"/>
          <a:stretch>
            <a:fillRect/>
          </a:stretch>
        </p:blipFill>
        <p:spPr bwMode="auto">
          <a:xfrm>
            <a:off x="8560160" y="4309444"/>
            <a:ext cx="839500" cy="182880"/>
          </a:xfrm>
          <a:prstGeom prst="rect">
            <a:avLst/>
          </a:prstGeom>
          <a:noFill/>
        </p:spPr>
      </p:pic>
      <p:pic>
        <p:nvPicPr>
          <p:cNvPr id="2354" name="Picture 6" descr="OSG (@overseasshipholdinggroup) • Instagram photos and videos"/>
          <p:cNvPicPr>
            <a:picLocks noChangeAspect="1" noChangeArrowheads="1"/>
          </p:cNvPicPr>
          <p:nvPr/>
        </p:nvPicPr>
        <p:blipFill rotWithShape="1">
          <a:blip r:embed="rId5"/>
          <a:srcRect t="24592" b="24679"/>
          <a:stretch>
            <a:fillRect/>
          </a:stretch>
        </p:blipFill>
        <p:spPr bwMode="auto">
          <a:xfrm>
            <a:off x="7665621" y="4293339"/>
            <a:ext cx="424005" cy="215090"/>
          </a:xfrm>
          <a:prstGeom prst="rect">
            <a:avLst/>
          </a:prstGeom>
          <a:noFill/>
        </p:spPr>
      </p:pic>
      <p:pic>
        <p:nvPicPr>
          <p:cNvPr id="2358" name="Picture 10" descr="Scorpio Tankers Inc. | LinkedIn"/>
          <p:cNvPicPr>
            <a:picLocks noChangeAspect="1" noChangeArrowheads="1"/>
          </p:cNvPicPr>
          <p:nvPr/>
        </p:nvPicPr>
        <p:blipFill rotWithShape="1">
          <a:blip r:embed="rId6"/>
          <a:srcRect t="34544" b="34535"/>
          <a:stretch>
            <a:fillRect/>
          </a:stretch>
        </p:blipFill>
        <p:spPr bwMode="auto">
          <a:xfrm>
            <a:off x="9744452" y="4295728"/>
            <a:ext cx="680158" cy="210312"/>
          </a:xfrm>
          <a:prstGeom prst="rect">
            <a:avLst/>
          </a:prstGeom>
          <a:noFill/>
        </p:spPr>
      </p:pic>
      <p:pic>
        <p:nvPicPr>
          <p:cNvPr id="2360" name="Picture 12"/>
          <p:cNvPicPr>
            <a:picLocks noChangeAspect="1" noChangeArrowheads="1"/>
          </p:cNvPicPr>
          <p:nvPr/>
        </p:nvPicPr>
        <p:blipFill rotWithShape="1">
          <a:blip r:embed="rId7"/>
          <a:srcRect t="35291" b="35603"/>
          <a:stretch>
            <a:fillRect/>
          </a:stretch>
        </p:blipFill>
        <p:spPr bwMode="auto">
          <a:xfrm>
            <a:off x="10703261" y="4323160"/>
            <a:ext cx="961353" cy="155448"/>
          </a:xfrm>
          <a:prstGeom prst="rect">
            <a:avLst/>
          </a:prstGeom>
          <a:noFill/>
        </p:spPr>
      </p:pic>
      <p:cxnSp>
        <p:nvCxnSpPr>
          <p:cNvPr id="567" name="Straight Connector 266"/>
          <p:cNvCxnSpPr/>
          <p:nvPr/>
        </p:nvCxnSpPr>
        <p:spPr bwMode="auto">
          <a:xfrm>
            <a:off x="1728788" y="2992438"/>
            <a:ext cx="7286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8" name="Straight Connector 267"/>
          <p:cNvCxnSpPr/>
          <p:nvPr/>
        </p:nvCxnSpPr>
        <p:spPr bwMode="auto">
          <a:xfrm>
            <a:off x="3370263" y="3630613"/>
            <a:ext cx="7286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7" name="Straight Connector 36"/>
          <p:cNvCxnSpPr/>
          <p:nvPr/>
        </p:nvCxnSpPr>
        <p:spPr bwMode="auto">
          <a:xfrm>
            <a:off x="5010150" y="4021138"/>
            <a:ext cx="7286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8" name="Text Placeholder 25"/>
          <p:cNvSpPr>
            <a:spLocks/>
          </p:cNvSpPr>
          <p:nvPr/>
        </p:nvSpPr>
        <p:spPr bwMode="auto">
          <a:xfrm>
            <a:off x="452437" y="1654175"/>
            <a:ext cx="5138738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b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 b="1">
                <a:solidFill>
                  <a:srgbClr val="000000"/>
                </a:solidFill>
              </a:rPr>
              <a:t>Annual Opex for MR Product Tankers ($M, ‘25E, excludes D&amp;A and voyage expenses)</a:t>
            </a:r>
          </a:p>
        </p:txBody>
      </p:sp>
      <p:sp>
        <p:nvSpPr>
          <p:cNvPr id="563" name="Text Placeholder 25"/>
          <p:cNvSpPr>
            <a:spLocks/>
          </p:cNvSpPr>
          <p:nvPr/>
        </p:nvSpPr>
        <p:spPr bwMode="auto">
          <a:xfrm>
            <a:off x="731838" y="4297363"/>
            <a:ext cx="1081088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Tanker Security Program - Average</a:t>
            </a:r>
            <a:endParaRPr lang="en-US" sz="1000" baseline="30000">
              <a:solidFill>
                <a:srgbClr val="000000"/>
              </a:solidFill>
            </a:endParaRPr>
          </a:p>
        </p:txBody>
      </p:sp>
      <p:sp>
        <p:nvSpPr>
          <p:cNvPr id="565" name="Text Placeholder 25"/>
          <p:cNvSpPr>
            <a:spLocks/>
          </p:cNvSpPr>
          <p:nvPr/>
        </p:nvSpPr>
        <p:spPr bwMode="auto">
          <a:xfrm>
            <a:off x="2486025" y="4297363"/>
            <a:ext cx="855663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TSP Payment (FY25 &amp; FY26)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348" name="Text Placeholder 25"/>
          <p:cNvSpPr>
            <a:spLocks/>
          </p:cNvSpPr>
          <p:nvPr/>
        </p:nvSpPr>
        <p:spPr bwMode="gray">
          <a:xfrm>
            <a:off x="4449763" y="3905250"/>
            <a:ext cx="209550" cy="152400"/>
          </a:xfrm>
          <a:prstGeom prst="rect">
            <a:avLst/>
          </a:prstGeom>
          <a:solidFill>
            <a:srgbClr val="C30C3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chemeClr val="bg1"/>
                </a:solidFill>
                <a:effectLst/>
              </a:rPr>
              <a:t>1.0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60" name="Text Placeholder 25"/>
          <p:cNvSpPr>
            <a:spLocks/>
          </p:cNvSpPr>
          <p:nvPr/>
        </p:nvSpPr>
        <p:spPr bwMode="gray">
          <a:xfrm>
            <a:off x="4449763" y="3709988"/>
            <a:ext cx="20955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  <a:effectLst/>
              </a:rPr>
              <a:t>4.0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66" name="Text Placeholder 25"/>
          <p:cNvSpPr>
            <a:spLocks/>
          </p:cNvSpPr>
          <p:nvPr/>
        </p:nvSpPr>
        <p:spPr bwMode="auto">
          <a:xfrm>
            <a:off x="4040188" y="4297363"/>
            <a:ext cx="1030288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Remaining Gap to Foreign-Flagged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71" name="Text Placeholder 25"/>
          <p:cNvSpPr>
            <a:spLocks/>
          </p:cNvSpPr>
          <p:nvPr/>
        </p:nvSpPr>
        <p:spPr bwMode="auto">
          <a:xfrm>
            <a:off x="5473700" y="4297363"/>
            <a:ext cx="144145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Drewry - Global Average (50-55K DWT, 10-Yr Old)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346" name="Text Placeholder 25"/>
          <p:cNvSpPr>
            <a:spLocks/>
          </p:cNvSpPr>
          <p:nvPr/>
        </p:nvSpPr>
        <p:spPr bwMode="gray">
          <a:xfrm>
            <a:off x="989013" y="2814638"/>
            <a:ext cx="566738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000000"/>
                </a:solidFill>
                <a:effectLst/>
              </a:rPr>
              <a:t>12.2-</a:t>
            </a:r>
            <a:r>
              <a:rPr lang="en-US" altLang="en-US" sz="1000" smtClean="0">
                <a:solidFill>
                  <a:srgbClr val="000000"/>
                </a:solidFill>
                <a:effectLst/>
              </a:rPr>
              <a:t>16.2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335" name="Text Placeholder 25"/>
          <p:cNvSpPr>
            <a:spLocks/>
          </p:cNvSpPr>
          <p:nvPr/>
        </p:nvSpPr>
        <p:spPr bwMode="gray">
          <a:xfrm>
            <a:off x="4341813" y="3452813"/>
            <a:ext cx="427038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000000"/>
                </a:solidFill>
                <a:effectLst/>
              </a:rPr>
              <a:t>1.0-5.0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32" name="Text Placeholder 25"/>
          <p:cNvSpPr>
            <a:spLocks/>
          </p:cNvSpPr>
          <p:nvPr/>
        </p:nvSpPr>
        <p:spPr bwMode="auto">
          <a:xfrm>
            <a:off x="7334247" y="1654175"/>
            <a:ext cx="34417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b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b="1">
                <a:solidFill>
                  <a:srgbClr val="000000"/>
                </a:solidFill>
                <a:effectLst/>
              </a:rPr>
              <a:t>Specific Company Comps for Annual MR Opex ($M, ’25E)</a:t>
            </a:r>
            <a:endParaRPr lang="en-US" sz="1000" b="1">
              <a:solidFill>
                <a:srgbClr val="000000"/>
              </a:solidFill>
            </a:endParaRPr>
          </a:p>
        </p:txBody>
      </p:sp>
      <p:sp>
        <p:nvSpPr>
          <p:cNvPr id="655" name="Text Placeholder 25"/>
          <p:cNvSpPr>
            <a:spLocks/>
          </p:cNvSpPr>
          <p:nvPr/>
        </p:nvSpPr>
        <p:spPr bwMode="auto">
          <a:xfrm>
            <a:off x="7737475" y="4297363"/>
            <a:ext cx="293688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t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OSG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350" name="Text Placeholder 25"/>
          <p:cNvSpPr>
            <a:spLocks/>
          </p:cNvSpPr>
          <p:nvPr/>
        </p:nvSpPr>
        <p:spPr bwMode="auto">
          <a:xfrm>
            <a:off x="8794750" y="4297363"/>
            <a:ext cx="3778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t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Hafnia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353" name="Text Placeholder 25"/>
          <p:cNvSpPr>
            <a:spLocks/>
          </p:cNvSpPr>
          <p:nvPr/>
        </p:nvSpPr>
        <p:spPr bwMode="auto">
          <a:xfrm>
            <a:off x="9863138" y="4297363"/>
            <a:ext cx="4413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t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Scorpio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365" name="Text Placeholder 25"/>
          <p:cNvSpPr>
            <a:spLocks/>
          </p:cNvSpPr>
          <p:nvPr/>
        </p:nvSpPr>
        <p:spPr bwMode="auto">
          <a:xfrm>
            <a:off x="11029950" y="4297363"/>
            <a:ext cx="309563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t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Torm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376" name="Text Placeholder 25"/>
          <p:cNvSpPr>
            <a:spLocks/>
          </p:cNvSpPr>
          <p:nvPr/>
        </p:nvSpPr>
        <p:spPr bwMode="gray">
          <a:xfrm>
            <a:off x="7600950" y="2862263"/>
            <a:ext cx="566738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15.0-16.0</a:t>
            </a:r>
          </a:p>
        </p:txBody>
      </p:sp>
      <p:sp>
        <p:nvSpPr>
          <p:cNvPr id="30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Strategy Materials Style Guide</a:t>
            </a:r>
            <a:endParaRPr lang="en-US" dirty="0"/>
          </a:p>
        </p:txBody>
      </p:sp>
      <p:sp>
        <p:nvSpPr>
          <p:cNvPr id="304" name="Title 3"/>
          <p:cNvSpPr>
            <a:spLocks noGrp="1"/>
          </p:cNvSpPr>
          <p:nvPr>
            <p:ph type="title"/>
          </p:nvPr>
        </p:nvSpPr>
        <p:spPr>
          <a:xfrm>
            <a:off x="453079" y="566400"/>
            <a:ext cx="11282099" cy="566928"/>
          </a:xfrm>
        </p:spPr>
        <p:txBody>
          <a:bodyPr vert="horz" rIns="0"/>
          <a:lstStyle/>
          <a:p>
            <a:r>
              <a:rPr lang="en-US" b="1" dirty="0">
                <a:solidFill>
                  <a:srgbClr val="000000"/>
                </a:solidFill>
              </a:rPr>
              <a:t>Bridge Charts (2/2)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47" name="Rectangle 246"/>
          <p:cNvSpPr/>
          <p:nvPr/>
        </p:nvSpPr>
        <p:spPr>
          <a:xfrm>
            <a:off x="10267192" y="158582"/>
            <a:ext cx="1467986" cy="198438"/>
          </a:xfrm>
          <a:prstGeom prst="rect">
            <a:avLst/>
          </a:prstGeom>
          <a:solidFill>
            <a:srgbClr val="FFFFC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00000"/>
                </a:solidFill>
              </a:rPr>
              <a:t>Preliminary</a:t>
            </a:r>
          </a:p>
        </p:txBody>
      </p:sp>
      <p:sp>
        <p:nvSpPr>
          <p:cNvPr id="355" name="Rectangle 54"/>
          <p:cNvSpPr/>
          <p:nvPr/>
        </p:nvSpPr>
        <p:spPr>
          <a:xfrm>
            <a:off x="453079" y="5990010"/>
            <a:ext cx="11308083" cy="413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Note: (1) OSG opex found by subtracting ‘23 Jones Act product tanker “Vessel Operating Contribution” from Time Charter Earnings in 2023, adding pro rata dry-dock expense, dividing by relevant days, and inflating at ~2% CAGR from 2023-2025; 2023 was the last full year of OSG’s publicly-reported results due to Saltchuk taking OSG private in 2024; (2) Annual opex found by adding Drewry dry-dock costs for 10-year old vessels to reported vessel operating expenses as companies shown capitalize dry-dock expenses and do not report MR-specific dry-dock expenses | Source: 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MARAD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; 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46 U.S. Code § 53406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; 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Drewry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; 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OSG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; 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Hafnia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; 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Scorpio Tankers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; 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Torm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; S&amp;P Maritime Intelligence Risk Suite; Clarksons; Market participant feedback</a:t>
            </a:r>
          </a:p>
        </p:txBody>
      </p:sp>
      <p:sp>
        <p:nvSpPr>
          <p:cNvPr id="321" name="Oval 20"/>
          <p:cNvSpPr/>
          <p:nvPr/>
        </p:nvSpPr>
        <p:spPr>
          <a:xfrm>
            <a:off x="7593012" y="4806285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~17</a:t>
            </a:r>
          </a:p>
        </p:txBody>
      </p:sp>
      <p:sp>
        <p:nvSpPr>
          <p:cNvPr id="349" name="Rectangle 48"/>
          <p:cNvSpPr/>
          <p:nvPr/>
        </p:nvSpPr>
        <p:spPr>
          <a:xfrm>
            <a:off x="83422" y="4805629"/>
            <a:ext cx="822960" cy="3022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sz="1000" i="1">
                <a:solidFill>
                  <a:srgbClr val="000000"/>
                </a:solidFill>
              </a:rPr>
              <a:t>Avg. Fleet Age (Yrs, ‘25):</a:t>
            </a:r>
          </a:p>
        </p:txBody>
      </p:sp>
      <p:sp>
        <p:nvSpPr>
          <p:cNvPr id="359" name="Oval 58"/>
          <p:cNvSpPr/>
          <p:nvPr/>
        </p:nvSpPr>
        <p:spPr>
          <a:xfrm>
            <a:off x="7593012" y="5221555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~47K</a:t>
            </a:r>
          </a:p>
        </p:txBody>
      </p:sp>
      <p:sp>
        <p:nvSpPr>
          <p:cNvPr id="686" name="Oval 385"/>
          <p:cNvSpPr/>
          <p:nvPr/>
        </p:nvSpPr>
        <p:spPr>
          <a:xfrm>
            <a:off x="991393" y="4806285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~10</a:t>
            </a:r>
          </a:p>
        </p:txBody>
      </p:sp>
      <p:sp>
        <p:nvSpPr>
          <p:cNvPr id="687" name="Oval 386"/>
          <p:cNvSpPr/>
          <p:nvPr/>
        </p:nvSpPr>
        <p:spPr>
          <a:xfrm>
            <a:off x="991393" y="5221555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~50K</a:t>
            </a:r>
          </a:p>
        </p:txBody>
      </p:sp>
      <p:sp>
        <p:nvSpPr>
          <p:cNvPr id="695" name="Rectangle 394"/>
          <p:cNvSpPr/>
          <p:nvPr/>
        </p:nvSpPr>
        <p:spPr>
          <a:xfrm>
            <a:off x="5309028" y="1923289"/>
            <a:ext cx="1802130" cy="446874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Foreign-Flagged Average: </a:t>
            </a:r>
            <a:br>
              <a:rPr lang="en-US" sz="10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~$3.0M</a:t>
            </a:r>
          </a:p>
        </p:txBody>
      </p:sp>
      <p:sp>
        <p:nvSpPr>
          <p:cNvPr id="702" name="Oval 401"/>
          <p:cNvSpPr/>
          <p:nvPr/>
        </p:nvSpPr>
        <p:spPr>
          <a:xfrm>
            <a:off x="991393" y="5636795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100%</a:t>
            </a:r>
          </a:p>
        </p:txBody>
      </p:sp>
      <p:sp>
        <p:nvSpPr>
          <p:cNvPr id="703" name="Rectangle 402"/>
          <p:cNvSpPr/>
          <p:nvPr/>
        </p:nvSpPr>
        <p:spPr>
          <a:xfrm>
            <a:off x="381501" y="1923289"/>
            <a:ext cx="1802398" cy="446874"/>
          </a:xfrm>
          <a:prstGeom prst="rect">
            <a:avLst/>
          </a:prstGeom>
          <a:solidFill>
            <a:srgbClr val="364D6E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U.S.-Flagged Proxy:</a:t>
            </a:r>
            <a:br>
              <a:rPr lang="en-US" sz="10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~$12.2-16.2M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709" name="Rectangle 408"/>
          <p:cNvSpPr/>
          <p:nvPr/>
        </p:nvSpPr>
        <p:spPr>
          <a:xfrm>
            <a:off x="83422" y="5221227"/>
            <a:ext cx="822960" cy="3022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sz="1000" i="1">
                <a:solidFill>
                  <a:srgbClr val="000000"/>
                </a:solidFill>
              </a:rPr>
              <a:t>Avg. Capacity (DWT):</a:t>
            </a:r>
          </a:p>
        </p:txBody>
      </p:sp>
      <p:sp>
        <p:nvSpPr>
          <p:cNvPr id="710" name="Rectangle 409"/>
          <p:cNvSpPr/>
          <p:nvPr/>
        </p:nvSpPr>
        <p:spPr>
          <a:xfrm>
            <a:off x="83422" y="5636467"/>
            <a:ext cx="822960" cy="3022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sz="1000" i="1">
                <a:solidFill>
                  <a:srgbClr val="000000"/>
                </a:solidFill>
              </a:rPr>
              <a:t>US-Flagged Proportion:</a:t>
            </a:r>
          </a:p>
        </p:txBody>
      </p:sp>
      <p:sp>
        <p:nvSpPr>
          <p:cNvPr id="712" name="Oval 411"/>
          <p:cNvSpPr/>
          <p:nvPr/>
        </p:nvSpPr>
        <p:spPr>
          <a:xfrm>
            <a:off x="7593012" y="5636795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100%</a:t>
            </a:r>
          </a:p>
        </p:txBody>
      </p:sp>
      <p:sp>
        <p:nvSpPr>
          <p:cNvPr id="713" name="Oval 412"/>
          <p:cNvSpPr/>
          <p:nvPr/>
        </p:nvSpPr>
        <p:spPr>
          <a:xfrm>
            <a:off x="5903912" y="5636795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~2%</a:t>
            </a:r>
          </a:p>
        </p:txBody>
      </p:sp>
      <p:sp>
        <p:nvSpPr>
          <p:cNvPr id="714" name="Oval 413"/>
          <p:cNvSpPr/>
          <p:nvPr/>
        </p:nvSpPr>
        <p:spPr>
          <a:xfrm>
            <a:off x="5903912" y="4803774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717" name="Oval 416"/>
          <p:cNvSpPr/>
          <p:nvPr/>
        </p:nvSpPr>
        <p:spPr>
          <a:xfrm>
            <a:off x="5903912" y="5221555"/>
            <a:ext cx="581891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50-55K</a:t>
            </a:r>
          </a:p>
        </p:txBody>
      </p:sp>
      <p:sp>
        <p:nvSpPr>
          <p:cNvPr id="729" name="Speech Bubble: Rectangle 428"/>
          <p:cNvSpPr/>
          <p:nvPr/>
        </p:nvSpPr>
        <p:spPr>
          <a:xfrm>
            <a:off x="3631174" y="4803774"/>
            <a:ext cx="1803750" cy="612630"/>
          </a:xfrm>
          <a:prstGeom prst="wedgeRectCallou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i="1" dirty="0">
                <a:solidFill>
                  <a:srgbClr val="000000"/>
                </a:solidFill>
              </a:rPr>
              <a:t>Lower bound represents MARAD analysis; upper bound represents carrier feedback to MARAD</a:t>
            </a:r>
          </a:p>
        </p:txBody>
      </p:sp>
      <p:sp>
        <p:nvSpPr>
          <p:cNvPr id="307" name="Rectangle 6"/>
          <p:cNvSpPr/>
          <p:nvPr/>
        </p:nvSpPr>
        <p:spPr>
          <a:xfrm>
            <a:off x="2457451" y="1923289"/>
            <a:ext cx="2552699" cy="446874"/>
          </a:xfrm>
          <a:prstGeom prst="rect">
            <a:avLst/>
          </a:prstGeom>
          <a:noFill/>
          <a:ln w="12700">
            <a:solidFill>
              <a:srgbClr val="C30C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C30C3E"/>
                </a:solidFill>
              </a:rPr>
              <a:t>Differential vs. Foreign-Flagged: </a:t>
            </a:r>
            <a:br>
              <a:rPr lang="en-US" sz="1000" b="1">
                <a:solidFill>
                  <a:srgbClr val="C30C3E"/>
                </a:solidFill>
              </a:rPr>
            </a:br>
            <a:r>
              <a:rPr lang="en-US" sz="1600" b="1">
                <a:solidFill>
                  <a:srgbClr val="C30C3E"/>
                </a:solidFill>
              </a:rPr>
              <a:t>~$9.2-13.2M</a:t>
            </a:r>
            <a:endParaRPr lang="en-US" sz="1400" b="1">
              <a:solidFill>
                <a:srgbClr val="C30C3E"/>
              </a:solidFill>
            </a:endParaRPr>
          </a:p>
        </p:txBody>
      </p:sp>
      <p:sp>
        <p:nvSpPr>
          <p:cNvPr id="1330" name="Rectangle 1029"/>
          <p:cNvSpPr/>
          <p:nvPr/>
        </p:nvSpPr>
        <p:spPr>
          <a:xfrm>
            <a:off x="9274968" y="1279780"/>
            <a:ext cx="2460210" cy="328151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i="1">
                <a:solidFill>
                  <a:srgbClr val="000000"/>
                </a:solidFill>
              </a:rPr>
              <a:t>Note: MR tankers shown given lack of LR1 product tankers in US-flagged fleet</a:t>
            </a:r>
          </a:p>
        </p:txBody>
      </p:sp>
      <p:sp>
        <p:nvSpPr>
          <p:cNvPr id="1379" name="Oval 1078"/>
          <p:cNvSpPr/>
          <p:nvPr/>
        </p:nvSpPr>
        <p:spPr>
          <a:xfrm>
            <a:off x="10898185" y="4806285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~12</a:t>
            </a:r>
          </a:p>
        </p:txBody>
      </p:sp>
      <p:sp>
        <p:nvSpPr>
          <p:cNvPr id="1380" name="Oval 1079"/>
          <p:cNvSpPr/>
          <p:nvPr/>
        </p:nvSpPr>
        <p:spPr>
          <a:xfrm>
            <a:off x="10898185" y="5221555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~50K</a:t>
            </a:r>
          </a:p>
        </p:txBody>
      </p:sp>
      <p:sp>
        <p:nvSpPr>
          <p:cNvPr id="1381" name="Oval 1080"/>
          <p:cNvSpPr/>
          <p:nvPr/>
        </p:nvSpPr>
        <p:spPr>
          <a:xfrm>
            <a:off x="10898185" y="5636795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~5%</a:t>
            </a:r>
          </a:p>
        </p:txBody>
      </p:sp>
      <p:sp>
        <p:nvSpPr>
          <p:cNvPr id="1382" name="Oval 1081"/>
          <p:cNvSpPr/>
          <p:nvPr/>
        </p:nvSpPr>
        <p:spPr>
          <a:xfrm>
            <a:off x="8692355" y="4806285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~10</a:t>
            </a:r>
          </a:p>
        </p:txBody>
      </p:sp>
      <p:sp>
        <p:nvSpPr>
          <p:cNvPr id="1383" name="Oval 1082"/>
          <p:cNvSpPr/>
          <p:nvPr/>
        </p:nvSpPr>
        <p:spPr>
          <a:xfrm>
            <a:off x="8692355" y="5221555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~49K</a:t>
            </a:r>
          </a:p>
        </p:txBody>
      </p:sp>
      <p:sp>
        <p:nvSpPr>
          <p:cNvPr id="1384" name="Oval 1083"/>
          <p:cNvSpPr/>
          <p:nvPr/>
        </p:nvSpPr>
        <p:spPr>
          <a:xfrm>
            <a:off x="8692355" y="5636795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- -</a:t>
            </a:r>
          </a:p>
        </p:txBody>
      </p:sp>
      <p:sp>
        <p:nvSpPr>
          <p:cNvPr id="1385" name="Oval 1084"/>
          <p:cNvSpPr/>
          <p:nvPr/>
        </p:nvSpPr>
        <p:spPr>
          <a:xfrm>
            <a:off x="9789459" y="4806285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~9</a:t>
            </a:r>
          </a:p>
        </p:txBody>
      </p:sp>
      <p:sp>
        <p:nvSpPr>
          <p:cNvPr id="1386" name="Oval 1085"/>
          <p:cNvSpPr/>
          <p:nvPr/>
        </p:nvSpPr>
        <p:spPr>
          <a:xfrm>
            <a:off x="9789459" y="5221555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~47K</a:t>
            </a:r>
          </a:p>
        </p:txBody>
      </p:sp>
      <p:sp>
        <p:nvSpPr>
          <p:cNvPr id="1387" name="Oval 1086"/>
          <p:cNvSpPr/>
          <p:nvPr/>
        </p:nvSpPr>
        <p:spPr>
          <a:xfrm>
            <a:off x="9789459" y="5636795"/>
            <a:ext cx="582613" cy="30162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>
                <a:solidFill>
                  <a:srgbClr val="000000"/>
                </a:solidFill>
              </a:rPr>
              <a:t>~2%</a:t>
            </a:r>
          </a:p>
        </p:txBody>
      </p:sp>
      <p:sp>
        <p:nvSpPr>
          <p:cNvPr id="514" name="Speech Bubble: Rectangle 213"/>
          <p:cNvSpPr/>
          <p:nvPr/>
        </p:nvSpPr>
        <p:spPr>
          <a:xfrm>
            <a:off x="8475070" y="4570679"/>
            <a:ext cx="3231020" cy="158377"/>
          </a:xfrm>
          <a:prstGeom prst="wedgeRectCallou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i="1">
                <a:solidFill>
                  <a:srgbClr val="000000"/>
                </a:solidFill>
              </a:rPr>
              <a:t>Company averages</a:t>
            </a:r>
            <a:r>
              <a:rPr lang="en-US" sz="1000" i="1" baseline="30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15" name="Speech Bubble: Rectangle 214"/>
          <p:cNvSpPr/>
          <p:nvPr/>
        </p:nvSpPr>
        <p:spPr>
          <a:xfrm>
            <a:off x="7208894" y="4570306"/>
            <a:ext cx="1350847" cy="158750"/>
          </a:xfrm>
          <a:prstGeom prst="wedgeRectCallou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i="1">
                <a:solidFill>
                  <a:srgbClr val="000000"/>
                </a:solidFill>
              </a:rPr>
              <a:t>Jones Act average</a:t>
            </a:r>
            <a:r>
              <a:rPr lang="en-US" sz="1000" i="1" baseline="30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523" name="Rectangle 222"/>
          <p:cNvSpPr/>
          <p:nvPr/>
        </p:nvSpPr>
        <p:spPr>
          <a:xfrm>
            <a:off x="8630973" y="1923289"/>
            <a:ext cx="2899585" cy="446874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Foreign-Flagged Public Comps: </a:t>
            </a:r>
            <a:br>
              <a:rPr lang="en-US" sz="10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~$3.0-3.3M</a:t>
            </a:r>
          </a:p>
        </p:txBody>
      </p:sp>
      <p:cxnSp>
        <p:nvCxnSpPr>
          <p:cNvPr id="528" name="Straight Arrow Connector 227"/>
          <p:cNvCxnSpPr>
            <a:cxnSpLocks/>
          </p:cNvCxnSpPr>
          <p:nvPr/>
        </p:nvCxnSpPr>
        <p:spPr>
          <a:xfrm>
            <a:off x="7150100" y="1700213"/>
            <a:ext cx="0" cy="4206240"/>
          </a:xfrm>
          <a:prstGeom prst="straightConnector1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1" name="Rectangle 230"/>
          <p:cNvSpPr/>
          <p:nvPr/>
        </p:nvSpPr>
        <p:spPr>
          <a:xfrm>
            <a:off x="7207233" y="1918352"/>
            <a:ext cx="1354168" cy="446874"/>
          </a:xfrm>
          <a:prstGeom prst="rect">
            <a:avLst/>
          </a:prstGeom>
          <a:solidFill>
            <a:srgbClr val="364D6E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U.S.-Flagged Proxy:</a:t>
            </a:r>
            <a:br>
              <a:rPr lang="en-US" sz="10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~$15-16M</a:t>
            </a:r>
            <a:endParaRPr lang="en-US" sz="1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1" name="Table 10"/>
          <p:cNvGraphicFramePr>
            <a:graphicFrameLocks noGrp="1"/>
          </p:cNvGraphicFramePr>
          <p:nvPr/>
        </p:nvGraphicFramePr>
        <p:xfrm>
          <a:off x="5214936" y="1356200"/>
          <a:ext cx="6481763" cy="3664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7239"/>
                <a:gridCol w="1645372"/>
                <a:gridCol w="1134576"/>
                <a:gridCol w="1134576"/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Legally Mandated Demand from SHIPS Act Provisions</a:t>
                      </a:r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 b="1">
                        <a:solidFill>
                          <a:srgbClr val="000000"/>
                        </a:solidFill>
                      </a:endParaRPr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 b="1">
                        <a:solidFill>
                          <a:srgbClr val="000000"/>
                        </a:solidFill>
                      </a:endParaRPr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 b="1">
                        <a:solidFill>
                          <a:srgbClr val="000000"/>
                        </a:solidFill>
                      </a:endParaRPr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Provision </a:t>
                      </a:r>
                      <a:r>
                        <a:rPr lang="en-US" sz="1000" b="0" i="1">
                          <a:solidFill>
                            <a:srgbClr val="000000"/>
                          </a:solidFill>
                        </a:rPr>
                        <a:t>(Bill Section)</a:t>
                      </a:r>
                      <a:br>
                        <a:rPr lang="en-US" sz="1000" b="0" i="1">
                          <a:solidFill>
                            <a:srgbClr val="000000"/>
                          </a:solidFill>
                        </a:rPr>
                      </a:br>
                      <a:r>
                        <a:rPr lang="en-US" sz="1000" b="0" i="0">
                          <a:solidFill>
                            <a:srgbClr val="000000"/>
                          </a:solidFill>
                        </a:rPr>
                        <a:t>Vessel Type Impacted</a:t>
                      </a:r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% of Cargo</a:t>
                      </a:r>
                      <a:br>
                        <a:rPr lang="en-US" sz="1000" b="1">
                          <a:solidFill>
                            <a:srgbClr val="000000"/>
                          </a:solidFill>
                        </a:rPr>
                      </a:br>
                      <a:r>
                        <a:rPr lang="en-US" sz="1000" b="0" i="1">
                          <a:solidFill>
                            <a:srgbClr val="000000"/>
                          </a:solidFill>
                        </a:rPr>
                        <a:t>(Start – ramp end)</a:t>
                      </a:r>
                      <a:endParaRPr sz="1000" b="0" i="1">
                        <a:solidFill>
                          <a:srgbClr val="000000"/>
                        </a:solidFill>
                      </a:endParaRPr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US-Built</a:t>
                      </a:r>
                      <a:endParaRPr sz="1000" b="1">
                        <a:solidFill>
                          <a:srgbClr val="000000"/>
                        </a:solidFill>
                      </a:endParaRPr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US-Flagged</a:t>
                      </a:r>
                      <a:endParaRPr sz="1000" b="1">
                        <a:solidFill>
                          <a:srgbClr val="000000"/>
                        </a:solidFill>
                      </a:endParaRPr>
                    </a:p>
                  </a:txBody>
                  <a:tcPr marL="45720" marR="4572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4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Crude Exports from the US</a:t>
                      </a:r>
                      <a:endParaRPr kumimoji="0"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SEC. 420</a:t>
                      </a:r>
                      <a:b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</a:b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Crude Tankers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4D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3% to 10%</a:t>
                      </a:r>
                      <a:b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2027-2040</a:t>
                      </a: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77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77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04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LNG Exports from the US</a:t>
                      </a:r>
                      <a:b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</a:b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SEC. 420</a:t>
                      </a:r>
                      <a:b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</a:b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LNG Ships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2% to 15%</a:t>
                      </a:r>
                      <a:b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kumimoji="0" lang="en-US" sz="1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2027-2047</a:t>
                      </a: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77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77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04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China Imports to the US</a:t>
                      </a:r>
                      <a:b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SEC. 415</a:t>
                      </a:r>
                      <a:b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Containerships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1% to 10%</a:t>
                      </a:r>
                      <a:b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2031-2040</a:t>
                      </a: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1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77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77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04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 Government Cargo Preference</a:t>
                      </a:r>
                      <a:b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SEC. 411</a:t>
                      </a:r>
                      <a:b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Containerships &amp; Bulk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77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50% to 100%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180 days after bill passage</a:t>
                      </a:r>
                      <a:endParaRPr kumimoji="0" lang="en-US" sz="1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77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04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USDA Program Exports</a:t>
                      </a:r>
                      <a:b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</a:b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SEC. 418</a:t>
                      </a:r>
                      <a:b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</a:b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Containerships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770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77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9" name="Chart 28"/>
          <p:cNvGraphicFramePr/>
          <p:nvPr/>
        </p:nvGraphicFramePr>
        <p:xfrm>
          <a:off x="392113" y="1550988"/>
          <a:ext cx="4684712" cy="413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4" name="Title 3"/>
          <p:cNvSpPr>
            <a:spLocks noGrp="1"/>
          </p:cNvSpPr>
          <p:nvPr>
            <p:ph type="title"/>
          </p:nvPr>
        </p:nvSpPr>
        <p:spPr>
          <a:xfrm>
            <a:off x="453080" y="566400"/>
            <a:ext cx="11247120" cy="554965"/>
          </a:xfrm>
        </p:spPr>
        <p:txBody>
          <a:bodyPr vert="horz" rIns="0"/>
          <a:lstStyle/>
          <a:p>
            <a:pPr marL="0"/>
            <a:r>
              <a:rPr lang="en-US" b="1" dirty="0">
                <a:solidFill>
                  <a:srgbClr val="000000"/>
                </a:solidFill>
              </a:rPr>
              <a:t>Bar Charts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5" name="Rectangle 4"/>
          <p:cNvSpPr/>
          <p:nvPr/>
        </p:nvSpPr>
        <p:spPr>
          <a:xfrm>
            <a:off x="453079" y="6103543"/>
            <a:ext cx="11308083" cy="2948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Note: Captive demand considers current cargo volumes, growth rates, and annual vessel capacity (driven by number of trips / year, cargo capacity, and utilization)</a:t>
            </a:r>
            <a:b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</a:b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Source: S&amp;P Panjiva; Clarksons; 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SHIPS Act text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; 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EIA AEO LNG Export Table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; 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EIA AEO Crude Export Table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; 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EIA Crude Tanker Descriptions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; </a:t>
            </a:r>
            <a:r>
              <a:rPr lang="en-US" sz="800">
                <a:solidFill>
                  <a:srgbClr val="000000"/>
                </a:solidFill>
                <a:ea typeface="Inter" panose="02000503000000020004" pitchFamily="2" charset="0"/>
              </a:rPr>
              <a:t>GAO Report on Government Preference Cargo</a:t>
            </a:r>
            <a:endParaRPr lang="en-US" sz="800">
              <a:solidFill>
                <a:srgbClr val="000000"/>
              </a:solidFill>
              <a:ea typeface="Inter" panose="02000503000000020004" pitchFamily="2" charset="0"/>
            </a:endParaRPr>
          </a:p>
        </p:txBody>
      </p:sp>
      <p:sp>
        <p:nvSpPr>
          <p:cNvPr id="310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52701" y="263452"/>
            <a:ext cx="5394960" cy="155448"/>
          </a:xfrm>
        </p:spPr>
        <p:txBody>
          <a:bodyPr/>
          <a:lstStyle/>
          <a:p>
            <a:r>
              <a:rPr lang="en-US" b="1" dirty="0"/>
              <a:t>Strategy Materials Style Guide</a:t>
            </a:r>
            <a:endParaRPr lang="en-US" dirty="0"/>
          </a:p>
        </p:txBody>
      </p:sp>
      <p:sp>
        <p:nvSpPr>
          <p:cNvPr id="346" name="Text Placeholder 25"/>
          <p:cNvSpPr>
            <a:spLocks/>
          </p:cNvSpPr>
          <p:nvPr/>
        </p:nvSpPr>
        <p:spPr bwMode="auto">
          <a:xfrm>
            <a:off x="495300" y="1376363"/>
            <a:ext cx="3417888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b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 b="1" dirty="0">
                <a:solidFill>
                  <a:srgbClr val="000000"/>
                </a:solidFill>
              </a:rPr>
              <a:t>SCF Supported by Legally Mandated Demand (# vessels)</a:t>
            </a:r>
          </a:p>
        </p:txBody>
      </p:sp>
      <p:sp>
        <p:nvSpPr>
          <p:cNvPr id="370" name="Text Placeholder 25"/>
          <p:cNvSpPr>
            <a:spLocks/>
          </p:cNvSpPr>
          <p:nvPr/>
        </p:nvSpPr>
        <p:spPr bwMode="gray">
          <a:xfrm>
            <a:off x="3241675" y="2155825"/>
            <a:ext cx="179388" cy="152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&lt;5</a:t>
            </a:r>
          </a:p>
        </p:txBody>
      </p:sp>
      <p:sp>
        <p:nvSpPr>
          <p:cNvPr id="372" name="Text Placeholder 25"/>
          <p:cNvSpPr>
            <a:spLocks/>
          </p:cNvSpPr>
          <p:nvPr/>
        </p:nvSpPr>
        <p:spPr bwMode="gray">
          <a:xfrm>
            <a:off x="2408238" y="2187575"/>
            <a:ext cx="179388" cy="1524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dirty="0">
                <a:solidFill>
                  <a:schemeClr val="bg1"/>
                </a:solidFill>
                <a:effectLst/>
              </a:rPr>
              <a:t>&lt;5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08" name="Text Placeholder 25"/>
          <p:cNvSpPr>
            <a:spLocks/>
          </p:cNvSpPr>
          <p:nvPr/>
        </p:nvSpPr>
        <p:spPr bwMode="auto">
          <a:xfrm>
            <a:off x="2152650" y="5572125"/>
            <a:ext cx="15208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t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Legally Mandated Demand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03" name="Text Placeholder 25"/>
          <p:cNvSpPr>
            <a:spLocks/>
          </p:cNvSpPr>
          <p:nvPr/>
        </p:nvSpPr>
        <p:spPr bwMode="gray">
          <a:xfrm>
            <a:off x="2662238" y="2003425"/>
            <a:ext cx="5016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~90-110</a:t>
            </a:r>
          </a:p>
        </p:txBody>
      </p:sp>
      <p:sp>
        <p:nvSpPr>
          <p:cNvPr id="321" name="Text Placeholder 25"/>
          <p:cNvSpPr>
            <a:spLocks/>
          </p:cNvSpPr>
          <p:nvPr/>
        </p:nvSpPr>
        <p:spPr bwMode="gray">
          <a:xfrm>
            <a:off x="2735263" y="4719638"/>
            <a:ext cx="357188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dirty="0">
                <a:solidFill>
                  <a:schemeClr val="bg1"/>
                </a:solidFill>
                <a:effectLst/>
              </a:rPr>
              <a:t>40-50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24" name="Text Placeholder 25"/>
          <p:cNvSpPr>
            <a:spLocks/>
          </p:cNvSpPr>
          <p:nvPr/>
        </p:nvSpPr>
        <p:spPr bwMode="gray">
          <a:xfrm>
            <a:off x="2735263" y="3333750"/>
            <a:ext cx="357188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dirty="0">
                <a:solidFill>
                  <a:srgbClr val="000000"/>
                </a:solidFill>
                <a:effectLst/>
              </a:rPr>
              <a:t>35-40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27" name="Text Placeholder 25"/>
          <p:cNvSpPr>
            <a:spLocks/>
          </p:cNvSpPr>
          <p:nvPr/>
        </p:nvSpPr>
        <p:spPr bwMode="gray">
          <a:xfrm>
            <a:off x="2735263" y="2441575"/>
            <a:ext cx="357188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dirty="0">
                <a:solidFill>
                  <a:schemeClr val="bg1"/>
                </a:solidFill>
                <a:effectLst/>
              </a:rPr>
              <a:t>10-20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79" name="Rectangle 178"/>
          <p:cNvSpPr/>
          <p:nvPr/>
        </p:nvSpPr>
        <p:spPr bwMode="auto">
          <a:xfrm>
            <a:off x="884238" y="2225675"/>
            <a:ext cx="179388" cy="13335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3" name="Rectangle 172"/>
          <p:cNvSpPr/>
          <p:nvPr/>
        </p:nvSpPr>
        <p:spPr bwMode="auto">
          <a:xfrm>
            <a:off x="884238" y="2428875"/>
            <a:ext cx="179388" cy="133350"/>
          </a:xfrm>
          <a:prstGeom prst="rect">
            <a:avLst/>
          </a:prstGeom>
          <a:solidFill>
            <a:srgbClr val="4C6C9C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0" name="Rectangle 179"/>
          <p:cNvSpPr/>
          <p:nvPr/>
        </p:nvSpPr>
        <p:spPr bwMode="auto">
          <a:xfrm>
            <a:off x="884238" y="2632075"/>
            <a:ext cx="179388" cy="13335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3" name="Rectangle 252"/>
          <p:cNvSpPr/>
          <p:nvPr/>
        </p:nvSpPr>
        <p:spPr bwMode="auto">
          <a:xfrm>
            <a:off x="884238" y="2835275"/>
            <a:ext cx="179388" cy="133350"/>
          </a:xfrm>
          <a:prstGeom prst="rect">
            <a:avLst/>
          </a:prstGeom>
          <a:solidFill>
            <a:srgbClr val="C0C0C0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Rectangle 62"/>
          <p:cNvSpPr/>
          <p:nvPr/>
        </p:nvSpPr>
        <p:spPr bwMode="auto">
          <a:xfrm>
            <a:off x="884238" y="3038475"/>
            <a:ext cx="179388" cy="133350"/>
          </a:xfrm>
          <a:prstGeom prst="rect">
            <a:avLst/>
          </a:prstGeom>
          <a:solidFill>
            <a:srgbClr val="007770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9" name="Text Placeholder 25"/>
          <p:cNvSpPr>
            <a:spLocks/>
          </p:cNvSpPr>
          <p:nvPr/>
        </p:nvSpPr>
        <p:spPr bwMode="auto">
          <a:xfrm>
            <a:off x="1114425" y="2220913"/>
            <a:ext cx="246063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Bulk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32" name="Text Placeholder 25"/>
          <p:cNvSpPr>
            <a:spLocks/>
          </p:cNvSpPr>
          <p:nvPr/>
        </p:nvSpPr>
        <p:spPr bwMode="auto">
          <a:xfrm>
            <a:off x="1114425" y="2424113"/>
            <a:ext cx="8636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Product Tanker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36" name="Text Placeholder 25"/>
          <p:cNvSpPr>
            <a:spLocks/>
          </p:cNvSpPr>
          <p:nvPr/>
        </p:nvSpPr>
        <p:spPr bwMode="auto">
          <a:xfrm>
            <a:off x="1114425" y="2627313"/>
            <a:ext cx="773113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Crude Tanker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50" name="Text Placeholder 25"/>
          <p:cNvSpPr>
            <a:spLocks/>
          </p:cNvSpPr>
          <p:nvPr/>
        </p:nvSpPr>
        <p:spPr bwMode="auto">
          <a:xfrm>
            <a:off x="1114425" y="2830513"/>
            <a:ext cx="2603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LNG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371" name="Text Placeholder 25"/>
          <p:cNvSpPr>
            <a:spLocks/>
          </p:cNvSpPr>
          <p:nvPr/>
        </p:nvSpPr>
        <p:spPr bwMode="auto">
          <a:xfrm>
            <a:off x="1114425" y="3033713"/>
            <a:ext cx="547688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Container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630" name="Rectangle 329"/>
          <p:cNvSpPr/>
          <p:nvPr/>
        </p:nvSpPr>
        <p:spPr>
          <a:xfrm>
            <a:off x="5214936" y="5084323"/>
            <a:ext cx="6481763" cy="792602"/>
          </a:xfrm>
          <a:prstGeom prst="rect">
            <a:avLst/>
          </a:prstGeom>
          <a:solidFill>
            <a:srgbClr val="CEDDEC"/>
          </a:solidFill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b="1" dirty="0">
                <a:solidFill>
                  <a:srgbClr val="000000"/>
                </a:solidFill>
              </a:rPr>
              <a:t>Vessel types Sealift Command needs in a contingency are precisely the ones the bill fails to incentivize.</a:t>
            </a:r>
          </a:p>
        </p:txBody>
      </p:sp>
      <p:sp>
        <p:nvSpPr>
          <p:cNvPr id="636" name="Rectangle 335"/>
          <p:cNvSpPr/>
          <p:nvPr/>
        </p:nvSpPr>
        <p:spPr>
          <a:xfrm>
            <a:off x="10232214" y="158582"/>
            <a:ext cx="1467986" cy="198438"/>
          </a:xfrm>
          <a:prstGeom prst="rect">
            <a:avLst/>
          </a:prstGeom>
          <a:solidFill>
            <a:srgbClr val="FFFFC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00000"/>
                </a:solidFill>
              </a:rPr>
              <a:t>Preliminary</a:t>
            </a:r>
          </a:p>
        </p:txBody>
      </p:sp>
      <p:cxnSp>
        <p:nvCxnSpPr>
          <p:cNvPr id="652" name="Straight Connector 351"/>
          <p:cNvCxnSpPr>
            <a:cxnSpLocks/>
          </p:cNvCxnSpPr>
          <p:nvPr/>
        </p:nvCxnSpPr>
        <p:spPr>
          <a:xfrm flipV="1">
            <a:off x="3771900" y="2000250"/>
            <a:ext cx="1443036" cy="220663"/>
          </a:xfrm>
          <a:prstGeom prst="line">
            <a:avLst/>
          </a:prstGeom>
          <a:ln w="635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Straight Connector 355"/>
          <p:cNvCxnSpPr>
            <a:cxnSpLocks/>
          </p:cNvCxnSpPr>
          <p:nvPr/>
        </p:nvCxnSpPr>
        <p:spPr>
          <a:xfrm flipV="1">
            <a:off x="3771900" y="2593975"/>
            <a:ext cx="1443036" cy="171450"/>
          </a:xfrm>
          <a:prstGeom prst="line">
            <a:avLst/>
          </a:prstGeom>
          <a:ln w="635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Straight Connector 358"/>
          <p:cNvCxnSpPr>
            <a:cxnSpLocks/>
          </p:cNvCxnSpPr>
          <p:nvPr/>
        </p:nvCxnSpPr>
        <p:spPr>
          <a:xfrm flipV="1">
            <a:off x="3771900" y="3188247"/>
            <a:ext cx="1443036" cy="904329"/>
          </a:xfrm>
          <a:prstGeom prst="line">
            <a:avLst/>
          </a:prstGeom>
          <a:ln w="635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5" name="Table 154"/>
          <p:cNvGraphicFramePr>
            <a:graphicFrameLocks noGrp="1"/>
          </p:cNvGraphicFramePr>
          <p:nvPr/>
        </p:nvGraphicFramePr>
        <p:xfrm>
          <a:off x="452700" y="1273523"/>
          <a:ext cx="11284409" cy="49095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7409"/>
                <a:gridCol w="1645920"/>
                <a:gridCol w="4302298"/>
                <a:gridCol w="4338782"/>
              </a:tblGrid>
              <a:tr h="4488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</a:rPr>
                        <a:t>Opex Categories</a:t>
                      </a: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</a:rPr>
                        <a:t>Impact on Cost Differential vs. Foreign</a:t>
                      </a: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</a:rPr>
                        <a:t>Rationale (Source)</a:t>
                      </a: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Additional Detail</a:t>
                      </a: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5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</a:rPr>
                        <a:t>Crew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>
                          <a:solidFill>
                            <a:srgbClr val="C30C3E"/>
                          </a:solidFill>
                        </a:rPr>
                        <a:t>High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i="0">
                          <a:solidFill>
                            <a:srgbClr val="000000"/>
                          </a:solidFill>
                        </a:rPr>
                        <a:t>US crew cost differential vs. foreign driven by structural factors including</a:t>
                      </a:r>
                    </a:p>
                    <a:p>
                      <a:pPr marL="111125" marR="0" lvl="1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i="0">
                          <a:solidFill>
                            <a:srgbClr val="000000"/>
                          </a:solidFill>
                        </a:rPr>
                        <a:t>Manning Requirements: </a:t>
                      </a:r>
                    </a:p>
                    <a:p>
                      <a:pPr marL="230188" marR="0" lvl="2" indent="-1190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lang="en-US" sz="1100" i="0">
                          <a:solidFill>
                            <a:srgbClr val="000000"/>
                          </a:solidFill>
                        </a:rPr>
                        <a:t>Two full crews for rotations</a:t>
                      </a:r>
                      <a:endParaRPr lang="en-US" sz="1100" b="1" i="0">
                        <a:solidFill>
                          <a:srgbClr val="000000"/>
                        </a:solidFill>
                      </a:endParaRPr>
                    </a:p>
                    <a:p>
                      <a:pPr marL="230188" marR="0" lvl="2" indent="-1190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</a:rPr>
                        <a:t>100% of officers and 75% of unlicensed crew must be US citizens (Market participant feedback; 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</a:rPr>
                        <a:t>46 USC 8103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  <a:p>
                      <a:pPr marL="111125" marR="0" lvl="2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i="0">
                          <a:solidFill>
                            <a:srgbClr val="000000"/>
                          </a:solidFill>
                        </a:rPr>
                        <a:t>Compensation: </a:t>
                      </a:r>
                    </a:p>
                    <a:p>
                      <a:pPr marL="230188" marR="0" lvl="3" indent="-1190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lang="en-US" sz="1100" i="0">
                          <a:solidFill>
                            <a:srgbClr val="000000"/>
                          </a:solidFill>
                        </a:rPr>
                        <a:t>Licensed officers average ~$290K fully burdened</a:t>
                      </a:r>
                    </a:p>
                    <a:p>
                      <a:pPr marL="230188" marR="0" lvl="3" indent="-1190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lang="en-US" sz="1100" i="0">
                          <a:solidFill>
                            <a:srgbClr val="000000"/>
                          </a:solidFill>
                        </a:rPr>
                        <a:t>Unlicensed personnel average ~$185K fully burdened</a:t>
                      </a:r>
                    </a:p>
                    <a:p>
                      <a:pPr marL="230188" marR="0" lvl="3" indent="-1190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lang="en-US" sz="1100" i="0">
                          <a:solidFill>
                            <a:srgbClr val="000000"/>
                          </a:solidFill>
                        </a:rPr>
                        <a:t>Mariner shortage intensifies wage competition (Market participant feedback; </a:t>
                      </a:r>
                      <a:r>
                        <a:rPr lang="en-US" sz="1100" i="0">
                          <a:solidFill>
                            <a:srgbClr val="000000"/>
                          </a:solidFill>
                        </a:rPr>
                        <a:t>Heritage</a:t>
                      </a:r>
                      <a:r>
                        <a:rPr lang="en-US" sz="1100" i="0">
                          <a:solidFill>
                            <a:srgbClr val="000000"/>
                          </a:solidFill>
                        </a:rPr>
                        <a:t>; </a:t>
                      </a:r>
                      <a:r>
                        <a:rPr lang="en-US" sz="1100" i="0">
                          <a:solidFill>
                            <a:srgbClr val="000000"/>
                          </a:solidFill>
                        </a:rPr>
                        <a:t>WSJ</a:t>
                      </a:r>
                      <a:r>
                        <a:rPr lang="en-US" sz="1100" i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i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5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</a:rPr>
                        <a:t>Insurance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>
                          <a:solidFill>
                            <a:srgbClr val="808080"/>
                          </a:solidFill>
                        </a:rPr>
                        <a:t>Moderate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2713" marR="0" lvl="0" indent="-1127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H&amp;M premiums driven by 4-6x higher replacement cost of US-built hull vs. foreign</a:t>
                      </a:r>
                    </a:p>
                    <a:p>
                      <a:pPr marL="112713" marR="0" lvl="0" indent="-1127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  <a:p>
                      <a:pPr marL="112713" marR="0" lvl="0" indent="-1127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P&amp;I premiums inflated by Jones Act crew injury liability </a:t>
                      </a: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46 USC 30104</a:t>
                      </a: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)  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“</a:t>
                      </a:r>
                      <a:r>
                        <a:rPr lang="en-US" sz="1100" b="0" i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maritime industry…is facing a new and formidable challenge: the rise of “nuclear verdicts” in personal injury cases, particularly those involving Jones Act seamen…typically defined as verdicts of $10 million or more.”</a:t>
                      </a:r>
                      <a:br>
                        <a:rPr lang="en-US" sz="1100" b="0" i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n-US" sz="1100" b="0" i="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US" sz="1100" b="0" i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unpredictability and magnitude of nuclear verdicts are having a direct impact on the cost and availability of insurance for maritime employers.” </a:t>
                      </a: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– </a:t>
                      </a: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Blank Rome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269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</a:rPr>
                        <a:t>Repair &amp; Maintenance</a:t>
                      </a:r>
                      <a:br>
                        <a:rPr lang="en-US" sz="1100" b="1" i="0">
                          <a:solidFill>
                            <a:srgbClr val="000000"/>
                          </a:solidFill>
                        </a:rPr>
                      </a:br>
                      <a:endParaRPr lang="en-US" sz="1100" b="1" i="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</a:rPr>
                        <a:t>Dry-Dock 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>
                          <a:solidFill>
                            <a:srgbClr val="808080"/>
                          </a:solidFill>
                        </a:rPr>
                        <a:t>Moderate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2713" marR="0" lvl="0" indent="-1127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R&amp;M cost differential vs. foreign driven by policy and wage factors</a:t>
                      </a:r>
                    </a:p>
                    <a:p>
                      <a:pPr marL="227013" marR="0" lvl="1" indent="-1143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Increased R&amp;M costs due to 50% ad valorem duties on </a:t>
                      </a: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foreign repairs (</a:t>
                      </a: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Heritage Foundation</a:t>
                      </a: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Title 19 – Customs Duties</a:t>
                      </a: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  <a:p>
                      <a:pPr marL="227013" marR="0" lvl="1" indent="-1143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Analogous US labor ~2-7x greater than foreign counterparts i.e., shipyard workforce (</a:t>
                      </a: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USTR</a:t>
                      </a: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; </a:t>
                      </a: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BLS</a:t>
                      </a: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; </a:t>
                      </a: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news websites</a:t>
                      </a: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</a:rPr>
                        <a:t>“Purchases for or repairs made to certain vessels while they are outside the United States are subject to declaration, entry, and payment of ad valorem duty.”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–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 CFR Part 4 § 414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569" name="Picture 268" descr="The image depicts a text display showing an average annual salary of $222,921 with a potential bonus of up to $71,090.&#10;&#10;AI-generated content may be incorrect."/>
          <p:cNvPicPr>
            <a:picLocks noChangeAspect="1"/>
          </p:cNvPicPr>
          <p:nvPr/>
        </p:nvPicPr>
        <p:blipFill>
          <a:blip r:embed="rId2"/>
          <a:srcRect l="3979" t="8754" r="8405" b="12027"/>
          <a:stretch>
            <a:fillRect/>
          </a:stretch>
        </p:blipFill>
        <p:spPr>
          <a:xfrm>
            <a:off x="7454655" y="1785158"/>
            <a:ext cx="2638426" cy="42211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1" name="Picture 270" descr="The image displays a figure, presumably a ship's officer, with text indicating an average annual salary of $156,502 and a bonus potential of up to $57,414.&#10;&#10;AI-generated content may be incorrect."/>
          <p:cNvPicPr>
            <a:picLocks noChangeAspect="1"/>
          </p:cNvPicPr>
          <p:nvPr/>
        </p:nvPicPr>
        <p:blipFill>
          <a:blip r:embed="rId3"/>
          <a:srcRect l="4292" t="6855" r="8232" b="12443"/>
          <a:stretch>
            <a:fillRect/>
          </a:stretch>
        </p:blipFill>
        <p:spPr>
          <a:xfrm>
            <a:off x="7454654" y="2244210"/>
            <a:ext cx="2638427" cy="4221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3" name="Picture 272" descr="Average Annual Salary: $89,947&#10;&#10;AI-generated content may be incorrect."/>
          <p:cNvPicPr>
            <a:picLocks noChangeAspect="1"/>
          </p:cNvPicPr>
          <p:nvPr/>
        </p:nvPicPr>
        <p:blipFill>
          <a:blip r:embed="rId4"/>
          <a:srcRect l="3968" t="8398" r="8556" b="9365"/>
          <a:stretch>
            <a:fillRect/>
          </a:stretch>
        </p:blipFill>
        <p:spPr>
          <a:xfrm>
            <a:off x="7454654" y="3160240"/>
            <a:ext cx="2638427" cy="4221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9" name="Picture 278" descr="The image depicts a visual representation of an electronics technician's job, highlighting an average annual salary of $148,763 with an additional bonus of $67,243.&#10;&#10;AI-generated content may be incorrect."/>
          <p:cNvPicPr>
            <a:picLocks noChangeAspect="1"/>
          </p:cNvPicPr>
          <p:nvPr/>
        </p:nvPicPr>
        <p:blipFill>
          <a:blip r:embed="rId5"/>
          <a:srcRect l="4219" t="7529" r="8449" b="11410"/>
          <a:stretch>
            <a:fillRect/>
          </a:stretch>
        </p:blipFill>
        <p:spPr>
          <a:xfrm>
            <a:off x="7454655" y="2703263"/>
            <a:ext cx="2638426" cy="4200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Strategy Materials Style Guide</a:t>
            </a:r>
            <a:endParaRPr lang="en-US" dirty="0"/>
          </a:p>
        </p:txBody>
      </p:sp>
      <p:sp>
        <p:nvSpPr>
          <p:cNvPr id="304" name="Title 3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b="1" dirty="0">
                <a:solidFill>
                  <a:srgbClr val="000000"/>
                </a:solidFill>
              </a:rPr>
              <a:t>Tables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5" name="Rectangle 4"/>
          <p:cNvSpPr/>
          <p:nvPr/>
        </p:nvSpPr>
        <p:spPr>
          <a:xfrm>
            <a:off x="10267192" y="158582"/>
            <a:ext cx="1467986" cy="198438"/>
          </a:xfrm>
          <a:prstGeom prst="rect">
            <a:avLst/>
          </a:prstGeom>
          <a:solidFill>
            <a:srgbClr val="FFFFC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00000"/>
                </a:solidFill>
              </a:rPr>
              <a:t>Preliminary</a:t>
            </a:r>
          </a:p>
        </p:txBody>
      </p:sp>
      <p:sp>
        <p:nvSpPr>
          <p:cNvPr id="307" name="TextBox 6"/>
          <p:cNvSpPr txBox="1"/>
          <p:nvPr/>
        </p:nvSpPr>
        <p:spPr>
          <a:xfrm>
            <a:off x="10133644" y="2179050"/>
            <a:ext cx="1597294" cy="101566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111125" marR="0" lvl="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000" i="1">
                <a:solidFill>
                  <a:srgbClr val="000000"/>
                </a:solidFill>
              </a:rPr>
              <a:t>Military Sealift Command job postings substantiate US rates, and commercial operators pay ~10-20% above MSC (</a:t>
            </a:r>
            <a:r>
              <a:rPr lang="en-US" sz="1000" i="1">
                <a:solidFill>
                  <a:srgbClr val="000000"/>
                </a:solidFill>
              </a:rPr>
              <a:t>MSC job postings</a:t>
            </a:r>
            <a:r>
              <a:rPr lang="en-US" sz="1000" i="1">
                <a:solidFill>
                  <a:srgbClr val="000000"/>
                </a:solidFill>
              </a:rPr>
              <a:t>; </a:t>
            </a:r>
            <a:r>
              <a:rPr lang="en-US" sz="1000" i="1">
                <a:solidFill>
                  <a:srgbClr val="000000"/>
                </a:solidFill>
              </a:rPr>
              <a:t>Indeed</a:t>
            </a:r>
            <a:r>
              <a:rPr lang="en-US" sz="1000" i="1">
                <a:solidFill>
                  <a:srgbClr val="000000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itle 3"/>
          <p:cNvSpPr>
            <a:spLocks noGrp="1"/>
          </p:cNvSpPr>
          <p:nvPr>
            <p:ph type="title"/>
          </p:nvPr>
        </p:nvSpPr>
        <p:spPr>
          <a:xfrm>
            <a:off x="452437" y="566399"/>
            <a:ext cx="11283696" cy="640080"/>
          </a:xfrm>
        </p:spPr>
        <p:txBody>
          <a:bodyPr vert="horz" rIns="0"/>
          <a:lstStyle/>
          <a:p>
            <a:pPr marL="0"/>
            <a:r>
              <a:rPr lang="en-US" b="1" dirty="0">
                <a:solidFill>
                  <a:srgbClr val="000000"/>
                </a:solidFill>
              </a:rPr>
              <a:t>Flow Charts</a:t>
            </a:r>
          </a:p>
        </p:txBody>
      </p:sp>
      <p:sp>
        <p:nvSpPr>
          <p:cNvPr id="310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52701" y="263452"/>
            <a:ext cx="5394960" cy="155448"/>
          </a:xfrm>
        </p:spPr>
        <p:txBody>
          <a:bodyPr/>
          <a:lstStyle/>
          <a:p>
            <a:r>
              <a:rPr lang="en-US" b="1"/>
              <a:t>Strategy Materials Style Guide</a:t>
            </a:r>
          </a:p>
        </p:txBody>
      </p:sp>
      <p:sp>
        <p:nvSpPr>
          <p:cNvPr id="2040" name="box"/>
          <p:cNvSpPr/>
          <p:nvPr/>
        </p:nvSpPr>
        <p:spPr>
          <a:xfrm>
            <a:off x="2480928" y="5978984"/>
            <a:ext cx="7427429" cy="453091"/>
          </a:xfrm>
          <a:prstGeom prst="rect">
            <a:avLst/>
          </a:prstGeom>
          <a:solidFill>
            <a:srgbClr val="DFE7EB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1" name="box"/>
          <p:cNvSpPr/>
          <p:nvPr/>
        </p:nvSpPr>
        <p:spPr>
          <a:xfrm>
            <a:off x="1062038" y="1296511"/>
            <a:ext cx="1371600" cy="1097280"/>
          </a:xfrm>
          <a:prstGeom prst="rect">
            <a:avLst/>
          </a:prstGeom>
          <a:solidFill>
            <a:srgbClr val="223E5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US Shipbuilders</a:t>
            </a:r>
          </a:p>
        </p:txBody>
      </p:sp>
      <p:sp>
        <p:nvSpPr>
          <p:cNvPr id="2002" name="box"/>
          <p:cNvSpPr/>
          <p:nvPr/>
        </p:nvSpPr>
        <p:spPr>
          <a:xfrm>
            <a:off x="1062038" y="2623983"/>
            <a:ext cx="1371600" cy="1097280"/>
          </a:xfrm>
          <a:prstGeom prst="rect">
            <a:avLst/>
          </a:prstGeom>
          <a:solidFill>
            <a:srgbClr val="447BB2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US-Built, US-Flagged Vessel Owners / Operators</a:t>
            </a:r>
          </a:p>
        </p:txBody>
      </p:sp>
      <p:sp>
        <p:nvSpPr>
          <p:cNvPr id="2003" name="box"/>
          <p:cNvSpPr/>
          <p:nvPr/>
        </p:nvSpPr>
        <p:spPr>
          <a:xfrm>
            <a:off x="1062038" y="3951455"/>
            <a:ext cx="1371600" cy="1097280"/>
          </a:xfrm>
          <a:prstGeom prst="rect">
            <a:avLst/>
          </a:prstGeom>
          <a:solidFill>
            <a:srgbClr val="99B9D8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200" b="1">
                <a:solidFill>
                  <a:srgbClr val="000000"/>
                </a:solidFill>
              </a:rPr>
              <a:t>US Government</a:t>
            </a:r>
          </a:p>
        </p:txBody>
      </p:sp>
      <p:sp>
        <p:nvSpPr>
          <p:cNvPr id="2004" name="box"/>
          <p:cNvSpPr/>
          <p:nvPr/>
        </p:nvSpPr>
        <p:spPr>
          <a:xfrm>
            <a:off x="1062038" y="5278928"/>
            <a:ext cx="1371600" cy="109728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Foreign Vessel Owners / Operators</a:t>
            </a:r>
          </a:p>
        </p:txBody>
      </p:sp>
      <p:sp>
        <p:nvSpPr>
          <p:cNvPr id="2005" name="box"/>
          <p:cNvSpPr/>
          <p:nvPr/>
        </p:nvSpPr>
        <p:spPr>
          <a:xfrm>
            <a:off x="2509211" y="2623983"/>
            <a:ext cx="2251075" cy="293688"/>
          </a:xfrm>
          <a:prstGeom prst="rect">
            <a:avLst/>
          </a:prstGeom>
          <a:solidFill>
            <a:srgbClr val="447BB2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US Built Ships</a:t>
            </a:r>
          </a:p>
        </p:txBody>
      </p:sp>
      <p:sp>
        <p:nvSpPr>
          <p:cNvPr id="2006" name="box"/>
          <p:cNvSpPr/>
          <p:nvPr/>
        </p:nvSpPr>
        <p:spPr>
          <a:xfrm>
            <a:off x="4835398" y="3951455"/>
            <a:ext cx="2249488" cy="293688"/>
          </a:xfrm>
          <a:prstGeom prst="rect">
            <a:avLst/>
          </a:prstGeom>
          <a:solidFill>
            <a:srgbClr val="3D9970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Capital Subsidies</a:t>
            </a:r>
          </a:p>
        </p:txBody>
      </p:sp>
      <p:sp>
        <p:nvSpPr>
          <p:cNvPr id="2007" name="box"/>
          <p:cNvSpPr/>
          <p:nvPr/>
        </p:nvSpPr>
        <p:spPr>
          <a:xfrm>
            <a:off x="7160458" y="3951455"/>
            <a:ext cx="2249488" cy="293688"/>
          </a:xfrm>
          <a:prstGeom prst="rect">
            <a:avLst/>
          </a:prstGeom>
          <a:solidFill>
            <a:srgbClr val="6DCF9E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</a:rPr>
              <a:t>Operating Subsidies</a:t>
            </a:r>
          </a:p>
        </p:txBody>
      </p:sp>
      <p:sp>
        <p:nvSpPr>
          <p:cNvPr id="2008" name="box"/>
          <p:cNvSpPr/>
          <p:nvPr/>
        </p:nvSpPr>
        <p:spPr>
          <a:xfrm>
            <a:off x="2509210" y="5271939"/>
            <a:ext cx="5488616" cy="293688"/>
          </a:xfrm>
          <a:prstGeom prst="rect">
            <a:avLst/>
          </a:prstGeom>
          <a:solidFill>
            <a:srgbClr val="C00000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Penalties</a:t>
            </a:r>
          </a:p>
        </p:txBody>
      </p:sp>
      <p:sp>
        <p:nvSpPr>
          <p:cNvPr id="2009" name="box"/>
          <p:cNvSpPr/>
          <p:nvPr/>
        </p:nvSpPr>
        <p:spPr>
          <a:xfrm>
            <a:off x="2509210" y="6082520"/>
            <a:ext cx="1737360" cy="293688"/>
          </a:xfrm>
          <a:prstGeom prst="rect">
            <a:avLst/>
          </a:prstGeom>
          <a:solidFill>
            <a:srgbClr val="A6A6A6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PRC owned/operated</a:t>
            </a:r>
          </a:p>
        </p:txBody>
      </p:sp>
      <p:sp>
        <p:nvSpPr>
          <p:cNvPr id="2010" name="box"/>
          <p:cNvSpPr/>
          <p:nvPr/>
        </p:nvSpPr>
        <p:spPr>
          <a:xfrm>
            <a:off x="4384838" y="6082520"/>
            <a:ext cx="1737360" cy="293688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</a:rPr>
              <a:t>50% of orderbook / fleet from PRC</a:t>
            </a:r>
          </a:p>
        </p:txBody>
      </p:sp>
      <p:sp>
        <p:nvSpPr>
          <p:cNvPr id="2011" name="box"/>
          <p:cNvSpPr/>
          <p:nvPr/>
        </p:nvSpPr>
        <p:spPr>
          <a:xfrm>
            <a:off x="6260466" y="6082520"/>
            <a:ext cx="1737360" cy="293688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</a:rPr>
              <a:t>25-49% of orderbook at PRC</a:t>
            </a:r>
          </a:p>
        </p:txBody>
      </p:sp>
      <p:sp>
        <p:nvSpPr>
          <p:cNvPr id="2012" name="box"/>
          <p:cNvSpPr/>
          <p:nvPr/>
        </p:nvSpPr>
        <p:spPr>
          <a:xfrm>
            <a:off x="8039100" y="6082520"/>
            <a:ext cx="1828800" cy="29368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</a:rPr>
              <a:t>Other foreign ship operators</a:t>
            </a:r>
          </a:p>
        </p:txBody>
      </p:sp>
      <p:sp>
        <p:nvSpPr>
          <p:cNvPr id="2013" name="box"/>
          <p:cNvSpPr/>
          <p:nvPr/>
        </p:nvSpPr>
        <p:spPr>
          <a:xfrm>
            <a:off x="2509211" y="4755047"/>
            <a:ext cx="9227946" cy="293688"/>
          </a:xfrm>
          <a:prstGeom prst="rect">
            <a:avLst/>
          </a:prstGeom>
          <a:solidFill>
            <a:srgbClr val="1B4332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Maritime Security Trust Fund </a:t>
            </a:r>
            <a:r>
              <a:rPr lang="en-US" sz="1000" i="1">
                <a:solidFill>
                  <a:srgbClr val="FFFFFF"/>
                </a:solidFill>
              </a:rPr>
              <a:t>($20B cap, appropriations specified from FY26-FY35)</a:t>
            </a:r>
          </a:p>
        </p:txBody>
      </p:sp>
      <p:sp>
        <p:nvSpPr>
          <p:cNvPr id="2014" name="box"/>
          <p:cNvSpPr/>
          <p:nvPr/>
        </p:nvSpPr>
        <p:spPr>
          <a:xfrm>
            <a:off x="7997826" y="2134266"/>
            <a:ext cx="3738024" cy="749241"/>
          </a:xfrm>
          <a:prstGeom prst="rect">
            <a:avLst/>
          </a:prstGeom>
          <a:solidFill>
            <a:srgbClr val="0E1924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Strategic Commercial Fleet (SCF)</a:t>
            </a:r>
            <a:br>
              <a:rPr lang="en-US" sz="1000" b="1">
                <a:solidFill>
                  <a:srgbClr val="FFFFFF"/>
                </a:solidFill>
              </a:rPr>
            </a:br>
            <a:r>
              <a:rPr lang="en-US" sz="1000" i="1">
                <a:solidFill>
                  <a:srgbClr val="FFFFFF"/>
                </a:solidFill>
              </a:rPr>
              <a:t>(250 commercial ships for foreign trade only; </a:t>
            </a:r>
            <a:r>
              <a:rPr lang="en-US" sz="1000" b="1" i="1" u="sng">
                <a:solidFill>
                  <a:srgbClr val="FFFFFF"/>
                </a:solidFill>
              </a:rPr>
              <a:t>permanently ineligible for coastwise trade i.e., Jones Act</a:t>
            </a:r>
            <a:r>
              <a:rPr lang="en-US" sz="1000" i="1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2015" name="box"/>
          <p:cNvSpPr/>
          <p:nvPr/>
        </p:nvSpPr>
        <p:spPr>
          <a:xfrm>
            <a:off x="8038692" y="5271939"/>
            <a:ext cx="1828800" cy="293688"/>
          </a:xfrm>
          <a:prstGeom prst="rect">
            <a:avLst/>
          </a:prstGeom>
          <a:solidFill>
            <a:srgbClr val="FFC000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</a:rPr>
              <a:t>Regular Tonnage Taxes </a:t>
            </a:r>
            <a:br>
              <a:rPr lang="en-US" sz="1000" b="1">
                <a:solidFill>
                  <a:srgbClr val="000000"/>
                </a:solidFill>
              </a:rPr>
            </a:br>
            <a:r>
              <a:rPr lang="en-US" sz="1000" i="1">
                <a:solidFill>
                  <a:srgbClr val="000000"/>
                </a:solidFill>
              </a:rPr>
              <a:t>(Subject to exemptions)</a:t>
            </a:r>
          </a:p>
        </p:txBody>
      </p:sp>
      <p:sp>
        <p:nvSpPr>
          <p:cNvPr id="2016" name="box"/>
          <p:cNvSpPr/>
          <p:nvPr/>
        </p:nvSpPr>
        <p:spPr>
          <a:xfrm>
            <a:off x="9908357" y="5271939"/>
            <a:ext cx="1828800" cy="293688"/>
          </a:xfrm>
          <a:prstGeom prst="rect">
            <a:avLst/>
          </a:prstGeom>
          <a:solidFill>
            <a:srgbClr val="FB6B3C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Cargo Fees ($0.01+ / kg)</a:t>
            </a:r>
            <a:br>
              <a:rPr lang="en-US" sz="1000" b="1">
                <a:solidFill>
                  <a:srgbClr val="FFFFFF"/>
                </a:solidFill>
              </a:rPr>
            </a:br>
            <a:r>
              <a:rPr lang="en-US" sz="1000" i="1">
                <a:solidFill>
                  <a:srgbClr val="FFFFFF"/>
                </a:solidFill>
              </a:rPr>
              <a:t>SHIPS Act “Plus” only</a:t>
            </a:r>
          </a:p>
        </p:txBody>
      </p:sp>
      <p:cxnSp>
        <p:nvCxnSpPr>
          <p:cNvPr id="2017" name="conn"/>
          <p:cNvCxnSpPr>
            <a:cxnSpLocks/>
          </p:cNvCxnSpPr>
          <p:nvPr/>
        </p:nvCxnSpPr>
        <p:spPr>
          <a:xfrm>
            <a:off x="2433638" y="1845151"/>
            <a:ext cx="1201111" cy="778832"/>
          </a:xfrm>
          <a:prstGeom prst="bentConnector2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2019" name="conn"/>
          <p:cNvCxnSpPr>
            <a:cxnSpLocks/>
          </p:cNvCxnSpPr>
          <p:nvPr/>
        </p:nvCxnSpPr>
        <p:spPr>
          <a:xfrm flipV="1">
            <a:off x="1747838" y="2393791"/>
            <a:ext cx="0" cy="230192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2021" name="conn"/>
          <p:cNvCxnSpPr>
            <a:cxnSpLocks/>
          </p:cNvCxnSpPr>
          <p:nvPr/>
        </p:nvCxnSpPr>
        <p:spPr>
          <a:xfrm flipV="1">
            <a:off x="4760286" y="2508887"/>
            <a:ext cx="3237540" cy="261940"/>
          </a:xfrm>
          <a:prstGeom prst="bentConnector3">
            <a:avLst>
              <a:gd name="adj1" fmla="val 50000"/>
            </a:avLst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2023" name="conn"/>
          <p:cNvCxnSpPr>
            <a:cxnSpLocks/>
          </p:cNvCxnSpPr>
          <p:nvPr/>
        </p:nvCxnSpPr>
        <p:spPr>
          <a:xfrm rot="16200000" flipV="1">
            <a:off x="4280554" y="2271866"/>
            <a:ext cx="1033784" cy="2325393"/>
          </a:xfrm>
          <a:prstGeom prst="bentConnector3">
            <a:avLst>
              <a:gd name="adj1" fmla="val 50000"/>
            </a:avLst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2025" name="conn"/>
          <p:cNvCxnSpPr>
            <a:cxnSpLocks/>
          </p:cNvCxnSpPr>
          <p:nvPr/>
        </p:nvCxnSpPr>
        <p:spPr>
          <a:xfrm rot="16200000" flipV="1">
            <a:off x="5443084" y="1109336"/>
            <a:ext cx="1033784" cy="4650453"/>
          </a:xfrm>
          <a:prstGeom prst="bentConnector3">
            <a:avLst>
              <a:gd name="adj1" fmla="val 50000"/>
            </a:avLst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2026" name="conn"/>
          <p:cNvCxnSpPr>
            <a:cxnSpLocks/>
          </p:cNvCxnSpPr>
          <p:nvPr/>
        </p:nvCxnSpPr>
        <p:spPr>
          <a:xfrm rot="16200000" flipV="1">
            <a:off x="6286711" y="3918574"/>
            <a:ext cx="509904" cy="1163042"/>
          </a:xfrm>
          <a:prstGeom prst="bentConnector3">
            <a:avLst>
              <a:gd name="adj1" fmla="val 50000"/>
            </a:avLst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2028" name="conn"/>
          <p:cNvCxnSpPr>
            <a:cxnSpLocks/>
          </p:cNvCxnSpPr>
          <p:nvPr/>
        </p:nvCxnSpPr>
        <p:spPr>
          <a:xfrm rot="5400000" flipH="1" flipV="1">
            <a:off x="7449241" y="3919086"/>
            <a:ext cx="509904" cy="1162018"/>
          </a:xfrm>
          <a:prstGeom prst="bentConnector3">
            <a:avLst>
              <a:gd name="adj1" fmla="val 50000"/>
            </a:avLst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2029" name="conn"/>
          <p:cNvCxnSpPr>
            <a:cxnSpLocks/>
          </p:cNvCxnSpPr>
          <p:nvPr/>
        </p:nvCxnSpPr>
        <p:spPr>
          <a:xfrm rot="5400000" flipH="1" flipV="1">
            <a:off x="6076749" y="4225504"/>
            <a:ext cx="223204" cy="1869666"/>
          </a:xfrm>
          <a:prstGeom prst="bentConnector3">
            <a:avLst>
              <a:gd name="adj1" fmla="val 50000"/>
            </a:avLst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2030" name="conn"/>
          <p:cNvCxnSpPr>
            <a:cxnSpLocks/>
          </p:cNvCxnSpPr>
          <p:nvPr/>
        </p:nvCxnSpPr>
        <p:spPr>
          <a:xfrm rot="16200000" flipV="1">
            <a:off x="7926536" y="4245383"/>
            <a:ext cx="223204" cy="1829908"/>
          </a:xfrm>
          <a:prstGeom prst="bentConnector3">
            <a:avLst>
              <a:gd name="adj1" fmla="val 50000"/>
            </a:avLst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2031" name="conn"/>
          <p:cNvCxnSpPr>
            <a:cxnSpLocks/>
          </p:cNvCxnSpPr>
          <p:nvPr/>
        </p:nvCxnSpPr>
        <p:spPr>
          <a:xfrm rot="16200000" flipV="1">
            <a:off x="8861369" y="3310550"/>
            <a:ext cx="223204" cy="3699573"/>
          </a:xfrm>
          <a:prstGeom prst="bentConnector3">
            <a:avLst>
              <a:gd name="adj1" fmla="val 50000"/>
            </a:avLst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2032" name="conn"/>
          <p:cNvCxnSpPr>
            <a:cxnSpLocks/>
          </p:cNvCxnSpPr>
          <p:nvPr/>
        </p:nvCxnSpPr>
        <p:spPr>
          <a:xfrm rot="5400000" flipH="1" flipV="1">
            <a:off x="4057258" y="4886260"/>
            <a:ext cx="516893" cy="1875628"/>
          </a:xfrm>
          <a:prstGeom prst="bentConnector3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2033" name="conn"/>
          <p:cNvCxnSpPr>
            <a:cxnSpLocks/>
          </p:cNvCxnSpPr>
          <p:nvPr/>
        </p:nvCxnSpPr>
        <p:spPr>
          <a:xfrm rot="16200000" flipV="1">
            <a:off x="5932886" y="4886260"/>
            <a:ext cx="516893" cy="1875628"/>
          </a:xfrm>
          <a:prstGeom prst="bentConnector3">
            <a:avLst>
              <a:gd name="adj1" fmla="val 50000"/>
            </a:avLst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2034" name="conn"/>
          <p:cNvCxnSpPr>
            <a:cxnSpLocks/>
          </p:cNvCxnSpPr>
          <p:nvPr/>
        </p:nvCxnSpPr>
        <p:spPr>
          <a:xfrm flipV="1">
            <a:off x="5253518" y="5565627"/>
            <a:ext cx="0" cy="516893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2036" name="conn"/>
          <p:cNvCxnSpPr>
            <a:cxnSpLocks/>
          </p:cNvCxnSpPr>
          <p:nvPr/>
        </p:nvCxnSpPr>
        <p:spPr>
          <a:xfrm flipH="1" flipV="1">
            <a:off x="8953092" y="5565627"/>
            <a:ext cx="408" cy="516893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2038" name="conn"/>
          <p:cNvCxnSpPr>
            <a:cxnSpLocks/>
          </p:cNvCxnSpPr>
          <p:nvPr/>
        </p:nvCxnSpPr>
        <p:spPr>
          <a:xfrm flipV="1">
            <a:off x="9908357" y="5565627"/>
            <a:ext cx="914400" cy="639903"/>
          </a:xfrm>
          <a:prstGeom prst="bentConnector2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2018" name="box"/>
          <p:cNvSpPr/>
          <p:nvPr/>
        </p:nvSpPr>
        <p:spPr>
          <a:xfrm>
            <a:off x="2719942" y="1762261"/>
            <a:ext cx="552929" cy="16577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rtlCol="0" anchor="ctr"/>
          <a:lstStyle/>
          <a:p>
            <a:pPr algn="ctr"/>
            <a:r>
              <a:rPr lang="en-US" sz="1000" i="1">
                <a:solidFill>
                  <a:srgbClr val="000000"/>
                </a:solidFill>
              </a:rPr>
              <a:t>Sells</a:t>
            </a:r>
          </a:p>
        </p:txBody>
      </p:sp>
      <p:sp>
        <p:nvSpPr>
          <p:cNvPr id="2024" name="box"/>
          <p:cNvSpPr/>
          <p:nvPr/>
        </p:nvSpPr>
        <p:spPr>
          <a:xfrm>
            <a:off x="4834835" y="3554575"/>
            <a:ext cx="4575112" cy="16668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rtlCol="0" anchor="ctr"/>
          <a:lstStyle/>
          <a:p>
            <a:pPr algn="ctr"/>
            <a:r>
              <a:rPr lang="en-US" sz="1000" i="1">
                <a:solidFill>
                  <a:srgbClr val="000000"/>
                </a:solidFill>
              </a:rPr>
              <a:t>Paid to US vessel owner / operators for each ship in SCF</a:t>
            </a:r>
          </a:p>
        </p:txBody>
      </p:sp>
      <p:sp>
        <p:nvSpPr>
          <p:cNvPr id="2027" name="box"/>
          <p:cNvSpPr/>
          <p:nvPr/>
        </p:nvSpPr>
        <p:spPr>
          <a:xfrm>
            <a:off x="5998440" y="4538341"/>
            <a:ext cx="2249488" cy="16668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rtlCol="0" anchor="ctr"/>
          <a:lstStyle/>
          <a:p>
            <a:pPr algn="ctr"/>
            <a:r>
              <a:rPr lang="en-US" sz="1000" i="1">
                <a:solidFill>
                  <a:srgbClr val="000000"/>
                </a:solidFill>
              </a:rPr>
              <a:t>Disburses</a:t>
            </a:r>
          </a:p>
        </p:txBody>
      </p:sp>
      <p:sp>
        <p:nvSpPr>
          <p:cNvPr id="2022" name="box"/>
          <p:cNvSpPr/>
          <p:nvPr/>
        </p:nvSpPr>
        <p:spPr>
          <a:xfrm>
            <a:off x="5749236" y="2548269"/>
            <a:ext cx="1320347" cy="18064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rtlCol="0" anchor="ctr"/>
          <a:lstStyle/>
          <a:p>
            <a:pPr algn="ctr"/>
            <a:r>
              <a:rPr lang="en-US" sz="1000" i="1">
                <a:solidFill>
                  <a:srgbClr val="000000"/>
                </a:solidFill>
              </a:rPr>
              <a:t>Placed into service </a:t>
            </a:r>
          </a:p>
        </p:txBody>
      </p:sp>
      <p:sp>
        <p:nvSpPr>
          <p:cNvPr id="2020" name="box"/>
          <p:cNvSpPr/>
          <p:nvPr/>
        </p:nvSpPr>
        <p:spPr>
          <a:xfrm>
            <a:off x="1878596" y="2423463"/>
            <a:ext cx="552929" cy="16577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rtlCol="0" anchor="ctr"/>
          <a:lstStyle/>
          <a:p>
            <a:pPr algn="ctr"/>
            <a:r>
              <a:rPr lang="en-US" sz="1000" i="1">
                <a:solidFill>
                  <a:srgbClr val="000000"/>
                </a:solidFill>
              </a:rPr>
              <a:t>Buys</a:t>
            </a:r>
          </a:p>
        </p:txBody>
      </p:sp>
      <p:sp>
        <p:nvSpPr>
          <p:cNvPr id="2035" name="box"/>
          <p:cNvSpPr/>
          <p:nvPr/>
        </p:nvSpPr>
        <p:spPr>
          <a:xfrm>
            <a:off x="4972501" y="5746212"/>
            <a:ext cx="562035" cy="16668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rtlCol="0" anchor="ctr"/>
          <a:lstStyle/>
          <a:p>
            <a:pPr algn="ctr"/>
            <a:r>
              <a:rPr lang="en-US" sz="1000" i="1">
                <a:solidFill>
                  <a:srgbClr val="000000"/>
                </a:solidFill>
              </a:rPr>
              <a:t>Pays</a:t>
            </a:r>
          </a:p>
        </p:txBody>
      </p:sp>
      <p:sp>
        <p:nvSpPr>
          <p:cNvPr id="2037" name="box"/>
          <p:cNvSpPr/>
          <p:nvPr/>
        </p:nvSpPr>
        <p:spPr>
          <a:xfrm>
            <a:off x="8672075" y="5746212"/>
            <a:ext cx="562035" cy="16668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rtlCol="0" anchor="ctr"/>
          <a:lstStyle/>
          <a:p>
            <a:pPr algn="ctr"/>
            <a:r>
              <a:rPr lang="en-US" sz="1000" i="1">
                <a:solidFill>
                  <a:srgbClr val="000000"/>
                </a:solidFill>
              </a:rPr>
              <a:t>Pays</a:t>
            </a:r>
          </a:p>
        </p:txBody>
      </p:sp>
      <p:sp>
        <p:nvSpPr>
          <p:cNvPr id="2039" name="box"/>
          <p:cNvSpPr/>
          <p:nvPr/>
        </p:nvSpPr>
        <p:spPr>
          <a:xfrm>
            <a:off x="10496020" y="5740729"/>
            <a:ext cx="562035" cy="16668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rtlCol="0" anchor="ctr"/>
          <a:lstStyle/>
          <a:p>
            <a:pPr algn="ctr"/>
            <a:r>
              <a:rPr lang="en-US" sz="1000" i="1">
                <a:solidFill>
                  <a:srgbClr val="000000"/>
                </a:solidFill>
              </a:rPr>
              <a:t>Pays</a:t>
            </a:r>
          </a:p>
        </p:txBody>
      </p:sp>
      <p:sp>
        <p:nvSpPr>
          <p:cNvPr id="2041" name="box"/>
          <p:cNvSpPr/>
          <p:nvPr/>
        </p:nvSpPr>
        <p:spPr>
          <a:xfrm>
            <a:off x="158654" y="6082520"/>
            <a:ext cx="756272" cy="293688"/>
          </a:xfrm>
          <a:prstGeom prst="rect">
            <a:avLst/>
          </a:prstGeom>
          <a:noFill/>
          <a:ln w="12700">
            <a:noFill/>
          </a:ln>
        </p:spPr>
        <p:txBody>
          <a:bodyPr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</a:rPr>
              <a:t>+ ROW</a:t>
            </a:r>
          </a:p>
        </p:txBody>
      </p:sp>
      <p:sp>
        <p:nvSpPr>
          <p:cNvPr id="2042" name="box"/>
          <p:cNvSpPr/>
          <p:nvPr/>
        </p:nvSpPr>
        <p:spPr>
          <a:xfrm>
            <a:off x="127318" y="1024477"/>
            <a:ext cx="2816720" cy="224437"/>
          </a:xfrm>
          <a:prstGeom prst="rect">
            <a:avLst/>
          </a:prstGeom>
          <a:noFill/>
          <a:ln w="12700">
            <a:noFill/>
          </a:ln>
        </p:spPr>
        <p:txBody>
          <a:bodyPr rtlCol="0" anchor="ctr"/>
          <a:lstStyle/>
          <a:p>
            <a:r>
              <a:rPr lang="en-US" sz="1000" i="1">
                <a:solidFill>
                  <a:srgbClr val="000000"/>
                </a:solidFill>
              </a:rPr>
              <a:t>Chart reads from bottom to top</a:t>
            </a:r>
          </a:p>
        </p:txBody>
      </p:sp>
      <p:sp>
        <p:nvSpPr>
          <p:cNvPr id="2043" name="box"/>
          <p:cNvSpPr/>
          <p:nvPr/>
        </p:nvSpPr>
        <p:spPr>
          <a:xfrm>
            <a:off x="8919131" y="1296511"/>
            <a:ext cx="2816720" cy="54406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1000" i="1">
                <a:solidFill>
                  <a:srgbClr val="000000"/>
                </a:solidFill>
              </a:rPr>
              <a:t>Vessel and Shipyard Investment Tax Credits (40% and 25%, respectively) from Building Ships in America Act not shown</a:t>
            </a:r>
          </a:p>
        </p:txBody>
      </p:sp>
      <p:sp>
        <p:nvSpPr>
          <p:cNvPr id="2044" name="callout"/>
          <p:cNvSpPr/>
          <p:nvPr/>
        </p:nvSpPr>
        <p:spPr>
          <a:xfrm>
            <a:off x="4215618" y="1986880"/>
            <a:ext cx="1790366" cy="466140"/>
          </a:xfrm>
          <a:prstGeom prst="wedgeRectCallout">
            <a:avLst>
              <a:gd name="adj1" fmla="val 41650"/>
              <a:gd name="adj2" fmla="val 74944"/>
            </a:avLst>
          </a:prstGeom>
          <a:noFill/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800" i="1">
                <a:solidFill>
                  <a:srgbClr val="000000"/>
                </a:solidFill>
              </a:rPr>
              <a:t>US crew required to participate in SCF, which states vessels will be crewed IAW 46 USC 8103 </a:t>
            </a:r>
          </a:p>
        </p:txBody>
      </p:sp>
      <p:sp>
        <p:nvSpPr>
          <p:cNvPr id="2045" name="box"/>
          <p:cNvSpPr/>
          <p:nvPr/>
        </p:nvSpPr>
        <p:spPr>
          <a:xfrm>
            <a:off x="262470" y="5644688"/>
            <a:ext cx="5486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800" i="1">
                <a:solidFill>
                  <a:srgbClr val="7F7F7F"/>
                </a:solidFill>
              </a:rPr>
              <a:t>flag</a:t>
            </a:r>
          </a:p>
        </p:txBody>
      </p:sp>
      <p:sp>
        <p:nvSpPr>
          <p:cNvPr id="2046" name="box"/>
          <p:cNvSpPr/>
          <p:nvPr/>
        </p:nvSpPr>
        <p:spPr>
          <a:xfrm>
            <a:off x="189481" y="1662271"/>
            <a:ext cx="694619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800" i="1">
                <a:solidFill>
                  <a:srgbClr val="7F7F7F"/>
                </a:solidFill>
              </a:rPr>
              <a:t>flag</a:t>
            </a:r>
          </a:p>
        </p:txBody>
      </p:sp>
      <p:sp>
        <p:nvSpPr>
          <p:cNvPr id="2047" name="box"/>
          <p:cNvSpPr/>
          <p:nvPr/>
        </p:nvSpPr>
        <p:spPr>
          <a:xfrm>
            <a:off x="189481" y="2989743"/>
            <a:ext cx="694619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800" i="1">
                <a:solidFill>
                  <a:srgbClr val="7F7F7F"/>
                </a:solidFill>
              </a:rPr>
              <a:t>flag</a:t>
            </a:r>
          </a:p>
        </p:txBody>
      </p:sp>
      <p:sp>
        <p:nvSpPr>
          <p:cNvPr id="2048" name="box"/>
          <p:cNvSpPr/>
          <p:nvPr/>
        </p:nvSpPr>
        <p:spPr>
          <a:xfrm>
            <a:off x="189481" y="4317215"/>
            <a:ext cx="694619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r>
              <a:rPr lang="en-US" sz="800" i="1">
                <a:solidFill>
                  <a:srgbClr val="7F7F7F"/>
                </a:solidFill>
              </a:rPr>
              <a:t>flag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deck_gso_JM</Application>
  <PresentationFormat>Widescreen</PresentationFormat>
  <Slides>5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GS&amp;O Strategy Materials Style Guide (faithful port)</dc:title>
  <dc:creator>deck_gso_JM build_deck.py</dc:creator>
  <cp:lastModifiedBy>deck_gso_JM build_deck.py</cp:lastModifiedBy>
  <cp:revision>1</cp:revision>
  <dcterms:created xsi:type="dcterms:W3CDTF">2026-06-17T01:35:37Z</dcterms:created>
  <dcterms:modified xsi:type="dcterms:W3CDTF">2026-06-17T01:35:37Z</dcterms:modified>
</cp:coreProperties>
</file>