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embeddings/Microsoft_Excel_BinaryWorksheet1.xlsb" ContentType="application/vnd.ms-excel.sheet.binary.macroEnabled.12"/>
  <Override PartName="/ppt/embeddings/Microsoft_Excel_BinaryWorksheet2.xlsb" ContentType="application/vnd.ms-excel.sheet.binary.macroEnabled.12"/>
  <Override PartName="/ppt/embeddings/Microsoft_Excel_BinaryWorksheet3.xlsb" ContentType="application/vnd.ms-excel.sheet.binary.macroEnabled.12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1.xlsb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2.xlsb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3.xlsb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205354117248397E-2"/>
          <c:y val="5.274888558692422E-2"/>
          <c:w val="0.88817350050830224"/>
          <c:h val="0.894502228826151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777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0CD1-4ADB-8D43-79E362BCC464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0CD1-4ADB-8D43-79E362BCC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124</c:v>
                </c:pt>
                <c:pt idx="1">
                  <c:v>46</c:v>
                </c:pt>
              </c:numCache>
            </c:numRef>
          </c:val>
          <c:extLst>
            <c:ext uri="{C3380CC4-5D6E-409C-BE32-E72D297353CC}">
              <c16:uniqueId val="{00000002-0CD1-4ADB-8D43-79E362BCC464}"/>
            </c:ext>
          </c:extLst>
        </c:ser>
        <c:ser>
          <c:idx val="1"/>
          <c:order val="1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3-0CD1-4ADB-8D43-79E362BCC464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4-0CD1-4ADB-8D43-79E362BCC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46</c:v>
                </c:pt>
                <c:pt idx="1">
                  <c:v>41</c:v>
                </c:pt>
              </c:numCache>
            </c:numRef>
          </c:val>
          <c:extLst>
            <c:ext uri="{C3380CC4-5D6E-409C-BE32-E72D297353CC}">
              <c16:uniqueId val="{00000005-0CD1-4ADB-8D43-79E362BCC464}"/>
            </c:ext>
          </c:extLst>
        </c:ser>
        <c:ser>
          <c:idx val="2"/>
          <c:order val="2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7147102526002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6-0CD1-4ADB-8D43-79E362BCC464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7-0CD1-4ADB-8D43-79E362BCC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18</c:v>
                </c:pt>
                <c:pt idx="1">
                  <c:v>15</c:v>
                </c:pt>
              </c:numCache>
            </c:numRef>
          </c:val>
          <c:extLst>
            <c:ext uri="{C3380CC4-5D6E-409C-BE32-E72D297353CC}">
              <c16:uniqueId val="{00000008-0CD1-4ADB-8D43-79E362BCC464}"/>
            </c:ext>
          </c:extLst>
        </c:ser>
        <c:ser>
          <c:idx val="3"/>
          <c:order val="3"/>
          <c:spPr>
            <a:solidFill>
              <a:srgbClr val="969696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uri="{C3380CC4-5D6E-409C-BE32-E72D297353CC}">
                <c16:uniqueId val="{00000009-0CD1-4ADB-8D43-79E362BCC464}"/>
              </c:ext>
            </c:extLst>
          </c:dPt>
          <c:dLbls>
            <c:dLbl>
              <c:idx val="0"/>
              <c:layout>
                <c:manualLayout>
                  <c:x val="-6.1674008810572688E-2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A-0CD1-4ADB-8D43-79E362BCC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Sheet1!$A$4:$B$4</c:f>
              <c:numCache>
                <c:formatCode>General</c:formatCode>
                <c:ptCount val="2"/>
                <c:pt idx="0">
                  <c:v>9</c:v>
                </c:pt>
                <c:pt idx="1">
                  <c:v>1</c:v>
                </c:pt>
              </c:numCache>
            </c:numRef>
          </c:val>
          <c:extLst>
            <c:ext uri="{C3380CC4-5D6E-409C-BE32-E72D297353CC}">
              <c16:uniqueId val="{0000000B-0CD1-4ADB-8D43-79E362BCC464}"/>
            </c:ext>
          </c:extLst>
        </c:ser>
        <c:ser>
          <c:idx val="4"/>
          <c:order val="4"/>
          <c:spPr>
            <a:solidFill>
              <a:srgbClr val="00000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uri="{C3380CC4-5D6E-409C-BE32-E72D297353CC}">
                <c16:uniqueId val="{0000000C-0CD1-4ADB-8D43-79E362BCC464}"/>
              </c:ext>
            </c:extLst>
          </c:dPt>
          <c:val>
            <c:numRef>
              <c:f>Sheet1!$A$5:$B$5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uri="{C3380CC4-5D6E-409C-BE32-E72D297353CC}">
              <c16:uniqueId val="{0000000D-0CD1-4ADB-8D43-79E362BCC464}"/>
            </c:ext>
          </c:extLst>
        </c:ser>
        <c:ser>
          <c:idx val="5"/>
          <c:order val="5"/>
          <c:spPr>
            <a:solidFill>
              <a:srgbClr val="00000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3825821755337173"/>
                  <c:y val="1.485884101040118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E-0CD1-4ADB-8D43-79E362BCC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Sheet1!$A$6:$B$6</c:f>
              <c:numCache>
                <c:formatCode>General</c:formatCode>
                <c:ptCount val="2"/>
                <c:pt idx="0">
                  <c:v>1</c:v>
                </c:pt>
              </c:numCache>
            </c:numRef>
          </c:val>
          <c:extLst>
            <c:ext uri="{C3380CC4-5D6E-409C-BE32-E72D297353CC}">
              <c16:uniqueId val="{0000000F-0CD1-4ADB-8D43-79E362BCC464}"/>
            </c:ext>
          </c:extLst>
        </c:ser>
        <c:ser>
          <c:idx val="6"/>
          <c:order val="6"/>
          <c:spPr>
            <a:pattFill prst="lt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3825821755337173"/>
                  <c:y val="-1.485884101040118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0-0CD1-4ADB-8D43-79E362BCC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Sheet1!$A$7:$B$7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uri="{C3380CC4-5D6E-409C-BE32-E72D297353CC}">
              <c16:uniqueId val="{00000011-0CD1-4ADB-8D43-79E362BCC4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88775647"/>
        <c:axId val="1"/>
      </c:barChart>
      <c:catAx>
        <c:axId val="12887756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775647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214530714062987E-2"/>
          <c:y val="2.1968736797634135E-2"/>
          <c:w val="0.96757093857187404"/>
          <c:h val="0.9560625264047317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57.1429</c:v>
                </c:pt>
              </c:numCache>
            </c:numRef>
          </c:val>
          <c:extLst>
            <c:ext uri="{C3380CC4-5D6E-409C-BE32-E72D297353CC}">
              <c16:uniqueId val="{00000000-66F7-4CB8-912F-3FF030C3DEB8}"/>
            </c:ext>
          </c:extLst>
        </c:ser>
        <c:ser>
          <c:idx val="1"/>
          <c:order val="1"/>
          <c:spPr>
            <a:solidFill>
              <a:srgbClr val="4C6C9C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10.2041</c:v>
                </c:pt>
              </c:numCache>
            </c:numRef>
          </c:val>
          <c:extLst>
            <c:ext uri="{C3380CC4-5D6E-409C-BE32-E72D297353CC}">
              <c16:uniqueId val="{00000001-66F7-4CB8-912F-3FF030C3DEB8}"/>
            </c:ext>
          </c:extLst>
        </c:ser>
        <c:ser>
          <c:idx val="2"/>
          <c:order val="2"/>
          <c:spPr>
            <a:solidFill>
              <a:srgbClr val="808080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16.3265</c:v>
                </c:pt>
              </c:numCache>
            </c:numRef>
          </c:val>
          <c:extLst>
            <c:ext uri="{C3380CC4-5D6E-409C-BE32-E72D297353CC}">
              <c16:uniqueId val="{00000002-66F7-4CB8-912F-3FF030C3DEB8}"/>
            </c:ext>
          </c:extLst>
        </c:ser>
        <c:ser>
          <c:idx val="3"/>
          <c:order val="3"/>
          <c:spPr>
            <a:solidFill>
              <a:srgbClr val="808080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Sheet1!$A$4</c:f>
              <c:numCache>
                <c:formatCode>General</c:formatCode>
                <c:ptCount val="1"/>
                <c:pt idx="0">
                  <c:v>10.2041</c:v>
                </c:pt>
              </c:numCache>
            </c:numRef>
          </c:val>
          <c:extLst>
            <c:ext uri="{C3380CC4-5D6E-409C-BE32-E72D297353CC}">
              <c16:uniqueId val="{00000003-66F7-4CB8-912F-3FF030C3DEB8}"/>
            </c:ext>
          </c:extLst>
        </c:ser>
        <c:ser>
          <c:idx val="4"/>
          <c:order val="4"/>
          <c:spPr>
            <a:solidFill>
              <a:srgbClr val="C0C0C0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Sheet1!$A$5</c:f>
              <c:numCache>
                <c:formatCode>General</c:formatCode>
                <c:ptCount val="1"/>
                <c:pt idx="0">
                  <c:v>2.0408</c:v>
                </c:pt>
              </c:numCache>
            </c:numRef>
          </c:val>
          <c:extLst>
            <c:ext uri="{C3380CC4-5D6E-409C-BE32-E72D297353CC}">
              <c16:uniqueId val="{00000004-66F7-4CB8-912F-3FF030C3DEB8}"/>
            </c:ext>
          </c:extLst>
        </c:ser>
        <c:ser>
          <c:idx val="5"/>
          <c:order val="5"/>
          <c:spPr>
            <a:solidFill>
              <a:srgbClr val="C0C0C0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Sheet1!$A$6</c:f>
              <c:numCache>
                <c:formatCode>General</c:formatCode>
                <c:ptCount val="1"/>
                <c:pt idx="0">
                  <c:v>4.0816</c:v>
                </c:pt>
              </c:numCache>
            </c:numRef>
          </c:val>
          <c:extLst>
            <c:ext uri="{C3380CC4-5D6E-409C-BE32-E72D297353CC}">
              <c16:uniqueId val="{00000005-66F7-4CB8-912F-3FF030C3DEB8}"/>
            </c:ext>
          </c:extLst>
        </c:ser>
        <c:ser>
          <c:idx val="6"/>
          <c:order val="6"/>
          <c:spPr>
            <a:solidFill>
              <a:srgbClr val="FFFFFF"/>
            </a:solidFill>
            <a:ln w="3175" cmpd="sng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Sheet1!$A$7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uri="{C3380CC4-5D6E-409C-BE32-E72D297353CC}">
              <c16:uniqueId val="{00000006-66F7-4CB8-912F-3FF030C3DE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1521882447"/>
        <c:axId val="1"/>
      </c:barChart>
      <c:catAx>
        <c:axId val="15218824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0.0000000000000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152188244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29147244310392E-3"/>
          <c:y val="4.4105173876166241E-2"/>
          <c:w val="0.98574170551137918"/>
          <c:h val="0.911789652247667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E91B1"/>
              </a:solidFill>
              <a:ln>
                <a:noFill/>
              </a:ln>
            </c:spPr>
            <c:extLst>
              <c:ext uri="{C3380CC4-5D6E-409C-BE32-E72D297353CC}">
                <c16:uniqueId val="{00000000-FF9A-4B1A-B387-73938E72BA1C}"/>
              </c:ext>
            </c:extLst>
          </c:dPt>
          <c:dPt>
            <c:idx val="2"/>
            <c:invertIfNegative val="0"/>
            <c:bubble3D val="0"/>
            <c:spPr>
              <a:solidFill>
                <a:srgbClr val="3D5972"/>
              </a:solidFill>
              <a:ln>
                <a:noFill/>
              </a:ln>
            </c:spPr>
            <c:extLst>
              <c:ext uri="{C3380CC4-5D6E-409C-BE32-E72D297353CC}">
                <c16:uniqueId val="{00000001-FF9A-4B1A-B387-73938E72BA1C}"/>
              </c:ext>
            </c:extLst>
          </c:dPt>
          <c:dPt>
            <c:idx val="5"/>
            <c:invertIfNegative val="0"/>
            <c:bubble3D val="0"/>
            <c:spPr>
              <a:solidFill>
                <a:srgbClr val="263746"/>
              </a:solidFill>
              <a:ln>
                <a:noFill/>
              </a:ln>
            </c:spPr>
            <c:extLst>
              <c:ext uri="{C3380CC4-5D6E-409C-BE32-E72D297353CC}">
                <c16:uniqueId val="{00000002-FF9A-4B1A-B387-73938E72BA1C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400</c:v>
                </c:pt>
                <c:pt idx="1">
                  <c:v>200</c:v>
                </c:pt>
                <c:pt idx="2">
                  <c:v>200</c:v>
                </c:pt>
                <c:pt idx="3">
                  <c:v>190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extLst>
            <c:ext uri="{C3380CC4-5D6E-409C-BE32-E72D297353CC}">
              <c16:uniqueId val="{00000003-FF9A-4B1A-B387-73938E72BA1C}"/>
            </c:ext>
          </c:extLst>
        </c:ser>
        <c:ser>
          <c:idx val="1"/>
          <c:order val="1"/>
          <c:spPr>
            <a:solidFill>
              <a:srgbClr val="263746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4-FF9A-4B1A-B387-73938E72BA1C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1">
                  <c:v>200</c:v>
                </c:pt>
                <c:pt idx="3">
                  <c:v>10</c:v>
                </c:pt>
                <c:pt idx="4">
                  <c:v>90</c:v>
                </c:pt>
              </c:numCache>
            </c:numRef>
          </c:val>
          <c:extLst>
            <c:ext uri="{C3380CC4-5D6E-409C-BE32-E72D297353CC}">
              <c16:uniqueId val="{00000005-FF9A-4B1A-B387-73938E72BA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23976575"/>
        <c:axId val="1"/>
      </c:barChart>
      <c:catAx>
        <c:axId val="14239765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239765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_9f2e24d3.png"/><Relationship Id="rId3" Type="http://schemas.openxmlformats.org/officeDocument/2006/relationships/image" Target="../media/image7_f6006d1c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_672efe4b.png"/><Relationship Id="rId3" Type="http://schemas.openxmlformats.org/officeDocument/2006/relationships/image" Target="../media/image14_1bf4c99e.png"/><Relationship Id="rId4" Type="http://schemas.openxmlformats.org/officeDocument/2006/relationships/image" Target="../media/image15_25624857.png"/><Relationship Id="rId5" Type="http://schemas.openxmlformats.org/officeDocument/2006/relationships/image" Target="../media/image16_da5f3708.png"/><Relationship Id="rId6" Type="http://schemas.openxmlformats.org/officeDocument/2006/relationships/image" Target="../media/image17_f373f1da.png"/><Relationship Id="rId7" Type="http://schemas.openxmlformats.org/officeDocument/2006/relationships/image" Target="../media/image18_ddebb15f.png"/><Relationship Id="rId8" Type="http://schemas.openxmlformats.org/officeDocument/2006/relationships/image" Target="../media/image19_84003496.png"/><Relationship Id="rId9" Type="http://schemas.openxmlformats.org/officeDocument/2006/relationships/image" Target="../media/image21_0bacf462.png"/><Relationship Id="rId10" Type="http://schemas.openxmlformats.org/officeDocument/2006/relationships/image" Target="../media/image22_9fb945dc.png"/><Relationship Id="rId11" Type="http://schemas.openxmlformats.org/officeDocument/2006/relationships/image" Target="../media/image23_03c42e94.png"/><Relationship Id="rId12" Type="http://schemas.openxmlformats.org/officeDocument/2006/relationships/image" Target="../media/image24_2778926d.png"/><Relationship Id="rId13" Type="http://schemas.openxmlformats.org/officeDocument/2006/relationships/image" Target="../media/image25_bd50af1e.png"/><Relationship Id="rId14" Type="http://schemas.openxmlformats.org/officeDocument/2006/relationships/image" Target="../media/image26_8d2caa7b.png"/><Relationship Id="rId15" Type="http://schemas.openxmlformats.org/officeDocument/2006/relationships/image" Target="../media/image27_768e13fd.png"/><Relationship Id="rId16" Type="http://schemas.openxmlformats.org/officeDocument/2006/relationships/image" Target="../media/image28_9cbe8d79.png"/><Relationship Id="rId17" Type="http://schemas.openxmlformats.org/officeDocument/2006/relationships/image" Target="../media/image29_4d22badb.png"/><Relationship Id="rId18" Type="http://schemas.openxmlformats.org/officeDocument/2006/relationships/image" Target="../media/image30_ee91678f.png"/><Relationship Id="rId19" Type="http://schemas.openxmlformats.org/officeDocument/2006/relationships/image" Target="../media/image31_98d329b1.png"/><Relationship Id="rId20" Type="http://schemas.openxmlformats.org/officeDocument/2006/relationships/image" Target="../media/image32_251526d6.png"/><Relationship Id="rId21" Type="http://schemas.openxmlformats.org/officeDocument/2006/relationships/image" Target="../media/image33_f545c301.png"/><Relationship Id="rId22" Type="http://schemas.openxmlformats.org/officeDocument/2006/relationships/image" Target="../media/image34_75574897.jpeg"/><Relationship Id="rId23" Type="http://schemas.openxmlformats.org/officeDocument/2006/relationships/image" Target="../media/image35_b95a7460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_3071a231.jpe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_3071a231.jpe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_3071a231.jpe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image" Target="../media/image8_3071a231.jpe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_3071a2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203"/>
          <p:cNvSpPr txBox="1"/>
          <p:nvPr/>
        </p:nvSpPr>
        <p:spPr>
          <a:xfrm>
            <a:off x="2480767" y="5979262"/>
            <a:ext cx="7427671" cy="453542"/>
          </a:xfrm>
          <a:prstGeom prst="rect">
            <a:avLst/>
          </a:prstGeom>
          <a:solidFill>
            <a:srgbClr val="DFE7EB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SHIPS Act Overview | Foreign penalties fund domestic Strategic Commercial Fleet (SCF) build-out.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US-Built Ship Demand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With SHIPS Act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8039405" y="6082589"/>
            <a:ext cx="1828800" cy="293522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foreign ship operators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7160666" y="3951122"/>
            <a:ext cx="2249424" cy="293522"/>
          </a:xfrm>
          <a:prstGeom prst="rect">
            <a:avLst/>
          </a:prstGeom>
          <a:solidFill>
            <a:srgbClr val="6DCF9E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Operating Subsidies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6260897" y="6082589"/>
            <a:ext cx="1737360" cy="293522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25-49% of orderbook at PRC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4384548" y="6082589"/>
            <a:ext cx="1737360" cy="293522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50% of orderbook / fleet from PRC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4835347" y="3951122"/>
            <a:ext cx="2249424" cy="293522"/>
          </a:xfrm>
          <a:prstGeom prst="rect">
            <a:avLst/>
          </a:prstGeom>
          <a:solidFill>
            <a:srgbClr val="3D997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Capital Subsidies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2509114" y="2624328"/>
            <a:ext cx="2251253" cy="293522"/>
          </a:xfrm>
          <a:prstGeom prst="rect">
            <a:avLst/>
          </a:prstGeom>
          <a:solidFill>
            <a:srgbClr val="447BB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 Built Ships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2509114" y="5271516"/>
            <a:ext cx="5488229" cy="293522"/>
          </a:xfrm>
          <a:prstGeom prst="rect">
            <a:avLst/>
          </a:prstGeom>
          <a:solidFill>
            <a:srgbClr val="C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Penalties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2509114" y="6082589"/>
            <a:ext cx="1737360" cy="293522"/>
          </a:xfrm>
          <a:prstGeom prst="rect">
            <a:avLst/>
          </a:prstGeom>
          <a:solidFill>
            <a:srgbClr val="A6A6A6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PRC owned/operated</a:t>
            </a:r>
          </a:p>
        </p:txBody>
      </p:sp>
      <p:sp>
        <p:nvSpPr>
          <p:cNvPr id="109" name="Rectangle 20"/>
          <p:cNvSpPr txBox="1"/>
          <p:nvPr/>
        </p:nvSpPr>
        <p:spPr>
          <a:xfrm>
            <a:off x="8038490" y="5271516"/>
            <a:ext cx="1828800" cy="293522"/>
          </a:xfrm>
          <a:prstGeom prst="rect">
            <a:avLst/>
          </a:prstGeom>
          <a:solidFill>
            <a:srgbClr val="FFC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Regular Tonnage Taxes </a:t>
            </a:r>
            <a:br/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(Subject to exemptions)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1061618" y="1296619"/>
            <a:ext cx="1371600" cy="1097280"/>
          </a:xfrm>
          <a:prstGeom prst="rect">
            <a:avLst/>
          </a:prstGeom>
          <a:solidFill>
            <a:srgbClr val="223E59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 Shipbuilders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1061618" y="2624328"/>
            <a:ext cx="1371600" cy="1097280"/>
          </a:xfrm>
          <a:prstGeom prst="rect">
            <a:avLst/>
          </a:prstGeom>
          <a:solidFill>
            <a:srgbClr val="447BB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US-Built, US-Flagged Vessel Owners / Operators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1061618" y="5278831"/>
            <a:ext cx="1371600" cy="109728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Foreign Vessel Owners / Operators</a:t>
            </a:r>
          </a:p>
        </p:txBody>
      </p:sp>
      <p:pic>
        <p:nvPicPr>
          <p:cNvPr id="11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3" y="5644591"/>
            <a:ext cx="548640" cy="365760"/>
          </a:xfrm>
          <a:prstGeom prst="rect">
            <a:avLst/>
          </a:prstGeom>
        </p:spPr>
      </p:pic>
      <p:pic>
        <p:nvPicPr>
          <p:cNvPr id="114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1" y="1662379"/>
            <a:ext cx="694944" cy="365760"/>
          </a:xfrm>
          <a:prstGeom prst="rect">
            <a:avLst/>
          </a:prstGeom>
        </p:spPr>
      </p:pic>
      <p:sp>
        <p:nvSpPr>
          <p:cNvPr id="115" name="Rectangle 37"/>
          <p:cNvSpPr txBox="1"/>
          <p:nvPr/>
        </p:nvSpPr>
        <p:spPr>
          <a:xfrm>
            <a:off x="1061618" y="3951122"/>
            <a:ext cx="1371600" cy="1097280"/>
          </a:xfrm>
          <a:prstGeom prst="rect">
            <a:avLst/>
          </a:prstGeom>
          <a:solidFill>
            <a:srgbClr val="99B9D8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 Government</a:t>
            </a:r>
          </a:p>
        </p:txBody>
      </p:sp>
      <p:sp>
        <p:nvSpPr>
          <p:cNvPr id="116" name="Rectangle 39"/>
          <p:cNvSpPr txBox="1"/>
          <p:nvPr/>
        </p:nvSpPr>
        <p:spPr>
          <a:xfrm>
            <a:off x="2509114" y="4754880"/>
            <a:ext cx="9228125" cy="293522"/>
          </a:xfrm>
          <a:prstGeom prst="rect">
            <a:avLst/>
          </a:prstGeom>
          <a:solidFill>
            <a:srgbClr val="1B43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Maritime Security Trust Fund </a:t>
            </a:r>
            <a:r>
              <a:rPr lang="en-US" sz="10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($20B cap, appropriations specified from FY26-FY35)</a:t>
            </a:r>
          </a:p>
        </p:txBody>
      </p:sp>
      <p:cxnSp>
        <p:nvCxnSpPr>
          <p:cNvPr id="117" name="Connector: Elbow 43"/>
          <p:cNvCxnSpPr/>
          <p:nvPr/>
        </p:nvCxnSpPr>
        <p:spPr>
          <a:xfrm rot="5400000" flipH="1" flipV="1">
            <a:off x="4057193" y="4886554"/>
            <a:ext cx="516636" cy="1875434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8" name="Connector: Elbow 44"/>
          <p:cNvCxnSpPr/>
          <p:nvPr/>
        </p:nvCxnSpPr>
        <p:spPr>
          <a:xfrm rot="16200000" flipV="1">
            <a:off x="5932627" y="4886554"/>
            <a:ext cx="516636" cy="1875434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9" name="Connector: Elbow 50"/>
          <p:cNvCxnSpPr/>
          <p:nvPr/>
        </p:nvCxnSpPr>
        <p:spPr>
          <a:xfrm rot="5400000" flipH="1" flipV="1">
            <a:off x="6077102" y="4225442"/>
            <a:ext cx="223114" cy="186994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0" name="Connector: Elbow 54"/>
          <p:cNvCxnSpPr/>
          <p:nvPr/>
        </p:nvCxnSpPr>
        <p:spPr>
          <a:xfrm rot="16200000" flipV="1">
            <a:off x="7926934" y="4245559"/>
            <a:ext cx="223114" cy="1829714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pic>
        <p:nvPicPr>
          <p:cNvPr id="12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1" y="2990088"/>
            <a:ext cx="694944" cy="365760"/>
          </a:xfrm>
          <a:prstGeom prst="rect">
            <a:avLst/>
          </a:prstGeom>
        </p:spPr>
      </p:pic>
      <p:pic>
        <p:nvPicPr>
          <p:cNvPr id="12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1" y="4316882"/>
            <a:ext cx="694944" cy="365760"/>
          </a:xfrm>
          <a:prstGeom prst="rect">
            <a:avLst/>
          </a:prstGeom>
        </p:spPr>
      </p:pic>
      <p:cxnSp>
        <p:nvCxnSpPr>
          <p:cNvPr id="123" name="Connector: Elbow 65"/>
          <p:cNvCxnSpPr/>
          <p:nvPr/>
        </p:nvCxnSpPr>
        <p:spPr>
          <a:xfrm rot="5400000" flipH="1" flipV="1">
            <a:off x="7449617" y="3919118"/>
            <a:ext cx="510235" cy="116220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4" name="Connector: Elbow 69"/>
          <p:cNvCxnSpPr/>
          <p:nvPr/>
        </p:nvCxnSpPr>
        <p:spPr>
          <a:xfrm rot="16200000" flipV="1">
            <a:off x="6286500" y="3918204"/>
            <a:ext cx="510235" cy="116311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5" name="Connector: Elbow 72"/>
          <p:cNvCxnSpPr/>
          <p:nvPr/>
        </p:nvCxnSpPr>
        <p:spPr>
          <a:xfrm>
            <a:off x="2433218" y="1845259"/>
            <a:ext cx="1201522" cy="779069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6" name="Connector: Elbow 86"/>
          <p:cNvCxnSpPr/>
          <p:nvPr/>
        </p:nvCxnSpPr>
        <p:spPr>
          <a:xfrm rot="16200000" flipV="1">
            <a:off x="4280306" y="2272284"/>
            <a:ext cx="1034186" cy="232531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7" name="Connector: Elbow 89"/>
          <p:cNvCxnSpPr/>
          <p:nvPr/>
        </p:nvCxnSpPr>
        <p:spPr>
          <a:xfrm rot="16200000" flipV="1">
            <a:off x="5443423" y="1109167"/>
            <a:ext cx="1034186" cy="465063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8" name="Rectangle 121"/>
          <p:cNvSpPr txBox="1"/>
          <p:nvPr/>
        </p:nvSpPr>
        <p:spPr>
          <a:xfrm>
            <a:off x="7998257" y="2134210"/>
            <a:ext cx="3738067" cy="748894"/>
          </a:xfrm>
          <a:prstGeom prst="rect">
            <a:avLst/>
          </a:prstGeom>
          <a:solidFill>
            <a:srgbClr val="0E1924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Strategic Commercial Fleet (SCF)</a:t>
            </a:r>
            <a:br/>
            <a:r>
              <a:rPr lang="en-US" sz="10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(250 commercial ships for foreign trade only; </a:t>
            </a:r>
            <a:r>
              <a:rPr lang="en-US" sz="1000" b="1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permanently ineligible for coastwise trade i.e., Jones Act</a:t>
            </a:r>
            <a:r>
              <a:rPr lang="en-US" sz="10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2720340" y="1762049"/>
            <a:ext cx="553212" cy="1655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Sells</a:t>
            </a:r>
          </a:p>
        </p:txBody>
      </p:sp>
      <p:sp>
        <p:nvSpPr>
          <p:cNvPr id="130" name="Label"/>
          <p:cNvSpPr txBox="1"/>
          <p:nvPr/>
        </p:nvSpPr>
        <p:spPr>
          <a:xfrm>
            <a:off x="4834433" y="3554273"/>
            <a:ext cx="4574743" cy="1664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Paid to US vessel owner / operators for each ship in SCF</a:t>
            </a:r>
          </a:p>
        </p:txBody>
      </p:sp>
      <p:sp>
        <p:nvSpPr>
          <p:cNvPr id="131" name="Label"/>
          <p:cNvSpPr txBox="1"/>
          <p:nvPr/>
        </p:nvSpPr>
        <p:spPr>
          <a:xfrm>
            <a:off x="5998464" y="4538167"/>
            <a:ext cx="2249424" cy="1664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Disburses</a:t>
            </a:r>
          </a:p>
        </p:txBody>
      </p:sp>
      <p:sp>
        <p:nvSpPr>
          <p:cNvPr id="132" name="Label"/>
          <p:cNvSpPr txBox="1"/>
          <p:nvPr/>
        </p:nvSpPr>
        <p:spPr>
          <a:xfrm>
            <a:off x="5748833" y="2548433"/>
            <a:ext cx="1320394" cy="1810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Placed into service </a:t>
            </a:r>
          </a:p>
        </p:txBody>
      </p:sp>
      <p:sp>
        <p:nvSpPr>
          <p:cNvPr id="133" name="Label"/>
          <p:cNvSpPr txBox="1"/>
          <p:nvPr/>
        </p:nvSpPr>
        <p:spPr>
          <a:xfrm>
            <a:off x="1878178" y="2423160"/>
            <a:ext cx="553212" cy="1655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Buys</a:t>
            </a:r>
          </a:p>
        </p:txBody>
      </p:sp>
      <p:sp>
        <p:nvSpPr>
          <p:cNvPr id="134" name="Label"/>
          <p:cNvSpPr txBox="1"/>
          <p:nvPr/>
        </p:nvSpPr>
        <p:spPr>
          <a:xfrm>
            <a:off x="4972507" y="5746090"/>
            <a:ext cx="562356" cy="1664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Pays</a:t>
            </a:r>
          </a:p>
        </p:txBody>
      </p:sp>
      <p:sp>
        <p:nvSpPr>
          <p:cNvPr id="135" name="Label"/>
          <p:cNvSpPr txBox="1"/>
          <p:nvPr/>
        </p:nvSpPr>
        <p:spPr>
          <a:xfrm>
            <a:off x="8672170" y="5746090"/>
            <a:ext cx="562356" cy="1664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Pays</a:t>
            </a:r>
          </a:p>
        </p:txBody>
      </p:sp>
      <p:sp>
        <p:nvSpPr>
          <p:cNvPr id="136" name="Label"/>
          <p:cNvSpPr txBox="1"/>
          <p:nvPr/>
        </p:nvSpPr>
        <p:spPr>
          <a:xfrm>
            <a:off x="10496398" y="5740603"/>
            <a:ext cx="562356" cy="1664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Pays</a:t>
            </a:r>
          </a:p>
        </p:txBody>
      </p:sp>
      <p:cxnSp>
        <p:nvCxnSpPr>
          <p:cNvPr id="137" name="Connector: Elbow 137"/>
          <p:cNvCxnSpPr/>
          <p:nvPr/>
        </p:nvCxnSpPr>
        <p:spPr>
          <a:xfrm flipV="1">
            <a:off x="4760366" y="2509114"/>
            <a:ext cx="3237890" cy="26151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38" name="Straight Arrow Connector 147"/>
          <p:cNvCxnSpPr/>
          <p:nvPr/>
        </p:nvCxnSpPr>
        <p:spPr>
          <a:xfrm flipV="1">
            <a:off x="1747418" y="2393899"/>
            <a:ext cx="0" cy="230429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9" name="Rectangle 167"/>
          <p:cNvSpPr txBox="1"/>
          <p:nvPr/>
        </p:nvSpPr>
        <p:spPr>
          <a:xfrm>
            <a:off x="8919058" y="1296619"/>
            <a:ext cx="2816352" cy="54406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and Shipyard Investment Tax Credits (40% and 25%, respectively) from Building Ships in America Act not shown</a:t>
            </a:r>
          </a:p>
        </p:txBody>
      </p:sp>
      <p:cxnSp>
        <p:nvCxnSpPr>
          <p:cNvPr id="140" name="Straight Arrow Connector 189"/>
          <p:cNvCxnSpPr/>
          <p:nvPr/>
        </p:nvCxnSpPr>
        <p:spPr>
          <a:xfrm flipV="1">
            <a:off x="5253228" y="5565953"/>
            <a:ext cx="0" cy="51663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1" name="Straight Arrow Connector 193"/>
          <p:cNvCxnSpPr/>
          <p:nvPr/>
        </p:nvCxnSpPr>
        <p:spPr>
          <a:xfrm flipH="1" flipV="1">
            <a:off x="8952890" y="5565953"/>
            <a:ext cx="0" cy="51663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2" name="Rectangle 196"/>
          <p:cNvSpPr txBox="1"/>
          <p:nvPr/>
        </p:nvSpPr>
        <p:spPr>
          <a:xfrm>
            <a:off x="9908438" y="5271516"/>
            <a:ext cx="1828800" cy="293522"/>
          </a:xfrm>
          <a:prstGeom prst="rect">
            <a:avLst/>
          </a:prstGeom>
          <a:solidFill>
            <a:srgbClr val="FB6B3C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Cargo Fees ($0.01+ / kg)</a:t>
            </a:r>
            <a:br/>
            <a:r>
              <a:rPr lang="en-US" sz="10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SHIPS Act “Plus” only</a:t>
            </a:r>
          </a:p>
        </p:txBody>
      </p:sp>
      <p:cxnSp>
        <p:nvCxnSpPr>
          <p:cNvPr id="143" name="Connector: Elbow 204"/>
          <p:cNvCxnSpPr/>
          <p:nvPr/>
        </p:nvCxnSpPr>
        <p:spPr>
          <a:xfrm flipV="1">
            <a:off x="9908438" y="5565953"/>
            <a:ext cx="914400" cy="640080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4" name="Connector: Elbow 208"/>
          <p:cNvCxnSpPr/>
          <p:nvPr/>
        </p:nvCxnSpPr>
        <p:spPr>
          <a:xfrm rot="16200000" flipV="1">
            <a:off x="8861450" y="3310128"/>
            <a:ext cx="223114" cy="369966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5" name="Rectangle 211"/>
          <p:cNvSpPr txBox="1"/>
          <p:nvPr/>
        </p:nvSpPr>
        <p:spPr>
          <a:xfrm>
            <a:off x="159106" y="6082589"/>
            <a:ext cx="756209" cy="29352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 ROW</a:t>
            </a:r>
          </a:p>
        </p:txBody>
      </p:sp>
      <p:sp>
        <p:nvSpPr>
          <p:cNvPr id="146" name="Rectangle 8"/>
          <p:cNvSpPr txBox="1"/>
          <p:nvPr/>
        </p:nvSpPr>
        <p:spPr>
          <a:xfrm>
            <a:off x="127102" y="1024128"/>
            <a:ext cx="2816352" cy="22402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Chart reads from bottom to top</a:t>
            </a:r>
          </a:p>
        </p:txBody>
      </p:sp>
      <p:sp>
        <p:nvSpPr>
          <p:cNvPr id="147" name="Speech Bubble: Rectangle 1"/>
          <p:cNvSpPr txBox="1"/>
          <p:nvPr/>
        </p:nvSpPr>
        <p:spPr>
          <a:xfrm>
            <a:off x="4215384" y="1986991"/>
            <a:ext cx="1790395" cy="466344"/>
          </a:xfrm>
          <a:prstGeom prst="wedgeRectCallout">
            <a:avLst>
              <a:gd name="adj1" fmla="val 41650"/>
              <a:gd name="adj2" fmla="val 74944"/>
            </a:avLst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 crew required to participate in SCF; SHIPS Act states vessels will be crewed IAW </a:t>
            </a: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46 USC 8103</a:t>
            </a: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213"/>
          <p:cNvSpPr txBox="1"/>
          <p:nvPr/>
        </p:nvSpPr>
        <p:spPr>
          <a:xfrm>
            <a:off x="4524451" y="3161081"/>
            <a:ext cx="727771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Cargo moved by one or more of the following maritime transport archetypes</a:t>
            </a:r>
          </a:p>
        </p:txBody>
      </p:sp>
      <p:cxnSp>
        <p:nvCxnSpPr>
          <p:cNvPr id="101" name="Connector: Elbow 135"/>
          <p:cNvCxnSpPr/>
          <p:nvPr/>
        </p:nvCxnSpPr>
        <p:spPr>
          <a:xfrm rot="10800000" flipV="1">
            <a:off x="2958084" y="2884018"/>
            <a:ext cx="1258214" cy="715975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2" name="Rectangle 177"/>
          <p:cNvSpPr txBox="1"/>
          <p:nvPr/>
        </p:nvSpPr>
        <p:spPr>
          <a:xfrm>
            <a:off x="8362188" y="5451653"/>
            <a:ext cx="2250338" cy="914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 flow for chartered vessels</a:t>
            </a:r>
          </a:p>
        </p:txBody>
      </p:sp>
      <p:sp>
        <p:nvSpPr>
          <p:cNvPr id="103" name="Rectangle 138"/>
          <p:cNvSpPr txBox="1"/>
          <p:nvPr/>
        </p:nvSpPr>
        <p:spPr>
          <a:xfrm>
            <a:off x="3291840" y="5451653"/>
            <a:ext cx="4549140" cy="914400"/>
          </a:xfrm>
          <a:prstGeom prst="rect">
            <a:avLst/>
          </a:prstGeom>
          <a:solidFill>
            <a:srgbClr val="E2E9EF"/>
          </a:solidFill>
          <a:ln w="12700">
            <a:solidFill>
              <a:srgbClr val="808080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 flow for owned vessels</a:t>
            </a:r>
          </a:p>
        </p:txBody>
      </p:sp>
      <p:sp>
        <p:nvSpPr>
          <p:cNvPr id="104" name="Rectangle 73"/>
          <p:cNvSpPr txBox="1"/>
          <p:nvPr/>
        </p:nvSpPr>
        <p:spPr>
          <a:xfrm>
            <a:off x="4652467" y="4524451"/>
            <a:ext cx="4437583" cy="251460"/>
          </a:xfrm>
          <a:prstGeom prst="rect">
            <a:avLst/>
          </a:prstGeom>
          <a:noFill/>
          <a:ln w="6350">
            <a:solidFill>
              <a:srgbClr val="000000"/>
            </a:solidFill>
            <a:prstDash val="dash"/>
          </a:ln>
        </p:spPr>
        <p:txBody>
          <a:bodyPr wrap="square" anchor="t" lIns="91440" tIns="45720" rIns="91440" bIns="45720"/>
          <a:lstStyle/>
          <a:p>
            <a:pPr algn="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5" name="Label"/>
          <p:cNvSpPr txBox="1"/>
          <p:nvPr/>
        </p:nvSpPr>
        <p:spPr>
          <a:xfrm>
            <a:off x="5911596" y="1549908"/>
            <a:ext cx="1920240" cy="365760"/>
          </a:xfrm>
          <a:prstGeom prst="chevron">
            <a:avLst>
              <a:gd name="adj" fmla="val 24929"/>
            </a:avLst>
          </a:prstGeom>
          <a:solidFill>
            <a:srgbClr val="447BB2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 Shoreside Logistics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9779508" y="1549908"/>
            <a:ext cx="1920240" cy="365760"/>
          </a:xfrm>
          <a:prstGeom prst="chevron">
            <a:avLst>
              <a:gd name="adj" fmla="val 24929"/>
            </a:avLst>
          </a:prstGeom>
          <a:solidFill>
            <a:srgbClr val="447BB2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Destination Shoreside Logistics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7845552" y="1549908"/>
            <a:ext cx="1920240" cy="365760"/>
          </a:xfrm>
          <a:prstGeom prst="chevron">
            <a:avLst>
              <a:gd name="adj" fmla="val 24929"/>
            </a:avLst>
          </a:prstGeom>
          <a:solidFill>
            <a:srgbClr val="0E1924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Maritime Transport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Commercial Maritime Value Chain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Overview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Value Chain (Maritime Transport) | Shipbuilders capture the least value (2-6% EBIT margins); margin expansion likely requires vertical integration.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3348533" y="5711342"/>
            <a:ext cx="1828800" cy="366674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Shipbuilders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4652467" y="3600907"/>
            <a:ext cx="1828800" cy="365760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Vessel Operating Common Carriers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9870948" y="3600907"/>
            <a:ext cx="1828800" cy="365760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Carriers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8566099" y="5711342"/>
            <a:ext cx="1828800" cy="366674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Charter Companies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2043684" y="3600907"/>
            <a:ext cx="1828800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Non-Vessel Operating Common Carriers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5957316" y="5711342"/>
            <a:ext cx="1828800" cy="36667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MRO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7262165" y="3600907"/>
            <a:ext cx="1828800" cy="365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Tramp Carriers</a:t>
            </a:r>
          </a:p>
        </p:txBody>
      </p:sp>
      <p:cxnSp>
        <p:nvCxnSpPr>
          <p:cNvPr id="115" name="Connector: Elbow 23"/>
          <p:cNvCxnSpPr/>
          <p:nvPr/>
        </p:nvCxnSpPr>
        <p:spPr>
          <a:xfrm rot="16200000" flipH="1">
            <a:off x="9518904" y="2334463"/>
            <a:ext cx="552298" cy="1979676"/>
          </a:xfrm>
          <a:prstGeom prst="bentConnector3">
            <a:avLst>
              <a:gd name="adj1" fmla="val 65164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6" name="Pfeil: Fünfeck 4"/>
          <p:cNvSpPr txBox="1"/>
          <p:nvPr/>
        </p:nvSpPr>
        <p:spPr>
          <a:xfrm>
            <a:off x="2043684" y="1549908"/>
            <a:ext cx="1920240" cy="365760"/>
          </a:xfrm>
          <a:prstGeom prst="homePlate">
            <a:avLst>
              <a:gd name="adj" fmla="val 24929"/>
            </a:avLst>
          </a:prstGeom>
          <a:solidFill>
            <a:srgbClr val="D9D9D9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/ Shipper Requires Cargo Shipment</a:t>
            </a:r>
          </a:p>
        </p:txBody>
      </p:sp>
      <p:sp>
        <p:nvSpPr>
          <p:cNvPr id="117" name="Pfeil: Chevron 5"/>
          <p:cNvSpPr txBox="1"/>
          <p:nvPr/>
        </p:nvSpPr>
        <p:spPr>
          <a:xfrm>
            <a:off x="3977640" y="1549908"/>
            <a:ext cx="1920240" cy="365760"/>
          </a:xfrm>
          <a:prstGeom prst="chevron">
            <a:avLst>
              <a:gd name="adj" fmla="val 24929"/>
            </a:avLst>
          </a:prstGeom>
          <a:solidFill>
            <a:srgbClr val="D9D9D9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Coordination</a:t>
            </a:r>
          </a:p>
        </p:txBody>
      </p:sp>
      <p:graphicFrame>
        <p:nvGraphicFramePr>
          <p:cNvPr id="118" name="Table 111"/>
          <p:cNvGraphicFramePr>
            <a:graphicFrameLocks noGrp="1"/>
          </p:cNvGraphicFramePr>
          <p:nvPr/>
        </p:nvGraphicFramePr>
        <p:xfrm>
          <a:off x="452628" y="1549908"/>
          <a:ext cx="1463040" cy="1497787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63040"/>
              </a:tblGrid>
              <a:tr h="1497787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 Chain Step</a:t>
                      </a:r>
                      <a:br/>
                      <a:br/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" name="Table 112"/>
          <p:cNvGraphicFramePr>
            <a:graphicFrameLocks noGrp="1"/>
          </p:cNvGraphicFramePr>
          <p:nvPr/>
        </p:nvGraphicFramePr>
        <p:xfrm>
          <a:off x="8759038" y="1089050"/>
          <a:ext cx="2939796" cy="4572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939796"/>
              </a:tblGrid>
              <a:tr h="0"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Revenue | </a:t>
                      </a:r>
                      <a:r>
                        <a:rPr lang="en-US" sz="800" b="1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EBIT margin %</a:t>
                      </a:r>
                      <a:br/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(Revenue = total value chain rev. indexed to $100; EBIT margins for 2024)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0" name="Table 124"/>
          <p:cNvGraphicFramePr>
            <a:graphicFrameLocks noGrp="1"/>
          </p:cNvGraphicFramePr>
          <p:nvPr/>
        </p:nvGraphicFramePr>
        <p:xfrm>
          <a:off x="452628" y="3161081"/>
          <a:ext cx="1463040" cy="3204972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63040"/>
              </a:tblGrid>
              <a:tr h="320497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Archetypes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21" name="Connector: Elbow 176"/>
          <p:cNvCxnSpPr/>
          <p:nvPr/>
        </p:nvCxnSpPr>
        <p:spPr>
          <a:xfrm rot="5400000">
            <a:off x="6910121" y="1705356"/>
            <a:ext cx="552298" cy="3237890"/>
          </a:xfrm>
          <a:prstGeom prst="bentConnector3">
            <a:avLst>
              <a:gd name="adj1" fmla="val 65164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2" name="Label"/>
          <p:cNvSpPr txBox="1"/>
          <p:nvPr/>
        </p:nvSpPr>
        <p:spPr>
          <a:xfrm>
            <a:off x="2135124" y="1914754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Initiation of transportation process by owner of goods (e.g., retailer, commodity trader, or manufacturer)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4069080" y="1914754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Arrangement of transport modes, storage, and compliance by coordinating entities (e.g., BCOs, freight forwarders)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6003036" y="1914754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Movement of cargo from originating site onto ocean vessel; includes various transport modes, terminal ops, and export customs clearance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7936992" y="1914754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Transport of cargo across ocean between ports of loading and discharge by common or private carriers on owned or chartered vessels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9870948" y="1914754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Movement of cargo from ocean vessel to destination site; includes various transport modes, terminal ops, and import customs clearance </a:t>
            </a:r>
          </a:p>
        </p:txBody>
      </p:sp>
      <p:sp>
        <p:nvSpPr>
          <p:cNvPr id="127" name="Label"/>
          <p:cNvSpPr txBox="1"/>
          <p:nvPr/>
        </p:nvSpPr>
        <p:spPr>
          <a:xfrm>
            <a:off x="2089404" y="3971239"/>
            <a:ext cx="1737360" cy="111465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Books space on operator vessels and resells to shippers without owning ships; NVOCC are a Coordination players that act like carriers by assuming legal liability for cargo</a:t>
            </a:r>
          </a:p>
        </p:txBody>
      </p:sp>
      <p:sp>
        <p:nvSpPr>
          <p:cNvPr id="128" name="Label"/>
          <p:cNvSpPr txBox="1"/>
          <p:nvPr/>
        </p:nvSpPr>
        <p:spPr>
          <a:xfrm>
            <a:off x="4698187" y="3971239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Own/lease and operate vessels on fixed schedules for public use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9916668" y="3971239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Shippers who own/lease and operate an internal fleet to move their own cargo</a:t>
            </a:r>
          </a:p>
        </p:txBody>
      </p:sp>
      <p:sp>
        <p:nvSpPr>
          <p:cNvPr id="130" name="Label"/>
          <p:cNvSpPr txBox="1"/>
          <p:nvPr/>
        </p:nvSpPr>
        <p:spPr>
          <a:xfrm>
            <a:off x="7307885" y="3971239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Own/lease and operate vessels on demand for public use (no fixed schedule)</a:t>
            </a:r>
          </a:p>
        </p:txBody>
      </p:sp>
      <p:cxnSp>
        <p:nvCxnSpPr>
          <p:cNvPr id="131" name="Connector: Elbow 63"/>
          <p:cNvCxnSpPr/>
          <p:nvPr/>
        </p:nvCxnSpPr>
        <p:spPr>
          <a:xfrm rot="5400000">
            <a:off x="8214970" y="3009290"/>
            <a:ext cx="552298" cy="629107"/>
          </a:xfrm>
          <a:prstGeom prst="bentConnector3">
            <a:avLst>
              <a:gd name="adj1" fmla="val 65251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32" name="Straight Arrow Connector 66"/>
          <p:cNvCxnSpPr/>
          <p:nvPr/>
        </p:nvCxnSpPr>
        <p:spPr>
          <a:xfrm>
            <a:off x="3872484" y="3783787"/>
            <a:ext cx="779983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3" name="Label"/>
          <p:cNvSpPr txBox="1"/>
          <p:nvPr/>
        </p:nvSpPr>
        <p:spPr>
          <a:xfrm>
            <a:off x="3902659" y="3507638"/>
            <a:ext cx="720547" cy="24414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NVOCC leases space</a:t>
            </a:r>
          </a:p>
        </p:txBody>
      </p:sp>
      <p:sp>
        <p:nvSpPr>
          <p:cNvPr id="134" name="Label"/>
          <p:cNvSpPr txBox="1"/>
          <p:nvPr/>
        </p:nvSpPr>
        <p:spPr>
          <a:xfrm>
            <a:off x="3902659" y="3832250"/>
            <a:ext cx="720547" cy="24597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VOCC provides space</a:t>
            </a:r>
          </a:p>
        </p:txBody>
      </p:sp>
      <p:sp>
        <p:nvSpPr>
          <p:cNvPr id="135" name="Label"/>
          <p:cNvSpPr txBox="1"/>
          <p:nvPr/>
        </p:nvSpPr>
        <p:spPr>
          <a:xfrm>
            <a:off x="6167628" y="2980030"/>
            <a:ext cx="1403604" cy="16733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Operators shown</a:t>
            </a:r>
          </a:p>
        </p:txBody>
      </p:sp>
      <p:sp>
        <p:nvSpPr>
          <p:cNvPr id="136" name="Label"/>
          <p:cNvSpPr txBox="1"/>
          <p:nvPr/>
        </p:nvSpPr>
        <p:spPr>
          <a:xfrm>
            <a:off x="10055657" y="2980030"/>
            <a:ext cx="1403604" cy="16733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Operators shown</a:t>
            </a:r>
          </a:p>
        </p:txBody>
      </p:sp>
      <p:sp>
        <p:nvSpPr>
          <p:cNvPr id="137" name="Rectangle 127"/>
          <p:cNvSpPr txBox="1"/>
          <p:nvPr/>
        </p:nvSpPr>
        <p:spPr>
          <a:xfrm>
            <a:off x="8085125" y="2781605"/>
            <a:ext cx="1441094" cy="2057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</a:t>
            </a: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2 - 42%</a:t>
            </a:r>
          </a:p>
        </p:txBody>
      </p:sp>
      <p:sp>
        <p:nvSpPr>
          <p:cNvPr id="138" name="Rectangle 187"/>
          <p:cNvSpPr txBox="1"/>
          <p:nvPr/>
        </p:nvSpPr>
        <p:spPr>
          <a:xfrm>
            <a:off x="3541471" y="6117336"/>
            <a:ext cx="1441094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</a:t>
            </a: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2-6%</a:t>
            </a:r>
          </a:p>
        </p:txBody>
      </p:sp>
      <p:sp>
        <p:nvSpPr>
          <p:cNvPr id="139" name="Label"/>
          <p:cNvSpPr txBox="1"/>
          <p:nvPr/>
        </p:nvSpPr>
        <p:spPr>
          <a:xfrm>
            <a:off x="6151169" y="6116422"/>
            <a:ext cx="1441094" cy="2066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 %TBD</a:t>
            </a:r>
          </a:p>
        </p:txBody>
      </p:sp>
      <p:sp>
        <p:nvSpPr>
          <p:cNvPr id="140" name="Label"/>
          <p:cNvSpPr txBox="1"/>
          <p:nvPr/>
        </p:nvSpPr>
        <p:spPr>
          <a:xfrm>
            <a:off x="4216298" y="2781605"/>
            <a:ext cx="1440180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 %TBD</a:t>
            </a:r>
          </a:p>
        </p:txBody>
      </p:sp>
      <p:sp>
        <p:nvSpPr>
          <p:cNvPr id="141" name="Label"/>
          <p:cNvSpPr txBox="1"/>
          <p:nvPr/>
        </p:nvSpPr>
        <p:spPr>
          <a:xfrm>
            <a:off x="6151169" y="2781605"/>
            <a:ext cx="1441094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 30-54%</a:t>
            </a:r>
          </a:p>
        </p:txBody>
      </p:sp>
      <p:sp>
        <p:nvSpPr>
          <p:cNvPr id="142" name="Label"/>
          <p:cNvSpPr txBox="1"/>
          <p:nvPr/>
        </p:nvSpPr>
        <p:spPr>
          <a:xfrm>
            <a:off x="10018166" y="2781605"/>
            <a:ext cx="1441094" cy="2057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 30-54%</a:t>
            </a:r>
          </a:p>
        </p:txBody>
      </p:sp>
      <p:sp>
        <p:nvSpPr>
          <p:cNvPr id="143" name="Label"/>
          <p:cNvSpPr txBox="1"/>
          <p:nvPr/>
        </p:nvSpPr>
        <p:spPr>
          <a:xfrm>
            <a:off x="7455103" y="4547311"/>
            <a:ext cx="1440180" cy="2057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 %TBD</a:t>
            </a:r>
          </a:p>
        </p:txBody>
      </p:sp>
      <p:sp>
        <p:nvSpPr>
          <p:cNvPr id="144" name="Rectangle 189"/>
          <p:cNvSpPr txBox="1"/>
          <p:nvPr/>
        </p:nvSpPr>
        <p:spPr>
          <a:xfrm>
            <a:off x="8759038" y="6117336"/>
            <a:ext cx="1441094" cy="2057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</a:t>
            </a: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22-53%</a:t>
            </a:r>
          </a:p>
        </p:txBody>
      </p:sp>
      <p:sp>
        <p:nvSpPr>
          <p:cNvPr id="145" name="TextBox 132"/>
          <p:cNvSpPr txBox="1"/>
          <p:nvPr/>
        </p:nvSpPr>
        <p:spPr>
          <a:xfrm>
            <a:off x="6177686" y="4521708"/>
            <a:ext cx="1522476" cy="25237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Revenue shown assumes one archetype moves goods</a:t>
            </a:r>
          </a:p>
        </p:txBody>
      </p:sp>
      <p:cxnSp>
        <p:nvCxnSpPr>
          <p:cNvPr id="146" name="Connector: Elbow 181"/>
          <p:cNvCxnSpPr/>
          <p:nvPr/>
        </p:nvCxnSpPr>
        <p:spPr>
          <a:xfrm rot="16200000" flipH="1">
            <a:off x="8525866" y="4489704"/>
            <a:ext cx="598932" cy="13240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7" name="Rectangle 142"/>
          <p:cNvSpPr txBox="1"/>
          <p:nvPr/>
        </p:nvSpPr>
        <p:spPr>
          <a:xfrm>
            <a:off x="4846320" y="4547311"/>
            <a:ext cx="1441094" cy="2057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 TBD | </a:t>
            </a: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13-42%</a:t>
            </a:r>
          </a:p>
        </p:txBody>
      </p:sp>
      <p:cxnSp>
        <p:nvCxnSpPr>
          <p:cNvPr id="148" name="Connector: Elbow 216"/>
          <p:cNvCxnSpPr/>
          <p:nvPr/>
        </p:nvCxnSpPr>
        <p:spPr>
          <a:xfrm rot="5400000">
            <a:off x="6565392" y="3853282"/>
            <a:ext cx="598932" cy="259689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9" name="Straight Arrow Connector 231"/>
          <p:cNvCxnSpPr/>
          <p:nvPr/>
        </p:nvCxnSpPr>
        <p:spPr>
          <a:xfrm flipH="1">
            <a:off x="7840980" y="5908853"/>
            <a:ext cx="522122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50" name="Rectangle 4"/>
          <p:cNvSpPr txBox="1"/>
          <p:nvPr/>
        </p:nvSpPr>
        <p:spPr>
          <a:xfrm>
            <a:off x="9275674" y="5163617"/>
            <a:ext cx="2250338" cy="24414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Amount dependent on charter type </a:t>
            </a:r>
            <a:br/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(e.g., time or voyage) </a:t>
            </a:r>
          </a:p>
        </p:txBody>
      </p:sp>
      <p:sp>
        <p:nvSpPr>
          <p:cNvPr id="151" name="LegendSwatch"/>
          <p:cNvSpPr txBox="1"/>
          <p:nvPr/>
        </p:nvSpPr>
        <p:spPr>
          <a:xfrm>
            <a:off x="452628" y="1285646"/>
            <a:ext cx="182880" cy="182880"/>
          </a:xfrm>
          <a:prstGeom prst="rect">
            <a:avLst/>
          </a:prstGeom>
          <a:solidFill>
            <a:srgbClr val="0E1924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2" name="LegendSwatch"/>
          <p:cNvSpPr txBox="1"/>
          <p:nvPr/>
        </p:nvSpPr>
        <p:spPr>
          <a:xfrm>
            <a:off x="3673145" y="1285646"/>
            <a:ext cx="182880" cy="182880"/>
          </a:xfrm>
          <a:prstGeom prst="rect">
            <a:avLst/>
          </a:prstGeom>
          <a:solidFill>
            <a:srgbClr val="D9D9D9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3" name="LegendSwatch"/>
          <p:cNvSpPr txBox="1"/>
          <p:nvPr/>
        </p:nvSpPr>
        <p:spPr>
          <a:xfrm>
            <a:off x="2267712" y="1285646"/>
            <a:ext cx="182880" cy="182880"/>
          </a:xfrm>
          <a:prstGeom prst="rect">
            <a:avLst/>
          </a:prstGeom>
          <a:solidFill>
            <a:srgbClr val="447BB2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4" name="TextBox 107"/>
          <p:cNvSpPr txBox="1"/>
          <p:nvPr/>
        </p:nvSpPr>
        <p:spPr>
          <a:xfrm>
            <a:off x="646481" y="1207922"/>
            <a:ext cx="1609344" cy="338328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Maritime Transport archetypes 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considered in analysis</a:t>
            </a:r>
          </a:p>
        </p:txBody>
      </p:sp>
      <p:sp>
        <p:nvSpPr>
          <p:cNvPr id="155" name="TextBox 109"/>
          <p:cNvSpPr txBox="1"/>
          <p:nvPr/>
        </p:nvSpPr>
        <p:spPr>
          <a:xfrm>
            <a:off x="3866998" y="1269187"/>
            <a:ext cx="747065" cy="215798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effort</a:t>
            </a:r>
          </a:p>
        </p:txBody>
      </p:sp>
      <p:sp>
        <p:nvSpPr>
          <p:cNvPr id="156" name="TextBox 113"/>
          <p:cNvSpPr txBox="1"/>
          <p:nvPr/>
        </p:nvSpPr>
        <p:spPr>
          <a:xfrm>
            <a:off x="2462479" y="1207922"/>
            <a:ext cx="1199693" cy="338328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steps 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considered in analysis</a:t>
            </a:r>
          </a:p>
        </p:txBody>
      </p:sp>
      <p:cxnSp>
        <p:nvCxnSpPr>
          <p:cNvPr id="157" name="Straight Arrow Connector 9"/>
          <p:cNvCxnSpPr/>
          <p:nvPr/>
        </p:nvCxnSpPr>
        <p:spPr>
          <a:xfrm>
            <a:off x="9479585" y="3229661"/>
            <a:ext cx="0" cy="1554480"/>
          </a:xfrm>
          <a:prstGeom prst="line">
            <a:avLst/>
          </a:prstGeom>
          <a:ln w="19050">
            <a:solidFill>
              <a:srgbClr val="808080"/>
            </a:solidFill>
            <a:prstDash val="dash"/>
          </a:ln>
        </p:spPr>
      </p:cxn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Straight Arrow Connector 1032"/>
          <p:cNvCxnSpPr/>
          <p:nvPr/>
        </p:nvCxnSpPr>
        <p:spPr>
          <a:xfrm flipH="1">
            <a:off x="3923690" y="1908353"/>
            <a:ext cx="0" cy="4480560"/>
          </a:xfrm>
          <a:prstGeom prst="line">
            <a:avLst/>
          </a:prstGeom>
          <a:ln w="3175">
            <a:solidFill>
              <a:srgbClr val="808080"/>
            </a:solidFill>
            <a:prstDash val="dash"/>
          </a:ln>
        </p:spPr>
      </p:cxnSp>
      <p:cxnSp>
        <p:nvCxnSpPr>
          <p:cNvPr id="101" name="Straight Arrow Connector 1036"/>
          <p:cNvCxnSpPr/>
          <p:nvPr/>
        </p:nvCxnSpPr>
        <p:spPr>
          <a:xfrm flipH="1">
            <a:off x="5855818" y="1908353"/>
            <a:ext cx="0" cy="4480560"/>
          </a:xfrm>
          <a:prstGeom prst="line">
            <a:avLst/>
          </a:prstGeom>
          <a:ln w="3175">
            <a:solidFill>
              <a:srgbClr val="808080"/>
            </a:solidFill>
            <a:prstDash val="dash"/>
          </a:ln>
        </p:spPr>
      </p:cxnSp>
      <p:cxnSp>
        <p:nvCxnSpPr>
          <p:cNvPr id="102" name="Straight Arrow Connector 1038"/>
          <p:cNvCxnSpPr/>
          <p:nvPr/>
        </p:nvCxnSpPr>
        <p:spPr>
          <a:xfrm flipH="1">
            <a:off x="7796174" y="1908353"/>
            <a:ext cx="0" cy="4480560"/>
          </a:xfrm>
          <a:prstGeom prst="line">
            <a:avLst/>
          </a:prstGeom>
          <a:ln w="3175">
            <a:solidFill>
              <a:srgbClr val="808080"/>
            </a:solidFill>
            <a:prstDash val="dash"/>
          </a:ln>
        </p:spPr>
      </p:cxnSp>
      <p:cxnSp>
        <p:nvCxnSpPr>
          <p:cNvPr id="103" name="Straight Arrow Connector 1040"/>
          <p:cNvCxnSpPr/>
          <p:nvPr/>
        </p:nvCxnSpPr>
        <p:spPr>
          <a:xfrm flipH="1">
            <a:off x="9720986" y="1908353"/>
            <a:ext cx="0" cy="4480560"/>
          </a:xfrm>
          <a:prstGeom prst="line">
            <a:avLst/>
          </a:prstGeom>
          <a:ln w="3175">
            <a:solidFill>
              <a:srgbClr val="808080"/>
            </a:solidFill>
            <a:prstDash val="dash"/>
          </a:ln>
        </p:spPr>
      </p:cxnSp>
      <p:sp>
        <p:nvSpPr>
          <p:cNvPr id="104" name="Rectangle 41"/>
          <p:cNvSpPr txBox="1"/>
          <p:nvPr/>
        </p:nvSpPr>
        <p:spPr>
          <a:xfrm>
            <a:off x="2276856" y="5877763"/>
            <a:ext cx="9422892" cy="50383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Shippers / Private Carriers – </a:t>
            </a: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Integrated across value chain steps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Commercial Maritime Value Chain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Overview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Value Chain Participation | Shipbuilders largely not observed to vertically integrate beyond chartering, whereas large shippers and VOCCs integrate across the value chain.</a:t>
            </a:r>
          </a:p>
        </p:txBody>
      </p:sp>
      <p:graphicFrame>
        <p:nvGraphicFramePr>
          <p:cNvPr id="105" name="Table 22"/>
          <p:cNvGraphicFramePr>
            <a:graphicFrameLocks noGrp="1"/>
          </p:cNvGraphicFramePr>
          <p:nvPr/>
        </p:nvGraphicFramePr>
        <p:xfrm>
          <a:off x="452628" y="2005279"/>
          <a:ext cx="1463040" cy="4383634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63040"/>
              </a:tblGrid>
              <a:tr h="4383634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Representative players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Label"/>
          <p:cNvSpPr txBox="1"/>
          <p:nvPr/>
        </p:nvSpPr>
        <p:spPr>
          <a:xfrm>
            <a:off x="5911596" y="1500530"/>
            <a:ext cx="1920240" cy="365760"/>
          </a:xfrm>
          <a:prstGeom prst="chevron">
            <a:avLst>
              <a:gd name="adj" fmla="val 24929"/>
            </a:avLst>
          </a:prstGeom>
          <a:solidFill>
            <a:srgbClr val="447BB2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 Shoreside Logistics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9779508" y="1500530"/>
            <a:ext cx="1920240" cy="365760"/>
          </a:xfrm>
          <a:prstGeom prst="chevron">
            <a:avLst>
              <a:gd name="adj" fmla="val 24929"/>
            </a:avLst>
          </a:prstGeom>
          <a:solidFill>
            <a:srgbClr val="447BB2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Destination Shoreside Logistics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7845552" y="1500530"/>
            <a:ext cx="1920240" cy="365760"/>
          </a:xfrm>
          <a:prstGeom prst="chevron">
            <a:avLst>
              <a:gd name="adj" fmla="val 24929"/>
            </a:avLst>
          </a:prstGeom>
          <a:solidFill>
            <a:srgbClr val="0E1924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Maritime Transport</a:t>
            </a:r>
          </a:p>
        </p:txBody>
      </p:sp>
      <p:sp>
        <p:nvSpPr>
          <p:cNvPr id="109" name="Pfeil: Fünfeck 4"/>
          <p:cNvSpPr txBox="1"/>
          <p:nvPr/>
        </p:nvSpPr>
        <p:spPr>
          <a:xfrm>
            <a:off x="2043684" y="1500530"/>
            <a:ext cx="1920240" cy="365760"/>
          </a:xfrm>
          <a:prstGeom prst="homePlate">
            <a:avLst>
              <a:gd name="adj" fmla="val 24929"/>
            </a:avLst>
          </a:prstGeom>
          <a:solidFill>
            <a:srgbClr val="D9D9D9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/ Shipper Requires Cargo Shipment</a:t>
            </a:r>
          </a:p>
        </p:txBody>
      </p:sp>
      <p:sp>
        <p:nvSpPr>
          <p:cNvPr id="110" name="Pfeil: Chevron 5"/>
          <p:cNvSpPr txBox="1"/>
          <p:nvPr/>
        </p:nvSpPr>
        <p:spPr>
          <a:xfrm>
            <a:off x="3977640" y="1500530"/>
            <a:ext cx="1920240" cy="365760"/>
          </a:xfrm>
          <a:prstGeom prst="chevron">
            <a:avLst>
              <a:gd name="adj" fmla="val 24929"/>
            </a:avLst>
          </a:prstGeom>
          <a:solidFill>
            <a:srgbClr val="D9D9D9"/>
          </a:solidFill>
          <a:ln>
            <a:noFill/>
          </a:ln>
        </p:spPr>
        <p:txBody>
          <a:bodyPr wrap="square" anchor="ctr" lIns="144000" tIns="108000" rIns="144000" bIns="108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Coordination</a:t>
            </a:r>
          </a:p>
        </p:txBody>
      </p:sp>
      <p:graphicFrame>
        <p:nvGraphicFramePr>
          <p:cNvPr id="111" name="Table 46"/>
          <p:cNvGraphicFramePr>
            <a:graphicFrameLocks noGrp="1"/>
          </p:cNvGraphicFramePr>
          <p:nvPr/>
        </p:nvGraphicFramePr>
        <p:xfrm>
          <a:off x="452628" y="1500530"/>
          <a:ext cx="1463040" cy="3657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63040"/>
              </a:tblGrid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 Chain 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2" name="Label"/>
          <p:cNvSpPr txBox="1"/>
          <p:nvPr/>
        </p:nvSpPr>
        <p:spPr>
          <a:xfrm>
            <a:off x="5968289" y="4372661"/>
            <a:ext cx="1715414" cy="846734"/>
          </a:xfrm>
          <a:prstGeom prst="rect">
            <a:avLst/>
          </a:prstGeom>
          <a:solidFill>
            <a:srgbClr val="FFFFFF"/>
          </a:solidFill>
          <a:ln w="19050">
            <a:solidFill>
              <a:srgbClr val="447BB2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Operators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7903159" y="4372661"/>
            <a:ext cx="1716329" cy="846734"/>
          </a:xfrm>
          <a:prstGeom prst="rect">
            <a:avLst/>
          </a:prstGeom>
          <a:solidFill>
            <a:srgbClr val="FFFFFF"/>
          </a:solidFill>
          <a:ln w="19050">
            <a:solidFill>
              <a:srgbClr val="0E1924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Charter Companies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7903159" y="2005279"/>
            <a:ext cx="1716329" cy="809244"/>
          </a:xfrm>
          <a:prstGeom prst="rect">
            <a:avLst/>
          </a:prstGeom>
          <a:solidFill>
            <a:srgbClr val="FFFFFF"/>
          </a:solidFill>
          <a:ln w="19050">
            <a:solidFill>
              <a:srgbClr val="0E1924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Pure-play Shipbuilders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7903159" y="2868473"/>
            <a:ext cx="1716329" cy="1450238"/>
          </a:xfrm>
          <a:prstGeom prst="rect">
            <a:avLst/>
          </a:prstGeom>
          <a:solidFill>
            <a:srgbClr val="FFFFFF"/>
          </a:solidFill>
          <a:ln w="19050">
            <a:solidFill>
              <a:srgbClr val="0E1924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Integrated Shipbuilders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9881921" y="4372661"/>
            <a:ext cx="1715414" cy="846734"/>
          </a:xfrm>
          <a:prstGeom prst="rect">
            <a:avLst/>
          </a:prstGeom>
          <a:solidFill>
            <a:srgbClr val="FFFFFF"/>
          </a:solidFill>
          <a:ln w="19050">
            <a:solidFill>
              <a:srgbClr val="447BB2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Operators</a:t>
            </a:r>
          </a:p>
        </p:txBody>
      </p:sp>
      <p:pic>
        <p:nvPicPr>
          <p:cNvPr id="11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842" y="4921301"/>
            <a:ext cx="1084478" cy="249631"/>
          </a:xfrm>
          <a:prstGeom prst="rect">
            <a:avLst/>
          </a:prstGeom>
        </p:spPr>
      </p:pic>
      <p:pic>
        <p:nvPicPr>
          <p:cNvPr id="118" name="Picture 4"/>
          <p:cNvPicPr>
            <a:picLocks noChangeAspect="1"/>
          </p:cNvPicPr>
          <p:nvPr/>
        </p:nvPicPr>
        <p:blipFill>
          <a:blip r:embed="rId3"/>
          <a:srcRect t="39246" b="40454"/>
          <a:stretch>
            <a:fillRect/>
          </a:stretch>
        </p:blipFill>
        <p:spPr>
          <a:xfrm>
            <a:off x="6267298" y="4606747"/>
            <a:ext cx="1116482" cy="226771"/>
          </a:xfrm>
          <a:prstGeom prst="rect">
            <a:avLst/>
          </a:prstGeom>
        </p:spPr>
      </p:pic>
      <p:pic>
        <p:nvPicPr>
          <p:cNvPr id="119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003" y="6134710"/>
            <a:ext cx="1133856" cy="206654"/>
          </a:xfrm>
          <a:prstGeom prst="rect">
            <a:avLst/>
          </a:prstGeom>
        </p:spPr>
      </p:pic>
      <p:pic>
        <p:nvPicPr>
          <p:cNvPr id="120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0" y="6129223"/>
            <a:ext cx="680314" cy="216713"/>
          </a:xfrm>
          <a:prstGeom prst="rect">
            <a:avLst/>
          </a:prstGeom>
        </p:spPr>
      </p:pic>
      <p:pic>
        <p:nvPicPr>
          <p:cNvPr id="121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9055" y="6137453"/>
            <a:ext cx="1057961" cy="200254"/>
          </a:xfrm>
          <a:prstGeom prst="rect">
            <a:avLst/>
          </a:prstGeom>
        </p:spPr>
      </p:pic>
      <p:pic>
        <p:nvPicPr>
          <p:cNvPr id="122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4137" y="6124651"/>
            <a:ext cx="982066" cy="226771"/>
          </a:xfrm>
          <a:prstGeom prst="rect">
            <a:avLst/>
          </a:prstGeom>
        </p:spPr>
      </p:pic>
      <p:pic>
        <p:nvPicPr>
          <p:cNvPr id="123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189" y="6102706"/>
            <a:ext cx="604418" cy="270662"/>
          </a:xfrm>
          <a:prstGeom prst="rect">
            <a:avLst/>
          </a:prstGeom>
        </p:spPr>
      </p:pic>
      <p:sp>
        <p:nvSpPr>
          <p:cNvPr id="124" name="Rectangle 20"/>
          <p:cNvSpPr txBox="1"/>
          <p:nvPr/>
        </p:nvSpPr>
        <p:spPr>
          <a:xfrm>
            <a:off x="452628" y="1244498"/>
            <a:ext cx="182880" cy="182880"/>
          </a:xfrm>
          <a:prstGeom prst="rect">
            <a:avLst/>
          </a:prstGeom>
          <a:noFill/>
          <a:ln w="19050">
            <a:solidFill>
              <a:srgbClr val="0E1924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5" name="Label"/>
          <p:cNvSpPr txBox="1"/>
          <p:nvPr/>
        </p:nvSpPr>
        <p:spPr>
          <a:xfrm>
            <a:off x="625450" y="1228954"/>
            <a:ext cx="1845259" cy="215798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Primarily Maritime Transport Players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4248302" y="1228954"/>
            <a:ext cx="1087222" cy="215798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Integrated Shippers</a:t>
            </a:r>
          </a:p>
        </p:txBody>
      </p:sp>
      <p:sp>
        <p:nvSpPr>
          <p:cNvPr id="127" name="Label"/>
          <p:cNvSpPr txBox="1"/>
          <p:nvPr/>
        </p:nvSpPr>
        <p:spPr>
          <a:xfrm>
            <a:off x="2634386" y="1228954"/>
            <a:ext cx="1451153" cy="215798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Shoreside Logistics Players</a:t>
            </a:r>
          </a:p>
        </p:txBody>
      </p:sp>
      <p:sp>
        <p:nvSpPr>
          <p:cNvPr id="128" name="Rectangle 24"/>
          <p:cNvSpPr txBox="1"/>
          <p:nvPr/>
        </p:nvSpPr>
        <p:spPr>
          <a:xfrm>
            <a:off x="4075481" y="1244498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cxnSp>
        <p:nvCxnSpPr>
          <p:cNvPr id="129" name="Connector: Elbow 52"/>
          <p:cNvCxnSpPr/>
          <p:nvPr/>
        </p:nvCxnSpPr>
        <p:spPr>
          <a:xfrm rot="5400000">
            <a:off x="486461" y="3656686"/>
            <a:ext cx="4262933" cy="682142"/>
          </a:xfrm>
          <a:prstGeom prst="bentConnector4">
            <a:avLst>
              <a:gd name="adj1" fmla="val 47046"/>
              <a:gd name="adj2" fmla="val 133516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0" name="Rectangle 9"/>
          <p:cNvSpPr txBox="1"/>
          <p:nvPr/>
        </p:nvSpPr>
        <p:spPr>
          <a:xfrm>
            <a:off x="3977640" y="5275174"/>
            <a:ext cx="772210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924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Operating Common Carriers</a:t>
            </a: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</a:t>
            </a: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Integrated across multiple value chain steps (largely Terminal Ops and/or Coordination)</a:t>
            </a:r>
          </a:p>
        </p:txBody>
      </p:sp>
      <p:pic>
        <p:nvPicPr>
          <p:cNvPr id="131" name="Picture 6"/>
          <p:cNvPicPr>
            <a:picLocks noChangeAspect="1"/>
          </p:cNvPicPr>
          <p:nvPr/>
        </p:nvPicPr>
        <p:blipFill>
          <a:blip r:embed="rId9"/>
          <a:srcRect t="1" b="30297"/>
          <a:stretch>
            <a:fillRect/>
          </a:stretch>
        </p:blipFill>
        <p:spPr>
          <a:xfrm>
            <a:off x="5078578" y="5525719"/>
            <a:ext cx="914400" cy="223114"/>
          </a:xfrm>
          <a:prstGeom prst="rect">
            <a:avLst/>
          </a:prstGeom>
        </p:spPr>
      </p:pic>
      <p:pic>
        <p:nvPicPr>
          <p:cNvPr id="132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6663" y="5532120"/>
            <a:ext cx="1371600" cy="211226"/>
          </a:xfrm>
          <a:prstGeom prst="rect">
            <a:avLst/>
          </a:prstGeom>
        </p:spPr>
      </p:pic>
      <p:pic>
        <p:nvPicPr>
          <p:cNvPr id="133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5658" y="5511089"/>
            <a:ext cx="1097280" cy="252374"/>
          </a:xfrm>
          <a:prstGeom prst="rect">
            <a:avLst/>
          </a:prstGeom>
        </p:spPr>
      </p:pic>
      <p:pic>
        <p:nvPicPr>
          <p:cNvPr id="134" name="Picture 16"/>
          <p:cNvPicPr>
            <a:picLocks noChangeAspect="1"/>
          </p:cNvPicPr>
          <p:nvPr/>
        </p:nvPicPr>
        <p:blipFill>
          <a:blip r:embed="rId12"/>
          <a:srcRect l="16902" t="18159" r="16883" b="17525"/>
          <a:stretch>
            <a:fillRect/>
          </a:stretch>
        </p:blipFill>
        <p:spPr>
          <a:xfrm>
            <a:off x="4081882" y="5490058"/>
            <a:ext cx="302666" cy="293522"/>
          </a:xfrm>
          <a:prstGeom prst="rect">
            <a:avLst/>
          </a:prstGeom>
        </p:spPr>
      </p:pic>
      <p:pic>
        <p:nvPicPr>
          <p:cNvPr id="135" name="Picture 24"/>
          <p:cNvPicPr>
            <a:picLocks noChangeAspect="1"/>
          </p:cNvPicPr>
          <p:nvPr/>
        </p:nvPicPr>
        <p:blipFill>
          <a:blip r:embed="rId13"/>
          <a:srcRect l="1136" t="2363" r="1895"/>
          <a:stretch>
            <a:fillRect/>
          </a:stretch>
        </p:blipFill>
        <p:spPr>
          <a:xfrm>
            <a:off x="6655918" y="5480914"/>
            <a:ext cx="1188720" cy="312725"/>
          </a:xfrm>
          <a:prstGeom prst="rect">
            <a:avLst/>
          </a:prstGeom>
        </p:spPr>
      </p:pic>
      <p:sp>
        <p:nvSpPr>
          <p:cNvPr id="136" name="Callout"/>
          <p:cNvSpPr txBox="1"/>
          <p:nvPr/>
        </p:nvSpPr>
        <p:spPr>
          <a:xfrm>
            <a:off x="2136953" y="2121408"/>
            <a:ext cx="1777594" cy="440741"/>
          </a:xfrm>
          <a:prstGeom prst="wedgeRectCallout">
            <a:avLst>
              <a:gd name="adj1" fmla="val 44715"/>
              <a:gd name="adj2" fmla="val -24439"/>
            </a:avLst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Players shown own and operate their own vessels and charter additional ships </a:t>
            </a:r>
          </a:p>
        </p:txBody>
      </p:sp>
      <p:sp>
        <p:nvSpPr>
          <p:cNvPr id="137" name="Callout"/>
          <p:cNvSpPr txBox="1"/>
          <p:nvPr/>
        </p:nvSpPr>
        <p:spPr>
          <a:xfrm>
            <a:off x="8026603" y="3407054"/>
            <a:ext cx="1469441" cy="154534"/>
          </a:xfrm>
          <a:prstGeom prst="wedgeRectCallout">
            <a:avLst>
              <a:gd name="adj1" fmla="val 44715"/>
              <a:gd name="adj2" fmla="val -24439"/>
            </a:avLst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Entered shipping in ‘24</a:t>
            </a:r>
          </a:p>
        </p:txBody>
      </p:sp>
      <p:sp>
        <p:nvSpPr>
          <p:cNvPr id="138" name="Callout"/>
          <p:cNvSpPr txBox="1"/>
          <p:nvPr/>
        </p:nvSpPr>
        <p:spPr>
          <a:xfrm>
            <a:off x="8026603" y="4098341"/>
            <a:ext cx="1469441" cy="153619"/>
          </a:xfrm>
          <a:prstGeom prst="wedgeRectCallout">
            <a:avLst>
              <a:gd name="adj1" fmla="val 44715"/>
              <a:gd name="adj2" fmla="val -24439"/>
            </a:avLst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Chartering</a:t>
            </a:r>
          </a:p>
        </p:txBody>
      </p:sp>
      <p:sp>
        <p:nvSpPr>
          <p:cNvPr id="139" name="Rectangle 1058"/>
          <p:cNvSpPr txBox="1"/>
          <p:nvPr/>
        </p:nvSpPr>
        <p:spPr>
          <a:xfrm>
            <a:off x="2460650" y="1244498"/>
            <a:ext cx="182880" cy="182880"/>
          </a:xfrm>
          <a:prstGeom prst="rect">
            <a:avLst/>
          </a:prstGeom>
          <a:noFill/>
          <a:ln w="19050">
            <a:solidFill>
              <a:srgbClr val="447BB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pic>
        <p:nvPicPr>
          <p:cNvPr id="14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48879" y="4595774"/>
            <a:ext cx="1261872" cy="249631"/>
          </a:xfrm>
          <a:prstGeom prst="rect">
            <a:avLst/>
          </a:prstGeom>
        </p:spPr>
      </p:pic>
      <p:pic>
        <p:nvPicPr>
          <p:cNvPr id="141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48395" y="4801514"/>
            <a:ext cx="914400" cy="186538"/>
          </a:xfrm>
          <a:prstGeom prst="rect">
            <a:avLst/>
          </a:prstGeom>
        </p:spPr>
      </p:pic>
      <p:pic>
        <p:nvPicPr>
          <p:cNvPr id="142" name="Picture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9852" y="4998110"/>
            <a:ext cx="808330" cy="223114"/>
          </a:xfrm>
          <a:prstGeom prst="rect">
            <a:avLst/>
          </a:prstGeom>
        </p:spPr>
      </p:pic>
      <p:pic>
        <p:nvPicPr>
          <p:cNvPr id="143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86470" y="2571293"/>
            <a:ext cx="731520" cy="185623"/>
          </a:xfrm>
          <a:prstGeom prst="rect">
            <a:avLst/>
          </a:prstGeom>
        </p:spPr>
      </p:pic>
      <p:pic>
        <p:nvPicPr>
          <p:cNvPr id="144" name="Picture 1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40750" y="2345436"/>
            <a:ext cx="822960" cy="94183"/>
          </a:xfrm>
          <a:prstGeom prst="rect">
            <a:avLst/>
          </a:prstGeom>
        </p:spPr>
      </p:pic>
      <p:pic>
        <p:nvPicPr>
          <p:cNvPr id="145" name="Pictur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86039" y="2279599"/>
            <a:ext cx="457200" cy="226771"/>
          </a:xfrm>
          <a:prstGeom prst="rect">
            <a:avLst/>
          </a:prstGeom>
        </p:spPr>
      </p:pic>
      <p:pic>
        <p:nvPicPr>
          <p:cNvPr id="146" name="Picture 2"/>
          <p:cNvPicPr>
            <a:picLocks noChangeAspect="1"/>
          </p:cNvPicPr>
          <p:nvPr/>
        </p:nvPicPr>
        <p:blipFill>
          <a:blip r:embed="rId20"/>
          <a:srcRect l="6989" t="38971" r="6559" b="39290"/>
          <a:stretch>
            <a:fillRect/>
          </a:stretch>
        </p:blipFill>
        <p:spPr>
          <a:xfrm>
            <a:off x="7948879" y="2588666"/>
            <a:ext cx="731520" cy="183794"/>
          </a:xfrm>
          <a:prstGeom prst="rect">
            <a:avLst/>
          </a:prstGeom>
        </p:spPr>
      </p:pic>
      <p:pic>
        <p:nvPicPr>
          <p:cNvPr id="147" name="Picture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4581" y="3087929"/>
            <a:ext cx="914400" cy="253289"/>
          </a:xfrm>
          <a:prstGeom prst="rect">
            <a:avLst/>
          </a:prstGeom>
        </p:spPr>
      </p:pic>
      <p:pic>
        <p:nvPicPr>
          <p:cNvPr id="148" name="Picture 4"/>
          <p:cNvPicPr>
            <a:picLocks noChangeAspect="1"/>
          </p:cNvPicPr>
          <p:nvPr/>
        </p:nvPicPr>
        <p:blipFill>
          <a:blip r:embed="rId22"/>
          <a:srcRect t="43928" b="43272"/>
          <a:stretch>
            <a:fillRect/>
          </a:stretch>
        </p:blipFill>
        <p:spPr>
          <a:xfrm>
            <a:off x="8028432" y="3628339"/>
            <a:ext cx="1466698" cy="187452"/>
          </a:xfrm>
          <a:prstGeom prst="rect">
            <a:avLst/>
          </a:prstGeom>
        </p:spPr>
      </p:pic>
      <p:pic>
        <p:nvPicPr>
          <p:cNvPr id="149" name="Picture 6"/>
          <p:cNvPicPr>
            <a:picLocks noChangeAspect="1"/>
          </p:cNvPicPr>
          <p:nvPr/>
        </p:nvPicPr>
        <p:blipFill>
          <a:blip r:embed="rId23"/>
          <a:srcRect t="44933" b="44796"/>
          <a:stretch>
            <a:fillRect/>
          </a:stretch>
        </p:blipFill>
        <p:spPr>
          <a:xfrm>
            <a:off x="8030261" y="3881628"/>
            <a:ext cx="1463040" cy="149962"/>
          </a:xfrm>
          <a:prstGeom prst="rect">
            <a:avLst/>
          </a:prstGeom>
        </p:spPr>
      </p:pic>
      <p:pic>
        <p:nvPicPr>
          <p:cNvPr id="150" name="Picture 20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474" y="4921301"/>
            <a:ext cx="1084478" cy="249631"/>
          </a:xfrm>
          <a:prstGeom prst="rect">
            <a:avLst/>
          </a:prstGeom>
        </p:spPr>
      </p:pic>
      <p:pic>
        <p:nvPicPr>
          <p:cNvPr id="151" name="Picture 2081"/>
          <p:cNvPicPr>
            <a:picLocks noChangeAspect="1"/>
          </p:cNvPicPr>
          <p:nvPr/>
        </p:nvPicPr>
        <p:blipFill>
          <a:blip r:embed="rId3"/>
          <a:srcRect t="39246" b="40454"/>
          <a:stretch>
            <a:fillRect/>
          </a:stretch>
        </p:blipFill>
        <p:spPr>
          <a:xfrm>
            <a:off x="10180930" y="4606747"/>
            <a:ext cx="1116482" cy="226771"/>
          </a:xfrm>
          <a:prstGeom prst="rect">
            <a:avLst/>
          </a:prstGeom>
        </p:spPr>
      </p:pic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US-Built Ship Demand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Status Quo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Addressable Demand | US-built and flagged oceangoing commercial vessels and high-volume offshore vessels meet desired regulatory and/or serial production requirements.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1638605" y="1596542"/>
            <a:ext cx="20116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US-Built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1639519" y="2215591"/>
            <a:ext cx="20116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US-Flagged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1639519" y="2834640"/>
            <a:ext cx="2011680" cy="457200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Commercially Viable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1639519" y="3453689"/>
            <a:ext cx="2011680" cy="457200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Oceangoing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1639519" y="4691786"/>
            <a:ext cx="2011680" cy="4572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Great Lakes Commercial Vessels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1639519" y="5929884"/>
            <a:ext cx="2011680" cy="4572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Other Categories</a:t>
            </a:r>
          </a:p>
        </p:txBody>
      </p:sp>
      <p:graphicFrame>
        <p:nvGraphicFramePr>
          <p:cNvPr id="106" name="Table 20"/>
          <p:cNvGraphicFramePr>
            <a:graphicFrameLocks noGrp="1"/>
          </p:cNvGraphicFramePr>
          <p:nvPr/>
        </p:nvGraphicFramePr>
        <p:xfrm>
          <a:off x="330098" y="2831897"/>
          <a:ext cx="1155802" cy="10744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55802"/>
              </a:tblGrid>
              <a:tr h="10744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Addressable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Commercial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00777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7" name="Table 24"/>
          <p:cNvGraphicFramePr>
            <a:graphicFrameLocks noGrp="1"/>
          </p:cNvGraphicFramePr>
          <p:nvPr/>
        </p:nvGraphicFramePr>
        <p:xfrm>
          <a:off x="331013" y="4691786"/>
          <a:ext cx="1154887" cy="169529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54887"/>
              </a:tblGrid>
              <a:tr h="169529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969696"/>
                          </a:solidFill>
                          <a:latin typeface="Arial"/>
                          <a:ea typeface="Arial"/>
                          <a:cs typeface="Arial"/>
                        </a:rPr>
                        <a:t>Non-Addressable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969696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8" name="Label"/>
          <p:cNvSpPr txBox="1"/>
          <p:nvPr/>
        </p:nvSpPr>
        <p:spPr>
          <a:xfrm>
            <a:off x="3802075" y="1596542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Provides Jones Act protection or enables subsidy eligibility under pending legislation and potential expansion of other programs; required for certain export/import provisions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3802075" y="3450031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Drives national shipbuilding capacity with avg. gross tonnage 15x+ that of offshore vessels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3802075" y="2831897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Meets capabilities and tonnage required for participation in subsidized programs; priced to achieve revenue targets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3802075" y="5302606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Small fleet size precludes serial production; low gross tonnage per vessel limits national security utility and pricing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3802075" y="4684471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Unlikely to drive meaningful demand given small fleet size (~37 vessels) and low retirement rates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3802075" y="4067251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 fleet size enables serial production (5+ hulls/yr to achieve max labor efficiencies); viable if owner/operators conduct 1-for-1 replacement of expected retirements</a:t>
            </a:r>
          </a:p>
        </p:txBody>
      </p:sp>
      <p:sp>
        <p:nvSpPr>
          <p:cNvPr id="114" name="Rectangle 36"/>
          <p:cNvSpPr txBox="1"/>
          <p:nvPr/>
        </p:nvSpPr>
        <p:spPr>
          <a:xfrm>
            <a:off x="1639519" y="5310835"/>
            <a:ext cx="2011680" cy="4572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Low Volume Offshore </a:t>
            </a:r>
            <a:br/>
            <a:r>
              <a:rPr lang="en-US" sz="12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(ex-PSV and FSV)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graphicFrame>
        <p:nvGraphicFramePr>
          <p:cNvPr id="115" name="Table 49"/>
          <p:cNvGraphicFramePr>
            <a:graphicFrameLocks noGrp="1"/>
          </p:cNvGraphicFramePr>
          <p:nvPr/>
        </p:nvGraphicFramePr>
        <p:xfrm>
          <a:off x="1638605" y="1257300"/>
          <a:ext cx="2011680" cy="274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011680"/>
              </a:tblGrid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Criteria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6" name="Table 50"/>
          <p:cNvGraphicFramePr>
            <a:graphicFrameLocks noGrp="1"/>
          </p:cNvGraphicFramePr>
          <p:nvPr/>
        </p:nvGraphicFramePr>
        <p:xfrm>
          <a:off x="3802075" y="1257300"/>
          <a:ext cx="7934249" cy="274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7934249"/>
              </a:tblGrid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Inclusion / Exclusion Rationale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7" name="Rectangle 54"/>
          <p:cNvSpPr txBox="1"/>
          <p:nvPr/>
        </p:nvSpPr>
        <p:spPr>
          <a:xfrm>
            <a:off x="3802075" y="2214677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as above</a:t>
            </a:r>
          </a:p>
        </p:txBody>
      </p:sp>
      <p:sp>
        <p:nvSpPr>
          <p:cNvPr id="118" name="Rectangle 23"/>
          <p:cNvSpPr txBox="1"/>
          <p:nvPr/>
        </p:nvSpPr>
        <p:spPr>
          <a:xfrm>
            <a:off x="1639519" y="4072738"/>
            <a:ext cx="201168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Volume Offshore</a:t>
            </a:r>
            <a:br/>
            <a:r>
              <a:rPr lang="en-US" sz="12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(PSV and FSV)</a:t>
            </a:r>
          </a:p>
        </p:txBody>
      </p:sp>
      <p:graphicFrame>
        <p:nvGraphicFramePr>
          <p:cNvPr id="119" name="Table 31"/>
          <p:cNvGraphicFramePr>
            <a:graphicFrameLocks noGrp="1"/>
          </p:cNvGraphicFramePr>
          <p:nvPr/>
        </p:nvGraphicFramePr>
        <p:xfrm>
          <a:off x="331013" y="4072738"/>
          <a:ext cx="1154887" cy="4572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54887"/>
              </a:tblGrid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FFC000"/>
                          </a:solidFill>
                          <a:latin typeface="Arial"/>
                          <a:ea typeface="Arial"/>
                          <a:cs typeface="Arial"/>
                        </a:rPr>
                        <a:t>Addressable Offshore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0" name="TextBox 33"/>
          <p:cNvSpPr txBox="1"/>
          <p:nvPr/>
        </p:nvSpPr>
        <p:spPr>
          <a:xfrm>
            <a:off x="3802075" y="5929884"/>
            <a:ext cx="793424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as above</a:t>
            </a:r>
          </a:p>
        </p:txBody>
      </p:sp>
      <p:graphicFrame>
        <p:nvGraphicFramePr>
          <p:cNvPr id="121" name="Table 39"/>
          <p:cNvGraphicFramePr>
            <a:graphicFrameLocks noGrp="1"/>
          </p:cNvGraphicFramePr>
          <p:nvPr/>
        </p:nvGraphicFramePr>
        <p:xfrm>
          <a:off x="330098" y="1596542"/>
          <a:ext cx="1155802" cy="10744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55802"/>
              </a:tblGrid>
              <a:tr h="10744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Table Stakes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SHIPS Act Captive Demand | MSTF can support ~100 more vessels than legally mandated demand for SHIPS Act.</a:t>
            </a:r>
          </a:p>
        </p:txBody>
      </p:sp>
      <p:sp>
        <p:nvSpPr>
          <p:cNvPr id="100" name="Rectangle 4"/>
          <p:cNvSpPr txBox="1"/>
          <p:nvPr/>
        </p:nvSpPr>
        <p:spPr>
          <a:xfrm>
            <a:off x="452628" y="6103620"/>
            <a:ext cx="11308385" cy="29443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Captive demand considers current cargo volumes, growth rates, and annual vessel capacity (driven by number of trips / year, cargo capacity, and utilization)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S&amp;P Panjiva; Clarksons;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SHIPS Act text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EIA AEO LNG Export Table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EIA AEO Crude Export Table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EIA Crude Tanker Descriptions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GAO Report on Government Preference Cargo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US-Built Ship Demand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With SHIPS Act</a:t>
            </a:r>
          </a:p>
        </p:txBody>
      </p:sp>
      <p:graphicFrame>
        <p:nvGraphicFramePr>
          <p:cNvPr id="101" name="Table 10"/>
          <p:cNvGraphicFramePr>
            <a:graphicFrameLocks noGrp="1"/>
          </p:cNvGraphicFramePr>
          <p:nvPr/>
        </p:nvGraphicFramePr>
        <p:xfrm>
          <a:off x="5214823" y="1356055"/>
          <a:ext cx="6482182" cy="3664001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67635"/>
                <a:gridCol w="1645006"/>
                <a:gridCol w="1134770"/>
                <a:gridCol w="1134770"/>
              </a:tblGrid>
              <a:tr h="0">
                <a:tc gridSpan="4"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Legally mandated demand from SHIPS Act Provisions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Provision </a:t>
                      </a: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(Bill Section)</a:t>
                      </a:r>
                      <a:br/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Vessel Type Impacted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% of Cargo</a:t>
                      </a:r>
                      <a:br/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(Start – ramp end)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US-Built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US-Flagged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441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Crude Exports from the US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SEC. 420</a:t>
                      </a:r>
                      <a:br/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Crude Tankers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D4D6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3% to 10%</a:t>
                      </a:r>
                      <a:br/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2027-2040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41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LNG Exports from the US</a:t>
                      </a:r>
                      <a:br/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SEC. 420</a:t>
                      </a:r>
                      <a:br/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LNG Ships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2% to 15%</a:t>
                      </a:r>
                      <a:br/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2027-2047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41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China Imports to the US</a:t>
                      </a:r>
                      <a:br/>
                      <a:r>
                        <a:rPr lang="en-US" sz="1000" i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SEC. 415</a:t>
                      </a:r>
                      <a:br/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Containerships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1% to 10%</a:t>
                      </a:r>
                      <a:br/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2031-2040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41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 Government Cargo Preference</a:t>
                      </a:r>
                      <a:br/>
                      <a:r>
                        <a:rPr lang="en-US" sz="1000" i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SEC. 411</a:t>
                      </a:r>
                      <a:br/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Containerships &amp; Bulk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007770"/>
                    </a:solidFill>
                  </a:tcPr>
                </a:tc>
                <a:tc rowSpan="2"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50% to 100%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br/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180 days after bill passage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41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USDA Program Exports</a:t>
                      </a:r>
                      <a:br/>
                      <a:r>
                        <a:rPr lang="en-US" sz="1000" i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SEC. 418</a:t>
                      </a:r>
                      <a:br/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Containerships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00777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00777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" name="Chart"/>
          <p:cNvGraphicFramePr/>
          <p:nvPr/>
        </p:nvGraphicFramePr>
        <p:xfrm>
          <a:off x="392278" y="1481328"/>
          <a:ext cx="4684471" cy="4273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03" name="Straight Connector 74"/>
          <p:cNvCxnSpPr/>
          <p:nvPr/>
        </p:nvCxnSpPr>
        <p:spPr>
          <a:xfrm flipH="1" flipV="1">
            <a:off x="2376526" y="2079346"/>
            <a:ext cx="92354" cy="63094"/>
          </a:xfrm>
          <a:prstGeom prst="line">
            <a:avLst/>
          </a:prstGeom>
          <a:ln w="6350">
            <a:solidFill>
              <a:srgbClr val="44505C"/>
            </a:solidFill>
            <a:prstDash val="dash"/>
            <a:tailEnd type="triangle" w="med" len="med"/>
          </a:ln>
        </p:spPr>
      </p:cxnSp>
      <p:cxnSp>
        <p:nvCxnSpPr>
          <p:cNvPr id="104" name="Straight Connector 75"/>
          <p:cNvCxnSpPr/>
          <p:nvPr/>
        </p:nvCxnSpPr>
        <p:spPr>
          <a:xfrm flipH="1">
            <a:off x="2376526" y="1990649"/>
            <a:ext cx="92354" cy="63094"/>
          </a:xfrm>
          <a:prstGeom prst="line">
            <a:avLst/>
          </a:prstGeom>
          <a:ln w="6350">
            <a:solidFill>
              <a:srgbClr val="44505C"/>
            </a:solidFill>
            <a:prstDash val="dash"/>
            <a:tailEnd type="triangle" w="med" len="med"/>
          </a:ln>
        </p:spPr>
      </p:cxnSp>
      <p:sp>
        <p:nvSpPr>
          <p:cNvPr id="105" name="Text Placeholder 25"/>
          <p:cNvSpPr txBox="1"/>
          <p:nvPr/>
        </p:nvSpPr>
        <p:spPr>
          <a:xfrm>
            <a:off x="495605" y="1376172"/>
            <a:ext cx="4008730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SCF Supported by MSTF vs. Legally Mandated Demand (# vessels)</a:t>
            </a:r>
          </a:p>
        </p:txBody>
      </p:sp>
      <p:sp>
        <p:nvSpPr>
          <p:cNvPr id="106" name="ValueLabel"/>
          <p:cNvSpPr txBox="1"/>
          <p:nvPr/>
        </p:nvSpPr>
        <p:spPr>
          <a:xfrm>
            <a:off x="2111350" y="2020824"/>
            <a:ext cx="105156" cy="152705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7" name="ValueLabel"/>
          <p:cNvSpPr txBox="1"/>
          <p:nvPr/>
        </p:nvSpPr>
        <p:spPr>
          <a:xfrm>
            <a:off x="4190695" y="3654857"/>
            <a:ext cx="105156" cy="15270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8" name="ValueLabel"/>
          <p:cNvSpPr txBox="1"/>
          <p:nvPr/>
        </p:nvSpPr>
        <p:spPr>
          <a:xfrm>
            <a:off x="3612794" y="3672230"/>
            <a:ext cx="105156" cy="152705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9" name="Text Placeholder 25"/>
          <p:cNvSpPr txBox="1"/>
          <p:nvPr/>
        </p:nvSpPr>
        <p:spPr>
          <a:xfrm>
            <a:off x="1110996" y="5572354"/>
            <a:ext cx="1524305" cy="30449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Strategic Commercial Fleet (supported by MSTF)</a:t>
            </a:r>
          </a:p>
        </p:txBody>
      </p:sp>
      <p:sp>
        <p:nvSpPr>
          <p:cNvPr id="110" name="Text Placeholder 25"/>
          <p:cNvSpPr txBox="1"/>
          <p:nvPr/>
        </p:nvSpPr>
        <p:spPr>
          <a:xfrm>
            <a:off x="3193999" y="5572354"/>
            <a:ext cx="152064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Legally Mandated Demand</a:t>
            </a:r>
          </a:p>
        </p:txBody>
      </p:sp>
      <p:sp>
        <p:nvSpPr>
          <p:cNvPr id="111" name="Text Placeholder 25"/>
          <p:cNvSpPr txBox="1"/>
          <p:nvPr/>
        </p:nvSpPr>
        <p:spPr>
          <a:xfrm>
            <a:off x="1751076" y="1858975"/>
            <a:ext cx="244145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201</a:t>
            </a:r>
          </a:p>
        </p:txBody>
      </p:sp>
      <p:sp>
        <p:nvSpPr>
          <p:cNvPr id="112" name="Text Placeholder 25"/>
          <p:cNvSpPr txBox="1"/>
          <p:nvPr/>
        </p:nvSpPr>
        <p:spPr>
          <a:xfrm>
            <a:off x="3832250" y="3502152"/>
            <a:ext cx="244145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  <p:sp>
        <p:nvSpPr>
          <p:cNvPr id="2000" name="Rectangle 109"/>
          <p:cNvSpPr/>
          <p:nvPr/>
        </p:nvSpPr>
        <p:spPr bwMode="auto">
          <a:xfrm>
            <a:off x="3554413" y="1762125"/>
            <a:ext cx="179388" cy="13335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LegendSwatch"/>
          <p:cNvSpPr txBox="1"/>
          <p:nvPr/>
        </p:nvSpPr>
        <p:spPr>
          <a:xfrm>
            <a:off x="3554273" y="1965046"/>
            <a:ext cx="179222" cy="133502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4" name="LegendSwatch"/>
          <p:cNvSpPr txBox="1"/>
          <p:nvPr/>
        </p:nvSpPr>
        <p:spPr>
          <a:xfrm>
            <a:off x="3554273" y="2168957"/>
            <a:ext cx="179222" cy="1335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5" name="LegendSwatch"/>
          <p:cNvSpPr txBox="1"/>
          <p:nvPr/>
        </p:nvSpPr>
        <p:spPr>
          <a:xfrm>
            <a:off x="3554273" y="2371954"/>
            <a:ext cx="179222" cy="133502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6" name="LegendSwatch"/>
          <p:cNvSpPr txBox="1"/>
          <p:nvPr/>
        </p:nvSpPr>
        <p:spPr>
          <a:xfrm>
            <a:off x="3554273" y="2574950"/>
            <a:ext cx="179222" cy="133502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7" name="LegendSwatch"/>
          <p:cNvSpPr txBox="1"/>
          <p:nvPr/>
        </p:nvSpPr>
        <p:spPr>
          <a:xfrm>
            <a:off x="3554273" y="2777947"/>
            <a:ext cx="179222" cy="133502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8" name="LegendSwatch"/>
          <p:cNvSpPr txBox="1"/>
          <p:nvPr/>
        </p:nvSpPr>
        <p:spPr>
          <a:xfrm>
            <a:off x="3554273" y="2980944"/>
            <a:ext cx="179222" cy="133502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9" name="Label"/>
          <p:cNvSpPr txBox="1"/>
          <p:nvPr/>
        </p:nvSpPr>
        <p:spPr>
          <a:xfrm>
            <a:off x="3784702" y="1757477"/>
            <a:ext cx="31546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120" name="Label"/>
          <p:cNvSpPr txBox="1"/>
          <p:nvPr/>
        </p:nvSpPr>
        <p:spPr>
          <a:xfrm>
            <a:off x="3784702" y="1960474"/>
            <a:ext cx="36667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Ro-Ro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3784702" y="2163470"/>
            <a:ext cx="24597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Bulk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3784702" y="2367382"/>
            <a:ext cx="86319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 Tanker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3784702" y="2570378"/>
            <a:ext cx="77266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Crude Tanker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3784702" y="2773375"/>
            <a:ext cx="26060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LNG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3784702" y="2976372"/>
            <a:ext cx="547726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Container</a:t>
            </a:r>
          </a:p>
        </p:txBody>
      </p:sp>
      <p:sp>
        <p:nvSpPr>
          <p:cNvPr id="126" name="Rectangle 329"/>
          <p:cNvSpPr txBox="1"/>
          <p:nvPr/>
        </p:nvSpPr>
        <p:spPr>
          <a:xfrm>
            <a:off x="5214823" y="5084064"/>
            <a:ext cx="6482182" cy="792785"/>
          </a:xfrm>
          <a:prstGeom prst="rect">
            <a:avLst/>
          </a:prstGeom>
          <a:solidFill>
            <a:srgbClr val="CEDDEC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Reaching ~200 vessels assumes owners accept Opex and D&amp;A differential of operating US-built and flagged vessels vs. foreign-built and flagged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27" name="Rectangle 336"/>
          <p:cNvSpPr txBox="1"/>
          <p:nvPr/>
        </p:nvSpPr>
        <p:spPr>
          <a:xfrm>
            <a:off x="7378294" y="158191"/>
            <a:ext cx="2722169" cy="199339"/>
          </a:xfrm>
          <a:prstGeom prst="rect">
            <a:avLst/>
          </a:prstGeom>
          <a:solidFill>
            <a:srgbClr val="447BB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latin typeface="Arial"/>
                <a:ea typeface="Arial"/>
                <a:cs typeface="Arial"/>
              </a:rPr>
              <a:t>(2) SHIPS Act Scenario</a:t>
            </a:r>
          </a:p>
        </p:txBody>
      </p:sp>
      <p:cxnSp>
        <p:nvCxnSpPr>
          <p:cNvPr id="128" name="Straight Connector 351"/>
          <p:cNvCxnSpPr/>
          <p:nvPr/>
        </p:nvCxnSpPr>
        <p:spPr>
          <a:xfrm flipV="1">
            <a:off x="4533595" y="2000707"/>
            <a:ext cx="681228" cy="1762049"/>
          </a:xfrm>
          <a:prstGeom prst="line">
            <a:avLst/>
          </a:prstGeom>
          <a:ln w="6350">
            <a:solidFill>
              <a:srgbClr val="808080"/>
            </a:solidFill>
            <a:prstDash val="dash"/>
          </a:ln>
        </p:spPr>
      </p:cxnSp>
      <p:cxnSp>
        <p:nvCxnSpPr>
          <p:cNvPr id="129" name="Straight Connector 355"/>
          <p:cNvCxnSpPr/>
          <p:nvPr/>
        </p:nvCxnSpPr>
        <p:spPr>
          <a:xfrm flipV="1">
            <a:off x="4533595" y="2609698"/>
            <a:ext cx="681228" cy="1404518"/>
          </a:xfrm>
          <a:prstGeom prst="line">
            <a:avLst/>
          </a:prstGeom>
          <a:ln w="6350">
            <a:solidFill>
              <a:srgbClr val="808080"/>
            </a:solidFill>
            <a:prstDash val="dash"/>
          </a:ln>
        </p:spPr>
      </p:cxnSp>
      <p:cxnSp>
        <p:nvCxnSpPr>
          <p:cNvPr id="130" name="Straight Connector 358"/>
          <p:cNvCxnSpPr/>
          <p:nvPr/>
        </p:nvCxnSpPr>
        <p:spPr>
          <a:xfrm flipV="1">
            <a:off x="4533595" y="3188513"/>
            <a:ext cx="681228" cy="1538935"/>
          </a:xfrm>
          <a:prstGeom prst="line">
            <a:avLst/>
          </a:prstGeom>
          <a:ln w="6350">
            <a:solidFill>
              <a:srgbClr val="808080"/>
            </a:solidFill>
            <a:prstDash val="dash"/>
          </a:ln>
        </p:spPr>
      </p:cxnSp>
      <p:sp>
        <p:nvSpPr>
          <p:cNvPr id="131" name="Rectangle 53"/>
          <p:cNvSpPr txBox="1"/>
          <p:nvPr/>
        </p:nvSpPr>
        <p:spPr>
          <a:xfrm>
            <a:off x="9724644" y="1089050"/>
            <a:ext cx="91440" cy="213970"/>
          </a:xfrm>
          <a:prstGeom prst="rect">
            <a:avLst/>
          </a:prstGeom>
          <a:noFill/>
          <a:ln w="19050">
            <a:solidFill>
              <a:srgbClr val="FB6B3C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2" name="TextBox 54"/>
          <p:cNvSpPr txBox="1"/>
          <p:nvPr/>
        </p:nvSpPr>
        <p:spPr>
          <a:xfrm>
            <a:off x="9775850" y="1089050"/>
            <a:ext cx="1921154" cy="21397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 Alpha production modeled</a:t>
            </a:r>
          </a:p>
        </p:txBody>
      </p:sp>
      <p:sp>
        <p:nvSpPr>
          <p:cNvPr id="133" name="Rectangle 55"/>
          <p:cNvSpPr txBox="1"/>
          <p:nvPr/>
        </p:nvSpPr>
        <p:spPr>
          <a:xfrm>
            <a:off x="3506724" y="2349094"/>
            <a:ext cx="1188720" cy="389534"/>
          </a:xfrm>
          <a:prstGeom prst="rect">
            <a:avLst/>
          </a:prstGeom>
          <a:noFill/>
          <a:ln w="19050">
            <a:solidFill>
              <a:srgbClr val="FB6B3C"/>
            </a:solidFill>
          </a:ln>
        </p:spPr>
        <p:txBody>
          <a:bodyPr wrap="square" anchor="b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4" name="Rectangle 56"/>
          <p:cNvSpPr txBox="1"/>
          <p:nvPr/>
        </p:nvSpPr>
        <p:spPr>
          <a:xfrm>
            <a:off x="3506724" y="2958998"/>
            <a:ext cx="1188720" cy="189281"/>
          </a:xfrm>
          <a:prstGeom prst="rect">
            <a:avLst/>
          </a:prstGeom>
          <a:noFill/>
          <a:ln w="19050">
            <a:solidFill>
              <a:srgbClr val="FB6B3C"/>
            </a:solidFill>
          </a:ln>
        </p:spPr>
        <p:txBody>
          <a:bodyPr wrap="square" anchor="b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Carrier Entry Point Attractiveness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Matson Test Case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Approach (1/2) | Determining unit economics requires normalizing annual operating expenses and per-voyage cost of sales to a per-unit of cargo basis ($ / TEU).</a:t>
            </a:r>
          </a:p>
        </p:txBody>
      </p:sp>
      <p:graphicFrame>
        <p:nvGraphicFramePr>
          <p:cNvPr id="100" name="Table 8"/>
          <p:cNvGraphicFramePr>
            <a:graphicFrameLocks noGrp="1"/>
          </p:cNvGraphicFramePr>
          <p:nvPr/>
        </p:nvGraphicFramePr>
        <p:xfrm>
          <a:off x="472745" y="1286561"/>
          <a:ext cx="11247120" cy="50749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371600"/>
                <a:gridCol w="274320"/>
                <a:gridCol w="3017520"/>
                <a:gridCol w="274320"/>
                <a:gridCol w="3017520"/>
                <a:gridCol w="274320"/>
                <a:gridCol w="3017520"/>
              </a:tblGrid>
              <a:tr h="117958">
                <a:tc rowSpan="2"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 each route and vessel size / type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Price / cost categories by frequency (reported or incurred)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Annual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 Voyage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 Unit (TEU)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2E7D3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2E7D3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Basic Ocean Rate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2E7D3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2E7D3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Fuel Adjustment Factor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2E7D3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2E7D3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Terminal Handling / Stevedoring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2E7D3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2E7D3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Wharfage / Other Fees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rowSpan="2"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Variable Costs 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BFBFB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BFBFB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Pilotage &amp; Tugboats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Terminal Handling &amp; Stevedoring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BFBFB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Bunker fuel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Wharfage &amp; Other Fees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BFBFB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BFBFB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Dockage &amp; Other Usage Fees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rowSpan="8"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Operating Expenses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Crew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Insurance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Stores &amp; Spares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Lubricating Oils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Repair &amp; Maintenance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Dry-dock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Management &amp; Administration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Depreciation &amp; Amortization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 w="7620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b">
                    <a:lnL w="7620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Other (e.g., Travel)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1" name="Rectangle 19"/>
          <p:cNvSpPr txBox="1"/>
          <p:nvPr/>
        </p:nvSpPr>
        <p:spPr>
          <a:xfrm>
            <a:off x="5328209" y="3032150"/>
            <a:ext cx="3157423" cy="1205179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b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find Normalized Cost of Sales: Divide by 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cargo units per relevant voyage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(route-specific volume)</a:t>
            </a:r>
          </a:p>
        </p:txBody>
      </p:sp>
      <p:sp>
        <p:nvSpPr>
          <p:cNvPr id="102" name="Rectangle 20"/>
          <p:cNvSpPr txBox="1"/>
          <p:nvPr/>
        </p:nvSpPr>
        <p:spPr>
          <a:xfrm>
            <a:off x="2057400" y="3981298"/>
            <a:ext cx="3157423" cy="2392070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b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cxnSp>
        <p:nvCxnSpPr>
          <p:cNvPr id="103" name="Connector: Elbow 22"/>
          <p:cNvCxnSpPr/>
          <p:nvPr/>
        </p:nvCxnSpPr>
        <p:spPr>
          <a:xfrm>
            <a:off x="8485632" y="3634740"/>
            <a:ext cx="205740" cy="11338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4" name="Rectangle 25"/>
          <p:cNvSpPr txBox="1"/>
          <p:nvPr/>
        </p:nvSpPr>
        <p:spPr>
          <a:xfrm>
            <a:off x="8691372" y="3623767"/>
            <a:ext cx="3007462" cy="249631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(per unit) Variable Costs</a:t>
            </a:r>
          </a:p>
        </p:txBody>
      </p:sp>
      <p:sp>
        <p:nvSpPr>
          <p:cNvPr id="105" name="Rectangle 32"/>
          <p:cNvSpPr txBox="1"/>
          <p:nvPr/>
        </p:nvSpPr>
        <p:spPr>
          <a:xfrm>
            <a:off x="8714232" y="4033418"/>
            <a:ext cx="3007462" cy="2146097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Normalized (per unit) Opex</a:t>
            </a:r>
          </a:p>
        </p:txBody>
      </p:sp>
      <p:sp>
        <p:nvSpPr>
          <p:cNvPr id="106" name="TextBox 41"/>
          <p:cNvSpPr txBox="1"/>
          <p:nvPr/>
        </p:nvSpPr>
        <p:spPr>
          <a:xfrm>
            <a:off x="5209337" y="5188306"/>
            <a:ext cx="3507638" cy="120060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find Normalized Opex: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Multiply 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Opex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by 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proportion of relevant days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to find annual Opex per route, then divide by 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relevant voyages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to find Opex per voyage, then divide by 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cargo units per relevant voyage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(route-specific volume)</a:t>
            </a:r>
            <a:br/>
            <a:br/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find proportion of relevant days: Days on route + days idle (loiter, maintenance, in port) attributable to a given route / 365 days</a:t>
            </a:r>
          </a:p>
        </p:txBody>
      </p:sp>
      <p:cxnSp>
        <p:nvCxnSpPr>
          <p:cNvPr id="107" name="Connector: Elbow 42"/>
          <p:cNvCxnSpPr/>
          <p:nvPr/>
        </p:nvCxnSpPr>
        <p:spPr>
          <a:xfrm flipV="1">
            <a:off x="5214823" y="5106924"/>
            <a:ext cx="3499409" cy="7040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8" name="TextBox 46"/>
          <p:cNvSpPr txBox="1"/>
          <p:nvPr/>
        </p:nvSpPr>
        <p:spPr>
          <a:xfrm>
            <a:off x="8321040" y="106436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Price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Components</a:t>
            </a:r>
          </a:p>
        </p:txBody>
      </p:sp>
      <p:sp>
        <p:nvSpPr>
          <p:cNvPr id="109" name="LegendSwatch"/>
          <p:cNvSpPr txBox="1"/>
          <p:nvPr/>
        </p:nvSpPr>
        <p:spPr>
          <a:xfrm>
            <a:off x="9069934" y="1064362"/>
            <a:ext cx="182880" cy="18288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0" name="LegendSwatch"/>
          <p:cNvSpPr txBox="1"/>
          <p:nvPr/>
        </p:nvSpPr>
        <p:spPr>
          <a:xfrm>
            <a:off x="8119872" y="1064362"/>
            <a:ext cx="18288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1" name="LegendSwatch"/>
          <p:cNvSpPr txBox="1"/>
          <p:nvPr/>
        </p:nvSpPr>
        <p:spPr>
          <a:xfrm>
            <a:off x="10111435" y="1064362"/>
            <a:ext cx="182880" cy="18288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2" name="LegendSwatch"/>
          <p:cNvSpPr txBox="1"/>
          <p:nvPr/>
        </p:nvSpPr>
        <p:spPr>
          <a:xfrm>
            <a:off x="11152937" y="1064362"/>
            <a:ext cx="182880" cy="182880"/>
          </a:xfrm>
          <a:prstGeom prst="rect">
            <a:avLst/>
          </a:prstGeom>
          <a:solidFill>
            <a:srgbClr val="7F7F7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3" name="TextBox 48"/>
          <p:cNvSpPr txBox="1"/>
          <p:nvPr/>
        </p:nvSpPr>
        <p:spPr>
          <a:xfrm>
            <a:off x="9271102" y="106436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Shoreside 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variable costs</a:t>
            </a:r>
          </a:p>
        </p:txBody>
      </p:sp>
      <p:sp>
        <p:nvSpPr>
          <p:cNvPr id="114" name="TextBox 51"/>
          <p:cNvSpPr txBox="1"/>
          <p:nvPr/>
        </p:nvSpPr>
        <p:spPr>
          <a:xfrm>
            <a:off x="10312603" y="106527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Vessel-related 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variable costs</a:t>
            </a:r>
          </a:p>
        </p:txBody>
      </p:sp>
      <p:sp>
        <p:nvSpPr>
          <p:cNvPr id="115" name="TextBox 53"/>
          <p:cNvSpPr txBox="1"/>
          <p:nvPr/>
        </p:nvSpPr>
        <p:spPr>
          <a:xfrm>
            <a:off x="11354105" y="106436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Carrier Entry Point Attractiveness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Matson Test Case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Approach (2/2) | To find annual volume and price per unit of cargo ($ / TEU).</a:t>
            </a:r>
          </a:p>
        </p:txBody>
      </p:sp>
      <p:sp>
        <p:nvSpPr>
          <p:cNvPr id="100" name="LegendSwatch"/>
          <p:cNvSpPr txBox="1"/>
          <p:nvPr/>
        </p:nvSpPr>
        <p:spPr>
          <a:xfrm>
            <a:off x="1504188" y="4554626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1" name="LegendSwatch"/>
          <p:cNvSpPr txBox="1"/>
          <p:nvPr/>
        </p:nvSpPr>
        <p:spPr>
          <a:xfrm>
            <a:off x="4630522" y="2681935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2" name="LegendSwatch"/>
          <p:cNvSpPr txBox="1"/>
          <p:nvPr/>
        </p:nvSpPr>
        <p:spPr>
          <a:xfrm>
            <a:off x="7739482" y="2681935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3" name="LegendSwatch"/>
          <p:cNvSpPr txBox="1"/>
          <p:nvPr/>
        </p:nvSpPr>
        <p:spPr>
          <a:xfrm>
            <a:off x="6185002" y="4554626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4" name="LegendSwatch"/>
          <p:cNvSpPr txBox="1"/>
          <p:nvPr/>
        </p:nvSpPr>
        <p:spPr>
          <a:xfrm>
            <a:off x="6185002" y="5803697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5" name="LegendSwatch"/>
          <p:cNvSpPr txBox="1"/>
          <p:nvPr/>
        </p:nvSpPr>
        <p:spPr>
          <a:xfrm>
            <a:off x="1504188" y="3305556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6" name="LegendSwatch"/>
          <p:cNvSpPr txBox="1"/>
          <p:nvPr/>
        </p:nvSpPr>
        <p:spPr>
          <a:xfrm>
            <a:off x="1504188" y="5803697"/>
            <a:ext cx="274320" cy="274320"/>
          </a:xfrm>
          <a:prstGeom prst="mathEqual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07" name="Connector: Elbow 52"/>
          <p:cNvCxnSpPr/>
          <p:nvPr/>
        </p:nvCxnSpPr>
        <p:spPr>
          <a:xfrm rot="5400000">
            <a:off x="6946697" y="2665476"/>
            <a:ext cx="304495" cy="155448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8" name="Rectangle 77"/>
          <p:cNvSpPr txBox="1"/>
          <p:nvPr/>
        </p:nvSpPr>
        <p:spPr>
          <a:xfrm>
            <a:off x="5133442" y="3595421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Mix-weighted avg. basic ocean rate </a:t>
            </a:r>
            <a:br/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 / TEU)</a:t>
            </a:r>
          </a:p>
        </p:txBody>
      </p:sp>
      <p:sp>
        <p:nvSpPr>
          <p:cNvPr id="109" name="LegendSwatch"/>
          <p:cNvSpPr txBox="1"/>
          <p:nvPr/>
        </p:nvSpPr>
        <p:spPr>
          <a:xfrm rot="5400000">
            <a:off x="6185002" y="2980944"/>
            <a:ext cx="274320" cy="27432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0" name="LegendSwatch"/>
          <p:cNvSpPr txBox="1"/>
          <p:nvPr/>
        </p:nvSpPr>
        <p:spPr>
          <a:xfrm rot="5400000">
            <a:off x="10373868" y="3930091"/>
            <a:ext cx="274320" cy="27432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1" name="LegendSwatch"/>
          <p:cNvSpPr txBox="1"/>
          <p:nvPr/>
        </p:nvSpPr>
        <p:spPr>
          <a:xfrm rot="5400000">
            <a:off x="10373868" y="4554626"/>
            <a:ext cx="274320" cy="27432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2" name="LegendSwatch"/>
          <p:cNvSpPr txBox="1"/>
          <p:nvPr/>
        </p:nvSpPr>
        <p:spPr>
          <a:xfrm rot="5400000">
            <a:off x="6185002" y="5179162"/>
            <a:ext cx="274320" cy="27432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3" name="Label"/>
          <p:cNvSpPr txBox="1"/>
          <p:nvPr/>
        </p:nvSpPr>
        <p:spPr>
          <a:xfrm>
            <a:off x="452628" y="2346350"/>
            <a:ext cx="23774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voyage count (#)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452628" y="2970886"/>
            <a:ext cx="23774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capacity (#)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452628" y="4219956"/>
            <a:ext cx="2377440" cy="3200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Vessel utilization (%)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452628" y="4843577"/>
            <a:ext cx="23774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container volume (#) </a:t>
            </a:r>
          </a:p>
        </p:txBody>
      </p:sp>
      <p:sp>
        <p:nvSpPr>
          <p:cNvPr id="117" name="Label"/>
          <p:cNvSpPr txBox="1"/>
          <p:nvPr/>
        </p:nvSpPr>
        <p:spPr>
          <a:xfrm>
            <a:off x="6687922" y="2346350"/>
            <a:ext cx="2377440" cy="3200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FEU proportion of cargo type (%)</a:t>
            </a:r>
          </a:p>
        </p:txBody>
      </p:sp>
      <p:sp>
        <p:nvSpPr>
          <p:cNvPr id="118" name="Label"/>
          <p:cNvSpPr txBox="1"/>
          <p:nvPr/>
        </p:nvSpPr>
        <p:spPr>
          <a:xfrm>
            <a:off x="3578962" y="2346350"/>
            <a:ext cx="2377440" cy="3200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TEU proportion of cargo type (%)</a:t>
            </a:r>
          </a:p>
        </p:txBody>
      </p:sp>
      <p:sp>
        <p:nvSpPr>
          <p:cNvPr id="119" name="Label"/>
          <p:cNvSpPr txBox="1"/>
          <p:nvPr/>
        </p:nvSpPr>
        <p:spPr>
          <a:xfrm>
            <a:off x="5133442" y="4219956"/>
            <a:ext cx="2377440" cy="3200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Cargo type proportion of total volume (%)</a:t>
            </a:r>
          </a:p>
        </p:txBody>
      </p:sp>
      <p:sp>
        <p:nvSpPr>
          <p:cNvPr id="120" name="Label"/>
          <p:cNvSpPr txBox="1"/>
          <p:nvPr/>
        </p:nvSpPr>
        <p:spPr>
          <a:xfrm>
            <a:off x="452628" y="3595421"/>
            <a:ext cx="23774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vessel capacity (#)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452628" y="5468112"/>
            <a:ext cx="23774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voyage count (#)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452628" y="6092647"/>
            <a:ext cx="237744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Avg. container volume per voyage (#)</a:t>
            </a:r>
          </a:p>
        </p:txBody>
      </p:sp>
      <p:sp>
        <p:nvSpPr>
          <p:cNvPr id="123" name="Rectangle 19"/>
          <p:cNvSpPr txBox="1"/>
          <p:nvPr/>
        </p:nvSpPr>
        <p:spPr>
          <a:xfrm>
            <a:off x="452628" y="1721815"/>
            <a:ext cx="23774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Vessel (e.g., Maunawili)</a:t>
            </a:r>
          </a:p>
        </p:txBody>
      </p:sp>
      <p:graphicFrame>
        <p:nvGraphicFramePr>
          <p:cNvPr id="124" name="Table 39"/>
          <p:cNvGraphicFramePr>
            <a:graphicFrameLocks noGrp="1"/>
          </p:cNvGraphicFramePr>
          <p:nvPr/>
        </p:nvGraphicFramePr>
        <p:xfrm>
          <a:off x="452628" y="1338682"/>
          <a:ext cx="2834640" cy="274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83464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Container Volume </a:t>
                      </a:r>
                    </a:p>
                  </a:txBody>
                  <a:tcPr marL="37785" marR="37785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5" name="Table 40"/>
          <p:cNvGraphicFramePr>
            <a:graphicFrameLocks noGrp="1"/>
          </p:cNvGraphicFramePr>
          <p:nvPr/>
        </p:nvGraphicFramePr>
        <p:xfrm>
          <a:off x="3470148" y="1338682"/>
          <a:ext cx="8229600" cy="2743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822960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Container Price</a:t>
                      </a:r>
                    </a:p>
                  </a:txBody>
                  <a:tcPr marL="37785" marR="37785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6" name="LegendSwatch"/>
          <p:cNvSpPr txBox="1"/>
          <p:nvPr/>
        </p:nvSpPr>
        <p:spPr>
          <a:xfrm>
            <a:off x="1504188" y="2681935"/>
            <a:ext cx="274320" cy="27432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7" name="LegendSwatch"/>
          <p:cNvSpPr txBox="1"/>
          <p:nvPr/>
        </p:nvSpPr>
        <p:spPr>
          <a:xfrm>
            <a:off x="7739482" y="2057400"/>
            <a:ext cx="274320" cy="27432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8" name="LegendSwatch"/>
          <p:cNvSpPr txBox="1"/>
          <p:nvPr/>
        </p:nvSpPr>
        <p:spPr>
          <a:xfrm>
            <a:off x="4630522" y="2057400"/>
            <a:ext cx="274320" cy="27432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9" name="LegendSwatch"/>
          <p:cNvSpPr txBox="1"/>
          <p:nvPr/>
        </p:nvSpPr>
        <p:spPr>
          <a:xfrm>
            <a:off x="7624267" y="4866437"/>
            <a:ext cx="274320" cy="27432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0" name="LegendSwatch"/>
          <p:cNvSpPr txBox="1"/>
          <p:nvPr/>
        </p:nvSpPr>
        <p:spPr>
          <a:xfrm>
            <a:off x="6185002" y="3930091"/>
            <a:ext cx="274320" cy="27432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1" name="LegendSwatch"/>
          <p:cNvSpPr txBox="1"/>
          <p:nvPr/>
        </p:nvSpPr>
        <p:spPr>
          <a:xfrm>
            <a:off x="1504188" y="3930091"/>
            <a:ext cx="274320" cy="27432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2" name="Label"/>
          <p:cNvSpPr txBox="1"/>
          <p:nvPr/>
        </p:nvSpPr>
        <p:spPr>
          <a:xfrm>
            <a:off x="9322308" y="3595421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Fuel surcharge ($ / TEU)</a:t>
            </a:r>
          </a:p>
        </p:txBody>
      </p:sp>
      <p:sp>
        <p:nvSpPr>
          <p:cNvPr id="133" name="Label"/>
          <p:cNvSpPr txBox="1"/>
          <p:nvPr/>
        </p:nvSpPr>
        <p:spPr>
          <a:xfrm>
            <a:off x="3578962" y="1721815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Avg. TEU basic ocean rate within cargo type ($ / TEU)</a:t>
            </a:r>
          </a:p>
        </p:txBody>
      </p:sp>
      <p:sp>
        <p:nvSpPr>
          <p:cNvPr id="134" name="Label"/>
          <p:cNvSpPr txBox="1"/>
          <p:nvPr/>
        </p:nvSpPr>
        <p:spPr>
          <a:xfrm>
            <a:off x="6687922" y="1721815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Avg. FEU container rate within cargo type, normalized to TEU ($ / TEU)</a:t>
            </a:r>
          </a:p>
        </p:txBody>
      </p:sp>
      <p:sp>
        <p:nvSpPr>
          <p:cNvPr id="135" name="Label"/>
          <p:cNvSpPr txBox="1"/>
          <p:nvPr/>
        </p:nvSpPr>
        <p:spPr>
          <a:xfrm>
            <a:off x="9322308" y="4219956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Wharfage / Other Fees ($ / TEU)</a:t>
            </a:r>
          </a:p>
        </p:txBody>
      </p:sp>
      <p:sp>
        <p:nvSpPr>
          <p:cNvPr id="136" name="Label"/>
          <p:cNvSpPr txBox="1"/>
          <p:nvPr/>
        </p:nvSpPr>
        <p:spPr>
          <a:xfrm>
            <a:off x="6687922" y="2970886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Mix-weighted FEU basic ocean rate, normalized to TEU ($ / TEU)</a:t>
            </a:r>
          </a:p>
        </p:txBody>
      </p:sp>
      <p:sp>
        <p:nvSpPr>
          <p:cNvPr id="137" name="Label"/>
          <p:cNvSpPr txBox="1"/>
          <p:nvPr/>
        </p:nvSpPr>
        <p:spPr>
          <a:xfrm>
            <a:off x="8011973" y="4843577"/>
            <a:ext cx="1122883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Surcharge (%)</a:t>
            </a:r>
          </a:p>
        </p:txBody>
      </p:sp>
      <p:sp>
        <p:nvSpPr>
          <p:cNvPr id="138" name="Label"/>
          <p:cNvSpPr txBox="1"/>
          <p:nvPr/>
        </p:nvSpPr>
        <p:spPr>
          <a:xfrm>
            <a:off x="5133442" y="4843577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Volume-weighted avg. basic ocean rate ($ / TEU)</a:t>
            </a:r>
          </a:p>
        </p:txBody>
      </p:sp>
      <p:sp>
        <p:nvSpPr>
          <p:cNvPr id="139" name="Label"/>
          <p:cNvSpPr txBox="1"/>
          <p:nvPr/>
        </p:nvSpPr>
        <p:spPr>
          <a:xfrm>
            <a:off x="5133442" y="5468112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Ancillary charges ($ / TEU)</a:t>
            </a:r>
          </a:p>
        </p:txBody>
      </p:sp>
      <p:sp>
        <p:nvSpPr>
          <p:cNvPr id="140" name="Rectangle 71"/>
          <p:cNvSpPr txBox="1"/>
          <p:nvPr/>
        </p:nvSpPr>
        <p:spPr>
          <a:xfrm>
            <a:off x="9322308" y="4843577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Terminal Handling / Stevedoring</a:t>
            </a:r>
            <a:br/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 / TEU)</a:t>
            </a:r>
          </a:p>
        </p:txBody>
      </p:sp>
      <p:sp>
        <p:nvSpPr>
          <p:cNvPr id="141" name="Rectangle 72"/>
          <p:cNvSpPr txBox="1"/>
          <p:nvPr/>
        </p:nvSpPr>
        <p:spPr>
          <a:xfrm>
            <a:off x="3578962" y="6092647"/>
            <a:ext cx="548640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Total weighted avg. container price</a:t>
            </a:r>
            <a:br/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 / TEU)</a:t>
            </a:r>
          </a:p>
        </p:txBody>
      </p:sp>
      <p:sp>
        <p:nvSpPr>
          <p:cNvPr id="142" name="Rectangle 73"/>
          <p:cNvSpPr txBox="1"/>
          <p:nvPr/>
        </p:nvSpPr>
        <p:spPr>
          <a:xfrm>
            <a:off x="3578962" y="2970886"/>
            <a:ext cx="237744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Mix-weighted TEU basic ocean rate </a:t>
            </a:r>
            <a:br/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 / TEU)</a:t>
            </a:r>
          </a:p>
        </p:txBody>
      </p:sp>
      <p:cxnSp>
        <p:nvCxnSpPr>
          <p:cNvPr id="143" name="Connector: Elbow 92"/>
          <p:cNvCxnSpPr/>
          <p:nvPr/>
        </p:nvCxnSpPr>
        <p:spPr>
          <a:xfrm rot="16200000" flipH="1">
            <a:off x="5392217" y="2665476"/>
            <a:ext cx="304495" cy="155448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4" name="Connector: Elbow 97"/>
          <p:cNvCxnSpPr/>
          <p:nvPr/>
        </p:nvCxnSpPr>
        <p:spPr>
          <a:xfrm flipV="1">
            <a:off x="9133942" y="3755441"/>
            <a:ext cx="188366" cy="12481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5" name="Rectangle 118"/>
          <p:cNvSpPr txBox="1"/>
          <p:nvPr/>
        </p:nvSpPr>
        <p:spPr>
          <a:xfrm>
            <a:off x="3470148" y="1671523"/>
            <a:ext cx="5663794" cy="2902306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b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  <a:p>
            <a:pPr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Repeat across </a:t>
            </a:r>
            <a:br/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cargo types</a:t>
            </a:r>
          </a:p>
        </p:txBody>
      </p:sp>
      <p:sp>
        <p:nvSpPr>
          <p:cNvPr id="146" name="Speech Bubble: Rectangle 105"/>
          <p:cNvSpPr txBox="1"/>
          <p:nvPr/>
        </p:nvSpPr>
        <p:spPr>
          <a:xfrm>
            <a:off x="9293962" y="2268626"/>
            <a:ext cx="2406701" cy="674827"/>
          </a:xfrm>
          <a:prstGeom prst="wedgeRectCallout">
            <a:avLst>
              <a:gd name="adj1" fmla="val -59942"/>
              <a:gd name="adj2" fmla="val 53401"/>
            </a:avLst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 mix-weighted rate required as TEU generally have higher basic ocean and terminal handling / stevedoring charges vs. normalized FEU</a:t>
            </a:r>
          </a:p>
        </p:txBody>
      </p:sp>
      <p:cxnSp>
        <p:nvCxnSpPr>
          <p:cNvPr id="147" name="Connector: Elbow 136"/>
          <p:cNvCxnSpPr/>
          <p:nvPr/>
        </p:nvCxnSpPr>
        <p:spPr>
          <a:xfrm rot="5400000">
            <a:off x="8779154" y="3895344"/>
            <a:ext cx="464515" cy="3001061"/>
          </a:xfrm>
          <a:prstGeom prst="bentConnector2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8" name="Speech Bubble: Rectangle 139"/>
          <p:cNvSpPr txBox="1"/>
          <p:nvPr/>
        </p:nvSpPr>
        <p:spPr>
          <a:xfrm>
            <a:off x="10648188" y="5316322"/>
            <a:ext cx="1221638" cy="572414"/>
          </a:xfrm>
          <a:prstGeom prst="wedgeRectCallout">
            <a:avLst>
              <a:gd name="adj1" fmla="val 5870"/>
              <a:gd name="adj2" fmla="val -74249"/>
            </a:avLst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Also weighted by TEU/FEU mix and cargo composition </a:t>
            </a:r>
          </a:p>
        </p:txBody>
      </p:sp>
      <p:cxnSp>
        <p:nvCxnSpPr>
          <p:cNvPr id="149" name="Straight Arrow Connector 143"/>
          <p:cNvCxnSpPr/>
          <p:nvPr/>
        </p:nvCxnSpPr>
        <p:spPr>
          <a:xfrm>
            <a:off x="1641348" y="2041855"/>
            <a:ext cx="0" cy="304495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50" name="Speech Bubble: Rectangle 158"/>
          <p:cNvSpPr txBox="1"/>
          <p:nvPr/>
        </p:nvSpPr>
        <p:spPr>
          <a:xfrm>
            <a:off x="2859329" y="4656125"/>
            <a:ext cx="1390802" cy="1132027"/>
          </a:xfrm>
          <a:prstGeom prst="wedgeRectCallout">
            <a:avLst>
              <a:gd name="adj1" fmla="val -55587"/>
              <a:gd name="adj2" fmla="val -66064"/>
            </a:avLst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Matson does not publish utilization metrics; thus, utilization is solved for using published &amp; forecast annual and quarterly container volume, westbound / eastbound cargo proportions, and cargo type proportions</a:t>
            </a:r>
          </a:p>
        </p:txBody>
      </p:sp>
      <p:sp>
        <p:nvSpPr>
          <p:cNvPr id="151" name="Division Sign 159"/>
          <p:cNvSpPr txBox="1"/>
          <p:nvPr/>
        </p:nvSpPr>
        <p:spPr>
          <a:xfrm>
            <a:off x="1504188" y="5179162"/>
            <a:ext cx="274320" cy="274320"/>
          </a:xfrm>
          <a:prstGeom prst="mathDivide">
            <a:avLst/>
          </a:prstGeom>
          <a:solidFill>
            <a:srgbClr val="00000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52" name="Connector: Elbow 169"/>
          <p:cNvCxnSpPr/>
          <p:nvPr/>
        </p:nvCxnSpPr>
        <p:spPr>
          <a:xfrm rot="10800000" flipV="1">
            <a:off x="452628" y="2506370"/>
            <a:ext cx="12802" cy="3121762"/>
          </a:xfrm>
          <a:prstGeom prst="bentConnector3">
            <a:avLst>
              <a:gd name="adj1" fmla="val 1800000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53" name="TextBox 172"/>
          <p:cNvSpPr txBox="1"/>
          <p:nvPr/>
        </p:nvSpPr>
        <p:spPr>
          <a:xfrm>
            <a:off x="6943039" y="1064362"/>
            <a:ext cx="5004511" cy="21397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 across all routes and vessels</a:t>
            </a:r>
          </a:p>
        </p:txBody>
      </p:sp>
      <p:sp>
        <p:nvSpPr>
          <p:cNvPr id="154" name="TextBox 173"/>
          <p:cNvSpPr txBox="1"/>
          <p:nvPr/>
        </p:nvSpPr>
        <p:spPr>
          <a:xfrm>
            <a:off x="6943039" y="1351483"/>
            <a:ext cx="5004511" cy="21397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 find volume and price for dry cargo TEUs, refrigerated TEUs, and automobiles</a:t>
            </a:r>
          </a:p>
        </p:txBody>
      </p:sp>
      <p:sp>
        <p:nvSpPr>
          <p:cNvPr id="155" name="Label"/>
          <p:cNvSpPr txBox="1"/>
          <p:nvPr/>
        </p:nvSpPr>
        <p:spPr>
          <a:xfrm>
            <a:off x="1579169" y="1063447"/>
            <a:ext cx="687629" cy="215798"/>
          </a:xfrm>
          <a:prstGeom prst="rect">
            <a:avLst/>
          </a:prstGeom>
          <a:noFill/>
          <a:ln>
            <a:noFill/>
          </a:ln>
        </p:spPr>
        <p:txBody>
          <a:bodyPr wrap="non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Volume (#)</a:t>
            </a:r>
          </a:p>
        </p:txBody>
      </p:sp>
      <p:sp>
        <p:nvSpPr>
          <p:cNvPr id="156" name="Label"/>
          <p:cNvSpPr txBox="1"/>
          <p:nvPr/>
        </p:nvSpPr>
        <p:spPr>
          <a:xfrm>
            <a:off x="648310" y="1063447"/>
            <a:ext cx="572414" cy="215798"/>
          </a:xfrm>
          <a:prstGeom prst="rect">
            <a:avLst/>
          </a:prstGeom>
          <a:noFill/>
          <a:ln>
            <a:noFill/>
          </a:ln>
        </p:spPr>
        <p:txBody>
          <a:bodyPr wrap="non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Price ($)</a:t>
            </a:r>
          </a:p>
        </p:txBody>
      </p:sp>
      <p:sp>
        <p:nvSpPr>
          <p:cNvPr id="157" name="Label"/>
          <p:cNvSpPr txBox="1"/>
          <p:nvPr/>
        </p:nvSpPr>
        <p:spPr>
          <a:xfrm>
            <a:off x="2647188" y="1063447"/>
            <a:ext cx="899770" cy="215798"/>
          </a:xfrm>
          <a:prstGeom prst="rect">
            <a:avLst/>
          </a:prstGeom>
          <a:noFill/>
          <a:ln>
            <a:noFill/>
          </a:ln>
        </p:spPr>
        <p:txBody>
          <a:bodyPr wrap="non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Proportions (%)</a:t>
            </a:r>
          </a:p>
        </p:txBody>
      </p:sp>
      <p:sp>
        <p:nvSpPr>
          <p:cNvPr id="158" name="LegendSwatch"/>
          <p:cNvSpPr txBox="1"/>
          <p:nvPr/>
        </p:nvSpPr>
        <p:spPr>
          <a:xfrm>
            <a:off x="444398" y="1063447"/>
            <a:ext cx="211226" cy="213970"/>
          </a:xfrm>
          <a:prstGeom prst="rect">
            <a:avLst/>
          </a:prstGeom>
          <a:solidFill>
            <a:srgbClr val="2E7D32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9" name="LegendSwatch"/>
          <p:cNvSpPr txBox="1"/>
          <p:nvPr/>
        </p:nvSpPr>
        <p:spPr>
          <a:xfrm>
            <a:off x="1375258" y="1063447"/>
            <a:ext cx="211226" cy="213970"/>
          </a:xfrm>
          <a:prstGeom prst="rect">
            <a:avLst/>
          </a:prstGeom>
          <a:solidFill>
            <a:srgbClr val="F2F2F2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60" name="LegendSwatch"/>
          <p:cNvSpPr txBox="1"/>
          <p:nvPr/>
        </p:nvSpPr>
        <p:spPr>
          <a:xfrm>
            <a:off x="2442362" y="1063447"/>
            <a:ext cx="211226" cy="213970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Chart"/>
          <p:cNvGraphicFramePr/>
          <p:nvPr/>
        </p:nvGraphicFramePr>
        <p:xfrm>
          <a:off x="401422" y="1885493"/>
          <a:ext cx="5091379" cy="3757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1" name="Text Placeholder 25"/>
          <p:cNvSpPr txBox="1"/>
          <p:nvPr/>
        </p:nvSpPr>
        <p:spPr>
          <a:xfrm>
            <a:off x="484632" y="1709928"/>
            <a:ext cx="40517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Weighted avg. freight charges, normalized on TEU basis ($K, CY25)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2841955" y="4550969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2.8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2841955" y="3450946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2841955" y="3017520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2841955" y="2585923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2490826" y="2385670"/>
            <a:ext cx="209398" cy="15270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3193999" y="2286000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2454250" y="2219249"/>
            <a:ext cx="284378" cy="1527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&lt;0.1</a:t>
            </a:r>
          </a:p>
        </p:txBody>
      </p:sp>
      <p:sp>
        <p:nvSpPr>
          <p:cNvPr id="109" name="Text Placeholder 25"/>
          <p:cNvSpPr txBox="1"/>
          <p:nvPr/>
        </p:nvSpPr>
        <p:spPr>
          <a:xfrm>
            <a:off x="2841955" y="2066544"/>
            <a:ext cx="209398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4.9</a:t>
            </a:r>
          </a:p>
        </p:txBody>
      </p:sp>
      <p:sp>
        <p:nvSpPr>
          <p:cNvPr id="110" name="Text Placeholder 25"/>
          <p:cNvSpPr txBox="1"/>
          <p:nvPr/>
        </p:nvSpPr>
        <p:spPr>
          <a:xfrm>
            <a:off x="2268626" y="5603443"/>
            <a:ext cx="1356970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 Beach to Honolulu</a:t>
            </a:r>
          </a:p>
        </p:txBody>
      </p:sp>
      <p:sp>
        <p:nvSpPr>
          <p:cNvPr id="111" name="Rectangle 304"/>
          <p:cNvSpPr txBox="1"/>
          <p:nvPr/>
        </p:nvSpPr>
        <p:spPr>
          <a:xfrm>
            <a:off x="401422" y="4843577"/>
            <a:ext cx="1796796" cy="555955"/>
          </a:xfrm>
          <a:prstGeom prst="rect">
            <a:avLst/>
          </a:prstGeom>
          <a:solidFill>
            <a:srgbClr val="FFFFFF"/>
          </a:solidFill>
          <a:ln w="12700">
            <a:solidFill>
              <a:srgbClr val="364D6E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2" name="LegendSwatch"/>
          <p:cNvSpPr txBox="1"/>
          <p:nvPr/>
        </p:nvSpPr>
        <p:spPr>
          <a:xfrm>
            <a:off x="534924" y="3841394"/>
            <a:ext cx="179222" cy="133502"/>
          </a:xfrm>
          <a:prstGeom prst="rect">
            <a:avLst/>
          </a:prstGeom>
          <a:solidFill>
            <a:srgbClr val="FFFFFF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3" name="LegendSwatch"/>
          <p:cNvSpPr txBox="1"/>
          <p:nvPr/>
        </p:nvSpPr>
        <p:spPr>
          <a:xfrm>
            <a:off x="534924" y="4045306"/>
            <a:ext cx="179222" cy="133502"/>
          </a:xfrm>
          <a:prstGeom prst="rect">
            <a:avLst/>
          </a:prstGeom>
          <a:solidFill>
            <a:srgbClr val="C0C0C0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4" name="LegendSwatch"/>
          <p:cNvSpPr txBox="1"/>
          <p:nvPr/>
        </p:nvSpPr>
        <p:spPr>
          <a:xfrm>
            <a:off x="534924" y="4248302"/>
            <a:ext cx="179222" cy="133502"/>
          </a:xfrm>
          <a:prstGeom prst="rect">
            <a:avLst/>
          </a:prstGeom>
          <a:solidFill>
            <a:srgbClr val="C0C0C0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5" name="LegendSwatch"/>
          <p:cNvSpPr txBox="1"/>
          <p:nvPr/>
        </p:nvSpPr>
        <p:spPr>
          <a:xfrm>
            <a:off x="534924" y="4451299"/>
            <a:ext cx="179222" cy="133502"/>
          </a:xfrm>
          <a:prstGeom prst="rect">
            <a:avLst/>
          </a:prstGeom>
          <a:solidFill>
            <a:srgbClr val="808080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6" name="LegendSwatch"/>
          <p:cNvSpPr txBox="1"/>
          <p:nvPr/>
        </p:nvSpPr>
        <p:spPr>
          <a:xfrm>
            <a:off x="534924" y="4654296"/>
            <a:ext cx="179222" cy="133502"/>
          </a:xfrm>
          <a:prstGeom prst="rect">
            <a:avLst/>
          </a:prstGeom>
          <a:solidFill>
            <a:srgbClr val="808080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7" name="LegendSwatch"/>
          <p:cNvSpPr txBox="1"/>
          <p:nvPr/>
        </p:nvSpPr>
        <p:spPr>
          <a:xfrm>
            <a:off x="534924" y="4857293"/>
            <a:ext cx="179222" cy="133502"/>
          </a:xfrm>
          <a:prstGeom prst="rect">
            <a:avLst/>
          </a:prstGeom>
          <a:solidFill>
            <a:srgbClr val="4C6C9C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8" name="LegendSwatch"/>
          <p:cNvSpPr txBox="1"/>
          <p:nvPr/>
        </p:nvSpPr>
        <p:spPr>
          <a:xfrm>
            <a:off x="534924" y="5061204"/>
            <a:ext cx="179222" cy="133502"/>
          </a:xfrm>
          <a:prstGeom prst="rect">
            <a:avLst/>
          </a:prstGeom>
          <a:solidFill>
            <a:srgbClr val="364D6E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9" name="Label"/>
          <p:cNvSpPr txBox="1"/>
          <p:nvPr/>
        </p:nvSpPr>
        <p:spPr>
          <a:xfrm>
            <a:off x="765353" y="3836822"/>
            <a:ext cx="58887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fees</a:t>
            </a:r>
          </a:p>
        </p:txBody>
      </p:sp>
      <p:sp>
        <p:nvSpPr>
          <p:cNvPr id="120" name="Label"/>
          <p:cNvSpPr txBox="1"/>
          <p:nvPr/>
        </p:nvSpPr>
        <p:spPr>
          <a:xfrm>
            <a:off x="765353" y="4039819"/>
            <a:ext cx="1158545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Wharfage - Honolulu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765353" y="4243730"/>
            <a:ext cx="1332281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Wharfage - Long Beach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765353" y="4446727"/>
            <a:ext cx="1104595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- Honolulu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765353" y="4649724"/>
            <a:ext cx="1278331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- Long Beach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765353" y="5056632"/>
            <a:ext cx="1017727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Ocean Rate</a:t>
            </a:r>
          </a:p>
        </p:txBody>
      </p:sp>
      <p:sp>
        <p:nvSpPr>
          <p:cNvPr id="125" name="Text Placeholder 25"/>
          <p:cNvSpPr txBox="1"/>
          <p:nvPr/>
        </p:nvSpPr>
        <p:spPr>
          <a:xfrm>
            <a:off x="765353" y="4852721"/>
            <a:ext cx="911657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Fuel Surcharge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Carrier Entry Point Attractiveness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Matson Test Case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Freight Charges | ~70% of westbound freight charges are directly related to vessel operations; other charges pertain to shoreside activities.</a:t>
            </a:r>
          </a:p>
        </p:txBody>
      </p:sp>
      <p:graphicFrame>
        <p:nvGraphicFramePr>
          <p:cNvPr id="126" name="Table 238"/>
          <p:cNvGraphicFramePr>
            <a:graphicFrameLocks noGrp="1"/>
          </p:cNvGraphicFramePr>
          <p:nvPr/>
        </p:nvGraphicFramePr>
        <p:xfrm>
          <a:off x="5634533" y="1604772"/>
          <a:ext cx="6066130" cy="38862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524305"/>
                <a:gridCol w="1114654"/>
                <a:gridCol w="2633472"/>
                <a:gridCol w="793699"/>
              </a:tblGrid>
              <a:tr h="294437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Freight Charges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ASV Addressability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% of total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58155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 Fees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 security fees and Hawaii State Invasive Species tax; passed-through to customers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&lt;1%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58155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Wharfage 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Pier usage fee charged by Ports of Long Beach and Honolulu; passed-through to customers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58155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Terminal Charges 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Handling and stevedoring fees for loading in Long Beach and unloading in Honolulu; likely passed-through but collected by carriers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~26%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58155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Fuel Surcharge </a:t>
                      </a:r>
                      <a:br/>
                      <a:r>
                        <a:rPr lang="en-US" sz="1000" i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(or Adjustment Factor)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C6C9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Floating fee to protect carrier from fuel price volatility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~10%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581558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Basic Ocean Rate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364D6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Core charge for ocean transport; spot rate shown (discounts likely given to high-volume shippers)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~58%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581558">
                <a:tc gridSpan="4"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Pasha’s rates calculator breaks out each charge, allowing for isolation of Basic Ocean Rate and Fuel Adjustment Factor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00" name="Haken, check"/>
          <p:cNvSpPr>
            <a:spLocks/>
          </p:cNvSpPr>
          <p:nvPr/>
        </p:nvSpPr>
        <p:spPr bwMode="auto">
          <a:xfrm>
            <a:off x="7591324" y="3899062"/>
            <a:ext cx="274320" cy="274320"/>
          </a:xfrm>
          <a:custGeom>
            <a:avLst/>
            <a:gdLst>
              <a:gd name="T0" fmla="*/ 4549 w 4878"/>
              <a:gd name="T1" fmla="*/ 3658 h 4877"/>
              <a:gd name="T2" fmla="*/ 3659 w 4878"/>
              <a:gd name="T3" fmla="*/ 4548 h 4877"/>
              <a:gd name="T4" fmla="*/ 2439 w 4878"/>
              <a:gd name="T5" fmla="*/ 4877 h 4877"/>
              <a:gd name="T6" fmla="*/ 1220 w 4878"/>
              <a:gd name="T7" fmla="*/ 4548 h 4877"/>
              <a:gd name="T8" fmla="*/ 330 w 4878"/>
              <a:gd name="T9" fmla="*/ 3658 h 4877"/>
              <a:gd name="T10" fmla="*/ 0 w 4878"/>
              <a:gd name="T11" fmla="*/ 2439 h 4877"/>
              <a:gd name="T12" fmla="*/ 330 w 4878"/>
              <a:gd name="T13" fmla="*/ 1219 h 4877"/>
              <a:gd name="T14" fmla="*/ 1220 w 4878"/>
              <a:gd name="T15" fmla="*/ 329 h 4877"/>
              <a:gd name="T16" fmla="*/ 2439 w 4878"/>
              <a:gd name="T17" fmla="*/ 0 h 4877"/>
              <a:gd name="T18" fmla="*/ 3659 w 4878"/>
              <a:gd name="T19" fmla="*/ 329 h 4877"/>
              <a:gd name="T20" fmla="*/ 4549 w 4878"/>
              <a:gd name="T21" fmla="*/ 1219 h 4877"/>
              <a:gd name="T22" fmla="*/ 4878 w 4878"/>
              <a:gd name="T23" fmla="*/ 2439 h 4877"/>
              <a:gd name="T24" fmla="*/ 4549 w 4878"/>
              <a:gd name="T25" fmla="*/ 3658 h 4877"/>
              <a:gd name="T26" fmla="*/ 3963 w 4878"/>
              <a:gd name="T27" fmla="*/ 1917 h 4877"/>
              <a:gd name="T28" fmla="*/ 4013 w 4878"/>
              <a:gd name="T29" fmla="*/ 1809 h 4877"/>
              <a:gd name="T30" fmla="*/ 3963 w 4878"/>
              <a:gd name="T31" fmla="*/ 1701 h 4877"/>
              <a:gd name="T32" fmla="*/ 3747 w 4878"/>
              <a:gd name="T33" fmla="*/ 1475 h 4877"/>
              <a:gd name="T34" fmla="*/ 3634 w 4878"/>
              <a:gd name="T35" fmla="*/ 1426 h 4877"/>
              <a:gd name="T36" fmla="*/ 3521 w 4878"/>
              <a:gd name="T37" fmla="*/ 1475 h 4877"/>
              <a:gd name="T38" fmla="*/ 2046 w 4878"/>
              <a:gd name="T39" fmla="*/ 2950 h 4877"/>
              <a:gd name="T40" fmla="*/ 1358 w 4878"/>
              <a:gd name="T41" fmla="*/ 2262 h 4877"/>
              <a:gd name="T42" fmla="*/ 1244 w 4878"/>
              <a:gd name="T43" fmla="*/ 2212 h 4877"/>
              <a:gd name="T44" fmla="*/ 1131 w 4878"/>
              <a:gd name="T45" fmla="*/ 2262 h 4877"/>
              <a:gd name="T46" fmla="*/ 915 w 4878"/>
              <a:gd name="T47" fmla="*/ 2488 h 4877"/>
              <a:gd name="T48" fmla="*/ 866 w 4878"/>
              <a:gd name="T49" fmla="*/ 2596 h 4877"/>
              <a:gd name="T50" fmla="*/ 915 w 4878"/>
              <a:gd name="T51" fmla="*/ 2704 h 4877"/>
              <a:gd name="T52" fmla="*/ 1938 w 4878"/>
              <a:gd name="T53" fmla="*/ 3727 h 4877"/>
              <a:gd name="T54" fmla="*/ 2046 w 4878"/>
              <a:gd name="T55" fmla="*/ 3776 h 4877"/>
              <a:gd name="T56" fmla="*/ 2154 w 4878"/>
              <a:gd name="T57" fmla="*/ 3727 h 4877"/>
              <a:gd name="T58" fmla="*/ 3963 w 4878"/>
              <a:gd name="T59" fmla="*/ 1917 h 48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878" h="4877">
                <a:moveTo>
                  <a:pt x="4549" y="3658"/>
                </a:moveTo>
                <a:cubicBezTo>
                  <a:pt x="4329" y="4032"/>
                  <a:pt x="4032" y="4328"/>
                  <a:pt x="3659" y="4548"/>
                </a:cubicBezTo>
                <a:cubicBezTo>
                  <a:pt x="3285" y="4768"/>
                  <a:pt x="2879" y="4877"/>
                  <a:pt x="2439" y="4877"/>
                </a:cubicBezTo>
                <a:cubicBezTo>
                  <a:pt x="2000" y="4877"/>
                  <a:pt x="1594" y="4768"/>
                  <a:pt x="1220" y="4548"/>
                </a:cubicBezTo>
                <a:cubicBezTo>
                  <a:pt x="846" y="4328"/>
                  <a:pt x="550" y="4032"/>
                  <a:pt x="330" y="3658"/>
                </a:cubicBezTo>
                <a:cubicBezTo>
                  <a:pt x="110" y="3284"/>
                  <a:pt x="0" y="2878"/>
                  <a:pt x="0" y="2439"/>
                </a:cubicBezTo>
                <a:cubicBezTo>
                  <a:pt x="0" y="1999"/>
                  <a:pt x="110" y="1593"/>
                  <a:pt x="330" y="1219"/>
                </a:cubicBezTo>
                <a:cubicBezTo>
                  <a:pt x="550" y="846"/>
                  <a:pt x="846" y="549"/>
                  <a:pt x="1220" y="329"/>
                </a:cubicBezTo>
                <a:cubicBezTo>
                  <a:pt x="1594" y="110"/>
                  <a:pt x="2000" y="0"/>
                  <a:pt x="2439" y="0"/>
                </a:cubicBezTo>
                <a:cubicBezTo>
                  <a:pt x="2879" y="0"/>
                  <a:pt x="3285" y="110"/>
                  <a:pt x="3659" y="329"/>
                </a:cubicBezTo>
                <a:cubicBezTo>
                  <a:pt x="4032" y="549"/>
                  <a:pt x="4329" y="846"/>
                  <a:pt x="4549" y="1219"/>
                </a:cubicBezTo>
                <a:cubicBezTo>
                  <a:pt x="4768" y="1593"/>
                  <a:pt x="4878" y="1999"/>
                  <a:pt x="4878" y="2439"/>
                </a:cubicBezTo>
                <a:cubicBezTo>
                  <a:pt x="4878" y="2878"/>
                  <a:pt x="4768" y="3284"/>
                  <a:pt x="4549" y="3658"/>
                </a:cubicBezTo>
                <a:close/>
                <a:moveTo>
                  <a:pt x="3963" y="1917"/>
                </a:moveTo>
                <a:cubicBezTo>
                  <a:pt x="3996" y="1891"/>
                  <a:pt x="4013" y="1855"/>
                  <a:pt x="4013" y="1809"/>
                </a:cubicBezTo>
                <a:cubicBezTo>
                  <a:pt x="4013" y="1763"/>
                  <a:pt x="3996" y="1727"/>
                  <a:pt x="3963" y="1701"/>
                </a:cubicBezTo>
                <a:cubicBezTo>
                  <a:pt x="3747" y="1475"/>
                  <a:pt x="3747" y="1475"/>
                  <a:pt x="3747" y="1475"/>
                </a:cubicBezTo>
                <a:cubicBezTo>
                  <a:pt x="3714" y="1442"/>
                  <a:pt x="3677" y="1426"/>
                  <a:pt x="3634" y="1426"/>
                </a:cubicBezTo>
                <a:cubicBezTo>
                  <a:pt x="3591" y="1426"/>
                  <a:pt x="3554" y="1442"/>
                  <a:pt x="3521" y="1475"/>
                </a:cubicBezTo>
                <a:cubicBezTo>
                  <a:pt x="2046" y="2950"/>
                  <a:pt x="2046" y="2950"/>
                  <a:pt x="2046" y="2950"/>
                </a:cubicBezTo>
                <a:cubicBezTo>
                  <a:pt x="1358" y="2262"/>
                  <a:pt x="1358" y="2262"/>
                  <a:pt x="1358" y="2262"/>
                </a:cubicBezTo>
                <a:cubicBezTo>
                  <a:pt x="1325" y="2229"/>
                  <a:pt x="1287" y="2212"/>
                  <a:pt x="1244" y="2212"/>
                </a:cubicBezTo>
                <a:cubicBezTo>
                  <a:pt x="1202" y="2212"/>
                  <a:pt x="1164" y="2229"/>
                  <a:pt x="1131" y="2262"/>
                </a:cubicBezTo>
                <a:cubicBezTo>
                  <a:pt x="915" y="2488"/>
                  <a:pt x="915" y="2488"/>
                  <a:pt x="915" y="2488"/>
                </a:cubicBezTo>
                <a:cubicBezTo>
                  <a:pt x="882" y="2514"/>
                  <a:pt x="866" y="2550"/>
                  <a:pt x="866" y="2596"/>
                </a:cubicBezTo>
                <a:cubicBezTo>
                  <a:pt x="866" y="2642"/>
                  <a:pt x="882" y="2678"/>
                  <a:pt x="915" y="2704"/>
                </a:cubicBezTo>
                <a:cubicBezTo>
                  <a:pt x="1938" y="3727"/>
                  <a:pt x="1938" y="3727"/>
                  <a:pt x="1938" y="3727"/>
                </a:cubicBezTo>
                <a:cubicBezTo>
                  <a:pt x="1964" y="3760"/>
                  <a:pt x="2000" y="3776"/>
                  <a:pt x="2046" y="3776"/>
                </a:cubicBezTo>
                <a:cubicBezTo>
                  <a:pt x="2092" y="3776"/>
                  <a:pt x="2128" y="3760"/>
                  <a:pt x="2154" y="3727"/>
                </a:cubicBezTo>
                <a:lnTo>
                  <a:pt x="3963" y="1917"/>
                </a:lnTo>
                <a:close/>
              </a:path>
            </a:pathLst>
          </a:custGeom>
          <a:solidFill>
            <a:srgbClr val="2E7D3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01" name="Haken, check"/>
          <p:cNvSpPr>
            <a:spLocks/>
          </p:cNvSpPr>
          <p:nvPr/>
        </p:nvSpPr>
        <p:spPr bwMode="auto">
          <a:xfrm>
            <a:off x="7591324" y="4490403"/>
            <a:ext cx="274320" cy="274320"/>
          </a:xfrm>
          <a:custGeom>
            <a:avLst/>
            <a:gdLst>
              <a:gd name="T0" fmla="*/ 4549 w 4878"/>
              <a:gd name="T1" fmla="*/ 3658 h 4877"/>
              <a:gd name="T2" fmla="*/ 3659 w 4878"/>
              <a:gd name="T3" fmla="*/ 4548 h 4877"/>
              <a:gd name="T4" fmla="*/ 2439 w 4878"/>
              <a:gd name="T5" fmla="*/ 4877 h 4877"/>
              <a:gd name="T6" fmla="*/ 1220 w 4878"/>
              <a:gd name="T7" fmla="*/ 4548 h 4877"/>
              <a:gd name="T8" fmla="*/ 330 w 4878"/>
              <a:gd name="T9" fmla="*/ 3658 h 4877"/>
              <a:gd name="T10" fmla="*/ 0 w 4878"/>
              <a:gd name="T11" fmla="*/ 2439 h 4877"/>
              <a:gd name="T12" fmla="*/ 330 w 4878"/>
              <a:gd name="T13" fmla="*/ 1219 h 4877"/>
              <a:gd name="T14" fmla="*/ 1220 w 4878"/>
              <a:gd name="T15" fmla="*/ 329 h 4877"/>
              <a:gd name="T16" fmla="*/ 2439 w 4878"/>
              <a:gd name="T17" fmla="*/ 0 h 4877"/>
              <a:gd name="T18" fmla="*/ 3659 w 4878"/>
              <a:gd name="T19" fmla="*/ 329 h 4877"/>
              <a:gd name="T20" fmla="*/ 4549 w 4878"/>
              <a:gd name="T21" fmla="*/ 1219 h 4877"/>
              <a:gd name="T22" fmla="*/ 4878 w 4878"/>
              <a:gd name="T23" fmla="*/ 2439 h 4877"/>
              <a:gd name="T24" fmla="*/ 4549 w 4878"/>
              <a:gd name="T25" fmla="*/ 3658 h 4877"/>
              <a:gd name="T26" fmla="*/ 3963 w 4878"/>
              <a:gd name="T27" fmla="*/ 1917 h 4877"/>
              <a:gd name="T28" fmla="*/ 4013 w 4878"/>
              <a:gd name="T29" fmla="*/ 1809 h 4877"/>
              <a:gd name="T30" fmla="*/ 3963 w 4878"/>
              <a:gd name="T31" fmla="*/ 1701 h 4877"/>
              <a:gd name="T32" fmla="*/ 3747 w 4878"/>
              <a:gd name="T33" fmla="*/ 1475 h 4877"/>
              <a:gd name="T34" fmla="*/ 3634 w 4878"/>
              <a:gd name="T35" fmla="*/ 1426 h 4877"/>
              <a:gd name="T36" fmla="*/ 3521 w 4878"/>
              <a:gd name="T37" fmla="*/ 1475 h 4877"/>
              <a:gd name="T38" fmla="*/ 2046 w 4878"/>
              <a:gd name="T39" fmla="*/ 2950 h 4877"/>
              <a:gd name="T40" fmla="*/ 1358 w 4878"/>
              <a:gd name="T41" fmla="*/ 2262 h 4877"/>
              <a:gd name="T42" fmla="*/ 1244 w 4878"/>
              <a:gd name="T43" fmla="*/ 2212 h 4877"/>
              <a:gd name="T44" fmla="*/ 1131 w 4878"/>
              <a:gd name="T45" fmla="*/ 2262 h 4877"/>
              <a:gd name="T46" fmla="*/ 915 w 4878"/>
              <a:gd name="T47" fmla="*/ 2488 h 4877"/>
              <a:gd name="T48" fmla="*/ 866 w 4878"/>
              <a:gd name="T49" fmla="*/ 2596 h 4877"/>
              <a:gd name="T50" fmla="*/ 915 w 4878"/>
              <a:gd name="T51" fmla="*/ 2704 h 4877"/>
              <a:gd name="T52" fmla="*/ 1938 w 4878"/>
              <a:gd name="T53" fmla="*/ 3727 h 4877"/>
              <a:gd name="T54" fmla="*/ 2046 w 4878"/>
              <a:gd name="T55" fmla="*/ 3776 h 4877"/>
              <a:gd name="T56" fmla="*/ 2154 w 4878"/>
              <a:gd name="T57" fmla="*/ 3727 h 4877"/>
              <a:gd name="T58" fmla="*/ 3963 w 4878"/>
              <a:gd name="T59" fmla="*/ 1917 h 48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878" h="4877">
                <a:moveTo>
                  <a:pt x="4549" y="3658"/>
                </a:moveTo>
                <a:cubicBezTo>
                  <a:pt x="4329" y="4032"/>
                  <a:pt x="4032" y="4328"/>
                  <a:pt x="3659" y="4548"/>
                </a:cubicBezTo>
                <a:cubicBezTo>
                  <a:pt x="3285" y="4768"/>
                  <a:pt x="2879" y="4877"/>
                  <a:pt x="2439" y="4877"/>
                </a:cubicBezTo>
                <a:cubicBezTo>
                  <a:pt x="2000" y="4877"/>
                  <a:pt x="1594" y="4768"/>
                  <a:pt x="1220" y="4548"/>
                </a:cubicBezTo>
                <a:cubicBezTo>
                  <a:pt x="846" y="4328"/>
                  <a:pt x="550" y="4032"/>
                  <a:pt x="330" y="3658"/>
                </a:cubicBezTo>
                <a:cubicBezTo>
                  <a:pt x="110" y="3284"/>
                  <a:pt x="0" y="2878"/>
                  <a:pt x="0" y="2439"/>
                </a:cubicBezTo>
                <a:cubicBezTo>
                  <a:pt x="0" y="1999"/>
                  <a:pt x="110" y="1593"/>
                  <a:pt x="330" y="1219"/>
                </a:cubicBezTo>
                <a:cubicBezTo>
                  <a:pt x="550" y="846"/>
                  <a:pt x="846" y="549"/>
                  <a:pt x="1220" y="329"/>
                </a:cubicBezTo>
                <a:cubicBezTo>
                  <a:pt x="1594" y="110"/>
                  <a:pt x="2000" y="0"/>
                  <a:pt x="2439" y="0"/>
                </a:cubicBezTo>
                <a:cubicBezTo>
                  <a:pt x="2879" y="0"/>
                  <a:pt x="3285" y="110"/>
                  <a:pt x="3659" y="329"/>
                </a:cubicBezTo>
                <a:cubicBezTo>
                  <a:pt x="4032" y="549"/>
                  <a:pt x="4329" y="846"/>
                  <a:pt x="4549" y="1219"/>
                </a:cubicBezTo>
                <a:cubicBezTo>
                  <a:pt x="4768" y="1593"/>
                  <a:pt x="4878" y="1999"/>
                  <a:pt x="4878" y="2439"/>
                </a:cubicBezTo>
                <a:cubicBezTo>
                  <a:pt x="4878" y="2878"/>
                  <a:pt x="4768" y="3284"/>
                  <a:pt x="4549" y="3658"/>
                </a:cubicBezTo>
                <a:close/>
                <a:moveTo>
                  <a:pt x="3963" y="1917"/>
                </a:moveTo>
                <a:cubicBezTo>
                  <a:pt x="3996" y="1891"/>
                  <a:pt x="4013" y="1855"/>
                  <a:pt x="4013" y="1809"/>
                </a:cubicBezTo>
                <a:cubicBezTo>
                  <a:pt x="4013" y="1763"/>
                  <a:pt x="3996" y="1727"/>
                  <a:pt x="3963" y="1701"/>
                </a:cubicBezTo>
                <a:cubicBezTo>
                  <a:pt x="3747" y="1475"/>
                  <a:pt x="3747" y="1475"/>
                  <a:pt x="3747" y="1475"/>
                </a:cubicBezTo>
                <a:cubicBezTo>
                  <a:pt x="3714" y="1442"/>
                  <a:pt x="3677" y="1426"/>
                  <a:pt x="3634" y="1426"/>
                </a:cubicBezTo>
                <a:cubicBezTo>
                  <a:pt x="3591" y="1426"/>
                  <a:pt x="3554" y="1442"/>
                  <a:pt x="3521" y="1475"/>
                </a:cubicBezTo>
                <a:cubicBezTo>
                  <a:pt x="2046" y="2950"/>
                  <a:pt x="2046" y="2950"/>
                  <a:pt x="2046" y="2950"/>
                </a:cubicBezTo>
                <a:cubicBezTo>
                  <a:pt x="1358" y="2262"/>
                  <a:pt x="1358" y="2262"/>
                  <a:pt x="1358" y="2262"/>
                </a:cubicBezTo>
                <a:cubicBezTo>
                  <a:pt x="1325" y="2229"/>
                  <a:pt x="1287" y="2212"/>
                  <a:pt x="1244" y="2212"/>
                </a:cubicBezTo>
                <a:cubicBezTo>
                  <a:pt x="1202" y="2212"/>
                  <a:pt x="1164" y="2229"/>
                  <a:pt x="1131" y="2262"/>
                </a:cubicBezTo>
                <a:cubicBezTo>
                  <a:pt x="915" y="2488"/>
                  <a:pt x="915" y="2488"/>
                  <a:pt x="915" y="2488"/>
                </a:cubicBezTo>
                <a:cubicBezTo>
                  <a:pt x="882" y="2514"/>
                  <a:pt x="866" y="2550"/>
                  <a:pt x="866" y="2596"/>
                </a:cubicBezTo>
                <a:cubicBezTo>
                  <a:pt x="866" y="2642"/>
                  <a:pt x="882" y="2678"/>
                  <a:pt x="915" y="2704"/>
                </a:cubicBezTo>
                <a:cubicBezTo>
                  <a:pt x="1938" y="3727"/>
                  <a:pt x="1938" y="3727"/>
                  <a:pt x="1938" y="3727"/>
                </a:cubicBezTo>
                <a:cubicBezTo>
                  <a:pt x="1964" y="3760"/>
                  <a:pt x="2000" y="3776"/>
                  <a:pt x="2046" y="3776"/>
                </a:cubicBezTo>
                <a:cubicBezTo>
                  <a:pt x="2092" y="3776"/>
                  <a:pt x="2128" y="3760"/>
                  <a:pt x="2154" y="3727"/>
                </a:cubicBezTo>
                <a:lnTo>
                  <a:pt x="3963" y="1917"/>
                </a:lnTo>
                <a:close/>
              </a:path>
            </a:pathLst>
          </a:custGeom>
          <a:solidFill>
            <a:srgbClr val="2E7D3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02" name="Cross, kreuz"/>
          <p:cNvSpPr>
            <a:spLocks/>
          </p:cNvSpPr>
          <p:nvPr/>
        </p:nvSpPr>
        <p:spPr bwMode="auto">
          <a:xfrm>
            <a:off x="7591324" y="2164080"/>
            <a:ext cx="274320" cy="274320"/>
          </a:xfrm>
          <a:custGeom>
            <a:avLst/>
            <a:gdLst>
              <a:gd name="T0" fmla="*/ 2438 w 4877"/>
              <a:gd name="T1" fmla="*/ 0 h 4877"/>
              <a:gd name="T2" fmla="*/ 3658 w 4877"/>
              <a:gd name="T3" fmla="*/ 329 h 4877"/>
              <a:gd name="T4" fmla="*/ 4548 w 4877"/>
              <a:gd name="T5" fmla="*/ 1219 h 4877"/>
              <a:gd name="T6" fmla="*/ 4877 w 4877"/>
              <a:gd name="T7" fmla="*/ 2439 h 4877"/>
              <a:gd name="T8" fmla="*/ 4548 w 4877"/>
              <a:gd name="T9" fmla="*/ 3658 h 4877"/>
              <a:gd name="T10" fmla="*/ 3658 w 4877"/>
              <a:gd name="T11" fmla="*/ 4548 h 4877"/>
              <a:gd name="T12" fmla="*/ 2438 w 4877"/>
              <a:gd name="T13" fmla="*/ 4877 h 4877"/>
              <a:gd name="T14" fmla="*/ 1219 w 4877"/>
              <a:gd name="T15" fmla="*/ 4548 h 4877"/>
              <a:gd name="T16" fmla="*/ 329 w 4877"/>
              <a:gd name="T17" fmla="*/ 3658 h 4877"/>
              <a:gd name="T18" fmla="*/ 0 w 4877"/>
              <a:gd name="T19" fmla="*/ 2439 h 4877"/>
              <a:gd name="T20" fmla="*/ 329 w 4877"/>
              <a:gd name="T21" fmla="*/ 1219 h 4877"/>
              <a:gd name="T22" fmla="*/ 1219 w 4877"/>
              <a:gd name="T23" fmla="*/ 329 h 4877"/>
              <a:gd name="T24" fmla="*/ 2438 w 4877"/>
              <a:gd name="T25" fmla="*/ 0 h 4877"/>
              <a:gd name="T26" fmla="*/ 3638 w 4877"/>
              <a:gd name="T27" fmla="*/ 3078 h 4877"/>
              <a:gd name="T28" fmla="*/ 2989 w 4877"/>
              <a:gd name="T29" fmla="*/ 2439 h 4877"/>
              <a:gd name="T30" fmla="*/ 3638 w 4877"/>
              <a:gd name="T31" fmla="*/ 1799 h 4877"/>
              <a:gd name="T32" fmla="*/ 3668 w 4877"/>
              <a:gd name="T33" fmla="*/ 1716 h 4877"/>
              <a:gd name="T34" fmla="*/ 3638 w 4877"/>
              <a:gd name="T35" fmla="*/ 1632 h 4877"/>
              <a:gd name="T36" fmla="*/ 3245 w 4877"/>
              <a:gd name="T37" fmla="*/ 1239 h 4877"/>
              <a:gd name="T38" fmla="*/ 3166 w 4877"/>
              <a:gd name="T39" fmla="*/ 1209 h 4877"/>
              <a:gd name="T40" fmla="*/ 3078 w 4877"/>
              <a:gd name="T41" fmla="*/ 1239 h 4877"/>
              <a:gd name="T42" fmla="*/ 2438 w 4877"/>
              <a:gd name="T43" fmla="*/ 1888 h 4877"/>
              <a:gd name="T44" fmla="*/ 1799 w 4877"/>
              <a:gd name="T45" fmla="*/ 1239 h 4877"/>
              <a:gd name="T46" fmla="*/ 1716 w 4877"/>
              <a:gd name="T47" fmla="*/ 1209 h 4877"/>
              <a:gd name="T48" fmla="*/ 1632 w 4877"/>
              <a:gd name="T49" fmla="*/ 1239 h 4877"/>
              <a:gd name="T50" fmla="*/ 1239 w 4877"/>
              <a:gd name="T51" fmla="*/ 1632 h 4877"/>
              <a:gd name="T52" fmla="*/ 1209 w 4877"/>
              <a:gd name="T53" fmla="*/ 1711 h 4877"/>
              <a:gd name="T54" fmla="*/ 1239 w 4877"/>
              <a:gd name="T55" fmla="*/ 1799 h 4877"/>
              <a:gd name="T56" fmla="*/ 1888 w 4877"/>
              <a:gd name="T57" fmla="*/ 2439 h 4877"/>
              <a:gd name="T58" fmla="*/ 1239 w 4877"/>
              <a:gd name="T59" fmla="*/ 3078 h 4877"/>
              <a:gd name="T60" fmla="*/ 1209 w 4877"/>
              <a:gd name="T61" fmla="*/ 3161 h 4877"/>
              <a:gd name="T62" fmla="*/ 1239 w 4877"/>
              <a:gd name="T63" fmla="*/ 3245 h 4877"/>
              <a:gd name="T64" fmla="*/ 1632 w 4877"/>
              <a:gd name="T65" fmla="*/ 3638 h 4877"/>
              <a:gd name="T66" fmla="*/ 1711 w 4877"/>
              <a:gd name="T67" fmla="*/ 3668 h 4877"/>
              <a:gd name="T68" fmla="*/ 1799 w 4877"/>
              <a:gd name="T69" fmla="*/ 3638 h 4877"/>
              <a:gd name="T70" fmla="*/ 2438 w 4877"/>
              <a:gd name="T71" fmla="*/ 2989 h 4877"/>
              <a:gd name="T72" fmla="*/ 3078 w 4877"/>
              <a:gd name="T73" fmla="*/ 3638 h 4877"/>
              <a:gd name="T74" fmla="*/ 3161 w 4877"/>
              <a:gd name="T75" fmla="*/ 3668 h 4877"/>
              <a:gd name="T76" fmla="*/ 3245 w 4877"/>
              <a:gd name="T77" fmla="*/ 3638 h 4877"/>
              <a:gd name="T78" fmla="*/ 3638 w 4877"/>
              <a:gd name="T79" fmla="*/ 3245 h 4877"/>
              <a:gd name="T80" fmla="*/ 3668 w 4877"/>
              <a:gd name="T81" fmla="*/ 3166 h 4877"/>
              <a:gd name="T82" fmla="*/ 3638 w 4877"/>
              <a:gd name="T83" fmla="*/ 3078 h 48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877" h="4877">
                <a:moveTo>
                  <a:pt x="2438" y="0"/>
                </a:moveTo>
                <a:cubicBezTo>
                  <a:pt x="2878" y="0"/>
                  <a:pt x="3284" y="110"/>
                  <a:pt x="3658" y="329"/>
                </a:cubicBezTo>
                <a:cubicBezTo>
                  <a:pt x="4032" y="549"/>
                  <a:pt x="4328" y="846"/>
                  <a:pt x="4548" y="1219"/>
                </a:cubicBezTo>
                <a:cubicBezTo>
                  <a:pt x="4767" y="1593"/>
                  <a:pt x="4877" y="1999"/>
                  <a:pt x="4877" y="2439"/>
                </a:cubicBezTo>
                <a:cubicBezTo>
                  <a:pt x="4877" y="2878"/>
                  <a:pt x="4767" y="3284"/>
                  <a:pt x="4548" y="3658"/>
                </a:cubicBezTo>
                <a:cubicBezTo>
                  <a:pt x="4328" y="4032"/>
                  <a:pt x="4032" y="4328"/>
                  <a:pt x="3658" y="4548"/>
                </a:cubicBezTo>
                <a:cubicBezTo>
                  <a:pt x="3284" y="4768"/>
                  <a:pt x="2878" y="4877"/>
                  <a:pt x="2438" y="4877"/>
                </a:cubicBezTo>
                <a:cubicBezTo>
                  <a:pt x="1999" y="4877"/>
                  <a:pt x="1593" y="4768"/>
                  <a:pt x="1219" y="4548"/>
                </a:cubicBezTo>
                <a:cubicBezTo>
                  <a:pt x="845" y="4328"/>
                  <a:pt x="549" y="4032"/>
                  <a:pt x="329" y="3658"/>
                </a:cubicBezTo>
                <a:cubicBezTo>
                  <a:pt x="109" y="3284"/>
                  <a:pt x="0" y="2878"/>
                  <a:pt x="0" y="2439"/>
                </a:cubicBezTo>
                <a:cubicBezTo>
                  <a:pt x="0" y="1999"/>
                  <a:pt x="109" y="1593"/>
                  <a:pt x="329" y="1219"/>
                </a:cubicBezTo>
                <a:cubicBezTo>
                  <a:pt x="549" y="846"/>
                  <a:pt x="845" y="549"/>
                  <a:pt x="1219" y="329"/>
                </a:cubicBezTo>
                <a:cubicBezTo>
                  <a:pt x="1593" y="110"/>
                  <a:pt x="1999" y="0"/>
                  <a:pt x="2438" y="0"/>
                </a:cubicBezTo>
                <a:close/>
                <a:moveTo>
                  <a:pt x="3638" y="3078"/>
                </a:moveTo>
                <a:cubicBezTo>
                  <a:pt x="2989" y="2439"/>
                  <a:pt x="2989" y="2439"/>
                  <a:pt x="2989" y="2439"/>
                </a:cubicBezTo>
                <a:cubicBezTo>
                  <a:pt x="3638" y="1799"/>
                  <a:pt x="3638" y="1799"/>
                  <a:pt x="3638" y="1799"/>
                </a:cubicBezTo>
                <a:cubicBezTo>
                  <a:pt x="3658" y="1773"/>
                  <a:pt x="3668" y="1745"/>
                  <a:pt x="3668" y="1716"/>
                </a:cubicBezTo>
                <a:cubicBezTo>
                  <a:pt x="3668" y="1686"/>
                  <a:pt x="3658" y="1659"/>
                  <a:pt x="3638" y="1632"/>
                </a:cubicBezTo>
                <a:cubicBezTo>
                  <a:pt x="3245" y="1239"/>
                  <a:pt x="3245" y="1239"/>
                  <a:pt x="3245" y="1239"/>
                </a:cubicBezTo>
                <a:cubicBezTo>
                  <a:pt x="3225" y="1219"/>
                  <a:pt x="3199" y="1209"/>
                  <a:pt x="3166" y="1209"/>
                </a:cubicBezTo>
                <a:cubicBezTo>
                  <a:pt x="3133" y="1209"/>
                  <a:pt x="3104" y="1219"/>
                  <a:pt x="3078" y="1239"/>
                </a:cubicBezTo>
                <a:cubicBezTo>
                  <a:pt x="2438" y="1888"/>
                  <a:pt x="2438" y="1888"/>
                  <a:pt x="2438" y="1888"/>
                </a:cubicBezTo>
                <a:cubicBezTo>
                  <a:pt x="1799" y="1239"/>
                  <a:pt x="1799" y="1239"/>
                  <a:pt x="1799" y="1239"/>
                </a:cubicBezTo>
                <a:cubicBezTo>
                  <a:pt x="1773" y="1219"/>
                  <a:pt x="1745" y="1209"/>
                  <a:pt x="1716" y="1209"/>
                </a:cubicBezTo>
                <a:cubicBezTo>
                  <a:pt x="1686" y="1209"/>
                  <a:pt x="1658" y="1219"/>
                  <a:pt x="1632" y="1239"/>
                </a:cubicBezTo>
                <a:cubicBezTo>
                  <a:pt x="1239" y="1632"/>
                  <a:pt x="1239" y="1632"/>
                  <a:pt x="1239" y="1632"/>
                </a:cubicBezTo>
                <a:cubicBezTo>
                  <a:pt x="1219" y="1652"/>
                  <a:pt x="1209" y="1678"/>
                  <a:pt x="1209" y="1711"/>
                </a:cubicBezTo>
                <a:cubicBezTo>
                  <a:pt x="1209" y="1744"/>
                  <a:pt x="1219" y="1773"/>
                  <a:pt x="1239" y="1799"/>
                </a:cubicBezTo>
                <a:cubicBezTo>
                  <a:pt x="1888" y="2439"/>
                  <a:pt x="1888" y="2439"/>
                  <a:pt x="1888" y="2439"/>
                </a:cubicBezTo>
                <a:cubicBezTo>
                  <a:pt x="1239" y="3078"/>
                  <a:pt x="1239" y="3078"/>
                  <a:pt x="1239" y="3078"/>
                </a:cubicBezTo>
                <a:cubicBezTo>
                  <a:pt x="1219" y="3104"/>
                  <a:pt x="1209" y="3132"/>
                  <a:pt x="1209" y="3161"/>
                </a:cubicBezTo>
                <a:cubicBezTo>
                  <a:pt x="1209" y="3191"/>
                  <a:pt x="1219" y="3219"/>
                  <a:pt x="1239" y="3245"/>
                </a:cubicBezTo>
                <a:cubicBezTo>
                  <a:pt x="1632" y="3638"/>
                  <a:pt x="1632" y="3638"/>
                  <a:pt x="1632" y="3638"/>
                </a:cubicBezTo>
                <a:cubicBezTo>
                  <a:pt x="1652" y="3658"/>
                  <a:pt x="1678" y="3668"/>
                  <a:pt x="1711" y="3668"/>
                </a:cubicBezTo>
                <a:cubicBezTo>
                  <a:pt x="1744" y="3668"/>
                  <a:pt x="1773" y="3658"/>
                  <a:pt x="1799" y="3638"/>
                </a:cubicBezTo>
                <a:cubicBezTo>
                  <a:pt x="2438" y="2989"/>
                  <a:pt x="2438" y="2989"/>
                  <a:pt x="2438" y="2989"/>
                </a:cubicBezTo>
                <a:cubicBezTo>
                  <a:pt x="3078" y="3638"/>
                  <a:pt x="3078" y="3638"/>
                  <a:pt x="3078" y="3638"/>
                </a:cubicBezTo>
                <a:cubicBezTo>
                  <a:pt x="3104" y="3658"/>
                  <a:pt x="3132" y="3668"/>
                  <a:pt x="3161" y="3668"/>
                </a:cubicBezTo>
                <a:cubicBezTo>
                  <a:pt x="3191" y="3668"/>
                  <a:pt x="3219" y="3658"/>
                  <a:pt x="3245" y="3638"/>
                </a:cubicBezTo>
                <a:cubicBezTo>
                  <a:pt x="3638" y="3245"/>
                  <a:pt x="3638" y="3245"/>
                  <a:pt x="3638" y="3245"/>
                </a:cubicBezTo>
                <a:cubicBezTo>
                  <a:pt x="3658" y="3225"/>
                  <a:pt x="3668" y="3199"/>
                  <a:pt x="3668" y="3166"/>
                </a:cubicBezTo>
                <a:cubicBezTo>
                  <a:pt x="3668" y="3134"/>
                  <a:pt x="3658" y="3104"/>
                  <a:pt x="3638" y="3078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03" name="Cross, kreuz"/>
          <p:cNvSpPr>
            <a:spLocks/>
          </p:cNvSpPr>
          <p:nvPr/>
        </p:nvSpPr>
        <p:spPr bwMode="auto">
          <a:xfrm>
            <a:off x="7591324" y="2738806"/>
            <a:ext cx="274320" cy="274320"/>
          </a:xfrm>
          <a:custGeom>
            <a:avLst/>
            <a:gdLst>
              <a:gd name="T0" fmla="*/ 2438 w 4877"/>
              <a:gd name="T1" fmla="*/ 0 h 4877"/>
              <a:gd name="T2" fmla="*/ 3658 w 4877"/>
              <a:gd name="T3" fmla="*/ 329 h 4877"/>
              <a:gd name="T4" fmla="*/ 4548 w 4877"/>
              <a:gd name="T5" fmla="*/ 1219 h 4877"/>
              <a:gd name="T6" fmla="*/ 4877 w 4877"/>
              <a:gd name="T7" fmla="*/ 2439 h 4877"/>
              <a:gd name="T8" fmla="*/ 4548 w 4877"/>
              <a:gd name="T9" fmla="*/ 3658 h 4877"/>
              <a:gd name="T10" fmla="*/ 3658 w 4877"/>
              <a:gd name="T11" fmla="*/ 4548 h 4877"/>
              <a:gd name="T12" fmla="*/ 2438 w 4877"/>
              <a:gd name="T13" fmla="*/ 4877 h 4877"/>
              <a:gd name="T14" fmla="*/ 1219 w 4877"/>
              <a:gd name="T15" fmla="*/ 4548 h 4877"/>
              <a:gd name="T16" fmla="*/ 329 w 4877"/>
              <a:gd name="T17" fmla="*/ 3658 h 4877"/>
              <a:gd name="T18" fmla="*/ 0 w 4877"/>
              <a:gd name="T19" fmla="*/ 2439 h 4877"/>
              <a:gd name="T20" fmla="*/ 329 w 4877"/>
              <a:gd name="T21" fmla="*/ 1219 h 4877"/>
              <a:gd name="T22" fmla="*/ 1219 w 4877"/>
              <a:gd name="T23" fmla="*/ 329 h 4877"/>
              <a:gd name="T24" fmla="*/ 2438 w 4877"/>
              <a:gd name="T25" fmla="*/ 0 h 4877"/>
              <a:gd name="T26" fmla="*/ 3638 w 4877"/>
              <a:gd name="T27" fmla="*/ 3078 h 4877"/>
              <a:gd name="T28" fmla="*/ 2989 w 4877"/>
              <a:gd name="T29" fmla="*/ 2439 h 4877"/>
              <a:gd name="T30" fmla="*/ 3638 w 4877"/>
              <a:gd name="T31" fmla="*/ 1799 h 4877"/>
              <a:gd name="T32" fmla="*/ 3668 w 4877"/>
              <a:gd name="T33" fmla="*/ 1716 h 4877"/>
              <a:gd name="T34" fmla="*/ 3638 w 4877"/>
              <a:gd name="T35" fmla="*/ 1632 h 4877"/>
              <a:gd name="T36" fmla="*/ 3245 w 4877"/>
              <a:gd name="T37" fmla="*/ 1239 h 4877"/>
              <a:gd name="T38" fmla="*/ 3166 w 4877"/>
              <a:gd name="T39" fmla="*/ 1209 h 4877"/>
              <a:gd name="T40" fmla="*/ 3078 w 4877"/>
              <a:gd name="T41" fmla="*/ 1239 h 4877"/>
              <a:gd name="T42" fmla="*/ 2438 w 4877"/>
              <a:gd name="T43" fmla="*/ 1888 h 4877"/>
              <a:gd name="T44" fmla="*/ 1799 w 4877"/>
              <a:gd name="T45" fmla="*/ 1239 h 4877"/>
              <a:gd name="T46" fmla="*/ 1716 w 4877"/>
              <a:gd name="T47" fmla="*/ 1209 h 4877"/>
              <a:gd name="T48" fmla="*/ 1632 w 4877"/>
              <a:gd name="T49" fmla="*/ 1239 h 4877"/>
              <a:gd name="T50" fmla="*/ 1239 w 4877"/>
              <a:gd name="T51" fmla="*/ 1632 h 4877"/>
              <a:gd name="T52" fmla="*/ 1209 w 4877"/>
              <a:gd name="T53" fmla="*/ 1711 h 4877"/>
              <a:gd name="T54" fmla="*/ 1239 w 4877"/>
              <a:gd name="T55" fmla="*/ 1799 h 4877"/>
              <a:gd name="T56" fmla="*/ 1888 w 4877"/>
              <a:gd name="T57" fmla="*/ 2439 h 4877"/>
              <a:gd name="T58" fmla="*/ 1239 w 4877"/>
              <a:gd name="T59" fmla="*/ 3078 h 4877"/>
              <a:gd name="T60" fmla="*/ 1209 w 4877"/>
              <a:gd name="T61" fmla="*/ 3161 h 4877"/>
              <a:gd name="T62" fmla="*/ 1239 w 4877"/>
              <a:gd name="T63" fmla="*/ 3245 h 4877"/>
              <a:gd name="T64" fmla="*/ 1632 w 4877"/>
              <a:gd name="T65" fmla="*/ 3638 h 4877"/>
              <a:gd name="T66" fmla="*/ 1711 w 4877"/>
              <a:gd name="T67" fmla="*/ 3668 h 4877"/>
              <a:gd name="T68" fmla="*/ 1799 w 4877"/>
              <a:gd name="T69" fmla="*/ 3638 h 4877"/>
              <a:gd name="T70" fmla="*/ 2438 w 4877"/>
              <a:gd name="T71" fmla="*/ 2989 h 4877"/>
              <a:gd name="T72" fmla="*/ 3078 w 4877"/>
              <a:gd name="T73" fmla="*/ 3638 h 4877"/>
              <a:gd name="T74" fmla="*/ 3161 w 4877"/>
              <a:gd name="T75" fmla="*/ 3668 h 4877"/>
              <a:gd name="T76" fmla="*/ 3245 w 4877"/>
              <a:gd name="T77" fmla="*/ 3638 h 4877"/>
              <a:gd name="T78" fmla="*/ 3638 w 4877"/>
              <a:gd name="T79" fmla="*/ 3245 h 4877"/>
              <a:gd name="T80" fmla="*/ 3668 w 4877"/>
              <a:gd name="T81" fmla="*/ 3166 h 4877"/>
              <a:gd name="T82" fmla="*/ 3638 w 4877"/>
              <a:gd name="T83" fmla="*/ 3078 h 48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877" h="4877">
                <a:moveTo>
                  <a:pt x="2438" y="0"/>
                </a:moveTo>
                <a:cubicBezTo>
                  <a:pt x="2878" y="0"/>
                  <a:pt x="3284" y="110"/>
                  <a:pt x="3658" y="329"/>
                </a:cubicBezTo>
                <a:cubicBezTo>
                  <a:pt x="4032" y="549"/>
                  <a:pt x="4328" y="846"/>
                  <a:pt x="4548" y="1219"/>
                </a:cubicBezTo>
                <a:cubicBezTo>
                  <a:pt x="4767" y="1593"/>
                  <a:pt x="4877" y="1999"/>
                  <a:pt x="4877" y="2439"/>
                </a:cubicBezTo>
                <a:cubicBezTo>
                  <a:pt x="4877" y="2878"/>
                  <a:pt x="4767" y="3284"/>
                  <a:pt x="4548" y="3658"/>
                </a:cubicBezTo>
                <a:cubicBezTo>
                  <a:pt x="4328" y="4032"/>
                  <a:pt x="4032" y="4328"/>
                  <a:pt x="3658" y="4548"/>
                </a:cubicBezTo>
                <a:cubicBezTo>
                  <a:pt x="3284" y="4768"/>
                  <a:pt x="2878" y="4877"/>
                  <a:pt x="2438" y="4877"/>
                </a:cubicBezTo>
                <a:cubicBezTo>
                  <a:pt x="1999" y="4877"/>
                  <a:pt x="1593" y="4768"/>
                  <a:pt x="1219" y="4548"/>
                </a:cubicBezTo>
                <a:cubicBezTo>
                  <a:pt x="845" y="4328"/>
                  <a:pt x="549" y="4032"/>
                  <a:pt x="329" y="3658"/>
                </a:cubicBezTo>
                <a:cubicBezTo>
                  <a:pt x="109" y="3284"/>
                  <a:pt x="0" y="2878"/>
                  <a:pt x="0" y="2439"/>
                </a:cubicBezTo>
                <a:cubicBezTo>
                  <a:pt x="0" y="1999"/>
                  <a:pt x="109" y="1593"/>
                  <a:pt x="329" y="1219"/>
                </a:cubicBezTo>
                <a:cubicBezTo>
                  <a:pt x="549" y="846"/>
                  <a:pt x="845" y="549"/>
                  <a:pt x="1219" y="329"/>
                </a:cubicBezTo>
                <a:cubicBezTo>
                  <a:pt x="1593" y="110"/>
                  <a:pt x="1999" y="0"/>
                  <a:pt x="2438" y="0"/>
                </a:cubicBezTo>
                <a:close/>
                <a:moveTo>
                  <a:pt x="3638" y="3078"/>
                </a:moveTo>
                <a:cubicBezTo>
                  <a:pt x="2989" y="2439"/>
                  <a:pt x="2989" y="2439"/>
                  <a:pt x="2989" y="2439"/>
                </a:cubicBezTo>
                <a:cubicBezTo>
                  <a:pt x="3638" y="1799"/>
                  <a:pt x="3638" y="1799"/>
                  <a:pt x="3638" y="1799"/>
                </a:cubicBezTo>
                <a:cubicBezTo>
                  <a:pt x="3658" y="1773"/>
                  <a:pt x="3668" y="1745"/>
                  <a:pt x="3668" y="1716"/>
                </a:cubicBezTo>
                <a:cubicBezTo>
                  <a:pt x="3668" y="1686"/>
                  <a:pt x="3658" y="1659"/>
                  <a:pt x="3638" y="1632"/>
                </a:cubicBezTo>
                <a:cubicBezTo>
                  <a:pt x="3245" y="1239"/>
                  <a:pt x="3245" y="1239"/>
                  <a:pt x="3245" y="1239"/>
                </a:cubicBezTo>
                <a:cubicBezTo>
                  <a:pt x="3225" y="1219"/>
                  <a:pt x="3199" y="1209"/>
                  <a:pt x="3166" y="1209"/>
                </a:cubicBezTo>
                <a:cubicBezTo>
                  <a:pt x="3133" y="1209"/>
                  <a:pt x="3104" y="1219"/>
                  <a:pt x="3078" y="1239"/>
                </a:cubicBezTo>
                <a:cubicBezTo>
                  <a:pt x="2438" y="1888"/>
                  <a:pt x="2438" y="1888"/>
                  <a:pt x="2438" y="1888"/>
                </a:cubicBezTo>
                <a:cubicBezTo>
                  <a:pt x="1799" y="1239"/>
                  <a:pt x="1799" y="1239"/>
                  <a:pt x="1799" y="1239"/>
                </a:cubicBezTo>
                <a:cubicBezTo>
                  <a:pt x="1773" y="1219"/>
                  <a:pt x="1745" y="1209"/>
                  <a:pt x="1716" y="1209"/>
                </a:cubicBezTo>
                <a:cubicBezTo>
                  <a:pt x="1686" y="1209"/>
                  <a:pt x="1658" y="1219"/>
                  <a:pt x="1632" y="1239"/>
                </a:cubicBezTo>
                <a:cubicBezTo>
                  <a:pt x="1239" y="1632"/>
                  <a:pt x="1239" y="1632"/>
                  <a:pt x="1239" y="1632"/>
                </a:cubicBezTo>
                <a:cubicBezTo>
                  <a:pt x="1219" y="1652"/>
                  <a:pt x="1209" y="1678"/>
                  <a:pt x="1209" y="1711"/>
                </a:cubicBezTo>
                <a:cubicBezTo>
                  <a:pt x="1209" y="1744"/>
                  <a:pt x="1219" y="1773"/>
                  <a:pt x="1239" y="1799"/>
                </a:cubicBezTo>
                <a:cubicBezTo>
                  <a:pt x="1888" y="2439"/>
                  <a:pt x="1888" y="2439"/>
                  <a:pt x="1888" y="2439"/>
                </a:cubicBezTo>
                <a:cubicBezTo>
                  <a:pt x="1239" y="3078"/>
                  <a:pt x="1239" y="3078"/>
                  <a:pt x="1239" y="3078"/>
                </a:cubicBezTo>
                <a:cubicBezTo>
                  <a:pt x="1219" y="3104"/>
                  <a:pt x="1209" y="3132"/>
                  <a:pt x="1209" y="3161"/>
                </a:cubicBezTo>
                <a:cubicBezTo>
                  <a:pt x="1209" y="3191"/>
                  <a:pt x="1219" y="3219"/>
                  <a:pt x="1239" y="3245"/>
                </a:cubicBezTo>
                <a:cubicBezTo>
                  <a:pt x="1632" y="3638"/>
                  <a:pt x="1632" y="3638"/>
                  <a:pt x="1632" y="3638"/>
                </a:cubicBezTo>
                <a:cubicBezTo>
                  <a:pt x="1652" y="3658"/>
                  <a:pt x="1678" y="3668"/>
                  <a:pt x="1711" y="3668"/>
                </a:cubicBezTo>
                <a:cubicBezTo>
                  <a:pt x="1744" y="3668"/>
                  <a:pt x="1773" y="3658"/>
                  <a:pt x="1799" y="3638"/>
                </a:cubicBezTo>
                <a:cubicBezTo>
                  <a:pt x="2438" y="2989"/>
                  <a:pt x="2438" y="2989"/>
                  <a:pt x="2438" y="2989"/>
                </a:cubicBezTo>
                <a:cubicBezTo>
                  <a:pt x="3078" y="3638"/>
                  <a:pt x="3078" y="3638"/>
                  <a:pt x="3078" y="3638"/>
                </a:cubicBezTo>
                <a:cubicBezTo>
                  <a:pt x="3104" y="3658"/>
                  <a:pt x="3132" y="3668"/>
                  <a:pt x="3161" y="3668"/>
                </a:cubicBezTo>
                <a:cubicBezTo>
                  <a:pt x="3191" y="3668"/>
                  <a:pt x="3219" y="3658"/>
                  <a:pt x="3245" y="3638"/>
                </a:cubicBezTo>
                <a:cubicBezTo>
                  <a:pt x="3638" y="3245"/>
                  <a:pt x="3638" y="3245"/>
                  <a:pt x="3638" y="3245"/>
                </a:cubicBezTo>
                <a:cubicBezTo>
                  <a:pt x="3658" y="3225"/>
                  <a:pt x="3668" y="3199"/>
                  <a:pt x="3668" y="3166"/>
                </a:cubicBezTo>
                <a:cubicBezTo>
                  <a:pt x="3668" y="3134"/>
                  <a:pt x="3658" y="3104"/>
                  <a:pt x="3638" y="3078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04" name="Cross, kreuz"/>
          <p:cNvSpPr>
            <a:spLocks/>
          </p:cNvSpPr>
          <p:nvPr/>
        </p:nvSpPr>
        <p:spPr bwMode="auto">
          <a:xfrm>
            <a:off x="7591324" y="3325813"/>
            <a:ext cx="274320" cy="274320"/>
          </a:xfrm>
          <a:custGeom>
            <a:avLst/>
            <a:gdLst>
              <a:gd name="T0" fmla="*/ 2438 w 4877"/>
              <a:gd name="T1" fmla="*/ 0 h 4877"/>
              <a:gd name="T2" fmla="*/ 3658 w 4877"/>
              <a:gd name="T3" fmla="*/ 329 h 4877"/>
              <a:gd name="T4" fmla="*/ 4548 w 4877"/>
              <a:gd name="T5" fmla="*/ 1219 h 4877"/>
              <a:gd name="T6" fmla="*/ 4877 w 4877"/>
              <a:gd name="T7" fmla="*/ 2439 h 4877"/>
              <a:gd name="T8" fmla="*/ 4548 w 4877"/>
              <a:gd name="T9" fmla="*/ 3658 h 4877"/>
              <a:gd name="T10" fmla="*/ 3658 w 4877"/>
              <a:gd name="T11" fmla="*/ 4548 h 4877"/>
              <a:gd name="T12" fmla="*/ 2438 w 4877"/>
              <a:gd name="T13" fmla="*/ 4877 h 4877"/>
              <a:gd name="T14" fmla="*/ 1219 w 4877"/>
              <a:gd name="T15" fmla="*/ 4548 h 4877"/>
              <a:gd name="T16" fmla="*/ 329 w 4877"/>
              <a:gd name="T17" fmla="*/ 3658 h 4877"/>
              <a:gd name="T18" fmla="*/ 0 w 4877"/>
              <a:gd name="T19" fmla="*/ 2439 h 4877"/>
              <a:gd name="T20" fmla="*/ 329 w 4877"/>
              <a:gd name="T21" fmla="*/ 1219 h 4877"/>
              <a:gd name="T22" fmla="*/ 1219 w 4877"/>
              <a:gd name="T23" fmla="*/ 329 h 4877"/>
              <a:gd name="T24" fmla="*/ 2438 w 4877"/>
              <a:gd name="T25" fmla="*/ 0 h 4877"/>
              <a:gd name="T26" fmla="*/ 3638 w 4877"/>
              <a:gd name="T27" fmla="*/ 3078 h 4877"/>
              <a:gd name="T28" fmla="*/ 2989 w 4877"/>
              <a:gd name="T29" fmla="*/ 2439 h 4877"/>
              <a:gd name="T30" fmla="*/ 3638 w 4877"/>
              <a:gd name="T31" fmla="*/ 1799 h 4877"/>
              <a:gd name="T32" fmla="*/ 3668 w 4877"/>
              <a:gd name="T33" fmla="*/ 1716 h 4877"/>
              <a:gd name="T34" fmla="*/ 3638 w 4877"/>
              <a:gd name="T35" fmla="*/ 1632 h 4877"/>
              <a:gd name="T36" fmla="*/ 3245 w 4877"/>
              <a:gd name="T37" fmla="*/ 1239 h 4877"/>
              <a:gd name="T38" fmla="*/ 3166 w 4877"/>
              <a:gd name="T39" fmla="*/ 1209 h 4877"/>
              <a:gd name="T40" fmla="*/ 3078 w 4877"/>
              <a:gd name="T41" fmla="*/ 1239 h 4877"/>
              <a:gd name="T42" fmla="*/ 2438 w 4877"/>
              <a:gd name="T43" fmla="*/ 1888 h 4877"/>
              <a:gd name="T44" fmla="*/ 1799 w 4877"/>
              <a:gd name="T45" fmla="*/ 1239 h 4877"/>
              <a:gd name="T46" fmla="*/ 1716 w 4877"/>
              <a:gd name="T47" fmla="*/ 1209 h 4877"/>
              <a:gd name="T48" fmla="*/ 1632 w 4877"/>
              <a:gd name="T49" fmla="*/ 1239 h 4877"/>
              <a:gd name="T50" fmla="*/ 1239 w 4877"/>
              <a:gd name="T51" fmla="*/ 1632 h 4877"/>
              <a:gd name="T52" fmla="*/ 1209 w 4877"/>
              <a:gd name="T53" fmla="*/ 1711 h 4877"/>
              <a:gd name="T54" fmla="*/ 1239 w 4877"/>
              <a:gd name="T55" fmla="*/ 1799 h 4877"/>
              <a:gd name="T56" fmla="*/ 1888 w 4877"/>
              <a:gd name="T57" fmla="*/ 2439 h 4877"/>
              <a:gd name="T58" fmla="*/ 1239 w 4877"/>
              <a:gd name="T59" fmla="*/ 3078 h 4877"/>
              <a:gd name="T60" fmla="*/ 1209 w 4877"/>
              <a:gd name="T61" fmla="*/ 3161 h 4877"/>
              <a:gd name="T62" fmla="*/ 1239 w 4877"/>
              <a:gd name="T63" fmla="*/ 3245 h 4877"/>
              <a:gd name="T64" fmla="*/ 1632 w 4877"/>
              <a:gd name="T65" fmla="*/ 3638 h 4877"/>
              <a:gd name="T66" fmla="*/ 1711 w 4877"/>
              <a:gd name="T67" fmla="*/ 3668 h 4877"/>
              <a:gd name="T68" fmla="*/ 1799 w 4877"/>
              <a:gd name="T69" fmla="*/ 3638 h 4877"/>
              <a:gd name="T70" fmla="*/ 2438 w 4877"/>
              <a:gd name="T71" fmla="*/ 2989 h 4877"/>
              <a:gd name="T72" fmla="*/ 3078 w 4877"/>
              <a:gd name="T73" fmla="*/ 3638 h 4877"/>
              <a:gd name="T74" fmla="*/ 3161 w 4877"/>
              <a:gd name="T75" fmla="*/ 3668 h 4877"/>
              <a:gd name="T76" fmla="*/ 3245 w 4877"/>
              <a:gd name="T77" fmla="*/ 3638 h 4877"/>
              <a:gd name="T78" fmla="*/ 3638 w 4877"/>
              <a:gd name="T79" fmla="*/ 3245 h 4877"/>
              <a:gd name="T80" fmla="*/ 3668 w 4877"/>
              <a:gd name="T81" fmla="*/ 3166 h 4877"/>
              <a:gd name="T82" fmla="*/ 3638 w 4877"/>
              <a:gd name="T83" fmla="*/ 3078 h 48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877" h="4877">
                <a:moveTo>
                  <a:pt x="2438" y="0"/>
                </a:moveTo>
                <a:cubicBezTo>
                  <a:pt x="2878" y="0"/>
                  <a:pt x="3284" y="110"/>
                  <a:pt x="3658" y="329"/>
                </a:cubicBezTo>
                <a:cubicBezTo>
                  <a:pt x="4032" y="549"/>
                  <a:pt x="4328" y="846"/>
                  <a:pt x="4548" y="1219"/>
                </a:cubicBezTo>
                <a:cubicBezTo>
                  <a:pt x="4767" y="1593"/>
                  <a:pt x="4877" y="1999"/>
                  <a:pt x="4877" y="2439"/>
                </a:cubicBezTo>
                <a:cubicBezTo>
                  <a:pt x="4877" y="2878"/>
                  <a:pt x="4767" y="3284"/>
                  <a:pt x="4548" y="3658"/>
                </a:cubicBezTo>
                <a:cubicBezTo>
                  <a:pt x="4328" y="4032"/>
                  <a:pt x="4032" y="4328"/>
                  <a:pt x="3658" y="4548"/>
                </a:cubicBezTo>
                <a:cubicBezTo>
                  <a:pt x="3284" y="4768"/>
                  <a:pt x="2878" y="4877"/>
                  <a:pt x="2438" y="4877"/>
                </a:cubicBezTo>
                <a:cubicBezTo>
                  <a:pt x="1999" y="4877"/>
                  <a:pt x="1593" y="4768"/>
                  <a:pt x="1219" y="4548"/>
                </a:cubicBezTo>
                <a:cubicBezTo>
                  <a:pt x="845" y="4328"/>
                  <a:pt x="549" y="4032"/>
                  <a:pt x="329" y="3658"/>
                </a:cubicBezTo>
                <a:cubicBezTo>
                  <a:pt x="109" y="3284"/>
                  <a:pt x="0" y="2878"/>
                  <a:pt x="0" y="2439"/>
                </a:cubicBezTo>
                <a:cubicBezTo>
                  <a:pt x="0" y="1999"/>
                  <a:pt x="109" y="1593"/>
                  <a:pt x="329" y="1219"/>
                </a:cubicBezTo>
                <a:cubicBezTo>
                  <a:pt x="549" y="846"/>
                  <a:pt x="845" y="549"/>
                  <a:pt x="1219" y="329"/>
                </a:cubicBezTo>
                <a:cubicBezTo>
                  <a:pt x="1593" y="110"/>
                  <a:pt x="1999" y="0"/>
                  <a:pt x="2438" y="0"/>
                </a:cubicBezTo>
                <a:close/>
                <a:moveTo>
                  <a:pt x="3638" y="3078"/>
                </a:moveTo>
                <a:cubicBezTo>
                  <a:pt x="2989" y="2439"/>
                  <a:pt x="2989" y="2439"/>
                  <a:pt x="2989" y="2439"/>
                </a:cubicBezTo>
                <a:cubicBezTo>
                  <a:pt x="3638" y="1799"/>
                  <a:pt x="3638" y="1799"/>
                  <a:pt x="3638" y="1799"/>
                </a:cubicBezTo>
                <a:cubicBezTo>
                  <a:pt x="3658" y="1773"/>
                  <a:pt x="3668" y="1745"/>
                  <a:pt x="3668" y="1716"/>
                </a:cubicBezTo>
                <a:cubicBezTo>
                  <a:pt x="3668" y="1686"/>
                  <a:pt x="3658" y="1659"/>
                  <a:pt x="3638" y="1632"/>
                </a:cubicBezTo>
                <a:cubicBezTo>
                  <a:pt x="3245" y="1239"/>
                  <a:pt x="3245" y="1239"/>
                  <a:pt x="3245" y="1239"/>
                </a:cubicBezTo>
                <a:cubicBezTo>
                  <a:pt x="3225" y="1219"/>
                  <a:pt x="3199" y="1209"/>
                  <a:pt x="3166" y="1209"/>
                </a:cubicBezTo>
                <a:cubicBezTo>
                  <a:pt x="3133" y="1209"/>
                  <a:pt x="3104" y="1219"/>
                  <a:pt x="3078" y="1239"/>
                </a:cubicBezTo>
                <a:cubicBezTo>
                  <a:pt x="2438" y="1888"/>
                  <a:pt x="2438" y="1888"/>
                  <a:pt x="2438" y="1888"/>
                </a:cubicBezTo>
                <a:cubicBezTo>
                  <a:pt x="1799" y="1239"/>
                  <a:pt x="1799" y="1239"/>
                  <a:pt x="1799" y="1239"/>
                </a:cubicBezTo>
                <a:cubicBezTo>
                  <a:pt x="1773" y="1219"/>
                  <a:pt x="1745" y="1209"/>
                  <a:pt x="1716" y="1209"/>
                </a:cubicBezTo>
                <a:cubicBezTo>
                  <a:pt x="1686" y="1209"/>
                  <a:pt x="1658" y="1219"/>
                  <a:pt x="1632" y="1239"/>
                </a:cubicBezTo>
                <a:cubicBezTo>
                  <a:pt x="1239" y="1632"/>
                  <a:pt x="1239" y="1632"/>
                  <a:pt x="1239" y="1632"/>
                </a:cubicBezTo>
                <a:cubicBezTo>
                  <a:pt x="1219" y="1652"/>
                  <a:pt x="1209" y="1678"/>
                  <a:pt x="1209" y="1711"/>
                </a:cubicBezTo>
                <a:cubicBezTo>
                  <a:pt x="1209" y="1744"/>
                  <a:pt x="1219" y="1773"/>
                  <a:pt x="1239" y="1799"/>
                </a:cubicBezTo>
                <a:cubicBezTo>
                  <a:pt x="1888" y="2439"/>
                  <a:pt x="1888" y="2439"/>
                  <a:pt x="1888" y="2439"/>
                </a:cubicBezTo>
                <a:cubicBezTo>
                  <a:pt x="1239" y="3078"/>
                  <a:pt x="1239" y="3078"/>
                  <a:pt x="1239" y="3078"/>
                </a:cubicBezTo>
                <a:cubicBezTo>
                  <a:pt x="1219" y="3104"/>
                  <a:pt x="1209" y="3132"/>
                  <a:pt x="1209" y="3161"/>
                </a:cubicBezTo>
                <a:cubicBezTo>
                  <a:pt x="1209" y="3191"/>
                  <a:pt x="1219" y="3219"/>
                  <a:pt x="1239" y="3245"/>
                </a:cubicBezTo>
                <a:cubicBezTo>
                  <a:pt x="1632" y="3638"/>
                  <a:pt x="1632" y="3638"/>
                  <a:pt x="1632" y="3638"/>
                </a:cubicBezTo>
                <a:cubicBezTo>
                  <a:pt x="1652" y="3658"/>
                  <a:pt x="1678" y="3668"/>
                  <a:pt x="1711" y="3668"/>
                </a:cubicBezTo>
                <a:cubicBezTo>
                  <a:pt x="1744" y="3668"/>
                  <a:pt x="1773" y="3658"/>
                  <a:pt x="1799" y="3638"/>
                </a:cubicBezTo>
                <a:cubicBezTo>
                  <a:pt x="2438" y="2989"/>
                  <a:pt x="2438" y="2989"/>
                  <a:pt x="2438" y="2989"/>
                </a:cubicBezTo>
                <a:cubicBezTo>
                  <a:pt x="3078" y="3638"/>
                  <a:pt x="3078" y="3638"/>
                  <a:pt x="3078" y="3638"/>
                </a:cubicBezTo>
                <a:cubicBezTo>
                  <a:pt x="3104" y="3658"/>
                  <a:pt x="3132" y="3668"/>
                  <a:pt x="3161" y="3668"/>
                </a:cubicBezTo>
                <a:cubicBezTo>
                  <a:pt x="3191" y="3668"/>
                  <a:pt x="3219" y="3658"/>
                  <a:pt x="3245" y="3638"/>
                </a:cubicBezTo>
                <a:cubicBezTo>
                  <a:pt x="3638" y="3245"/>
                  <a:pt x="3638" y="3245"/>
                  <a:pt x="3638" y="3245"/>
                </a:cubicBezTo>
                <a:cubicBezTo>
                  <a:pt x="3658" y="3225"/>
                  <a:pt x="3668" y="3199"/>
                  <a:pt x="3668" y="3166"/>
                </a:cubicBezTo>
                <a:cubicBezTo>
                  <a:pt x="3668" y="3134"/>
                  <a:pt x="3658" y="3104"/>
                  <a:pt x="3638" y="3078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" name="Label"/>
          <p:cNvSpPr txBox="1"/>
          <p:nvPr/>
        </p:nvSpPr>
        <p:spPr>
          <a:xfrm>
            <a:off x="649224" y="5252314"/>
            <a:ext cx="1250899" cy="2807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Directly related to vessel operations</a:t>
            </a:r>
          </a:p>
        </p:txBody>
      </p:sp>
      <p:sp>
        <p:nvSpPr>
          <p:cNvPr id="128" name="Label"/>
          <p:cNvSpPr txBox="1"/>
          <p:nvPr/>
        </p:nvSpPr>
        <p:spPr>
          <a:xfrm>
            <a:off x="647395" y="3584448"/>
            <a:ext cx="1252728" cy="1591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Shoreside charges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6580022" y="111557"/>
            <a:ext cx="3566160" cy="26517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Jan. ’26 analysis; Matson reported ’25 results end of Feb ‘26</a:t>
            </a:r>
          </a:p>
        </p:txBody>
      </p:sp>
      <p:sp>
        <p:nvSpPr>
          <p:cNvPr id="130" name="Rectangle 326"/>
          <p:cNvSpPr txBox="1"/>
          <p:nvPr/>
        </p:nvSpPr>
        <p:spPr>
          <a:xfrm>
            <a:off x="401422" y="3665830"/>
            <a:ext cx="1796796" cy="1155802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31" name="Rectangle 407"/>
          <p:cNvSpPr txBox="1"/>
          <p:nvPr/>
        </p:nvSpPr>
        <p:spPr>
          <a:xfrm>
            <a:off x="452628" y="6109106"/>
            <a:ext cx="11308385" cy="289865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(1) Matson and Pasha charge a Fuel Surcharge of 16.5% as of September 2025; Basic Ocean Rates largely derived from Pasha Hawaii, whereas Terminal Charges are specific to Matson</a:t>
            </a:r>
            <a:br/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Pasha Hawaii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Aloha Freight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Hawaii Department of Transportation</a:t>
            </a:r>
          </a:p>
        </p:txBody>
      </p:sp>
      <p:sp>
        <p:nvSpPr>
          <p:cNvPr id="132" name="Rectangle 453"/>
          <p:cNvSpPr txBox="1"/>
          <p:nvPr/>
        </p:nvSpPr>
        <p:spPr>
          <a:xfrm>
            <a:off x="5626303" y="3743554"/>
            <a:ext cx="6074359" cy="1791310"/>
          </a:xfrm>
          <a:prstGeom prst="rect">
            <a:avLst/>
          </a:prstGeom>
          <a:noFill/>
          <a:ln w="19050">
            <a:solidFill>
              <a:srgbClr val="FB6B3C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3" name="Rectangle 465"/>
          <p:cNvSpPr txBox="1"/>
          <p:nvPr/>
        </p:nvSpPr>
        <p:spPr>
          <a:xfrm>
            <a:off x="6901891" y="5403190"/>
            <a:ext cx="4621378" cy="267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B6B3C"/>
                </a:solidFill>
                <a:latin typeface="Arial"/>
                <a:ea typeface="Arial"/>
                <a:cs typeface="Arial"/>
              </a:rPr>
              <a:t>Directly related to vessel operations; percentage varies based on basic ocean rate, fuel surcharge, discounts, and other factors </a:t>
            </a:r>
          </a:p>
        </p:txBody>
      </p:sp>
      <p:cxnSp>
        <p:nvCxnSpPr>
          <p:cNvPr id="134" name="Straight Arrow Connector 597"/>
          <p:cNvCxnSpPr/>
          <p:nvPr/>
        </p:nvCxnSpPr>
        <p:spPr>
          <a:xfrm>
            <a:off x="3648456" y="3705149"/>
            <a:ext cx="1976933" cy="636422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</p:cxnSp>
      <p:cxnSp>
        <p:nvCxnSpPr>
          <p:cNvPr id="135" name="Straight Arrow Connector 637"/>
          <p:cNvCxnSpPr/>
          <p:nvPr/>
        </p:nvCxnSpPr>
        <p:spPr>
          <a:xfrm>
            <a:off x="3648456" y="3375050"/>
            <a:ext cx="1985162" cy="389534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</p:cxnSp>
      <p:cxnSp>
        <p:nvCxnSpPr>
          <p:cNvPr id="136" name="Straight Arrow Connector 640"/>
          <p:cNvCxnSpPr/>
          <p:nvPr/>
        </p:nvCxnSpPr>
        <p:spPr>
          <a:xfrm>
            <a:off x="3648456" y="2495398"/>
            <a:ext cx="1976933" cy="643738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</p:cxnSp>
      <p:cxnSp>
        <p:nvCxnSpPr>
          <p:cNvPr id="137" name="Straight Arrow Connector 646"/>
          <p:cNvCxnSpPr/>
          <p:nvPr/>
        </p:nvCxnSpPr>
        <p:spPr>
          <a:xfrm>
            <a:off x="3648456" y="2311603"/>
            <a:ext cx="1985162" cy="281635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</p:cxnSp>
      <p:cxnSp>
        <p:nvCxnSpPr>
          <p:cNvPr id="138" name="Straight Arrow Connector 471"/>
          <p:cNvCxnSpPr/>
          <p:nvPr/>
        </p:nvCxnSpPr>
        <p:spPr>
          <a:xfrm flipV="1">
            <a:off x="3648456" y="2011680"/>
            <a:ext cx="1952244" cy="274320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</p:cxnSp>
      <p:sp>
        <p:nvSpPr>
          <p:cNvPr id="139" name="Rectangle 36"/>
          <p:cNvSpPr txBox="1"/>
          <p:nvPr/>
        </p:nvSpPr>
        <p:spPr>
          <a:xfrm>
            <a:off x="484632" y="1323137"/>
            <a:ext cx="2926080" cy="223114"/>
          </a:xfrm>
          <a:prstGeom prst="rect">
            <a:avLst/>
          </a:prstGeom>
          <a:solidFill>
            <a:srgbClr val="CEDDEC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Spot Rate from CONUS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Navy (Surface incl. MDA)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Components | The following funding inputs, sources, and colors of money are considered for sizing the Navy (Surface) market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552298" y="3742639"/>
            <a:ext cx="11182198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FY26 PBR &amp; Congressional Committee markups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552298" y="4140403"/>
            <a:ext cx="11182198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OBBBA &amp; Congressional Committee intent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8777326" y="4538167"/>
            <a:ext cx="294619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SHIELD IDIQ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2414930" y="2124151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Anti-Air Warfare (incl. cUAS)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7505395" y="2124151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Electronic Warfare (D&amp;D)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8777326" y="2124151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IAMD (OBBBA)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824789" y="2124151"/>
            <a:ext cx="1108253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sUSV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824789" y="2521915"/>
            <a:ext cx="1108253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mUSV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10100462" y="2124151"/>
            <a:ext cx="1615745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Platforms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8777326" y="2521915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IAMD (SHIELD)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552298" y="4936846"/>
            <a:ext cx="11182198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552298" y="5334610"/>
            <a:ext cx="11182198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RDT&amp;E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2414930" y="2521915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Electronic Warfare (Other)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824789" y="2916936"/>
            <a:ext cx="1108253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USV Enabling Capabilities</a:t>
            </a:r>
          </a:p>
        </p:txBody>
      </p:sp>
      <p:sp>
        <p:nvSpPr>
          <p:cNvPr id="114" name="LegendSwatch"/>
          <p:cNvSpPr txBox="1"/>
          <p:nvPr/>
        </p:nvSpPr>
        <p:spPr>
          <a:xfrm>
            <a:off x="8164678" y="1429207"/>
            <a:ext cx="182880" cy="182880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5" name="LegendSwatch"/>
          <p:cNvSpPr txBox="1"/>
          <p:nvPr/>
        </p:nvSpPr>
        <p:spPr>
          <a:xfrm>
            <a:off x="10686593" y="1429207"/>
            <a:ext cx="182880" cy="182880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6" name="LegendSwatch"/>
          <p:cNvSpPr txBox="1"/>
          <p:nvPr/>
        </p:nvSpPr>
        <p:spPr>
          <a:xfrm>
            <a:off x="6962242" y="1429207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7" name="LegendSwatch"/>
          <p:cNvSpPr txBox="1"/>
          <p:nvPr/>
        </p:nvSpPr>
        <p:spPr>
          <a:xfrm>
            <a:off x="9713671" y="1429207"/>
            <a:ext cx="182880" cy="18288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8" name="TextBox 13"/>
          <p:cNvSpPr txBox="1"/>
          <p:nvPr/>
        </p:nvSpPr>
        <p:spPr>
          <a:xfrm>
            <a:off x="8368589" y="1429207"/>
            <a:ext cx="1324051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Sized in another campaign</a:t>
            </a:r>
          </a:p>
        </p:txBody>
      </p:sp>
      <p:sp>
        <p:nvSpPr>
          <p:cNvPr id="119" name="TextBox 15"/>
          <p:cNvSpPr txBox="1"/>
          <p:nvPr/>
        </p:nvSpPr>
        <p:spPr>
          <a:xfrm>
            <a:off x="10890504" y="1429207"/>
            <a:ext cx="834847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Non-addressable</a:t>
            </a:r>
          </a:p>
        </p:txBody>
      </p:sp>
      <p:sp>
        <p:nvSpPr>
          <p:cNvPr id="120" name="Rectangle 17"/>
          <p:cNvSpPr txBox="1"/>
          <p:nvPr/>
        </p:nvSpPr>
        <p:spPr>
          <a:xfrm>
            <a:off x="4959706" y="2124151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Anti-Submarine Warfare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1" name="Rectangle 18"/>
          <p:cNvSpPr txBox="1"/>
          <p:nvPr/>
        </p:nvSpPr>
        <p:spPr>
          <a:xfrm>
            <a:off x="7505395" y="2521915"/>
            <a:ext cx="1109167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Amphibious Warfare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2" name="Rectangle 19"/>
          <p:cNvSpPr txBox="1"/>
          <p:nvPr/>
        </p:nvSpPr>
        <p:spPr>
          <a:xfrm>
            <a:off x="6233465" y="2124151"/>
            <a:ext cx="1108253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Ballistic Missile Defense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3" name="Rectangle 22"/>
          <p:cNvSpPr txBox="1"/>
          <p:nvPr/>
        </p:nvSpPr>
        <p:spPr>
          <a:xfrm>
            <a:off x="3687775" y="2916936"/>
            <a:ext cx="1109167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Special Operations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4" name="Rectangle 21"/>
          <p:cNvSpPr txBox="1"/>
          <p:nvPr/>
        </p:nvSpPr>
        <p:spPr>
          <a:xfrm>
            <a:off x="4959706" y="2521915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Mine Warfare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5" name="Rectangle 24"/>
          <p:cNvSpPr txBox="1"/>
          <p:nvPr/>
        </p:nvSpPr>
        <p:spPr>
          <a:xfrm>
            <a:off x="4959706" y="2916936"/>
            <a:ext cx="1109167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Sealift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6" name="Rectangle 25"/>
          <p:cNvSpPr txBox="1"/>
          <p:nvPr/>
        </p:nvSpPr>
        <p:spPr>
          <a:xfrm>
            <a:off x="3687775" y="2124151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Anti-Surface Ship Warfare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7" name="Rectangle 27"/>
          <p:cNvSpPr txBox="1"/>
          <p:nvPr/>
        </p:nvSpPr>
        <p:spPr>
          <a:xfrm>
            <a:off x="6232550" y="2916936"/>
            <a:ext cx="1109167" cy="304495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/>
                <a:ea typeface="Arial"/>
                <a:cs typeface="Arial"/>
              </a:rPr>
              <a:t>VBSS</a:t>
            </a:r>
            <a:r>
              <a:rPr lang="en-US" sz="900" dirty="0">
                <a:solidFill>
                  <a:srgbClr val="BFBFB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8" name="Rectangle 28"/>
          <p:cNvSpPr txBox="1"/>
          <p:nvPr/>
        </p:nvSpPr>
        <p:spPr>
          <a:xfrm>
            <a:off x="552298" y="1727302"/>
            <a:ext cx="1652321" cy="304495"/>
          </a:xfrm>
          <a:prstGeom prst="rect">
            <a:avLst/>
          </a:prstGeom>
          <a:solidFill>
            <a:srgbClr val="99B9D8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Unmanned-specified funding (USV)</a:t>
            </a:r>
          </a:p>
        </p:txBody>
      </p:sp>
      <p:sp>
        <p:nvSpPr>
          <p:cNvPr id="129" name="Rectangle 29"/>
          <p:cNvSpPr txBox="1"/>
          <p:nvPr/>
        </p:nvSpPr>
        <p:spPr>
          <a:xfrm>
            <a:off x="6232550" y="2521915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Strike Warfare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0" name="Rectangle 31"/>
          <p:cNvSpPr txBox="1"/>
          <p:nvPr/>
        </p:nvSpPr>
        <p:spPr>
          <a:xfrm>
            <a:off x="2272284" y="1727302"/>
            <a:ext cx="7743139" cy="304495"/>
          </a:xfrm>
          <a:prstGeom prst="rect">
            <a:avLst/>
          </a:prstGeom>
          <a:solidFill>
            <a:srgbClr val="447BB2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Currently manned capabilities (CMC) funding </a:t>
            </a:r>
            <a:br/>
            <a:r>
              <a:rPr lang="en-US" sz="11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Surface missions</a:t>
            </a:r>
          </a:p>
        </p:txBody>
      </p:sp>
      <p:sp>
        <p:nvSpPr>
          <p:cNvPr id="131" name="Rectangle 32"/>
          <p:cNvSpPr txBox="1"/>
          <p:nvPr/>
        </p:nvSpPr>
        <p:spPr>
          <a:xfrm>
            <a:off x="10082174" y="1727302"/>
            <a:ext cx="1652321" cy="304495"/>
          </a:xfrm>
          <a:prstGeom prst="rect">
            <a:avLst/>
          </a:prstGeom>
          <a:solidFill>
            <a:srgbClr val="0E1924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Kill chain roles</a:t>
            </a:r>
          </a:p>
        </p:txBody>
      </p:sp>
      <p:sp>
        <p:nvSpPr>
          <p:cNvPr id="132" name="Label"/>
          <p:cNvSpPr txBox="1"/>
          <p:nvPr/>
        </p:nvSpPr>
        <p:spPr>
          <a:xfrm>
            <a:off x="10100462" y="2916936"/>
            <a:ext cx="1616659" cy="304495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Sensors</a:t>
            </a:r>
          </a:p>
        </p:txBody>
      </p:sp>
      <p:sp>
        <p:nvSpPr>
          <p:cNvPr id="133" name="Label"/>
          <p:cNvSpPr txBox="1"/>
          <p:nvPr/>
        </p:nvSpPr>
        <p:spPr>
          <a:xfrm>
            <a:off x="10099548" y="3311957"/>
            <a:ext cx="1616659" cy="304495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Combat Systems Integration (incl. CEC)</a:t>
            </a:r>
          </a:p>
        </p:txBody>
      </p:sp>
      <p:sp>
        <p:nvSpPr>
          <p:cNvPr id="134" name="Label"/>
          <p:cNvSpPr txBox="1"/>
          <p:nvPr/>
        </p:nvSpPr>
        <p:spPr>
          <a:xfrm>
            <a:off x="10099548" y="2521915"/>
            <a:ext cx="1616659" cy="304495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Effectors</a:t>
            </a:r>
          </a:p>
        </p:txBody>
      </p:sp>
      <p:sp>
        <p:nvSpPr>
          <p:cNvPr id="135" name="Label"/>
          <p:cNvSpPr txBox="1"/>
          <p:nvPr/>
        </p:nvSpPr>
        <p:spPr>
          <a:xfrm>
            <a:off x="552298" y="5732374"/>
            <a:ext cx="11182198" cy="304495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O&amp;M</a:t>
            </a:r>
          </a:p>
        </p:txBody>
      </p:sp>
      <p:sp>
        <p:nvSpPr>
          <p:cNvPr id="136" name="Label"/>
          <p:cNvSpPr txBox="1"/>
          <p:nvPr/>
        </p:nvSpPr>
        <p:spPr>
          <a:xfrm rot="16200000">
            <a:off x="-714146" y="2431390"/>
            <a:ext cx="1963217" cy="514807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Funding Inputs</a:t>
            </a:r>
          </a:p>
        </p:txBody>
      </p:sp>
      <p:sp>
        <p:nvSpPr>
          <p:cNvPr id="137" name="Label"/>
          <p:cNvSpPr txBox="1"/>
          <p:nvPr/>
        </p:nvSpPr>
        <p:spPr>
          <a:xfrm rot="16200000">
            <a:off x="-281635" y="5224882"/>
            <a:ext cx="1097280" cy="513893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Color of Money</a:t>
            </a:r>
          </a:p>
        </p:txBody>
      </p:sp>
      <p:sp>
        <p:nvSpPr>
          <p:cNvPr id="138" name="Label"/>
          <p:cNvSpPr txBox="1"/>
          <p:nvPr/>
        </p:nvSpPr>
        <p:spPr>
          <a:xfrm rot="16200000">
            <a:off x="-281635" y="4034333"/>
            <a:ext cx="1097280" cy="513893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Data Sources</a:t>
            </a:r>
          </a:p>
        </p:txBody>
      </p:sp>
      <p:cxnSp>
        <p:nvCxnSpPr>
          <p:cNvPr id="139" name="Straight Connector 42"/>
          <p:cNvCxnSpPr/>
          <p:nvPr/>
        </p:nvCxnSpPr>
        <p:spPr>
          <a:xfrm>
            <a:off x="470916" y="1727302"/>
            <a:ext cx="0" cy="1920240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cxnSp>
        <p:nvCxnSpPr>
          <p:cNvPr id="140" name="Straight Connector 44"/>
          <p:cNvCxnSpPr/>
          <p:nvPr/>
        </p:nvCxnSpPr>
        <p:spPr>
          <a:xfrm flipH="1">
            <a:off x="444398" y="3695090"/>
            <a:ext cx="11216945" cy="0"/>
          </a:xfrm>
          <a:prstGeom prst="line">
            <a:avLst/>
          </a:prstGeom>
          <a:ln w="3175">
            <a:solidFill>
              <a:srgbClr val="88AABD"/>
            </a:solidFill>
            <a:prstDash val="dash"/>
          </a:ln>
        </p:spPr>
      </p:cxnSp>
      <p:cxnSp>
        <p:nvCxnSpPr>
          <p:cNvPr id="141" name="Straight Connector 46"/>
          <p:cNvCxnSpPr/>
          <p:nvPr/>
        </p:nvCxnSpPr>
        <p:spPr>
          <a:xfrm>
            <a:off x="468173" y="4932274"/>
            <a:ext cx="1829" cy="1097280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cxnSp>
        <p:nvCxnSpPr>
          <p:cNvPr id="142" name="Straight Connector 47"/>
          <p:cNvCxnSpPr/>
          <p:nvPr/>
        </p:nvCxnSpPr>
        <p:spPr>
          <a:xfrm flipH="1">
            <a:off x="444398" y="4884725"/>
            <a:ext cx="11216945" cy="0"/>
          </a:xfrm>
          <a:prstGeom prst="line">
            <a:avLst/>
          </a:prstGeom>
          <a:ln w="3175">
            <a:solidFill>
              <a:srgbClr val="88AABD"/>
            </a:solidFill>
            <a:prstDash val="dash"/>
          </a:ln>
        </p:spPr>
      </p:cxnSp>
      <p:sp>
        <p:nvSpPr>
          <p:cNvPr id="143" name="Rectangle 6"/>
          <p:cNvSpPr txBox="1"/>
          <p:nvPr/>
        </p:nvSpPr>
        <p:spPr>
          <a:xfrm>
            <a:off x="3687775" y="2521915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ISR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4" name="Rectangle 52"/>
          <p:cNvSpPr txBox="1"/>
          <p:nvPr/>
        </p:nvSpPr>
        <p:spPr>
          <a:xfrm>
            <a:off x="2414930" y="2916936"/>
            <a:ext cx="1110082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5" name="Rectangle 57"/>
          <p:cNvSpPr txBox="1"/>
          <p:nvPr/>
        </p:nvSpPr>
        <p:spPr>
          <a:xfrm>
            <a:off x="452628" y="6073445"/>
            <a:ext cx="11308385" cy="32369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(1) Only addressable by Surface materiel; (2) Current BMD mission; (3) Sized in USMC Campaign, with Sealift pertaining to Contested Logistics; (4) Undersea portion sized in Navy (Undersea) Campaign; (5) Sized in SOCOM Campaign; (6) Requires manned presence to fulfill mission</a:t>
            </a:r>
          </a:p>
        </p:txBody>
      </p:sp>
      <p:cxnSp>
        <p:nvCxnSpPr>
          <p:cNvPr id="146" name="Straight Connector 60"/>
          <p:cNvCxnSpPr/>
          <p:nvPr/>
        </p:nvCxnSpPr>
        <p:spPr>
          <a:xfrm>
            <a:off x="468173" y="3742639"/>
            <a:ext cx="1829" cy="1097280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cxnSp>
        <p:nvCxnSpPr>
          <p:cNvPr id="147" name="Straight Connector 61"/>
          <p:cNvCxnSpPr/>
          <p:nvPr/>
        </p:nvCxnSpPr>
        <p:spPr>
          <a:xfrm flipV="1">
            <a:off x="10048342" y="1727302"/>
            <a:ext cx="0" cy="1889150"/>
          </a:xfrm>
          <a:prstGeom prst="line">
            <a:avLst/>
          </a:prstGeom>
          <a:ln w="3175">
            <a:solidFill>
              <a:srgbClr val="88AABD"/>
            </a:solidFill>
            <a:prstDash val="dash"/>
          </a:ln>
        </p:spPr>
      </p:cxnSp>
      <p:sp>
        <p:nvSpPr>
          <p:cNvPr id="148" name="TextBox 2056"/>
          <p:cNvSpPr txBox="1"/>
          <p:nvPr/>
        </p:nvSpPr>
        <p:spPr>
          <a:xfrm>
            <a:off x="7166153" y="1429207"/>
            <a:ext cx="976579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Included in sizing</a:t>
            </a:r>
          </a:p>
        </p:txBody>
      </p:sp>
      <p:sp>
        <p:nvSpPr>
          <p:cNvPr id="149" name="TextBox 2058"/>
          <p:cNvSpPr txBox="1"/>
          <p:nvPr/>
        </p:nvSpPr>
        <p:spPr>
          <a:xfrm>
            <a:off x="9917582" y="1429207"/>
            <a:ext cx="747065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effort</a:t>
            </a:r>
          </a:p>
        </p:txBody>
      </p:sp>
      <p:sp>
        <p:nvSpPr>
          <p:cNvPr id="150" name="Rectangle 2064"/>
          <p:cNvSpPr txBox="1"/>
          <p:nvPr/>
        </p:nvSpPr>
        <p:spPr>
          <a:xfrm>
            <a:off x="8649310" y="2056486"/>
            <a:ext cx="1365199" cy="1559966"/>
          </a:xfrm>
          <a:prstGeom prst="rect">
            <a:avLst/>
          </a:prstGeom>
          <a:noFill/>
          <a:ln w="3175">
            <a:solidFill>
              <a:srgbClr val="162029"/>
            </a:solidFill>
          </a:ln>
        </p:spPr>
        <p:txBody>
          <a:bodyPr wrap="square" anchor="b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Sizing approach different vs. other CMC</a:t>
            </a:r>
          </a:p>
        </p:txBody>
      </p:sp>
      <p:sp>
        <p:nvSpPr>
          <p:cNvPr id="151" name="Speech Bubble: Rectangle 8"/>
          <p:cNvSpPr txBox="1"/>
          <p:nvPr/>
        </p:nvSpPr>
        <p:spPr>
          <a:xfrm>
            <a:off x="503834" y="3268066"/>
            <a:ext cx="2546604" cy="372161"/>
          </a:xfrm>
          <a:prstGeom prst="wedgeRectCallout">
            <a:avLst>
              <a:gd name="adj1" fmla="val -48497"/>
              <a:gd name="adj2" fmla="val -3486"/>
            </a:avLst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sUSV expected to deliver counter-UAS, Deception &amp; Decoy, and ISR capabilities</a:t>
            </a:r>
          </a:p>
        </p:txBody>
      </p:sp>
      <p:pic>
        <p:nvPicPr>
          <p:cNvPr id="15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871" y="43891"/>
            <a:ext cx="843077" cy="8430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Navy (Surface incl. MDA)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Approach to find TCV | USV-specified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389534" y="2155241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Identify and sum corresponding budget items to find Total Funding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389534" y="2853842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Total Funding equals TAM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389534" y="3551530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Multiply by unmanned adoption rate to find SAM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389534" y="1456639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Identify applicable unmanned platforms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389534" y="4250131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Multiply by Saronic market share to find Company TCV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452628" y="6073445"/>
            <a:ext cx="11308385" cy="32369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(1) Programs and Projects included where relevant (e.g., no Cost Elements or Cost Elements in FY26 PBR account for small fraction of total Program/Project funds)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10479024" y="2311603"/>
            <a:ext cx="1388974" cy="328270"/>
          </a:xfrm>
          <a:prstGeom prst="rect">
            <a:avLst/>
          </a:prstGeom>
          <a:solidFill>
            <a:srgbClr val="E2E9EF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 ($)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10479024" y="3010205"/>
            <a:ext cx="1388974" cy="328270"/>
          </a:xfrm>
          <a:prstGeom prst="rect">
            <a:avLst/>
          </a:prstGeom>
          <a:solidFill>
            <a:srgbClr val="B6C8D8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($)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2745943" y="3010205"/>
            <a:ext cx="2330806" cy="328270"/>
          </a:xfrm>
          <a:prstGeom prst="rect">
            <a:avLst/>
          </a:prstGeom>
          <a:solidFill>
            <a:srgbClr val="E2E9EF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 ($)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2745943" y="3708806"/>
            <a:ext cx="2330806" cy="328270"/>
          </a:xfrm>
          <a:prstGeom prst="rect">
            <a:avLst/>
          </a:prstGeom>
          <a:solidFill>
            <a:srgbClr val="B6C8D8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($)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10479024" y="3708806"/>
            <a:ext cx="1388974" cy="328270"/>
          </a:xfrm>
          <a:prstGeom prst="rect">
            <a:avLst/>
          </a:prstGeom>
          <a:solidFill>
            <a:srgbClr val="6E91B1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($)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10479024" y="4407408"/>
            <a:ext cx="1388974" cy="328270"/>
          </a:xfrm>
          <a:prstGeom prst="rect">
            <a:avLst/>
          </a:prstGeom>
          <a:solidFill>
            <a:srgbClr val="3D5972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TCV ($)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8326526" y="2311603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 Elements ($)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2745943" y="4406494"/>
            <a:ext cx="2330806" cy="328270"/>
          </a:xfrm>
          <a:prstGeom prst="rect">
            <a:avLst/>
          </a:prstGeom>
          <a:solidFill>
            <a:srgbClr val="6E91B1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($)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7395667" y="4406494"/>
            <a:ext cx="2329891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Saronic market share (%)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2745943" y="2311603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OBBBA items ($)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9536278" y="1613002"/>
            <a:ext cx="2330806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USV Enabling Capabilities</a:t>
            </a:r>
          </a:p>
        </p:txBody>
      </p:sp>
      <p:sp>
        <p:nvSpPr>
          <p:cNvPr id="117" name="Rectangle 41"/>
          <p:cNvSpPr txBox="1"/>
          <p:nvPr/>
        </p:nvSpPr>
        <p:spPr>
          <a:xfrm>
            <a:off x="2745943" y="1613002"/>
            <a:ext cx="2330806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latin typeface="Arial"/>
                <a:ea typeface="Arial"/>
                <a:cs typeface="Arial"/>
              </a:rPr>
              <a:t>sUSV 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(incl. Corsair- and Mirage-equivalent platforms)</a:t>
            </a:r>
          </a:p>
        </p:txBody>
      </p:sp>
      <p:sp>
        <p:nvSpPr>
          <p:cNvPr id="118" name="Rectangle 42"/>
          <p:cNvSpPr txBox="1"/>
          <p:nvPr/>
        </p:nvSpPr>
        <p:spPr>
          <a:xfrm>
            <a:off x="6141110" y="1613002"/>
            <a:ext cx="2330806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latin typeface="Arial"/>
                <a:ea typeface="Arial"/>
                <a:cs typeface="Arial"/>
              </a:rPr>
              <a:t>mUSV</a:t>
            </a:r>
          </a:p>
        </p:txBody>
      </p:sp>
      <p:sp>
        <p:nvSpPr>
          <p:cNvPr id="119" name="Rectangle 53"/>
          <p:cNvSpPr txBox="1"/>
          <p:nvPr/>
        </p:nvSpPr>
        <p:spPr>
          <a:xfrm>
            <a:off x="4605833" y="2311603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Programs ($)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0" name="LegendSwatch"/>
          <p:cNvSpPr txBox="1"/>
          <p:nvPr/>
        </p:nvSpPr>
        <p:spPr>
          <a:xfrm>
            <a:off x="9914839" y="2292401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1" name="LegendSwatch"/>
          <p:cNvSpPr txBox="1"/>
          <p:nvPr/>
        </p:nvSpPr>
        <p:spPr>
          <a:xfrm>
            <a:off x="9914839" y="2991002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2" name="LegendSwatch"/>
          <p:cNvSpPr txBox="1"/>
          <p:nvPr/>
        </p:nvSpPr>
        <p:spPr>
          <a:xfrm>
            <a:off x="9914839" y="3689604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3" name="LegendSwatch"/>
          <p:cNvSpPr txBox="1"/>
          <p:nvPr/>
        </p:nvSpPr>
        <p:spPr>
          <a:xfrm>
            <a:off x="9914839" y="4388206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4" name="Plus Sign 59"/>
          <p:cNvSpPr txBox="1"/>
          <p:nvPr/>
        </p:nvSpPr>
        <p:spPr>
          <a:xfrm rot="2572505">
            <a:off x="6053328" y="3689604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5" name="Rectangle 61"/>
          <p:cNvSpPr txBox="1"/>
          <p:nvPr/>
        </p:nvSpPr>
        <p:spPr>
          <a:xfrm>
            <a:off x="7395667" y="3708806"/>
            <a:ext cx="2329891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Unmanned adoption (%)</a:t>
            </a:r>
            <a:br/>
            <a:r>
              <a:rPr lang="en-US" sz="9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Rate: 100% </a:t>
            </a:r>
          </a:p>
        </p:txBody>
      </p:sp>
      <p:cxnSp>
        <p:nvCxnSpPr>
          <p:cNvPr id="126" name="Connector: Elbow 63"/>
          <p:cNvCxnSpPr/>
          <p:nvPr/>
        </p:nvCxnSpPr>
        <p:spPr>
          <a:xfrm rot="5400000">
            <a:off x="7356348" y="-806501"/>
            <a:ext cx="370332" cy="72621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7" name="Connector: Elbow 64"/>
          <p:cNvCxnSpPr/>
          <p:nvPr/>
        </p:nvCxnSpPr>
        <p:spPr>
          <a:xfrm rot="5400000">
            <a:off x="7356348" y="-107899"/>
            <a:ext cx="370332" cy="72621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8" name="Connector: Elbow 65"/>
          <p:cNvCxnSpPr/>
          <p:nvPr/>
        </p:nvCxnSpPr>
        <p:spPr>
          <a:xfrm rot="5400000">
            <a:off x="7356348" y="590702"/>
            <a:ext cx="370332" cy="72621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9" name="Plus Sign 66"/>
          <p:cNvSpPr txBox="1"/>
          <p:nvPr/>
        </p:nvSpPr>
        <p:spPr>
          <a:xfrm rot="2572505">
            <a:off x="6053328" y="4388206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0" name="Left Brace 69"/>
          <p:cNvSpPr txBox="1"/>
          <p:nvPr/>
        </p:nvSpPr>
        <p:spPr>
          <a:xfrm rot="16200000">
            <a:off x="7142378" y="-2444191"/>
            <a:ext cx="328270" cy="9121140"/>
          </a:xfrm>
          <a:prstGeom prst="leftBrace">
            <a:avLst>
              <a:gd name="adj1" fmla="val 8333"/>
              <a:gd name="adj2" fmla="val 7206"/>
            </a:avLst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1" name="Left Brace 70"/>
          <p:cNvSpPr txBox="1"/>
          <p:nvPr/>
        </p:nvSpPr>
        <p:spPr>
          <a:xfrm rot="16200000">
            <a:off x="7142378" y="-2444191"/>
            <a:ext cx="328270" cy="9121140"/>
          </a:xfrm>
          <a:prstGeom prst="leftBrace">
            <a:avLst>
              <a:gd name="adj1" fmla="val 8333"/>
              <a:gd name="adj2" fmla="val 68631"/>
            </a:avLst>
          </a:prstGeom>
          <a:noFill/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2" name="Rectangle 74"/>
          <p:cNvSpPr txBox="1"/>
          <p:nvPr/>
        </p:nvSpPr>
        <p:spPr>
          <a:xfrm>
            <a:off x="6466637" y="2311603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Projects ($)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1</a:t>
            </a:r>
          </a:p>
        </p:txBody>
      </p:sp>
      <p:sp>
        <p:nvSpPr>
          <p:cNvPr id="133" name="LegendSwatch"/>
          <p:cNvSpPr txBox="1"/>
          <p:nvPr/>
        </p:nvSpPr>
        <p:spPr>
          <a:xfrm rot="5400000">
            <a:off x="6047842" y="2292401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4" name="LegendSwatch"/>
          <p:cNvSpPr txBox="1"/>
          <p:nvPr/>
        </p:nvSpPr>
        <p:spPr>
          <a:xfrm rot="5400000">
            <a:off x="7907731" y="2292401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5" name="LegendSwatch"/>
          <p:cNvSpPr txBox="1"/>
          <p:nvPr/>
        </p:nvSpPr>
        <p:spPr>
          <a:xfrm rot="5400000">
            <a:off x="4187038" y="2292401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6" name="Rectangle 88"/>
          <p:cNvSpPr txBox="1"/>
          <p:nvPr/>
        </p:nvSpPr>
        <p:spPr>
          <a:xfrm>
            <a:off x="388620" y="1123798"/>
            <a:ext cx="1921154" cy="32827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Approach steps</a:t>
            </a:r>
          </a:p>
        </p:txBody>
      </p:sp>
      <p:cxnSp>
        <p:nvCxnSpPr>
          <p:cNvPr id="137" name="Straight Connector 89"/>
          <p:cNvCxnSpPr/>
          <p:nvPr/>
        </p:nvCxnSpPr>
        <p:spPr>
          <a:xfrm flipH="1">
            <a:off x="389534" y="1450238"/>
            <a:ext cx="1920240" cy="1829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sp>
        <p:nvSpPr>
          <p:cNvPr id="138" name="LegendSwatch"/>
          <p:cNvSpPr txBox="1"/>
          <p:nvPr/>
        </p:nvSpPr>
        <p:spPr>
          <a:xfrm>
            <a:off x="8300923" y="976579"/>
            <a:ext cx="182880" cy="182880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9" name="LegendSwatch"/>
          <p:cNvSpPr txBox="1"/>
          <p:nvPr/>
        </p:nvSpPr>
        <p:spPr>
          <a:xfrm>
            <a:off x="10822838" y="976579"/>
            <a:ext cx="182880" cy="182880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40" name="LegendSwatch"/>
          <p:cNvSpPr txBox="1"/>
          <p:nvPr/>
        </p:nvSpPr>
        <p:spPr>
          <a:xfrm>
            <a:off x="7099402" y="97657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41" name="LegendSwatch"/>
          <p:cNvSpPr txBox="1"/>
          <p:nvPr/>
        </p:nvSpPr>
        <p:spPr>
          <a:xfrm>
            <a:off x="9850831" y="976579"/>
            <a:ext cx="182880" cy="18288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42" name="TextBox 118"/>
          <p:cNvSpPr txBox="1"/>
          <p:nvPr/>
        </p:nvSpPr>
        <p:spPr>
          <a:xfrm>
            <a:off x="8504834" y="976579"/>
            <a:ext cx="1324051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latin typeface="Arial"/>
                <a:ea typeface="Arial"/>
                <a:cs typeface="Arial"/>
              </a:rPr>
              <a:t>Sized in another campaign</a:t>
            </a:r>
          </a:p>
        </p:txBody>
      </p:sp>
      <p:sp>
        <p:nvSpPr>
          <p:cNvPr id="143" name="TextBox 120"/>
          <p:cNvSpPr txBox="1"/>
          <p:nvPr/>
        </p:nvSpPr>
        <p:spPr>
          <a:xfrm>
            <a:off x="11027664" y="976579"/>
            <a:ext cx="834847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latin typeface="Arial"/>
                <a:ea typeface="Arial"/>
                <a:cs typeface="Arial"/>
              </a:rPr>
              <a:t>Non-a</a:t>
            </a: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ddressable</a:t>
            </a:r>
          </a:p>
        </p:txBody>
      </p:sp>
      <p:sp>
        <p:nvSpPr>
          <p:cNvPr id="144" name="TextBox 122"/>
          <p:cNvSpPr txBox="1"/>
          <p:nvPr/>
        </p:nvSpPr>
        <p:spPr>
          <a:xfrm>
            <a:off x="7303313" y="976579"/>
            <a:ext cx="976579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latin typeface="Arial"/>
                <a:ea typeface="Arial"/>
                <a:cs typeface="Arial"/>
              </a:rPr>
              <a:t>Included in sizing</a:t>
            </a:r>
          </a:p>
        </p:txBody>
      </p:sp>
      <p:sp>
        <p:nvSpPr>
          <p:cNvPr id="145" name="TextBox 124"/>
          <p:cNvSpPr txBox="1"/>
          <p:nvPr/>
        </p:nvSpPr>
        <p:spPr>
          <a:xfrm>
            <a:off x="10054742" y="976579"/>
            <a:ext cx="747065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latin typeface="Arial"/>
                <a:ea typeface="Arial"/>
                <a:cs typeface="Arial"/>
              </a:rPr>
              <a:t>Future effort</a:t>
            </a:r>
          </a:p>
        </p:txBody>
      </p:sp>
      <p:sp>
        <p:nvSpPr>
          <p:cNvPr id="146" name="Rectangle 113"/>
          <p:cNvSpPr txBox="1"/>
          <p:nvPr/>
        </p:nvSpPr>
        <p:spPr>
          <a:xfrm>
            <a:off x="8552383" y="125273"/>
            <a:ext cx="2011680" cy="342900"/>
          </a:xfrm>
          <a:prstGeom prst="rect">
            <a:avLst/>
          </a:prstGeom>
          <a:solidFill>
            <a:srgbClr val="99B9D8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Unmanned-specified</a:t>
            </a:r>
          </a:p>
        </p:txBody>
      </p:sp>
      <p:pic>
        <p:nvPicPr>
          <p:cNvPr id="14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871" y="43891"/>
            <a:ext cx="843077" cy="8430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Navy (Surface incl. MDA)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Approach to find TCV | Currently manned capabilities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389534" y="1356970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Identify missions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389534" y="2055571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Identify priority kill chain roles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389534" y="3452774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Identify and sum corresponding budget items to find Total Funding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389534" y="4151376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Allocate platforms and effectors to missions to find TAM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389534" y="4849978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 Multiply by unmanned adoption rate to find SAM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389534" y="2754173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Identify specific platforms / effectors for missions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389534" y="5548579"/>
            <a:ext cx="192115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 Multiply by Saronic market share to find Company TCV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452628" y="6073445"/>
            <a:ext cx="11308385" cy="32369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(1) Programs and Projects included where relevant (e.g., no Cost Elements or Cost Elements in FY26 PBR account for small fraction of total Program/Project funds)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10479024" y="3609137"/>
            <a:ext cx="1388974" cy="328270"/>
          </a:xfrm>
          <a:prstGeom prst="rect">
            <a:avLst/>
          </a:prstGeom>
          <a:solidFill>
            <a:srgbClr val="E2E9EF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 ($)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10479024" y="4307738"/>
            <a:ext cx="1388974" cy="328270"/>
          </a:xfrm>
          <a:prstGeom prst="rect">
            <a:avLst/>
          </a:prstGeom>
          <a:solidFill>
            <a:srgbClr val="B6C8D8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($)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10018166" y="2211934"/>
            <a:ext cx="1848917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Combat Systems Integration (incl. CEC)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7595006" y="2211934"/>
            <a:ext cx="1848917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Sensors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2745943" y="4307738"/>
            <a:ext cx="2330806" cy="328270"/>
          </a:xfrm>
          <a:prstGeom prst="rect">
            <a:avLst/>
          </a:prstGeom>
          <a:solidFill>
            <a:srgbClr val="E2E9EF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 ($)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2745943" y="5006340"/>
            <a:ext cx="2330806" cy="328270"/>
          </a:xfrm>
          <a:prstGeom prst="rect">
            <a:avLst/>
          </a:prstGeom>
          <a:solidFill>
            <a:srgbClr val="B6C8D8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($)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5171846" y="2211934"/>
            <a:ext cx="1848917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Effectors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10479024" y="5006340"/>
            <a:ext cx="1388974" cy="328270"/>
          </a:xfrm>
          <a:prstGeom prst="rect">
            <a:avLst/>
          </a:prstGeom>
          <a:solidFill>
            <a:srgbClr val="6E91B1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($)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10479024" y="5704942"/>
            <a:ext cx="1388974" cy="328270"/>
          </a:xfrm>
          <a:prstGeom prst="rect">
            <a:avLst/>
          </a:prstGeom>
          <a:solidFill>
            <a:srgbClr val="3D5972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TCV ($)</a:t>
            </a:r>
          </a:p>
        </p:txBody>
      </p:sp>
      <p:sp>
        <p:nvSpPr>
          <p:cNvPr id="117" name="Label"/>
          <p:cNvSpPr txBox="1"/>
          <p:nvPr/>
        </p:nvSpPr>
        <p:spPr>
          <a:xfrm>
            <a:off x="2745943" y="2211934"/>
            <a:ext cx="1848917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Platforms</a:t>
            </a:r>
          </a:p>
        </p:txBody>
      </p:sp>
      <p:sp>
        <p:nvSpPr>
          <p:cNvPr id="118" name="Label"/>
          <p:cNvSpPr txBox="1"/>
          <p:nvPr/>
        </p:nvSpPr>
        <p:spPr>
          <a:xfrm>
            <a:off x="8931859" y="2910535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Littoral Combat Ship</a:t>
            </a:r>
          </a:p>
        </p:txBody>
      </p:sp>
      <p:sp>
        <p:nvSpPr>
          <p:cNvPr id="119" name="Label"/>
          <p:cNvSpPr txBox="1"/>
          <p:nvPr/>
        </p:nvSpPr>
        <p:spPr>
          <a:xfrm>
            <a:off x="8326526" y="3609137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 Elements ($)</a:t>
            </a:r>
          </a:p>
        </p:txBody>
      </p:sp>
      <p:sp>
        <p:nvSpPr>
          <p:cNvPr id="120" name="Label"/>
          <p:cNvSpPr txBox="1"/>
          <p:nvPr/>
        </p:nvSpPr>
        <p:spPr>
          <a:xfrm>
            <a:off x="7385609" y="4307738"/>
            <a:ext cx="2329891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Mission allocations by platform and effector (%)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7395667" y="5006340"/>
            <a:ext cx="2329891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Unmanned adoption (%)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2745943" y="5704942"/>
            <a:ext cx="2330806" cy="328270"/>
          </a:xfrm>
          <a:prstGeom prst="rect">
            <a:avLst/>
          </a:prstGeom>
          <a:solidFill>
            <a:srgbClr val="6E91B1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($)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7395667" y="5704942"/>
            <a:ext cx="2329891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Saronic market share (%)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2745943" y="3609137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OBBBA items ($)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2539289" y="1253642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Anti-Air Warfare (incl. cUAS)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4886554" y="1253642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Anti-Submarine Warfare</a:t>
            </a:r>
          </a:p>
        </p:txBody>
      </p:sp>
      <p:sp>
        <p:nvSpPr>
          <p:cNvPr id="127" name="Label"/>
          <p:cNvSpPr txBox="1"/>
          <p:nvPr/>
        </p:nvSpPr>
        <p:spPr>
          <a:xfrm>
            <a:off x="8408822" y="1253642"/>
            <a:ext cx="1109167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Amphibious Warfare</a:t>
            </a:r>
          </a:p>
        </p:txBody>
      </p:sp>
      <p:sp>
        <p:nvSpPr>
          <p:cNvPr id="128" name="Label"/>
          <p:cNvSpPr txBox="1"/>
          <p:nvPr/>
        </p:nvSpPr>
        <p:spPr>
          <a:xfrm>
            <a:off x="6061558" y="1253642"/>
            <a:ext cx="1108253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Ballistic Missile Defense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7234733" y="1253642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Electronic Warfare (D&amp;D)</a:t>
            </a:r>
          </a:p>
        </p:txBody>
      </p:sp>
      <p:sp>
        <p:nvSpPr>
          <p:cNvPr id="130" name="Label"/>
          <p:cNvSpPr txBox="1"/>
          <p:nvPr/>
        </p:nvSpPr>
        <p:spPr>
          <a:xfrm>
            <a:off x="4886554" y="1620317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Mine Warfare</a:t>
            </a:r>
          </a:p>
        </p:txBody>
      </p:sp>
      <p:sp>
        <p:nvSpPr>
          <p:cNvPr id="131" name="Label"/>
          <p:cNvSpPr txBox="1"/>
          <p:nvPr/>
        </p:nvSpPr>
        <p:spPr>
          <a:xfrm>
            <a:off x="8408822" y="1620317"/>
            <a:ext cx="1109167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Special Operations</a:t>
            </a:r>
          </a:p>
        </p:txBody>
      </p:sp>
      <p:sp>
        <p:nvSpPr>
          <p:cNvPr id="132" name="Label"/>
          <p:cNvSpPr txBox="1"/>
          <p:nvPr/>
        </p:nvSpPr>
        <p:spPr>
          <a:xfrm>
            <a:off x="9582912" y="1620317"/>
            <a:ext cx="1109167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Sealift</a:t>
            </a:r>
          </a:p>
        </p:txBody>
      </p:sp>
      <p:sp>
        <p:nvSpPr>
          <p:cNvPr id="133" name="Label"/>
          <p:cNvSpPr txBox="1"/>
          <p:nvPr/>
        </p:nvSpPr>
        <p:spPr>
          <a:xfrm>
            <a:off x="6061558" y="1622146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Strike Warfare</a:t>
            </a:r>
          </a:p>
        </p:txBody>
      </p:sp>
      <p:sp>
        <p:nvSpPr>
          <p:cNvPr id="134" name="Label"/>
          <p:cNvSpPr txBox="1"/>
          <p:nvPr/>
        </p:nvSpPr>
        <p:spPr>
          <a:xfrm>
            <a:off x="3712464" y="1620317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ISR</a:t>
            </a:r>
          </a:p>
        </p:txBody>
      </p:sp>
      <p:sp>
        <p:nvSpPr>
          <p:cNvPr id="135" name="Label"/>
          <p:cNvSpPr txBox="1"/>
          <p:nvPr/>
        </p:nvSpPr>
        <p:spPr>
          <a:xfrm>
            <a:off x="9582912" y="1253642"/>
            <a:ext cx="1110082" cy="304495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36" name="Label"/>
          <p:cNvSpPr txBox="1"/>
          <p:nvPr/>
        </p:nvSpPr>
        <p:spPr>
          <a:xfrm>
            <a:off x="2539289" y="1625803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Electronic Warfare (Other)</a:t>
            </a:r>
          </a:p>
        </p:txBody>
      </p:sp>
      <p:sp>
        <p:nvSpPr>
          <p:cNvPr id="137" name="Rectangle 41"/>
          <p:cNvSpPr txBox="1"/>
          <p:nvPr/>
        </p:nvSpPr>
        <p:spPr>
          <a:xfrm>
            <a:off x="2745943" y="2910535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latin typeface="Arial"/>
                <a:ea typeface="Arial"/>
                <a:cs typeface="Arial"/>
              </a:rPr>
              <a:t>Ticonderoga</a:t>
            </a:r>
            <a:r>
              <a:rPr lang="en-US" sz="900" dirty="0">
                <a:latin typeface="Arial"/>
                <a:ea typeface="Arial"/>
                <a:cs typeface="Arial"/>
              </a:rPr>
              <a:t>-class cruisers</a:t>
            </a:r>
          </a:p>
        </p:txBody>
      </p:sp>
      <p:sp>
        <p:nvSpPr>
          <p:cNvPr id="138" name="Rectangle 42"/>
          <p:cNvSpPr txBox="1"/>
          <p:nvPr/>
        </p:nvSpPr>
        <p:spPr>
          <a:xfrm>
            <a:off x="4292194" y="2910535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latin typeface="Arial"/>
                <a:ea typeface="Arial"/>
                <a:cs typeface="Arial"/>
              </a:rPr>
              <a:t>Arleigh Burke</a:t>
            </a:r>
            <a:r>
              <a:rPr lang="en-US" sz="900" dirty="0">
                <a:latin typeface="Arial"/>
                <a:ea typeface="Arial"/>
                <a:cs typeface="Arial"/>
              </a:rPr>
              <a:t>-class destroyers</a:t>
            </a:r>
          </a:p>
        </p:txBody>
      </p:sp>
      <p:sp>
        <p:nvSpPr>
          <p:cNvPr id="139" name="Rectangle 43"/>
          <p:cNvSpPr txBox="1"/>
          <p:nvPr/>
        </p:nvSpPr>
        <p:spPr>
          <a:xfrm>
            <a:off x="5838444" y="2910535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latin typeface="Arial"/>
                <a:ea typeface="Arial"/>
                <a:cs typeface="Arial"/>
              </a:rPr>
              <a:t>Zumwalt</a:t>
            </a:r>
            <a:r>
              <a:rPr lang="en-US" sz="900" dirty="0">
                <a:latin typeface="Arial"/>
                <a:ea typeface="Arial"/>
                <a:cs typeface="Arial"/>
              </a:rPr>
              <a:t>-class destroyers</a:t>
            </a:r>
          </a:p>
        </p:txBody>
      </p:sp>
      <p:sp>
        <p:nvSpPr>
          <p:cNvPr id="140" name="Rectangle 44"/>
          <p:cNvSpPr txBox="1"/>
          <p:nvPr/>
        </p:nvSpPr>
        <p:spPr>
          <a:xfrm>
            <a:off x="7385609" y="2910535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Constellation-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 frigates</a:t>
            </a:r>
          </a:p>
        </p:txBody>
      </p:sp>
      <p:sp>
        <p:nvSpPr>
          <p:cNvPr id="141" name="Rectangle 46"/>
          <p:cNvSpPr txBox="1"/>
          <p:nvPr/>
        </p:nvSpPr>
        <p:spPr>
          <a:xfrm>
            <a:off x="10479024" y="2910535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Avenger</a:t>
            </a: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-class MCM ship</a:t>
            </a:r>
          </a:p>
        </p:txBody>
      </p:sp>
      <p:cxnSp>
        <p:nvCxnSpPr>
          <p:cNvPr id="142" name="Connector: Elbow 47"/>
          <p:cNvCxnSpPr/>
          <p:nvPr/>
        </p:nvCxnSpPr>
        <p:spPr>
          <a:xfrm rot="5400000">
            <a:off x="3369564" y="2610612"/>
            <a:ext cx="370332" cy="23042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3" name="Connector: Elbow 48"/>
          <p:cNvCxnSpPr/>
          <p:nvPr/>
        </p:nvCxnSpPr>
        <p:spPr>
          <a:xfrm rot="16200000" flipH="1">
            <a:off x="4143146" y="2067458"/>
            <a:ext cx="370332" cy="131673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4" name="Connector: Elbow 49"/>
          <p:cNvCxnSpPr/>
          <p:nvPr/>
        </p:nvCxnSpPr>
        <p:spPr>
          <a:xfrm rot="16200000" flipH="1">
            <a:off x="4916729" y="1293876"/>
            <a:ext cx="370332" cy="286298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5" name="Connector: Elbow 50"/>
          <p:cNvCxnSpPr/>
          <p:nvPr/>
        </p:nvCxnSpPr>
        <p:spPr>
          <a:xfrm rot="16200000" flipH="1">
            <a:off x="7236562" y="-1025957"/>
            <a:ext cx="370332" cy="750265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6" name="Connector: Elbow 51"/>
          <p:cNvCxnSpPr/>
          <p:nvPr/>
        </p:nvCxnSpPr>
        <p:spPr>
          <a:xfrm rot="16200000" flipH="1">
            <a:off x="6462979" y="-252374"/>
            <a:ext cx="370332" cy="595640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7" name="Connector: Elbow 52"/>
          <p:cNvCxnSpPr/>
          <p:nvPr/>
        </p:nvCxnSpPr>
        <p:spPr>
          <a:xfrm rot="16200000" flipH="1">
            <a:off x="5689397" y="521208"/>
            <a:ext cx="370332" cy="440923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8" name="Rectangle 53"/>
          <p:cNvSpPr txBox="1"/>
          <p:nvPr/>
        </p:nvSpPr>
        <p:spPr>
          <a:xfrm>
            <a:off x="4605833" y="3609137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Programs ($)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9" name="LegendSwatch"/>
          <p:cNvSpPr txBox="1"/>
          <p:nvPr/>
        </p:nvSpPr>
        <p:spPr>
          <a:xfrm>
            <a:off x="9914839" y="3590849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0" name="LegendSwatch"/>
          <p:cNvSpPr txBox="1"/>
          <p:nvPr/>
        </p:nvSpPr>
        <p:spPr>
          <a:xfrm>
            <a:off x="9914839" y="4289450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1" name="LegendSwatch"/>
          <p:cNvSpPr txBox="1"/>
          <p:nvPr/>
        </p:nvSpPr>
        <p:spPr>
          <a:xfrm>
            <a:off x="9914839" y="4987138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2" name="LegendSwatch"/>
          <p:cNvSpPr txBox="1"/>
          <p:nvPr/>
        </p:nvSpPr>
        <p:spPr>
          <a:xfrm>
            <a:off x="9914839" y="5685739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3" name="LegendSwatch"/>
          <p:cNvSpPr txBox="1"/>
          <p:nvPr/>
        </p:nvSpPr>
        <p:spPr>
          <a:xfrm rot="2572505">
            <a:off x="6061558" y="4289450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4" name="LegendSwatch"/>
          <p:cNvSpPr txBox="1"/>
          <p:nvPr/>
        </p:nvSpPr>
        <p:spPr>
          <a:xfrm rot="2572505">
            <a:off x="6061558" y="4987138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5" name="LegendSwatch"/>
          <p:cNvSpPr txBox="1"/>
          <p:nvPr/>
        </p:nvSpPr>
        <p:spPr>
          <a:xfrm rot="2572505">
            <a:off x="6061558" y="5685739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56" name="Connector: Elbow 63"/>
          <p:cNvCxnSpPr/>
          <p:nvPr/>
        </p:nvCxnSpPr>
        <p:spPr>
          <a:xfrm rot="5400000">
            <a:off x="7356348" y="491947"/>
            <a:ext cx="370332" cy="72621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57" name="Connector: Elbow 64"/>
          <p:cNvCxnSpPr/>
          <p:nvPr/>
        </p:nvCxnSpPr>
        <p:spPr>
          <a:xfrm rot="5400000">
            <a:off x="7356348" y="1190549"/>
            <a:ext cx="370332" cy="72621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58" name="Connector: Elbow 65"/>
          <p:cNvCxnSpPr/>
          <p:nvPr/>
        </p:nvCxnSpPr>
        <p:spPr>
          <a:xfrm rot="5400000">
            <a:off x="7356348" y="1888236"/>
            <a:ext cx="370332" cy="72621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59" name="Left Brace 69"/>
          <p:cNvSpPr txBox="1"/>
          <p:nvPr/>
        </p:nvSpPr>
        <p:spPr>
          <a:xfrm rot="16200000">
            <a:off x="7142378" y="-1145743"/>
            <a:ext cx="328270" cy="9121140"/>
          </a:xfrm>
          <a:prstGeom prst="leftBrace">
            <a:avLst>
              <a:gd name="adj1" fmla="val 8333"/>
              <a:gd name="adj2" fmla="val 7206"/>
            </a:avLst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60" name="Left Brace 70"/>
          <p:cNvSpPr txBox="1"/>
          <p:nvPr/>
        </p:nvSpPr>
        <p:spPr>
          <a:xfrm rot="16200000">
            <a:off x="7142378" y="-1146658"/>
            <a:ext cx="328270" cy="9121140"/>
          </a:xfrm>
          <a:prstGeom prst="leftBrace">
            <a:avLst>
              <a:gd name="adj1" fmla="val 8333"/>
              <a:gd name="adj2" fmla="val 68631"/>
            </a:avLst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61" name="Rectangle 74"/>
          <p:cNvSpPr txBox="1"/>
          <p:nvPr/>
        </p:nvSpPr>
        <p:spPr>
          <a:xfrm>
            <a:off x="6466637" y="3609137"/>
            <a:ext cx="1388974" cy="32827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Projects ($)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1</a:t>
            </a:r>
          </a:p>
        </p:txBody>
      </p:sp>
      <p:sp>
        <p:nvSpPr>
          <p:cNvPr id="162" name="LegendSwatch"/>
          <p:cNvSpPr txBox="1"/>
          <p:nvPr/>
        </p:nvSpPr>
        <p:spPr>
          <a:xfrm rot="5400000">
            <a:off x="6047842" y="3590849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63" name="LegendSwatch"/>
          <p:cNvSpPr txBox="1"/>
          <p:nvPr/>
        </p:nvSpPr>
        <p:spPr>
          <a:xfrm rot="5400000">
            <a:off x="7907731" y="3590849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64" name="LegendSwatch"/>
          <p:cNvSpPr txBox="1"/>
          <p:nvPr/>
        </p:nvSpPr>
        <p:spPr>
          <a:xfrm rot="5400000">
            <a:off x="4187038" y="3590849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65" name="Rectangle 88"/>
          <p:cNvSpPr txBox="1"/>
          <p:nvPr/>
        </p:nvSpPr>
        <p:spPr>
          <a:xfrm>
            <a:off x="388620" y="1123798"/>
            <a:ext cx="1921154" cy="32827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Approach steps</a:t>
            </a:r>
          </a:p>
        </p:txBody>
      </p:sp>
      <p:cxnSp>
        <p:nvCxnSpPr>
          <p:cNvPr id="166" name="Straight Connector 89"/>
          <p:cNvCxnSpPr/>
          <p:nvPr/>
        </p:nvCxnSpPr>
        <p:spPr>
          <a:xfrm flipH="1">
            <a:off x="389534" y="1450238"/>
            <a:ext cx="1920240" cy="1829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sp>
        <p:nvSpPr>
          <p:cNvPr id="167" name="Rectangle 97"/>
          <p:cNvSpPr txBox="1"/>
          <p:nvPr/>
        </p:nvSpPr>
        <p:spPr>
          <a:xfrm>
            <a:off x="3712464" y="1253642"/>
            <a:ext cx="1109167" cy="30449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Anti-Ship </a:t>
            </a:r>
            <a:br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Warfare</a:t>
            </a:r>
          </a:p>
        </p:txBody>
      </p:sp>
      <p:sp>
        <p:nvSpPr>
          <p:cNvPr id="168" name="Rectangle 98"/>
          <p:cNvSpPr txBox="1"/>
          <p:nvPr/>
        </p:nvSpPr>
        <p:spPr>
          <a:xfrm>
            <a:off x="10757916" y="1253642"/>
            <a:ext cx="1109167" cy="304495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/>
                <a:ea typeface="Arial"/>
                <a:cs typeface="Arial"/>
              </a:rPr>
              <a:t>VBSS</a:t>
            </a:r>
          </a:p>
        </p:txBody>
      </p:sp>
      <p:sp>
        <p:nvSpPr>
          <p:cNvPr id="169" name="ValueLabel"/>
          <p:cNvSpPr txBox="1"/>
          <p:nvPr/>
        </p:nvSpPr>
        <p:spPr>
          <a:xfrm>
            <a:off x="2438705" y="1199693"/>
            <a:ext cx="5940857" cy="785470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70" name="ValueLabel"/>
          <p:cNvSpPr txBox="1"/>
          <p:nvPr/>
        </p:nvSpPr>
        <p:spPr>
          <a:xfrm>
            <a:off x="8300923" y="976579"/>
            <a:ext cx="182880" cy="182880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71" name="ValueLabel"/>
          <p:cNvSpPr txBox="1"/>
          <p:nvPr/>
        </p:nvSpPr>
        <p:spPr>
          <a:xfrm>
            <a:off x="10822838" y="976579"/>
            <a:ext cx="182880" cy="182880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72" name="ValueLabel"/>
          <p:cNvSpPr txBox="1"/>
          <p:nvPr/>
        </p:nvSpPr>
        <p:spPr>
          <a:xfrm>
            <a:off x="7099402" y="97657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73" name="ValueLabel"/>
          <p:cNvSpPr txBox="1"/>
          <p:nvPr/>
        </p:nvSpPr>
        <p:spPr>
          <a:xfrm>
            <a:off x="9850831" y="976579"/>
            <a:ext cx="182880" cy="18288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74" name="Connector: Elbow 112"/>
          <p:cNvCxnSpPr/>
          <p:nvPr/>
        </p:nvCxnSpPr>
        <p:spPr>
          <a:xfrm rot="5400000">
            <a:off x="4425696" y="1228954"/>
            <a:ext cx="226771" cy="173918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75" name="TextBox 118"/>
          <p:cNvSpPr txBox="1"/>
          <p:nvPr/>
        </p:nvSpPr>
        <p:spPr>
          <a:xfrm>
            <a:off x="8504834" y="976579"/>
            <a:ext cx="1324051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Sized in another campaign</a:t>
            </a:r>
          </a:p>
        </p:txBody>
      </p:sp>
      <p:sp>
        <p:nvSpPr>
          <p:cNvPr id="176" name="TextBox 120"/>
          <p:cNvSpPr txBox="1"/>
          <p:nvPr/>
        </p:nvSpPr>
        <p:spPr>
          <a:xfrm>
            <a:off x="11027664" y="976579"/>
            <a:ext cx="834847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Non-addressable</a:t>
            </a:r>
          </a:p>
        </p:txBody>
      </p:sp>
      <p:sp>
        <p:nvSpPr>
          <p:cNvPr id="177" name="TextBox 122"/>
          <p:cNvSpPr txBox="1"/>
          <p:nvPr/>
        </p:nvSpPr>
        <p:spPr>
          <a:xfrm>
            <a:off x="7303313" y="976579"/>
            <a:ext cx="976579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Included in sizing</a:t>
            </a:r>
          </a:p>
        </p:txBody>
      </p:sp>
      <p:sp>
        <p:nvSpPr>
          <p:cNvPr id="178" name="TextBox 124"/>
          <p:cNvSpPr txBox="1"/>
          <p:nvPr/>
        </p:nvSpPr>
        <p:spPr>
          <a:xfrm>
            <a:off x="10054742" y="976579"/>
            <a:ext cx="747065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effort</a:t>
            </a:r>
          </a:p>
        </p:txBody>
      </p:sp>
      <p:sp>
        <p:nvSpPr>
          <p:cNvPr id="179" name="Rectangle 4"/>
          <p:cNvSpPr txBox="1"/>
          <p:nvPr/>
        </p:nvSpPr>
        <p:spPr>
          <a:xfrm>
            <a:off x="8551469" y="125273"/>
            <a:ext cx="2012594" cy="343814"/>
          </a:xfrm>
          <a:prstGeom prst="rect">
            <a:avLst/>
          </a:prstGeom>
          <a:solidFill>
            <a:srgbClr val="447BB2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Currently manned capabilities – primary approach</a:t>
            </a:r>
          </a:p>
        </p:txBody>
      </p:sp>
      <p:pic>
        <p:nvPicPr>
          <p:cNvPr id="18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871" y="43891"/>
            <a:ext cx="843077" cy="8430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Navy (Surface incl. MDA)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TCV to ACV Approach | Finding Company ACV</a:t>
            </a:r>
          </a:p>
        </p:txBody>
      </p:sp>
      <p:sp>
        <p:nvSpPr>
          <p:cNvPr id="100" name="Rectangle 2"/>
          <p:cNvSpPr txBox="1"/>
          <p:nvPr/>
        </p:nvSpPr>
        <p:spPr>
          <a:xfrm>
            <a:off x="388620" y="1452982"/>
            <a:ext cx="2093062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Multiply Company TCV by contract exercise timing to find Company ACV</a:t>
            </a:r>
          </a:p>
        </p:txBody>
      </p:sp>
      <p:sp>
        <p:nvSpPr>
          <p:cNvPr id="101" name="Rectangle 7"/>
          <p:cNvSpPr txBox="1"/>
          <p:nvPr/>
        </p:nvSpPr>
        <p:spPr>
          <a:xfrm>
            <a:off x="388620" y="1123798"/>
            <a:ext cx="2094890" cy="32827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Approach steps</a:t>
            </a:r>
          </a:p>
        </p:txBody>
      </p:sp>
      <p:cxnSp>
        <p:nvCxnSpPr>
          <p:cNvPr id="102" name="Straight Connector 8"/>
          <p:cNvCxnSpPr/>
          <p:nvPr/>
        </p:nvCxnSpPr>
        <p:spPr>
          <a:xfrm flipH="1">
            <a:off x="389534" y="1450238"/>
            <a:ext cx="2093062" cy="1829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sp>
        <p:nvSpPr>
          <p:cNvPr id="103" name="Rectangle 13"/>
          <p:cNvSpPr txBox="1"/>
          <p:nvPr/>
        </p:nvSpPr>
        <p:spPr>
          <a:xfrm>
            <a:off x="10479024" y="1609344"/>
            <a:ext cx="1388974" cy="328270"/>
          </a:xfrm>
          <a:prstGeom prst="rect">
            <a:avLst/>
          </a:prstGeom>
          <a:solidFill>
            <a:srgbClr val="263746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ACV by year ($)</a:t>
            </a:r>
          </a:p>
        </p:txBody>
      </p:sp>
      <p:cxnSp>
        <p:nvCxnSpPr>
          <p:cNvPr id="104" name="Straight Connector 118"/>
          <p:cNvCxnSpPr/>
          <p:nvPr/>
        </p:nvCxnSpPr>
        <p:spPr>
          <a:xfrm>
            <a:off x="1932127" y="2824582"/>
            <a:ext cx="84490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5" name="Straight Connector 132"/>
          <p:cNvCxnSpPr/>
          <p:nvPr/>
        </p:nvCxnSpPr>
        <p:spPr>
          <a:xfrm>
            <a:off x="3834994" y="3678631"/>
            <a:ext cx="84490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6" name="Straight Connector 139"/>
          <p:cNvCxnSpPr/>
          <p:nvPr/>
        </p:nvCxnSpPr>
        <p:spPr>
          <a:xfrm>
            <a:off x="5736946" y="3678631"/>
            <a:ext cx="84490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7" name="Straight Connector 147"/>
          <p:cNvCxnSpPr/>
          <p:nvPr/>
        </p:nvCxnSpPr>
        <p:spPr>
          <a:xfrm>
            <a:off x="7638898" y="3719779"/>
            <a:ext cx="84490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8" name="Straight Connector 153"/>
          <p:cNvCxnSpPr/>
          <p:nvPr/>
        </p:nvCxnSpPr>
        <p:spPr>
          <a:xfrm>
            <a:off x="9542678" y="4103827"/>
            <a:ext cx="84490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  <a:tailEnd type="triangle" w="med" len="med"/>
          </a:ln>
        </p:spPr>
      </p:cxnSp>
      <p:graphicFrame>
        <p:nvGraphicFramePr>
          <p:cNvPr id="109" name="Chart"/>
          <p:cNvGraphicFramePr/>
          <p:nvPr/>
        </p:nvGraphicFramePr>
        <p:xfrm>
          <a:off x="370332" y="2741371"/>
          <a:ext cx="11579047" cy="1871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0" name="Text Placeholder 25"/>
          <p:cNvSpPr txBox="1"/>
          <p:nvPr/>
        </p:nvSpPr>
        <p:spPr>
          <a:xfrm>
            <a:off x="1246327" y="3600907"/>
            <a:ext cx="31455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1260043" y="4573829"/>
            <a:ext cx="287122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2919679" y="4573829"/>
            <a:ext cx="771754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Market Share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4787798" y="4573829"/>
            <a:ext cx="843077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Company TCV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6704381" y="4573829"/>
            <a:ext cx="814730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Initial exercise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8556955" y="4573829"/>
            <a:ext cx="912571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In-year exercise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10382098" y="4573829"/>
            <a:ext cx="1068019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Next-year exercise</a:t>
            </a:r>
          </a:p>
        </p:txBody>
      </p:sp>
      <p:sp>
        <p:nvSpPr>
          <p:cNvPr id="117" name="Text Placeholder 25"/>
          <p:cNvSpPr txBox="1"/>
          <p:nvPr/>
        </p:nvSpPr>
        <p:spPr>
          <a:xfrm>
            <a:off x="3148279" y="3174797"/>
            <a:ext cx="31455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18" name="Text Placeholder 25"/>
          <p:cNvSpPr txBox="1"/>
          <p:nvPr/>
        </p:nvSpPr>
        <p:spPr>
          <a:xfrm>
            <a:off x="5051146" y="4027932"/>
            <a:ext cx="31455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19" name="Text Placeholder 25"/>
          <p:cNvSpPr txBox="1"/>
          <p:nvPr/>
        </p:nvSpPr>
        <p:spPr>
          <a:xfrm>
            <a:off x="6987845" y="3622853"/>
            <a:ext cx="244145" cy="152705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0" name="Text Placeholder 25"/>
          <p:cNvSpPr txBox="1"/>
          <p:nvPr/>
        </p:nvSpPr>
        <p:spPr>
          <a:xfrm>
            <a:off x="8889797" y="3834994"/>
            <a:ext cx="244145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21" name="Text Placeholder 25"/>
          <p:cNvSpPr txBox="1"/>
          <p:nvPr/>
        </p:nvSpPr>
        <p:spPr>
          <a:xfrm>
            <a:off x="10758830" y="4240073"/>
            <a:ext cx="31455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2" name="Plus Sign 14"/>
          <p:cNvSpPr txBox="1"/>
          <p:nvPr/>
        </p:nvSpPr>
        <p:spPr>
          <a:xfrm rot="2572505">
            <a:off x="6012180" y="1590142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3" name="Rectangle 15"/>
          <p:cNvSpPr txBox="1"/>
          <p:nvPr/>
        </p:nvSpPr>
        <p:spPr>
          <a:xfrm>
            <a:off x="3214116" y="1609344"/>
            <a:ext cx="2330806" cy="328270"/>
          </a:xfrm>
          <a:prstGeom prst="rect">
            <a:avLst/>
          </a:prstGeom>
          <a:solidFill>
            <a:srgbClr val="3D5972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TCV ($)</a:t>
            </a:r>
          </a:p>
        </p:txBody>
      </p:sp>
      <p:sp>
        <p:nvSpPr>
          <p:cNvPr id="124" name="Equals 17"/>
          <p:cNvSpPr txBox="1"/>
          <p:nvPr/>
        </p:nvSpPr>
        <p:spPr>
          <a:xfrm>
            <a:off x="9645091" y="1590142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5" name="Rectangle 242"/>
          <p:cNvSpPr txBox="1"/>
          <p:nvPr/>
        </p:nvSpPr>
        <p:spPr>
          <a:xfrm>
            <a:off x="6581851" y="2819095"/>
            <a:ext cx="2960827" cy="468173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ACV: </a:t>
            </a:r>
            <a:br/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$100M in Year 1</a:t>
            </a:r>
          </a:p>
        </p:txBody>
      </p:sp>
      <p:sp>
        <p:nvSpPr>
          <p:cNvPr id="126" name="Rectangle 247"/>
          <p:cNvSpPr txBox="1"/>
          <p:nvPr/>
        </p:nvSpPr>
        <p:spPr>
          <a:xfrm>
            <a:off x="8382305" y="3457346"/>
            <a:ext cx="3181198" cy="1312164"/>
          </a:xfrm>
          <a:prstGeom prst="rect">
            <a:avLst/>
          </a:prstGeom>
          <a:noFill/>
          <a:ln w="19050">
            <a:solidFill>
              <a:srgbClr val="808080"/>
            </a:solidFill>
            <a:prstDash val="dash"/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Programs to deliver</a:t>
            </a:r>
          </a:p>
        </p:txBody>
      </p:sp>
      <p:sp>
        <p:nvSpPr>
          <p:cNvPr id="127" name="Rectangle 248"/>
          <p:cNvSpPr txBox="1"/>
          <p:nvPr/>
        </p:nvSpPr>
        <p:spPr>
          <a:xfrm>
            <a:off x="10233965" y="2819095"/>
            <a:ext cx="1347826" cy="468173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ACV: </a:t>
            </a:r>
            <a:br/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$100M in Year 2</a:t>
            </a:r>
          </a:p>
        </p:txBody>
      </p:sp>
      <p:cxnSp>
        <p:nvCxnSpPr>
          <p:cNvPr id="128" name="Straight Arrow Connector 249"/>
          <p:cNvCxnSpPr/>
          <p:nvPr/>
        </p:nvCxnSpPr>
        <p:spPr>
          <a:xfrm>
            <a:off x="452628" y="2499970"/>
            <a:ext cx="11282782" cy="1829"/>
          </a:xfrm>
          <a:prstGeom prst="line">
            <a:avLst/>
          </a:prstGeom>
          <a:ln w="12700">
            <a:solidFill>
              <a:srgbClr val="808080"/>
            </a:solidFill>
          </a:ln>
        </p:spPr>
      </p:cxnSp>
      <p:sp>
        <p:nvSpPr>
          <p:cNvPr id="129" name="Rectangle 16"/>
          <p:cNvSpPr txBox="1"/>
          <p:nvPr/>
        </p:nvSpPr>
        <p:spPr>
          <a:xfrm>
            <a:off x="6817766" y="1609344"/>
            <a:ext cx="2329891" cy="328270"/>
          </a:xfrm>
          <a:prstGeom prst="rect">
            <a:avLst/>
          </a:prstGeom>
          <a:solidFill>
            <a:srgbClr val="162029"/>
          </a:solidFill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 exercise timing (%)</a:t>
            </a:r>
          </a:p>
        </p:txBody>
      </p:sp>
      <p:sp>
        <p:nvSpPr>
          <p:cNvPr id="130" name="TextBox 252"/>
          <p:cNvSpPr txBox="1"/>
          <p:nvPr/>
        </p:nvSpPr>
        <p:spPr>
          <a:xfrm>
            <a:off x="5876849" y="1943100"/>
            <a:ext cx="4212641" cy="38953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Defined as proportion of contract exercised each year </a:t>
            </a:r>
            <a:br/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(e.g., 50% in Year 1, 50% in Year 2 for Marauder) </a:t>
            </a:r>
          </a:p>
        </p:txBody>
      </p:sp>
      <p:sp>
        <p:nvSpPr>
          <p:cNvPr id="131" name="Rectangle 254"/>
          <p:cNvSpPr txBox="1"/>
          <p:nvPr/>
        </p:nvSpPr>
        <p:spPr>
          <a:xfrm>
            <a:off x="388620" y="2173529"/>
            <a:ext cx="4662526" cy="32827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Company ACV estimation example ($M, presumed Marauder exercise timing):</a:t>
            </a:r>
          </a:p>
        </p:txBody>
      </p:sp>
      <p:cxnSp>
        <p:nvCxnSpPr>
          <p:cNvPr id="132" name="Straight Arrow Connector 301"/>
          <p:cNvCxnSpPr/>
          <p:nvPr/>
        </p:nvCxnSpPr>
        <p:spPr>
          <a:xfrm>
            <a:off x="493776" y="2638044"/>
            <a:ext cx="9362542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3" name="Rectangle 302"/>
          <p:cNvSpPr txBox="1"/>
          <p:nvPr/>
        </p:nvSpPr>
        <p:spPr>
          <a:xfrm>
            <a:off x="4643323" y="2536546"/>
            <a:ext cx="1062533" cy="202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Year 1</a:t>
            </a:r>
          </a:p>
        </p:txBody>
      </p:sp>
      <p:cxnSp>
        <p:nvCxnSpPr>
          <p:cNvPr id="134" name="Straight Arrow Connector 304"/>
          <p:cNvCxnSpPr/>
          <p:nvPr/>
        </p:nvCxnSpPr>
        <p:spPr>
          <a:xfrm>
            <a:off x="9915754" y="2638044"/>
            <a:ext cx="195133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5" name="Rectangle 305"/>
          <p:cNvSpPr txBox="1"/>
          <p:nvPr/>
        </p:nvSpPr>
        <p:spPr>
          <a:xfrm>
            <a:off x="10488168" y="2536546"/>
            <a:ext cx="841248" cy="202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Year 2</a:t>
            </a:r>
          </a:p>
        </p:txBody>
      </p:sp>
      <p:graphicFrame>
        <p:nvGraphicFramePr>
          <p:cNvPr id="136" name="Table 19"/>
          <p:cNvGraphicFramePr>
            <a:graphicFrameLocks noGrp="1"/>
          </p:cNvGraphicFramePr>
          <p:nvPr/>
        </p:nvGraphicFramePr>
        <p:xfrm>
          <a:off x="452628" y="4862779"/>
          <a:ext cx="11413541" cy="1524305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778154"/>
                <a:gridCol w="5346497"/>
                <a:gridCol w="1656893"/>
                <a:gridCol w="1656893"/>
                <a:gridCol w="1975104"/>
              </a:tblGrid>
              <a:tr h="0">
                <a:tc gridSpan="2"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Contract exercise timing by product: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1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2</a:t>
                      </a:r>
                    </a:p>
                  </a:txBody>
                  <a:tcPr marL="60960" marR="60960" marT="60960" marB="60960" anchor="b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0"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Product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Rationale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Initial exercise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In-Year exercise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Next-year exercise</a:t>
                      </a:r>
                    </a:p>
                  </a:txBody>
                  <a:tcPr marL="60960" marR="60960" marT="60960" marB="6096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Corsair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line with Production OT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Mirage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Assumes similar timing as Corsair Production OT because Mirage falls under sUSV funding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Marauder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Based on estimated MASC contract exercise: MASC procured in 10-vessel block buys with each vessel a separate CLIN and CLINs are exercised evenly across 24-month period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7" name="Rectangle 4"/>
          <p:cNvSpPr txBox="1"/>
          <p:nvPr/>
        </p:nvSpPr>
        <p:spPr>
          <a:xfrm>
            <a:off x="8552383" y="125273"/>
            <a:ext cx="2011680" cy="342900"/>
          </a:xfrm>
          <a:prstGeom prst="rect">
            <a:avLst/>
          </a:prstGeom>
          <a:solidFill>
            <a:srgbClr val="CEDDEC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All archetypes</a:t>
            </a:r>
          </a:p>
        </p:txBody>
      </p:sp>
      <p:pic>
        <p:nvPicPr>
          <p:cNvPr id="138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871" y="43891"/>
            <a:ext cx="843077" cy="8430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Navy (Surface incl. MDA)</a:t>
            </a:r>
          </a:p>
        </p:txBody>
      </p:sp>
      <p:sp>
        <p:nvSpPr>
          <p:cNvPr id="2000" name="Title 3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marL="0"/>
            <a:r>
              <a:rPr lang="en-US" dirty="0">
                <a:solidFill>
                  <a:srgbClr val="000000"/>
                </a:solidFill>
              </a:rPr>
              <a:t>Approach to find TCV | </a:t>
            </a:r>
            <a:r>
              <a:rPr lang="en" dirty="0">
                <a:solidFill>
                  <a:srgbClr val="000000"/>
                </a:solidFill>
              </a:rPr>
              <a:t>IAMD (OBBBA and SHIELD)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0" name="Rectangle 79"/>
          <p:cNvSpPr txBox="1"/>
          <p:nvPr/>
        </p:nvSpPr>
        <p:spPr>
          <a:xfrm>
            <a:off x="477317" y="1720901"/>
            <a:ext cx="218084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Identify relevant OBBBA items </a:t>
            </a: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(items shown are not exhaustive)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477317" y="2390242"/>
            <a:ext cx="218084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Allocate to domains to find maritime-specific funding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477317" y="3728009"/>
            <a:ext cx="218084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Multiply by FY allocations to find TAM by year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477317" y="4396435"/>
            <a:ext cx="218084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Multiply by unmanned adoption rate to find SAM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477317" y="5065776"/>
            <a:ext cx="218084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 Multiply by Saronic market share to find Company TCV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477317" y="3058668"/>
            <a:ext cx="2180844" cy="64099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Allocate to kill chain roles to find Total Funding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10303459" y="3215945"/>
            <a:ext cx="1707185" cy="328270"/>
          </a:xfrm>
          <a:prstGeom prst="rect">
            <a:avLst/>
          </a:prstGeom>
          <a:solidFill>
            <a:srgbClr val="E2E9EF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 ($)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8445398" y="2546604"/>
            <a:ext cx="1341425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Space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7004304" y="2546604"/>
            <a:ext cx="1341425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10303459" y="3884371"/>
            <a:ext cx="1707185" cy="328270"/>
          </a:xfrm>
          <a:prstGeom prst="rect">
            <a:avLst/>
          </a:prstGeom>
          <a:solidFill>
            <a:srgbClr val="B6C8D8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($)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2733142" y="3884371"/>
            <a:ext cx="2072030" cy="328270"/>
          </a:xfrm>
          <a:prstGeom prst="rect">
            <a:avLst/>
          </a:prstGeom>
          <a:solidFill>
            <a:srgbClr val="E2E9EF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 ($)</a:t>
            </a:r>
          </a:p>
        </p:txBody>
      </p:sp>
      <p:sp>
        <p:nvSpPr>
          <p:cNvPr id="111" name="Label"/>
          <p:cNvSpPr txBox="1"/>
          <p:nvPr/>
        </p:nvSpPr>
        <p:spPr>
          <a:xfrm>
            <a:off x="2733142" y="4552798"/>
            <a:ext cx="2072030" cy="328270"/>
          </a:xfrm>
          <a:prstGeom prst="rect">
            <a:avLst/>
          </a:prstGeom>
          <a:solidFill>
            <a:srgbClr val="B6C8D8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($)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7583119" y="3215030"/>
            <a:ext cx="1060704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Sensors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8726119" y="3215030"/>
            <a:ext cx="1060704" cy="32827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Combat Sys. Integration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5562295" y="2546604"/>
            <a:ext cx="1341425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Maritime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7713878" y="3884371"/>
            <a:ext cx="2072945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 allocations (%)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7714793" y="4552798"/>
            <a:ext cx="2072030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Unmanned adoption (%)</a:t>
            </a:r>
          </a:p>
        </p:txBody>
      </p:sp>
      <p:sp>
        <p:nvSpPr>
          <p:cNvPr id="117" name="Label"/>
          <p:cNvSpPr txBox="1"/>
          <p:nvPr/>
        </p:nvSpPr>
        <p:spPr>
          <a:xfrm>
            <a:off x="7714793" y="5222138"/>
            <a:ext cx="2072030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Saronic market share (%)</a:t>
            </a:r>
          </a:p>
        </p:txBody>
      </p:sp>
      <p:sp>
        <p:nvSpPr>
          <p:cNvPr id="118" name="Label"/>
          <p:cNvSpPr txBox="1"/>
          <p:nvPr/>
        </p:nvSpPr>
        <p:spPr>
          <a:xfrm>
            <a:off x="10303459" y="2546604"/>
            <a:ext cx="1707185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Maritime-specific funding ($)</a:t>
            </a:r>
          </a:p>
        </p:txBody>
      </p:sp>
      <p:sp>
        <p:nvSpPr>
          <p:cNvPr id="119" name="Label"/>
          <p:cNvSpPr txBox="1"/>
          <p:nvPr/>
        </p:nvSpPr>
        <p:spPr>
          <a:xfrm>
            <a:off x="2733142" y="2546604"/>
            <a:ext cx="2072945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Relevant OBBBA items ($) </a:t>
            </a:r>
          </a:p>
        </p:txBody>
      </p:sp>
      <p:sp>
        <p:nvSpPr>
          <p:cNvPr id="120" name="Label"/>
          <p:cNvSpPr txBox="1"/>
          <p:nvPr/>
        </p:nvSpPr>
        <p:spPr>
          <a:xfrm>
            <a:off x="2733142" y="1878178"/>
            <a:ext cx="1925726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Hypersonic test bed program ($)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7861097" y="1878178"/>
            <a:ext cx="1925726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Hypersonic defense systems ($)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5297119" y="1878178"/>
            <a:ext cx="1925726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Military missile defense capabilities ($)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10303459" y="1878178"/>
            <a:ext cx="1707185" cy="328270"/>
          </a:xfrm>
          <a:prstGeom prst="rect">
            <a:avLst/>
          </a:prstGeom>
          <a:solidFill>
            <a:srgbClr val="162029"/>
          </a:solidFill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Relevant OBBBA items ($) 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5297119" y="3215030"/>
            <a:ext cx="1060704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Platforms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2732227" y="3215030"/>
            <a:ext cx="2072030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Maritime-specific funding ($)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6440119" y="3215030"/>
            <a:ext cx="1060704" cy="32827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Effectors</a:t>
            </a:r>
          </a:p>
        </p:txBody>
      </p:sp>
      <p:sp>
        <p:nvSpPr>
          <p:cNvPr id="127" name="Label"/>
          <p:cNvSpPr txBox="1"/>
          <p:nvPr/>
        </p:nvSpPr>
        <p:spPr>
          <a:xfrm>
            <a:off x="10303459" y="4552798"/>
            <a:ext cx="1707185" cy="328270"/>
          </a:xfrm>
          <a:prstGeom prst="rect">
            <a:avLst/>
          </a:prstGeom>
          <a:solidFill>
            <a:srgbClr val="6E91B1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($)</a:t>
            </a:r>
          </a:p>
        </p:txBody>
      </p:sp>
      <p:sp>
        <p:nvSpPr>
          <p:cNvPr id="128" name="Label"/>
          <p:cNvSpPr txBox="1"/>
          <p:nvPr/>
        </p:nvSpPr>
        <p:spPr>
          <a:xfrm>
            <a:off x="10303459" y="5222138"/>
            <a:ext cx="1707185" cy="328270"/>
          </a:xfrm>
          <a:prstGeom prst="rect">
            <a:avLst/>
          </a:prstGeom>
          <a:solidFill>
            <a:srgbClr val="3D5972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TCV ($)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2733142" y="5222138"/>
            <a:ext cx="2072030" cy="328270"/>
          </a:xfrm>
          <a:prstGeom prst="rect">
            <a:avLst/>
          </a:prstGeom>
          <a:solidFill>
            <a:srgbClr val="6E91B1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($)</a:t>
            </a:r>
          </a:p>
        </p:txBody>
      </p:sp>
      <p:sp>
        <p:nvSpPr>
          <p:cNvPr id="130" name="LegendSwatch"/>
          <p:cNvSpPr txBox="1"/>
          <p:nvPr/>
        </p:nvSpPr>
        <p:spPr>
          <a:xfrm>
            <a:off x="9862718" y="2528316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1" name="LegendSwatch"/>
          <p:cNvSpPr txBox="1"/>
          <p:nvPr/>
        </p:nvSpPr>
        <p:spPr>
          <a:xfrm>
            <a:off x="9862718" y="3865169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2" name="LegendSwatch"/>
          <p:cNvSpPr txBox="1"/>
          <p:nvPr/>
        </p:nvSpPr>
        <p:spPr>
          <a:xfrm>
            <a:off x="9862718" y="5202936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3" name="LegendSwatch"/>
          <p:cNvSpPr txBox="1"/>
          <p:nvPr/>
        </p:nvSpPr>
        <p:spPr>
          <a:xfrm>
            <a:off x="9862718" y="4534510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4" name="LegendSwatch"/>
          <p:cNvSpPr txBox="1"/>
          <p:nvPr/>
        </p:nvSpPr>
        <p:spPr>
          <a:xfrm>
            <a:off x="9862718" y="3196742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5" name="LegendSwatch"/>
          <p:cNvSpPr txBox="1"/>
          <p:nvPr/>
        </p:nvSpPr>
        <p:spPr>
          <a:xfrm>
            <a:off x="9862718" y="1858975"/>
            <a:ext cx="365760" cy="36576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6" name="LegendSwatch"/>
          <p:cNvSpPr txBox="1"/>
          <p:nvPr/>
        </p:nvSpPr>
        <p:spPr>
          <a:xfrm rot="2572505">
            <a:off x="4967935" y="2528316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7" name="LegendSwatch"/>
          <p:cNvSpPr txBox="1"/>
          <p:nvPr/>
        </p:nvSpPr>
        <p:spPr>
          <a:xfrm rot="2572505">
            <a:off x="6077102" y="4534510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8" name="LegendSwatch"/>
          <p:cNvSpPr txBox="1"/>
          <p:nvPr/>
        </p:nvSpPr>
        <p:spPr>
          <a:xfrm rot="2572505">
            <a:off x="6077102" y="5202936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39" name="LegendSwatch"/>
          <p:cNvSpPr txBox="1"/>
          <p:nvPr/>
        </p:nvSpPr>
        <p:spPr>
          <a:xfrm rot="2572505">
            <a:off x="6077102" y="3865169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40" name="LegendSwatch"/>
          <p:cNvSpPr txBox="1"/>
          <p:nvPr/>
        </p:nvSpPr>
        <p:spPr>
          <a:xfrm rot="2572505">
            <a:off x="4849063" y="3196742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41" name="Connector: Elbow 115"/>
          <p:cNvCxnSpPr/>
          <p:nvPr/>
        </p:nvCxnSpPr>
        <p:spPr>
          <a:xfrm rot="5400000">
            <a:off x="7292340" y="20117"/>
            <a:ext cx="341071" cy="738743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42" name="Connector: Elbow 116"/>
          <p:cNvCxnSpPr/>
          <p:nvPr/>
        </p:nvCxnSpPr>
        <p:spPr>
          <a:xfrm rot="5400000">
            <a:off x="7292340" y="689458"/>
            <a:ext cx="341071" cy="738743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3" name="Rectangle 121"/>
          <p:cNvSpPr txBox="1"/>
          <p:nvPr/>
        </p:nvSpPr>
        <p:spPr>
          <a:xfrm>
            <a:off x="5495544" y="2309774"/>
            <a:ext cx="4335170" cy="607162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Domain allocations (%)</a:t>
            </a:r>
          </a:p>
        </p:txBody>
      </p:sp>
      <p:sp>
        <p:nvSpPr>
          <p:cNvPr id="144" name="Plus Sign 131"/>
          <p:cNvSpPr txBox="1"/>
          <p:nvPr/>
        </p:nvSpPr>
        <p:spPr>
          <a:xfrm rot="5400000">
            <a:off x="4795114" y="1858975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45" name="Plus Sign 132"/>
          <p:cNvSpPr txBox="1"/>
          <p:nvPr/>
        </p:nvSpPr>
        <p:spPr>
          <a:xfrm rot="5400000">
            <a:off x="7359091" y="1858975"/>
            <a:ext cx="365760" cy="36576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46" name="Rectangle 135"/>
          <p:cNvSpPr txBox="1"/>
          <p:nvPr/>
        </p:nvSpPr>
        <p:spPr>
          <a:xfrm>
            <a:off x="477317" y="1378001"/>
            <a:ext cx="2094890" cy="32827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Approach steps</a:t>
            </a:r>
          </a:p>
        </p:txBody>
      </p:sp>
      <p:cxnSp>
        <p:nvCxnSpPr>
          <p:cNvPr id="147" name="Straight Connector 136"/>
          <p:cNvCxnSpPr/>
          <p:nvPr/>
        </p:nvCxnSpPr>
        <p:spPr>
          <a:xfrm flipH="1">
            <a:off x="478231" y="1704442"/>
            <a:ext cx="2093062" cy="1829"/>
          </a:xfrm>
          <a:prstGeom prst="line">
            <a:avLst/>
          </a:prstGeom>
          <a:ln w="12700">
            <a:solidFill>
              <a:srgbClr val="162029"/>
            </a:solidFill>
          </a:ln>
        </p:spPr>
      </p:cxnSp>
      <p:cxnSp>
        <p:nvCxnSpPr>
          <p:cNvPr id="148" name="Connector: Elbow 137"/>
          <p:cNvCxnSpPr/>
          <p:nvPr/>
        </p:nvCxnSpPr>
        <p:spPr>
          <a:xfrm rot="5400000">
            <a:off x="7293254" y="-1317650"/>
            <a:ext cx="340157" cy="7387438"/>
          </a:xfrm>
          <a:prstGeom prst="bentConnector3">
            <a:avLst>
              <a:gd name="adj1" fmla="val 15352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49" name="Rectangle 140"/>
          <p:cNvSpPr txBox="1"/>
          <p:nvPr/>
        </p:nvSpPr>
        <p:spPr>
          <a:xfrm>
            <a:off x="5258714" y="3008376"/>
            <a:ext cx="4572914" cy="563270"/>
          </a:xfrm>
          <a:prstGeom prst="rect">
            <a:avLst/>
          </a:prstGeom>
          <a:noFill/>
          <a:ln w="12700">
            <a:solidFill>
              <a:srgbClr val="162029"/>
            </a:solidFill>
            <a:prstDash val="dash"/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Kill chain role allocations (%)</a:t>
            </a:r>
          </a:p>
        </p:txBody>
      </p:sp>
      <p:cxnSp>
        <p:nvCxnSpPr>
          <p:cNvPr id="150" name="Connector: Elbow 145"/>
          <p:cNvCxnSpPr/>
          <p:nvPr/>
        </p:nvCxnSpPr>
        <p:spPr>
          <a:xfrm rot="5400000">
            <a:off x="7292340" y="-649224"/>
            <a:ext cx="340157" cy="7388352"/>
          </a:xfrm>
          <a:prstGeom prst="bentConnector3">
            <a:avLst>
              <a:gd name="adj1" fmla="val 32676"/>
            </a:avLst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51" name="Connector: Elbow 160"/>
          <p:cNvCxnSpPr/>
          <p:nvPr/>
        </p:nvCxnSpPr>
        <p:spPr>
          <a:xfrm rot="5400000">
            <a:off x="7292340" y="1357884"/>
            <a:ext cx="341071" cy="738743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52" name="LegendSwatch"/>
          <p:cNvSpPr txBox="1"/>
          <p:nvPr/>
        </p:nvSpPr>
        <p:spPr>
          <a:xfrm>
            <a:off x="8471916" y="1446581"/>
            <a:ext cx="182880" cy="182880"/>
          </a:xfrm>
          <a:prstGeom prst="rect">
            <a:avLst/>
          </a:prstGeom>
          <a:solidFill>
            <a:srgbClr val="A6A6A6"/>
          </a:solidFill>
          <a:ln w="3175">
            <a:solidFill>
              <a:srgbClr val="A6A6A6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3" name="LegendSwatch"/>
          <p:cNvSpPr txBox="1"/>
          <p:nvPr/>
        </p:nvSpPr>
        <p:spPr>
          <a:xfrm>
            <a:off x="10993831" y="1446581"/>
            <a:ext cx="182880" cy="182880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4" name="LegendSwatch"/>
          <p:cNvSpPr txBox="1"/>
          <p:nvPr/>
        </p:nvSpPr>
        <p:spPr>
          <a:xfrm>
            <a:off x="7270394" y="1446581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5" name="LegendSwatch"/>
          <p:cNvSpPr txBox="1"/>
          <p:nvPr/>
        </p:nvSpPr>
        <p:spPr>
          <a:xfrm>
            <a:off x="10021824" y="1446581"/>
            <a:ext cx="182880" cy="182880"/>
          </a:xfrm>
          <a:prstGeom prst="rect">
            <a:avLst/>
          </a:prstGeom>
          <a:solidFill>
            <a:srgbClr val="F2F2F2"/>
          </a:solidFill>
          <a:ln w="3175">
            <a:solidFill>
              <a:srgbClr val="F2F2F2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56" name="TextBox 11"/>
          <p:cNvSpPr txBox="1"/>
          <p:nvPr/>
        </p:nvSpPr>
        <p:spPr>
          <a:xfrm>
            <a:off x="8675827" y="1446581"/>
            <a:ext cx="1324051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Sized in another campaign</a:t>
            </a:r>
          </a:p>
        </p:txBody>
      </p:sp>
      <p:sp>
        <p:nvSpPr>
          <p:cNvPr id="157" name="TextBox 13"/>
          <p:cNvSpPr txBox="1"/>
          <p:nvPr/>
        </p:nvSpPr>
        <p:spPr>
          <a:xfrm>
            <a:off x="11198657" y="1446581"/>
            <a:ext cx="834847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Non-addressable</a:t>
            </a:r>
          </a:p>
        </p:txBody>
      </p:sp>
      <p:sp>
        <p:nvSpPr>
          <p:cNvPr id="158" name="TextBox 15"/>
          <p:cNvSpPr txBox="1"/>
          <p:nvPr/>
        </p:nvSpPr>
        <p:spPr>
          <a:xfrm>
            <a:off x="7474306" y="1446581"/>
            <a:ext cx="976579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Included in sizing</a:t>
            </a:r>
          </a:p>
        </p:txBody>
      </p:sp>
      <p:sp>
        <p:nvSpPr>
          <p:cNvPr id="159" name="TextBox 17"/>
          <p:cNvSpPr txBox="1"/>
          <p:nvPr/>
        </p:nvSpPr>
        <p:spPr>
          <a:xfrm>
            <a:off x="10225735" y="1446581"/>
            <a:ext cx="747065" cy="18288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effort</a:t>
            </a:r>
          </a:p>
        </p:txBody>
      </p:sp>
      <p:sp>
        <p:nvSpPr>
          <p:cNvPr id="160" name="Rectangle 2"/>
          <p:cNvSpPr txBox="1"/>
          <p:nvPr/>
        </p:nvSpPr>
        <p:spPr>
          <a:xfrm>
            <a:off x="8551469" y="125273"/>
            <a:ext cx="2012594" cy="343814"/>
          </a:xfrm>
          <a:prstGeom prst="rect">
            <a:avLst/>
          </a:prstGeom>
          <a:solidFill>
            <a:srgbClr val="447BB2"/>
          </a:solidFill>
          <a:ln w="3175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Currently manned capabilities – OBBBA / IDIQ approach</a:t>
            </a:r>
          </a:p>
        </p:txBody>
      </p:sp>
      <p:pic>
        <p:nvPicPr>
          <p:cNvPr id="161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871" y="43891"/>
            <a:ext cx="843077" cy="84307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schematics</Application>
  <PresentationFormat>Widescreen</PresentationFormat>
  <Slides>13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Schematics (reference port)</dc:title>
  <dc:creator>schematics build_deck.py</dc:creator>
  <cp:lastModifiedBy>schematics build_deck.py</cp:lastModifiedBy>
  <cp:revision>1</cp:revision>
  <dcterms:created xsi:type="dcterms:W3CDTF">2026-06-25T00:56:21Z</dcterms:created>
  <dcterms:modified xsi:type="dcterms:W3CDTF">2026-06-25T00:56:21Z</dcterms:modified>
</cp:coreProperties>
</file>