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Microsoft_Excel_BinaryWorksheet1.xlsb" ContentType="application/vnd.ms-excel.sheet.binary.macroEnabled.12"/>
  <Override PartName="/ppt/embeddings/Microsoft_Excel_BinaryWorksheet2.xlsb" ContentType="application/vnd.ms-excel.sheet.binary.macroEnabled.12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6"/>
  </p:handoutMasterIdLst>
  <p:sldIdLst>
    <p:sldId id="256" r:id="rId2"/>
    <p:sldId id="257" r:id="rId3"/>
    <p:sldId id="258" r:id="rId4"/>
    <p:sldId id="259" r:id="rId5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1.xlsb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2.xlsb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281447202355911E-2"/>
          <c:y val="5.274888558692422E-2"/>
          <c:w val="0.95989342308231662"/>
          <c:h val="0.894502228826151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0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uri="{C3380CC4-5D6E-409C-BE32-E72D297353CC}">
                <c16:uniqueId val="{00000001-C310-4AD1-97E1-966D1A7B1EB1}"/>
              </c:ext>
            </c:extLst>
          </c:dPt>
          <c:dLbls>
            <c:dLbl>
              <c:idx val="1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C310-4AD1-97E1-966D1A7B1EB1}"/>
                </c:ext>
              </c:extLst>
            </c:dLbl>
            <c:dLbl>
              <c:idx val="2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C310-4AD1-97E1-966D1A7B1EB1}"/>
                </c:ext>
              </c:extLst>
            </c:dLbl>
            <c:dLbl>
              <c:idx val="22"/>
              <c:layout>
                <c:manualLayout>
                  <c:x val="0"/>
                  <c:y val="-3.863298662704309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C310-4AD1-97E1-966D1A7B1EB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Sheet1!$A$1:$Y$1</c:f>
              <c:numCache>
                <c:formatCode>General</c:formatCode>
                <c:ptCount val="2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  <c:pt idx="4">
                  <c:v>8</c:v>
                </c:pt>
                <c:pt idx="5">
                  <c:v>16</c:v>
                </c:pt>
                <c:pt idx="6">
                  <c:v>21</c:v>
                </c:pt>
                <c:pt idx="7">
                  <c:v>15</c:v>
                </c:pt>
                <c:pt idx="8">
                  <c:v>12</c:v>
                </c:pt>
                <c:pt idx="9">
                  <c:v>7</c:v>
                </c:pt>
                <c:pt idx="10">
                  <c:v>5</c:v>
                </c:pt>
                <c:pt idx="11">
                  <c:v>3</c:v>
                </c:pt>
                <c:pt idx="12">
                  <c:v>5</c:v>
                </c:pt>
                <c:pt idx="13">
                  <c:v>3</c:v>
                </c:pt>
                <c:pt idx="14">
                  <c:v>5</c:v>
                </c:pt>
                <c:pt idx="15">
                  <c:v>3</c:v>
                </c:pt>
                <c:pt idx="16">
                  <c:v>2</c:v>
                </c:pt>
                <c:pt idx="17">
                  <c:v>4</c:v>
                </c:pt>
                <c:pt idx="18">
                  <c:v>3</c:v>
                </c:pt>
                <c:pt idx="19">
                  <c:v>4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5</c:v>
                </c:pt>
              </c:numCache>
            </c:numRef>
          </c:val>
          <c:extLst>
            <c:ext uri="{C3380CC4-5D6E-409C-BE32-E72D297353CC}">
              <c16:uniqueId val="{00000004-C310-4AD1-97E1-966D1A7B1EB1}"/>
            </c:ext>
          </c:extLst>
        </c:ser>
        <c:ser>
          <c:idx val="1"/>
          <c:order val="1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5-C310-4AD1-97E1-966D1A7B1EB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6-C310-4AD1-97E1-966D1A7B1EB1}"/>
              </c:ext>
            </c:extLst>
          </c:dPt>
          <c:dPt>
            <c:idx val="5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7-C310-4AD1-97E1-966D1A7B1EB1}"/>
              </c:ext>
            </c:extLst>
          </c:dPt>
          <c:dPt>
            <c:idx val="6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8-C310-4AD1-97E1-966D1A7B1EB1}"/>
              </c:ext>
            </c:extLst>
          </c:dPt>
          <c:dPt>
            <c:idx val="7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9-C310-4AD1-97E1-966D1A7B1EB1}"/>
              </c:ext>
            </c:extLst>
          </c:dPt>
          <c:dPt>
            <c:idx val="8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A-C310-4AD1-97E1-966D1A7B1EB1}"/>
              </c:ext>
            </c:extLst>
          </c:dPt>
          <c:dPt>
            <c:idx val="9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0B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uri="{C3380CC4-5D6E-409C-BE32-E72D297353CC}">
                <c16:uniqueId val="{0000000C-C310-4AD1-97E1-966D1A7B1EB1}"/>
              </c:ext>
            </c:extLst>
          </c:dPt>
          <c:dPt>
            <c:idx val="18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0D-C310-4AD1-97E1-966D1A7B1EB1}"/>
              </c:ext>
            </c:extLst>
          </c:dPt>
          <c:dPt>
            <c:idx val="19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0E-C310-4AD1-97E1-966D1A7B1EB1}"/>
              </c:ext>
            </c:extLst>
          </c:dPt>
          <c:dPt>
            <c:idx val="20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0F-C310-4AD1-97E1-966D1A7B1EB1}"/>
              </c:ext>
            </c:extLst>
          </c:dPt>
          <c:dPt>
            <c:idx val="21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0-C310-4AD1-97E1-966D1A7B1EB1}"/>
              </c:ext>
            </c:extLst>
          </c:dPt>
          <c:val>
            <c:numRef>
              <c:f>Sheet1!$A$2:$Y$2</c:f>
              <c:numCache>
                <c:formatCode>General</c:formatCode>
                <c:ptCount val="25"/>
                <c:pt idx="3">
                  <c:v>2</c:v>
                </c:pt>
                <c:pt idx="4">
                  <c:v>4</c:v>
                </c:pt>
                <c:pt idx="5">
                  <c:v>8</c:v>
                </c:pt>
                <c:pt idx="6">
                  <c:v>11</c:v>
                </c:pt>
                <c:pt idx="7">
                  <c:v>6</c:v>
                </c:pt>
                <c:pt idx="8">
                  <c:v>5</c:v>
                </c:pt>
                <c:pt idx="9">
                  <c:v>3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3">
                  <c:v>1</c:v>
                </c:pt>
                <c:pt idx="24">
                  <c:v>2</c:v>
                </c:pt>
              </c:numCache>
            </c:numRef>
          </c:val>
          <c:extLst>
            <c:ext uri="{C3380CC4-5D6E-409C-BE32-E72D297353CC}">
              <c16:uniqueId val="{00000011-C310-4AD1-97E1-966D1A7B1EB1}"/>
            </c:ext>
          </c:extLst>
        </c:ser>
        <c:ser>
          <c:idx val="2"/>
          <c:order val="2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2-C310-4AD1-97E1-966D1A7B1EB1}"/>
              </c:ext>
            </c:extLst>
          </c:dPt>
          <c:dPt>
            <c:idx val="1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3-C310-4AD1-97E1-966D1A7B1EB1}"/>
              </c:ext>
            </c:extLst>
          </c:dPt>
          <c:dPt>
            <c:idx val="11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4-C310-4AD1-97E1-966D1A7B1EB1}"/>
              </c:ext>
            </c:extLst>
          </c:dPt>
          <c:dPt>
            <c:idx val="1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5-C310-4AD1-97E1-966D1A7B1EB1}"/>
              </c:ext>
            </c:extLst>
          </c:dPt>
          <c:dPt>
            <c:idx val="1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6-C310-4AD1-97E1-966D1A7B1EB1}"/>
              </c:ext>
            </c:extLst>
          </c:dPt>
          <c:dPt>
            <c:idx val="14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7-C310-4AD1-97E1-966D1A7B1EB1}"/>
              </c:ext>
            </c:extLst>
          </c:dPt>
          <c:dPt>
            <c:idx val="15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8-C310-4AD1-97E1-966D1A7B1EB1}"/>
              </c:ext>
            </c:extLst>
          </c:dPt>
          <c:dPt>
            <c:idx val="16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9-C310-4AD1-97E1-966D1A7B1EB1}"/>
              </c:ext>
            </c:extLst>
          </c:dPt>
          <c:dPt>
            <c:idx val="17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1A-C310-4AD1-97E1-966D1A7B1EB1}"/>
              </c:ext>
            </c:extLst>
          </c:dPt>
          <c:dPt>
            <c:idx val="18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B-C310-4AD1-97E1-966D1A7B1EB1}"/>
              </c:ext>
            </c:extLst>
          </c:dPt>
          <c:dPt>
            <c:idx val="19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C-C310-4AD1-97E1-966D1A7B1EB1}"/>
              </c:ext>
            </c:extLst>
          </c:dPt>
          <c:dPt>
            <c:idx val="23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1D-C310-4AD1-97E1-966D1A7B1EB1}"/>
              </c:ext>
            </c:extLst>
          </c:dPt>
          <c:dPt>
            <c:idx val="2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1E-C310-4AD1-97E1-966D1A7B1EB1}"/>
              </c:ext>
            </c:extLst>
          </c:dPt>
          <c:val>
            <c:numRef>
              <c:f>Sheet1!$A$3:$Y$3</c:f>
              <c:numCache>
                <c:formatCode>General</c:formatCode>
                <c:ptCount val="25"/>
                <c:pt idx="3">
                  <c:v>5</c:v>
                </c:pt>
                <c:pt idx="4">
                  <c:v>2</c:v>
                </c:pt>
                <c:pt idx="5">
                  <c:v>4</c:v>
                </c:pt>
                <c:pt idx="6">
                  <c:v>5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5</c:v>
                </c:pt>
                <c:pt idx="19">
                  <c:v>5</c:v>
                </c:pt>
                <c:pt idx="23">
                  <c:v>1</c:v>
                </c:pt>
                <c:pt idx="24">
                  <c:v>2</c:v>
                </c:pt>
              </c:numCache>
            </c:numRef>
          </c:val>
          <c:extLst>
            <c:ext uri="{C3380CC4-5D6E-409C-BE32-E72D297353CC}">
              <c16:uniqueId val="{0000001F-C310-4AD1-97E1-966D1A7B1EB1}"/>
            </c:ext>
          </c:extLst>
        </c:ser>
        <c:ser>
          <c:idx val="3"/>
          <c:order val="3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0-C310-4AD1-97E1-966D1A7B1EB1}"/>
              </c:ext>
            </c:extLst>
          </c:dPt>
          <c:dPt>
            <c:idx val="5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1-C310-4AD1-97E1-966D1A7B1EB1}"/>
              </c:ext>
            </c:extLst>
          </c:dPt>
          <c:dPt>
            <c:idx val="6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2-C310-4AD1-97E1-966D1A7B1EB1}"/>
              </c:ext>
            </c:extLst>
          </c:dPt>
          <c:dPt>
            <c:idx val="7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3-C310-4AD1-97E1-966D1A7B1EB1}"/>
              </c:ext>
            </c:extLst>
          </c:dPt>
          <c:dPt>
            <c:idx val="8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uri="{C3380CC4-5D6E-409C-BE32-E72D297353CC}">
                <c16:uniqueId val="{00000024-C310-4AD1-97E1-966D1A7B1EB1}"/>
              </c:ext>
            </c:extLst>
          </c:dPt>
          <c:dPt>
            <c:idx val="1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uri="{C3380CC4-5D6E-409C-BE32-E72D297353CC}">
                <c16:uniqueId val="{00000025-C310-4AD1-97E1-966D1A7B1EB1}"/>
              </c:ext>
            </c:extLst>
          </c:dPt>
          <c:val>
            <c:numRef>
              <c:f>Sheet1!$A$4:$Y$4</c:f>
              <c:numCache>
                <c:formatCode>General</c:formatCode>
                <c:ptCount val="25"/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10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6">
                  <c:v>1</c:v>
                </c:pt>
                <c:pt idx="17">
                  <c:v>2</c:v>
                </c:pt>
                <c:pt idx="24">
                  <c:v>2</c:v>
                </c:pt>
              </c:numCache>
            </c:numRef>
          </c:val>
          <c:extLst>
            <c:ext uri="{C3380CC4-5D6E-409C-BE32-E72D297353CC}">
              <c16:uniqueId val="{00000026-C310-4AD1-97E1-966D1A7B1EB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27-C310-4AD1-97E1-966D1A7B1EB1}"/>
              </c:ext>
            </c:extLst>
          </c:dPt>
          <c:dPt>
            <c:idx val="14"/>
            <c:invertIfNegative val="0"/>
            <c:bubble3D val="0"/>
            <c:spPr>
              <a:pattFill prst="lt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c:spPr>
            <c:extLst>
              <c:ext uri="{C3380CC4-5D6E-409C-BE32-E72D297353CC}">
                <c16:uniqueId val="{00000028-C310-4AD1-97E1-966D1A7B1EB1}"/>
              </c:ext>
            </c:extLst>
          </c:dPt>
          <c:val>
            <c:numRef>
              <c:f>Sheet1!$A$5:$Y$5</c:f>
              <c:numCache>
                <c:formatCode>General</c:formatCode>
                <c:ptCount val="25"/>
                <c:pt idx="4">
                  <c:v>5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14">
                  <c:v>1</c:v>
                </c:pt>
              </c:numCache>
            </c:numRef>
          </c:val>
          <c:extLst>
            <c:ext uri="{C3380CC4-5D6E-409C-BE32-E72D297353CC}">
              <c16:uniqueId val="{00000029-C310-4AD1-97E1-966D1A7B1EB1}"/>
            </c:ext>
          </c:extLst>
        </c:ser>
        <c:ser>
          <c:idx val="5"/>
          <c:order val="5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dPt>
            <c:idx val="6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uri="{C3380CC4-5D6E-409C-BE32-E72D297353CC}">
                <c16:uniqueId val="{0000002A-C310-4AD1-97E1-966D1A7B1EB1}"/>
              </c:ext>
            </c:extLst>
          </c:dPt>
          <c:val>
            <c:numRef>
              <c:f>Sheet1!$A$6:$Y$6</c:f>
              <c:numCache>
                <c:formatCode>General</c:formatCode>
                <c:ptCount val="25"/>
                <c:pt idx="6">
                  <c:v>1</c:v>
                </c:pt>
                <c:pt idx="7">
                  <c:v>5</c:v>
                </c:pt>
                <c:pt idx="8">
                  <c:v>1</c:v>
                </c:pt>
              </c:numCache>
            </c:numRef>
          </c:val>
          <c:extLst>
            <c:ext uri="{C3380CC4-5D6E-409C-BE32-E72D297353CC}">
              <c16:uniqueId val="{0000002B-C310-4AD1-97E1-966D1A7B1EB1}"/>
            </c:ext>
          </c:extLst>
        </c:ser>
        <c:ser>
          <c:idx val="6"/>
          <c:order val="6"/>
          <c:spPr>
            <a:pattFill prst="lt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c:spPr>
          <c:invertIfNegative val="0"/>
          <c:val>
            <c:numRef>
              <c:f>Sheet1!$A$7:$Y$7</c:f>
              <c:numCache>
                <c:formatCode>General</c:formatCode>
                <c:ptCount val="25"/>
                <c:pt idx="6">
                  <c:v>7</c:v>
                </c:pt>
              </c:numCache>
            </c:numRef>
          </c:val>
          <c:extLst>
            <c:ext uri="{C3380CC4-5D6E-409C-BE32-E72D297353CC}">
              <c16:uniqueId val="{0000002C-C310-4AD1-97E1-966D1A7B1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25133183"/>
        <c:axId val="1"/>
      </c:barChart>
      <c:lineChart>
        <c:grouping val="standard"/>
        <c:varyColors val="0"/>
        <c:ser>
          <c:idx val="7"/>
          <c:order val="7"/>
          <c:spPr>
            <a:ln w="38100" cmpd="sng" algn="ctr">
              <a:solidFill>
                <a:srgbClr val="C30C3E"/>
              </a:solidFill>
              <a:prstDash val="solid"/>
            </a:ln>
          </c:spPr>
          <c:marker>
            <c:symbol val="none"/>
          </c:marker>
          <c:val>
            <c:numRef>
              <c:f>Sheet1!$A$8:$Y$8</c:f>
              <c:numCache>
                <c:formatCode>General</c:formatCode>
                <c:ptCount val="25"/>
                <c:pt idx="0">
                  <c:v>3</c:v>
                </c:pt>
                <c:pt idx="1">
                  <c:v>8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5</c:v>
                </c:pt>
                <c:pt idx="6">
                  <c:v>4</c:v>
                </c:pt>
                <c:pt idx="7">
                  <c:v>5</c:v>
                </c:pt>
                <c:pt idx="8">
                  <c:v>11</c:v>
                </c:pt>
                <c:pt idx="9">
                  <c:v>4</c:v>
                </c:pt>
                <c:pt idx="10">
                  <c:v>7</c:v>
                </c:pt>
                <c:pt idx="11">
                  <c:v>7</c:v>
                </c:pt>
                <c:pt idx="12">
                  <c:v>10</c:v>
                </c:pt>
                <c:pt idx="13">
                  <c:v>5</c:v>
                </c:pt>
                <c:pt idx="14">
                  <c:v>9</c:v>
                </c:pt>
                <c:pt idx="15">
                  <c:v>0</c:v>
                </c:pt>
                <c:pt idx="16">
                  <c:v>7</c:v>
                </c:pt>
                <c:pt idx="17">
                  <c:v>0</c:v>
                </c:pt>
                <c:pt idx="18">
                  <c:v>5</c:v>
                </c:pt>
                <c:pt idx="19">
                  <c:v>0</c:v>
                </c:pt>
                <c:pt idx="20">
                  <c:v>6</c:v>
                </c:pt>
                <c:pt idx="21">
                  <c:v>0</c:v>
                </c:pt>
                <c:pt idx="22">
                  <c:v>7</c:v>
                </c:pt>
                <c:pt idx="23">
                  <c:v>0</c:v>
                </c:pt>
                <c:pt idx="24">
                  <c:v>0</c:v>
                </c:pt>
              </c:numCache>
            </c:numRef>
          </c:val>
          <c:smooth val="0"/>
          <c:extLst>
            <c:ext uri="{C3380CC4-5D6E-409C-BE32-E72D297353CC}">
              <c16:uniqueId val="{0000002D-C310-4AD1-97E1-966D1A7B1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5133183"/>
        <c:axId val="1"/>
      </c:lineChart>
      <c:catAx>
        <c:axId val="19251331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rgbClr val="000000"/>
            </a:solidFill>
            <a:prstDash val="solid"/>
          </a:ln>
        </c:spPr>
        <c:txPr>
          <a:bodyPr wrap="none"/>
          <a:lstStyle/>
          <a:p>
            <a:pPr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5133183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c16="http://schemas.microsoft.com/office/drawing/2014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265464325264985E-3"/>
          <c:y val="4.9598323436954243E-2"/>
          <c:w val="0.98354690713494697"/>
          <c:h val="0.90080335312609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0-177A-4324-96D4-15B0F84BCA48}"/>
                </c:ext>
              </c:extLst>
            </c:dLbl>
            <c:dLbl>
              <c:idx val="1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1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2-177A-4324-96D4-15B0F84BCA48}"/>
                </c:ext>
              </c:extLst>
            </c:dLbl>
            <c:dLbl>
              <c:idx val="3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11.41</c:v>
                </c:pt>
                <c:pt idx="1">
                  <c:v>11.41</c:v>
                </c:pt>
                <c:pt idx="2">
                  <c:v>10.84</c:v>
                </c:pt>
                <c:pt idx="3">
                  <c:v>11.41</c:v>
                </c:pt>
                <c:pt idx="4">
                  <c:v>10.84</c:v>
                </c:pt>
              </c:numCache>
            </c:numRef>
          </c:val>
          <c:extLst>
            <c:ext uri="{C3380CC4-5D6E-409C-BE32-E72D297353CC}">
              <c16:uniqueId val="{00000005-177A-4324-96D4-15B0F84BCA48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uri="{C3380CC4-5D6E-409C-BE32-E72D297353CC}">
                <c16:uniqueId val="{0000000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uri="{C3380CC4-5D6E-409C-BE32-E72D297353CC}">
                <c16:uniqueId val="{0000000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A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6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7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11.07</c:v>
                </c:pt>
                <c:pt idx="1">
                  <c:v>8.3</c:v>
                </c:pt>
                <c:pt idx="2">
                  <c:v>5.53</c:v>
                </c:pt>
                <c:pt idx="3">
                  <c:v>1.7</c:v>
                </c:pt>
                <c:pt idx="4">
                  <c:v>1.59</c:v>
                </c:pt>
              </c:numCache>
            </c:numRef>
          </c:val>
          <c:extLst>
            <c:ext uri="{C3380CC4-5D6E-409C-BE32-E72D297353CC}">
              <c16:uniqueId val="{0000000B-177A-4324-96D4-15B0F84BCA48}"/>
            </c:ext>
          </c:extLst>
        </c:ser>
        <c:ser>
          <c:idx val="2"/>
          <c:order val="2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uri="{C3380CC4-5D6E-409C-BE32-E72D297353CC}">
                <c16:uniqueId val="{0000000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uri="{C3380CC4-5D6E-409C-BE32-E72D297353CC}">
                <c16:uniqueId val="{0000000D-177A-4324-96D4-15B0F84BCA48}"/>
              </c:ext>
            </c:extLst>
          </c:dPt>
          <c:dLbls>
            <c:dLbl>
              <c:idx val="0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E-177A-4324-96D4-15B0F84BCA48}"/>
                </c:ext>
              </c:extLst>
            </c:dLbl>
            <c:dLbl>
              <c:idx val="1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0F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Sheet1!$A$3:$E$3</c:f>
              <c:numCache>
                <c:formatCode>General</c:formatCode>
                <c:ptCount val="5"/>
                <c:pt idx="0">
                  <c:v>2.12</c:v>
                </c:pt>
                <c:pt idx="1">
                  <c:v>2.01</c:v>
                </c:pt>
                <c:pt idx="2">
                  <c:v>1.91</c:v>
                </c:pt>
                <c:pt idx="3">
                  <c:v>0.14</c:v>
                </c:pt>
                <c:pt idx="4">
                  <c:v>0.07</c:v>
                </c:pt>
              </c:numCache>
            </c:numRef>
          </c:val>
          <c:extLst>
            <c:ext uri="{C3380CC4-5D6E-409C-BE32-E72D297353CC}">
              <c16:uniqueId val="{00000011-177A-4324-96D4-15B0F84BCA48}"/>
            </c:ext>
          </c:extLst>
        </c:ser>
        <c:ser>
          <c:idx val="3"/>
          <c:order val="3"/>
          <c:spPr>
            <a:solidFill>
              <a:srgbClr val="6F8DB9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uri="{C3380CC4-5D6E-409C-BE32-E72D297353CC}">
                <c16:uniqueId val="{00000012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uri="{C3380CC4-5D6E-409C-BE32-E72D297353CC}">
                <c16:uniqueId val="{00000013-177A-4324-96D4-15B0F84BCA48}"/>
              </c:ext>
            </c:extLst>
          </c:dPt>
          <c:dLbls>
            <c:dLbl>
              <c:idx val="3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2-177A-4324-96D4-15B0F84BCA48}"/>
                </c:ext>
              </c:extLst>
            </c:dLbl>
            <c:dLbl>
              <c:idx val="4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3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Sheet1!$A$4:$E$4</c:f>
              <c:numCache>
                <c:formatCode>General</c:formatCode>
                <c:ptCount val="5"/>
                <c:pt idx="0">
                  <c:v>0.71</c:v>
                </c:pt>
                <c:pt idx="1">
                  <c:v>0.64</c:v>
                </c:pt>
                <c:pt idx="2">
                  <c:v>0.6</c:v>
                </c:pt>
                <c:pt idx="3">
                  <c:v>0.4</c:v>
                </c:pt>
                <c:pt idx="4">
                  <c:v>0.38</c:v>
                </c:pt>
              </c:numCache>
            </c:numRef>
          </c:val>
          <c:extLst>
            <c:ext uri="{C3380CC4-5D6E-409C-BE32-E72D297353CC}">
              <c16:uniqueId val="{00000014-177A-4324-96D4-15B0F84BCA48}"/>
            </c:ext>
          </c:extLst>
        </c:ser>
        <c:ser>
          <c:idx val="4"/>
          <c:order val="4"/>
          <c:spPr>
            <a:solidFill>
              <a:srgbClr val="9DB1C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uri="{C3380CC4-5D6E-409C-BE32-E72D297353CC}">
                <c16:uniqueId val="{00000015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uri="{C3380CC4-5D6E-409C-BE32-E72D297353CC}">
                <c16:uniqueId val="{00000016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5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6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Sheet1!$A$5:$E$5</c:f>
              <c:numCache>
                <c:formatCode>General</c:formatCode>
                <c:ptCount val="5"/>
                <c:pt idx="0">
                  <c:v>0.4</c:v>
                </c:pt>
                <c:pt idx="1">
                  <c:v>0.4</c:v>
                </c:pt>
                <c:pt idx="2">
                  <c:v>0.38</c:v>
                </c:pt>
                <c:pt idx="3">
                  <c:v>3.02</c:v>
                </c:pt>
                <c:pt idx="4">
                  <c:v>3.2</c:v>
                </c:pt>
              </c:numCache>
            </c:numRef>
          </c:val>
          <c:extLst>
            <c:ext uri="{C3380CC4-5D6E-409C-BE32-E72D297353CC}">
              <c16:uniqueId val="{00000017-177A-4324-96D4-15B0F84BCA48}"/>
            </c:ext>
          </c:extLst>
        </c:ser>
        <c:ser>
          <c:idx val="5"/>
          <c:order val="5"/>
          <c:spPr>
            <a:solidFill>
              <a:srgbClr val="C3CFE1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uri="{C3380CC4-5D6E-409C-BE32-E72D297353CC}">
                <c16:uniqueId val="{00000018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uri="{C3380CC4-5D6E-409C-BE32-E72D297353CC}">
                <c16:uniqueId val="{00000019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A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B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C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8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19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Sheet1!$A$6:$E$6</c:f>
              <c:numCache>
                <c:formatCode>General</c:formatCode>
                <c:ptCount val="5"/>
                <c:pt idx="0">
                  <c:v>3.55</c:v>
                </c:pt>
                <c:pt idx="1">
                  <c:v>3.38</c:v>
                </c:pt>
                <c:pt idx="2">
                  <c:v>3.2</c:v>
                </c:pt>
                <c:pt idx="3">
                  <c:v>1.78</c:v>
                </c:pt>
                <c:pt idx="4">
                  <c:v>1.52</c:v>
                </c:pt>
              </c:numCache>
            </c:numRef>
          </c:val>
          <c:extLst>
            <c:ext uri="{C3380CC4-5D6E-409C-BE32-E72D297353CC}">
              <c16:uniqueId val="{0000001D-177A-4324-96D4-15B0F84BCA48}"/>
            </c:ext>
          </c:extLst>
        </c:ser>
        <c:ser>
          <c:idx val="6"/>
          <c:order val="6"/>
          <c:spPr>
            <a:solidFill>
              <a:srgbClr val="DFE5E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uri="{C3380CC4-5D6E-409C-BE32-E72D297353CC}">
                <c16:uniqueId val="{0000001E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uri="{C3380CC4-5D6E-409C-BE32-E72D297353CC}">
                <c16:uniqueId val="{0000001F-177A-4324-96D4-15B0F84BCA48}"/>
              </c:ext>
            </c:extLst>
          </c:dPt>
          <c:dLbls>
            <c:dLbl>
              <c:idx val="1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0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1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Sheet1!$A$7:$E$7</c:f>
              <c:numCache>
                <c:formatCode>General</c:formatCode>
                <c:ptCount val="5"/>
                <c:pt idx="0">
                  <c:v>1.27</c:v>
                </c:pt>
                <c:pt idx="1">
                  <c:v>1.52</c:v>
                </c:pt>
                <c:pt idx="2">
                  <c:v>1.46</c:v>
                </c:pt>
                <c:pt idx="3">
                  <c:v>0.19</c:v>
                </c:pt>
                <c:pt idx="4">
                  <c:v>0.08</c:v>
                </c:pt>
              </c:numCache>
            </c:numRef>
          </c:val>
          <c:extLst>
            <c:ext uri="{C3380CC4-5D6E-409C-BE32-E72D297353CC}">
              <c16:uniqueId val="{00000022-177A-4324-96D4-15B0F84BCA48}"/>
            </c:ext>
          </c:extLst>
        </c:ser>
        <c:ser>
          <c:idx val="7"/>
          <c:order val="7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uri="{C3380CC4-5D6E-409C-BE32-E72D297353CC}">
                <c16:uniqueId val="{00000023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uri="{C3380CC4-5D6E-409C-BE32-E72D297353CC}">
                <c16:uniqueId val="{00000024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Sheet1!$A$8:$E$8</c:f>
              <c:numCache>
                <c:formatCode>General</c:formatCode>
                <c:ptCount val="5"/>
                <c:pt idx="0">
                  <c:v>0.76</c:v>
                </c:pt>
                <c:pt idx="1">
                  <c:v>0.57</c:v>
                </c:pt>
                <c:pt idx="2">
                  <c:v>0.38</c:v>
                </c:pt>
                <c:pt idx="3">
                  <c:v>8.34</c:v>
                </c:pt>
                <c:pt idx="4">
                  <c:v>7.9</c:v>
                </c:pt>
              </c:numCache>
            </c:numRef>
          </c:val>
          <c:extLst>
            <c:ext uri="{C3380CC4-5D6E-409C-BE32-E72D297353CC}">
              <c16:uniqueId val="{00000025-177A-4324-96D4-15B0F84BCA48}"/>
            </c:ext>
          </c:extLst>
        </c:ser>
        <c:ser>
          <c:idx val="8"/>
          <c:order val="8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uri="{C3380CC4-5D6E-409C-BE32-E72D297353CC}">
                <c16:uniqueId val="{0000002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uri="{C3380CC4-5D6E-409C-BE32-E72D297353CC}">
                <c16:uniqueId val="{0000002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A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Sheet1!$A$9:$E$9</c:f>
              <c:numCache>
                <c:formatCode>General</c:formatCode>
                <c:ptCount val="5"/>
                <c:pt idx="0">
                  <c:v>8.78</c:v>
                </c:pt>
                <c:pt idx="1">
                  <c:v>9.21</c:v>
                </c:pt>
                <c:pt idx="2">
                  <c:v>8.78</c:v>
                </c:pt>
                <c:pt idx="3">
                  <c:v>0.03</c:v>
                </c:pt>
                <c:pt idx="4">
                  <c:v>0.03</c:v>
                </c:pt>
              </c:numCache>
            </c:numRef>
          </c:val>
          <c:extLst>
            <c:ext uri="{C3380CC4-5D6E-409C-BE32-E72D297353CC}">
              <c16:uniqueId val="{0000002B-177A-4324-96D4-15B0F84BCA48}"/>
            </c:ext>
          </c:extLst>
        </c:ser>
        <c:ser>
          <c:idx val="9"/>
          <c:order val="9"/>
          <c:spPr>
            <a:solidFill>
              <a:schemeClr val="accent4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uri="{C3380CC4-5D6E-409C-BE32-E72D297353CC}">
                <c16:uniqueId val="{0000002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uri="{C3380CC4-5D6E-409C-BE32-E72D297353CC}">
                <c16:uniqueId val="{0000002D-177A-4324-96D4-15B0F84BCA48}"/>
              </c:ext>
            </c:extLst>
          </c:dPt>
          <c:dLbls>
            <c:dLbl>
              <c:idx val="3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C-177A-4324-96D4-15B0F84BCA48}"/>
                </c:ext>
              </c:extLst>
            </c:dLbl>
            <c:dLbl>
              <c:idx val="4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D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Sheet1!$A$10:$E$10</c:f>
              <c:numCache>
                <c:formatCode>General</c:formatCode>
                <c:ptCount val="5"/>
                <c:pt idx="0">
                  <c:v>0.13</c:v>
                </c:pt>
                <c:pt idx="1">
                  <c:v>0.1</c:v>
                </c:pt>
                <c:pt idx="2">
                  <c:v>0.08</c:v>
                </c:pt>
                <c:pt idx="3">
                  <c:v>3</c:v>
                </c:pt>
                <c:pt idx="4">
                  <c:v>2.8</c:v>
                </c:pt>
              </c:numCache>
            </c:numRef>
          </c:val>
          <c:extLst>
            <c:ext uri="{C3380CC4-5D6E-409C-BE32-E72D297353CC}">
              <c16:uniqueId val="{0000002E-177A-4324-96D4-15B0F84BCA48}"/>
            </c:ext>
          </c:extLst>
        </c:ser>
        <c:ser>
          <c:idx val="10"/>
          <c:order val="10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2F-177A-4324-96D4-15B0F84BCA48}"/>
                </c:ext>
              </c:extLst>
            </c:dLbl>
            <c:dLbl>
              <c:idx val="2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uri="{CE6537A1-D6FC-4f65-9D91-7224C49458BB}">
                  <c15:spPr>
                    <a:prstGeom prst="rect">
                      <a:avLst/>
                    </a:prstGeom>
                  </c15:spPr>
                </c:ext>
                <c:ext uri="{C3380CC4-5D6E-409C-BE32-E72D297353CC}">
                  <c16:uniqueId val="{0000003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uri="{CE6537A1-D6FC-4f65-9D91-7224C49458BB}">
                <c15:showLeaderLines val="0"/>
              </c:ext>
            </c:extLst>
          </c:dLbls>
          <c:val>
            <c:numRef>
              <c:f>Sheet1!$A$11:$E$11</c:f>
              <c:numCache>
                <c:formatCode>General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2.3</c:v>
                </c:pt>
              </c:numCache>
            </c:numRef>
          </c:val>
          <c:extLst>
            <c:ext uri="{C3380CC4-5D6E-409C-BE32-E72D297353CC}">
              <c16:uniqueId val="{00000031-177A-4324-96D4-15B0F84BC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882177311"/>
        <c:axId val="1"/>
      </c:barChart>
      <c:catAx>
        <c:axId val="8821773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8821773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73"/>
          <p:cNvSpPr txBox="1"/>
          <p:nvPr/>
        </p:nvSpPr>
        <p:spPr>
          <a:xfrm>
            <a:off x="197510" y="1405433"/>
            <a:ext cx="1327709" cy="496427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Determine where Saronic should play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Commercial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Research Overview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6159398" y="1386230"/>
            <a:ext cx="4344314" cy="41148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 the end-to-end (E2E) commercial maritime value chain, including current revenue potential and profitability 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6159398" y="1893722"/>
            <a:ext cx="4344314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Assess demand for US-built ships under current and expected industrial policy (i.e., Jones Act status quo, SHIPS Act, other US-built markets)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6159398" y="2402129"/>
            <a:ext cx="4344314" cy="41148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US shipbuilding costs vs. PRC / ROK / Japan under current and expected industrial policy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6159398" y="3418027"/>
            <a:ext cx="4344314" cy="411480"/>
          </a:xfrm>
          <a:prstGeom prst="rect">
            <a:avLst/>
          </a:prstGeom>
          <a:solidFill>
            <a:srgbClr val="C4DFE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US-flagged vs. foreign-flagged vessel costs under current and expected industrial policy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6159398" y="5449824"/>
            <a:ext cx="4344314" cy="411480"/>
          </a:xfrm>
          <a:prstGeom prst="rect">
            <a:avLst/>
          </a:prstGeom>
          <a:solidFill>
            <a:srgbClr val="0F2634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OpCo financials given potential industrial policy and automation impact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6159398" y="3926434"/>
            <a:ext cx="4344314" cy="411480"/>
          </a:xfrm>
          <a:prstGeom prst="rect">
            <a:avLst/>
          </a:prstGeom>
          <a:solidFill>
            <a:srgbClr val="89C0D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Determine impact of automation on vessel opex and fuel costs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6159398" y="4433926"/>
            <a:ext cx="4344314" cy="411480"/>
          </a:xfrm>
          <a:prstGeom prst="rect">
            <a:avLst/>
          </a:prstGeom>
          <a:solidFill>
            <a:srgbClr val="4EA0C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most attractive entry points in existing US-flagged market based on unit economics, incumbent fleet, competition, and our capabilities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6159398" y="5958230"/>
            <a:ext cx="4344314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ComboCo financials under different demand, subsidy, and automation scenarios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6159398" y="2909621"/>
            <a:ext cx="4344314" cy="41148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ShipbuilderCo financials given US-built ship demand and shipyard subsidy scenarios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6159398" y="4942332"/>
            <a:ext cx="4344314" cy="411480"/>
          </a:xfrm>
          <a:prstGeom prst="rect">
            <a:avLst/>
          </a:prstGeom>
          <a:solidFill>
            <a:srgbClr val="163A4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and assess attractiveness of alternative service models unlocked by automation (i.e., substitute ocean for trucking/rail)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Research scope | Two objectives are supported by ten research focus areas.</a:t>
            </a:r>
          </a:p>
        </p:txBody>
      </p:sp>
      <p:sp>
        <p:nvSpPr>
          <p:cNvPr id="111" name="Label"/>
          <p:cNvSpPr txBox="1"/>
          <p:nvPr/>
        </p:nvSpPr>
        <p:spPr>
          <a:xfrm rot="5400000">
            <a:off x="9891065" y="4630522"/>
            <a:ext cx="2037283" cy="57332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Carriers</a:t>
            </a:r>
          </a:p>
        </p:txBody>
      </p:sp>
      <p:sp>
        <p:nvSpPr>
          <p:cNvPr id="112" name="Label"/>
          <p:cNvSpPr txBox="1"/>
          <p:nvPr/>
        </p:nvSpPr>
        <p:spPr>
          <a:xfrm rot="5400000">
            <a:off x="10288829" y="2138782"/>
            <a:ext cx="2039112" cy="136977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Shipbuilders</a:t>
            </a:r>
          </a:p>
        </p:txBody>
      </p:sp>
      <p:sp>
        <p:nvSpPr>
          <p:cNvPr id="113" name="Label"/>
          <p:cNvSpPr txBox="1"/>
          <p:nvPr/>
        </p:nvSpPr>
        <p:spPr>
          <a:xfrm rot="5400000">
            <a:off x="11170310" y="4530852"/>
            <a:ext cx="919886" cy="725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Terminal Ops &amp; Coordination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10623499" y="1080821"/>
            <a:ext cx="1463040" cy="2688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Value Chain Steps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5835701" y="1080821"/>
            <a:ext cx="4668012" cy="26883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3061411" y="1080821"/>
            <a:ext cx="2654503" cy="26883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Questions for Saronic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198425" y="1080821"/>
            <a:ext cx="2743200" cy="26883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cxnSp>
        <p:nvCxnSpPr>
          <p:cNvPr id="118" name="Straight Arrow Connector 33"/>
          <p:cNvCxnSpPr/>
          <p:nvPr/>
        </p:nvCxnSpPr>
        <p:spPr>
          <a:xfrm flipV="1">
            <a:off x="5836615" y="1346911"/>
            <a:ext cx="4667098" cy="182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9" name="Straight Arrow Connector 44"/>
          <p:cNvCxnSpPr/>
          <p:nvPr/>
        </p:nvCxnSpPr>
        <p:spPr>
          <a:xfrm flipV="1">
            <a:off x="3062326" y="1346911"/>
            <a:ext cx="2654503" cy="182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0" name="Label"/>
          <p:cNvSpPr txBox="1"/>
          <p:nvPr/>
        </p:nvSpPr>
        <p:spPr>
          <a:xfrm>
            <a:off x="3062326" y="3417113"/>
            <a:ext cx="2722169" cy="91988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US-flagged vessel economics compare to foreign-flagged today, and how do industrial policy and automation change the gap?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3062326" y="1386230"/>
            <a:ext cx="2722169" cy="36667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economics of integrated players compare to pure-play entities today?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3062326" y="5449824"/>
            <a:ext cx="272216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do these findings imply for OpCo (Saronic as owner/operator) financials?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3062326" y="5958230"/>
            <a:ext cx="272216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do these findings imply for ComboCo financials?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3062326" y="4433926"/>
            <a:ext cx="2722169" cy="91988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is most attractive to enter in existing US-flagged trades and/or in new markets unlocked by automation?</a:t>
            </a:r>
          </a:p>
        </p:txBody>
      </p:sp>
      <p:cxnSp>
        <p:nvCxnSpPr>
          <p:cNvPr id="125" name="Straight Arrow Connector 64"/>
          <p:cNvCxnSpPr/>
          <p:nvPr/>
        </p:nvCxnSpPr>
        <p:spPr>
          <a:xfrm flipV="1">
            <a:off x="197510" y="1346911"/>
            <a:ext cx="2743200" cy="182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6" name="Rectangle 65"/>
          <p:cNvSpPr txBox="1"/>
          <p:nvPr/>
        </p:nvSpPr>
        <p:spPr>
          <a:xfrm>
            <a:off x="1613002" y="2187245"/>
            <a:ext cx="1327709" cy="4182466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Understand how Saronic will win</a:t>
            </a:r>
          </a:p>
        </p:txBody>
      </p:sp>
      <p:sp>
        <p:nvSpPr>
          <p:cNvPr id="127" name="ValueLabel"/>
          <p:cNvSpPr txBox="1"/>
          <p:nvPr/>
        </p:nvSpPr>
        <p:spPr>
          <a:xfrm>
            <a:off x="5834786" y="143195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8" name="ValueLabel"/>
          <p:cNvSpPr txBox="1"/>
          <p:nvPr/>
        </p:nvSpPr>
        <p:spPr>
          <a:xfrm>
            <a:off x="5834786" y="196230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9" name="ValueLabel"/>
          <p:cNvSpPr txBox="1"/>
          <p:nvPr/>
        </p:nvSpPr>
        <p:spPr>
          <a:xfrm>
            <a:off x="5834786" y="247070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0" name="ValueLabel"/>
          <p:cNvSpPr txBox="1"/>
          <p:nvPr/>
        </p:nvSpPr>
        <p:spPr>
          <a:xfrm>
            <a:off x="5834786" y="297820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1" name="ValueLabel"/>
          <p:cNvSpPr txBox="1"/>
          <p:nvPr/>
        </p:nvSpPr>
        <p:spPr>
          <a:xfrm>
            <a:off x="5834786" y="3486607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2" name="ValueLabel"/>
          <p:cNvSpPr txBox="1"/>
          <p:nvPr/>
        </p:nvSpPr>
        <p:spPr>
          <a:xfrm>
            <a:off x="5834786" y="399501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3" name="ValueLabel"/>
          <p:cNvSpPr txBox="1"/>
          <p:nvPr/>
        </p:nvSpPr>
        <p:spPr>
          <a:xfrm>
            <a:off x="5834786" y="450250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4" name="ValueLabel"/>
          <p:cNvSpPr txBox="1"/>
          <p:nvPr/>
        </p:nvSpPr>
        <p:spPr>
          <a:xfrm>
            <a:off x="5834786" y="551840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35" name="ValueLabel"/>
          <p:cNvSpPr txBox="1"/>
          <p:nvPr/>
        </p:nvSpPr>
        <p:spPr>
          <a:xfrm>
            <a:off x="5834786" y="602681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6" name="ValueLabel"/>
          <p:cNvSpPr txBox="1"/>
          <p:nvPr/>
        </p:nvSpPr>
        <p:spPr>
          <a:xfrm>
            <a:off x="5834786" y="501091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cxnSp>
        <p:nvCxnSpPr>
          <p:cNvPr id="137" name="Straight Arrow Connector 7"/>
          <p:cNvCxnSpPr/>
          <p:nvPr/>
        </p:nvCxnSpPr>
        <p:spPr>
          <a:xfrm flipV="1">
            <a:off x="10623499" y="1346911"/>
            <a:ext cx="1369771" cy="1829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38" name="Straight Connector 6"/>
          <p:cNvCxnSpPr/>
          <p:nvPr/>
        </p:nvCxnSpPr>
        <p:spPr>
          <a:xfrm>
            <a:off x="3061411" y="1845259"/>
            <a:ext cx="7442302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39" name="Rectangle 51"/>
          <p:cNvSpPr txBox="1"/>
          <p:nvPr/>
        </p:nvSpPr>
        <p:spPr>
          <a:xfrm>
            <a:off x="7004304" y="114300"/>
            <a:ext cx="2653589" cy="413309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cxnSp>
        <p:nvCxnSpPr>
          <p:cNvPr id="140" name="Straight Connector 55"/>
          <p:cNvCxnSpPr/>
          <p:nvPr/>
        </p:nvCxnSpPr>
        <p:spPr>
          <a:xfrm>
            <a:off x="3061411" y="4385462"/>
            <a:ext cx="7442302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41" name="Straight Connector 57"/>
          <p:cNvCxnSpPr/>
          <p:nvPr/>
        </p:nvCxnSpPr>
        <p:spPr>
          <a:xfrm>
            <a:off x="3061411" y="5909767"/>
            <a:ext cx="7442302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42" name="Rectangle 61"/>
          <p:cNvSpPr txBox="1"/>
          <p:nvPr/>
        </p:nvSpPr>
        <p:spPr>
          <a:xfrm>
            <a:off x="3062326" y="1891894"/>
            <a:ext cx="2723083" cy="1429207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the addressable demand for US-built ships and what does it imply for Port Alpha’s orderbook?</a:t>
            </a:r>
          </a:p>
          <a:p>
            <a:pPr algn="ctr">
              <a:lnSpc>
                <a:spcPct val="115000"/>
              </a:lnSpc>
              <a:buNone/>
            </a:pPr>
            <a:endParaRPr lang="en-US"/>
          </a:p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are the impacts on US newbuild prices vs. those of major international shipbuilders?</a:t>
            </a:r>
          </a:p>
          <a:p>
            <a:pPr algn="ctr">
              <a:lnSpc>
                <a:spcPct val="115000"/>
              </a:lnSpc>
              <a:buNone/>
            </a:pPr>
            <a:endParaRPr lang="en-US"/>
          </a:p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these findings impact our shipyard financial outlook (Port Alpha)?</a:t>
            </a:r>
          </a:p>
        </p:txBody>
      </p:sp>
      <p:cxnSp>
        <p:nvCxnSpPr>
          <p:cNvPr id="143" name="Straight Connector 67"/>
          <p:cNvCxnSpPr/>
          <p:nvPr/>
        </p:nvCxnSpPr>
        <p:spPr>
          <a:xfrm>
            <a:off x="3061411" y="5402275"/>
            <a:ext cx="7442302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44" name="Straight Connector 68"/>
          <p:cNvCxnSpPr/>
          <p:nvPr/>
        </p:nvCxnSpPr>
        <p:spPr>
          <a:xfrm>
            <a:off x="3149194" y="3369564"/>
            <a:ext cx="7442302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45" name="Rectangle 69"/>
          <p:cNvSpPr txBox="1"/>
          <p:nvPr/>
        </p:nvSpPr>
        <p:spPr>
          <a:xfrm>
            <a:off x="3028493" y="2360066"/>
            <a:ext cx="2652674" cy="482803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0" rIns="91440" bIns="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Table 10"/>
          <p:cNvGraphicFramePr>
            <a:graphicFrameLocks noGrp="1"/>
          </p:cNvGraphicFramePr>
          <p:nvPr/>
        </p:nvGraphicFramePr>
        <p:xfrm>
          <a:off x="198425" y="1254557"/>
          <a:ext cx="11766499" cy="5072177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618134"/>
                <a:gridCol w="857707"/>
                <a:gridCol w="857707"/>
                <a:gridCol w="857707"/>
                <a:gridCol w="857707"/>
                <a:gridCol w="857707"/>
                <a:gridCol w="857707"/>
                <a:gridCol w="857707"/>
                <a:gridCol w="857707"/>
                <a:gridCol w="857707"/>
                <a:gridCol w="857707"/>
                <a:gridCol w="857707"/>
                <a:gridCol w="857707"/>
                <a:gridCol w="857707"/>
              </a:tblGrid>
              <a:tr h="0">
                <a:tc rowSpan="2"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Week of: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January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February</a:t>
                      </a:r>
                    </a:p>
                  </a:txBody>
                  <a:tcPr marL="60960" marR="6096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March</a:t>
                      </a:r>
                    </a:p>
                  </a:txBody>
                  <a:tcPr marL="60960" marR="6096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1/12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1/19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1/26</a:t>
                      </a: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2/9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2/16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2/23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3/2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3/9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3/16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3/23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3/30</a:t>
                      </a:r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 w="12700" cap="flat" cmpd="sng" algn="ctr">
                      <a:solidFill>
                        <a:srgbClr val="162029"/>
                      </a:solidFill>
                      <a:prstDash val="solid"/>
                    </a:lnB>
                    <a:noFill/>
                  </a:tcPr>
                </a:tc>
              </a:tr>
              <a:tr h="4523537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Focus Areas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en-US" sz="1000"/>
                    </a:p>
                  </a:txBody>
                  <a:tcPr marL="60960" marR="60960" marT="45720" marB="45720" anchor="ctr">
                    <a:lnL w="6350" cap="flat" cmpd="sng" algn="ctr">
                      <a:solidFill>
                        <a:srgbClr val="808080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162029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Commercial Strategy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Research Overview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Project Calendar | Initial effort to extend through end of March.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4275734" y="2028139"/>
            <a:ext cx="337322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 the end-to-end (E2E) commercial maritime value chain, including current revenue potential and profitability 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5138014" y="2465222"/>
            <a:ext cx="250637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Assess demand for US-built ships under current and expected industrial policy (i.e., Jones Act status quo, SHIPS Act, other US-built markets)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5138014" y="2902306"/>
            <a:ext cx="2510028" cy="3657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US shipbuilding costs vs. PRC / ROK / Japan under current and expected industrial policy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5136185" y="3776472"/>
            <a:ext cx="2510028" cy="365760"/>
          </a:xfrm>
          <a:prstGeom prst="rect">
            <a:avLst/>
          </a:prstGeom>
          <a:solidFill>
            <a:srgbClr val="C4DFE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US-flagged vs. foreign-flagged vessel costs under current and expected industrial policy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7712050" y="5524805"/>
            <a:ext cx="4101998" cy="365760"/>
          </a:xfrm>
          <a:prstGeom prst="rect">
            <a:avLst/>
          </a:prstGeom>
          <a:solidFill>
            <a:srgbClr val="0F2634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OpCo financials given potential industrial policy and automation impact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3418027" y="4213555"/>
            <a:ext cx="1649578" cy="365760"/>
          </a:xfrm>
          <a:prstGeom prst="rect">
            <a:avLst/>
          </a:prstGeom>
          <a:solidFill>
            <a:srgbClr val="89C0D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Determine impact of automation on vessel opex and fuel costs</a:t>
            </a:r>
          </a:p>
        </p:txBody>
      </p:sp>
      <p:sp>
        <p:nvSpPr>
          <p:cNvPr id="107" name="Label"/>
          <p:cNvSpPr txBox="1"/>
          <p:nvPr/>
        </p:nvSpPr>
        <p:spPr>
          <a:xfrm>
            <a:off x="930859" y="4650638"/>
            <a:ext cx="10885018" cy="365760"/>
          </a:xfrm>
          <a:prstGeom prst="rect">
            <a:avLst/>
          </a:prstGeom>
          <a:solidFill>
            <a:srgbClr val="4EA0C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most attractive entry points in existing US-flagged market based on unit economics, incumbent fleet, competition, and our capabilities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7712050" y="5961888"/>
            <a:ext cx="4101998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ComboCo financials under different demand, subsidy, and automation scenarios</a:t>
            </a:r>
          </a:p>
        </p:txBody>
      </p:sp>
      <p:sp>
        <p:nvSpPr>
          <p:cNvPr id="109" name="Label"/>
          <p:cNvSpPr txBox="1"/>
          <p:nvPr/>
        </p:nvSpPr>
        <p:spPr>
          <a:xfrm>
            <a:off x="5991149" y="3339389"/>
            <a:ext cx="1655064" cy="36576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ShipbuilderCo financials given US-built ship demand and shipyard subsidy scenarios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9475013" y="5087722"/>
            <a:ext cx="2339035" cy="365760"/>
          </a:xfrm>
          <a:prstGeom prst="rect">
            <a:avLst/>
          </a:prstGeom>
          <a:solidFill>
            <a:srgbClr val="163A4E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and assess attractiveness of alternative service models unlocked by automation (i.e., substitute ocean for trucking/rail)</a:t>
            </a:r>
          </a:p>
        </p:txBody>
      </p:sp>
      <p:sp>
        <p:nvSpPr>
          <p:cNvPr id="111" name="ValueLabel"/>
          <p:cNvSpPr txBox="1"/>
          <p:nvPr/>
        </p:nvSpPr>
        <p:spPr>
          <a:xfrm>
            <a:off x="3945636" y="207385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2" name="ValueLabel"/>
          <p:cNvSpPr txBox="1"/>
          <p:nvPr/>
        </p:nvSpPr>
        <p:spPr>
          <a:xfrm>
            <a:off x="4827118" y="251094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3" name="ValueLabel"/>
          <p:cNvSpPr txBox="1"/>
          <p:nvPr/>
        </p:nvSpPr>
        <p:spPr>
          <a:xfrm>
            <a:off x="4827118" y="294802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4" name="ValueLabel"/>
          <p:cNvSpPr txBox="1"/>
          <p:nvPr/>
        </p:nvSpPr>
        <p:spPr>
          <a:xfrm>
            <a:off x="5687568" y="338510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5" name="ValueLabel"/>
          <p:cNvSpPr txBox="1"/>
          <p:nvPr/>
        </p:nvSpPr>
        <p:spPr>
          <a:xfrm>
            <a:off x="4827118" y="38221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6" name="ValueLabel"/>
          <p:cNvSpPr txBox="1"/>
          <p:nvPr/>
        </p:nvSpPr>
        <p:spPr>
          <a:xfrm>
            <a:off x="3114446" y="4259275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7" name="ValueLabel"/>
          <p:cNvSpPr txBox="1"/>
          <p:nvPr/>
        </p:nvSpPr>
        <p:spPr>
          <a:xfrm>
            <a:off x="610819" y="469635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8" name="ValueLabel"/>
          <p:cNvSpPr txBox="1"/>
          <p:nvPr/>
        </p:nvSpPr>
        <p:spPr>
          <a:xfrm>
            <a:off x="9154973" y="514532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9" name="ValueLabel"/>
          <p:cNvSpPr txBox="1"/>
          <p:nvPr/>
        </p:nvSpPr>
        <p:spPr>
          <a:xfrm>
            <a:off x="7394753" y="5570525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0" name="ValueLabel"/>
          <p:cNvSpPr txBox="1"/>
          <p:nvPr/>
        </p:nvSpPr>
        <p:spPr>
          <a:xfrm>
            <a:off x="7394753" y="60076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1" name="Rectangle 44"/>
          <p:cNvSpPr txBox="1"/>
          <p:nvPr/>
        </p:nvSpPr>
        <p:spPr>
          <a:xfrm>
            <a:off x="8535010" y="4213555"/>
            <a:ext cx="3429000" cy="1283818"/>
          </a:xfrm>
          <a:prstGeom prst="rect">
            <a:avLst/>
          </a:prstGeom>
          <a:noFill/>
          <a:ln w="19050">
            <a:solidFill>
              <a:srgbClr val="FB6B3C"/>
            </a:solidFill>
            <a:prstDash val="dash"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B6B3C"/>
                </a:solidFill>
                <a:latin typeface="Arial"/>
                <a:ea typeface="Arial"/>
                <a:cs typeface="Arial"/>
              </a:rPr>
              <a:t>Foundational work conducted in initial effort – to test hypotheses in subsequent phases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657"/>
          <p:cNvSpPr txBox="1"/>
          <p:nvPr/>
        </p:nvSpPr>
        <p:spPr>
          <a:xfrm>
            <a:off x="2143354" y="1709928"/>
            <a:ext cx="3463747" cy="381487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enables serial production of containerships 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(5-21 ships / year)</a:t>
            </a:r>
          </a:p>
        </p:txBody>
      </p:sp>
      <p:graphicFrame>
        <p:nvGraphicFramePr>
          <p:cNvPr id="101" name="Chart"/>
          <p:cNvGraphicFramePr/>
          <p:nvPr/>
        </p:nvGraphicFramePr>
        <p:xfrm>
          <a:off x="461772" y="1481328"/>
          <a:ext cx="11320272" cy="4273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2" name="YearLabel"/>
          <p:cNvSpPr txBox="1"/>
          <p:nvPr/>
        </p:nvSpPr>
        <p:spPr>
          <a:xfrm>
            <a:off x="972922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03" name="YearLabel"/>
          <p:cNvSpPr txBox="1"/>
          <p:nvPr/>
        </p:nvSpPr>
        <p:spPr>
          <a:xfrm>
            <a:off x="1408176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2027</a:t>
            </a:r>
          </a:p>
        </p:txBody>
      </p:sp>
      <p:sp>
        <p:nvSpPr>
          <p:cNvPr id="104" name="YearLabel"/>
          <p:cNvSpPr txBox="1"/>
          <p:nvPr/>
        </p:nvSpPr>
        <p:spPr>
          <a:xfrm>
            <a:off x="1843430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2028</a:t>
            </a:r>
          </a:p>
        </p:txBody>
      </p:sp>
      <p:sp>
        <p:nvSpPr>
          <p:cNvPr id="105" name="YearLabel"/>
          <p:cNvSpPr txBox="1"/>
          <p:nvPr/>
        </p:nvSpPr>
        <p:spPr>
          <a:xfrm>
            <a:off x="2276856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2029</a:t>
            </a:r>
          </a:p>
        </p:txBody>
      </p:sp>
      <p:sp>
        <p:nvSpPr>
          <p:cNvPr id="106" name="YearLabel"/>
          <p:cNvSpPr txBox="1"/>
          <p:nvPr/>
        </p:nvSpPr>
        <p:spPr>
          <a:xfrm>
            <a:off x="2711196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2030</a:t>
            </a:r>
          </a:p>
        </p:txBody>
      </p:sp>
      <p:sp>
        <p:nvSpPr>
          <p:cNvPr id="107" name="YearLabel"/>
          <p:cNvSpPr txBox="1"/>
          <p:nvPr/>
        </p:nvSpPr>
        <p:spPr>
          <a:xfrm>
            <a:off x="3146450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2031</a:t>
            </a:r>
          </a:p>
        </p:txBody>
      </p:sp>
      <p:sp>
        <p:nvSpPr>
          <p:cNvPr id="108" name="YearLabel"/>
          <p:cNvSpPr txBox="1"/>
          <p:nvPr/>
        </p:nvSpPr>
        <p:spPr>
          <a:xfrm>
            <a:off x="3581705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2032</a:t>
            </a:r>
          </a:p>
        </p:txBody>
      </p:sp>
      <p:sp>
        <p:nvSpPr>
          <p:cNvPr id="109" name="YearLabel"/>
          <p:cNvSpPr txBox="1"/>
          <p:nvPr/>
        </p:nvSpPr>
        <p:spPr>
          <a:xfrm>
            <a:off x="4016045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2033</a:t>
            </a:r>
          </a:p>
        </p:txBody>
      </p:sp>
      <p:sp>
        <p:nvSpPr>
          <p:cNvPr id="110" name="YearLabel"/>
          <p:cNvSpPr txBox="1"/>
          <p:nvPr/>
        </p:nvSpPr>
        <p:spPr>
          <a:xfrm>
            <a:off x="4449470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2034</a:t>
            </a:r>
          </a:p>
        </p:txBody>
      </p:sp>
      <p:sp>
        <p:nvSpPr>
          <p:cNvPr id="111" name="YearLabel"/>
          <p:cNvSpPr txBox="1"/>
          <p:nvPr/>
        </p:nvSpPr>
        <p:spPr>
          <a:xfrm>
            <a:off x="4884725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2035</a:t>
            </a:r>
          </a:p>
        </p:txBody>
      </p:sp>
      <p:sp>
        <p:nvSpPr>
          <p:cNvPr id="112" name="YearLabel"/>
          <p:cNvSpPr txBox="1"/>
          <p:nvPr/>
        </p:nvSpPr>
        <p:spPr>
          <a:xfrm>
            <a:off x="5319979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2036</a:t>
            </a:r>
          </a:p>
        </p:txBody>
      </p:sp>
      <p:sp>
        <p:nvSpPr>
          <p:cNvPr id="113" name="YearLabel"/>
          <p:cNvSpPr txBox="1"/>
          <p:nvPr/>
        </p:nvSpPr>
        <p:spPr>
          <a:xfrm>
            <a:off x="5754319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2037</a:t>
            </a:r>
          </a:p>
        </p:txBody>
      </p:sp>
      <p:sp>
        <p:nvSpPr>
          <p:cNvPr id="114" name="YearLabel"/>
          <p:cNvSpPr txBox="1"/>
          <p:nvPr/>
        </p:nvSpPr>
        <p:spPr>
          <a:xfrm>
            <a:off x="6189574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2038</a:t>
            </a:r>
          </a:p>
        </p:txBody>
      </p:sp>
      <p:sp>
        <p:nvSpPr>
          <p:cNvPr id="115" name="YearLabel"/>
          <p:cNvSpPr txBox="1"/>
          <p:nvPr/>
        </p:nvSpPr>
        <p:spPr>
          <a:xfrm>
            <a:off x="6622999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2039</a:t>
            </a:r>
          </a:p>
        </p:txBody>
      </p:sp>
      <p:sp>
        <p:nvSpPr>
          <p:cNvPr id="116" name="YearLabel"/>
          <p:cNvSpPr txBox="1"/>
          <p:nvPr/>
        </p:nvSpPr>
        <p:spPr>
          <a:xfrm>
            <a:off x="7058254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2040</a:t>
            </a:r>
          </a:p>
        </p:txBody>
      </p:sp>
      <p:sp>
        <p:nvSpPr>
          <p:cNvPr id="117" name="YearLabel"/>
          <p:cNvSpPr txBox="1"/>
          <p:nvPr/>
        </p:nvSpPr>
        <p:spPr>
          <a:xfrm>
            <a:off x="7492594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2041</a:t>
            </a:r>
          </a:p>
        </p:txBody>
      </p:sp>
      <p:sp>
        <p:nvSpPr>
          <p:cNvPr id="118" name="YearLabel"/>
          <p:cNvSpPr txBox="1"/>
          <p:nvPr/>
        </p:nvSpPr>
        <p:spPr>
          <a:xfrm>
            <a:off x="7927848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2042</a:t>
            </a:r>
          </a:p>
        </p:txBody>
      </p:sp>
      <p:sp>
        <p:nvSpPr>
          <p:cNvPr id="119" name="YearLabel"/>
          <p:cNvSpPr txBox="1"/>
          <p:nvPr/>
        </p:nvSpPr>
        <p:spPr>
          <a:xfrm>
            <a:off x="8363102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2043</a:t>
            </a:r>
          </a:p>
        </p:txBody>
      </p:sp>
      <p:sp>
        <p:nvSpPr>
          <p:cNvPr id="120" name="YearLabel"/>
          <p:cNvSpPr txBox="1"/>
          <p:nvPr/>
        </p:nvSpPr>
        <p:spPr>
          <a:xfrm>
            <a:off x="8796528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2044</a:t>
            </a:r>
          </a:p>
        </p:txBody>
      </p:sp>
      <p:sp>
        <p:nvSpPr>
          <p:cNvPr id="121" name="YearLabel"/>
          <p:cNvSpPr txBox="1"/>
          <p:nvPr/>
        </p:nvSpPr>
        <p:spPr>
          <a:xfrm>
            <a:off x="9230868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2045</a:t>
            </a:r>
          </a:p>
        </p:txBody>
      </p:sp>
      <p:sp>
        <p:nvSpPr>
          <p:cNvPr id="122" name="YearLabel"/>
          <p:cNvSpPr txBox="1"/>
          <p:nvPr/>
        </p:nvSpPr>
        <p:spPr>
          <a:xfrm>
            <a:off x="9666122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2046</a:t>
            </a:r>
          </a:p>
        </p:txBody>
      </p:sp>
      <p:sp>
        <p:nvSpPr>
          <p:cNvPr id="123" name="YearLabel"/>
          <p:cNvSpPr txBox="1"/>
          <p:nvPr/>
        </p:nvSpPr>
        <p:spPr>
          <a:xfrm>
            <a:off x="10101377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2047</a:t>
            </a:r>
          </a:p>
        </p:txBody>
      </p:sp>
      <p:sp>
        <p:nvSpPr>
          <p:cNvPr id="124" name="YearLabel"/>
          <p:cNvSpPr txBox="1"/>
          <p:nvPr/>
        </p:nvSpPr>
        <p:spPr>
          <a:xfrm>
            <a:off x="10536631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2048</a:t>
            </a:r>
          </a:p>
        </p:txBody>
      </p:sp>
      <p:sp>
        <p:nvSpPr>
          <p:cNvPr id="125" name="YearLabel"/>
          <p:cNvSpPr txBox="1"/>
          <p:nvPr/>
        </p:nvSpPr>
        <p:spPr>
          <a:xfrm>
            <a:off x="10970057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2049</a:t>
            </a:r>
          </a:p>
        </p:txBody>
      </p:sp>
      <p:sp>
        <p:nvSpPr>
          <p:cNvPr id="126" name="YearLabel"/>
          <p:cNvSpPr txBox="1"/>
          <p:nvPr/>
        </p:nvSpPr>
        <p:spPr>
          <a:xfrm>
            <a:off x="11404397" y="5572354"/>
            <a:ext cx="152705" cy="2798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2050</a:t>
            </a:r>
          </a:p>
        </p:txBody>
      </p:sp>
      <p:sp>
        <p:nvSpPr>
          <p:cNvPr id="127" name="ValueLabel"/>
          <p:cNvSpPr txBox="1"/>
          <p:nvPr/>
        </p:nvSpPr>
        <p:spPr>
          <a:xfrm>
            <a:off x="996696" y="5287975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8" name="ValueLabel"/>
          <p:cNvSpPr txBox="1"/>
          <p:nvPr/>
        </p:nvSpPr>
        <p:spPr>
          <a:xfrm>
            <a:off x="2264969" y="4586630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9" name="ValueLabel"/>
          <p:cNvSpPr txBox="1"/>
          <p:nvPr/>
        </p:nvSpPr>
        <p:spPr>
          <a:xfrm>
            <a:off x="2700223" y="4076395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30" name="ValueLabel"/>
          <p:cNvSpPr txBox="1"/>
          <p:nvPr/>
        </p:nvSpPr>
        <p:spPr>
          <a:xfrm>
            <a:off x="3135478" y="3439973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31" name="ValueLabel"/>
          <p:cNvSpPr txBox="1"/>
          <p:nvPr/>
        </p:nvSpPr>
        <p:spPr>
          <a:xfrm>
            <a:off x="3570732" y="2165299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2" name="ValueLabel"/>
          <p:cNvSpPr txBox="1"/>
          <p:nvPr/>
        </p:nvSpPr>
        <p:spPr>
          <a:xfrm>
            <a:off x="4005072" y="3249778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33" name="ValueLabel"/>
          <p:cNvSpPr txBox="1"/>
          <p:nvPr/>
        </p:nvSpPr>
        <p:spPr>
          <a:xfrm>
            <a:off x="4438498" y="3949294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34" name="ValueLabel"/>
          <p:cNvSpPr txBox="1"/>
          <p:nvPr/>
        </p:nvSpPr>
        <p:spPr>
          <a:xfrm>
            <a:off x="4873752" y="4651553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5" name="ValueLabel"/>
          <p:cNvSpPr txBox="1"/>
          <p:nvPr/>
        </p:nvSpPr>
        <p:spPr>
          <a:xfrm>
            <a:off x="5343754" y="4841748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6" name="ValueLabel"/>
          <p:cNvSpPr txBox="1"/>
          <p:nvPr/>
        </p:nvSpPr>
        <p:spPr>
          <a:xfrm>
            <a:off x="5778094" y="5031943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7" name="ValueLabel"/>
          <p:cNvSpPr txBox="1"/>
          <p:nvPr/>
        </p:nvSpPr>
        <p:spPr>
          <a:xfrm>
            <a:off x="6646774" y="4968850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8" name="ValueLabel"/>
          <p:cNvSpPr txBox="1"/>
          <p:nvPr/>
        </p:nvSpPr>
        <p:spPr>
          <a:xfrm>
            <a:off x="7047281" y="4714646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9" name="ValueLabel"/>
          <p:cNvSpPr txBox="1"/>
          <p:nvPr/>
        </p:nvSpPr>
        <p:spPr>
          <a:xfrm>
            <a:off x="7516368" y="5031943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ValueLabel"/>
          <p:cNvSpPr txBox="1"/>
          <p:nvPr/>
        </p:nvSpPr>
        <p:spPr>
          <a:xfrm>
            <a:off x="7951622" y="4968850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1" name="ValueLabel"/>
          <p:cNvSpPr txBox="1"/>
          <p:nvPr/>
        </p:nvSpPr>
        <p:spPr>
          <a:xfrm>
            <a:off x="8386877" y="4841748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2" name="ValueLabel"/>
          <p:cNvSpPr txBox="1"/>
          <p:nvPr/>
        </p:nvSpPr>
        <p:spPr>
          <a:xfrm>
            <a:off x="6213348" y="4841748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3" name="ValueLabel"/>
          <p:cNvSpPr txBox="1"/>
          <p:nvPr/>
        </p:nvSpPr>
        <p:spPr>
          <a:xfrm>
            <a:off x="9219895" y="4714646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4" name="ValueLabel"/>
          <p:cNvSpPr txBox="1"/>
          <p:nvPr/>
        </p:nvSpPr>
        <p:spPr>
          <a:xfrm>
            <a:off x="9689897" y="5160874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5" name="ValueLabel"/>
          <p:cNvSpPr txBox="1"/>
          <p:nvPr/>
        </p:nvSpPr>
        <p:spPr>
          <a:xfrm>
            <a:off x="10125151" y="5160874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6" name="ValueLabel"/>
          <p:cNvSpPr txBox="1"/>
          <p:nvPr/>
        </p:nvSpPr>
        <p:spPr>
          <a:xfrm>
            <a:off x="10993831" y="5095951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7" name="ValueLabel"/>
          <p:cNvSpPr txBox="1"/>
          <p:nvPr/>
        </p:nvSpPr>
        <p:spPr>
          <a:xfrm>
            <a:off x="11393424" y="4651553"/>
            <a:ext cx="174650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48" name="ValueLabel"/>
          <p:cNvSpPr txBox="1"/>
          <p:nvPr/>
        </p:nvSpPr>
        <p:spPr>
          <a:xfrm>
            <a:off x="8820302" y="4778654"/>
            <a:ext cx="10515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9" name="Text Placeholder 25"/>
          <p:cNvSpPr txBox="1"/>
          <p:nvPr/>
        </p:nvSpPr>
        <p:spPr>
          <a:xfrm>
            <a:off x="565099" y="1376172"/>
            <a:ext cx="4487875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Additions to US-Built, Oceangoing Commercial Fleet by Type (# deliveries)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US-Built Ship Demand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With SHIPS Act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SHIPS Act Volume by Type | Only containerships provide sufficient volume to sustain extended serial production.</a:t>
            </a:r>
          </a:p>
        </p:txBody>
      </p:sp>
      <p:cxnSp>
        <p:nvCxnSpPr>
          <p:cNvPr id="150" name="Straight Connector 70"/>
          <p:cNvCxnSpPr/>
          <p:nvPr/>
        </p:nvCxnSpPr>
        <p:spPr>
          <a:xfrm>
            <a:off x="8984894" y="1831543"/>
            <a:ext cx="141732" cy="0"/>
          </a:xfrm>
          <a:prstGeom prst="line">
            <a:avLst/>
          </a:prstGeom>
          <a:ln w="38100">
            <a:solidFill>
              <a:srgbClr val="C30C3E"/>
            </a:solidFill>
            <a:prstDash val="dash"/>
            <a:tailEnd type="triangle" w="med" len="med"/>
          </a:ln>
        </p:spPr>
      </p:cxnSp>
      <p:sp>
        <p:nvSpPr>
          <p:cNvPr id="2000" name="Rectangle 402"/>
          <p:cNvSpPr/>
          <p:nvPr/>
        </p:nvSpPr>
        <p:spPr bwMode="auto">
          <a:xfrm>
            <a:off x="8966200" y="1968500"/>
            <a:ext cx="179388" cy="13335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LegendSwatch"/>
          <p:cNvSpPr txBox="1"/>
          <p:nvPr/>
        </p:nvSpPr>
        <p:spPr>
          <a:xfrm>
            <a:off x="8966606" y="2171700"/>
            <a:ext cx="179222" cy="13350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2" name="LegendSwatch"/>
          <p:cNvSpPr txBox="1"/>
          <p:nvPr/>
        </p:nvSpPr>
        <p:spPr>
          <a:xfrm>
            <a:off x="8966606" y="2374697"/>
            <a:ext cx="179222" cy="133502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>
            <a:off x="8966606" y="2577694"/>
            <a:ext cx="179222" cy="133502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4" name="LegendSwatch"/>
          <p:cNvSpPr txBox="1"/>
          <p:nvPr/>
        </p:nvSpPr>
        <p:spPr>
          <a:xfrm>
            <a:off x="8966606" y="2781605"/>
            <a:ext cx="179222" cy="133502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5" name="LegendSwatch"/>
          <p:cNvSpPr txBox="1"/>
          <p:nvPr/>
        </p:nvSpPr>
        <p:spPr>
          <a:xfrm>
            <a:off x="8966606" y="2984602"/>
            <a:ext cx="179222" cy="133502"/>
          </a:xfrm>
          <a:prstGeom prst="rect">
            <a:avLst/>
          </a:prstGeom>
          <a:solidFill>
            <a:srgbClr val="364D6E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6" name="LegendSwatch"/>
          <p:cNvSpPr txBox="1"/>
          <p:nvPr/>
        </p:nvSpPr>
        <p:spPr>
          <a:xfrm>
            <a:off x="8966606" y="3187598"/>
            <a:ext cx="179222" cy="133502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7" name="Label"/>
          <p:cNvSpPr txBox="1"/>
          <p:nvPr/>
        </p:nvSpPr>
        <p:spPr>
          <a:xfrm>
            <a:off x="9196121" y="1760220"/>
            <a:ext cx="2452421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Incremental Vessels to Fill Captive Demand</a:t>
            </a:r>
          </a:p>
        </p:txBody>
      </p:sp>
      <p:sp>
        <p:nvSpPr>
          <p:cNvPr id="158" name="Label"/>
          <p:cNvSpPr txBox="1"/>
          <p:nvPr/>
        </p:nvSpPr>
        <p:spPr>
          <a:xfrm>
            <a:off x="9196121" y="1964131"/>
            <a:ext cx="31546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159" name="Label"/>
          <p:cNvSpPr txBox="1"/>
          <p:nvPr/>
        </p:nvSpPr>
        <p:spPr>
          <a:xfrm>
            <a:off x="9196121" y="2167128"/>
            <a:ext cx="2459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Bulk</a:t>
            </a:r>
          </a:p>
        </p:txBody>
      </p:sp>
      <p:sp>
        <p:nvSpPr>
          <p:cNvPr id="160" name="Label"/>
          <p:cNvSpPr txBox="1"/>
          <p:nvPr/>
        </p:nvSpPr>
        <p:spPr>
          <a:xfrm>
            <a:off x="9196121" y="2370125"/>
            <a:ext cx="86319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Tanker</a:t>
            </a:r>
          </a:p>
        </p:txBody>
      </p:sp>
      <p:sp>
        <p:nvSpPr>
          <p:cNvPr id="161" name="Label"/>
          <p:cNvSpPr txBox="1"/>
          <p:nvPr/>
        </p:nvSpPr>
        <p:spPr>
          <a:xfrm>
            <a:off x="9196121" y="2573122"/>
            <a:ext cx="3666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Ro-Ro</a:t>
            </a:r>
          </a:p>
        </p:txBody>
      </p:sp>
      <p:sp>
        <p:nvSpPr>
          <p:cNvPr id="162" name="Label"/>
          <p:cNvSpPr txBox="1"/>
          <p:nvPr/>
        </p:nvSpPr>
        <p:spPr>
          <a:xfrm>
            <a:off x="9196121" y="2776118"/>
            <a:ext cx="26060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LNG</a:t>
            </a:r>
          </a:p>
        </p:txBody>
      </p:sp>
      <p:sp>
        <p:nvSpPr>
          <p:cNvPr id="163" name="Label"/>
          <p:cNvSpPr txBox="1"/>
          <p:nvPr/>
        </p:nvSpPr>
        <p:spPr>
          <a:xfrm>
            <a:off x="9196121" y="2980030"/>
            <a:ext cx="772668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Crude Tanker</a:t>
            </a:r>
          </a:p>
        </p:txBody>
      </p:sp>
      <p:sp>
        <p:nvSpPr>
          <p:cNvPr id="164" name="Label"/>
          <p:cNvSpPr txBox="1"/>
          <p:nvPr/>
        </p:nvSpPr>
        <p:spPr>
          <a:xfrm>
            <a:off x="9196121" y="3183026"/>
            <a:ext cx="547726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Container</a:t>
            </a:r>
          </a:p>
        </p:txBody>
      </p:sp>
      <p:sp>
        <p:nvSpPr>
          <p:cNvPr id="165" name="Rectangle 444"/>
          <p:cNvSpPr txBox="1"/>
          <p:nvPr/>
        </p:nvSpPr>
        <p:spPr>
          <a:xfrm>
            <a:off x="452628" y="6114593"/>
            <a:ext cx="11308385" cy="28437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and Crude Tankers assumed to be LR1/Aframax size; Containerships assumed to have 3-8K TEU capacity; “Other” category includes the following vessel types: Chemical &amp; Oil, Bulk Chemical, General Cargo, Refrigerated Fish, Heavy Lift, and Cable-Laying / Repair Ships | </a:t>
            </a: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See SHIPS Act and SHIPS Act “Plus” Volume pages</a:t>
            </a:r>
          </a:p>
        </p:txBody>
      </p:sp>
      <p:sp>
        <p:nvSpPr>
          <p:cNvPr id="166" name="Rectangle 660"/>
          <p:cNvSpPr txBox="1"/>
          <p:nvPr/>
        </p:nvSpPr>
        <p:spPr>
          <a:xfrm>
            <a:off x="8920886" y="2956255"/>
            <a:ext cx="1188720" cy="396850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67" name="Rectangle 661"/>
          <p:cNvSpPr txBox="1"/>
          <p:nvPr/>
        </p:nvSpPr>
        <p:spPr>
          <a:xfrm>
            <a:off x="8920886" y="2330806"/>
            <a:ext cx="1188720" cy="207569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b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68" name="Callout"/>
          <p:cNvSpPr txBox="1"/>
          <p:nvPr/>
        </p:nvSpPr>
        <p:spPr>
          <a:xfrm>
            <a:off x="4997196" y="3657600"/>
            <a:ext cx="2572207" cy="537667"/>
          </a:xfrm>
          <a:prstGeom prst="wedgeRectCallout">
            <a:avLst>
              <a:gd name="adj1" fmla="val -62515"/>
              <a:gd name="adj2" fmla="val 22663"/>
            </a:avLst>
          </a:prstGeom>
          <a:solidFill>
            <a:srgbClr val="FFFFFF"/>
          </a:solidFill>
          <a:ln w="12700">
            <a:solidFill>
              <a:srgbClr val="121415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Decline driven by MSTF prioritizing payments to existing ships in fleet, reducing available balance for new adds </a:t>
            </a:r>
          </a:p>
        </p:txBody>
      </p:sp>
      <p:sp>
        <p:nvSpPr>
          <p:cNvPr id="169" name="Callout"/>
          <p:cNvSpPr txBox="1"/>
          <p:nvPr/>
        </p:nvSpPr>
        <p:spPr>
          <a:xfrm>
            <a:off x="8256118" y="4104742"/>
            <a:ext cx="3124505" cy="395021"/>
          </a:xfrm>
          <a:prstGeom prst="wedgeRectCallout">
            <a:avLst>
              <a:gd name="adj1" fmla="val 11502"/>
              <a:gd name="adj2" fmla="val 163585"/>
            </a:avLst>
          </a:prstGeom>
          <a:solidFill>
            <a:srgbClr val="FFFFFF"/>
          </a:solidFill>
          <a:ln w="12700">
            <a:solidFill>
              <a:srgbClr val="121415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Captive demand volatility driven by mandated import / export proportions that increase every 1-3 years</a:t>
            </a:r>
          </a:p>
        </p:txBody>
      </p:sp>
      <p:sp>
        <p:nvSpPr>
          <p:cNvPr id="170" name="Callout"/>
          <p:cNvSpPr txBox="1"/>
          <p:nvPr/>
        </p:nvSpPr>
        <p:spPr>
          <a:xfrm>
            <a:off x="1401775" y="3364078"/>
            <a:ext cx="1451153" cy="537667"/>
          </a:xfrm>
          <a:prstGeom prst="wedgeRectCallout">
            <a:avLst>
              <a:gd name="adj1" fmla="val 65129"/>
              <a:gd name="adj2" fmla="val -21653"/>
            </a:avLst>
          </a:prstGeom>
          <a:solidFill>
            <a:srgbClr val="FFFFFF"/>
          </a:solidFill>
          <a:ln w="12700">
            <a:solidFill>
              <a:srgbClr val="121415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Ramp enabled by shipyard capacity coming online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71" name="Rectangle 96"/>
          <p:cNvSpPr txBox="1"/>
          <p:nvPr/>
        </p:nvSpPr>
        <p:spPr>
          <a:xfrm>
            <a:off x="7378294" y="158191"/>
            <a:ext cx="2722169" cy="199339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latin typeface="Arial"/>
                <a:ea typeface="Arial"/>
                <a:cs typeface="Arial"/>
              </a:rPr>
              <a:t>(2) SHIPS Act Scenario</a:t>
            </a:r>
          </a:p>
        </p:txBody>
      </p:sp>
      <p:sp>
        <p:nvSpPr>
          <p:cNvPr id="172" name="Rectangle 6"/>
          <p:cNvSpPr txBox="1"/>
          <p:nvPr/>
        </p:nvSpPr>
        <p:spPr>
          <a:xfrm>
            <a:off x="9070848" y="1420978"/>
            <a:ext cx="91440" cy="213970"/>
          </a:xfrm>
          <a:prstGeom prst="rect">
            <a:avLst/>
          </a:prstGeom>
          <a:noFill/>
          <a:ln w="19050">
            <a:solidFill>
              <a:srgbClr val="FB6B3C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73" name="TextBox 7"/>
          <p:cNvSpPr txBox="1"/>
          <p:nvPr/>
        </p:nvSpPr>
        <p:spPr>
          <a:xfrm>
            <a:off x="9122054" y="1420978"/>
            <a:ext cx="1921154" cy="213970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 Alpha production modeled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663"/>
          <p:cNvSpPr txBox="1"/>
          <p:nvPr/>
        </p:nvSpPr>
        <p:spPr>
          <a:xfrm>
            <a:off x="2083918" y="2012594"/>
            <a:ext cx="2668219" cy="381305"/>
          </a:xfrm>
          <a:prstGeom prst="rect">
            <a:avLst/>
          </a:prstGeom>
          <a:solidFill>
            <a:srgbClr val="CEDDEC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Minimally Manned</a:t>
            </a:r>
          </a:p>
        </p:txBody>
      </p:sp>
      <p:sp>
        <p:nvSpPr>
          <p:cNvPr id="101" name="Rectangle 683"/>
          <p:cNvSpPr txBox="1"/>
          <p:nvPr/>
        </p:nvSpPr>
        <p:spPr>
          <a:xfrm>
            <a:off x="6031382" y="2012594"/>
            <a:ext cx="2668219" cy="381305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Vs. Fully Autonomous</a:t>
            </a:r>
          </a:p>
        </p:txBody>
      </p:sp>
      <p:graphicFrame>
        <p:nvGraphicFramePr>
          <p:cNvPr id="102" name="Chart"/>
          <p:cNvGraphicFramePr/>
          <p:nvPr/>
        </p:nvGraphicFramePr>
        <p:xfrm>
          <a:off x="370332" y="1567282"/>
          <a:ext cx="10034626" cy="4544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3" name="Straight Connector 182"/>
          <p:cNvCxnSpPr/>
          <p:nvPr/>
        </p:nvCxnSpPr>
        <p:spPr>
          <a:xfrm>
            <a:off x="3413455" y="2240280"/>
            <a:ext cx="0" cy="152705"/>
          </a:xfrm>
          <a:prstGeom prst="line">
            <a:avLst/>
          </a:prstGeom>
          <a:ln w="12700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4" name="Straight Connector 655"/>
          <p:cNvCxnSpPr/>
          <p:nvPr/>
        </p:nvCxnSpPr>
        <p:spPr>
          <a:xfrm>
            <a:off x="5386730" y="2240280"/>
            <a:ext cx="0" cy="526694"/>
          </a:xfrm>
          <a:prstGeom prst="line">
            <a:avLst/>
          </a:prstGeom>
          <a:ln w="12700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5" name="Straight Connector 660"/>
          <p:cNvCxnSpPr/>
          <p:nvPr/>
        </p:nvCxnSpPr>
        <p:spPr>
          <a:xfrm>
            <a:off x="7360920" y="2240280"/>
            <a:ext cx="0" cy="972922"/>
          </a:xfrm>
          <a:prstGeom prst="line">
            <a:avLst/>
          </a:prstGeom>
          <a:ln w="12700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6" name="Straight Connector 188"/>
          <p:cNvCxnSpPr/>
          <p:nvPr/>
        </p:nvCxnSpPr>
        <p:spPr>
          <a:xfrm>
            <a:off x="9334195" y="2240280"/>
            <a:ext cx="0" cy="1104595"/>
          </a:xfrm>
          <a:prstGeom prst="line">
            <a:avLst/>
          </a:prstGeom>
          <a:ln w="12700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7" name="Straight Connector 186"/>
          <p:cNvCxnSpPr/>
          <p:nvPr/>
        </p:nvCxnSpPr>
        <p:spPr>
          <a:xfrm flipV="1">
            <a:off x="1438351" y="2153412"/>
            <a:ext cx="0" cy="86868"/>
          </a:xfrm>
          <a:prstGeom prst="line">
            <a:avLst/>
          </a:prstGeom>
          <a:ln w="12700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8" name="Straight Connector 187"/>
          <p:cNvCxnSpPr/>
          <p:nvPr/>
        </p:nvCxnSpPr>
        <p:spPr>
          <a:xfrm>
            <a:off x="1438351" y="2240280"/>
            <a:ext cx="7895844" cy="0"/>
          </a:xfrm>
          <a:prstGeom prst="line">
            <a:avLst/>
          </a:prstGeom>
          <a:ln w="12700">
            <a:solidFill>
              <a:srgbClr val="162029"/>
            </a:solidFill>
            <a:prstDash val="dash"/>
            <a:tailEnd type="triangle" w="med" len="med"/>
          </a:ln>
        </p:spPr>
      </p:cxnSp>
      <p:cxnSp>
        <p:nvCxnSpPr>
          <p:cNvPr id="109" name="Straight Connector 674"/>
          <p:cNvCxnSpPr/>
          <p:nvPr/>
        </p:nvCxnSpPr>
        <p:spPr>
          <a:xfrm flipH="1">
            <a:off x="7485278" y="4785055"/>
            <a:ext cx="86868" cy="0"/>
          </a:xfrm>
          <a:prstGeom prst="line">
            <a:avLst/>
          </a:prstGeom>
          <a:ln w="6350">
            <a:solidFill>
              <a:srgbClr val="44505C"/>
            </a:solidFill>
            <a:prstDash val="dash"/>
            <a:tailEnd type="triangle" w="med" len="med"/>
          </a:ln>
        </p:spPr>
      </p:cxnSp>
      <p:cxnSp>
        <p:nvCxnSpPr>
          <p:cNvPr id="110" name="Straight Connector 676"/>
          <p:cNvCxnSpPr/>
          <p:nvPr/>
        </p:nvCxnSpPr>
        <p:spPr>
          <a:xfrm flipH="1">
            <a:off x="9458554" y="4846320"/>
            <a:ext cx="86868" cy="0"/>
          </a:xfrm>
          <a:prstGeom prst="line">
            <a:avLst/>
          </a:prstGeom>
          <a:ln w="6350">
            <a:solidFill>
              <a:srgbClr val="44505C"/>
            </a:solidFill>
            <a:prstDash val="dash"/>
            <a:tailEnd type="triangle" w="med" len="med"/>
          </a:ln>
        </p:spPr>
      </p:cxnSp>
      <p:sp>
        <p:nvSpPr>
          <p:cNvPr id="111" name="Label"/>
          <p:cNvSpPr txBox="1"/>
          <p:nvPr/>
        </p:nvSpPr>
        <p:spPr>
          <a:xfrm>
            <a:off x="3167482" y="2740457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3450031" y="3521354"/>
            <a:ext cx="209398" cy="152705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3450031" y="4005072"/>
            <a:ext cx="209398" cy="152705"/>
          </a:xfrm>
          <a:prstGeom prst="rect">
            <a:avLst/>
          </a:prstGeom>
          <a:solidFill>
            <a:srgbClr val="6F8DB9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5140757" y="3098902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5423306" y="3834994"/>
            <a:ext cx="209398" cy="152705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5423306" y="4287622"/>
            <a:ext cx="209398" cy="152705"/>
          </a:xfrm>
          <a:prstGeom prst="rect">
            <a:avLst/>
          </a:prstGeom>
          <a:solidFill>
            <a:srgbClr val="6F8DB9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7114946" y="3599078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7397496" y="4291279"/>
            <a:ext cx="209398" cy="152705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7397496" y="4731106"/>
            <a:ext cx="209398" cy="152705"/>
          </a:xfrm>
          <a:prstGeom prst="rect">
            <a:avLst/>
          </a:prstGeom>
          <a:solidFill>
            <a:srgbClr val="6F8DB9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9088222" y="3714293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9370771" y="4365346"/>
            <a:ext cx="209398" cy="152705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22" name="Label"/>
          <p:cNvSpPr txBox="1"/>
          <p:nvPr/>
        </p:nvSpPr>
        <p:spPr>
          <a:xfrm>
            <a:off x="9370771" y="4789627"/>
            <a:ext cx="209398" cy="152705"/>
          </a:xfrm>
          <a:prstGeom prst="rect">
            <a:avLst/>
          </a:prstGeom>
          <a:solidFill>
            <a:srgbClr val="6F8DB9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23" name="Label"/>
          <p:cNvSpPr txBox="1"/>
          <p:nvPr/>
        </p:nvSpPr>
        <p:spPr>
          <a:xfrm>
            <a:off x="1474927" y="2517343"/>
            <a:ext cx="209398" cy="152705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1192378" y="2522830"/>
            <a:ext cx="209398" cy="152705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1474927" y="3278124"/>
            <a:ext cx="209398" cy="152705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1474927" y="3767328"/>
            <a:ext cx="209398" cy="152705"/>
          </a:xfrm>
          <a:prstGeom prst="rect">
            <a:avLst/>
          </a:prstGeom>
          <a:solidFill>
            <a:srgbClr val="6F8DB9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0.7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3167482" y="3962095"/>
            <a:ext cx="209398" cy="152705"/>
          </a:xfrm>
          <a:prstGeom prst="rect">
            <a:avLst/>
          </a:prstGeom>
          <a:solidFill>
            <a:srgbClr val="9DB1C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5140757" y="4248302"/>
            <a:ext cx="209398" cy="152705"/>
          </a:xfrm>
          <a:prstGeom prst="rect">
            <a:avLst/>
          </a:prstGeom>
          <a:solidFill>
            <a:srgbClr val="9DB1C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29" name="Label"/>
          <p:cNvSpPr txBox="1"/>
          <p:nvPr/>
        </p:nvSpPr>
        <p:spPr>
          <a:xfrm>
            <a:off x="1192378" y="3720694"/>
            <a:ext cx="209398" cy="152705"/>
          </a:xfrm>
          <a:prstGeom prst="rect">
            <a:avLst/>
          </a:prstGeom>
          <a:solidFill>
            <a:srgbClr val="9DB1C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130" name="Label"/>
          <p:cNvSpPr txBox="1"/>
          <p:nvPr/>
        </p:nvSpPr>
        <p:spPr>
          <a:xfrm>
            <a:off x="1192378" y="3362249"/>
            <a:ext cx="209398" cy="152705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txBody>
          <a:bodyPr wrap="none" anchor="ctr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latin typeface="Arial"/>
                <a:ea typeface="Arial"/>
                <a:cs typeface="Arial"/>
              </a:rPr>
              <a:t>1.3</a:t>
            </a:r>
          </a:p>
        </p:txBody>
      </p:sp>
      <p:sp>
        <p:nvSpPr>
          <p:cNvPr id="131" name="Label"/>
          <p:cNvSpPr txBox="1"/>
          <p:nvPr/>
        </p:nvSpPr>
        <p:spPr>
          <a:xfrm>
            <a:off x="3043123" y="5928970"/>
            <a:ext cx="741578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bound</a:t>
            </a:r>
          </a:p>
        </p:txBody>
      </p:sp>
      <p:sp>
        <p:nvSpPr>
          <p:cNvPr id="132" name="Label"/>
          <p:cNvSpPr txBox="1"/>
          <p:nvPr/>
        </p:nvSpPr>
        <p:spPr>
          <a:xfrm>
            <a:off x="5016398" y="5928970"/>
            <a:ext cx="741578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Upper bound</a:t>
            </a:r>
          </a:p>
        </p:txBody>
      </p:sp>
      <p:sp>
        <p:nvSpPr>
          <p:cNvPr id="133" name="Label"/>
          <p:cNvSpPr txBox="1"/>
          <p:nvPr/>
        </p:nvSpPr>
        <p:spPr>
          <a:xfrm>
            <a:off x="8964778" y="5928970"/>
            <a:ext cx="741578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Upper bound</a:t>
            </a:r>
          </a:p>
        </p:txBody>
      </p:sp>
      <p:sp>
        <p:nvSpPr>
          <p:cNvPr id="134" name="Label"/>
          <p:cNvSpPr txBox="1"/>
          <p:nvPr/>
        </p:nvSpPr>
        <p:spPr>
          <a:xfrm>
            <a:off x="1046074" y="5928970"/>
            <a:ext cx="784555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Daniel Inouye</a:t>
            </a:r>
          </a:p>
        </p:txBody>
      </p:sp>
      <p:sp>
        <p:nvSpPr>
          <p:cNvPr id="135" name="Label"/>
          <p:cNvSpPr txBox="1"/>
          <p:nvPr/>
        </p:nvSpPr>
        <p:spPr>
          <a:xfrm>
            <a:off x="6991502" y="5928970"/>
            <a:ext cx="741578" cy="15270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 bound</a:t>
            </a:r>
          </a:p>
        </p:txBody>
      </p:sp>
      <p:sp>
        <p:nvSpPr>
          <p:cNvPr id="136" name="Text Placeholder 25"/>
          <p:cNvSpPr txBox="1"/>
          <p:nvPr/>
        </p:nvSpPr>
        <p:spPr>
          <a:xfrm>
            <a:off x="452628" y="1533449"/>
            <a:ext cx="3662172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Annual Opex &amp; Fuel for 3,600 TEU containership ($M, 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2025 $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37" name="Label"/>
          <p:cNvSpPr txBox="1"/>
          <p:nvPr/>
        </p:nvSpPr>
        <p:spPr>
          <a:xfrm>
            <a:off x="3273552" y="2430475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40.0</a:t>
            </a:r>
          </a:p>
        </p:txBody>
      </p:sp>
      <p:sp>
        <p:nvSpPr>
          <p:cNvPr id="138" name="Label"/>
          <p:cNvSpPr txBox="1"/>
          <p:nvPr/>
        </p:nvSpPr>
        <p:spPr>
          <a:xfrm>
            <a:off x="5246827" y="2805379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35.5</a:t>
            </a:r>
          </a:p>
        </p:txBody>
      </p:sp>
      <p:sp>
        <p:nvSpPr>
          <p:cNvPr id="139" name="Label"/>
          <p:cNvSpPr txBox="1"/>
          <p:nvPr/>
        </p:nvSpPr>
        <p:spPr>
          <a:xfrm>
            <a:off x="7221931" y="3251606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140" name="Label"/>
          <p:cNvSpPr txBox="1"/>
          <p:nvPr/>
        </p:nvSpPr>
        <p:spPr>
          <a:xfrm>
            <a:off x="9195206" y="3383280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28.4</a:t>
            </a:r>
          </a:p>
        </p:txBody>
      </p:sp>
      <p:sp>
        <p:nvSpPr>
          <p:cNvPr id="141" name="Label"/>
          <p:cNvSpPr txBox="1"/>
          <p:nvPr/>
        </p:nvSpPr>
        <p:spPr>
          <a:xfrm>
            <a:off x="1298448" y="2365553"/>
            <a:ext cx="279806" cy="152705"/>
          </a:xfrm>
          <a:prstGeom prst="rect">
            <a:avLst/>
          </a:prstGeom>
          <a:noFill/>
          <a:ln>
            <a:noFill/>
          </a:ln>
        </p:spPr>
        <p:txBody>
          <a:bodyPr wrap="none" anchor="b" lIns="17463" tIns="0" rIns="17463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40.2</a:t>
            </a:r>
          </a:p>
        </p:txBody>
      </p:sp>
      <p:sp>
        <p:nvSpPr>
          <p:cNvPr id="142" name="Label"/>
          <p:cNvSpPr txBox="1"/>
          <p:nvPr/>
        </p:nvSpPr>
        <p:spPr>
          <a:xfrm>
            <a:off x="2296973" y="2132381"/>
            <a:ext cx="258775" cy="21579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2029"/>
            </a:solidFill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143" name="Label"/>
          <p:cNvSpPr txBox="1"/>
          <p:nvPr/>
        </p:nvSpPr>
        <p:spPr>
          <a:xfrm>
            <a:off x="4189781" y="2132381"/>
            <a:ext cx="418795" cy="21579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2029"/>
            </a:solidFill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-12%</a:t>
            </a:r>
          </a:p>
        </p:txBody>
      </p:sp>
      <p:sp>
        <p:nvSpPr>
          <p:cNvPr id="144" name="Label"/>
          <p:cNvSpPr txBox="1"/>
          <p:nvPr/>
        </p:nvSpPr>
        <p:spPr>
          <a:xfrm>
            <a:off x="6163970" y="2132381"/>
            <a:ext cx="418795" cy="21579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2029"/>
            </a:solidFill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-25%</a:t>
            </a:r>
          </a:p>
        </p:txBody>
      </p:sp>
      <p:sp>
        <p:nvSpPr>
          <p:cNvPr id="145" name="Label"/>
          <p:cNvSpPr txBox="1"/>
          <p:nvPr/>
        </p:nvSpPr>
        <p:spPr>
          <a:xfrm>
            <a:off x="8137246" y="2132381"/>
            <a:ext cx="418795" cy="21579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2029"/>
            </a:solidFill>
          </a:ln>
        </p:spPr>
        <p:txBody>
          <a:bodyPr wrap="none" anchor="ctr" lIns="0" tIns="0" rIns="0" bIns="0"/>
          <a:lstStyle/>
          <a:p>
            <a:pPr algn="ctr"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-29%</a:t>
            </a:r>
          </a:p>
        </p:txBody>
      </p:sp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Impact of Automation on Vessel Costs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Comparison vs. Conventional Ships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Cost Comparison (1/3) | Minimally manned may see ~0-12% lower costs; Fully autonomous may see ~25-30% lower costs.</a:t>
            </a:r>
          </a:p>
        </p:txBody>
      </p:sp>
      <p:sp>
        <p:nvSpPr>
          <p:cNvPr id="146" name="LegendSwatch"/>
          <p:cNvSpPr txBox="1"/>
          <p:nvPr/>
        </p:nvSpPr>
        <p:spPr>
          <a:xfrm>
            <a:off x="10372954" y="3655771"/>
            <a:ext cx="179222" cy="133502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47" name="LegendSwatch"/>
          <p:cNvSpPr txBox="1"/>
          <p:nvPr/>
        </p:nvSpPr>
        <p:spPr>
          <a:xfrm>
            <a:off x="10372954" y="3858768"/>
            <a:ext cx="179222" cy="133502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48" name="LegendSwatch"/>
          <p:cNvSpPr txBox="1"/>
          <p:nvPr/>
        </p:nvSpPr>
        <p:spPr>
          <a:xfrm>
            <a:off x="10372954" y="4062679"/>
            <a:ext cx="179222" cy="133502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49" name="LegendSwatch"/>
          <p:cNvSpPr txBox="1"/>
          <p:nvPr/>
        </p:nvSpPr>
        <p:spPr>
          <a:xfrm>
            <a:off x="10372954" y="4265676"/>
            <a:ext cx="179222" cy="133502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0" name="LegendSwatch"/>
          <p:cNvSpPr txBox="1"/>
          <p:nvPr/>
        </p:nvSpPr>
        <p:spPr>
          <a:xfrm>
            <a:off x="10372954" y="4468673"/>
            <a:ext cx="179222" cy="133502"/>
          </a:xfrm>
          <a:prstGeom prst="rect">
            <a:avLst/>
          </a:prstGeom>
          <a:solidFill>
            <a:srgbClr val="DFE5E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1" name="LegendSwatch"/>
          <p:cNvSpPr txBox="1"/>
          <p:nvPr/>
        </p:nvSpPr>
        <p:spPr>
          <a:xfrm>
            <a:off x="10372954" y="4671670"/>
            <a:ext cx="179222" cy="133502"/>
          </a:xfrm>
          <a:prstGeom prst="rect">
            <a:avLst/>
          </a:prstGeom>
          <a:solidFill>
            <a:srgbClr val="C3CFE1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2" name="LegendSwatch"/>
          <p:cNvSpPr txBox="1"/>
          <p:nvPr/>
        </p:nvSpPr>
        <p:spPr>
          <a:xfrm>
            <a:off x="10372954" y="4875581"/>
            <a:ext cx="179222" cy="133502"/>
          </a:xfrm>
          <a:prstGeom prst="rect">
            <a:avLst/>
          </a:prstGeom>
          <a:solidFill>
            <a:srgbClr val="9DB1C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3" name="LegendSwatch"/>
          <p:cNvSpPr txBox="1"/>
          <p:nvPr/>
        </p:nvSpPr>
        <p:spPr>
          <a:xfrm>
            <a:off x="10372954" y="5078578"/>
            <a:ext cx="179222" cy="133502"/>
          </a:xfrm>
          <a:prstGeom prst="rect">
            <a:avLst/>
          </a:prstGeom>
          <a:solidFill>
            <a:srgbClr val="6F8DB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4" name="LegendSwatch"/>
          <p:cNvSpPr txBox="1"/>
          <p:nvPr/>
        </p:nvSpPr>
        <p:spPr>
          <a:xfrm>
            <a:off x="10372954" y="5281574"/>
            <a:ext cx="179222" cy="133502"/>
          </a:xfrm>
          <a:prstGeom prst="rect">
            <a:avLst/>
          </a:prstGeom>
          <a:solidFill>
            <a:srgbClr val="364D6E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5" name="LegendSwatch"/>
          <p:cNvSpPr txBox="1"/>
          <p:nvPr/>
        </p:nvSpPr>
        <p:spPr>
          <a:xfrm>
            <a:off x="10372954" y="5484571"/>
            <a:ext cx="179222" cy="133502"/>
          </a:xfrm>
          <a:prstGeom prst="rect">
            <a:avLst/>
          </a:prstGeom>
          <a:solidFill>
            <a:srgbClr val="C30C3E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6" name="LegendSwatch"/>
          <p:cNvSpPr txBox="1"/>
          <p:nvPr/>
        </p:nvSpPr>
        <p:spPr>
          <a:xfrm>
            <a:off x="10372954" y="5687568"/>
            <a:ext cx="179222" cy="133502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57" name="Label"/>
          <p:cNvSpPr txBox="1"/>
          <p:nvPr/>
        </p:nvSpPr>
        <p:spPr>
          <a:xfrm>
            <a:off x="10602468" y="3651199"/>
            <a:ext cx="10460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Autonomy-Related</a:t>
            </a:r>
          </a:p>
        </p:txBody>
      </p:sp>
      <p:sp>
        <p:nvSpPr>
          <p:cNvPr id="158" name="Label"/>
          <p:cNvSpPr txBox="1"/>
          <p:nvPr/>
        </p:nvSpPr>
        <p:spPr>
          <a:xfrm>
            <a:off x="10602468" y="3854196"/>
            <a:ext cx="652882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Opex</a:t>
            </a:r>
          </a:p>
        </p:txBody>
      </p:sp>
      <p:sp>
        <p:nvSpPr>
          <p:cNvPr id="159" name="Label"/>
          <p:cNvSpPr txBox="1"/>
          <p:nvPr/>
        </p:nvSpPr>
        <p:spPr>
          <a:xfrm>
            <a:off x="10602468" y="4058107"/>
            <a:ext cx="26060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D&amp;A</a:t>
            </a:r>
          </a:p>
        </p:txBody>
      </p:sp>
      <p:sp>
        <p:nvSpPr>
          <p:cNvPr id="160" name="Label"/>
          <p:cNvSpPr txBox="1"/>
          <p:nvPr/>
        </p:nvSpPr>
        <p:spPr>
          <a:xfrm>
            <a:off x="10602468" y="4261104"/>
            <a:ext cx="830275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Mgmt &amp; Admin</a:t>
            </a:r>
          </a:p>
        </p:txBody>
      </p:sp>
      <p:sp>
        <p:nvSpPr>
          <p:cNvPr id="161" name="Label"/>
          <p:cNvSpPr txBox="1"/>
          <p:nvPr/>
        </p:nvSpPr>
        <p:spPr>
          <a:xfrm>
            <a:off x="10602468" y="4464101"/>
            <a:ext cx="530352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Dry-Dock</a:t>
            </a:r>
          </a:p>
        </p:txBody>
      </p:sp>
      <p:sp>
        <p:nvSpPr>
          <p:cNvPr id="162" name="Label"/>
          <p:cNvSpPr txBox="1"/>
          <p:nvPr/>
        </p:nvSpPr>
        <p:spPr>
          <a:xfrm>
            <a:off x="10602468" y="4667098"/>
            <a:ext cx="282550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R&amp;M</a:t>
            </a:r>
          </a:p>
        </p:txBody>
      </p:sp>
      <p:sp>
        <p:nvSpPr>
          <p:cNvPr id="163" name="Label"/>
          <p:cNvSpPr txBox="1"/>
          <p:nvPr/>
        </p:nvSpPr>
        <p:spPr>
          <a:xfrm>
            <a:off x="10602468" y="4870094"/>
            <a:ext cx="871423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Lubricating Oils</a:t>
            </a:r>
          </a:p>
        </p:txBody>
      </p:sp>
      <p:sp>
        <p:nvSpPr>
          <p:cNvPr id="164" name="Label"/>
          <p:cNvSpPr txBox="1"/>
          <p:nvPr/>
        </p:nvSpPr>
        <p:spPr>
          <a:xfrm>
            <a:off x="10602468" y="5074006"/>
            <a:ext cx="918972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Stores &amp; Spares</a:t>
            </a:r>
          </a:p>
        </p:txBody>
      </p:sp>
      <p:sp>
        <p:nvSpPr>
          <p:cNvPr id="165" name="Label"/>
          <p:cNvSpPr txBox="1"/>
          <p:nvPr/>
        </p:nvSpPr>
        <p:spPr>
          <a:xfrm>
            <a:off x="10602468" y="5277002"/>
            <a:ext cx="554126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Insurance</a:t>
            </a:r>
          </a:p>
        </p:txBody>
      </p:sp>
      <p:sp>
        <p:nvSpPr>
          <p:cNvPr id="166" name="Label"/>
          <p:cNvSpPr txBox="1"/>
          <p:nvPr/>
        </p:nvSpPr>
        <p:spPr>
          <a:xfrm>
            <a:off x="10602468" y="5479999"/>
            <a:ext cx="297180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Crew</a:t>
            </a:r>
          </a:p>
        </p:txBody>
      </p:sp>
      <p:sp>
        <p:nvSpPr>
          <p:cNvPr id="167" name="Label"/>
          <p:cNvSpPr txBox="1"/>
          <p:nvPr/>
        </p:nvSpPr>
        <p:spPr>
          <a:xfrm>
            <a:off x="10602468" y="5682996"/>
            <a:ext cx="245974" cy="1527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Fuel</a:t>
            </a:r>
          </a:p>
        </p:txBody>
      </p:sp>
      <p:sp>
        <p:nvSpPr>
          <p:cNvPr id="168" name="TextBox 2"/>
          <p:cNvSpPr txBox="1"/>
          <p:nvPr/>
        </p:nvSpPr>
        <p:spPr>
          <a:xfrm>
            <a:off x="2911450" y="6102706"/>
            <a:ext cx="2955341" cy="245974"/>
          </a:xfrm>
          <a:prstGeom prst="rect">
            <a:avLst/>
          </a:prstGeom>
          <a:solidFill>
            <a:srgbClr val="CEDDEC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Minimally-Manned</a:t>
            </a:r>
          </a:p>
        </p:txBody>
      </p:sp>
      <p:sp>
        <p:nvSpPr>
          <p:cNvPr id="169" name="TextBox 4"/>
          <p:cNvSpPr txBox="1"/>
          <p:nvPr/>
        </p:nvSpPr>
        <p:spPr>
          <a:xfrm>
            <a:off x="6881774" y="6102706"/>
            <a:ext cx="2956255" cy="245974"/>
          </a:xfrm>
          <a:prstGeom prst="rect">
            <a:avLst/>
          </a:prstGeom>
          <a:solidFill>
            <a:srgbClr val="447BB2"/>
          </a:solidFill>
          <a:ln w="12700">
            <a:solidFill>
              <a:srgbClr val="000000"/>
            </a:solidFill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Fully Autonomous</a:t>
            </a:r>
          </a:p>
        </p:txBody>
      </p:sp>
      <p:sp>
        <p:nvSpPr>
          <p:cNvPr id="170" name="Speech Bubble: Rectangle 56"/>
          <p:cNvSpPr txBox="1"/>
          <p:nvPr/>
        </p:nvSpPr>
        <p:spPr>
          <a:xfrm>
            <a:off x="9533534" y="2335378"/>
            <a:ext cx="2381098" cy="1001268"/>
          </a:xfrm>
          <a:prstGeom prst="wedgeRectCallout">
            <a:avLst>
              <a:gd name="adj1" fmla="val -58149"/>
              <a:gd name="adj2" fmla="val -22131"/>
            </a:avLst>
          </a:prstGeom>
          <a:solidFill>
            <a:srgbClr val="FFFFFF"/>
          </a:solidFill>
          <a:ln w="12700">
            <a:solidFill>
              <a:srgbClr val="121415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Upper Bound assumes vertical integration between BuildCo and OpCo; Lower bound represents sales to other customers, with software license benchmarked to Marauder ($2M / year) </a:t>
            </a:r>
          </a:p>
        </p:txBody>
      </p:sp>
      <p:sp>
        <p:nvSpPr>
          <p:cNvPr id="171" name="Rectangle 16"/>
          <p:cNvSpPr txBox="1"/>
          <p:nvPr/>
        </p:nvSpPr>
        <p:spPr>
          <a:xfrm>
            <a:off x="8660282" y="1141171"/>
            <a:ext cx="3075127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Saronic-Built, US-Flagged, </a:t>
            </a:r>
            <a:r>
              <a:rPr lang="en-US" sz="100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Non-Saronic Operated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D&amp;A shown for Port Alpha newbuild (hull #10)</a:t>
            </a:r>
          </a:p>
        </p:txBody>
      </p:sp>
      <p:sp>
        <p:nvSpPr>
          <p:cNvPr id="172" name="Rectangle 21"/>
          <p:cNvSpPr txBox="1"/>
          <p:nvPr/>
        </p:nvSpPr>
        <p:spPr>
          <a:xfrm>
            <a:off x="7359091" y="158191"/>
            <a:ext cx="4375404" cy="198425"/>
          </a:xfrm>
          <a:prstGeom prst="rect">
            <a:avLst/>
          </a:prstGeom>
          <a:solidFill>
            <a:srgbClr val="FFFFCC"/>
          </a:solidFill>
          <a:ln w="19050">
            <a:solidFill>
              <a:srgbClr val="121415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 – values shown are hypotheses to be tested</a:t>
            </a:r>
          </a:p>
        </p:txBody>
      </p:sp>
      <p:sp>
        <p:nvSpPr>
          <p:cNvPr id="173" name="Rectangle 71"/>
          <p:cNvSpPr txBox="1"/>
          <p:nvPr/>
        </p:nvSpPr>
        <p:spPr>
          <a:xfrm>
            <a:off x="452628" y="6409944"/>
            <a:ext cx="4480560" cy="289865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Source: Volume, US vs. Foreign Shipbuilding, and US vs. Foreign Opex pages (US D&amp;A and US Opex); Matson pages (fuel expense); Market participant feedback (Potential autonomy impact)</a:t>
            </a:r>
          </a:p>
          <a:p>
            <a:pPr>
              <a:lnSpc>
                <a:spcPct val="115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deck_commercial_strategy</Application>
  <PresentationFormat>Widescreen</PresentationFormat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Commercial Strategy Market Analysis (reference port)</dc:title>
  <dc:creator>deck_commercial_strategy build_deck.py</dc:creator>
  <cp:lastModifiedBy>deck_commercial_strategy build_deck.py</cp:lastModifiedBy>
  <cp:revision>1</cp:revision>
  <dcterms:created xsi:type="dcterms:W3CDTF">2026-06-25T00:56:21Z</dcterms:created>
  <dcterms:modified xsi:type="dcterms:W3CDTF">2026-06-25T00:56:21Z</dcterms:modified>
</cp:coreProperties>
</file>