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Defense Market Strategy </a:t>
            </a:r>
            <a:r>
              <a:rPr lang="en-US"/>
              <a:t>/ Strategic Contracts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Strategic Contracts — Recompete Watch-List | Recompete timing, incumbents, and funding — by entry route.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graphicFrame>
        <p:nvGraphicFramePr>
          <p:cNvPr id="100" name="Table 44"/>
          <p:cNvGraphicFramePr>
            <a:graphicFrameLocks noGrp="1"/>
          </p:cNvGraphicFramePr>
          <p:nvPr/>
        </p:nvGraphicFramePr>
        <p:xfrm>
          <a:off x="452628" y="1463040"/>
          <a:ext cx="11292840" cy="481888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777240"/>
                <a:gridCol w="2468880"/>
                <a:gridCol w="1783080"/>
                <a:gridCol w="1005840"/>
                <a:gridCol w="1874520"/>
                <a:gridCol w="1280160"/>
                <a:gridCol w="960120"/>
                <a:gridCol w="1143000"/>
              </a:tblGrid>
              <a:tr h="292608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Route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Platform · Vehicle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Incumbent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Amount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Recompete / entry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Funding (TAS)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 rowSpan="6">
                  <a:txBody>
                    <a:bodyPr anchor="ctr"/>
                    <a:lstStyle/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Direct to Government</a:t>
                      </a:r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Win the recompete as prime or OTA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Army watercraft ship-repair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W56HZV21DL pool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Bay Ship &amp; Yacht +9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$416.8M obl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2026-01-25 · passed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OPA 021-2035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ESP request at series 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Army bridge erection boats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W56HZV19D0093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Birdon America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$199M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2025-08-12 · passed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OPA 021-2035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FY27 trough, recovers later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CVN maintenance (PNW)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N0002419D4310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Metro Machine (NASSCO)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$465M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2026-03-20 · passed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O&amp;M,N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Readiness-protected depot O&amp;M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small craft (aluminum)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N0002417D2209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Gravois Aluminum Boats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$118M orders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2023-09-30 · portal-dark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No public budget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USV core (R&amp;D vehicle)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N0002418D6401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Penn State ARL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$77M orders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LDO 2026-09-30 · imminent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RDT&amp;E,N 017-1319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Unmanned R&amp;D growth priority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Navy patrol boats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N0002421C2201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Safe Boats Intl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$173.9M obl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Sole-source · ends 2027-12-16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900"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Sole-source; no public 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 rowSpan="5">
                  <a:txBody>
                    <a:bodyPr anchor="ctr"/>
                    <a:lstStyle/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Through the prime</a:t>
                      </a:r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Enter a locked build via the supply chain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USCG Offshore Patrol Cutter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70Z02322C93220001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Austal (ex-Eastern)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$3.3B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Stage-2 build to 2030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PC&amp;I 070-0612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FY27 −62%; Stage 3 starts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Auxiliary (SWBS 500)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HII + BIW · locked prime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 subs · top 15.9%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$947.5M subs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HHI 683 · open lane (FY28-32)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Funded to FY31; open lane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Propulsion (SWBS 200)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HII + BIW · locked prime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 34.7%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$957.9M subs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HHI 1905 · team / 2nd-source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Funded to FY31; entrenched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T-AGOS(X) ocean surveillance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N0002423C2203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Austal USA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$3.2B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Full &amp; open · build to 2033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Funded ~1 ship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noFill/>
                  </a:tcPr>
                </a:tc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T-AO John Lewis fleet oiler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sz="800" i="1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N0002416C2229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NASSCO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$6.0B ceil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Full &amp; open · build to 2028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Favorable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8A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rgbClr val="808080"/>
                          </a:solidFill>
                          <a:latin typeface="Arial"/>
                          <a:ea typeface="Arial"/>
                          <a:cs typeface="Arial"/>
                        </a:rPr>
                        <a:t>$2.2B FY27; two ships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Strategic Contracts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Market Access Framework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Defining Contract Addressability | Award structure determines whether entry is direct, gated, or incumbent-led.</a:t>
            </a:r>
          </a:p>
        </p:txBody>
      </p:sp>
      <p:sp>
        <p:nvSpPr>
          <p:cNvPr id="100" name="ZoneHeader"/>
          <p:cNvSpPr txBox="1"/>
          <p:nvPr/>
        </p:nvSpPr>
        <p:spPr>
          <a:xfrm>
            <a:off x="452628" y="1435608"/>
            <a:ext cx="3520440" cy="329184"/>
          </a:xfrm>
          <a:prstGeom prst="homePlate">
            <a:avLst>
              <a:gd name="adj" fmla="val 24929"/>
            </a:avLst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Observed market</a:t>
            </a:r>
          </a:p>
        </p:txBody>
      </p:sp>
      <p:sp>
        <p:nvSpPr>
          <p:cNvPr id="101" name="ZoneHeader"/>
          <p:cNvSpPr txBox="1"/>
          <p:nvPr/>
        </p:nvSpPr>
        <p:spPr>
          <a:xfrm>
            <a:off x="4247388" y="1435608"/>
            <a:ext cx="3520440" cy="329184"/>
          </a:xfrm>
          <a:prstGeom prst="chevron">
            <a:avLst>
              <a:gd name="adj" fmla="val 24929"/>
            </a:avLst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Contract landscape</a:t>
            </a:r>
          </a:p>
        </p:txBody>
      </p:sp>
      <p:sp>
        <p:nvSpPr>
          <p:cNvPr id="102" name="ZoneHeader"/>
          <p:cNvSpPr txBox="1"/>
          <p:nvPr/>
        </p:nvSpPr>
        <p:spPr>
          <a:xfrm>
            <a:off x="8179308" y="1435608"/>
            <a:ext cx="3520440" cy="329184"/>
          </a:xfrm>
          <a:prstGeom prst="chevron">
            <a:avLst>
              <a:gd name="adj" fmla="val 24929"/>
            </a:avLst>
          </a:prstGeom>
          <a:solidFill>
            <a:srgbClr val="7F7F7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Route to revenue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452628" y="1787652"/>
            <a:ext cx="3520440" cy="155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 exists before access is determined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247388" y="1787652"/>
            <a:ext cx="3520440" cy="155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 record separates market size from market access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8179308" y="1787652"/>
            <a:ext cx="3520440" cy="1554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Access posture determines the practical route in</a:t>
            </a:r>
          </a:p>
        </p:txBody>
      </p:sp>
      <p:sp>
        <p:nvSpPr>
          <p:cNvPr id="106" name="ObservedMarketCard"/>
          <p:cNvSpPr txBox="1"/>
          <p:nvPr/>
        </p:nvSpPr>
        <p:spPr>
          <a:xfrm>
            <a:off x="452628" y="2189988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Committed demand</a:t>
            </a:r>
          </a:p>
          <a:p>
            <a:pPr>
              <a:lnSpc>
                <a:spcPct val="8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Obligations on orders; quantity-adding modifications; recurring funding</a:t>
            </a:r>
          </a:p>
        </p:txBody>
      </p:sp>
      <p:sp>
        <p:nvSpPr>
          <p:cNvPr id="107" name="ObservedMarketCard"/>
          <p:cNvSpPr txBox="1"/>
          <p:nvPr/>
        </p:nvSpPr>
        <p:spPr>
          <a:xfrm>
            <a:off x="452628" y="2921508"/>
            <a:ext cx="3520440" cy="60350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Capacity, not revenue</a:t>
            </a:r>
          </a:p>
          <a:p>
            <a:pPr>
              <a:lnSpc>
                <a:spcPct val="8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Ceilings; potential value; unexercised options</a:t>
            </a:r>
          </a:p>
        </p:txBody>
      </p:sp>
      <p:sp>
        <p:nvSpPr>
          <p:cNvPr id="108" name="ObservedMarketCard"/>
          <p:cNvSpPr txBox="1"/>
          <p:nvPr/>
        </p:nvSpPr>
        <p:spPr>
          <a:xfrm>
            <a:off x="452628" y="3653028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Funding context</a:t>
            </a:r>
          </a:p>
          <a:p>
            <a:pPr>
              <a:lnSpc>
                <a:spcPct val="8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 / appropriation; customer; mission</a:t>
            </a:r>
          </a:p>
        </p:txBody>
      </p:sp>
      <p:sp>
        <p:nvSpPr>
          <p:cNvPr id="109" name="ContractScreen"/>
          <p:cNvSpPr txBox="1"/>
          <p:nvPr/>
        </p:nvSpPr>
        <p:spPr>
          <a:xfrm>
            <a:off x="4247388" y="2144268"/>
            <a:ext cx="3520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8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demand real?</a:t>
            </a:r>
          </a:p>
          <a:p>
            <a:pPr>
              <a:lnSpc>
                <a:spcPct val="8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Evidence: obligations, orders, quantity additions, recurring funding</a:t>
            </a:r>
          </a:p>
          <a:p>
            <a:pPr>
              <a:lnSpc>
                <a:spcPct val="82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Implication: size the realized market</a:t>
            </a:r>
          </a:p>
        </p:txBody>
      </p:sp>
      <p:sp>
        <p:nvSpPr>
          <p:cNvPr id="110" name="ContractScreen"/>
          <p:cNvSpPr txBox="1"/>
          <p:nvPr/>
        </p:nvSpPr>
        <p:spPr>
          <a:xfrm>
            <a:off x="4247388" y="2912364"/>
            <a:ext cx="3520440" cy="1033272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8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Who has access?</a:t>
            </a:r>
          </a:p>
          <a:p>
            <a:pPr>
              <a:lnSpc>
                <a:spcPct val="82000"/>
              </a:lnSpc>
              <a:buNone/>
            </a:pPr>
            <a:endParaRPr lang="en-US"/>
          </a:p>
          <a:p>
            <a:pPr>
              <a:lnSpc>
                <a:spcPct val="8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Evidence: extent competed; single- / multiple-award structure; set-aside; holder roster</a:t>
            </a:r>
          </a:p>
          <a:p>
            <a:pPr>
              <a:lnSpc>
                <a:spcPct val="82000"/>
              </a:lnSpc>
              <a:buNone/>
            </a:pPr>
            <a:endParaRPr lang="en-US"/>
          </a:p>
          <a:p>
            <a:pPr>
              <a:lnSpc>
                <a:spcPct val="82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Implication: direct access versus incumbent-chain route</a:t>
            </a:r>
          </a:p>
        </p:txBody>
      </p:sp>
      <p:sp>
        <p:nvSpPr>
          <p:cNvPr id="111" name="ContractScreen"/>
          <p:cNvSpPr txBox="1"/>
          <p:nvPr/>
        </p:nvSpPr>
        <p:spPr>
          <a:xfrm>
            <a:off x="4247388" y="4055364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8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 can a company enter?</a:t>
            </a:r>
          </a:p>
          <a:p>
            <a:pPr>
              <a:lnSpc>
                <a:spcPct val="8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Evidence: last date to order; ultimate completion; option dates; bridges; MYP cadence</a:t>
            </a:r>
          </a:p>
          <a:p>
            <a:pPr>
              <a:lnSpc>
                <a:spcPct val="82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Implication: pursue now, position, or monitor</a:t>
            </a:r>
          </a:p>
        </p:txBody>
      </p:sp>
      <p:sp>
        <p:nvSpPr>
          <p:cNvPr id="112" name="Access pivot tag"/>
          <p:cNvSpPr txBox="1"/>
          <p:nvPr/>
        </p:nvSpPr>
        <p:spPr>
          <a:xfrm>
            <a:off x="6780276" y="3008376"/>
            <a:ext cx="786384" cy="233172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13" name="Secondary diligence"/>
          <p:cNvSpPr txBox="1"/>
          <p:nvPr/>
        </p:nvSpPr>
        <p:spPr>
          <a:xfrm>
            <a:off x="4247388" y="4942332"/>
            <a:ext cx="3520440" cy="63093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Secondary diligence: ability to perform + economics</a:t>
            </a:r>
          </a:p>
          <a:p>
            <a:pPr>
              <a:lnSpc>
                <a:spcPct val="8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 scope; clearance; accounting system; past performance; pricing type; IP / data rights; compliance burden; concentration</a:t>
            </a:r>
          </a:p>
        </p:txBody>
      </p:sp>
      <p:cxnSp>
        <p:nvCxnSpPr>
          <p:cNvPr id="114" name="Observed to landscape"/>
          <p:cNvCxnSpPr/>
          <p:nvPr/>
        </p:nvCxnSpPr>
        <p:spPr>
          <a:xfrm>
            <a:off x="3973068" y="3204972"/>
            <a:ext cx="27432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5" name="Access to branch trunk"/>
          <p:cNvCxnSpPr/>
          <p:nvPr/>
        </p:nvCxnSpPr>
        <p:spPr>
          <a:xfrm>
            <a:off x="7767828" y="3406140"/>
            <a:ext cx="20574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6" name="Branch trunk"/>
          <p:cNvCxnSpPr/>
          <p:nvPr/>
        </p:nvCxnSpPr>
        <p:spPr>
          <a:xfrm>
            <a:off x="7973568" y="2820924"/>
            <a:ext cx="0" cy="202996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17" name="Branch to direct"/>
          <p:cNvCxnSpPr/>
          <p:nvPr/>
        </p:nvCxnSpPr>
        <p:spPr>
          <a:xfrm>
            <a:off x="7973568" y="2820924"/>
            <a:ext cx="20574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18" name="Branch to incumbent"/>
          <p:cNvCxnSpPr/>
          <p:nvPr/>
        </p:nvCxnSpPr>
        <p:spPr>
          <a:xfrm>
            <a:off x="7973568" y="4850892"/>
            <a:ext cx="20574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9" name="RouteCard"/>
          <p:cNvSpPr txBox="1"/>
          <p:nvPr/>
        </p:nvSpPr>
        <p:spPr>
          <a:xfrm>
            <a:off x="8179308" y="2180844"/>
            <a:ext cx="3520440" cy="1572768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21920" tIns="73152" rIns="121920" bIns="73152"/>
          <a:lstStyle/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to Government</a:t>
            </a:r>
          </a:p>
          <a:p>
            <a:pPr>
              <a:lnSpc>
                <a:spcPct val="8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Bid an open recompete; become a holder on an on-ramp, new pool, or vehicle recompete; enter early through OT / SBIR / BAA / CSO before the production pathway is committed.</a:t>
            </a:r>
          </a:p>
        </p:txBody>
      </p:sp>
      <p:sp>
        <p:nvSpPr>
          <p:cNvPr id="120" name="RouteCard"/>
          <p:cNvSpPr txBox="1"/>
          <p:nvPr/>
        </p:nvSpPr>
        <p:spPr>
          <a:xfrm>
            <a:off x="8179308" y="4046220"/>
            <a:ext cx="3520440" cy="15727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21920" tIns="73152" rIns="121920" bIns="73152"/>
          <a:lstStyle/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 the incumbent performance chain</a:t>
            </a:r>
          </a:p>
          <a:p>
            <a:pPr>
              <a:lnSpc>
                <a:spcPct val="8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or subcontract to a current holder; supply a closed prime or upper-tier supplier; license / integrate a separable capability; build past performance for a later direct entry.</a:t>
            </a:r>
          </a:p>
        </p:txBody>
      </p:sp>
      <p:sp>
        <p:nvSpPr>
          <p:cNvPr id="121" name="RouteChipA"/>
          <p:cNvSpPr txBox="1"/>
          <p:nvPr/>
        </p:nvSpPr>
        <p:spPr>
          <a:xfrm>
            <a:off x="8325612" y="2318004"/>
            <a:ext cx="621792" cy="2286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 A</a:t>
            </a:r>
          </a:p>
        </p:txBody>
      </p:sp>
      <p:sp>
        <p:nvSpPr>
          <p:cNvPr id="122" name="RouteChipB"/>
          <p:cNvSpPr txBox="1"/>
          <p:nvPr/>
        </p:nvSpPr>
        <p:spPr>
          <a:xfrm>
            <a:off x="8325612" y="4183380"/>
            <a:ext cx="621792" cy="2286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Strategic Contracts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Incumbent-Chain Opportunities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DDG-51 Supplier Opportunity | Prime access is committed, but each MYP block creates a predictable supplier entry window.</a:t>
            </a:r>
          </a:p>
        </p:txBody>
      </p:sp>
      <p:sp>
        <p:nvSpPr>
          <p:cNvPr id="100" name="Label"/>
          <p:cNvSpPr txBox="1"/>
          <p:nvPr/>
        </p:nvSpPr>
        <p:spPr>
          <a:xfrm>
            <a:off x="452628" y="1455725"/>
            <a:ext cx="7406640" cy="217627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18288" rIns="91440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Multiyear procurement cadence — the supplier market is datable</a:t>
            </a:r>
          </a:p>
        </p:txBody>
      </p:sp>
      <p:sp>
        <p:nvSpPr>
          <p:cNvPr id="101" name="Label"/>
          <p:cNvSpPr txBox="1"/>
          <p:nvPr/>
        </p:nvSpPr>
        <p:spPr>
          <a:xfrm>
            <a:off x="452628" y="2905049"/>
            <a:ext cx="7406640" cy="217627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18288" rIns="91440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Award-to-supplier spend timing — first-tier dollars are front-loaded</a:t>
            </a:r>
          </a:p>
        </p:txBody>
      </p:sp>
      <p:sp>
        <p:nvSpPr>
          <p:cNvPr id="102" name="Label"/>
          <p:cNvSpPr txBox="1"/>
          <p:nvPr/>
        </p:nvSpPr>
        <p:spPr>
          <a:xfrm>
            <a:off x="452628" y="4209898"/>
            <a:ext cx="7406640" cy="217627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18288" rIns="91440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Where to compete or position — entry tactic varies by ship system</a:t>
            </a:r>
          </a:p>
        </p:txBody>
      </p:sp>
      <p:sp>
        <p:nvSpPr>
          <p:cNvPr id="103" name="Label"/>
          <p:cNvSpPr txBox="1"/>
          <p:nvPr/>
        </p:nvSpPr>
        <p:spPr>
          <a:xfrm>
            <a:off x="8014716" y="1455725"/>
            <a:ext cx="3685032" cy="217627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18288" rIns="91440" bIns="18288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Award Anatomy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452628" y="1687068"/>
            <a:ext cx="7406640" cy="12344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obligations shown as HII / BIW; first-tier values are reported FFATA / SAM subawards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413309" y="3939235"/>
            <a:ext cx="7406640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Basis: mature FY13-17 and FY18-22 blocks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452628" y="6049670"/>
            <a:ext cx="7406640" cy="219456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SWBS mapping covers 81% of reported dollars; unmapped / non-Ingalls, including BIW, is $674.0M (19.5%).</a:t>
            </a:r>
          </a:p>
        </p:txBody>
      </p:sp>
      <p:sp>
        <p:nvSpPr>
          <p:cNvPr id="107" name="LegendSwatch"/>
          <p:cNvSpPr txBox="1"/>
          <p:nvPr/>
        </p:nvSpPr>
        <p:spPr>
          <a:xfrm>
            <a:off x="630022" y="1839773"/>
            <a:ext cx="1284732" cy="879653"/>
          </a:xfrm>
          <a:prstGeom prst="rect">
            <a:avLst/>
          </a:prstGeom>
          <a:solidFill>
            <a:srgbClr val="FFFFFF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8" name="LegendSwatch"/>
          <p:cNvSpPr txBox="1"/>
          <p:nvPr/>
        </p:nvSpPr>
        <p:spPr>
          <a:xfrm>
            <a:off x="2029054" y="1839773"/>
            <a:ext cx="1284732" cy="879653"/>
          </a:xfrm>
          <a:prstGeom prst="rect">
            <a:avLst/>
          </a:prstGeom>
          <a:solidFill>
            <a:srgbClr val="FFFFFF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09" name="LegendSwatch"/>
          <p:cNvSpPr txBox="1"/>
          <p:nvPr/>
        </p:nvSpPr>
        <p:spPr>
          <a:xfrm>
            <a:off x="3428086" y="1839773"/>
            <a:ext cx="1284732" cy="879653"/>
          </a:xfrm>
          <a:prstGeom prst="rect">
            <a:avLst/>
          </a:prstGeom>
          <a:solidFill>
            <a:srgbClr val="FFFFFF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0" name="LegendSwatch"/>
          <p:cNvSpPr txBox="1"/>
          <p:nvPr/>
        </p:nvSpPr>
        <p:spPr>
          <a:xfrm>
            <a:off x="4827118" y="1839773"/>
            <a:ext cx="1284732" cy="879653"/>
          </a:xfrm>
          <a:prstGeom prst="rect">
            <a:avLst/>
          </a:prstGeom>
          <a:solidFill>
            <a:srgbClr val="CEDDEC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1" name="LegendSwatch"/>
          <p:cNvSpPr txBox="1"/>
          <p:nvPr/>
        </p:nvSpPr>
        <p:spPr>
          <a:xfrm>
            <a:off x="6226150" y="1839773"/>
            <a:ext cx="1284732" cy="879653"/>
          </a:xfrm>
          <a:prstGeom prst="rect">
            <a:avLst/>
          </a:prstGeom>
          <a:solidFill>
            <a:srgbClr val="DFE7EB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2" name="Label"/>
          <p:cNvSpPr txBox="1"/>
          <p:nvPr/>
        </p:nvSpPr>
        <p:spPr>
          <a:xfrm>
            <a:off x="630022" y="1839773"/>
            <a:ext cx="1284732" cy="211226"/>
          </a:xfrm>
          <a:prstGeom prst="rect">
            <a:avLst/>
          </a:prstGeom>
          <a:solidFill>
            <a:srgbClr val="364D6E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FY13-17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2029054" y="1839773"/>
            <a:ext cx="1284732" cy="211226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FY18-22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3428086" y="1839773"/>
            <a:ext cx="1284732" cy="211226"/>
          </a:xfrm>
          <a:prstGeom prst="rect">
            <a:avLst/>
          </a:prstGeom>
          <a:solidFill>
            <a:srgbClr val="447BB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FY23-27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4827118" y="1839773"/>
            <a:ext cx="1284732" cy="211226"/>
          </a:xfrm>
          <a:prstGeom prst="rect">
            <a:avLst/>
          </a:prstGeom>
          <a:solidFill>
            <a:srgbClr val="007770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FY28-32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6226150" y="1839773"/>
            <a:ext cx="1284732" cy="211226"/>
          </a:xfrm>
          <a:prstGeom prst="rect">
            <a:avLst/>
          </a:prstGeom>
          <a:solidFill>
            <a:srgbClr val="0E1924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Chain total</a:t>
            </a:r>
          </a:p>
        </p:txBody>
      </p:sp>
      <p:sp>
        <p:nvSpPr>
          <p:cNvPr id="117" name="MYP Card Body"/>
          <p:cNvSpPr txBox="1"/>
          <p:nvPr/>
        </p:nvSpPr>
        <p:spPr>
          <a:xfrm>
            <a:off x="671170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Awarded 2013-06-03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$3.35B / $4.93B</a:t>
            </a:r>
            <a:br/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$942.3M first-tier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320 suppliers</a:t>
            </a:r>
          </a:p>
        </p:txBody>
      </p:sp>
      <p:sp>
        <p:nvSpPr>
          <p:cNvPr id="118" name="MYP Card Body"/>
          <p:cNvSpPr txBox="1"/>
          <p:nvPr/>
        </p:nvSpPr>
        <p:spPr>
          <a:xfrm>
            <a:off x="2070202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Awarded 2018-09-27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$6.83B / $5.34B</a:t>
            </a:r>
            <a:br/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$1,327.2M first-tier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344 suppliers</a:t>
            </a:r>
          </a:p>
        </p:txBody>
      </p:sp>
      <p:sp>
        <p:nvSpPr>
          <p:cNvPr id="119" name="MYP Card Body"/>
          <p:cNvSpPr txBox="1"/>
          <p:nvPr/>
        </p:nvSpPr>
        <p:spPr>
          <a:xfrm>
            <a:off x="3469234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Awarded 2023-08-01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$6.95B / $5.03B</a:t>
            </a:r>
            <a:br/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$1,144.6M first-tier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89 suppliers</a:t>
            </a:r>
          </a:p>
        </p:txBody>
      </p:sp>
      <p:sp>
        <p:nvSpPr>
          <p:cNvPr id="120" name="MYP Card Body"/>
          <p:cNvSpPr txBox="1"/>
          <p:nvPr/>
        </p:nvSpPr>
        <p:spPr>
          <a:xfrm>
            <a:off x="4868266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Expected ~2028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yet awarded</a:t>
            </a:r>
            <a:br/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sourcing cycle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2028-31 window</a:t>
            </a:r>
          </a:p>
        </p:txBody>
      </p:sp>
      <p:sp>
        <p:nvSpPr>
          <p:cNvPr id="121" name="MYP Card Body"/>
          <p:cNvSpPr txBox="1"/>
          <p:nvPr/>
        </p:nvSpPr>
        <p:spPr>
          <a:xfrm>
            <a:off x="6267298" y="2082089"/>
            <a:ext cx="1202436" cy="59161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incl. FY11 buy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layer shown above</a:t>
            </a:r>
            <a:br/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$3,465.8M first-tier</a:t>
            </a:r>
            <a:br/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521 suppliers</a:t>
            </a:r>
          </a:p>
        </p:txBody>
      </p:sp>
      <p:sp>
        <p:nvSpPr>
          <p:cNvPr id="122" name="Spend Axis"/>
          <p:cNvSpPr txBox="1"/>
          <p:nvPr/>
        </p:nvSpPr>
        <p:spPr>
          <a:xfrm>
            <a:off x="516636" y="3168396"/>
            <a:ext cx="6062472" cy="128016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of reported first-tier subaward dollars by years after prime award</a:t>
            </a:r>
          </a:p>
        </p:txBody>
      </p:sp>
      <p:sp>
        <p:nvSpPr>
          <p:cNvPr id="123" name="Spend Segment"/>
          <p:cNvSpPr txBox="1"/>
          <p:nvPr/>
        </p:nvSpPr>
        <p:spPr>
          <a:xfrm>
            <a:off x="516636" y="3311042"/>
            <a:ext cx="2048256" cy="365760"/>
          </a:xfrm>
          <a:prstGeom prst="rect">
            <a:avLst/>
          </a:prstGeom>
          <a:solidFill>
            <a:srgbClr val="364D6E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Award yr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26%</a:t>
            </a:r>
          </a:p>
        </p:txBody>
      </p:sp>
      <p:sp>
        <p:nvSpPr>
          <p:cNvPr id="124" name="Label"/>
          <p:cNvSpPr txBox="1"/>
          <p:nvPr/>
        </p:nvSpPr>
        <p:spPr>
          <a:xfrm>
            <a:off x="516636" y="3704234"/>
            <a:ext cx="2048256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26%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2564892" y="3704234"/>
            <a:ext cx="1260043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42%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3824935" y="3704234"/>
            <a:ext cx="1181405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58%</a:t>
            </a:r>
          </a:p>
        </p:txBody>
      </p:sp>
      <p:sp>
        <p:nvSpPr>
          <p:cNvPr id="127" name="Label"/>
          <p:cNvSpPr txBox="1"/>
          <p:nvPr/>
        </p:nvSpPr>
        <p:spPr>
          <a:xfrm>
            <a:off x="5007254" y="3704234"/>
            <a:ext cx="866851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69%</a:t>
            </a:r>
          </a:p>
        </p:txBody>
      </p:sp>
      <p:sp>
        <p:nvSpPr>
          <p:cNvPr id="128" name="Label"/>
          <p:cNvSpPr txBox="1"/>
          <p:nvPr/>
        </p:nvSpPr>
        <p:spPr>
          <a:xfrm>
            <a:off x="5873191" y="3704234"/>
            <a:ext cx="788213" cy="146304"/>
          </a:xfrm>
          <a:prstGeom prst="rect">
            <a:avLst/>
          </a:prstGeom>
          <a:noFill/>
          <a:ln>
            <a:noFill/>
          </a:ln>
        </p:spPr>
        <p:txBody>
          <a:bodyPr wrap="none" anchor="ctr" lIns="91440" tIns="0" rIns="91440" bIns="0"/>
          <a:lstStyle/>
          <a:p>
            <a:pPr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cum. 79%</a:t>
            </a:r>
          </a:p>
        </p:txBody>
      </p:sp>
      <p:sp>
        <p:nvSpPr>
          <p:cNvPr id="129" name="Spend Segment"/>
          <p:cNvSpPr txBox="1"/>
          <p:nvPr/>
        </p:nvSpPr>
        <p:spPr>
          <a:xfrm>
            <a:off x="2564892" y="3311042"/>
            <a:ext cx="1260043" cy="365760"/>
          </a:xfrm>
          <a:prstGeom prst="rect">
            <a:avLst/>
          </a:prstGeom>
          <a:solidFill>
            <a:srgbClr val="4C6C9C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+1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130" name="Spend Segment"/>
          <p:cNvSpPr txBox="1"/>
          <p:nvPr/>
        </p:nvSpPr>
        <p:spPr>
          <a:xfrm>
            <a:off x="3824935" y="3311042"/>
            <a:ext cx="1181405" cy="365760"/>
          </a:xfrm>
          <a:prstGeom prst="rect">
            <a:avLst/>
          </a:prstGeom>
          <a:solidFill>
            <a:srgbClr val="447BB2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+2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31" name="Spend Segment"/>
          <p:cNvSpPr txBox="1"/>
          <p:nvPr/>
        </p:nvSpPr>
        <p:spPr>
          <a:xfrm>
            <a:off x="5007254" y="3311042"/>
            <a:ext cx="866851" cy="365760"/>
          </a:xfrm>
          <a:prstGeom prst="rect">
            <a:avLst/>
          </a:prstGeom>
          <a:solidFill>
            <a:srgbClr val="6F8DB9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+3</a:t>
            </a:r>
            <a:br/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11%</a:t>
            </a:r>
          </a:p>
        </p:txBody>
      </p:sp>
      <p:sp>
        <p:nvSpPr>
          <p:cNvPr id="132" name="Spend Segment"/>
          <p:cNvSpPr txBox="1"/>
          <p:nvPr/>
        </p:nvSpPr>
        <p:spPr>
          <a:xfrm>
            <a:off x="5873191" y="3311042"/>
            <a:ext cx="788213" cy="365760"/>
          </a:xfrm>
          <a:prstGeom prst="rect">
            <a:avLst/>
          </a:prstGeom>
          <a:solidFill>
            <a:srgbClr val="CEDDEC"/>
          </a:solidFill>
          <a:ln w="6350">
            <a:solidFill>
              <a:srgbClr val="FFFFFF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+4</a:t>
            </a:r>
            <a:br/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133" name="Spend Callout"/>
          <p:cNvSpPr txBox="1"/>
          <p:nvPr/>
        </p:nvSpPr>
        <p:spPr>
          <a:xfrm>
            <a:off x="6716268" y="3212287"/>
            <a:ext cx="1188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7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7770"/>
                </a:solidFill>
                <a:latin typeface="Arial"/>
                <a:ea typeface="Arial"/>
                <a:cs typeface="Arial"/>
              </a:rPr>
              <a:t>≈80%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within four years</a:t>
            </a:r>
          </a:p>
        </p:txBody>
      </p:sp>
      <p:graphicFrame>
        <p:nvGraphicFramePr>
          <p:cNvPr id="134" name="System Concentration Table"/>
          <p:cNvGraphicFramePr>
            <a:graphicFrameLocks noGrp="1"/>
          </p:cNvGraphicFramePr>
          <p:nvPr/>
        </p:nvGraphicFramePr>
        <p:xfrm>
          <a:off x="452628" y="4536338"/>
          <a:ext cx="7406640" cy="14630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98448"/>
                <a:gridCol w="914400"/>
                <a:gridCol w="1947672"/>
                <a:gridCol w="3246120"/>
              </a:tblGrid>
              <a:tr h="365760"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 system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Reported dollars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structure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Entry read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Auxiliary systems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$947.5M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90 suppliers; top vendor 15.9%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Fragmented work where another qualified supplier can compete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 plant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$750.8M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 suppliers; Rolls-Royce 42.6%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Second-source qualification or teaming around supplier risk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Propulsion plant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$957.9M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 suppliers; General Electric 34.7%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Incumbent-led work to monitor for second-source or partner openings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Award Anatomy Table"/>
          <p:cNvGraphicFramePr>
            <a:graphicFrameLocks noGrp="1"/>
          </p:cNvGraphicFramePr>
          <p:nvPr/>
        </p:nvGraphicFramePr>
        <p:xfrm>
          <a:off x="8014716" y="1730045"/>
          <a:ext cx="3685032" cy="40233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932688"/>
                <a:gridCol w="1362456"/>
                <a:gridCol w="1389888"/>
              </a:tblGrid>
              <a:tr h="274320"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Attribute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DDG-51 read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b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Relevance</a:t>
                      </a:r>
                    </a:p>
                  </a:txBody>
                  <a:tcPr marL="45720" marR="45720" marT="45720" marB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Instrument / award structure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Definitive MYP production contracts; dual-source prime structure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prime access is effectively committed for the block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Competition / holder set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Huntington Ingalls and Bath Iron Works are established primes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New entry is through qualification, teaming, or upper-tier integration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Timing trigger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MYP awards in 2013, 2018, 2023; FY28-32 expected ~2028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Dates the next supplier sourcing wave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Obligated amount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obligations by shipyard; $3.47B reported first-tier subawards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Measures the scale of the visible supplier 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Ceiling / potential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N/A — definitive MYP, not an IDIQ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Avoids forcing an IDV ceiling metric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TAS / appropriation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Shipbuilding and Conversion, Navy, 017-1611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Confirms shipbuilding procurement funding context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Route to revenue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Through the incumbent performance chain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Qualify before FY28-32 supplier demand is sourced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Reporting Caveat"/>
          <p:cNvSpPr txBox="1"/>
          <p:nvPr/>
        </p:nvSpPr>
        <p:spPr>
          <a:xfrm>
            <a:off x="8014716" y="5807354"/>
            <a:ext cx="3685032" cy="455371"/>
          </a:xfrm>
          <a:prstGeom prst="rect">
            <a:avLst/>
          </a:prstGeom>
          <a:solidFill>
            <a:srgbClr val="DFE7EB"/>
          </a:solidFill>
          <a:ln w="635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caveat: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first-tier reporting is a floor. It lags 6–18 months and under-reports some prime supply chains.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Strategic Contracts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Vehicle-Gated Access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Army Watercraft Ship-Repair Pool | Holder-gated IDIQ access shifts direct entry to the successor vehicle.</a:t>
            </a:r>
          </a:p>
        </p:txBody>
      </p:sp>
      <p:sp>
        <p:nvSpPr>
          <p:cNvPr id="100" name="Timeline Header"/>
          <p:cNvSpPr txBox="1"/>
          <p:nvPr/>
        </p:nvSpPr>
        <p:spPr>
          <a:xfrm>
            <a:off x="452628" y="1385316"/>
            <a:ext cx="6419088" cy="210312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Dated on-ramp: contract data may indicate recompete opportunity</a:t>
            </a:r>
          </a:p>
        </p:txBody>
      </p:sp>
      <p:cxnSp>
        <p:nvCxnSpPr>
          <p:cNvPr id="101" name="Timeline Header Rule"/>
          <p:cNvCxnSpPr/>
          <p:nvPr/>
        </p:nvCxnSpPr>
        <p:spPr>
          <a:xfrm>
            <a:off x="452628" y="1592885"/>
            <a:ext cx="6419088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2" name="Date Certainty Label"/>
          <p:cNvSpPr txBox="1"/>
          <p:nvPr/>
        </p:nvSpPr>
        <p:spPr>
          <a:xfrm>
            <a:off x="3908146" y="178308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223E59"/>
                </a:solidFill>
                <a:latin typeface="Arial"/>
                <a:ea typeface="Arial"/>
                <a:cs typeface="Arial"/>
              </a:rPr>
              <a:t>DATE-CERTAIN</a:t>
            </a:r>
          </a:p>
        </p:txBody>
      </p:sp>
      <p:sp>
        <p:nvSpPr>
          <p:cNvPr id="103" name="Inference Label"/>
          <p:cNvSpPr txBox="1"/>
          <p:nvPr/>
        </p:nvSpPr>
        <p:spPr>
          <a:xfrm>
            <a:off x="6095390" y="178308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7770"/>
                </a:solidFill>
                <a:latin typeface="Arial"/>
                <a:ea typeface="Arial"/>
                <a:cs typeface="Arial"/>
              </a:rPr>
              <a:t>INFERRED</a:t>
            </a:r>
          </a:p>
        </p:txBody>
      </p:sp>
      <p:sp>
        <p:nvSpPr>
          <p:cNvPr id="104" name="Order Activity Band"/>
          <p:cNvSpPr txBox="1"/>
          <p:nvPr/>
        </p:nvSpPr>
        <p:spPr>
          <a:xfrm>
            <a:off x="1165860" y="2029968"/>
            <a:ext cx="36118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Active Ordering Period</a:t>
            </a:r>
            <a:br/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74 delivery orders  |  $416.8M realized</a:t>
            </a:r>
          </a:p>
        </p:txBody>
      </p:sp>
      <p:sp>
        <p:nvSpPr>
          <p:cNvPr id="105" name="Open Turnover Band"/>
          <p:cNvSpPr txBox="1"/>
          <p:nvPr/>
        </p:nvSpPr>
        <p:spPr>
          <a:xfrm>
            <a:off x="4777740" y="2029968"/>
            <a:ext cx="1691640" cy="713232"/>
          </a:xfrm>
          <a:prstGeom prst="rect">
            <a:avLst/>
          </a:prstGeom>
          <a:solidFill>
            <a:srgbClr val="DCEFE8"/>
          </a:solidFill>
          <a:ln w="12700">
            <a:solidFill>
              <a:srgbClr val="007770"/>
            </a:solidFill>
            <a:prstDash val="dash"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7770"/>
                </a:solidFill>
                <a:latin typeface="Arial"/>
                <a:ea typeface="Arial"/>
                <a:cs typeface="Arial"/>
              </a:rPr>
              <a:t>Open Turnover</a:t>
            </a:r>
            <a:br/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  <a:r>
              <a:rPr lang="en-US" sz="10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uccessor not seen</a:t>
            </a:r>
          </a:p>
        </p:txBody>
      </p:sp>
      <p:cxnSp>
        <p:nvCxnSpPr>
          <p:cNvPr id="106" name="Ordering Period Rule"/>
          <p:cNvCxnSpPr/>
          <p:nvPr/>
        </p:nvCxnSpPr>
        <p:spPr>
          <a:xfrm>
            <a:off x="1097280" y="3246120"/>
            <a:ext cx="361188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cxnSp>
        <p:nvCxnSpPr>
          <p:cNvPr id="107" name="Turnover Window Rule"/>
          <p:cNvCxnSpPr/>
          <p:nvPr/>
        </p:nvCxnSpPr>
        <p:spPr>
          <a:xfrm>
            <a:off x="4709160" y="3246120"/>
            <a:ext cx="1691640" cy="0"/>
          </a:xfrm>
          <a:prstGeom prst="line">
            <a:avLst/>
          </a:prstGeom>
          <a:ln w="19050">
            <a:solidFill>
              <a:srgbClr val="007770"/>
            </a:solidFill>
            <a:prstDash val="dash"/>
            <a:tailEnd type="triangle" w="med" len="med"/>
          </a:ln>
        </p:spPr>
      </p:cxnSp>
      <p:cxnSp>
        <p:nvCxnSpPr>
          <p:cNvPr id="108" name="Milestone Tick"/>
          <p:cNvCxnSpPr/>
          <p:nvPr/>
        </p:nvCxnSpPr>
        <p:spPr>
          <a:xfrm>
            <a:off x="1170432" y="2852928"/>
            <a:ext cx="0" cy="74980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9" name="LegendSwatch"/>
          <p:cNvSpPr txBox="1"/>
          <p:nvPr/>
        </p:nvSpPr>
        <p:spPr>
          <a:xfrm>
            <a:off x="1097280" y="3172968"/>
            <a:ext cx="146304" cy="14630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0" name="LegendSwatch"/>
          <p:cNvSpPr txBox="1"/>
          <p:nvPr/>
        </p:nvSpPr>
        <p:spPr>
          <a:xfrm>
            <a:off x="4709160" y="3172968"/>
            <a:ext cx="146304" cy="146304"/>
          </a:xfrm>
          <a:prstGeom prst="ellipse">
            <a:avLst/>
          </a:prstGeom>
          <a:solidFill>
            <a:srgbClr val="223E59"/>
          </a:solidFill>
          <a:ln w="12700">
            <a:solidFill>
              <a:srgbClr val="223E5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1" name="LegendSwatch"/>
          <p:cNvSpPr txBox="1"/>
          <p:nvPr/>
        </p:nvSpPr>
        <p:spPr>
          <a:xfrm>
            <a:off x="6400800" y="3172968"/>
            <a:ext cx="146304" cy="146304"/>
          </a:xfrm>
          <a:prstGeom prst="ellipse">
            <a:avLst/>
          </a:prstGeom>
          <a:solidFill>
            <a:srgbClr val="007770"/>
          </a:solidFill>
          <a:ln w="12700">
            <a:solidFill>
              <a:srgbClr val="007770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12" name="Milestone Date"/>
          <p:cNvSpPr txBox="1"/>
          <p:nvPr/>
        </p:nvSpPr>
        <p:spPr>
          <a:xfrm>
            <a:off x="777240" y="3639312"/>
            <a:ext cx="786384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2021-01-27</a:t>
            </a:r>
          </a:p>
        </p:txBody>
      </p:sp>
      <p:sp>
        <p:nvSpPr>
          <p:cNvPr id="113" name="Label"/>
          <p:cNvSpPr txBox="1"/>
          <p:nvPr/>
        </p:nvSpPr>
        <p:spPr>
          <a:xfrm>
            <a:off x="621792" y="384048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Ordering period starts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4233672" y="384048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 last date to order
(all 14 vehicles)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5925312" y="384048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successor visible
in available data</a:t>
            </a:r>
          </a:p>
        </p:txBody>
      </p:sp>
      <p:cxnSp>
        <p:nvCxnSpPr>
          <p:cNvPr id="116" name="Milestone Tick"/>
          <p:cNvCxnSpPr/>
          <p:nvPr/>
        </p:nvCxnSpPr>
        <p:spPr>
          <a:xfrm>
            <a:off x="4782312" y="2852928"/>
            <a:ext cx="0" cy="749808"/>
          </a:xfrm>
          <a:prstGeom prst="line">
            <a:avLst/>
          </a:prstGeom>
          <a:ln w="12700">
            <a:solidFill>
              <a:srgbClr val="223E59"/>
            </a:solidFill>
          </a:ln>
        </p:spPr>
      </p:cxnSp>
      <p:sp>
        <p:nvSpPr>
          <p:cNvPr id="117" name="Milestone Date"/>
          <p:cNvSpPr txBox="1"/>
          <p:nvPr/>
        </p:nvSpPr>
        <p:spPr>
          <a:xfrm>
            <a:off x="4389120" y="3639312"/>
            <a:ext cx="786384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3E59"/>
                </a:solidFill>
                <a:latin typeface="Arial"/>
                <a:ea typeface="Arial"/>
                <a:cs typeface="Arial"/>
              </a:rPr>
              <a:t>2026-01-25</a:t>
            </a:r>
          </a:p>
        </p:txBody>
      </p:sp>
      <p:cxnSp>
        <p:nvCxnSpPr>
          <p:cNvPr id="118" name="Milestone Tick"/>
          <p:cNvCxnSpPr/>
          <p:nvPr/>
        </p:nvCxnSpPr>
        <p:spPr>
          <a:xfrm>
            <a:off x="6473952" y="2852928"/>
            <a:ext cx="0" cy="749808"/>
          </a:xfrm>
          <a:prstGeom prst="line">
            <a:avLst/>
          </a:prstGeom>
          <a:ln w="12700">
            <a:solidFill>
              <a:srgbClr val="007770"/>
            </a:solidFill>
          </a:ln>
        </p:spPr>
      </p:cxnSp>
      <p:sp>
        <p:nvSpPr>
          <p:cNvPr id="119" name="Milestone Date"/>
          <p:cNvSpPr txBox="1"/>
          <p:nvPr/>
        </p:nvSpPr>
        <p:spPr>
          <a:xfrm>
            <a:off x="6080760" y="3639312"/>
            <a:ext cx="786384" cy="2103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45720" rIns="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770"/>
                </a:solidFill>
                <a:latin typeface="Arial"/>
                <a:ea typeface="Arial"/>
                <a:cs typeface="Arial"/>
              </a:rPr>
              <a:t>2026-06-24</a:t>
            </a:r>
          </a:p>
        </p:txBody>
      </p:sp>
      <p:sp>
        <p:nvSpPr>
          <p:cNvPr id="120" name="Subpool Caption"/>
          <p:cNvSpPr txBox="1"/>
          <p:nvPr/>
        </p:nvSpPr>
        <p:spPr>
          <a:xfrm>
            <a:off x="452628" y="4497934"/>
            <a:ext cx="6419088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regional sub-pools</a:t>
            </a:r>
          </a:p>
        </p:txBody>
      </p:sp>
      <p:sp>
        <p:nvSpPr>
          <p:cNvPr id="121" name="LegendSwatch"/>
          <p:cNvSpPr txBox="1"/>
          <p:nvPr/>
        </p:nvSpPr>
        <p:spPr>
          <a:xfrm>
            <a:off x="452628" y="4717390"/>
            <a:ext cx="2048256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2" name="LegendSwatch"/>
          <p:cNvSpPr txBox="1"/>
          <p:nvPr/>
        </p:nvSpPr>
        <p:spPr>
          <a:xfrm>
            <a:off x="2638044" y="4717390"/>
            <a:ext cx="2048256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3" name="LegendSwatch"/>
          <p:cNvSpPr txBox="1"/>
          <p:nvPr/>
        </p:nvSpPr>
        <p:spPr>
          <a:xfrm>
            <a:off x="4823460" y="4717390"/>
            <a:ext cx="2048256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162029"/>
            </a:solidFill>
          </a:ln>
        </p:spPr>
        <p:txBody>
          <a:bodyPr wrap="square" anchor="t" lIns="91440" tIns="45720" rIns="91440" bIns="45720"/>
          <a:lstStyle/>
          <a:p>
            <a:pPr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124" name="Label"/>
          <p:cNvSpPr txBox="1"/>
          <p:nvPr/>
        </p:nvSpPr>
        <p:spPr>
          <a:xfrm>
            <a:off x="498348" y="4763110"/>
            <a:ext cx="1956816" cy="274320"/>
          </a:xfrm>
          <a:prstGeom prst="rect">
            <a:avLst/>
          </a:prstGeom>
          <a:solidFill>
            <a:srgbClr val="223E5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CONUS</a:t>
            </a:r>
          </a:p>
        </p:txBody>
      </p:sp>
      <p:sp>
        <p:nvSpPr>
          <p:cNvPr id="125" name="Label"/>
          <p:cNvSpPr txBox="1"/>
          <p:nvPr/>
        </p:nvSpPr>
        <p:spPr>
          <a:xfrm>
            <a:off x="2683764" y="4763110"/>
            <a:ext cx="1956816" cy="274320"/>
          </a:xfrm>
          <a:prstGeom prst="rect">
            <a:avLst/>
          </a:prstGeom>
          <a:solidFill>
            <a:srgbClr val="447BB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Japan / Korea</a:t>
            </a:r>
          </a:p>
        </p:txBody>
      </p:sp>
      <p:sp>
        <p:nvSpPr>
          <p:cNvPr id="126" name="Label"/>
          <p:cNvSpPr txBox="1"/>
          <p:nvPr/>
        </p:nvSpPr>
        <p:spPr>
          <a:xfrm>
            <a:off x="4869180" y="4763110"/>
            <a:ext cx="1956816" cy="274320"/>
          </a:xfrm>
          <a:prstGeom prst="rect">
            <a:avLst/>
          </a:prstGeom>
          <a:solidFill>
            <a:srgbClr val="6F8DB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Forward OCONUS</a:t>
            </a:r>
          </a:p>
        </p:txBody>
      </p:sp>
      <p:sp>
        <p:nvSpPr>
          <p:cNvPr id="127" name="Subpool Body"/>
          <p:cNvSpPr txBox="1"/>
          <p:nvPr/>
        </p:nvSpPr>
        <p:spPr>
          <a:xfrm>
            <a:off x="452628" y="5101438"/>
            <a:ext cx="2048256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W56HZV20RL807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$281.7M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obligated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$529.0M ceiling (shared)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seats</a:t>
            </a:r>
            <a:r>
              <a:rPr lang="en-US" sz="95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  ·  </a:t>
            </a: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 orders</a:t>
            </a:r>
          </a:p>
        </p:txBody>
      </p:sp>
      <p:sp>
        <p:nvSpPr>
          <p:cNvPr id="128" name="Subpool Body"/>
          <p:cNvSpPr txBox="1"/>
          <p:nvPr/>
        </p:nvSpPr>
        <p:spPr>
          <a:xfrm>
            <a:off x="2638044" y="5101438"/>
            <a:ext cx="2048256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W56HZV20RL806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$123.2M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obligated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$216.0M ceiling (shared)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seats</a:t>
            </a:r>
            <a:r>
              <a:rPr lang="en-US" sz="95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  ·  </a:t>
            </a: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 orders</a:t>
            </a:r>
          </a:p>
        </p:txBody>
      </p:sp>
      <p:sp>
        <p:nvSpPr>
          <p:cNvPr id="129" name="Subpool Body"/>
          <p:cNvSpPr txBox="1"/>
          <p:nvPr/>
        </p:nvSpPr>
        <p:spPr>
          <a:xfrm>
            <a:off x="4823460" y="5101438"/>
            <a:ext cx="2048256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W56HZV20RL805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$11.9M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obligated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$186.0M ceiling (shared)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seats</a:t>
            </a:r>
            <a:r>
              <a:rPr lang="en-US" sz="950" dirty="0">
                <a:solidFill>
                  <a:srgbClr val="808080"/>
                </a:solidFill>
                <a:latin typeface="Arial"/>
                <a:ea typeface="Arial"/>
                <a:cs typeface="Arial"/>
              </a:rPr>
              <a:t>  ·  </a:t>
            </a: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 orders</a:t>
            </a:r>
          </a:p>
        </p:txBody>
      </p:sp>
      <p:sp>
        <p:nvSpPr>
          <p:cNvPr id="130" name="Award Anatomy Title"/>
          <p:cNvSpPr txBox="1"/>
          <p:nvPr/>
        </p:nvSpPr>
        <p:spPr>
          <a:xfrm>
            <a:off x="7072884" y="1385316"/>
            <a:ext cx="4654296" cy="182880"/>
          </a:xfrm>
          <a:prstGeom prst="rect">
            <a:avLst/>
          </a:prstGeom>
          <a:noFill/>
          <a:ln>
            <a:noFill/>
          </a:ln>
        </p:spPr>
        <p:txBody>
          <a:bodyPr wrap="none" anchor="b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 Anatomy</a:t>
            </a:r>
          </a:p>
        </p:txBody>
      </p:sp>
      <p:graphicFrame>
        <p:nvGraphicFramePr>
          <p:cNvPr id="131" name="Award Anatomy Table"/>
          <p:cNvGraphicFramePr>
            <a:graphicFrameLocks noGrp="1"/>
          </p:cNvGraphicFramePr>
          <p:nvPr/>
        </p:nvGraphicFramePr>
        <p:xfrm>
          <a:off x="7072884" y="1600200"/>
          <a:ext cx="4654296" cy="379476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024128"/>
                <a:gridCol w="1920240"/>
                <a:gridCol w="1709928"/>
              </a:tblGrid>
              <a:tr h="27432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Attribute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Army watercraft read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Relevance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62029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Instrument / award structure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Multiple-award IDIQ / IDC for non-nuclear ship repair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access is limited to vehicle holders during the ordering period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Competition / holder set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Full-and-open parent competition; 14 holder vehicles across 10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New entrants compete for a seat at the successor pool or on-ramp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Timing trigger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Last date to order: January 25, 2026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Dates the entry window more precisely than a generic recompete estimate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Obligated amount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$416.8M across 74 delivery orders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Measures realized demand; this is the summable dollar measure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Ceiling / potential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$529.0M, $216.0M, and $186.0M regional ceilings shared within each sub-pool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Shows capacity without overstating revenue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TAS / appropriation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021-2020 O&amp;M, Army; 021-2035 Other Procurement, Army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Confirms sustainment / procurement funding context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Route to revenue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to Government at successor holder selection; incumbent-chain route in the interim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Bid the successor pool; subcontract or team with current holders before award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2" name="Right Brace 4"/>
          <p:cNvSpPr txBox="1"/>
          <p:nvPr/>
        </p:nvSpPr>
        <p:spPr>
          <a:xfrm rot="16200000">
            <a:off x="3455518" y="1020470"/>
            <a:ext cx="438912" cy="6583680"/>
          </a:xfrm>
          <a:prstGeom prst="rightBrace">
            <a:avLst>
              <a:gd name="adj1" fmla="val 6721"/>
              <a:gd name="adj2" fmla="val 39391"/>
            </a:avLst>
          </a:prstGeom>
          <a:noFill/>
          <a:ln w="12700">
            <a:solidFill>
              <a:srgbClr val="162029"/>
            </a:solidFill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endParaRPr lang="en-US"/>
          </a:p>
        </p:txBody>
      </p:sp>
      <p:cxnSp>
        <p:nvCxnSpPr>
          <p:cNvPr id="133" name="Straight Connector 9"/>
          <p:cNvCxnSpPr/>
          <p:nvPr/>
        </p:nvCxnSpPr>
        <p:spPr>
          <a:xfrm>
            <a:off x="2971800" y="2743200"/>
            <a:ext cx="4572" cy="1349654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Sources and Validation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Award Data Sourcing | SAM.gov Contract Awards anchors the pull; funding and subaward layers enrich it, and validation precedes any total.</a:t>
            </a:r>
          </a:p>
        </p:txBody>
      </p:sp>
      <p:sp>
        <p:nvSpPr>
          <p:cNvPr id="100" name="LegendSwatch"/>
          <p:cNvSpPr txBox="1"/>
          <p:nvPr/>
        </p:nvSpPr>
        <p:spPr>
          <a:xfrm>
            <a:off x="452628" y="1602029"/>
            <a:ext cx="2423160" cy="1746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1" name="LegendSwatch"/>
          <p:cNvSpPr txBox="1"/>
          <p:nvPr/>
        </p:nvSpPr>
        <p:spPr>
          <a:xfrm>
            <a:off x="2875788" y="1602029"/>
            <a:ext cx="4572000" cy="1746504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2" name="LegendSwatch"/>
          <p:cNvSpPr txBox="1"/>
          <p:nvPr/>
        </p:nvSpPr>
        <p:spPr>
          <a:xfrm>
            <a:off x="7447788" y="1602029"/>
            <a:ext cx="1417320" cy="1746504"/>
          </a:xfrm>
          <a:prstGeom prst="rect">
            <a:avLst/>
          </a:prstGeom>
          <a:solidFill>
            <a:srgbClr val="B6C8D8"/>
          </a:solidFill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3" name="Label"/>
          <p:cNvSpPr txBox="1"/>
          <p:nvPr/>
        </p:nvSpPr>
        <p:spPr>
          <a:xfrm>
            <a:off x="525780" y="1602029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2948940" y="1602029"/>
            <a:ext cx="685800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ENRICH</a:t>
            </a:r>
          </a:p>
        </p:txBody>
      </p:sp>
      <p:sp>
        <p:nvSpPr>
          <p:cNvPr id="105" name="Label"/>
          <p:cNvSpPr txBox="1"/>
          <p:nvPr/>
        </p:nvSpPr>
        <p:spPr>
          <a:xfrm>
            <a:off x="7520940" y="1602029"/>
            <a:ext cx="804672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9258300" y="1602029"/>
            <a:ext cx="685800" cy="128016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07" name="ModernBaseNote"/>
          <p:cNvSpPr txBox="1"/>
          <p:nvPr/>
        </p:nvSpPr>
        <p:spPr>
          <a:xfrm>
            <a:off x="562356" y="1766621"/>
            <a:ext cx="2176272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36576" bIns="0"/>
          <a:lstStyle/>
          <a:p>
            <a:pPr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modern base pull is SAM.gov Contract Awards.</a:t>
            </a:r>
          </a:p>
          <a:p>
            <a:pPr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FPDS remains useful for legacy lineage and per-action validation; the workflow does not depend on a feed slated to retire in FY2026.</a:t>
            </a:r>
          </a:p>
        </p:txBody>
      </p:sp>
      <p:sp>
        <p:nvSpPr>
          <p:cNvPr id="108" name="ValueLabel"/>
          <p:cNvSpPr txBox="1"/>
          <p:nvPr/>
        </p:nvSpPr>
        <p:spPr>
          <a:xfrm>
            <a:off x="3086100" y="1868119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9" name="ValueLabel"/>
          <p:cNvSpPr txBox="1"/>
          <p:nvPr/>
        </p:nvSpPr>
        <p:spPr>
          <a:xfrm>
            <a:off x="4201668" y="1868119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0" name="ValueLabel"/>
          <p:cNvSpPr txBox="1"/>
          <p:nvPr/>
        </p:nvSpPr>
        <p:spPr>
          <a:xfrm>
            <a:off x="5317236" y="1868119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1" name="ValueLabel"/>
          <p:cNvSpPr txBox="1"/>
          <p:nvPr/>
        </p:nvSpPr>
        <p:spPr>
          <a:xfrm>
            <a:off x="6432804" y="1868119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2" name="ValueLabel"/>
          <p:cNvSpPr txBox="1"/>
          <p:nvPr/>
        </p:nvSpPr>
        <p:spPr>
          <a:xfrm>
            <a:off x="635508" y="2595067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3" name="ValueLabel"/>
          <p:cNvSpPr txBox="1"/>
          <p:nvPr/>
        </p:nvSpPr>
        <p:spPr>
          <a:xfrm>
            <a:off x="1933956" y="2595067"/>
            <a:ext cx="164592" cy="164592"/>
          </a:xfrm>
          <a:prstGeom prst="ellipse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4" name="ValueLabel"/>
          <p:cNvSpPr txBox="1"/>
          <p:nvPr/>
        </p:nvSpPr>
        <p:spPr>
          <a:xfrm>
            <a:off x="7621524" y="2192731"/>
            <a:ext cx="164592" cy="164592"/>
          </a:xfrm>
          <a:prstGeom prst="ellipse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0" tIns="0" rIns="0" bIns="0"/>
          <a:lstStyle/>
          <a:p>
            <a:pPr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15" name="Label"/>
          <p:cNvSpPr txBox="1"/>
          <p:nvPr/>
        </p:nvSpPr>
        <p:spPr>
          <a:xfrm>
            <a:off x="3282696" y="1868119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116" name="Label"/>
          <p:cNvSpPr txBox="1"/>
          <p:nvPr/>
        </p:nvSpPr>
        <p:spPr>
          <a:xfrm>
            <a:off x="4398264" y="1868119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117" name="Label"/>
          <p:cNvSpPr txBox="1"/>
          <p:nvPr/>
        </p:nvSpPr>
        <p:spPr>
          <a:xfrm>
            <a:off x="5513832" y="1868119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18" name="Label"/>
          <p:cNvSpPr txBox="1"/>
          <p:nvPr/>
        </p:nvSpPr>
        <p:spPr>
          <a:xfrm>
            <a:off x="6629400" y="1868119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119" name="Label"/>
          <p:cNvSpPr txBox="1"/>
          <p:nvPr/>
        </p:nvSpPr>
        <p:spPr>
          <a:xfrm>
            <a:off x="832104" y="2595067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120" name="Label"/>
          <p:cNvSpPr txBox="1"/>
          <p:nvPr/>
        </p:nvSpPr>
        <p:spPr>
          <a:xfrm>
            <a:off x="2130552" y="2595067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21" name="Label"/>
          <p:cNvSpPr txBox="1"/>
          <p:nvPr/>
        </p:nvSpPr>
        <p:spPr>
          <a:xfrm>
            <a:off x="7818120" y="2192731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22" name="USAspending"/>
          <p:cNvSpPr txBox="1"/>
          <p:nvPr/>
        </p:nvSpPr>
        <p:spPr>
          <a:xfrm>
            <a:off x="2994660" y="2083003"/>
            <a:ext cx="1024128" cy="306324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USAspending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 obligations, TAS</a:t>
            </a:r>
          </a:p>
        </p:txBody>
      </p:sp>
      <p:sp>
        <p:nvSpPr>
          <p:cNvPr id="123" name="VehicleFamilies"/>
          <p:cNvSpPr txBox="1"/>
          <p:nvPr/>
        </p:nvSpPr>
        <p:spPr>
          <a:xfrm>
            <a:off x="4110228" y="2083003"/>
            <a:ext cx="1024128" cy="30632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 Family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Parent/child orders</a:t>
            </a:r>
          </a:p>
        </p:txBody>
      </p:sp>
      <p:sp>
        <p:nvSpPr>
          <p:cNvPr id="124" name="Subawards"/>
          <p:cNvSpPr txBox="1"/>
          <p:nvPr/>
        </p:nvSpPr>
        <p:spPr>
          <a:xfrm>
            <a:off x="5225796" y="2083003"/>
            <a:ext cx="1024128" cy="306324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SAM.gov Subawards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suppliers</a:t>
            </a:r>
          </a:p>
        </p:txBody>
      </p:sp>
      <p:sp>
        <p:nvSpPr>
          <p:cNvPr id="125" name="EntityManagement"/>
          <p:cNvSpPr txBox="1"/>
          <p:nvPr/>
        </p:nvSpPr>
        <p:spPr>
          <a:xfrm>
            <a:off x="6341364" y="2083003"/>
            <a:ext cx="1024128" cy="306324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SAM.gov Entity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UEI / CAGE / NAICS</a:t>
            </a:r>
          </a:p>
        </p:txBody>
      </p:sp>
      <p:sp>
        <p:nvSpPr>
          <p:cNvPr id="126" name="USAspendingComment"/>
          <p:cNvSpPr txBox="1"/>
          <p:nvPr/>
        </p:nvSpPr>
        <p:spPr>
          <a:xfrm>
            <a:off x="2994660" y="2430475"/>
            <a:ext cx="1417320" cy="361188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Bridge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 obligations and TAS; reconcile to SAM.gov.</a:t>
            </a:r>
          </a:p>
        </p:txBody>
      </p:sp>
      <p:sp>
        <p:nvSpPr>
          <p:cNvPr id="127" name="SubawardComment"/>
          <p:cNvSpPr txBox="1"/>
          <p:nvPr/>
        </p:nvSpPr>
        <p:spPr>
          <a:xfrm>
            <a:off x="5225796" y="2430475"/>
            <a:ext cx="1417320" cy="361188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t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Layer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Lagged first-tier only; never add to primes.</a:t>
            </a:r>
          </a:p>
        </p:txBody>
      </p:sp>
      <p:cxnSp>
        <p:nvCxnSpPr>
          <p:cNvPr id="128" name="USABoxToCard"/>
          <p:cNvCxnSpPr/>
          <p:nvPr/>
        </p:nvCxnSpPr>
        <p:spPr>
          <a:xfrm>
            <a:off x="3506724" y="2389327"/>
            <a:ext cx="0" cy="41148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129" name="USACardToSpine"/>
          <p:cNvCxnSpPr/>
          <p:nvPr/>
        </p:nvCxnSpPr>
        <p:spPr>
          <a:xfrm>
            <a:off x="3506724" y="2791663"/>
            <a:ext cx="0" cy="18288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30" name="VehicleToSpine"/>
          <p:cNvCxnSpPr/>
          <p:nvPr/>
        </p:nvCxnSpPr>
        <p:spPr>
          <a:xfrm>
            <a:off x="4622292" y="2389327"/>
            <a:ext cx="0" cy="420624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31" name="SubawardBoxToCard"/>
          <p:cNvCxnSpPr/>
          <p:nvPr/>
        </p:nvCxnSpPr>
        <p:spPr>
          <a:xfrm>
            <a:off x="5737860" y="2389327"/>
            <a:ext cx="0" cy="41148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132" name="SubawardCardToSpine"/>
          <p:cNvCxnSpPr/>
          <p:nvPr/>
        </p:nvCxnSpPr>
        <p:spPr>
          <a:xfrm>
            <a:off x="5737860" y="2791663"/>
            <a:ext cx="0" cy="18288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33" name="EntityToSpine"/>
          <p:cNvCxnSpPr/>
          <p:nvPr/>
        </p:nvCxnSpPr>
        <p:spPr>
          <a:xfrm>
            <a:off x="6853428" y="2389327"/>
            <a:ext cx="0" cy="420624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sp>
        <p:nvSpPr>
          <p:cNvPr id="134" name="DefineMarketSpine"/>
          <p:cNvSpPr txBox="1"/>
          <p:nvPr/>
        </p:nvSpPr>
        <p:spPr>
          <a:xfrm>
            <a:off x="544068" y="2809951"/>
            <a:ext cx="1078992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President's Budget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PE/BLI and money color</a:t>
            </a:r>
          </a:p>
        </p:txBody>
      </p:sp>
      <p:sp>
        <p:nvSpPr>
          <p:cNvPr id="135" name="SAMContractAwardsSpine"/>
          <p:cNvSpPr txBox="1"/>
          <p:nvPr/>
        </p:nvSpPr>
        <p:spPr>
          <a:xfrm>
            <a:off x="1842516" y="2809951"/>
            <a:ext cx="5285232" cy="310896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60000" tIns="35000" rIns="60000" bIns="35000"/>
          <a:lstStyle/>
          <a:p>
            <a:pPr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SAM.gov Contract Awards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775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Primes, IDVs, orders/calls and ceiling</a:t>
            </a:r>
          </a:p>
        </p:txBody>
      </p:sp>
      <p:cxnSp>
        <p:nvCxnSpPr>
          <p:cNvPr id="136" name="DefineToSpine"/>
          <p:cNvCxnSpPr/>
          <p:nvPr/>
        </p:nvCxnSpPr>
        <p:spPr>
          <a:xfrm>
            <a:off x="1623060" y="2965399"/>
            <a:ext cx="219456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137" name="ValidationGate"/>
          <p:cNvSpPr txBox="1"/>
          <p:nvPr/>
        </p:nvSpPr>
        <p:spPr>
          <a:xfrm>
            <a:off x="7511796" y="2407615"/>
            <a:ext cx="1353312" cy="877824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45000" tIns="22000" rIns="45000" bIns="18000"/>
          <a:lstStyle/>
          <a:p>
            <a:pPr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56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Tag source, vintage, measure, family and confidence</a:t>
            </a:r>
          </a:p>
        </p:txBody>
      </p:sp>
      <p:cxnSp>
        <p:nvCxnSpPr>
          <p:cNvPr id="138" name="SpineToGate"/>
          <p:cNvCxnSpPr/>
          <p:nvPr/>
        </p:nvCxnSpPr>
        <p:spPr>
          <a:xfrm>
            <a:off x="7127748" y="2965399"/>
            <a:ext cx="38404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39" name="FPDSLegacy"/>
          <p:cNvSpPr txBox="1"/>
          <p:nvPr/>
        </p:nvSpPr>
        <p:spPr>
          <a:xfrm>
            <a:off x="4768596" y="3129991"/>
            <a:ext cx="2468880" cy="201168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ctr" lIns="35000" tIns="8000" rIns="35000" bIns="8000"/>
          <a:lstStyle/>
          <a:p>
            <a:pPr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FPDS Atom | legacy lineage and validation; retiring FY2026</a:t>
            </a:r>
          </a:p>
        </p:txBody>
      </p:sp>
      <p:cxnSp>
        <p:nvCxnSpPr>
          <p:cNvPr id="140" name="FPDSToGate"/>
          <p:cNvCxnSpPr/>
          <p:nvPr/>
        </p:nvCxnSpPr>
        <p:spPr>
          <a:xfrm>
            <a:off x="7237476" y="3230575"/>
            <a:ext cx="274320" cy="0"/>
          </a:xfrm>
          <a:prstGeom prst="line">
            <a:avLst/>
          </a:prstGeom>
          <a:ln w="6350">
            <a:solidFill>
              <a:srgbClr val="000000"/>
            </a:solidFill>
            <a:prstDash val="dash"/>
            <a:tailEnd type="triangle" w="med" len="med"/>
          </a:ln>
        </p:spPr>
      </p:cxnSp>
      <p:sp>
        <p:nvSpPr>
          <p:cNvPr id="141" name="ExternalProgramEvidence"/>
          <p:cNvSpPr txBox="1"/>
          <p:nvPr/>
        </p:nvSpPr>
        <p:spPr>
          <a:xfrm>
            <a:off x="9249156" y="1868119"/>
            <a:ext cx="2413102" cy="429768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</a:ln>
        </p:spPr>
        <p:txBody>
          <a:bodyPr wrap="square" anchor="t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latin typeface="Arial"/>
                <a:ea typeface="Arial"/>
                <a:cs typeface="Arial"/>
              </a:rPr>
              <a:t>External Program Evidence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latin typeface="Arial"/>
                <a:ea typeface="Arial"/>
                <a:cs typeface="Arial"/>
              </a:rPr>
              <a:t>Anecdotal color to contextualize data / explain possible gaps.</a:t>
            </a:r>
          </a:p>
        </p:txBody>
      </p:sp>
      <p:cxnSp>
        <p:nvCxnSpPr>
          <p:cNvPr id="142" name="ExternalEvidenceLeft"/>
          <p:cNvCxnSpPr/>
          <p:nvPr/>
        </p:nvCxnSpPr>
        <p:spPr>
          <a:xfrm flipH="1">
            <a:off x="8188452" y="2083003"/>
            <a:ext cx="1060704" cy="0"/>
          </a:xfrm>
          <a:prstGeom prst="line">
            <a:avLst/>
          </a:prstGeom>
          <a:ln w="6350">
            <a:solidFill>
              <a:srgbClr val="000000"/>
            </a:solidFill>
            <a:prstDash val="dash"/>
          </a:ln>
        </p:spPr>
      </p:cxnSp>
      <p:cxnSp>
        <p:nvCxnSpPr>
          <p:cNvPr id="143" name="ExternalEvidenceDown"/>
          <p:cNvCxnSpPr/>
          <p:nvPr/>
        </p:nvCxnSpPr>
        <p:spPr>
          <a:xfrm>
            <a:off x="8188452" y="2083003"/>
            <a:ext cx="0" cy="324612"/>
          </a:xfrm>
          <a:prstGeom prst="line">
            <a:avLst/>
          </a:prstGeom>
          <a:ln w="6350">
            <a:solidFill>
              <a:srgbClr val="000000"/>
            </a:solidFill>
            <a:prstDash val="dash"/>
            <a:tailEnd type="triangle" w="med" len="med"/>
          </a:ln>
        </p:spPr>
      </p:cxnSp>
      <p:cxnSp>
        <p:nvCxnSpPr>
          <p:cNvPr id="144" name="GateToOutputBus"/>
          <p:cNvCxnSpPr/>
          <p:nvPr/>
        </p:nvCxnSpPr>
        <p:spPr>
          <a:xfrm>
            <a:off x="8865108" y="2846527"/>
            <a:ext cx="16459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45" name="OutputBus"/>
          <p:cNvCxnSpPr/>
          <p:nvPr/>
        </p:nvCxnSpPr>
        <p:spPr>
          <a:xfrm>
            <a:off x="9029700" y="2480767"/>
            <a:ext cx="0" cy="612648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46" name="MarketOutput"/>
          <p:cNvSpPr txBox="1"/>
          <p:nvPr/>
        </p:nvSpPr>
        <p:spPr>
          <a:xfrm>
            <a:off x="9249156" y="2343607"/>
            <a:ext cx="2413102" cy="27432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Market Size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Funded-demand spine</a:t>
            </a:r>
          </a:p>
        </p:txBody>
      </p:sp>
      <p:sp>
        <p:nvSpPr>
          <p:cNvPr id="147" name="OpportunityOutput"/>
          <p:cNvSpPr txBox="1"/>
          <p:nvPr/>
        </p:nvSpPr>
        <p:spPr>
          <a:xfrm>
            <a:off x="9249156" y="2654503"/>
            <a:ext cx="2413102" cy="27432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Opportunity Map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SAM.gov Opportunities, vehicles and incumbents</a:t>
            </a:r>
          </a:p>
        </p:txBody>
      </p:sp>
      <p:sp>
        <p:nvSpPr>
          <p:cNvPr id="148" name="EndUserOutput"/>
          <p:cNvSpPr txBox="1"/>
          <p:nvPr/>
        </p:nvSpPr>
        <p:spPr>
          <a:xfrm>
            <a:off x="9249156" y="2956255"/>
            <a:ext cx="241310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18000" rIns="40000" bIns="18000"/>
          <a:lstStyle/>
          <a:p>
            <a:pPr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End-User Read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evidence, confidence-tagged</a:t>
            </a:r>
          </a:p>
        </p:txBody>
      </p:sp>
      <p:cxnSp>
        <p:nvCxnSpPr>
          <p:cNvPr id="149" name="BusToMarket"/>
          <p:cNvCxnSpPr/>
          <p:nvPr/>
        </p:nvCxnSpPr>
        <p:spPr>
          <a:xfrm>
            <a:off x="9029700" y="2480767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50" name="BusToOpportunity"/>
          <p:cNvCxnSpPr/>
          <p:nvPr/>
        </p:nvCxnSpPr>
        <p:spPr>
          <a:xfrm>
            <a:off x="9029700" y="2791663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cxnSp>
        <p:nvCxnSpPr>
          <p:cNvPr id="151" name="BusToEndUser"/>
          <p:cNvCxnSpPr/>
          <p:nvPr/>
        </p:nvCxnSpPr>
        <p:spPr>
          <a:xfrm>
            <a:off x="9029700" y="3093415"/>
            <a:ext cx="219456" cy="0"/>
          </a:xfrm>
          <a:prstGeom prst="line">
            <a:avLst/>
          </a:prstGeom>
          <a:ln w="6350">
            <a:solidFill>
              <a:srgbClr val="000000"/>
            </a:solidFill>
            <a:tailEnd type="triangle" w="med" len="med"/>
          </a:ln>
        </p:spPr>
      </p:cxnSp>
      <p:graphicFrame>
        <p:nvGraphicFramePr>
          <p:cNvPr id="152" name="SourceRoleLegend"/>
          <p:cNvGraphicFramePr>
            <a:graphicFrameLocks noGrp="1"/>
          </p:cNvGraphicFramePr>
          <p:nvPr/>
        </p:nvGraphicFramePr>
        <p:xfrm>
          <a:off x="452628" y="3601822"/>
          <a:ext cx="11282782" cy="2441448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755648"/>
                <a:gridCol w="1417320"/>
                <a:gridCol w="2743200"/>
                <a:gridCol w="2971800"/>
                <a:gridCol w="2394814"/>
              </a:tblGrid>
              <a:tr h="22494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 in workflow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Question being answered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Caveat / rule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844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President's Budget / justification (P-1, R-1)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Forward funding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Funded by account, PE/BLI, color of money?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lines do not map to NAICS/PSC or vendors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Funded-demand spine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5844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Contract Awards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and vehicle pull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Awards/IDVs; parent-child structure; ceilings?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 not double-count vehicle and child orders; tag coverage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Vehicle, incumbent and capacity map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2494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USAspending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bridge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Transaction FY obligations; funding TAS?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Reconcile to procurement record; fields differ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TAS bridge and FY view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2494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Subaward Reporting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First-tier supplier 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Which reported suppliers sit under a prime?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Lagged/incomplete; separate from prime obligations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and workshare map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5844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 enrichment sources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Resolve and pipeline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UEI/CAGE/NAICS; what is posted pre-award?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Registration/posting does not prove program relevance or award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Vendor segments and watchlist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22494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FPDS Atom feed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Legacy validation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What does the older action feed show?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the future base; retiring FY2026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Lineage validation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5844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External program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End-user attribution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Who requires, tests, or fields the capability?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Cite and confidence-tag; place of performance is not proof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75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End-user map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Strategic Contracts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Award Data Methodology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Award Data Reference | The right fields separate real demand, access, timing, and supplier opportunity.</a:t>
            </a:r>
          </a:p>
        </p:txBody>
      </p:sp>
      <p:sp>
        <p:nvSpPr>
          <p:cNvPr id="100" name="Prime Award Fields Banner"/>
          <p:cNvSpPr txBox="1"/>
          <p:nvPr/>
        </p:nvSpPr>
        <p:spPr>
          <a:xfrm>
            <a:off x="452628" y="1265530"/>
            <a:ext cx="5509260" cy="292608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awards — fields that determine direct access and timing</a:t>
            </a:r>
          </a:p>
        </p:txBody>
      </p:sp>
      <p:graphicFrame>
        <p:nvGraphicFramePr>
          <p:cNvPr id="101" name="Prime Award Fields"/>
          <p:cNvGraphicFramePr>
            <a:graphicFrameLocks noGrp="1"/>
          </p:cNvGraphicFramePr>
          <p:nvPr/>
        </p:nvGraphicFramePr>
        <p:xfrm>
          <a:off x="452628" y="1577340"/>
          <a:ext cx="5509260" cy="4146804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98448"/>
                <a:gridCol w="2313432"/>
                <a:gridCol w="1897380"/>
              </a:tblGrid>
              <a:tr h="26426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 field group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 data field nomenclature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</a:tr>
              <a:tr h="64739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Identity and linkage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PIID; referenced IDV PIID; modification number; UEI; ultimate-parent UEI; USAspending generated internal ID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Links the award family, holder, parent vehicle, modifications and detail calls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Classification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award or IDV type; single- / multiple-award IDC; type of IDC; contract pricing type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Determines whether the direct route is open, holder-gated, single-award, OT, delivery order, FSS, BPA, BOA or definitive contract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</a:tr>
              <a:tr h="64739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Competition and access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extent competed; fair opportunity; set-aside; number of offers; solicitation ID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Identifies who can compete and whether a new entrant must wait for a pool, on-ramp or recompete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39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Money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per-action obligation; cumulative obligation; base and all-options value / ceiling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Separates committed spend from capacity; prevents summing cumulative fields or shared ceilings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</a:tr>
              <a:tr h="507492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 signed; start date; current completion; ultimate completion; last date to order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Dates the entry window, especially for IDVs and successor vehicles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395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Scope, organization and funding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PSC; NAICS; requirement description; contracting office; TAS / federal account; business-size / socioeconomic data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Connects the award to the market, buyer, mission, appropriation and eligibility constraints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102" name="Subaward Fields Banner"/>
          <p:cNvSpPr txBox="1"/>
          <p:nvPr/>
        </p:nvSpPr>
        <p:spPr>
          <a:xfrm>
            <a:off x="6190488" y="1271930"/>
            <a:ext cx="5509260" cy="292608"/>
          </a:xfrm>
          <a:prstGeom prst="rect">
            <a:avLst/>
          </a:prstGeom>
          <a:solidFill>
            <a:srgbClr val="447BB2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Subawards — fields that identify the visible supplier layer</a:t>
            </a:r>
          </a:p>
        </p:txBody>
      </p:sp>
      <p:graphicFrame>
        <p:nvGraphicFramePr>
          <p:cNvPr id="103" name="Subaward Fields"/>
          <p:cNvGraphicFramePr>
            <a:graphicFrameLocks noGrp="1"/>
          </p:cNvGraphicFramePr>
          <p:nvPr/>
        </p:nvGraphicFramePr>
        <p:xfrm>
          <a:off x="6190488" y="1577340"/>
          <a:ext cx="5509260" cy="342259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98448"/>
                <a:gridCol w="2313432"/>
                <a:gridCol w="1897380"/>
              </a:tblGrid>
              <a:tr h="262433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 field group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 data field nomenclature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4F6F7"/>
                    </a:solidFill>
                  </a:tcPr>
                </a:tc>
              </a:tr>
              <a:tr h="50383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Report identity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 report ID; subaward number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Provides the report-level key; SAM FFATA report ID does not require deduplication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90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Dollars and dates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 amount; subaward date; submitted date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Measures reported first-tier demand and reporting lag; submitted date is the lag field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</a:tr>
              <a:tr h="50383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Supplier identity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subawardee UEI; subawardee legal name; parent UEI; parent legal name; business type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Enables supplier rollup, recurrence, concentration and eligibility analysis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4846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Work description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 description; description of requirement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Shows what the supplier is being paid to provide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BFCFD"/>
                    </a:solidFill>
                  </a:tcPr>
                </a:tc>
              </a:tr>
              <a:tr h="503834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Prime linkage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PIID; referenced IDV PIID; prime contract key; prime award type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Connects the supplier report to the prime award, block or vehicle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90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Prime context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prime UEI; prime name; prime NAICS; contracting office; funding office; total contract value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Shows who buys from the supplier, what market the prime sits in, and the scale of the underlying award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Source Orientation Strip"/>
          <p:cNvGraphicFramePr>
            <a:graphicFrameLocks noGrp="1"/>
          </p:cNvGraphicFramePr>
          <p:nvPr/>
        </p:nvGraphicFramePr>
        <p:xfrm>
          <a:off x="452628" y="5856732"/>
          <a:ext cx="11282782" cy="54864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513332"/>
                <a:gridCol w="9768535"/>
              </a:tblGrid>
              <a:tr h="274320">
                <a:tc rowSpan="2"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orientation</a:t>
                      </a:r>
                    </a:p>
                  </a:txBody>
                  <a:tcPr marL="45720" marR="45720" marT="27432" marB="27432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D4D6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Prime awards: </a:t>
                      </a: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Contract Awards; USAspending; FPDS</a:t>
                      </a:r>
                      <a:r>
                        <a:rPr lang="en-US" sz="85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— classify access, competition, money, timing, scope, organization and appropriation</a:t>
                      </a: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</a:lnB>
                    <a:solidFill>
                      <a:srgbClr val="EAF2F8"/>
                    </a:solidFill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162029"/>
                          </a:solidFill>
                          <a:latin typeface="Arial"/>
                          <a:ea typeface="Arial"/>
                          <a:cs typeface="Arial"/>
                        </a:rPr>
                        <a:t>Subawards: </a:t>
                      </a: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SAM.gov Subaward Reporting / FFATA; USAspending subawards</a:t>
                      </a:r>
                      <a:r>
                        <a:rPr lang="en-US" sz="850" i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— identify first-tier suppliers, reported dollars, reporting lag and prime linkage</a:t>
                      </a: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FFFFFF"/>
                      </a:solidFill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deck_awards_methodology</Application>
  <PresentationFormat>Widescreen</PresentationFormat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Awards Methodology</dc:title>
  <dc:creator>deck_awards_methodology build_deck.py</dc:creator>
  <cp:lastModifiedBy>deck_awards_methodology build_deck.py</cp:lastModifiedBy>
  <cp:revision>1</cp:revision>
  <dcterms:created xsi:type="dcterms:W3CDTF">2026-06-26T03:26:07Z</dcterms:created>
  <dcterms:modified xsi:type="dcterms:W3CDTF">2026-06-26T03:26:07Z</dcterms:modified>
</cp:coreProperties>
</file>