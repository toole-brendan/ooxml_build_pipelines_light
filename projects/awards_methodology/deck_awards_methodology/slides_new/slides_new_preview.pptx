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Defense Market Strategy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Market Access Framework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Contract Addressability | A recompete opportunity becomes actionable when demand recurs, access exists, and funding is executable.</a:t>
            </a:r>
          </a:p>
        </p:txBody>
      </p:sp>
      <p:sp>
        <p:nvSpPr>
          <p:cNvPr id="100" name="Decision Gate"/>
          <p:cNvSpPr txBox="1"/>
          <p:nvPr/>
        </p:nvSpPr>
        <p:spPr>
          <a:xfrm>
            <a:off x="468173" y="1332281"/>
            <a:ext cx="2702966" cy="58613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anchor="ctr" lIns="45720" tIns="36576" rIns="45720" bIns="36576"/>
          <a:lstStyle/>
          <a:p>
            <a:pPr algn="ctr">
              <a:lnSpc>
                <a:spcPct val="100000"/>
              </a:lnSpc>
              <a:spcAft>
                <a:spcPts val="80"/>
              </a:spcAft>
              <a:buNone/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Does the requirement recur?</a:t>
            </a:r>
          </a:p>
        </p:txBody>
      </p:sp>
      <p:sp>
        <p:nvSpPr>
          <p:cNvPr id="101" name="Decision Gate"/>
          <p:cNvSpPr txBox="1"/>
          <p:nvPr/>
        </p:nvSpPr>
        <p:spPr>
          <a:xfrm>
            <a:off x="2512771" y="2328977"/>
            <a:ext cx="2702966" cy="58613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anchor="ctr" lIns="45720" tIns="36576" rIns="45720" bIns="36576"/>
          <a:lstStyle/>
          <a:p>
            <a:pPr algn="ctr">
              <a:lnSpc>
                <a:spcPct val="100000"/>
              </a:lnSpc>
              <a:spcAft>
                <a:spcPts val="80"/>
              </a:spcAft>
              <a:buNone/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 we compete?</a:t>
            </a:r>
          </a:p>
        </p:txBody>
      </p:sp>
      <p:sp>
        <p:nvSpPr>
          <p:cNvPr id="102" name="Decision Gate"/>
          <p:cNvSpPr txBox="1"/>
          <p:nvPr/>
        </p:nvSpPr>
        <p:spPr>
          <a:xfrm>
            <a:off x="4598518" y="3326587"/>
            <a:ext cx="2702966" cy="58613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anchor="ctr" lIns="45720" tIns="36576" rIns="45720" bIns="36576"/>
          <a:lstStyle/>
          <a:p>
            <a:pPr algn="ctr">
              <a:lnSpc>
                <a:spcPct val="100000"/>
              </a:lnSpc>
              <a:spcAft>
                <a:spcPts val="80"/>
              </a:spcAft>
              <a:buNone/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 there budget alignment?</a:t>
            </a:r>
          </a:p>
        </p:txBody>
      </p:sp>
      <p:sp>
        <p:nvSpPr>
          <p:cNvPr id="103" name="Decision Gate"/>
          <p:cNvSpPr txBox="1"/>
          <p:nvPr/>
        </p:nvSpPr>
        <p:spPr>
          <a:xfrm>
            <a:off x="6711696" y="4151376"/>
            <a:ext cx="2703881" cy="58613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anchor="ctr" lIns="45720" tIns="36576" rIns="45720" bIns="36576"/>
          <a:lstStyle/>
          <a:p>
            <a:pPr algn="ctr">
              <a:lnSpc>
                <a:spcPct val="100000"/>
              </a:lnSpc>
              <a:spcAft>
                <a:spcPts val="80"/>
              </a:spcAft>
              <a:buNone/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 the opportunity be shaped?</a:t>
            </a:r>
          </a:p>
        </p:txBody>
      </p:sp>
      <p:sp>
        <p:nvSpPr>
          <p:cNvPr id="104" name="Non Addressable Band"/>
          <p:cNvSpPr txBox="1"/>
          <p:nvPr/>
        </p:nvSpPr>
        <p:spPr>
          <a:xfrm>
            <a:off x="452628" y="5319979"/>
            <a:ext cx="7196328" cy="504749"/>
          </a:xfrm>
          <a:prstGeom prst="rect">
            <a:avLst/>
          </a:prstGeom>
          <a:solidFill>
            <a:srgbClr val="F2F2F2"/>
          </a:solidFill>
          <a:ln w="12700">
            <a:solidFill>
              <a:srgbClr val="808080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Non-addressable</a:t>
            </a:r>
          </a:p>
        </p:txBody>
      </p:sp>
      <p:sp>
        <p:nvSpPr>
          <p:cNvPr id="105" name="Output Note"/>
          <p:cNvSpPr txBox="1"/>
          <p:nvPr/>
        </p:nvSpPr>
        <p:spPr>
          <a:xfrm>
            <a:off x="8065008" y="5655564"/>
            <a:ext cx="3465576" cy="1691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Direct recompete  •  vehicle on-ramp  •  prime / holder route</a:t>
            </a:r>
          </a:p>
        </p:txBody>
      </p:sp>
      <p:sp>
        <p:nvSpPr>
          <p:cNvPr id="106" name="Timing Handoff"/>
          <p:cNvSpPr txBox="1"/>
          <p:nvPr/>
        </p:nvSpPr>
        <p:spPr>
          <a:xfrm>
            <a:off x="8246059" y="6031382"/>
            <a:ext cx="3108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latin typeface="Arial"/>
                <a:ea typeface="Arial"/>
                <a:cs typeface="Arial"/>
              </a:rPr>
              <a:t>Determine recompete timing, outlook &amp; pathway</a:t>
            </a:r>
            <a:br/>
            <a:r>
              <a:rPr lang="en-US" sz="800" i="1" dirty="0">
                <a:latin typeface="Arial"/>
                <a:ea typeface="Arial"/>
                <a:cs typeface="Arial"/>
              </a:rPr>
              <a:t>see following page for timing estimation</a:t>
            </a:r>
          </a:p>
        </p:txBody>
      </p:sp>
      <p:cxnSp>
        <p:nvCxnSpPr>
          <p:cNvPr id="107" name="Addressable to Timing"/>
          <p:cNvCxnSpPr/>
          <p:nvPr/>
        </p:nvCxnSpPr>
        <p:spPr>
          <a:xfrm>
            <a:off x="9800539" y="5762549"/>
            <a:ext cx="0" cy="268834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08" name="Addressable Band"/>
          <p:cNvSpPr txBox="1"/>
          <p:nvPr/>
        </p:nvSpPr>
        <p:spPr>
          <a:xfrm>
            <a:off x="7865669" y="5319979"/>
            <a:ext cx="3869741" cy="504749"/>
          </a:xfrm>
          <a:prstGeom prst="rect">
            <a:avLst/>
          </a:prstGeom>
          <a:solidFill>
            <a:srgbClr val="223E59"/>
          </a:solidFill>
          <a:ln w="12700">
            <a:solidFill>
              <a:srgbClr val="223E59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Addressable</a:t>
            </a:r>
          </a:p>
        </p:txBody>
      </p:sp>
      <p:cxnSp>
        <p:nvCxnSpPr>
          <p:cNvPr id="109" name="Connector: Elbow 14"/>
          <p:cNvCxnSpPr/>
          <p:nvPr/>
        </p:nvCxnSpPr>
        <p:spPr>
          <a:xfrm>
            <a:off x="3171139" y="1625803"/>
            <a:ext cx="693115" cy="704088"/>
          </a:xfrm>
          <a:prstGeom prst="bentConnector2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10" name="Verdict Chip"/>
          <p:cNvSpPr txBox="1"/>
          <p:nvPr/>
        </p:nvSpPr>
        <p:spPr>
          <a:xfrm>
            <a:off x="3541471" y="1956816"/>
            <a:ext cx="640080" cy="228600"/>
          </a:xfrm>
          <a:prstGeom prst="rect">
            <a:avLst/>
          </a:prstGeom>
          <a:solidFill>
            <a:srgbClr val="D1E8DD"/>
          </a:solidFill>
          <a:ln w="12700">
            <a:solidFill>
              <a:srgbClr val="1B8A57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20" b="1" dirty="0">
                <a:latin typeface="Arial"/>
                <a:ea typeface="Arial"/>
                <a:cs typeface="Arial"/>
              </a:rPr>
              <a:t>Yes</a:t>
            </a:r>
          </a:p>
        </p:txBody>
      </p:sp>
      <p:cxnSp>
        <p:nvCxnSpPr>
          <p:cNvPr id="111" name="Straight Arrow Connector 20"/>
          <p:cNvCxnSpPr/>
          <p:nvPr/>
        </p:nvCxnSpPr>
        <p:spPr>
          <a:xfrm flipH="1">
            <a:off x="1810512" y="1918411"/>
            <a:ext cx="9144" cy="3401568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12" name="Verdict Chip"/>
          <p:cNvSpPr txBox="1"/>
          <p:nvPr/>
        </p:nvSpPr>
        <p:spPr>
          <a:xfrm>
            <a:off x="1516990" y="3129077"/>
            <a:ext cx="640080" cy="228600"/>
          </a:xfrm>
          <a:prstGeom prst="rect">
            <a:avLst/>
          </a:prstGeom>
          <a:solidFill>
            <a:srgbClr val="F2CCCC"/>
          </a:solidFill>
          <a:ln w="12700">
            <a:solidFill>
              <a:srgbClr val="C00000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20" b="1" dirty="0">
                <a:latin typeface="Arial"/>
                <a:ea typeface="Arial"/>
                <a:cs typeface="Arial"/>
              </a:rPr>
              <a:t>No</a:t>
            </a:r>
          </a:p>
        </p:txBody>
      </p:sp>
      <p:cxnSp>
        <p:nvCxnSpPr>
          <p:cNvPr id="113" name="Straight Arrow Connector 27"/>
          <p:cNvCxnSpPr/>
          <p:nvPr/>
        </p:nvCxnSpPr>
        <p:spPr>
          <a:xfrm>
            <a:off x="3864254" y="2915107"/>
            <a:ext cx="1829" cy="2404872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14" name="Connector: Elbow 29"/>
          <p:cNvCxnSpPr/>
          <p:nvPr/>
        </p:nvCxnSpPr>
        <p:spPr>
          <a:xfrm>
            <a:off x="5223967" y="2609698"/>
            <a:ext cx="726034" cy="716890"/>
          </a:xfrm>
          <a:prstGeom prst="bentConnector2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15" name="Verdict Chip"/>
          <p:cNvSpPr txBox="1"/>
          <p:nvPr/>
        </p:nvSpPr>
        <p:spPr>
          <a:xfrm>
            <a:off x="5638190" y="2932481"/>
            <a:ext cx="640080" cy="228600"/>
          </a:xfrm>
          <a:prstGeom prst="rect">
            <a:avLst/>
          </a:prstGeom>
          <a:solidFill>
            <a:srgbClr val="D1E8DD"/>
          </a:solidFill>
          <a:ln w="12700">
            <a:solidFill>
              <a:srgbClr val="1B8A57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latin typeface="Arial"/>
                <a:ea typeface="Arial"/>
                <a:cs typeface="Arial"/>
              </a:rPr>
              <a:t>Yes</a:t>
            </a:r>
          </a:p>
        </p:txBody>
      </p:sp>
      <p:cxnSp>
        <p:nvCxnSpPr>
          <p:cNvPr id="116" name="Connector: Elbow 32"/>
          <p:cNvCxnSpPr/>
          <p:nvPr/>
        </p:nvCxnSpPr>
        <p:spPr>
          <a:xfrm>
            <a:off x="7301484" y="3619195"/>
            <a:ext cx="2499055" cy="1700784"/>
          </a:xfrm>
          <a:prstGeom prst="bentConnector2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17" name="Connector: Elbow 35"/>
          <p:cNvCxnSpPr/>
          <p:nvPr/>
        </p:nvCxnSpPr>
        <p:spPr>
          <a:xfrm rot="16200000" flipH="1">
            <a:off x="6065215" y="3797503"/>
            <a:ext cx="532181" cy="762610"/>
          </a:xfrm>
          <a:prstGeom prst="bentConnector2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18" name="Evidence Chip"/>
          <p:cNvSpPr txBox="1"/>
          <p:nvPr/>
        </p:nvSpPr>
        <p:spPr>
          <a:xfrm>
            <a:off x="3132734" y="3260750"/>
            <a:ext cx="1399032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36576" tIns="18288" rIns="36576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Holder-gated / Incumbent-led</a:t>
            </a:r>
          </a:p>
        </p:txBody>
      </p:sp>
      <p:cxnSp>
        <p:nvCxnSpPr>
          <p:cNvPr id="119" name="Straight Arrow Connector 43"/>
          <p:cNvCxnSpPr/>
          <p:nvPr/>
        </p:nvCxnSpPr>
        <p:spPr>
          <a:xfrm>
            <a:off x="8780069" y="4733849"/>
            <a:ext cx="9144" cy="58613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20" name="Verdict Chip"/>
          <p:cNvSpPr txBox="1"/>
          <p:nvPr/>
        </p:nvSpPr>
        <p:spPr>
          <a:xfrm>
            <a:off x="5629961" y="4105656"/>
            <a:ext cx="640080" cy="228600"/>
          </a:xfrm>
          <a:prstGeom prst="rect">
            <a:avLst/>
          </a:prstGeom>
          <a:solidFill>
            <a:srgbClr val="F2CCCC"/>
          </a:solidFill>
          <a:ln w="12700">
            <a:solidFill>
              <a:srgbClr val="C00000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21" name="Verdict Chip"/>
          <p:cNvSpPr txBox="1"/>
          <p:nvPr/>
        </p:nvSpPr>
        <p:spPr>
          <a:xfrm>
            <a:off x="8759952" y="3504895"/>
            <a:ext cx="640080" cy="228600"/>
          </a:xfrm>
          <a:prstGeom prst="rect">
            <a:avLst/>
          </a:prstGeom>
          <a:solidFill>
            <a:srgbClr val="D1E8DD"/>
          </a:solidFill>
          <a:ln w="12700">
            <a:solidFill>
              <a:srgbClr val="1B8A57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22" name="Verdict Chip"/>
          <p:cNvSpPr txBox="1"/>
          <p:nvPr/>
        </p:nvSpPr>
        <p:spPr>
          <a:xfrm>
            <a:off x="3544214" y="3706978"/>
            <a:ext cx="640080" cy="228600"/>
          </a:xfrm>
          <a:prstGeom prst="rect">
            <a:avLst/>
          </a:prstGeom>
          <a:solidFill>
            <a:srgbClr val="F2CCCC"/>
          </a:solidFill>
          <a:ln w="12700">
            <a:solidFill>
              <a:srgbClr val="C00000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latin typeface="Arial"/>
                <a:ea typeface="Arial"/>
                <a:cs typeface="Arial"/>
              </a:rPr>
              <a:t>No</a:t>
            </a:r>
          </a:p>
        </p:txBody>
      </p:sp>
      <p:cxnSp>
        <p:nvCxnSpPr>
          <p:cNvPr id="123" name="Straight Arrow Connector 47"/>
          <p:cNvCxnSpPr/>
          <p:nvPr/>
        </p:nvCxnSpPr>
        <p:spPr>
          <a:xfrm>
            <a:off x="7248449" y="4733849"/>
            <a:ext cx="1829" cy="58613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24" name="Evidence Chip"/>
          <p:cNvSpPr txBox="1"/>
          <p:nvPr/>
        </p:nvSpPr>
        <p:spPr>
          <a:xfrm>
            <a:off x="1225296" y="2511857"/>
            <a:ext cx="118872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36576" tIns="18288" rIns="36576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One-time</a:t>
            </a:r>
          </a:p>
        </p:txBody>
      </p:sp>
      <p:sp>
        <p:nvSpPr>
          <p:cNvPr id="125" name="Evidence Chip"/>
          <p:cNvSpPr txBox="1"/>
          <p:nvPr/>
        </p:nvSpPr>
        <p:spPr>
          <a:xfrm>
            <a:off x="5363870" y="2692908"/>
            <a:ext cx="1188720" cy="155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36576" tIns="18288" rIns="36576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Open competition</a:t>
            </a:r>
          </a:p>
        </p:txBody>
      </p:sp>
      <p:sp>
        <p:nvSpPr>
          <p:cNvPr id="126" name="Evidence Chip"/>
          <p:cNvSpPr txBox="1"/>
          <p:nvPr/>
        </p:nvSpPr>
        <p:spPr>
          <a:xfrm>
            <a:off x="3203143" y="1709928"/>
            <a:ext cx="13716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36576" tIns="18288" rIns="36576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FYDP / recurring obligations</a:t>
            </a:r>
          </a:p>
        </p:txBody>
      </p:sp>
      <p:sp>
        <p:nvSpPr>
          <p:cNvPr id="127" name="Verdict Chip"/>
          <p:cNvSpPr txBox="1"/>
          <p:nvPr/>
        </p:nvSpPr>
        <p:spPr>
          <a:xfrm>
            <a:off x="8460029" y="4877410"/>
            <a:ext cx="640080" cy="228600"/>
          </a:xfrm>
          <a:prstGeom prst="rect">
            <a:avLst/>
          </a:prstGeom>
          <a:solidFill>
            <a:srgbClr val="D1E8DD"/>
          </a:solidFill>
          <a:ln w="12700">
            <a:solidFill>
              <a:srgbClr val="1B8A57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latin typeface="Arial"/>
                <a:ea typeface="Arial"/>
                <a:cs typeface="Arial"/>
              </a:rPr>
              <a:t>Likely</a:t>
            </a:r>
          </a:p>
        </p:txBody>
      </p:sp>
      <p:sp>
        <p:nvSpPr>
          <p:cNvPr id="128" name="Evidence Chip"/>
          <p:cNvSpPr txBox="1"/>
          <p:nvPr/>
        </p:nvSpPr>
        <p:spPr>
          <a:xfrm>
            <a:off x="7708392" y="3482035"/>
            <a:ext cx="8229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36576" tIns="18288" rIns="36576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Requested appropriations</a:t>
            </a:r>
          </a:p>
        </p:txBody>
      </p:sp>
      <p:sp>
        <p:nvSpPr>
          <p:cNvPr id="129" name="Verdict Chip"/>
          <p:cNvSpPr txBox="1"/>
          <p:nvPr/>
        </p:nvSpPr>
        <p:spPr>
          <a:xfrm>
            <a:off x="6921094" y="4877410"/>
            <a:ext cx="640080" cy="228600"/>
          </a:xfrm>
          <a:prstGeom prst="rect">
            <a:avLst/>
          </a:prstGeom>
          <a:solidFill>
            <a:srgbClr val="F2CCCC"/>
          </a:solidFill>
          <a:ln w="12700">
            <a:solidFill>
              <a:srgbClr val="C00000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latin typeface="Arial"/>
                <a:ea typeface="Arial"/>
                <a:cs typeface="Arial"/>
              </a:rPr>
              <a:t>Not likely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Defense Market Strategy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Market Access Framework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Contract Addressability | A recompete opportunity becomes actionable when demand recurs, access exists, and funding is executable.</a:t>
            </a:r>
          </a:p>
        </p:txBody>
      </p:sp>
      <p:sp>
        <p:nvSpPr>
          <p:cNvPr id="100" name="Decision Gate"/>
          <p:cNvSpPr txBox="1"/>
          <p:nvPr/>
        </p:nvSpPr>
        <p:spPr>
          <a:xfrm>
            <a:off x="468173" y="1332281"/>
            <a:ext cx="2702966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spcAft>
                <a:spcPts val="80"/>
              </a:spcAft>
              <a:buNone/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Does the requirement recur?</a:t>
            </a:r>
          </a:p>
        </p:txBody>
      </p:sp>
      <p:sp>
        <p:nvSpPr>
          <p:cNvPr id="101" name="Decision Gate"/>
          <p:cNvSpPr txBox="1"/>
          <p:nvPr/>
        </p:nvSpPr>
        <p:spPr>
          <a:xfrm>
            <a:off x="2512771" y="2329891"/>
            <a:ext cx="2702966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spcAft>
                <a:spcPts val="80"/>
              </a:spcAft>
              <a:buNone/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 we compete?</a:t>
            </a:r>
          </a:p>
        </p:txBody>
      </p:sp>
      <p:sp>
        <p:nvSpPr>
          <p:cNvPr id="102" name="Decision Gate"/>
          <p:cNvSpPr txBox="1"/>
          <p:nvPr/>
        </p:nvSpPr>
        <p:spPr>
          <a:xfrm>
            <a:off x="4598518" y="3327502"/>
            <a:ext cx="2702966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spcAft>
                <a:spcPts val="80"/>
              </a:spcAft>
              <a:buNone/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 there budget alignment?</a:t>
            </a:r>
          </a:p>
        </p:txBody>
      </p:sp>
      <p:sp>
        <p:nvSpPr>
          <p:cNvPr id="103" name="Decision Gate"/>
          <p:cNvSpPr txBox="1"/>
          <p:nvPr/>
        </p:nvSpPr>
        <p:spPr>
          <a:xfrm>
            <a:off x="6711696" y="4325112"/>
            <a:ext cx="2703881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spcAft>
                <a:spcPts val="80"/>
              </a:spcAft>
              <a:buNone/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 the opportunity be shaped?</a:t>
            </a:r>
          </a:p>
        </p:txBody>
      </p:sp>
      <p:sp>
        <p:nvSpPr>
          <p:cNvPr id="104" name="Non Addressable Band"/>
          <p:cNvSpPr txBox="1"/>
          <p:nvPr/>
        </p:nvSpPr>
        <p:spPr>
          <a:xfrm>
            <a:off x="452628" y="5319979"/>
            <a:ext cx="7196328" cy="504749"/>
          </a:xfrm>
          <a:prstGeom prst="rect">
            <a:avLst/>
          </a:prstGeom>
          <a:solidFill>
            <a:srgbClr val="F2F2F2"/>
          </a:solidFill>
          <a:ln w="12700">
            <a:solidFill>
              <a:srgbClr val="808080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Non-addressable</a:t>
            </a:r>
          </a:p>
        </p:txBody>
      </p:sp>
      <p:sp>
        <p:nvSpPr>
          <p:cNvPr id="105" name="Output Note"/>
          <p:cNvSpPr txBox="1"/>
          <p:nvPr/>
        </p:nvSpPr>
        <p:spPr>
          <a:xfrm>
            <a:off x="8065008" y="5655564"/>
            <a:ext cx="3465576" cy="1691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Direct recompete  •  vehicle on-ramp  •  prime / holder route</a:t>
            </a:r>
          </a:p>
        </p:txBody>
      </p:sp>
      <p:sp>
        <p:nvSpPr>
          <p:cNvPr id="106" name="Timing Handoff"/>
          <p:cNvSpPr txBox="1"/>
          <p:nvPr/>
        </p:nvSpPr>
        <p:spPr>
          <a:xfrm>
            <a:off x="8246059" y="6031382"/>
            <a:ext cx="3108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latin typeface="Arial"/>
                <a:ea typeface="Arial"/>
                <a:cs typeface="Arial"/>
              </a:rPr>
              <a:t>Determine recompete timing, outlook &amp; pathway</a:t>
            </a:r>
            <a:br/>
            <a:r>
              <a:rPr lang="en-US" sz="800" i="1" dirty="0">
                <a:latin typeface="Arial"/>
                <a:ea typeface="Arial"/>
                <a:cs typeface="Arial"/>
              </a:rPr>
              <a:t>see following page for timing estimation</a:t>
            </a:r>
          </a:p>
        </p:txBody>
      </p:sp>
      <p:cxnSp>
        <p:nvCxnSpPr>
          <p:cNvPr id="107" name="Addressable to Timing"/>
          <p:cNvCxnSpPr/>
          <p:nvPr/>
        </p:nvCxnSpPr>
        <p:spPr>
          <a:xfrm>
            <a:off x="9800539" y="5762549"/>
            <a:ext cx="0" cy="268834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08" name="Addressable Band"/>
          <p:cNvSpPr txBox="1"/>
          <p:nvPr/>
        </p:nvSpPr>
        <p:spPr>
          <a:xfrm>
            <a:off x="7865669" y="5319979"/>
            <a:ext cx="3869741" cy="504749"/>
          </a:xfrm>
          <a:prstGeom prst="rect">
            <a:avLst/>
          </a:prstGeom>
          <a:solidFill>
            <a:srgbClr val="223E59"/>
          </a:solidFill>
          <a:ln w="12700">
            <a:solidFill>
              <a:srgbClr val="223E59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Addressable</a:t>
            </a:r>
          </a:p>
        </p:txBody>
      </p:sp>
      <p:cxnSp>
        <p:nvCxnSpPr>
          <p:cNvPr id="109" name="Requirement Yes H"/>
          <p:cNvCxnSpPr/>
          <p:nvPr/>
        </p:nvCxnSpPr>
        <p:spPr>
          <a:xfrm>
            <a:off x="3171139" y="1588313"/>
            <a:ext cx="693115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10" name="Requirement Yes V"/>
          <p:cNvCxnSpPr/>
          <p:nvPr/>
        </p:nvCxnSpPr>
        <p:spPr>
          <a:xfrm>
            <a:off x="3864254" y="1588313"/>
            <a:ext cx="0" cy="741578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11" name="Verdict Chip"/>
          <p:cNvSpPr txBox="1"/>
          <p:nvPr/>
        </p:nvSpPr>
        <p:spPr>
          <a:xfrm>
            <a:off x="3541471" y="1957730"/>
            <a:ext cx="640080" cy="228600"/>
          </a:xfrm>
          <a:prstGeom prst="rect">
            <a:avLst/>
          </a:prstGeom>
          <a:solidFill>
            <a:srgbClr val="D1E8DD"/>
          </a:solidFill>
          <a:ln w="12700">
            <a:solidFill>
              <a:srgbClr val="1B8A57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latin typeface="Arial"/>
                <a:ea typeface="Arial"/>
                <a:cs typeface="Arial"/>
              </a:rPr>
              <a:t>Yes</a:t>
            </a:r>
          </a:p>
        </p:txBody>
      </p:sp>
      <p:cxnSp>
        <p:nvCxnSpPr>
          <p:cNvPr id="112" name="Requirement No"/>
          <p:cNvCxnSpPr/>
          <p:nvPr/>
        </p:nvCxnSpPr>
        <p:spPr>
          <a:xfrm>
            <a:off x="1819656" y="1844345"/>
            <a:ext cx="0" cy="3475634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13" name="Verdict Chip"/>
          <p:cNvSpPr txBox="1"/>
          <p:nvPr/>
        </p:nvSpPr>
        <p:spPr>
          <a:xfrm>
            <a:off x="1499616" y="3129077"/>
            <a:ext cx="640080" cy="228600"/>
          </a:xfrm>
          <a:prstGeom prst="rect">
            <a:avLst/>
          </a:prstGeom>
          <a:solidFill>
            <a:srgbClr val="F2CCCC"/>
          </a:solidFill>
          <a:ln w="12700">
            <a:solidFill>
              <a:srgbClr val="C00000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latin typeface="Arial"/>
                <a:ea typeface="Arial"/>
                <a:cs typeface="Arial"/>
              </a:rPr>
              <a:t>No</a:t>
            </a:r>
          </a:p>
        </p:txBody>
      </p:sp>
      <p:cxnSp>
        <p:nvCxnSpPr>
          <p:cNvPr id="114" name="Competition No"/>
          <p:cNvCxnSpPr/>
          <p:nvPr/>
        </p:nvCxnSpPr>
        <p:spPr>
          <a:xfrm>
            <a:off x="3864254" y="2841955"/>
            <a:ext cx="0" cy="2478024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15" name="Competition Yes H"/>
          <p:cNvCxnSpPr/>
          <p:nvPr/>
        </p:nvCxnSpPr>
        <p:spPr>
          <a:xfrm>
            <a:off x="5215738" y="2585923"/>
            <a:ext cx="734263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16" name="Competition Yes V"/>
          <p:cNvCxnSpPr/>
          <p:nvPr/>
        </p:nvCxnSpPr>
        <p:spPr>
          <a:xfrm>
            <a:off x="5950001" y="2585923"/>
            <a:ext cx="0" cy="741578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17" name="Verdict Chip"/>
          <p:cNvSpPr txBox="1"/>
          <p:nvPr/>
        </p:nvSpPr>
        <p:spPr>
          <a:xfrm>
            <a:off x="5638190" y="2933395"/>
            <a:ext cx="640080" cy="228600"/>
          </a:xfrm>
          <a:prstGeom prst="rect">
            <a:avLst/>
          </a:prstGeom>
          <a:solidFill>
            <a:srgbClr val="D1E8DD"/>
          </a:solidFill>
          <a:ln w="12700">
            <a:solidFill>
              <a:srgbClr val="1B8A57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latin typeface="Arial"/>
                <a:ea typeface="Arial"/>
                <a:cs typeface="Arial"/>
              </a:rPr>
              <a:t>Yes</a:t>
            </a:r>
          </a:p>
        </p:txBody>
      </p:sp>
      <p:cxnSp>
        <p:nvCxnSpPr>
          <p:cNvPr id="118" name="Budget Yes H"/>
          <p:cNvCxnSpPr/>
          <p:nvPr/>
        </p:nvCxnSpPr>
        <p:spPr>
          <a:xfrm>
            <a:off x="7301484" y="3583534"/>
            <a:ext cx="2499055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19" name="Budget Yes V"/>
          <p:cNvCxnSpPr/>
          <p:nvPr/>
        </p:nvCxnSpPr>
        <p:spPr>
          <a:xfrm>
            <a:off x="9800539" y="3583534"/>
            <a:ext cx="0" cy="1736446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0" name="Budget No V"/>
          <p:cNvCxnSpPr/>
          <p:nvPr/>
        </p:nvCxnSpPr>
        <p:spPr>
          <a:xfrm>
            <a:off x="5950001" y="3839566"/>
            <a:ext cx="0" cy="741578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21" name="Budget No H"/>
          <p:cNvCxnSpPr/>
          <p:nvPr/>
        </p:nvCxnSpPr>
        <p:spPr>
          <a:xfrm>
            <a:off x="5950001" y="4581144"/>
            <a:ext cx="761695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22" name="Evidence Chip"/>
          <p:cNvSpPr txBox="1"/>
          <p:nvPr/>
        </p:nvSpPr>
        <p:spPr>
          <a:xfrm>
            <a:off x="3132734" y="3260750"/>
            <a:ext cx="1399032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36576" tIns="18288" rIns="36576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Holder-gated / Incumbent-led</a:t>
            </a:r>
          </a:p>
        </p:txBody>
      </p:sp>
      <p:cxnSp>
        <p:nvCxnSpPr>
          <p:cNvPr id="123" name="Shaping Likely"/>
          <p:cNvCxnSpPr/>
          <p:nvPr/>
        </p:nvCxnSpPr>
        <p:spPr>
          <a:xfrm>
            <a:off x="8780069" y="4837176"/>
            <a:ext cx="0" cy="482803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24" name="Verdict Chip"/>
          <p:cNvSpPr txBox="1"/>
          <p:nvPr/>
        </p:nvSpPr>
        <p:spPr>
          <a:xfrm>
            <a:off x="3544214" y="3706978"/>
            <a:ext cx="640080" cy="228600"/>
          </a:xfrm>
          <a:prstGeom prst="rect">
            <a:avLst/>
          </a:prstGeom>
          <a:solidFill>
            <a:srgbClr val="F2CCCC"/>
          </a:solidFill>
          <a:ln w="12700">
            <a:solidFill>
              <a:srgbClr val="C00000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25" name="Verdict Chip"/>
          <p:cNvSpPr txBox="1"/>
          <p:nvPr/>
        </p:nvSpPr>
        <p:spPr>
          <a:xfrm>
            <a:off x="8759952" y="3469234"/>
            <a:ext cx="640080" cy="228600"/>
          </a:xfrm>
          <a:prstGeom prst="rect">
            <a:avLst/>
          </a:prstGeom>
          <a:solidFill>
            <a:srgbClr val="D1E8DD"/>
          </a:solidFill>
          <a:ln w="12700">
            <a:solidFill>
              <a:srgbClr val="1B8A57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26" name="Verdict Chip"/>
          <p:cNvSpPr txBox="1"/>
          <p:nvPr/>
        </p:nvSpPr>
        <p:spPr>
          <a:xfrm>
            <a:off x="5629961" y="4113886"/>
            <a:ext cx="640080" cy="228600"/>
          </a:xfrm>
          <a:prstGeom prst="rect">
            <a:avLst/>
          </a:prstGeom>
          <a:solidFill>
            <a:srgbClr val="F2CCCC"/>
          </a:solidFill>
          <a:ln w="12700">
            <a:solidFill>
              <a:srgbClr val="C00000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latin typeface="Arial"/>
                <a:ea typeface="Arial"/>
                <a:cs typeface="Arial"/>
              </a:rPr>
              <a:t>No</a:t>
            </a:r>
          </a:p>
        </p:txBody>
      </p:sp>
      <p:cxnSp>
        <p:nvCxnSpPr>
          <p:cNvPr id="127" name="Shaping Not Likely"/>
          <p:cNvCxnSpPr/>
          <p:nvPr/>
        </p:nvCxnSpPr>
        <p:spPr>
          <a:xfrm>
            <a:off x="7248449" y="4837176"/>
            <a:ext cx="0" cy="482803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28" name="Evidence Chip"/>
          <p:cNvSpPr txBox="1"/>
          <p:nvPr/>
        </p:nvSpPr>
        <p:spPr>
          <a:xfrm>
            <a:off x="1225296" y="2511857"/>
            <a:ext cx="118872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36576" tIns="18288" rIns="36576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One-time</a:t>
            </a:r>
          </a:p>
        </p:txBody>
      </p:sp>
      <p:sp>
        <p:nvSpPr>
          <p:cNvPr id="129" name="Evidence Chip"/>
          <p:cNvSpPr txBox="1"/>
          <p:nvPr/>
        </p:nvSpPr>
        <p:spPr>
          <a:xfrm>
            <a:off x="5363870" y="2692908"/>
            <a:ext cx="1188720" cy="155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36576" tIns="18288" rIns="36576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Open competition</a:t>
            </a:r>
          </a:p>
        </p:txBody>
      </p:sp>
      <p:sp>
        <p:nvSpPr>
          <p:cNvPr id="130" name="Evidence Chip"/>
          <p:cNvSpPr txBox="1"/>
          <p:nvPr/>
        </p:nvSpPr>
        <p:spPr>
          <a:xfrm>
            <a:off x="3203143" y="1670609"/>
            <a:ext cx="13716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36576" tIns="18288" rIns="36576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FYDP / recurring obligations</a:t>
            </a:r>
          </a:p>
        </p:txBody>
      </p:sp>
      <p:sp>
        <p:nvSpPr>
          <p:cNvPr id="131" name="Verdict Chip"/>
          <p:cNvSpPr txBox="1"/>
          <p:nvPr/>
        </p:nvSpPr>
        <p:spPr>
          <a:xfrm>
            <a:off x="8460029" y="4983480"/>
            <a:ext cx="640080" cy="228600"/>
          </a:xfrm>
          <a:prstGeom prst="rect">
            <a:avLst/>
          </a:prstGeom>
          <a:solidFill>
            <a:srgbClr val="D1E8DD"/>
          </a:solidFill>
          <a:ln w="12700">
            <a:solidFill>
              <a:srgbClr val="1B8A57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latin typeface="Arial"/>
                <a:ea typeface="Arial"/>
                <a:cs typeface="Arial"/>
              </a:rPr>
              <a:t>Likely</a:t>
            </a:r>
          </a:p>
        </p:txBody>
      </p:sp>
      <p:sp>
        <p:nvSpPr>
          <p:cNvPr id="132" name="Evidence Chip"/>
          <p:cNvSpPr txBox="1"/>
          <p:nvPr/>
        </p:nvSpPr>
        <p:spPr>
          <a:xfrm>
            <a:off x="7708392" y="3446374"/>
            <a:ext cx="8229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36576" tIns="18288" rIns="36576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Requested appropriations</a:t>
            </a:r>
          </a:p>
        </p:txBody>
      </p:sp>
      <p:sp>
        <p:nvSpPr>
          <p:cNvPr id="133" name="Verdict Chip"/>
          <p:cNvSpPr txBox="1"/>
          <p:nvPr/>
        </p:nvSpPr>
        <p:spPr>
          <a:xfrm>
            <a:off x="6921094" y="4983480"/>
            <a:ext cx="640080" cy="228600"/>
          </a:xfrm>
          <a:prstGeom prst="rect">
            <a:avLst/>
          </a:prstGeom>
          <a:solidFill>
            <a:srgbClr val="F2CCCC"/>
          </a:solidFill>
          <a:ln w="12700">
            <a:solidFill>
              <a:srgbClr val="C00000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latin typeface="Arial"/>
                <a:ea typeface="Arial"/>
                <a:cs typeface="Arial"/>
              </a:rPr>
              <a:t>Not likely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Defense Market Strategy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Market Access Framework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Recompete Timing | Award type anchors the baseline date, color of money caps how late it can fall, and a handful of variables and signals move it from there.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100" name="Upper Bound Card"/>
          <p:cNvSpPr txBox="1"/>
          <p:nvPr/>
        </p:nvSpPr>
        <p:spPr>
          <a:xfrm>
            <a:off x="452628" y="1532534"/>
            <a:ext cx="1945843" cy="129479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8288" tIns="36576" rIns="18288" bIns="36576"/>
          <a:lstStyle/>
          <a:p>
            <a:pPr algn="ctr">
              <a:lnSpc>
                <a:spcPct val="100000"/>
              </a:lnSpc>
              <a:spcAft>
                <a:spcPts val="160"/>
              </a:spcAft>
              <a:buNone/>
            </a:pPr>
            <a:r>
              <a:rPr lang="en-US" sz="1200" b="1" i="1" u="sng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Upper Bound</a:t>
            </a:r>
          </a:p>
          <a:p>
            <a:pPr algn="ctr">
              <a:lnSpc>
                <a:spcPct val="100000"/>
              </a:lnSpc>
              <a:spcAft>
                <a:spcPts val="160"/>
              </a:spcAft>
              <a:buNone/>
            </a:pPr>
            <a:endParaRPr lang="en-US" sz="1000"/>
          </a:p>
          <a:p>
            <a:pPr algn="ctr">
              <a:lnSpc>
                <a:spcPct val="100000"/>
              </a:lnSpc>
              <a:spcAft>
                <a:spcPts val="160"/>
              </a:spcAft>
              <a:buNone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Color-of-money obligation period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Latest feasible award that can use a given FY’s money — not period of performance.</a:t>
            </a:r>
          </a:p>
        </p:txBody>
      </p:sp>
      <p:sp>
        <p:nvSpPr>
          <p:cNvPr id="101" name="Color of Money Bar"/>
          <p:cNvSpPr txBox="1"/>
          <p:nvPr/>
        </p:nvSpPr>
        <p:spPr>
          <a:xfrm>
            <a:off x="2591410" y="1532534"/>
            <a:ext cx="9144000" cy="347472"/>
          </a:xfrm>
          <a:prstGeom prst="rect">
            <a:avLst/>
          </a:prstGeom>
          <a:solidFill>
            <a:srgbClr val="007770"/>
          </a:solidFill>
          <a:ln w="6350">
            <a:solidFill>
              <a:srgbClr val="000000"/>
            </a:solidFill>
          </a:ln>
        </p:spPr>
        <p:txBody>
          <a:bodyPr wrap="square" anchor="ctr" lIns="91440" tIns="27432" rIns="91440" bIns="27432"/>
          <a:lstStyle/>
          <a:p>
            <a:pPr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SCN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|  5-year obligation availability</a:t>
            </a:r>
          </a:p>
        </p:txBody>
      </p:sp>
      <p:sp>
        <p:nvSpPr>
          <p:cNvPr id="102" name="Color of Money Bar"/>
          <p:cNvSpPr txBox="1"/>
          <p:nvPr/>
        </p:nvSpPr>
        <p:spPr>
          <a:xfrm>
            <a:off x="2591410" y="2006194"/>
            <a:ext cx="5486400" cy="347472"/>
          </a:xfrm>
          <a:prstGeom prst="rect">
            <a:avLst/>
          </a:prstGeom>
          <a:solidFill>
            <a:srgbClr val="447BB2"/>
          </a:solidFill>
          <a:ln w="6350">
            <a:solidFill>
              <a:srgbClr val="000000"/>
            </a:solidFill>
          </a:ln>
        </p:spPr>
        <p:txBody>
          <a:bodyPr wrap="square" anchor="ctr" lIns="91440" tIns="27432" rIns="91440" bIns="27432"/>
          <a:lstStyle/>
          <a:p>
            <a:pPr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Procurement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|  3-year obligation availability</a:t>
            </a:r>
          </a:p>
        </p:txBody>
      </p:sp>
      <p:sp>
        <p:nvSpPr>
          <p:cNvPr id="103" name="Color of Money Bar"/>
          <p:cNvSpPr txBox="1"/>
          <p:nvPr/>
        </p:nvSpPr>
        <p:spPr>
          <a:xfrm>
            <a:off x="2587752" y="2479853"/>
            <a:ext cx="3657600" cy="347472"/>
          </a:xfrm>
          <a:prstGeom prst="rect">
            <a:avLst/>
          </a:prstGeom>
          <a:solidFill>
            <a:srgbClr val="7030A0"/>
          </a:solidFill>
          <a:ln w="6350">
            <a:solidFill>
              <a:srgbClr val="000000"/>
            </a:solidFill>
          </a:ln>
        </p:spPr>
        <p:txBody>
          <a:bodyPr wrap="square" anchor="ctr" lIns="91440" tIns="27432" rIns="91440" bIns="27432"/>
          <a:lstStyle/>
          <a:p>
            <a:pPr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RDT&amp;E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|  2-year obligation availability</a:t>
            </a:r>
          </a:p>
        </p:txBody>
      </p:sp>
      <p:sp>
        <p:nvSpPr>
          <p:cNvPr id="104" name="Upper Bound Caption"/>
          <p:cNvSpPr txBox="1"/>
          <p:nvPr/>
        </p:nvSpPr>
        <p:spPr>
          <a:xfrm>
            <a:off x="2591410" y="2912364"/>
            <a:ext cx="5468112" cy="1371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en-US" sz="800" i="1" dirty="0">
                <a:latin typeface="Arial"/>
                <a:ea typeface="Arial"/>
                <a:cs typeface="Arial"/>
              </a:rPr>
              <a:t>Bar length = how long that year’s money stays obligable; the cap moves only if a later appropriation funds the award.</a:t>
            </a:r>
          </a:p>
        </p:txBody>
      </p:sp>
      <p:sp>
        <p:nvSpPr>
          <p:cNvPr id="105" name="Funding Read Card"/>
          <p:cNvSpPr txBox="1"/>
          <p:nvPr/>
        </p:nvSpPr>
        <p:spPr>
          <a:xfrm>
            <a:off x="8270748" y="2067458"/>
            <a:ext cx="3464662" cy="792785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txBody>
          <a:bodyPr wrap="square" anchor="t" lIns="73152" tIns="36576" rIns="73152" bIns="36576"/>
          <a:lstStyle/>
          <a:p>
            <a:pPr>
              <a:lnSpc>
                <a:spcPct val="100000"/>
              </a:lnSpc>
              <a:spcAft>
                <a:spcPts val="11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Funding read</a:t>
            </a:r>
          </a:p>
          <a:p>
            <a:pPr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color of money funds it, and how much obligation life remains — that sets the latest feasible award.</a:t>
            </a:r>
          </a:p>
        </p:txBody>
      </p:sp>
      <p:sp>
        <p:nvSpPr>
          <p:cNvPr id="106" name="Color Money Chip"/>
          <p:cNvSpPr txBox="1"/>
          <p:nvPr/>
        </p:nvSpPr>
        <p:spPr>
          <a:xfrm>
            <a:off x="8435340" y="2640787"/>
            <a:ext cx="713232" cy="18288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wrap="non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O&amp;M</a:t>
            </a:r>
            <a:r>
              <a:rPr 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1 yr</a:t>
            </a:r>
          </a:p>
        </p:txBody>
      </p:sp>
      <p:sp>
        <p:nvSpPr>
          <p:cNvPr id="107" name="Color Money Chip"/>
          <p:cNvSpPr txBox="1"/>
          <p:nvPr/>
        </p:nvSpPr>
        <p:spPr>
          <a:xfrm>
            <a:off x="9212580" y="2640787"/>
            <a:ext cx="713232" cy="1828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wrap="non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RDT&amp;E</a:t>
            </a:r>
            <a:r>
              <a:rPr 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2 yr</a:t>
            </a:r>
          </a:p>
        </p:txBody>
      </p:sp>
      <p:sp>
        <p:nvSpPr>
          <p:cNvPr id="108" name="Color Money Chip"/>
          <p:cNvSpPr txBox="1"/>
          <p:nvPr/>
        </p:nvSpPr>
        <p:spPr>
          <a:xfrm>
            <a:off x="9989820" y="2640787"/>
            <a:ext cx="713232" cy="182880"/>
          </a:xfrm>
          <a:prstGeom prst="rect">
            <a:avLst/>
          </a:prstGeom>
          <a:solidFill>
            <a:srgbClr val="447BB2"/>
          </a:solidFill>
          <a:ln>
            <a:noFill/>
          </a:ln>
        </p:spPr>
        <p:txBody>
          <a:bodyPr wrap="non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</a:t>
            </a:r>
            <a:r>
              <a:rPr 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3 yr</a:t>
            </a:r>
          </a:p>
        </p:txBody>
      </p:sp>
      <p:sp>
        <p:nvSpPr>
          <p:cNvPr id="109" name="Color Money Chip"/>
          <p:cNvSpPr txBox="1"/>
          <p:nvPr/>
        </p:nvSpPr>
        <p:spPr>
          <a:xfrm>
            <a:off x="10767060" y="2640787"/>
            <a:ext cx="713232" cy="182880"/>
          </a:xfrm>
          <a:prstGeom prst="rect">
            <a:avLst/>
          </a:prstGeom>
          <a:solidFill>
            <a:srgbClr val="007770"/>
          </a:solidFill>
          <a:ln>
            <a:noFill/>
          </a:ln>
        </p:spPr>
        <p:txBody>
          <a:bodyPr wrap="non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SCN</a:t>
            </a:r>
            <a:r>
              <a:rPr 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5 yr</a:t>
            </a:r>
          </a:p>
        </p:txBody>
      </p:sp>
      <p:sp>
        <p:nvSpPr>
          <p:cNvPr id="110" name="Likely Window Output"/>
          <p:cNvSpPr txBox="1"/>
          <p:nvPr/>
        </p:nvSpPr>
        <p:spPr>
          <a:xfrm>
            <a:off x="452628" y="3182112"/>
            <a:ext cx="756209" cy="2572207"/>
          </a:xfrm>
          <a:prstGeom prst="rect">
            <a:avLst/>
          </a:prstGeom>
          <a:solidFill>
            <a:srgbClr val="223E59"/>
          </a:solidFill>
          <a:ln w="12700">
            <a:solidFill>
              <a:srgbClr val="000000"/>
            </a:solidFill>
          </a:ln>
        </p:spPr>
        <p:txBody>
          <a:bodyPr wrap="square" anchor="ctr" lIns="27432" tIns="36576" rIns="27432" bIns="36576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u="sng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Likely Window</a:t>
            </a:r>
          </a:p>
        </p:txBody>
      </p:sp>
      <p:sp>
        <p:nvSpPr>
          <p:cNvPr id="111" name="Lane Spine"/>
          <p:cNvSpPr txBox="1"/>
          <p:nvPr/>
        </p:nvSpPr>
        <p:spPr>
          <a:xfrm>
            <a:off x="1297534" y="3182112"/>
            <a:ext cx="1100938" cy="1034186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27432" tIns="18288" rIns="27432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Anchor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by award type</a:t>
            </a:r>
          </a:p>
        </p:txBody>
      </p:sp>
      <p:sp>
        <p:nvSpPr>
          <p:cNvPr id="112" name="Flow Row"/>
          <p:cNvSpPr txBox="1"/>
          <p:nvPr/>
        </p:nvSpPr>
        <p:spPr>
          <a:xfrm>
            <a:off x="2591410" y="3182112"/>
            <a:ext cx="5468112" cy="324612"/>
          </a:xfrm>
          <a:prstGeom prst="rect">
            <a:avLst/>
          </a:prstGeom>
          <a:solidFill>
            <a:srgbClr val="F2F2F2"/>
          </a:solidFill>
          <a:ln w="6350">
            <a:solidFill>
              <a:srgbClr val="000000"/>
            </a:solidFill>
          </a:ln>
        </p:spPr>
        <p:txBody>
          <a:bodyPr wrap="square" anchor="ctr" lIns="60960" tIns="18288" rIns="60960" bIns="18288"/>
          <a:lstStyle/>
          <a:p>
            <a:pPr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Standalone definitive contract</a:t>
            </a:r>
            <a:r>
              <a:rPr lang="en-US" sz="8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  —  </a:t>
            </a:r>
            <a:r>
              <a:rPr lang="en-US" sz="8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ultimate completion + options</a:t>
            </a:r>
          </a:p>
        </p:txBody>
      </p:sp>
      <p:sp>
        <p:nvSpPr>
          <p:cNvPr id="113" name="Flow Row"/>
          <p:cNvSpPr txBox="1"/>
          <p:nvPr/>
        </p:nvSpPr>
        <p:spPr>
          <a:xfrm>
            <a:off x="2591410" y="3536899"/>
            <a:ext cx="5468112" cy="324612"/>
          </a:xfrm>
          <a:prstGeom prst="rect">
            <a:avLst/>
          </a:prstGeom>
          <a:solidFill>
            <a:srgbClr val="F2F2F2"/>
          </a:solidFill>
          <a:ln w="6350">
            <a:solidFill>
              <a:srgbClr val="000000"/>
            </a:solidFill>
          </a:ln>
        </p:spPr>
        <p:txBody>
          <a:bodyPr wrap="square" anchor="ctr" lIns="60960" tIns="18288" rIns="60960" bIns="18288"/>
          <a:lstStyle/>
          <a:p>
            <a:pPr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/ delivery order</a:t>
            </a:r>
            <a:r>
              <a:rPr lang="en-US" sz="8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  —  </a:t>
            </a:r>
            <a:r>
              <a:rPr lang="en-US" sz="8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order completion + order options</a:t>
            </a:r>
          </a:p>
        </p:txBody>
      </p:sp>
      <p:sp>
        <p:nvSpPr>
          <p:cNvPr id="114" name="Flow Row"/>
          <p:cNvSpPr txBox="1"/>
          <p:nvPr/>
        </p:nvSpPr>
        <p:spPr>
          <a:xfrm>
            <a:off x="2591410" y="3891686"/>
            <a:ext cx="5468112" cy="324612"/>
          </a:xfrm>
          <a:prstGeom prst="rect">
            <a:avLst/>
          </a:prstGeom>
          <a:solidFill>
            <a:srgbClr val="F2F2F2"/>
          </a:solidFill>
          <a:ln w="6350">
            <a:solidFill>
              <a:srgbClr val="000000"/>
            </a:solidFill>
          </a:ln>
        </p:spPr>
        <p:txBody>
          <a:bodyPr wrap="square" anchor="ctr" lIns="60960" tIns="18288" rIns="60960" bIns="18288"/>
          <a:lstStyle/>
          <a:p>
            <a:pPr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Parent IDIQ / MAC / GWAC</a:t>
            </a:r>
            <a:r>
              <a:rPr lang="en-US" sz="8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  —  </a:t>
            </a:r>
            <a:r>
              <a:rPr lang="en-US" sz="8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last date to order + parent options</a:t>
            </a:r>
          </a:p>
        </p:txBody>
      </p:sp>
      <p:sp>
        <p:nvSpPr>
          <p:cNvPr id="115" name="Lane Spine"/>
          <p:cNvSpPr txBox="1"/>
          <p:nvPr/>
        </p:nvSpPr>
        <p:spPr>
          <a:xfrm>
            <a:off x="1297534" y="4306824"/>
            <a:ext cx="1100938" cy="679399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27432" tIns="18288" rIns="27432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Shifts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pull / push</a:t>
            </a:r>
          </a:p>
        </p:txBody>
      </p:sp>
      <p:sp>
        <p:nvSpPr>
          <p:cNvPr id="116" name="Flow Row"/>
          <p:cNvSpPr txBox="1"/>
          <p:nvPr/>
        </p:nvSpPr>
        <p:spPr>
          <a:xfrm>
            <a:off x="2591410" y="4306824"/>
            <a:ext cx="5468112" cy="324612"/>
          </a:xfrm>
          <a:prstGeom prst="rect">
            <a:avLst/>
          </a:prstGeom>
          <a:solidFill>
            <a:srgbClr val="1B8A57">
              <a:alpha val="16000"/>
            </a:srgbClr>
          </a:solidFill>
          <a:ln w="9525">
            <a:solidFill>
              <a:srgbClr val="1B8A57"/>
            </a:solidFill>
          </a:ln>
        </p:spPr>
        <p:txBody>
          <a:bodyPr wrap="square" anchor="ctr" lIns="60960" tIns="18288" rIns="60960" bIns="18288"/>
          <a:lstStyle/>
          <a:p>
            <a:pPr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Pull earlier  ↑</a:t>
            </a:r>
            <a:r>
              <a:rPr lang="en-US" sz="8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  |  </a:t>
            </a:r>
            <a:r>
              <a:rPr lang="en-US" sz="80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award type, value &amp; complexity, full-and-open, incumbency, scope changes</a:t>
            </a:r>
          </a:p>
        </p:txBody>
      </p:sp>
      <p:sp>
        <p:nvSpPr>
          <p:cNvPr id="117" name="Flow Row"/>
          <p:cNvSpPr txBox="1"/>
          <p:nvPr/>
        </p:nvSpPr>
        <p:spPr>
          <a:xfrm>
            <a:off x="2591410" y="4661611"/>
            <a:ext cx="5468112" cy="324612"/>
          </a:xfrm>
          <a:prstGeom prst="rect">
            <a:avLst/>
          </a:prstGeom>
          <a:solidFill>
            <a:srgbClr val="C00000">
              <a:alpha val="16000"/>
            </a:srgbClr>
          </a:solidFill>
          <a:ln w="9525">
            <a:solidFill>
              <a:srgbClr val="C00000"/>
            </a:solidFill>
          </a:ln>
        </p:spPr>
        <p:txBody>
          <a:bodyPr wrap="square" anchor="ctr" lIns="60960" tIns="18288" rIns="60960" bIns="18288"/>
          <a:lstStyle/>
          <a:p>
            <a:pPr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Push later  ↓</a:t>
            </a:r>
            <a:r>
              <a:rPr lang="en-US" sz="8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  |  </a:t>
            </a:r>
            <a:r>
              <a:rPr lang="en-US" sz="80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options exercised, bridge / sole-source, protest delay, date drift</a:t>
            </a:r>
          </a:p>
        </p:txBody>
      </p:sp>
      <p:sp>
        <p:nvSpPr>
          <p:cNvPr id="118" name="Lane Spine"/>
          <p:cNvSpPr txBox="1"/>
          <p:nvPr/>
        </p:nvSpPr>
        <p:spPr>
          <a:xfrm>
            <a:off x="1297534" y="5074920"/>
            <a:ext cx="1100938" cy="679399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27432" tIns="18288" rIns="27432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Signals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early indicators</a:t>
            </a:r>
          </a:p>
        </p:txBody>
      </p:sp>
      <p:sp>
        <p:nvSpPr>
          <p:cNvPr id="119" name="Flow Row"/>
          <p:cNvSpPr txBox="1"/>
          <p:nvPr/>
        </p:nvSpPr>
        <p:spPr>
          <a:xfrm>
            <a:off x="2591410" y="5074920"/>
            <a:ext cx="5468112" cy="324612"/>
          </a:xfrm>
          <a:prstGeom prst="rect">
            <a:avLst/>
          </a:prstGeom>
          <a:solidFill>
            <a:srgbClr val="1B8A57">
              <a:alpha val="16000"/>
            </a:srgbClr>
          </a:solidFill>
          <a:ln w="9525">
            <a:solidFill>
              <a:srgbClr val="1B8A57"/>
            </a:solidFill>
          </a:ln>
        </p:spPr>
        <p:txBody>
          <a:bodyPr wrap="square" anchor="ctr" lIns="60960" tIns="18288" rIns="60960" bIns="18288"/>
          <a:lstStyle/>
          <a:p>
            <a:pPr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Buy is forming</a:t>
            </a:r>
            <a:r>
              <a:rPr lang="en-US" sz="8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  |  </a:t>
            </a:r>
            <a:r>
              <a:rPr lang="en-US" sz="80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FYDP / obligations, forecast, sources-sought, draft RFP</a:t>
            </a:r>
          </a:p>
        </p:txBody>
      </p:sp>
      <p:sp>
        <p:nvSpPr>
          <p:cNvPr id="120" name="Flow Row"/>
          <p:cNvSpPr txBox="1"/>
          <p:nvPr/>
        </p:nvSpPr>
        <p:spPr>
          <a:xfrm>
            <a:off x="2591410" y="5429707"/>
            <a:ext cx="5468112" cy="324612"/>
          </a:xfrm>
          <a:prstGeom prst="rect">
            <a:avLst/>
          </a:prstGeom>
          <a:solidFill>
            <a:srgbClr val="447BB2">
              <a:alpha val="16000"/>
            </a:srgbClr>
          </a:solidFill>
          <a:ln w="9525">
            <a:solidFill>
              <a:srgbClr val="447BB2"/>
            </a:solidFill>
          </a:ln>
        </p:spPr>
        <p:txBody>
          <a:bodyPr wrap="square" anchor="ctr" lIns="60960" tIns="18288" rIns="60960" bIns="18288"/>
          <a:lstStyle/>
          <a:p>
            <a:pPr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 intel</a:t>
            </a:r>
            <a:r>
              <a:rPr lang="en-US" sz="8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  |  </a:t>
            </a:r>
            <a:r>
              <a:rPr lang="en-US" sz="80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acquisition authority, operational sponsor, PM signal</a:t>
            </a:r>
          </a:p>
        </p:txBody>
      </p:sp>
      <p:sp>
        <p:nvSpPr>
          <p:cNvPr id="121" name="Date Misleads Card"/>
          <p:cNvSpPr txBox="1"/>
          <p:nvPr/>
        </p:nvSpPr>
        <p:spPr>
          <a:xfrm>
            <a:off x="8270748" y="3182112"/>
            <a:ext cx="3464662" cy="1783080"/>
          </a:xfrm>
          <a:prstGeom prst="rect">
            <a:avLst/>
          </a:prstGeom>
          <a:solidFill>
            <a:srgbClr val="CEDDEC"/>
          </a:solidFill>
          <a:ln w="12700">
            <a:solidFill>
              <a:srgbClr val="223E59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t" lIns="91440" tIns="73152" rIns="91440" bIns="54864"/>
          <a:lstStyle/>
          <a:p>
            <a:pPr>
              <a:lnSpc>
                <a:spcPct val="100000"/>
              </a:lnSpc>
              <a:spcAft>
                <a:spcPts val="6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When the date misleads</a:t>
            </a:r>
          </a:p>
          <a:p>
            <a:pPr>
              <a:lnSpc>
                <a:spcPct val="100000"/>
              </a:lnSpc>
              <a:buNone/>
            </a:pPr>
            <a:endParaRPr lang="en-US" sz="800"/>
          </a:p>
          <a:p>
            <a:pPr marL="142875" indent="-142875">
              <a:lnSpc>
                <a:spcPct val="10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Options remain: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may trigger an option, not a recompete</a:t>
            </a:r>
          </a:p>
          <a:p>
            <a:pPr marL="142875" indent="-142875">
              <a:lnSpc>
                <a:spcPct val="10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LDO ≠ performance end: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 ordering deadline, not a PoP</a:t>
            </a:r>
          </a:p>
          <a:p>
            <a:pPr marL="142875" indent="-142875">
              <a:lnSpc>
                <a:spcPct val="10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Parent / child mismatch: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child orders can outlast the parent</a:t>
            </a:r>
          </a:p>
          <a:p>
            <a:pPr marL="142875" indent="-142875">
              <a:lnSpc>
                <a:spcPct val="10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Successor early: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rebuy can land before incumbent LDO</a:t>
            </a:r>
          </a:p>
          <a:p>
            <a:pPr marL="142875" indent="-1428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Retention path: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bridge or in-scope mod can defer it</a:t>
            </a:r>
          </a:p>
        </p:txBody>
      </p:sp>
      <p:cxnSp>
        <p:nvCxnSpPr>
          <p:cNvPr id="122" name="Lane Cue"/>
          <p:cNvCxnSpPr/>
          <p:nvPr/>
        </p:nvCxnSpPr>
        <p:spPr>
          <a:xfrm>
            <a:off x="2404872" y="3703320"/>
            <a:ext cx="182880" cy="0"/>
          </a:xfrm>
          <a:prstGeom prst="line">
            <a:avLst/>
          </a:prstGeom>
          <a:ln w="6350">
            <a:solidFill>
              <a:srgbClr val="162029"/>
            </a:solidFill>
            <a:tailEnd type="triangle" w="med" len="med"/>
          </a:ln>
        </p:spPr>
      </p:cxnSp>
      <p:cxnSp>
        <p:nvCxnSpPr>
          <p:cNvPr id="123" name="Lane Cue"/>
          <p:cNvCxnSpPr/>
          <p:nvPr/>
        </p:nvCxnSpPr>
        <p:spPr>
          <a:xfrm>
            <a:off x="2404872" y="4645152"/>
            <a:ext cx="182880" cy="0"/>
          </a:xfrm>
          <a:prstGeom prst="line">
            <a:avLst/>
          </a:prstGeom>
          <a:ln w="6350">
            <a:solidFill>
              <a:srgbClr val="162029"/>
            </a:solidFill>
            <a:tailEnd type="triangle" w="med" len="med"/>
          </a:ln>
        </p:spPr>
      </p:cxnSp>
      <p:cxnSp>
        <p:nvCxnSpPr>
          <p:cNvPr id="124" name="Lane Cue"/>
          <p:cNvCxnSpPr/>
          <p:nvPr/>
        </p:nvCxnSpPr>
        <p:spPr>
          <a:xfrm>
            <a:off x="2404872" y="5413248"/>
            <a:ext cx="182880" cy="0"/>
          </a:xfrm>
          <a:prstGeom prst="line">
            <a:avLst/>
          </a:prstGeom>
          <a:ln w="6350">
            <a:solidFill>
              <a:srgbClr val="162029"/>
            </a:solidFill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Other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Defense Market Strategy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Market Access Framework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Contract Addressability | …</a:t>
            </a:r>
          </a:p>
        </p:txBody>
      </p:sp>
      <p:sp>
        <p:nvSpPr>
          <p:cNvPr id="100" name="Label"/>
          <p:cNvSpPr txBox="1"/>
          <p:nvPr/>
        </p:nvSpPr>
        <p:spPr>
          <a:xfrm>
            <a:off x="452628" y="1267358"/>
            <a:ext cx="2702966" cy="5861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Does the Navy need to procure more stuff…?</a:t>
            </a:r>
          </a:p>
        </p:txBody>
      </p:sp>
      <p:sp>
        <p:nvSpPr>
          <p:cNvPr id="101" name="Label"/>
          <p:cNvSpPr txBox="1"/>
          <p:nvPr/>
        </p:nvSpPr>
        <p:spPr>
          <a:xfrm>
            <a:off x="1805026" y="2190902"/>
            <a:ext cx="2702966" cy="5861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Who can compete?</a:t>
            </a:r>
          </a:p>
        </p:txBody>
      </p:sp>
      <p:sp>
        <p:nvSpPr>
          <p:cNvPr id="102" name="Label"/>
          <p:cNvSpPr txBox="1"/>
          <p:nvPr/>
        </p:nvSpPr>
        <p:spPr>
          <a:xfrm>
            <a:off x="3391510" y="3060497"/>
            <a:ext cx="2702966" cy="5861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 there budget alignment?</a:t>
            </a:r>
          </a:p>
        </p:txBody>
      </p:sp>
      <p:sp>
        <p:nvSpPr>
          <p:cNvPr id="103" name="Label"/>
          <p:cNvSpPr txBox="1"/>
          <p:nvPr/>
        </p:nvSpPr>
        <p:spPr>
          <a:xfrm>
            <a:off x="5666537" y="3954780"/>
            <a:ext cx="2703881" cy="58613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is likelihood of shaping?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4227271" y="1669694"/>
            <a:ext cx="2154326" cy="248717"/>
          </a:xfrm>
          <a:prstGeom prst="rect">
            <a:avLst/>
          </a:prstGeom>
          <a:solidFill>
            <a:srgbClr val="447BB2">
              <a:alpha val="20000"/>
            </a:srgbClr>
          </a:solidFill>
          <a:ln w="19050">
            <a:solidFill>
              <a:srgbClr val="447BB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FYDP / “To Complete” items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5654650" y="2598725"/>
            <a:ext cx="2154326" cy="248717"/>
          </a:xfrm>
          <a:prstGeom prst="rect">
            <a:avLst/>
          </a:prstGeom>
          <a:solidFill>
            <a:srgbClr val="447BB2">
              <a:alpha val="20000"/>
            </a:srgbClr>
          </a:solidFill>
          <a:ln w="19050">
            <a:solidFill>
              <a:srgbClr val="447BB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Open – 1 liner why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3305556" y="1681582"/>
            <a:ext cx="785470" cy="225857"/>
          </a:xfrm>
          <a:prstGeom prst="rect">
            <a:avLst/>
          </a:prstGeom>
          <a:solidFill>
            <a:srgbClr val="1B8A57">
              <a:alpha val="20000"/>
            </a:srgbClr>
          </a:solidFill>
          <a:ln w="19050">
            <a:solidFill>
              <a:srgbClr val="1B8A57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07" name="Label"/>
          <p:cNvSpPr txBox="1"/>
          <p:nvPr/>
        </p:nvSpPr>
        <p:spPr>
          <a:xfrm>
            <a:off x="7050938" y="3053182"/>
            <a:ext cx="2154326" cy="248717"/>
          </a:xfrm>
          <a:prstGeom prst="rect">
            <a:avLst/>
          </a:prstGeom>
          <a:solidFill>
            <a:srgbClr val="447BB2">
              <a:alpha val="20000"/>
            </a:srgbClr>
          </a:solidFill>
          <a:ln w="19050">
            <a:solidFill>
              <a:srgbClr val="447BB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Requested appropriations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1411834" y="1890065"/>
            <a:ext cx="785470" cy="225857"/>
          </a:xfrm>
          <a:prstGeom prst="rect">
            <a:avLst/>
          </a:prstGeom>
          <a:solidFill>
            <a:srgbClr val="C00000">
              <a:alpha val="20000"/>
            </a:srgbClr>
          </a:solidFill>
          <a:ln w="19050">
            <a:solidFill>
              <a:srgbClr val="C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No: </a:t>
            </a:r>
          </a:p>
        </p:txBody>
      </p:sp>
      <p:sp>
        <p:nvSpPr>
          <p:cNvPr id="109" name="Label"/>
          <p:cNvSpPr txBox="1"/>
          <p:nvPr/>
        </p:nvSpPr>
        <p:spPr>
          <a:xfrm>
            <a:off x="4589374" y="2609698"/>
            <a:ext cx="785470" cy="225857"/>
          </a:xfrm>
          <a:prstGeom prst="rect">
            <a:avLst/>
          </a:prstGeom>
          <a:solidFill>
            <a:srgbClr val="1B8A57">
              <a:alpha val="20000"/>
            </a:srgbClr>
          </a:solidFill>
          <a:ln w="19050">
            <a:solidFill>
              <a:srgbClr val="1B8A57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10" name="Label"/>
          <p:cNvSpPr txBox="1"/>
          <p:nvPr/>
        </p:nvSpPr>
        <p:spPr>
          <a:xfrm>
            <a:off x="6137453" y="3076042"/>
            <a:ext cx="785470" cy="225857"/>
          </a:xfrm>
          <a:prstGeom prst="rect">
            <a:avLst/>
          </a:prstGeom>
          <a:solidFill>
            <a:srgbClr val="1B8A57">
              <a:alpha val="20000"/>
            </a:srgbClr>
          </a:solidFill>
          <a:ln w="19050">
            <a:solidFill>
              <a:srgbClr val="1B8A57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11" name="Label"/>
          <p:cNvSpPr txBox="1"/>
          <p:nvPr/>
        </p:nvSpPr>
        <p:spPr>
          <a:xfrm>
            <a:off x="8419795" y="3954780"/>
            <a:ext cx="785470" cy="225857"/>
          </a:xfrm>
          <a:prstGeom prst="rect">
            <a:avLst/>
          </a:prstGeom>
          <a:solidFill>
            <a:srgbClr val="1B8A57">
              <a:alpha val="20000"/>
            </a:srgbClr>
          </a:solidFill>
          <a:ln w="19050">
            <a:solidFill>
              <a:srgbClr val="1B8A57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Likely</a:t>
            </a:r>
          </a:p>
        </p:txBody>
      </p:sp>
      <p:sp>
        <p:nvSpPr>
          <p:cNvPr id="112" name="Label"/>
          <p:cNvSpPr txBox="1"/>
          <p:nvPr/>
        </p:nvSpPr>
        <p:spPr>
          <a:xfrm>
            <a:off x="2763317" y="2801722"/>
            <a:ext cx="785470" cy="225857"/>
          </a:xfrm>
          <a:prstGeom prst="rect">
            <a:avLst/>
          </a:prstGeom>
          <a:solidFill>
            <a:srgbClr val="C00000">
              <a:alpha val="20000"/>
            </a:srgbClr>
          </a:solidFill>
          <a:ln w="19050">
            <a:solidFill>
              <a:srgbClr val="C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No: </a:t>
            </a:r>
          </a:p>
        </p:txBody>
      </p:sp>
      <p:sp>
        <p:nvSpPr>
          <p:cNvPr id="113" name="Label"/>
          <p:cNvSpPr txBox="1"/>
          <p:nvPr/>
        </p:nvSpPr>
        <p:spPr>
          <a:xfrm>
            <a:off x="4315054" y="3697834"/>
            <a:ext cx="785470" cy="225857"/>
          </a:xfrm>
          <a:prstGeom prst="rect">
            <a:avLst/>
          </a:prstGeom>
          <a:solidFill>
            <a:srgbClr val="C00000">
              <a:alpha val="20000"/>
            </a:srgbClr>
          </a:solidFill>
          <a:ln w="19050">
            <a:solidFill>
              <a:srgbClr val="C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No: </a:t>
            </a:r>
          </a:p>
        </p:txBody>
      </p:sp>
      <p:sp>
        <p:nvSpPr>
          <p:cNvPr id="114" name="Label"/>
          <p:cNvSpPr txBox="1"/>
          <p:nvPr/>
        </p:nvSpPr>
        <p:spPr>
          <a:xfrm>
            <a:off x="6484925" y="4705502"/>
            <a:ext cx="1045159" cy="225857"/>
          </a:xfrm>
          <a:prstGeom prst="rect">
            <a:avLst/>
          </a:prstGeom>
          <a:solidFill>
            <a:srgbClr val="C00000">
              <a:alpha val="20000"/>
            </a:srgbClr>
          </a:solidFill>
          <a:ln w="19050">
            <a:solidFill>
              <a:srgbClr val="C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Not likely</a:t>
            </a:r>
          </a:p>
        </p:txBody>
      </p:sp>
      <p:sp>
        <p:nvSpPr>
          <p:cNvPr id="115" name="Label"/>
          <p:cNvSpPr txBox="1"/>
          <p:nvPr/>
        </p:nvSpPr>
        <p:spPr>
          <a:xfrm>
            <a:off x="9255557" y="3954780"/>
            <a:ext cx="2154326" cy="248717"/>
          </a:xfrm>
          <a:prstGeom prst="rect">
            <a:avLst/>
          </a:prstGeom>
          <a:solidFill>
            <a:srgbClr val="447BB2">
              <a:alpha val="20000"/>
            </a:srgbClr>
          </a:solidFill>
          <a:ln w="19050">
            <a:solidFill>
              <a:srgbClr val="447BB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Requested appropriations</a:t>
            </a:r>
          </a:p>
        </p:txBody>
      </p:sp>
      <p:sp>
        <p:nvSpPr>
          <p:cNvPr id="116" name="Label"/>
          <p:cNvSpPr txBox="1"/>
          <p:nvPr/>
        </p:nvSpPr>
        <p:spPr>
          <a:xfrm>
            <a:off x="2005279" y="3163824"/>
            <a:ext cx="2154326" cy="248717"/>
          </a:xfrm>
          <a:prstGeom prst="rect">
            <a:avLst/>
          </a:prstGeom>
          <a:solidFill>
            <a:srgbClr val="447BB2">
              <a:alpha val="20000"/>
            </a:srgbClr>
          </a:solidFill>
          <a:ln w="19050">
            <a:solidFill>
              <a:srgbClr val="447BB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Incumbents only</a:t>
            </a:r>
          </a:p>
        </p:txBody>
      </p:sp>
      <p:sp>
        <p:nvSpPr>
          <p:cNvPr id="117" name="Rectangle 60"/>
          <p:cNvSpPr txBox="1"/>
          <p:nvPr/>
        </p:nvSpPr>
        <p:spPr>
          <a:xfrm>
            <a:off x="452628" y="5319979"/>
            <a:ext cx="7196328" cy="292608"/>
          </a:xfrm>
          <a:prstGeom prst="rect">
            <a:avLst/>
          </a:prstGeom>
          <a:solidFill>
            <a:srgbClr val="F2F2F2"/>
          </a:solidFill>
          <a:ln w="19050">
            <a:solidFill>
              <a:srgbClr val="80808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Non-addressable</a:t>
            </a:r>
          </a:p>
        </p:txBody>
      </p:sp>
      <p:sp>
        <p:nvSpPr>
          <p:cNvPr id="118" name="Rectangle 64"/>
          <p:cNvSpPr txBox="1"/>
          <p:nvPr/>
        </p:nvSpPr>
        <p:spPr>
          <a:xfrm>
            <a:off x="7865669" y="5319979"/>
            <a:ext cx="3869741" cy="292608"/>
          </a:xfrm>
          <a:prstGeom prst="rect">
            <a:avLst/>
          </a:prstGeom>
          <a:solidFill>
            <a:srgbClr val="447BB2"/>
          </a:solidFill>
          <a:ln w="19050">
            <a:solidFill>
              <a:srgbClr val="0E1924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Addressable</a:t>
            </a:r>
          </a:p>
        </p:txBody>
      </p:sp>
      <p:cxnSp>
        <p:nvCxnSpPr>
          <p:cNvPr id="119" name="Connector: Elbow 83"/>
          <p:cNvCxnSpPr/>
          <p:nvPr/>
        </p:nvCxnSpPr>
        <p:spPr>
          <a:xfrm>
            <a:off x="6094476" y="3354019"/>
            <a:ext cx="3706063" cy="1966874"/>
          </a:xfrm>
          <a:prstGeom prst="bentConnector2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0" name="Connector: Elbow 86"/>
          <p:cNvCxnSpPr/>
          <p:nvPr/>
        </p:nvCxnSpPr>
        <p:spPr>
          <a:xfrm>
            <a:off x="8369503" y="4248302"/>
            <a:ext cx="785470" cy="1072591"/>
          </a:xfrm>
          <a:prstGeom prst="bentConnector2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1" name="Straight Arrow Connector 90"/>
          <p:cNvCxnSpPr/>
          <p:nvPr/>
        </p:nvCxnSpPr>
        <p:spPr>
          <a:xfrm flipH="1">
            <a:off x="1805026" y="1852574"/>
            <a:ext cx="0" cy="3467405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2" name="Straight Arrow Connector 91"/>
          <p:cNvCxnSpPr/>
          <p:nvPr/>
        </p:nvCxnSpPr>
        <p:spPr>
          <a:xfrm flipH="1">
            <a:off x="3156509" y="2777033"/>
            <a:ext cx="0" cy="2542946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3" name="Connector: Elbow 98"/>
          <p:cNvCxnSpPr/>
          <p:nvPr/>
        </p:nvCxnSpPr>
        <p:spPr>
          <a:xfrm rot="16200000" flipH="1">
            <a:off x="4903927" y="3485693"/>
            <a:ext cx="601675" cy="923544"/>
          </a:xfrm>
          <a:prstGeom prst="bentConnector2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4" name="Connector: Elbow 125"/>
          <p:cNvCxnSpPr/>
          <p:nvPr/>
        </p:nvCxnSpPr>
        <p:spPr>
          <a:xfrm>
            <a:off x="3156509" y="1559966"/>
            <a:ext cx="12802" cy="630936"/>
          </a:xfrm>
          <a:prstGeom prst="bentConnector4">
            <a:avLst>
              <a:gd name="adj1" fmla="val 2458071"/>
              <a:gd name="adj2" fmla="val 73209"/>
            </a:avLst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5" name="Connector: Elbow 129"/>
          <p:cNvCxnSpPr/>
          <p:nvPr/>
        </p:nvCxnSpPr>
        <p:spPr>
          <a:xfrm>
            <a:off x="4507992" y="2484425"/>
            <a:ext cx="235001" cy="576986"/>
          </a:xfrm>
          <a:prstGeom prst="bentConnector2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6" name="Straight Arrow Connector 136"/>
          <p:cNvCxnSpPr/>
          <p:nvPr/>
        </p:nvCxnSpPr>
        <p:spPr>
          <a:xfrm flipH="1">
            <a:off x="7018020" y="4540910"/>
            <a:ext cx="0" cy="779069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27" name="Rectangle 148"/>
          <p:cNvSpPr txBox="1"/>
          <p:nvPr/>
        </p:nvSpPr>
        <p:spPr>
          <a:xfrm>
            <a:off x="7865669" y="5945429"/>
            <a:ext cx="3870655" cy="41971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Determine recompete timing, outlook &amp; pathway</a:t>
            </a: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br/>
            <a:r>
              <a:rPr lang="en-US" sz="12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(see following page for timing estimation)</a:t>
            </a:r>
          </a:p>
        </p:txBody>
      </p:sp>
      <p:cxnSp>
        <p:nvCxnSpPr>
          <p:cNvPr id="128" name="Straight Arrow Connector 149"/>
          <p:cNvCxnSpPr/>
          <p:nvPr/>
        </p:nvCxnSpPr>
        <p:spPr>
          <a:xfrm>
            <a:off x="9800539" y="5613502"/>
            <a:ext cx="0" cy="332842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Defense Market Strategy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Market Access Framework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Recompete Timing | …</a:t>
            </a:r>
          </a:p>
        </p:txBody>
      </p:sp>
      <p:sp>
        <p:nvSpPr>
          <p:cNvPr id="100" name="Label"/>
          <p:cNvSpPr txBox="1"/>
          <p:nvPr/>
        </p:nvSpPr>
        <p:spPr>
          <a:xfrm>
            <a:off x="452628" y="3033065"/>
            <a:ext cx="756209" cy="3270809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u="sng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Likely window</a:t>
            </a:r>
          </a:p>
        </p:txBody>
      </p:sp>
      <p:sp>
        <p:nvSpPr>
          <p:cNvPr id="101" name="Label"/>
          <p:cNvSpPr txBox="1"/>
          <p:nvPr/>
        </p:nvSpPr>
        <p:spPr>
          <a:xfrm>
            <a:off x="2591410" y="4525366"/>
            <a:ext cx="2702966" cy="290779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u="sng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Operational Commanders</a:t>
            </a:r>
          </a:p>
        </p:txBody>
      </p:sp>
      <p:sp>
        <p:nvSpPr>
          <p:cNvPr id="102" name="Label"/>
          <p:cNvSpPr txBox="1"/>
          <p:nvPr/>
        </p:nvSpPr>
        <p:spPr>
          <a:xfrm>
            <a:off x="2591410" y="1552651"/>
            <a:ext cx="9144000" cy="289865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u="sng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SCN 5 years</a:t>
            </a:r>
          </a:p>
        </p:txBody>
      </p:sp>
      <p:sp>
        <p:nvSpPr>
          <p:cNvPr id="103" name="Label"/>
          <p:cNvSpPr txBox="1"/>
          <p:nvPr/>
        </p:nvSpPr>
        <p:spPr>
          <a:xfrm>
            <a:off x="2591410" y="2048256"/>
            <a:ext cx="5486400" cy="289865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u="sng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 – 3 years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2591410" y="2542946"/>
            <a:ext cx="3657600" cy="289865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u="sng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RD&amp;TE – 2 years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2591410" y="4029761"/>
            <a:ext cx="2702966" cy="290779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u="sng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Acquisition Authority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2591410" y="5021885"/>
            <a:ext cx="2702966" cy="290779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u="sng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 Vehicle A</a:t>
            </a:r>
          </a:p>
        </p:txBody>
      </p:sp>
      <p:sp>
        <p:nvSpPr>
          <p:cNvPr id="107" name="Label"/>
          <p:cNvSpPr txBox="1"/>
          <p:nvPr/>
        </p:nvSpPr>
        <p:spPr>
          <a:xfrm>
            <a:off x="2591410" y="5517490"/>
            <a:ext cx="2702966" cy="290779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u="sng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 Vehicle B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2591410" y="6013094"/>
            <a:ext cx="2702966" cy="290779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u="sng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 Vehicle C</a:t>
            </a:r>
          </a:p>
        </p:txBody>
      </p:sp>
      <p:sp>
        <p:nvSpPr>
          <p:cNvPr id="109" name="Label"/>
          <p:cNvSpPr txBox="1"/>
          <p:nvPr/>
        </p:nvSpPr>
        <p:spPr>
          <a:xfrm>
            <a:off x="1297534" y="3033065"/>
            <a:ext cx="1100938" cy="79187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u="sng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FYDP </a:t>
            </a:r>
          </a:p>
        </p:txBody>
      </p:sp>
      <p:sp>
        <p:nvSpPr>
          <p:cNvPr id="110" name="Label"/>
          <p:cNvSpPr txBox="1"/>
          <p:nvPr/>
        </p:nvSpPr>
        <p:spPr>
          <a:xfrm>
            <a:off x="2591410" y="3038551"/>
            <a:ext cx="2702966" cy="290779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u="sng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AAA</a:t>
            </a:r>
          </a:p>
        </p:txBody>
      </p:sp>
      <p:sp>
        <p:nvSpPr>
          <p:cNvPr id="111" name="Label"/>
          <p:cNvSpPr txBox="1"/>
          <p:nvPr/>
        </p:nvSpPr>
        <p:spPr>
          <a:xfrm>
            <a:off x="2591410" y="3534156"/>
            <a:ext cx="2702966" cy="290779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u="sng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AAA</a:t>
            </a:r>
          </a:p>
        </p:txBody>
      </p:sp>
      <p:sp>
        <p:nvSpPr>
          <p:cNvPr id="112" name="Label"/>
          <p:cNvSpPr txBox="1"/>
          <p:nvPr/>
        </p:nvSpPr>
        <p:spPr>
          <a:xfrm>
            <a:off x="8270748" y="2067458"/>
            <a:ext cx="3464662" cy="792785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u="sng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Obligation %s </a:t>
            </a:r>
          </a:p>
        </p:txBody>
      </p:sp>
      <p:sp>
        <p:nvSpPr>
          <p:cNvPr id="113" name="Label"/>
          <p:cNvSpPr txBox="1"/>
          <p:nvPr/>
        </p:nvSpPr>
        <p:spPr>
          <a:xfrm>
            <a:off x="1305763" y="5015484"/>
            <a:ext cx="1100938" cy="1287475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u="sng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 Vehicle</a:t>
            </a:r>
          </a:p>
        </p:txBody>
      </p:sp>
      <p:sp>
        <p:nvSpPr>
          <p:cNvPr id="114" name="Rectangle 21"/>
          <p:cNvSpPr txBox="1"/>
          <p:nvPr/>
        </p:nvSpPr>
        <p:spPr>
          <a:xfrm>
            <a:off x="452628" y="1532534"/>
            <a:ext cx="1945843" cy="129479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u="sng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Upper bound: 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Color of Money Obligation Period</a:t>
            </a:r>
          </a:p>
        </p:txBody>
      </p:sp>
      <p:sp>
        <p:nvSpPr>
          <p:cNvPr id="115" name="Rectangle 34"/>
          <p:cNvSpPr txBox="1"/>
          <p:nvPr/>
        </p:nvSpPr>
        <p:spPr>
          <a:xfrm>
            <a:off x="8270748" y="3534156"/>
            <a:ext cx="3464662" cy="2769718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Does this apply to contracts whose last delivery date has elapsed? </a:t>
            </a:r>
          </a:p>
          <a:p>
            <a:pPr algn="ctr">
              <a:lnSpc>
                <a:spcPct val="100000"/>
              </a:lnSpc>
              <a:buNone/>
            </a:pPr>
            <a:endParaRPr lang="en-US"/>
          </a:p>
          <a:p>
            <a:pPr algn="ctr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What about contracts whose delivery dates have not? </a:t>
            </a:r>
          </a:p>
        </p:txBody>
      </p:sp>
      <p:sp>
        <p:nvSpPr>
          <p:cNvPr id="116" name="Rectangle 35"/>
          <p:cNvSpPr txBox="1"/>
          <p:nvPr/>
        </p:nvSpPr>
        <p:spPr>
          <a:xfrm>
            <a:off x="1297534" y="4029761"/>
            <a:ext cx="1100938" cy="79187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Defense Market Strategy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Market Access Framework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Recompete Timing and Outlook | Ordering window closed FY26, recompete now open, no successor visible.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100" name="Illustrative chip"/>
          <p:cNvSpPr txBox="1"/>
          <p:nvPr/>
        </p:nvSpPr>
        <p:spPr>
          <a:xfrm>
            <a:off x="8708746" y="111557"/>
            <a:ext cx="1467612" cy="289865"/>
          </a:xfrm>
          <a:prstGeom prst="rect">
            <a:avLst/>
          </a:prstGeom>
          <a:solidFill>
            <a:srgbClr val="A6A6A6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Illustrative</a:t>
            </a:r>
          </a:p>
        </p:txBody>
      </p:sp>
      <p:sp>
        <p:nvSpPr>
          <p:cNvPr id="101" name="Program"/>
          <p:cNvSpPr txBox="1"/>
          <p:nvPr/>
        </p:nvSpPr>
        <p:spPr>
          <a:xfrm>
            <a:off x="452628" y="1408176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AN/SLQ-25 Nixie</a:t>
            </a: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·   IDIQ N0025321D0002   ·   Ultra Electronics Ocean Systems</a:t>
            </a:r>
          </a:p>
        </p:txBody>
      </p:sp>
      <p:graphicFrame>
        <p:nvGraphicFramePr>
          <p:cNvPr id="102" name="FY Lane Grid"/>
          <p:cNvGraphicFramePr>
            <a:graphicFrameLocks noGrp="1"/>
          </p:cNvGraphicFramePr>
          <p:nvPr/>
        </p:nvGraphicFramePr>
        <p:xfrm>
          <a:off x="452628" y="1874520"/>
          <a:ext cx="11280038" cy="3922776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060704"/>
                <a:gridCol w="929030"/>
                <a:gridCol w="929030"/>
                <a:gridCol w="929030"/>
                <a:gridCol w="929030"/>
                <a:gridCol w="929030"/>
                <a:gridCol w="929030"/>
                <a:gridCol w="929030"/>
                <a:gridCol w="929030"/>
                <a:gridCol w="929030"/>
                <a:gridCol w="929030"/>
                <a:gridCol w="929030"/>
              </a:tblGrid>
              <a:tr h="256032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FY21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FY22</a:t>
                      </a:r>
                    </a:p>
                  </a:txBody>
                  <a:tcPr marL="45720" marR="45720" marT="45720" marB="45720" anchor="b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FY23</a:t>
                      </a:r>
                    </a:p>
                  </a:txBody>
                  <a:tcPr marL="45720" marR="45720" marT="45720" marB="45720" anchor="b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FY24</a:t>
                      </a:r>
                    </a:p>
                  </a:txBody>
                  <a:tcPr marL="45720" marR="45720" marT="45720" marB="45720" anchor="b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FY25</a:t>
                      </a:r>
                    </a:p>
                  </a:txBody>
                  <a:tcPr marL="45720" marR="45720" marT="45720" marB="45720" anchor="b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FY26</a:t>
                      </a:r>
                    </a:p>
                  </a:txBody>
                  <a:tcPr marL="45720" marR="45720" marT="45720" marB="45720" anchor="b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FY27</a:t>
                      </a:r>
                    </a:p>
                  </a:txBody>
                  <a:tcPr marL="45720" marR="45720" marT="45720" marB="45720" anchor="b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FY28</a:t>
                      </a:r>
                    </a:p>
                  </a:txBody>
                  <a:tcPr marL="45720" marR="45720" marT="45720" marB="45720" anchor="b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FY29</a:t>
                      </a:r>
                    </a:p>
                  </a:txBody>
                  <a:tcPr marL="45720" marR="45720" marT="45720" marB="45720" anchor="b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FY30</a:t>
                      </a:r>
                    </a:p>
                  </a:txBody>
                  <a:tcPr marL="45720" marR="45720" marT="45720" marB="45720" anchor="b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FY31</a:t>
                      </a:r>
                    </a:p>
                  </a:txBody>
                  <a:tcPr marL="45720" marR="45720" marT="45720" marB="45720" anchor="b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1206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program needs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123444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Funding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192024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Contracting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3" name="Planned procurement"/>
          <p:cNvSpPr txBox="1"/>
          <p:nvPr/>
        </p:nvSpPr>
        <p:spPr>
          <a:xfrm>
            <a:off x="1513332" y="2258568"/>
            <a:ext cx="10219334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162029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Planned procurement (units)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illustrative, pending P-1</a:t>
            </a:r>
          </a:p>
        </p:txBody>
      </p:sp>
      <p:sp>
        <p:nvSpPr>
          <p:cNvPr id="104" name="Funding bar"/>
          <p:cNvSpPr txBox="1"/>
          <p:nvPr/>
        </p:nvSpPr>
        <p:spPr>
          <a:xfrm>
            <a:off x="1513332" y="2852928"/>
            <a:ext cx="2787091" cy="274320"/>
          </a:xfrm>
          <a:prstGeom prst="rect">
            <a:avLst/>
          </a:prstGeom>
          <a:solidFill>
            <a:srgbClr val="3D5972"/>
          </a:solidFill>
          <a:ln w="6350">
            <a:solidFill>
              <a:srgbClr val="FFFFFF"/>
            </a:solidFill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OPN base · $XXM</a:t>
            </a:r>
          </a:p>
        </p:txBody>
      </p:sp>
      <p:sp>
        <p:nvSpPr>
          <p:cNvPr id="105" name="Funding bar"/>
          <p:cNvSpPr txBox="1"/>
          <p:nvPr/>
        </p:nvSpPr>
        <p:spPr>
          <a:xfrm>
            <a:off x="7358482" y="2852928"/>
            <a:ext cx="2516124" cy="274320"/>
          </a:xfrm>
          <a:prstGeom prst="rect">
            <a:avLst/>
          </a:prstGeom>
          <a:solidFill>
            <a:srgbClr val="3D5972"/>
          </a:solidFill>
          <a:ln w="6350">
            <a:solidFill>
              <a:srgbClr val="FFFFFF"/>
            </a:solidFill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Follow-on OPN · $XXM (illus.)</a:t>
            </a:r>
          </a:p>
        </p:txBody>
      </p:sp>
      <p:sp>
        <p:nvSpPr>
          <p:cNvPr id="106" name="Funding bar"/>
          <p:cNvSpPr txBox="1"/>
          <p:nvPr/>
        </p:nvSpPr>
        <p:spPr>
          <a:xfrm>
            <a:off x="1513332" y="3264408"/>
            <a:ext cx="4645152" cy="274320"/>
          </a:xfrm>
          <a:prstGeom prst="rect">
            <a:avLst/>
          </a:prstGeom>
          <a:solidFill>
            <a:srgbClr val="263746"/>
          </a:solidFill>
          <a:ln w="6350">
            <a:solidFill>
              <a:srgbClr val="FFFFFF"/>
            </a:solidFill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SCN forward-fit · $XXM</a:t>
            </a:r>
          </a:p>
        </p:txBody>
      </p:sp>
      <p:cxnSp>
        <p:nvCxnSpPr>
          <p:cNvPr id="107" name="Obligation tie"/>
          <p:cNvCxnSpPr/>
          <p:nvPr/>
        </p:nvCxnSpPr>
        <p:spPr>
          <a:xfrm>
            <a:off x="9874606" y="3127248"/>
            <a:ext cx="0" cy="1243584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</p:cxnSp>
      <p:sp>
        <p:nvSpPr>
          <p:cNvPr id="108" name="Active Ordering Period"/>
          <p:cNvSpPr txBox="1"/>
          <p:nvPr/>
        </p:nvSpPr>
        <p:spPr>
          <a:xfrm>
            <a:off x="1706880" y="3986784"/>
            <a:ext cx="4647733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Active Ordering Period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 orders · $103.1M realized</a:t>
            </a:r>
          </a:p>
        </p:txBody>
      </p:sp>
      <p:sp>
        <p:nvSpPr>
          <p:cNvPr id="109" name="Likely Recompete Window"/>
          <p:cNvSpPr txBox="1"/>
          <p:nvPr/>
        </p:nvSpPr>
        <p:spPr>
          <a:xfrm>
            <a:off x="6354613" y="3986784"/>
            <a:ext cx="212902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Likely Recompete Window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 now · no successor in data</a:t>
            </a:r>
          </a:p>
        </p:txBody>
      </p:sp>
      <p:sp>
        <p:nvSpPr>
          <p:cNvPr id="110" name="Start marker"/>
          <p:cNvSpPr txBox="1"/>
          <p:nvPr/>
        </p:nvSpPr>
        <p:spPr>
          <a:xfrm>
            <a:off x="1633728" y="4389120"/>
            <a:ext cx="146304" cy="14630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1" name="Last-order marker"/>
          <p:cNvSpPr txBox="1"/>
          <p:nvPr/>
        </p:nvSpPr>
        <p:spPr>
          <a:xfrm>
            <a:off x="6281461" y="4389120"/>
            <a:ext cx="146304" cy="14630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2" name="Obligation marker"/>
          <p:cNvSpPr txBox="1"/>
          <p:nvPr/>
        </p:nvSpPr>
        <p:spPr>
          <a:xfrm>
            <a:off x="9792310" y="4370832"/>
            <a:ext cx="164592" cy="182880"/>
          </a:xfrm>
          <a:prstGeom prst="triangle">
            <a:avLst/>
          </a:prstGeom>
          <a:solidFill>
            <a:srgbClr val="7F7F7F"/>
          </a:solidFill>
          <a:ln w="12700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3" name="Start date"/>
          <p:cNvSpPr txBox="1"/>
          <p:nvPr/>
        </p:nvSpPr>
        <p:spPr>
          <a:xfrm>
            <a:off x="1517904" y="4535424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2020-12-15</a:t>
            </a:r>
          </a:p>
        </p:txBody>
      </p:sp>
      <p:sp>
        <p:nvSpPr>
          <p:cNvPr id="114" name="Last-order date"/>
          <p:cNvSpPr txBox="1"/>
          <p:nvPr/>
        </p:nvSpPr>
        <p:spPr>
          <a:xfrm>
            <a:off x="5943133" y="45354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2025-12-16</a:t>
            </a:r>
          </a:p>
        </p:txBody>
      </p:sp>
      <p:sp>
        <p:nvSpPr>
          <p:cNvPr id="115" name="Start desc"/>
          <p:cNvSpPr txBox="1"/>
          <p:nvPr/>
        </p:nvSpPr>
        <p:spPr>
          <a:xfrm>
            <a:off x="1517904" y="474573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Ordering period starts</a:t>
            </a:r>
          </a:p>
        </p:txBody>
      </p:sp>
      <p:sp>
        <p:nvSpPr>
          <p:cNvPr id="116" name="Last-order desc"/>
          <p:cNvSpPr txBox="1"/>
          <p:nvPr/>
        </p:nvSpPr>
        <p:spPr>
          <a:xfrm>
            <a:off x="5714533" y="4745736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45720" rIns="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Common last date to order</a:t>
            </a:r>
          </a:p>
        </p:txBody>
      </p:sp>
      <p:sp>
        <p:nvSpPr>
          <p:cNvPr id="117" name="Obligation desc"/>
          <p:cNvSpPr txBox="1"/>
          <p:nvPr/>
        </p:nvSpPr>
        <p:spPr>
          <a:xfrm>
            <a:off x="8182966" y="461772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 algn="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Obligation window complete</a:t>
            </a:r>
          </a:p>
        </p:txBody>
      </p:sp>
      <p:sp>
        <p:nvSpPr>
          <p:cNvPr id="118" name="Legend label"/>
          <p:cNvSpPr txBox="1"/>
          <p:nvPr/>
        </p:nvSpPr>
        <p:spPr>
          <a:xfrm>
            <a:off x="452628" y="596188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Color of money:</a:t>
            </a:r>
          </a:p>
        </p:txBody>
      </p:sp>
      <p:sp>
        <p:nvSpPr>
          <p:cNvPr id="119" name="Legend swatch"/>
          <p:cNvSpPr txBox="1"/>
          <p:nvPr/>
        </p:nvSpPr>
        <p:spPr>
          <a:xfrm>
            <a:off x="1554480" y="5980176"/>
            <a:ext cx="164592" cy="164592"/>
          </a:xfrm>
          <a:prstGeom prst="rect">
            <a:avLst/>
          </a:prstGeom>
          <a:solidFill>
            <a:srgbClr val="6E91B1"/>
          </a:solidFill>
          <a:ln w="635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0" name="Legend caption"/>
          <p:cNvSpPr txBox="1"/>
          <p:nvPr/>
        </p:nvSpPr>
        <p:spPr>
          <a:xfrm>
            <a:off x="1755648" y="5961888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RDT&amp;E,N · 2-yr</a:t>
            </a:r>
          </a:p>
        </p:txBody>
      </p:sp>
      <p:sp>
        <p:nvSpPr>
          <p:cNvPr id="121" name="Legend swatch"/>
          <p:cNvSpPr txBox="1"/>
          <p:nvPr/>
        </p:nvSpPr>
        <p:spPr>
          <a:xfrm>
            <a:off x="2560320" y="5980176"/>
            <a:ext cx="164592" cy="164592"/>
          </a:xfrm>
          <a:prstGeom prst="rect">
            <a:avLst/>
          </a:prstGeom>
          <a:solidFill>
            <a:srgbClr val="3D5972"/>
          </a:solidFill>
          <a:ln w="635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2" name="Legend caption"/>
          <p:cNvSpPr txBox="1"/>
          <p:nvPr/>
        </p:nvSpPr>
        <p:spPr>
          <a:xfrm>
            <a:off x="2761488" y="5961888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OPN · 3-yr</a:t>
            </a:r>
          </a:p>
        </p:txBody>
      </p:sp>
      <p:sp>
        <p:nvSpPr>
          <p:cNvPr id="123" name="Legend swatch"/>
          <p:cNvSpPr txBox="1"/>
          <p:nvPr/>
        </p:nvSpPr>
        <p:spPr>
          <a:xfrm>
            <a:off x="3383280" y="5980176"/>
            <a:ext cx="164592" cy="164592"/>
          </a:xfrm>
          <a:prstGeom prst="rect">
            <a:avLst/>
          </a:prstGeom>
          <a:solidFill>
            <a:srgbClr val="263746"/>
          </a:solidFill>
          <a:ln w="635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4" name="Legend caption"/>
          <p:cNvSpPr txBox="1"/>
          <p:nvPr/>
        </p:nvSpPr>
        <p:spPr>
          <a:xfrm>
            <a:off x="3584448" y="5961888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SCN · 5-yr</a:t>
            </a:r>
          </a:p>
        </p:txBody>
      </p:sp>
      <p:sp>
        <p:nvSpPr>
          <p:cNvPr id="125" name="Legend note"/>
          <p:cNvSpPr txBox="1"/>
          <p:nvPr/>
        </p:nvSpPr>
        <p:spPr>
          <a:xfrm>
            <a:off x="4343400" y="596188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bar length = obligation window</a:t>
            </a:r>
          </a:p>
        </p:txBody>
      </p:sp>
      <p:sp>
        <p:nvSpPr>
          <p:cNvPr id="126" name="Legend key"/>
          <p:cNvSpPr txBox="1"/>
          <p:nvPr/>
        </p:nvSpPr>
        <p:spPr>
          <a:xfrm>
            <a:off x="8778240" y="5961888"/>
            <a:ext cx="2962656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 algn="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Solid: contract data  ·  Dashed: inferred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Other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Defense Market Strategy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Strategic Contracts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Strategic Contracts | Recompete watch list by entry route, timing, incumbents, and funding.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graphicFrame>
        <p:nvGraphicFramePr>
          <p:cNvPr id="100" name="Table 44"/>
          <p:cNvGraphicFramePr>
            <a:graphicFrameLocks noGrp="1"/>
          </p:cNvGraphicFramePr>
          <p:nvPr/>
        </p:nvGraphicFramePr>
        <p:xfrm>
          <a:off x="452628" y="1463040"/>
          <a:ext cx="11247120" cy="4818888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051560"/>
                <a:gridCol w="2377440"/>
                <a:gridCol w="1691640"/>
                <a:gridCol w="996696"/>
                <a:gridCol w="1810512"/>
                <a:gridCol w="1243584"/>
                <a:gridCol w="960120"/>
                <a:gridCol w="1115568"/>
              </a:tblGrid>
              <a:tr h="292608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Route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Platform · Vehicle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Incumbent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Amount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Recompete / entry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Funding (TAS)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Budget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1480">
                <a:tc rowSpan="6">
                  <a:txBody>
                    <a:bodyPr anchor="ctr"/>
                    <a:lstStyle/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Direct to</a:t>
                      </a:r>
                    </a:p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Government</a:t>
                      </a:r>
                    </a:p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Win the recompete</a:t>
                      </a:r>
                    </a:p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 prime or OTA</a:t>
                      </a:r>
                    </a:p>
                  </a:txBody>
                  <a:tcPr marL="22860" marR="22860" marT="45720" marB="4572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Army watercraft ship-repair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800" i="1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W56HZV21DL pool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Bay Ship &amp; Yacht +9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$416.8M obl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LDO 2026-01-25 · passed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OPA 021-2035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Favorable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B8A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ESP request at series 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411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Army bridge erection boats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800" i="1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W56HZV19D0093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Birdon America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$199M ceil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LDO 2025-08-12 · passed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OPA 021-2035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Unknown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FY27 trough, recovers later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411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Navy CVN maintenance (PNW)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800" i="1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N0002419D4310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Metro Machine (NASSCO)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$465M ceil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LDO 2026-03-20 · passed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O&amp;M,N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Favorable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B8A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Readiness-protected depot O&amp;M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411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Navy small craft (aluminum)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800" i="1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N0002417D2209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Gravois Aluminum Boats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$118M orders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LDO 2023-09-30 · portal-dark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Unknown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No public budget 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411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Navy USV core (R&amp;D vehicle)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800" i="1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N0002418D6401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Penn State ARL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$77M orders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LDO 2026-09-30 · imminent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RDT&amp;E,N 017-1319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Favorable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B8A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Unmanned R&amp;D growth priority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411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Navy patrol boats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800" i="1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N0002421C2201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Safe Boats Intl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$173.9M obl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Sole-source · ends 2027-12-16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Unknown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Sole-source; no public 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1480">
                <a:tc rowSpan="5">
                  <a:txBody>
                    <a:bodyPr anchor="ctr"/>
                    <a:lstStyle/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Through the</a:t>
                      </a:r>
                    </a:p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prime</a:t>
                      </a:r>
                    </a:p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Enter a locked build</a:t>
                      </a:r>
                    </a:p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via supply chain</a:t>
                      </a:r>
                    </a:p>
                  </a:txBody>
                  <a:tcPr marL="22860" marR="22860" marT="45720" marB="4572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USCG Offshore Patrol Cutter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800" i="1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70Z02322C93220001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Austal (ex-Eastern)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$3.3B ceil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Stage-2 build to 2030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PC&amp;I 070-0612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Unknown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FY27 −62%; Stage 3 starts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411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 Auxiliary (SWBS 500)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800" i="1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HII + BIW · locked prime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90 subs · top 15.9%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$947.5M subs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HHI 683 · open lane (FY28-32)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SCN 017-1611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Favorable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B8A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Funded to FY31; open lane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411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 Propulsion (SWBS 200)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800" i="1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HII + BIW · locked prime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GE 34.7%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$957.9M subs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HHI 1905 · team / 2nd-source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SCN 017-1611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Favorable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B8A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Funded to FY31; entrenched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411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T-AGOS(X) ocean surveillance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800" i="1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N0002423C2203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Austal USA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$3.2B ceil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Full &amp; open · build to 2033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SCN 017-1611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Favorable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B8A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Funded ~1 ship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411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T-AO John Lewis fleet oiler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800" i="1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N0002416C2229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NASSCO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$6.0B ceil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Full &amp; open · build to 2028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SCN 017-1611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Favorable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8A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$2.2B FY27; two ships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Strategic Contracts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Market Access Framework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Defining Contract Addressability | Award structure determines whether entry is direct, gated, or incumbent-led.</a:t>
            </a:r>
          </a:p>
        </p:txBody>
      </p:sp>
      <p:sp>
        <p:nvSpPr>
          <p:cNvPr id="100" name="ZoneHeader"/>
          <p:cNvSpPr txBox="1"/>
          <p:nvPr/>
        </p:nvSpPr>
        <p:spPr>
          <a:xfrm>
            <a:off x="452628" y="1435608"/>
            <a:ext cx="3520440" cy="329184"/>
          </a:xfrm>
          <a:prstGeom prst="homePlate">
            <a:avLst>
              <a:gd name="adj" fmla="val 24929"/>
            </a:avLst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Observed market</a:t>
            </a:r>
          </a:p>
        </p:txBody>
      </p:sp>
      <p:sp>
        <p:nvSpPr>
          <p:cNvPr id="101" name="ZoneHeader"/>
          <p:cNvSpPr txBox="1"/>
          <p:nvPr/>
        </p:nvSpPr>
        <p:spPr>
          <a:xfrm>
            <a:off x="4247388" y="1435608"/>
            <a:ext cx="3520440" cy="329184"/>
          </a:xfrm>
          <a:prstGeom prst="chevron">
            <a:avLst>
              <a:gd name="adj" fmla="val 24929"/>
            </a:avLst>
          </a:prstGeom>
          <a:solidFill>
            <a:srgbClr val="BFBFB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Contract landscape</a:t>
            </a:r>
          </a:p>
        </p:txBody>
      </p:sp>
      <p:sp>
        <p:nvSpPr>
          <p:cNvPr id="102" name="ZoneHeader"/>
          <p:cNvSpPr txBox="1"/>
          <p:nvPr/>
        </p:nvSpPr>
        <p:spPr>
          <a:xfrm>
            <a:off x="8179308" y="1435608"/>
            <a:ext cx="3520440" cy="329184"/>
          </a:xfrm>
          <a:prstGeom prst="chevron">
            <a:avLst>
              <a:gd name="adj" fmla="val 24929"/>
            </a:avLst>
          </a:prstGeom>
          <a:solidFill>
            <a:srgbClr val="7F7F7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3. Route to revenue</a:t>
            </a:r>
          </a:p>
        </p:txBody>
      </p:sp>
      <p:sp>
        <p:nvSpPr>
          <p:cNvPr id="103" name="Label"/>
          <p:cNvSpPr txBox="1"/>
          <p:nvPr/>
        </p:nvSpPr>
        <p:spPr>
          <a:xfrm>
            <a:off x="452628" y="1787652"/>
            <a:ext cx="3520440" cy="1554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Demand exists before access is determined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4247388" y="1787652"/>
            <a:ext cx="3520440" cy="1554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Award record separates market size from market access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8179308" y="1787652"/>
            <a:ext cx="3520440" cy="1554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Access posture determines the practical route in</a:t>
            </a:r>
          </a:p>
        </p:txBody>
      </p:sp>
      <p:sp>
        <p:nvSpPr>
          <p:cNvPr id="106" name="ObservedMarketCard"/>
          <p:cNvSpPr txBox="1"/>
          <p:nvPr/>
        </p:nvSpPr>
        <p:spPr>
          <a:xfrm>
            <a:off x="452628" y="2189988"/>
            <a:ext cx="3520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Committed demand</a:t>
            </a:r>
          </a:p>
          <a:p>
            <a:pPr>
              <a:lnSpc>
                <a:spcPct val="8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Obligations on orders; quantity-adding modifications; recurring funding</a:t>
            </a:r>
          </a:p>
        </p:txBody>
      </p:sp>
      <p:sp>
        <p:nvSpPr>
          <p:cNvPr id="107" name="ObservedMarketCard"/>
          <p:cNvSpPr txBox="1"/>
          <p:nvPr/>
        </p:nvSpPr>
        <p:spPr>
          <a:xfrm>
            <a:off x="452628" y="2921508"/>
            <a:ext cx="3520440" cy="603504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Capacity, not revenue</a:t>
            </a:r>
          </a:p>
          <a:p>
            <a:pPr>
              <a:lnSpc>
                <a:spcPct val="8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Ceilings; potential value; unexercised options</a:t>
            </a:r>
          </a:p>
        </p:txBody>
      </p:sp>
      <p:sp>
        <p:nvSpPr>
          <p:cNvPr id="108" name="ObservedMarketCard"/>
          <p:cNvSpPr txBox="1"/>
          <p:nvPr/>
        </p:nvSpPr>
        <p:spPr>
          <a:xfrm>
            <a:off x="452628" y="3653028"/>
            <a:ext cx="3520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Funding context</a:t>
            </a:r>
          </a:p>
          <a:p>
            <a:pPr>
              <a:lnSpc>
                <a:spcPct val="8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 / appropriation; customer; mission</a:t>
            </a:r>
          </a:p>
        </p:txBody>
      </p:sp>
      <p:sp>
        <p:nvSpPr>
          <p:cNvPr id="109" name="ContractScreen"/>
          <p:cNvSpPr txBox="1"/>
          <p:nvPr/>
        </p:nvSpPr>
        <p:spPr>
          <a:xfrm>
            <a:off x="4247388" y="2144268"/>
            <a:ext cx="3520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8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 demand real?</a:t>
            </a:r>
          </a:p>
          <a:p>
            <a:pPr>
              <a:lnSpc>
                <a:spcPct val="8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Evidence: obligations, orders, quantity additions, recurring funding</a:t>
            </a:r>
          </a:p>
          <a:p>
            <a:pPr>
              <a:lnSpc>
                <a:spcPct val="82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Implication: size the realized market</a:t>
            </a:r>
          </a:p>
        </p:txBody>
      </p:sp>
      <p:sp>
        <p:nvSpPr>
          <p:cNvPr id="110" name="ContractScreen"/>
          <p:cNvSpPr txBox="1"/>
          <p:nvPr/>
        </p:nvSpPr>
        <p:spPr>
          <a:xfrm>
            <a:off x="4247388" y="2912364"/>
            <a:ext cx="3520440" cy="1033272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8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Who has access?</a:t>
            </a:r>
          </a:p>
          <a:p>
            <a:pPr>
              <a:lnSpc>
                <a:spcPct val="82000"/>
              </a:lnSpc>
              <a:buNone/>
            </a:pPr>
            <a:endParaRPr lang="en-US"/>
          </a:p>
          <a:p>
            <a:pPr>
              <a:lnSpc>
                <a:spcPct val="8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Evidence: extent competed; single- / multiple-award structure; set-aside; holder roster</a:t>
            </a:r>
          </a:p>
          <a:p>
            <a:pPr>
              <a:lnSpc>
                <a:spcPct val="82000"/>
              </a:lnSpc>
              <a:buNone/>
            </a:pPr>
            <a:endParaRPr lang="en-US"/>
          </a:p>
          <a:p>
            <a:pPr>
              <a:lnSpc>
                <a:spcPct val="82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Implication: direct access versus incumbent-chain route</a:t>
            </a:r>
          </a:p>
        </p:txBody>
      </p:sp>
      <p:sp>
        <p:nvSpPr>
          <p:cNvPr id="111" name="ContractScreen"/>
          <p:cNvSpPr txBox="1"/>
          <p:nvPr/>
        </p:nvSpPr>
        <p:spPr>
          <a:xfrm>
            <a:off x="4247388" y="4055364"/>
            <a:ext cx="3520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8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When can a company enter?</a:t>
            </a:r>
          </a:p>
          <a:p>
            <a:pPr>
              <a:lnSpc>
                <a:spcPct val="8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Evidence: last date to order; ultimate completion; option dates; bridges; MYP cadence</a:t>
            </a:r>
          </a:p>
          <a:p>
            <a:pPr>
              <a:lnSpc>
                <a:spcPct val="82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Implication: pursue now, position, or monitor</a:t>
            </a:r>
          </a:p>
        </p:txBody>
      </p:sp>
      <p:sp>
        <p:nvSpPr>
          <p:cNvPr id="112" name="Access pivot tag"/>
          <p:cNvSpPr txBox="1"/>
          <p:nvPr/>
        </p:nvSpPr>
        <p:spPr>
          <a:xfrm>
            <a:off x="6780276" y="3008376"/>
            <a:ext cx="786384" cy="233172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113" name="Secondary diligence"/>
          <p:cNvSpPr txBox="1"/>
          <p:nvPr/>
        </p:nvSpPr>
        <p:spPr>
          <a:xfrm>
            <a:off x="4247388" y="4942332"/>
            <a:ext cx="3520440" cy="630936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Secondary diligence: ability to perform + economics</a:t>
            </a:r>
          </a:p>
          <a:p>
            <a:pPr>
              <a:lnSpc>
                <a:spcPct val="8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Technical scope; clearance; accounting system; past performance; pricing type; IP / data rights; compliance burden; concentration</a:t>
            </a:r>
          </a:p>
        </p:txBody>
      </p:sp>
      <p:cxnSp>
        <p:nvCxnSpPr>
          <p:cNvPr id="114" name="Observed to landscape"/>
          <p:cNvCxnSpPr/>
          <p:nvPr/>
        </p:nvCxnSpPr>
        <p:spPr>
          <a:xfrm>
            <a:off x="3973068" y="3204972"/>
            <a:ext cx="27432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15" name="Access to branch trunk"/>
          <p:cNvCxnSpPr/>
          <p:nvPr/>
        </p:nvCxnSpPr>
        <p:spPr>
          <a:xfrm>
            <a:off x="7767828" y="3406140"/>
            <a:ext cx="20574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16" name="Branch trunk"/>
          <p:cNvCxnSpPr/>
          <p:nvPr/>
        </p:nvCxnSpPr>
        <p:spPr>
          <a:xfrm>
            <a:off x="7973568" y="2820924"/>
            <a:ext cx="0" cy="2029968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17" name="Branch to direct"/>
          <p:cNvCxnSpPr/>
          <p:nvPr/>
        </p:nvCxnSpPr>
        <p:spPr>
          <a:xfrm>
            <a:off x="7973568" y="2820924"/>
            <a:ext cx="20574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18" name="Branch to incumbent"/>
          <p:cNvCxnSpPr/>
          <p:nvPr/>
        </p:nvCxnSpPr>
        <p:spPr>
          <a:xfrm>
            <a:off x="7973568" y="4850892"/>
            <a:ext cx="20574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19" name="RouteCard"/>
          <p:cNvSpPr txBox="1"/>
          <p:nvPr/>
        </p:nvSpPr>
        <p:spPr>
          <a:xfrm>
            <a:off x="8179308" y="2180844"/>
            <a:ext cx="3520440" cy="1572768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21920" tIns="73152" rIns="121920" bIns="73152"/>
          <a:lstStyle/>
          <a:p>
            <a:pPr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 to Government</a:t>
            </a:r>
          </a:p>
          <a:p>
            <a:pPr>
              <a:lnSpc>
                <a:spcPct val="8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Bid an open recompete; become a holder on an on-ramp, new pool, or vehicle recompete; enter early through OT / SBIR / BAA / CSO before the production pathway is committed.</a:t>
            </a:r>
          </a:p>
        </p:txBody>
      </p:sp>
      <p:sp>
        <p:nvSpPr>
          <p:cNvPr id="120" name="RouteCard"/>
          <p:cNvSpPr txBox="1"/>
          <p:nvPr/>
        </p:nvSpPr>
        <p:spPr>
          <a:xfrm>
            <a:off x="8179308" y="4046220"/>
            <a:ext cx="3520440" cy="157276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21920" tIns="73152" rIns="121920" bIns="73152"/>
          <a:lstStyle/>
          <a:p>
            <a:pPr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Through the incumbent performance chain</a:t>
            </a:r>
          </a:p>
          <a:p>
            <a:pPr>
              <a:lnSpc>
                <a:spcPct val="8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Team or subcontract to a current holder; supply a closed prime or upper-tier supplier; license / integrate a separable capability; build past performance for a later direct entry.</a:t>
            </a:r>
          </a:p>
        </p:txBody>
      </p:sp>
      <p:sp>
        <p:nvSpPr>
          <p:cNvPr id="121" name="RouteChipA"/>
          <p:cNvSpPr txBox="1"/>
          <p:nvPr/>
        </p:nvSpPr>
        <p:spPr>
          <a:xfrm>
            <a:off x="8325612" y="2318004"/>
            <a:ext cx="621792" cy="2286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Route A</a:t>
            </a:r>
          </a:p>
        </p:txBody>
      </p:sp>
      <p:sp>
        <p:nvSpPr>
          <p:cNvPr id="122" name="RouteChipB"/>
          <p:cNvSpPr txBox="1"/>
          <p:nvPr/>
        </p:nvSpPr>
        <p:spPr>
          <a:xfrm>
            <a:off x="8325612" y="4183380"/>
            <a:ext cx="621792" cy="2286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Route 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Strategic Contracts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Incumbent-Chain Opportunities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DDG-51 Supplier Opportunity | Prime access is committed, but each MYP block creates a predictable supplier entry window.</a:t>
            </a:r>
          </a:p>
        </p:txBody>
      </p:sp>
      <p:sp>
        <p:nvSpPr>
          <p:cNvPr id="100" name="Label"/>
          <p:cNvSpPr txBox="1"/>
          <p:nvPr/>
        </p:nvSpPr>
        <p:spPr>
          <a:xfrm>
            <a:off x="452628" y="1455725"/>
            <a:ext cx="7406640" cy="217627"/>
          </a:xfrm>
          <a:prstGeom prst="rect">
            <a:avLst/>
          </a:prstGeom>
          <a:solidFill>
            <a:srgbClr val="223E59"/>
          </a:solidFill>
          <a:ln>
            <a:noFill/>
          </a:ln>
        </p:spPr>
        <p:txBody>
          <a:bodyPr wrap="square" anchor="ctr" lIns="91440" tIns="18288" rIns="91440" bIns="18288"/>
          <a:lstStyle/>
          <a:p>
            <a:pPr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 Multiyear procurement cadence: supplier market is datable</a:t>
            </a:r>
          </a:p>
        </p:txBody>
      </p:sp>
      <p:sp>
        <p:nvSpPr>
          <p:cNvPr id="101" name="Label"/>
          <p:cNvSpPr txBox="1"/>
          <p:nvPr/>
        </p:nvSpPr>
        <p:spPr>
          <a:xfrm>
            <a:off x="452628" y="2905049"/>
            <a:ext cx="7406640" cy="217627"/>
          </a:xfrm>
          <a:prstGeom prst="rect">
            <a:avLst/>
          </a:prstGeom>
          <a:solidFill>
            <a:srgbClr val="223E59"/>
          </a:solidFill>
          <a:ln>
            <a:noFill/>
          </a:ln>
        </p:spPr>
        <p:txBody>
          <a:bodyPr wrap="square" anchor="ctr" lIns="91440" tIns="18288" rIns="91440" bIns="18288"/>
          <a:lstStyle/>
          <a:p>
            <a:pPr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2. Award-to-supplier spend timing: first-tier dollars are front-loaded</a:t>
            </a:r>
          </a:p>
        </p:txBody>
      </p:sp>
      <p:sp>
        <p:nvSpPr>
          <p:cNvPr id="102" name="Label"/>
          <p:cNvSpPr txBox="1"/>
          <p:nvPr/>
        </p:nvSpPr>
        <p:spPr>
          <a:xfrm>
            <a:off x="452628" y="4209898"/>
            <a:ext cx="7406640" cy="217627"/>
          </a:xfrm>
          <a:prstGeom prst="rect">
            <a:avLst/>
          </a:prstGeom>
          <a:solidFill>
            <a:srgbClr val="223E59"/>
          </a:solidFill>
          <a:ln>
            <a:noFill/>
          </a:ln>
        </p:spPr>
        <p:txBody>
          <a:bodyPr wrap="square" anchor="ctr" lIns="91440" tIns="18288" rIns="91440" bIns="18288"/>
          <a:lstStyle/>
          <a:p>
            <a:pPr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3. Where to compete or position: entry tactic varies by ship system</a:t>
            </a:r>
          </a:p>
        </p:txBody>
      </p:sp>
      <p:sp>
        <p:nvSpPr>
          <p:cNvPr id="103" name="Label"/>
          <p:cNvSpPr txBox="1"/>
          <p:nvPr/>
        </p:nvSpPr>
        <p:spPr>
          <a:xfrm>
            <a:off x="8014716" y="1455725"/>
            <a:ext cx="3685032" cy="217627"/>
          </a:xfrm>
          <a:prstGeom prst="rect">
            <a:avLst/>
          </a:prstGeom>
          <a:solidFill>
            <a:srgbClr val="223E59"/>
          </a:solidFill>
          <a:ln>
            <a:noFill/>
          </a:ln>
        </p:spPr>
        <p:txBody>
          <a:bodyPr wrap="square" anchor="ctr" lIns="91440" tIns="18288" rIns="91440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Award Anatomy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452628" y="1687068"/>
            <a:ext cx="7406640" cy="123444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0" rIns="9144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Prime obligations shown as HII / BIW; first-tier values are reported FFATA / SAM subawards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413309" y="3939235"/>
            <a:ext cx="7406640" cy="146304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0" rIns="9144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Basis: mature FY13-17 and FY18-22 blocks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452628" y="6049670"/>
            <a:ext cx="7406640" cy="219456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0" rIns="9144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SWBS mapping covers 81% of reported dollars; unmapped / non-Ingalls, including BIW, is $674.0M (19.5%).</a:t>
            </a:r>
          </a:p>
        </p:txBody>
      </p:sp>
      <p:sp>
        <p:nvSpPr>
          <p:cNvPr id="107" name="LegendSwatch"/>
          <p:cNvSpPr txBox="1"/>
          <p:nvPr/>
        </p:nvSpPr>
        <p:spPr>
          <a:xfrm>
            <a:off x="630022" y="1839773"/>
            <a:ext cx="1284732" cy="879653"/>
          </a:xfrm>
          <a:prstGeom prst="rect">
            <a:avLst/>
          </a:prstGeom>
          <a:solidFill>
            <a:srgbClr val="FFFFFF"/>
          </a:solidFill>
          <a:ln w="3175">
            <a:solidFill>
              <a:srgbClr val="79838F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8" name="LegendSwatch"/>
          <p:cNvSpPr txBox="1"/>
          <p:nvPr/>
        </p:nvSpPr>
        <p:spPr>
          <a:xfrm>
            <a:off x="2029054" y="1839773"/>
            <a:ext cx="1284732" cy="879653"/>
          </a:xfrm>
          <a:prstGeom prst="rect">
            <a:avLst/>
          </a:prstGeom>
          <a:solidFill>
            <a:srgbClr val="FFFFFF"/>
          </a:solidFill>
          <a:ln w="3175">
            <a:solidFill>
              <a:srgbClr val="79838F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9" name="LegendSwatch"/>
          <p:cNvSpPr txBox="1"/>
          <p:nvPr/>
        </p:nvSpPr>
        <p:spPr>
          <a:xfrm>
            <a:off x="3428086" y="1839773"/>
            <a:ext cx="1284732" cy="879653"/>
          </a:xfrm>
          <a:prstGeom prst="rect">
            <a:avLst/>
          </a:prstGeom>
          <a:solidFill>
            <a:srgbClr val="FFFFFF"/>
          </a:solidFill>
          <a:ln w="3175">
            <a:solidFill>
              <a:srgbClr val="79838F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0" name="LegendSwatch"/>
          <p:cNvSpPr txBox="1"/>
          <p:nvPr/>
        </p:nvSpPr>
        <p:spPr>
          <a:xfrm>
            <a:off x="4827118" y="1839773"/>
            <a:ext cx="1284732" cy="879653"/>
          </a:xfrm>
          <a:prstGeom prst="rect">
            <a:avLst/>
          </a:prstGeom>
          <a:solidFill>
            <a:srgbClr val="CEDDEC"/>
          </a:solidFill>
          <a:ln w="3175">
            <a:solidFill>
              <a:srgbClr val="79838F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1" name="LegendSwatch"/>
          <p:cNvSpPr txBox="1"/>
          <p:nvPr/>
        </p:nvSpPr>
        <p:spPr>
          <a:xfrm>
            <a:off x="6226150" y="1839773"/>
            <a:ext cx="1284732" cy="879653"/>
          </a:xfrm>
          <a:prstGeom prst="rect">
            <a:avLst/>
          </a:prstGeom>
          <a:solidFill>
            <a:srgbClr val="DFE7EB"/>
          </a:solidFill>
          <a:ln w="3175">
            <a:solidFill>
              <a:srgbClr val="79838F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2" name="Label"/>
          <p:cNvSpPr txBox="1"/>
          <p:nvPr/>
        </p:nvSpPr>
        <p:spPr>
          <a:xfrm>
            <a:off x="630022" y="1839773"/>
            <a:ext cx="1284732" cy="211226"/>
          </a:xfrm>
          <a:prstGeom prst="rect">
            <a:avLst/>
          </a:prstGeom>
          <a:solidFill>
            <a:srgbClr val="364D6E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FY13-17</a:t>
            </a:r>
          </a:p>
        </p:txBody>
      </p:sp>
      <p:sp>
        <p:nvSpPr>
          <p:cNvPr id="113" name="Label"/>
          <p:cNvSpPr txBox="1"/>
          <p:nvPr/>
        </p:nvSpPr>
        <p:spPr>
          <a:xfrm>
            <a:off x="2029054" y="1839773"/>
            <a:ext cx="1284732" cy="211226"/>
          </a:xfrm>
          <a:prstGeom prst="rect">
            <a:avLst/>
          </a:prstGeom>
          <a:solidFill>
            <a:srgbClr val="4C6C9C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FY18-22</a:t>
            </a:r>
          </a:p>
        </p:txBody>
      </p:sp>
      <p:sp>
        <p:nvSpPr>
          <p:cNvPr id="114" name="Label"/>
          <p:cNvSpPr txBox="1"/>
          <p:nvPr/>
        </p:nvSpPr>
        <p:spPr>
          <a:xfrm>
            <a:off x="3428086" y="1839773"/>
            <a:ext cx="1284732" cy="211226"/>
          </a:xfrm>
          <a:prstGeom prst="rect">
            <a:avLst/>
          </a:prstGeom>
          <a:solidFill>
            <a:srgbClr val="447BB2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FY23-27</a:t>
            </a:r>
          </a:p>
        </p:txBody>
      </p:sp>
      <p:sp>
        <p:nvSpPr>
          <p:cNvPr id="115" name="Label"/>
          <p:cNvSpPr txBox="1"/>
          <p:nvPr/>
        </p:nvSpPr>
        <p:spPr>
          <a:xfrm>
            <a:off x="4827118" y="1839773"/>
            <a:ext cx="1284732" cy="211226"/>
          </a:xfrm>
          <a:prstGeom prst="rect">
            <a:avLst/>
          </a:prstGeom>
          <a:solidFill>
            <a:srgbClr val="00777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FY28-32</a:t>
            </a:r>
          </a:p>
        </p:txBody>
      </p:sp>
      <p:sp>
        <p:nvSpPr>
          <p:cNvPr id="116" name="Label"/>
          <p:cNvSpPr txBox="1"/>
          <p:nvPr/>
        </p:nvSpPr>
        <p:spPr>
          <a:xfrm>
            <a:off x="6226150" y="1839773"/>
            <a:ext cx="1284732" cy="211226"/>
          </a:xfrm>
          <a:prstGeom prst="rect">
            <a:avLst/>
          </a:prstGeom>
          <a:solidFill>
            <a:srgbClr val="162029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Chain total</a:t>
            </a:r>
          </a:p>
        </p:txBody>
      </p:sp>
      <p:sp>
        <p:nvSpPr>
          <p:cNvPr id="117" name="MYP Card Body"/>
          <p:cNvSpPr txBox="1"/>
          <p:nvPr/>
        </p:nvSpPr>
        <p:spPr>
          <a:xfrm>
            <a:off x="671170" y="2082089"/>
            <a:ext cx="1202436" cy="591617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tIns="0" rIns="0" bIns="0"/>
          <a:lstStyle/>
          <a:p>
            <a:pPr algn="l">
              <a:lnSpc>
                <a:spcPct val="93000"/>
              </a:lnSpc>
              <a:buNone/>
            </a:pPr>
            <a:r>
              <a:rPr lang="en-US" sz="78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Date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Jun 3, 2013</a:t>
            </a:r>
            <a:br/>
            <a:r>
              <a:rPr lang="en-US" sz="78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Prime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$3.35B / $4.93B</a:t>
            </a:r>
            <a:br/>
            <a:r>
              <a:rPr lang="en-US" sz="8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1st-tier</a:t>
            </a: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$942.3M</a:t>
            </a:r>
            <a:br/>
            <a:r>
              <a:rPr lang="en-US" sz="78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Suppliers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320</a:t>
            </a:r>
          </a:p>
        </p:txBody>
      </p:sp>
      <p:sp>
        <p:nvSpPr>
          <p:cNvPr id="118" name="MYP Card Body"/>
          <p:cNvSpPr txBox="1"/>
          <p:nvPr/>
        </p:nvSpPr>
        <p:spPr>
          <a:xfrm>
            <a:off x="2070202" y="2082089"/>
            <a:ext cx="1202436" cy="591617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tIns="0" rIns="0" bIns="0"/>
          <a:lstStyle/>
          <a:p>
            <a:pPr algn="l">
              <a:lnSpc>
                <a:spcPct val="93000"/>
              </a:lnSpc>
              <a:buNone/>
            </a:pPr>
            <a:r>
              <a:rPr lang="en-US" sz="78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Date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Sep 27, 2018</a:t>
            </a:r>
            <a:br/>
            <a:r>
              <a:rPr lang="en-US" sz="78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Prime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$6.83B / $5.34B</a:t>
            </a:r>
            <a:br/>
            <a:r>
              <a:rPr lang="en-US" sz="8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1st-tier</a:t>
            </a: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$1,327.2M</a:t>
            </a:r>
            <a:br/>
            <a:r>
              <a:rPr lang="en-US" sz="78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Suppliers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344</a:t>
            </a:r>
          </a:p>
        </p:txBody>
      </p:sp>
      <p:sp>
        <p:nvSpPr>
          <p:cNvPr id="119" name="MYP Card Body"/>
          <p:cNvSpPr txBox="1"/>
          <p:nvPr/>
        </p:nvSpPr>
        <p:spPr>
          <a:xfrm>
            <a:off x="3469234" y="2082089"/>
            <a:ext cx="1202436" cy="591617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tIns="0" rIns="0" bIns="0"/>
          <a:lstStyle/>
          <a:p>
            <a:pPr algn="l">
              <a:lnSpc>
                <a:spcPct val="93000"/>
              </a:lnSpc>
              <a:buNone/>
            </a:pPr>
            <a:r>
              <a:rPr lang="en-US" sz="78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Date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Aug 1, 2023</a:t>
            </a:r>
            <a:br/>
            <a:r>
              <a:rPr lang="en-US" sz="78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Prime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$6.95B / $5.03B</a:t>
            </a:r>
            <a:br/>
            <a:r>
              <a:rPr lang="en-US" sz="8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1st-tier</a:t>
            </a: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$1,144.6M</a:t>
            </a:r>
            <a:br/>
            <a:r>
              <a:rPr lang="en-US" sz="78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Suppliers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89</a:t>
            </a:r>
          </a:p>
        </p:txBody>
      </p:sp>
      <p:sp>
        <p:nvSpPr>
          <p:cNvPr id="120" name="MYP Card Body"/>
          <p:cNvSpPr txBox="1"/>
          <p:nvPr/>
        </p:nvSpPr>
        <p:spPr>
          <a:xfrm>
            <a:off x="4868266" y="2082089"/>
            <a:ext cx="1202436" cy="591617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tIns="0" rIns="0" bIns="0"/>
          <a:lstStyle/>
          <a:p>
            <a:pPr algn="l">
              <a:lnSpc>
                <a:spcPct val="93000"/>
              </a:lnSpc>
              <a:buNone/>
            </a:pPr>
            <a:r>
              <a:rPr lang="en-US" sz="78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ETA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~2028</a:t>
            </a:r>
            <a:br/>
            <a:r>
              <a:rPr lang="en-US" sz="78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Prime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not yet awarded</a:t>
            </a:r>
            <a:br/>
            <a:r>
              <a:rPr lang="en-US" sz="8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1st-tier</a:t>
            </a: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next sourcing</a:t>
            </a:r>
            <a:br/>
            <a:r>
              <a:rPr lang="en-US" sz="78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Window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FY28-31</a:t>
            </a:r>
          </a:p>
        </p:txBody>
      </p:sp>
      <p:sp>
        <p:nvSpPr>
          <p:cNvPr id="121" name="MYP Card Body"/>
          <p:cNvSpPr txBox="1"/>
          <p:nvPr/>
        </p:nvSpPr>
        <p:spPr>
          <a:xfrm>
            <a:off x="6267298" y="2082089"/>
            <a:ext cx="1202436" cy="591617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tIns="0" rIns="0" bIns="0"/>
          <a:lstStyle/>
          <a:p>
            <a:pPr algn="l">
              <a:lnSpc>
                <a:spcPct val="93000"/>
              </a:lnSpc>
              <a:buNone/>
            </a:pPr>
            <a:r>
              <a:rPr lang="en-US" sz="78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Scope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incl. FY11 buy</a:t>
            </a:r>
            <a:br/>
            <a:r>
              <a:rPr lang="en-US" sz="78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Prime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prime layer above</a:t>
            </a:r>
            <a:br/>
            <a:r>
              <a:rPr lang="en-US" sz="8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1st-tier</a:t>
            </a: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$3,465.8M</a:t>
            </a:r>
            <a:br/>
            <a:r>
              <a:rPr lang="en-US" sz="78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Suppliers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521</a:t>
            </a:r>
          </a:p>
        </p:txBody>
      </p:sp>
      <p:sp>
        <p:nvSpPr>
          <p:cNvPr id="122" name="Spend Axis"/>
          <p:cNvSpPr txBox="1"/>
          <p:nvPr/>
        </p:nvSpPr>
        <p:spPr>
          <a:xfrm>
            <a:off x="516636" y="3168396"/>
            <a:ext cx="6062472" cy="128016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0" rIns="91440" bIns="0"/>
          <a:lstStyle/>
          <a:p>
            <a:pPr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Share of reported first-tier subaward dollars by years after prime award</a:t>
            </a:r>
          </a:p>
        </p:txBody>
      </p:sp>
      <p:sp>
        <p:nvSpPr>
          <p:cNvPr id="123" name="Spend Segment"/>
          <p:cNvSpPr txBox="1"/>
          <p:nvPr/>
        </p:nvSpPr>
        <p:spPr>
          <a:xfrm>
            <a:off x="516636" y="3311042"/>
            <a:ext cx="2048256" cy="365760"/>
          </a:xfrm>
          <a:prstGeom prst="rect">
            <a:avLst/>
          </a:prstGeom>
          <a:solidFill>
            <a:srgbClr val="364D6E"/>
          </a:solidFill>
          <a:ln w="3175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Award year</a:t>
            </a:r>
            <a:br/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26%</a:t>
            </a:r>
          </a:p>
        </p:txBody>
      </p:sp>
      <p:sp>
        <p:nvSpPr>
          <p:cNvPr id="124" name="Label"/>
          <p:cNvSpPr txBox="1"/>
          <p:nvPr/>
        </p:nvSpPr>
        <p:spPr>
          <a:xfrm>
            <a:off x="516636" y="3704234"/>
            <a:ext cx="2048256" cy="146304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0" rIns="9144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cum. 26%</a:t>
            </a:r>
          </a:p>
        </p:txBody>
      </p:sp>
      <p:sp>
        <p:nvSpPr>
          <p:cNvPr id="125" name="Label"/>
          <p:cNvSpPr txBox="1"/>
          <p:nvPr/>
        </p:nvSpPr>
        <p:spPr>
          <a:xfrm>
            <a:off x="2564892" y="3704234"/>
            <a:ext cx="1260043" cy="146304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0" rIns="9144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cum. 42%</a:t>
            </a:r>
          </a:p>
        </p:txBody>
      </p:sp>
      <p:sp>
        <p:nvSpPr>
          <p:cNvPr id="126" name="Label"/>
          <p:cNvSpPr txBox="1"/>
          <p:nvPr/>
        </p:nvSpPr>
        <p:spPr>
          <a:xfrm>
            <a:off x="3824935" y="3704234"/>
            <a:ext cx="1181405" cy="146304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0" rIns="9144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cum. 58%</a:t>
            </a:r>
          </a:p>
        </p:txBody>
      </p:sp>
      <p:sp>
        <p:nvSpPr>
          <p:cNvPr id="127" name="Label"/>
          <p:cNvSpPr txBox="1"/>
          <p:nvPr/>
        </p:nvSpPr>
        <p:spPr>
          <a:xfrm>
            <a:off x="5007254" y="3704234"/>
            <a:ext cx="866851" cy="146304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0" rIns="9144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cum. 69%</a:t>
            </a:r>
          </a:p>
        </p:txBody>
      </p:sp>
      <p:sp>
        <p:nvSpPr>
          <p:cNvPr id="128" name="Label"/>
          <p:cNvSpPr txBox="1"/>
          <p:nvPr/>
        </p:nvSpPr>
        <p:spPr>
          <a:xfrm>
            <a:off x="5873191" y="3704234"/>
            <a:ext cx="788213" cy="146304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0" rIns="9144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cum. 79%</a:t>
            </a:r>
          </a:p>
        </p:txBody>
      </p:sp>
      <p:sp>
        <p:nvSpPr>
          <p:cNvPr id="129" name="Spend Segment"/>
          <p:cNvSpPr txBox="1"/>
          <p:nvPr/>
        </p:nvSpPr>
        <p:spPr>
          <a:xfrm>
            <a:off x="2564892" y="3311042"/>
            <a:ext cx="1260043" cy="365760"/>
          </a:xfrm>
          <a:prstGeom prst="rect">
            <a:avLst/>
          </a:prstGeom>
          <a:solidFill>
            <a:srgbClr val="4C6C9C"/>
          </a:solidFill>
          <a:ln w="3175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+1</a:t>
            </a:r>
            <a:br/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16%</a:t>
            </a:r>
          </a:p>
        </p:txBody>
      </p:sp>
      <p:sp>
        <p:nvSpPr>
          <p:cNvPr id="130" name="Spend Segment"/>
          <p:cNvSpPr txBox="1"/>
          <p:nvPr/>
        </p:nvSpPr>
        <p:spPr>
          <a:xfrm>
            <a:off x="3824935" y="3311042"/>
            <a:ext cx="1181405" cy="365760"/>
          </a:xfrm>
          <a:prstGeom prst="rect">
            <a:avLst/>
          </a:prstGeom>
          <a:solidFill>
            <a:srgbClr val="447BB2"/>
          </a:solidFill>
          <a:ln w="3175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+2</a:t>
            </a:r>
            <a:br/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31" name="Spend Segment"/>
          <p:cNvSpPr txBox="1"/>
          <p:nvPr/>
        </p:nvSpPr>
        <p:spPr>
          <a:xfrm>
            <a:off x="5007254" y="3311042"/>
            <a:ext cx="866851" cy="365760"/>
          </a:xfrm>
          <a:prstGeom prst="rect">
            <a:avLst/>
          </a:prstGeom>
          <a:solidFill>
            <a:srgbClr val="6F8DB9"/>
          </a:solidFill>
          <a:ln w="3175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+3</a:t>
            </a:r>
            <a:br/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11%</a:t>
            </a:r>
          </a:p>
        </p:txBody>
      </p:sp>
      <p:sp>
        <p:nvSpPr>
          <p:cNvPr id="132" name="Spend Segment"/>
          <p:cNvSpPr txBox="1"/>
          <p:nvPr/>
        </p:nvSpPr>
        <p:spPr>
          <a:xfrm>
            <a:off x="5873191" y="3311042"/>
            <a:ext cx="788213" cy="365760"/>
          </a:xfrm>
          <a:prstGeom prst="rect">
            <a:avLst/>
          </a:prstGeom>
          <a:solidFill>
            <a:srgbClr val="CEDDEC"/>
          </a:solidFill>
          <a:ln w="3175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+4</a:t>
            </a:r>
            <a:br/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133" name="Spend Callout"/>
          <p:cNvSpPr txBox="1"/>
          <p:nvPr/>
        </p:nvSpPr>
        <p:spPr>
          <a:xfrm>
            <a:off x="6716268" y="3212287"/>
            <a:ext cx="1188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7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7770"/>
                </a:solidFill>
                <a:latin typeface="Arial"/>
                <a:ea typeface="Arial"/>
                <a:cs typeface="Arial"/>
              </a:rPr>
              <a:t>≈80%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within four years</a:t>
            </a:r>
          </a:p>
        </p:txBody>
      </p:sp>
      <p:graphicFrame>
        <p:nvGraphicFramePr>
          <p:cNvPr id="134" name="System Concentration Table"/>
          <p:cNvGraphicFramePr>
            <a:graphicFrameLocks noGrp="1"/>
          </p:cNvGraphicFramePr>
          <p:nvPr/>
        </p:nvGraphicFramePr>
        <p:xfrm>
          <a:off x="452628" y="4536338"/>
          <a:ext cx="7406640" cy="146304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298448"/>
                <a:gridCol w="914400"/>
                <a:gridCol w="1947672"/>
                <a:gridCol w="3246120"/>
              </a:tblGrid>
              <a:tr h="365760">
                <a:tc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 system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Reported dollars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structure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Entry read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Auxiliary systems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$947.5M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90 suppliers; top vendor 15.9%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Fragmented work where another qualified supplier can compete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 plant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$750.8M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 suppliers; Rolls-Royce 42.6%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Second-source qualification or teaming around supplier risk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Propulsion plant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$957.9M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29 suppliers; General Electric 34.7%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Incumbent-led work to monitor for second-source or partner openings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Award Anatomy Table"/>
          <p:cNvGraphicFramePr>
            <a:graphicFrameLocks noGrp="1"/>
          </p:cNvGraphicFramePr>
          <p:nvPr/>
        </p:nvGraphicFramePr>
        <p:xfrm>
          <a:off x="8014716" y="1730045"/>
          <a:ext cx="3685032" cy="402336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932688"/>
                <a:gridCol w="1362456"/>
                <a:gridCol w="1389888"/>
              </a:tblGrid>
              <a:tr h="274320">
                <a:tc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Attribute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 read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Relevance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Instrument / award structure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Definitive MYP production contracts; dual-source prime structure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 prime access is effectively committed for the block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Competition / holder set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Huntington Ingalls and Bath Iron Works are established primes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New entry is through qualification, teaming, or upper-tier integration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Timing trigger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MYP awards in 2013, 2018, 2023; FY28-32 expected ~2028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Dates the next supplier sourcing wave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Obligated amount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Prime obligations by shipyard; $3.47B reported first-tier subawards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Measures the scale of the visible supplier layer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Ceiling / potential 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N/A; definitive MYP, not an IDIQ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Avoids forcing an IDV ceiling metric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TAS / appropriation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Shipbuilding and Conversion, Navy, 017-1611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Confirms shipbuilding procurement funding context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Route to revenue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Through the incumbent performance chain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Qualify before FY28-32 supplier demand is sourced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6" name="Reporting Caveat"/>
          <p:cNvSpPr txBox="1"/>
          <p:nvPr/>
        </p:nvSpPr>
        <p:spPr>
          <a:xfrm>
            <a:off x="8014716" y="5807354"/>
            <a:ext cx="3685032" cy="455371"/>
          </a:xfrm>
          <a:prstGeom prst="rect">
            <a:avLst/>
          </a:prstGeom>
          <a:solidFill>
            <a:srgbClr val="DFE7EB"/>
          </a:solidFill>
          <a:ln w="6350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Reporting caveat: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 first-tier reporting is a floor. It lags 6–18 months and under-reports some prime supply chains.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Strategic Contracts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Vehicle-Gated Access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Army Watercraft Ship-Repair Pool | Holder-gated IDIQ access shifts direct entry to the successor vehicle.</a:t>
            </a:r>
          </a:p>
        </p:txBody>
      </p:sp>
      <p:sp>
        <p:nvSpPr>
          <p:cNvPr id="100" name="Timeline Header"/>
          <p:cNvSpPr txBox="1"/>
          <p:nvPr/>
        </p:nvSpPr>
        <p:spPr>
          <a:xfrm>
            <a:off x="452628" y="1385316"/>
            <a:ext cx="6419088" cy="210312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Dated on-ramp: contract data may indicate recompete opportunity</a:t>
            </a:r>
          </a:p>
        </p:txBody>
      </p:sp>
      <p:cxnSp>
        <p:nvCxnSpPr>
          <p:cNvPr id="101" name="Timeline Header Rule"/>
          <p:cNvCxnSpPr/>
          <p:nvPr/>
        </p:nvCxnSpPr>
        <p:spPr>
          <a:xfrm>
            <a:off x="452628" y="1592885"/>
            <a:ext cx="6419088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02" name="Timeline Key"/>
          <p:cNvSpPr txBox="1"/>
          <p:nvPr/>
        </p:nvSpPr>
        <p:spPr>
          <a:xfrm>
            <a:off x="3703320" y="1783080"/>
            <a:ext cx="2761488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Solid: contract data  |  Dashed: inferred</a:t>
            </a:r>
          </a:p>
        </p:txBody>
      </p:sp>
      <p:sp>
        <p:nvSpPr>
          <p:cNvPr id="103" name="Order Activity Band"/>
          <p:cNvSpPr txBox="1"/>
          <p:nvPr/>
        </p:nvSpPr>
        <p:spPr>
          <a:xfrm>
            <a:off x="1165860" y="2029968"/>
            <a:ext cx="361188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Active Ordering Period</a:t>
            </a:r>
            <a:br/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74 delivery orders  |  $416.8M realized</a:t>
            </a:r>
          </a:p>
        </p:txBody>
      </p:sp>
      <p:sp>
        <p:nvSpPr>
          <p:cNvPr id="104" name="Open Turnover Band"/>
          <p:cNvSpPr txBox="1"/>
          <p:nvPr/>
        </p:nvSpPr>
        <p:spPr>
          <a:xfrm>
            <a:off x="4777740" y="2029968"/>
            <a:ext cx="1691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 Turnover</a:t>
            </a:r>
            <a:br/>
            <a:r>
              <a:rPr lang="en-US" sz="1000" i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No visible successor</a:t>
            </a:r>
          </a:p>
        </p:txBody>
      </p:sp>
      <p:cxnSp>
        <p:nvCxnSpPr>
          <p:cNvPr id="105" name="Ordering Period Rule"/>
          <p:cNvCxnSpPr/>
          <p:nvPr/>
        </p:nvCxnSpPr>
        <p:spPr>
          <a:xfrm>
            <a:off x="1097280" y="3246120"/>
            <a:ext cx="3611880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106" name="Turnover Window Rule"/>
          <p:cNvCxnSpPr/>
          <p:nvPr/>
        </p:nvCxnSpPr>
        <p:spPr>
          <a:xfrm>
            <a:off x="4709160" y="3246120"/>
            <a:ext cx="1691640" cy="0"/>
          </a:xfrm>
          <a:prstGeom prst="line">
            <a:avLst/>
          </a:prstGeom>
          <a:ln w="19050">
            <a:solidFill>
              <a:srgbClr val="7F7F7F"/>
            </a:solidFill>
            <a:prstDash val="dash"/>
            <a:tailEnd type="triangle" w="med" len="med"/>
          </a:ln>
        </p:spPr>
      </p:cxnSp>
      <p:cxnSp>
        <p:nvCxnSpPr>
          <p:cNvPr id="107" name="Milestone Tick"/>
          <p:cNvCxnSpPr/>
          <p:nvPr/>
        </p:nvCxnSpPr>
        <p:spPr>
          <a:xfrm>
            <a:off x="1170432" y="2852928"/>
            <a:ext cx="0" cy="749808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08" name="Timeline Marker"/>
          <p:cNvSpPr txBox="1"/>
          <p:nvPr/>
        </p:nvSpPr>
        <p:spPr>
          <a:xfrm>
            <a:off x="1097280" y="3172968"/>
            <a:ext cx="146304" cy="14630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9" name="Timeline Marker"/>
          <p:cNvSpPr txBox="1"/>
          <p:nvPr/>
        </p:nvSpPr>
        <p:spPr>
          <a:xfrm>
            <a:off x="4709160" y="3172968"/>
            <a:ext cx="146304" cy="146304"/>
          </a:xfrm>
          <a:prstGeom prst="ellipse">
            <a:avLst/>
          </a:prstGeom>
          <a:solidFill>
            <a:srgbClr val="263746"/>
          </a:solidFill>
          <a:ln w="12700">
            <a:solidFill>
              <a:srgbClr val="26374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0" name="Timeline Marker"/>
          <p:cNvSpPr txBox="1"/>
          <p:nvPr/>
        </p:nvSpPr>
        <p:spPr>
          <a:xfrm>
            <a:off x="6400800" y="3172968"/>
            <a:ext cx="146304" cy="146304"/>
          </a:xfrm>
          <a:prstGeom prst="ellipse">
            <a:avLst/>
          </a:prstGeom>
          <a:solidFill>
            <a:srgbClr val="7F7F7F"/>
          </a:solidFill>
          <a:ln w="12700">
            <a:solidFill>
              <a:srgbClr val="7F7F7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1" name="Milestone Date"/>
          <p:cNvSpPr txBox="1"/>
          <p:nvPr/>
        </p:nvSpPr>
        <p:spPr>
          <a:xfrm>
            <a:off x="777240" y="3639312"/>
            <a:ext cx="786384" cy="2103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2021-01-27</a:t>
            </a:r>
          </a:p>
        </p:txBody>
      </p:sp>
      <p:sp>
        <p:nvSpPr>
          <p:cNvPr id="112" name="Milestone Description"/>
          <p:cNvSpPr txBox="1"/>
          <p:nvPr/>
        </p:nvSpPr>
        <p:spPr>
          <a:xfrm>
            <a:off x="621792" y="3840480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Ordering period starts</a:t>
            </a:r>
          </a:p>
        </p:txBody>
      </p:sp>
      <p:sp>
        <p:nvSpPr>
          <p:cNvPr id="113" name="Milestone Description"/>
          <p:cNvSpPr txBox="1"/>
          <p:nvPr/>
        </p:nvSpPr>
        <p:spPr>
          <a:xfrm>
            <a:off x="4233672" y="3840480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Common last date to order
(all 14 vehicles)</a:t>
            </a:r>
          </a:p>
        </p:txBody>
      </p:sp>
      <p:sp>
        <p:nvSpPr>
          <p:cNvPr id="114" name="Milestone Description"/>
          <p:cNvSpPr txBox="1"/>
          <p:nvPr/>
        </p:nvSpPr>
        <p:spPr>
          <a:xfrm>
            <a:off x="5925312" y="3840480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No successor visible
in available data</a:t>
            </a:r>
          </a:p>
        </p:txBody>
      </p:sp>
      <p:cxnSp>
        <p:nvCxnSpPr>
          <p:cNvPr id="115" name="Milestone Tick"/>
          <p:cNvCxnSpPr/>
          <p:nvPr/>
        </p:nvCxnSpPr>
        <p:spPr>
          <a:xfrm>
            <a:off x="4782312" y="2852928"/>
            <a:ext cx="0" cy="749808"/>
          </a:xfrm>
          <a:prstGeom prst="line">
            <a:avLst/>
          </a:prstGeom>
          <a:ln w="12700">
            <a:solidFill>
              <a:srgbClr val="263746"/>
            </a:solidFill>
          </a:ln>
        </p:spPr>
      </p:cxnSp>
      <p:sp>
        <p:nvSpPr>
          <p:cNvPr id="116" name="Milestone Date"/>
          <p:cNvSpPr txBox="1"/>
          <p:nvPr/>
        </p:nvSpPr>
        <p:spPr>
          <a:xfrm>
            <a:off x="4389120" y="3639312"/>
            <a:ext cx="786384" cy="2103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63746"/>
                </a:solidFill>
                <a:latin typeface="Arial"/>
                <a:ea typeface="Arial"/>
                <a:cs typeface="Arial"/>
              </a:rPr>
              <a:t>2026-01-25</a:t>
            </a:r>
          </a:p>
        </p:txBody>
      </p:sp>
      <p:cxnSp>
        <p:nvCxnSpPr>
          <p:cNvPr id="117" name="Milestone Tick"/>
          <p:cNvCxnSpPr/>
          <p:nvPr/>
        </p:nvCxnSpPr>
        <p:spPr>
          <a:xfrm>
            <a:off x="6473952" y="2852928"/>
            <a:ext cx="0" cy="749808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118" name="Milestone Date"/>
          <p:cNvSpPr txBox="1"/>
          <p:nvPr/>
        </p:nvSpPr>
        <p:spPr>
          <a:xfrm>
            <a:off x="6080760" y="3639312"/>
            <a:ext cx="786384" cy="2103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2026-06-24</a:t>
            </a:r>
          </a:p>
        </p:txBody>
      </p:sp>
      <p:sp>
        <p:nvSpPr>
          <p:cNvPr id="119" name="Subpool Caption"/>
          <p:cNvSpPr txBox="1"/>
          <p:nvPr/>
        </p:nvSpPr>
        <p:spPr>
          <a:xfrm>
            <a:off x="452628" y="4497934"/>
            <a:ext cx="6419088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regional sub-pools</a:t>
            </a:r>
          </a:p>
        </p:txBody>
      </p:sp>
      <p:sp>
        <p:nvSpPr>
          <p:cNvPr id="120" name="Subpool Card Frame"/>
          <p:cNvSpPr txBox="1"/>
          <p:nvPr/>
        </p:nvSpPr>
        <p:spPr>
          <a:xfrm>
            <a:off x="452628" y="4717390"/>
            <a:ext cx="2048256" cy="1225296"/>
          </a:xfrm>
          <a:prstGeom prst="rect">
            <a:avLst/>
          </a:prstGeom>
          <a:solidFill>
            <a:srgbClr val="FFFFFF"/>
          </a:solidFill>
          <a:ln w="6350">
            <a:solidFill>
              <a:srgbClr val="162029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1" name="Subpool Card Frame"/>
          <p:cNvSpPr txBox="1"/>
          <p:nvPr/>
        </p:nvSpPr>
        <p:spPr>
          <a:xfrm>
            <a:off x="2638044" y="4717390"/>
            <a:ext cx="2048256" cy="1225296"/>
          </a:xfrm>
          <a:prstGeom prst="rect">
            <a:avLst/>
          </a:prstGeom>
          <a:solidFill>
            <a:srgbClr val="FFFFFF"/>
          </a:solidFill>
          <a:ln w="6350">
            <a:solidFill>
              <a:srgbClr val="162029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2" name="Subpool Card Frame"/>
          <p:cNvSpPr txBox="1"/>
          <p:nvPr/>
        </p:nvSpPr>
        <p:spPr>
          <a:xfrm>
            <a:off x="4823460" y="4717390"/>
            <a:ext cx="2048256" cy="1225296"/>
          </a:xfrm>
          <a:prstGeom prst="rect">
            <a:avLst/>
          </a:prstGeom>
          <a:solidFill>
            <a:srgbClr val="FFFFFF"/>
          </a:solidFill>
          <a:ln w="6350">
            <a:solidFill>
              <a:srgbClr val="162029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3" name="Subpool Region Header"/>
          <p:cNvSpPr txBox="1"/>
          <p:nvPr/>
        </p:nvSpPr>
        <p:spPr>
          <a:xfrm>
            <a:off x="498348" y="4763110"/>
            <a:ext cx="1956816" cy="274320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CONUS</a:t>
            </a:r>
          </a:p>
        </p:txBody>
      </p:sp>
      <p:sp>
        <p:nvSpPr>
          <p:cNvPr id="124" name="Subpool Region Header"/>
          <p:cNvSpPr txBox="1"/>
          <p:nvPr/>
        </p:nvSpPr>
        <p:spPr>
          <a:xfrm>
            <a:off x="2683764" y="4763110"/>
            <a:ext cx="1956816" cy="274320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Japan / Korea</a:t>
            </a:r>
          </a:p>
        </p:txBody>
      </p:sp>
      <p:sp>
        <p:nvSpPr>
          <p:cNvPr id="125" name="Subpool Region Header"/>
          <p:cNvSpPr txBox="1"/>
          <p:nvPr/>
        </p:nvSpPr>
        <p:spPr>
          <a:xfrm>
            <a:off x="4869180" y="4763110"/>
            <a:ext cx="1956816" cy="274320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Forward OCONUS</a:t>
            </a:r>
          </a:p>
        </p:txBody>
      </p:sp>
      <p:sp>
        <p:nvSpPr>
          <p:cNvPr id="126" name="Subpool Body"/>
          <p:cNvSpPr txBox="1"/>
          <p:nvPr/>
        </p:nvSpPr>
        <p:spPr>
          <a:xfrm>
            <a:off x="452628" y="5101438"/>
            <a:ext cx="2048256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W56HZV20RL807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$281.7M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obligated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$529.0M ceiling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  <a:r>
              <a:rPr lang="en-US" sz="10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 seats  ·  </a:t>
            </a: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orders</a:t>
            </a:r>
          </a:p>
        </p:txBody>
      </p:sp>
      <p:sp>
        <p:nvSpPr>
          <p:cNvPr id="127" name="Subpool Body"/>
          <p:cNvSpPr txBox="1"/>
          <p:nvPr/>
        </p:nvSpPr>
        <p:spPr>
          <a:xfrm>
            <a:off x="2638044" y="5101438"/>
            <a:ext cx="2048256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W56HZV20RL806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$123.2M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obligated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$216.0M ceiling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  <a:r>
              <a:rPr lang="en-US" sz="10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 seats  ·  </a:t>
            </a: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orders</a:t>
            </a:r>
          </a:p>
        </p:txBody>
      </p:sp>
      <p:sp>
        <p:nvSpPr>
          <p:cNvPr id="128" name="Subpool Body"/>
          <p:cNvSpPr txBox="1"/>
          <p:nvPr/>
        </p:nvSpPr>
        <p:spPr>
          <a:xfrm>
            <a:off x="4823460" y="5101438"/>
            <a:ext cx="2048256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W56HZV20RL805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$11.9M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obligated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$186.0M ceiling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  <a:r>
              <a:rPr lang="en-US" sz="10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 seats  ·  </a:t>
            </a: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orders</a:t>
            </a:r>
          </a:p>
        </p:txBody>
      </p:sp>
      <p:sp>
        <p:nvSpPr>
          <p:cNvPr id="129" name="Award Anatomy Title"/>
          <p:cNvSpPr txBox="1"/>
          <p:nvPr/>
        </p:nvSpPr>
        <p:spPr>
          <a:xfrm>
            <a:off x="7072884" y="1385316"/>
            <a:ext cx="4654296" cy="182880"/>
          </a:xfrm>
          <a:prstGeom prst="rect">
            <a:avLst/>
          </a:prstGeom>
          <a:noFill/>
          <a:ln>
            <a:noFill/>
          </a:ln>
        </p:spPr>
        <p:txBody>
          <a:bodyPr wrap="none" anchor="b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Award Anatomy</a:t>
            </a:r>
          </a:p>
        </p:txBody>
      </p:sp>
      <p:graphicFrame>
        <p:nvGraphicFramePr>
          <p:cNvPr id="130" name="Award Anatomy Table"/>
          <p:cNvGraphicFramePr>
            <a:graphicFrameLocks noGrp="1"/>
          </p:cNvGraphicFramePr>
          <p:nvPr/>
        </p:nvGraphicFramePr>
        <p:xfrm>
          <a:off x="7072884" y="1600200"/>
          <a:ext cx="4654296" cy="379476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024128"/>
                <a:gridCol w="1920240"/>
                <a:gridCol w="1709928"/>
              </a:tblGrid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Attribute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6202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Army watercraft read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6202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Relevance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62029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Instrument / award structure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Multiple-award IDIQ / IDC for non-nuclear ship repair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 access is limited to vehicle holders during the ordering period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Competition / holder set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Full-and-open parent competition; 14 holder vehicles across 10 vendors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New entrants compete for a seat at the successor pool or on-ramp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Timing trigger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Last date to order: January 25, 2026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Dates the entry window more precisely than a generic recompete estimate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Obligated amount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$416.8M across 74 delivery orders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Measures realized demand; this is the summable dollar measure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Ceiling / potential 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$529.0M, $216.0M, and $186.0M regional ceilings shared within each sub-pool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Shows capacity without overstating revenue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TAS / appropriation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021-2020 O&amp;M, Army; 021-2035 Other Procurement, Army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Confirms sustainment / procurement funding context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Route to revenue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 to Government at successor holder selection; incumbent-chain route in the interim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Bid the successor pool; subcontract or team with current holders before award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1" name="Right Brace 4"/>
          <p:cNvSpPr txBox="1"/>
          <p:nvPr/>
        </p:nvSpPr>
        <p:spPr>
          <a:xfrm rot="16200000">
            <a:off x="3455518" y="1020470"/>
            <a:ext cx="438912" cy="6583680"/>
          </a:xfrm>
          <a:prstGeom prst="rightBrace">
            <a:avLst>
              <a:gd name="adj1" fmla="val 6721"/>
              <a:gd name="adj2" fmla="val 39391"/>
            </a:avLst>
          </a:prstGeom>
          <a:noFill/>
          <a:ln w="12700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cxnSp>
        <p:nvCxnSpPr>
          <p:cNvPr id="132" name="Straight Connector 9"/>
          <p:cNvCxnSpPr/>
          <p:nvPr/>
        </p:nvCxnSpPr>
        <p:spPr>
          <a:xfrm>
            <a:off x="2971800" y="2743200"/>
            <a:ext cx="4572" cy="1349654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Sources and Validation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Award Data Sourcing &amp; Validation | SAM.gov Contract Awards is the modern base pull; budget, supplier, and entity layers enrich it before validation and sizing.</a:t>
            </a:r>
          </a:p>
        </p:txBody>
      </p:sp>
      <p:sp>
        <p:nvSpPr>
          <p:cNvPr id="100" name="StageBand"/>
          <p:cNvSpPr txBox="1"/>
          <p:nvPr/>
        </p:nvSpPr>
        <p:spPr>
          <a:xfrm>
            <a:off x="452628" y="1389888"/>
            <a:ext cx="2423160" cy="34015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1" name="StageBand"/>
          <p:cNvSpPr txBox="1"/>
          <p:nvPr/>
        </p:nvSpPr>
        <p:spPr>
          <a:xfrm>
            <a:off x="2875788" y="1389888"/>
            <a:ext cx="4572000" cy="3401568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2" name="StageBand"/>
          <p:cNvSpPr txBox="1"/>
          <p:nvPr/>
        </p:nvSpPr>
        <p:spPr>
          <a:xfrm>
            <a:off x="7447788" y="1389888"/>
            <a:ext cx="1417320" cy="3401568"/>
          </a:xfrm>
          <a:prstGeom prst="rect">
            <a:avLst/>
          </a:prstGeom>
          <a:solidFill>
            <a:srgbClr val="B6C8D8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3" name="StageLabel"/>
          <p:cNvSpPr txBox="1"/>
          <p:nvPr/>
        </p:nvSpPr>
        <p:spPr>
          <a:xfrm>
            <a:off x="525780" y="1426464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PULL</a:t>
            </a:r>
          </a:p>
        </p:txBody>
      </p:sp>
      <p:sp>
        <p:nvSpPr>
          <p:cNvPr id="104" name="StageLabel"/>
          <p:cNvSpPr txBox="1"/>
          <p:nvPr/>
        </p:nvSpPr>
        <p:spPr>
          <a:xfrm>
            <a:off x="2948940" y="1426464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ENRICH</a:t>
            </a:r>
          </a:p>
        </p:txBody>
      </p:sp>
      <p:sp>
        <p:nvSpPr>
          <p:cNvPr id="105" name="StageLabel"/>
          <p:cNvSpPr txBox="1"/>
          <p:nvPr/>
        </p:nvSpPr>
        <p:spPr>
          <a:xfrm>
            <a:off x="7520940" y="1426464"/>
            <a:ext cx="896112" cy="16459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06" name="StageLabel"/>
          <p:cNvSpPr txBox="1"/>
          <p:nvPr/>
        </p:nvSpPr>
        <p:spPr>
          <a:xfrm>
            <a:off x="9258300" y="1426464"/>
            <a:ext cx="859536" cy="16459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107" name="ModernBaseNote"/>
          <p:cNvSpPr txBox="1"/>
          <p:nvPr/>
        </p:nvSpPr>
        <p:spPr>
          <a:xfrm>
            <a:off x="585216" y="1755648"/>
            <a:ext cx="2084832" cy="11521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36576" bIns="0"/>
          <a:lstStyle/>
          <a:p>
            <a:pPr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SAM.gov Contract Awards is the modern base pull.</a:t>
            </a:r>
          </a:p>
          <a:p>
            <a:pPr>
              <a:lnSpc>
                <a:spcPct val="100000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President's Budget frames funded demand. FPDS remains useful for legacy lineage and per-action validation, but the workflow does not depend on a feed retiring in FY2026.</a:t>
            </a:r>
          </a:p>
        </p:txBody>
      </p:sp>
      <p:sp>
        <p:nvSpPr>
          <p:cNvPr id="108" name="StepNumber"/>
          <p:cNvSpPr txBox="1"/>
          <p:nvPr/>
        </p:nvSpPr>
        <p:spPr>
          <a:xfrm>
            <a:off x="640080" y="3310128"/>
            <a:ext cx="219456" cy="219456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9" name="StepAction"/>
          <p:cNvSpPr txBox="1"/>
          <p:nvPr/>
        </p:nvSpPr>
        <p:spPr>
          <a:xfrm>
            <a:off x="905256" y="3310128"/>
            <a:ext cx="859536" cy="2194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Define</a:t>
            </a:r>
          </a:p>
        </p:txBody>
      </p:sp>
      <p:sp>
        <p:nvSpPr>
          <p:cNvPr id="110" name="StepNumber"/>
          <p:cNvSpPr txBox="1"/>
          <p:nvPr/>
        </p:nvSpPr>
        <p:spPr>
          <a:xfrm>
            <a:off x="1938528" y="3310128"/>
            <a:ext cx="219456" cy="219456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1" name="StepAction"/>
          <p:cNvSpPr txBox="1"/>
          <p:nvPr/>
        </p:nvSpPr>
        <p:spPr>
          <a:xfrm>
            <a:off x="2203704" y="3310128"/>
            <a:ext cx="859536" cy="2194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Pull</a:t>
            </a:r>
          </a:p>
        </p:txBody>
      </p:sp>
      <p:sp>
        <p:nvSpPr>
          <p:cNvPr id="112" name="StepNumber"/>
          <p:cNvSpPr txBox="1"/>
          <p:nvPr/>
        </p:nvSpPr>
        <p:spPr>
          <a:xfrm>
            <a:off x="3054096" y="1719072"/>
            <a:ext cx="219456" cy="219456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3" name="StepAction"/>
          <p:cNvSpPr txBox="1"/>
          <p:nvPr/>
        </p:nvSpPr>
        <p:spPr>
          <a:xfrm>
            <a:off x="3319272" y="1719072"/>
            <a:ext cx="859536" cy="2194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</a:t>
            </a:r>
          </a:p>
        </p:txBody>
      </p:sp>
      <p:sp>
        <p:nvSpPr>
          <p:cNvPr id="114" name="StepNumber"/>
          <p:cNvSpPr txBox="1"/>
          <p:nvPr/>
        </p:nvSpPr>
        <p:spPr>
          <a:xfrm>
            <a:off x="4187952" y="1719072"/>
            <a:ext cx="219456" cy="219456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5" name="StepAction"/>
          <p:cNvSpPr txBox="1"/>
          <p:nvPr/>
        </p:nvSpPr>
        <p:spPr>
          <a:xfrm>
            <a:off x="4453128" y="1719072"/>
            <a:ext cx="859536" cy="2194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Link</a:t>
            </a:r>
          </a:p>
        </p:txBody>
      </p:sp>
      <p:sp>
        <p:nvSpPr>
          <p:cNvPr id="116" name="StepNumber"/>
          <p:cNvSpPr txBox="1"/>
          <p:nvPr/>
        </p:nvSpPr>
        <p:spPr>
          <a:xfrm>
            <a:off x="5321808" y="1719072"/>
            <a:ext cx="219456" cy="219456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7" name="StepAction"/>
          <p:cNvSpPr txBox="1"/>
          <p:nvPr/>
        </p:nvSpPr>
        <p:spPr>
          <a:xfrm>
            <a:off x="5586984" y="1719072"/>
            <a:ext cx="859536" cy="2194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Pull</a:t>
            </a:r>
          </a:p>
        </p:txBody>
      </p:sp>
      <p:sp>
        <p:nvSpPr>
          <p:cNvPr id="118" name="StepNumber"/>
          <p:cNvSpPr txBox="1"/>
          <p:nvPr/>
        </p:nvSpPr>
        <p:spPr>
          <a:xfrm>
            <a:off x="6455664" y="1719072"/>
            <a:ext cx="219456" cy="219456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19" name="StepAction"/>
          <p:cNvSpPr txBox="1"/>
          <p:nvPr/>
        </p:nvSpPr>
        <p:spPr>
          <a:xfrm>
            <a:off x="6720840" y="1719072"/>
            <a:ext cx="859536" cy="2194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Resolve</a:t>
            </a:r>
          </a:p>
        </p:txBody>
      </p:sp>
      <p:sp>
        <p:nvSpPr>
          <p:cNvPr id="120" name="StepNumber"/>
          <p:cNvSpPr txBox="1"/>
          <p:nvPr/>
        </p:nvSpPr>
        <p:spPr>
          <a:xfrm>
            <a:off x="7607808" y="1755648"/>
            <a:ext cx="219456" cy="219456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21" name="StepAction"/>
          <p:cNvSpPr txBox="1"/>
          <p:nvPr/>
        </p:nvSpPr>
        <p:spPr>
          <a:xfrm>
            <a:off x="7872984" y="1755648"/>
            <a:ext cx="859536" cy="2194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22" name="EnrichSource"/>
          <p:cNvSpPr txBox="1"/>
          <p:nvPr/>
        </p:nvSpPr>
        <p:spPr>
          <a:xfrm>
            <a:off x="2980944" y="2048256"/>
            <a:ext cx="1060704" cy="566928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40000" tIns="24000" rIns="40000" bIns="24000"/>
          <a:lstStyle/>
          <a:p>
            <a:pPr algn="ctr">
              <a:lnSpc>
                <a:spcPct val="100000"/>
              </a:lnSpc>
              <a:buNone/>
            </a:pPr>
            <a:r>
              <a:rPr lang="en-US" sz="8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USAspending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 obligations / TAS</a:t>
            </a:r>
          </a:p>
        </p:txBody>
      </p:sp>
      <p:sp>
        <p:nvSpPr>
          <p:cNvPr id="123" name="EnrichSource"/>
          <p:cNvSpPr txBox="1"/>
          <p:nvPr/>
        </p:nvSpPr>
        <p:spPr>
          <a:xfrm>
            <a:off x="4114800" y="2048256"/>
            <a:ext cx="1060704" cy="566928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0000" tIns="24000" rIns="40000" bIns="24000"/>
          <a:lstStyle/>
          <a:p>
            <a:pPr algn="ctr">
              <a:lnSpc>
                <a:spcPct val="100000"/>
              </a:lnSpc>
              <a:buNone/>
            </a:pPr>
            <a:r>
              <a:rPr lang="en-US" sz="8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Vehicle Family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Parent / child orders</a:t>
            </a:r>
          </a:p>
        </p:txBody>
      </p:sp>
      <p:sp>
        <p:nvSpPr>
          <p:cNvPr id="124" name="EnrichSource"/>
          <p:cNvSpPr txBox="1"/>
          <p:nvPr/>
        </p:nvSpPr>
        <p:spPr>
          <a:xfrm>
            <a:off x="5248656" y="2048256"/>
            <a:ext cx="1060704" cy="566928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40000" tIns="24000" rIns="40000" bIns="24000"/>
          <a:lstStyle/>
          <a:p>
            <a:pPr algn="ctr">
              <a:lnSpc>
                <a:spcPct val="100000"/>
              </a:lnSpc>
              <a:buNone/>
            </a:pPr>
            <a:r>
              <a:rPr lang="en-US" sz="8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SAM.gov Subawards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First-tier suppliers</a:t>
            </a:r>
          </a:p>
        </p:txBody>
      </p:sp>
      <p:sp>
        <p:nvSpPr>
          <p:cNvPr id="125" name="EnrichSource"/>
          <p:cNvSpPr txBox="1"/>
          <p:nvPr/>
        </p:nvSpPr>
        <p:spPr>
          <a:xfrm>
            <a:off x="6382512" y="2048256"/>
            <a:ext cx="1060704" cy="566928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0000" tIns="24000" rIns="40000" bIns="24000"/>
          <a:lstStyle/>
          <a:p>
            <a:pPr algn="ctr">
              <a:lnSpc>
                <a:spcPct val="100000"/>
              </a:lnSpc>
              <a:buNone/>
            </a:pPr>
            <a:r>
              <a:rPr lang="en-US" sz="8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SAM.gov Entity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UEI / CAGE / NAICS</a:t>
            </a:r>
          </a:p>
        </p:txBody>
      </p:sp>
      <p:sp>
        <p:nvSpPr>
          <p:cNvPr id="126" name="EnrichCaveat"/>
          <p:cNvSpPr txBox="1"/>
          <p:nvPr/>
        </p:nvSpPr>
        <p:spPr>
          <a:xfrm>
            <a:off x="2980944" y="2761488"/>
            <a:ext cx="1591056" cy="658368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50000" tIns="28000" rIns="50000" bIns="24000"/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8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 Bridge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72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Reconcile FY obligations and TAS back to the procurement record.</a:t>
            </a:r>
          </a:p>
        </p:txBody>
      </p:sp>
      <p:sp>
        <p:nvSpPr>
          <p:cNvPr id="127" name="EnrichCaveat"/>
          <p:cNvSpPr txBox="1"/>
          <p:nvPr/>
        </p:nvSpPr>
        <p:spPr>
          <a:xfrm>
            <a:off x="5248656" y="2761488"/>
            <a:ext cx="1591056" cy="658368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t" lIns="50000" tIns="28000" rIns="50000" bIns="24000"/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8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Layer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72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Lagged first-tier reporting; never add subawards to prime obligations.</a:t>
            </a:r>
          </a:p>
        </p:txBody>
      </p:sp>
      <p:cxnSp>
        <p:nvCxnSpPr>
          <p:cNvPr id="128" name="USABoxToCaveat"/>
          <p:cNvCxnSpPr/>
          <p:nvPr/>
        </p:nvCxnSpPr>
        <p:spPr>
          <a:xfrm>
            <a:off x="3511296" y="2615184"/>
            <a:ext cx="0" cy="146304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cxnSp>
        <p:nvCxnSpPr>
          <p:cNvPr id="129" name="USACaveatToSpine"/>
          <p:cNvCxnSpPr/>
          <p:nvPr/>
        </p:nvCxnSpPr>
        <p:spPr>
          <a:xfrm>
            <a:off x="3776472" y="3419856"/>
            <a:ext cx="0" cy="283464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cxnSp>
        <p:nvCxnSpPr>
          <p:cNvPr id="130" name="VehicleToSpine"/>
          <p:cNvCxnSpPr/>
          <p:nvPr/>
        </p:nvCxnSpPr>
        <p:spPr>
          <a:xfrm>
            <a:off x="4645152" y="2615184"/>
            <a:ext cx="0" cy="1088136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cxnSp>
        <p:nvCxnSpPr>
          <p:cNvPr id="131" name="SubawardBoxToCaveat"/>
          <p:cNvCxnSpPr/>
          <p:nvPr/>
        </p:nvCxnSpPr>
        <p:spPr>
          <a:xfrm>
            <a:off x="5779008" y="2615184"/>
            <a:ext cx="0" cy="146304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cxnSp>
        <p:nvCxnSpPr>
          <p:cNvPr id="132" name="SubawardCaveatToSpine"/>
          <p:cNvCxnSpPr/>
          <p:nvPr/>
        </p:nvCxnSpPr>
        <p:spPr>
          <a:xfrm>
            <a:off x="6044184" y="3419856"/>
            <a:ext cx="0" cy="283464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cxnSp>
        <p:nvCxnSpPr>
          <p:cNvPr id="133" name="EntityToSpine"/>
          <p:cNvCxnSpPr/>
          <p:nvPr/>
        </p:nvCxnSpPr>
        <p:spPr>
          <a:xfrm>
            <a:off x="6912864" y="2615184"/>
            <a:ext cx="0" cy="1088136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sp>
        <p:nvSpPr>
          <p:cNvPr id="134" name="DefineMarketSpine"/>
          <p:cNvSpPr txBox="1"/>
          <p:nvPr/>
        </p:nvSpPr>
        <p:spPr>
          <a:xfrm>
            <a:off x="544068" y="3703320"/>
            <a:ext cx="1078992" cy="530352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0000" tIns="24000" rIns="40000" bIns="24000"/>
          <a:lstStyle/>
          <a:p>
            <a:pPr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President's Budget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72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 / BLI and color of money</a:t>
            </a:r>
          </a:p>
        </p:txBody>
      </p:sp>
      <p:sp>
        <p:nvSpPr>
          <p:cNvPr id="135" name="SAMContractAwardsSpine"/>
          <p:cNvSpPr txBox="1"/>
          <p:nvPr/>
        </p:nvSpPr>
        <p:spPr>
          <a:xfrm>
            <a:off x="1842516" y="3703320"/>
            <a:ext cx="5285232" cy="530352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60000" tIns="42000" rIns="60000" bIns="42000"/>
          <a:lstStyle/>
          <a:p>
            <a:pPr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SAM.gov Contract Awards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75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Primes, IDVs, orders / calls and ceiling</a:t>
            </a:r>
          </a:p>
        </p:txBody>
      </p:sp>
      <p:cxnSp>
        <p:nvCxnSpPr>
          <p:cNvPr id="136" name="DefineToSpine"/>
          <p:cNvCxnSpPr/>
          <p:nvPr/>
        </p:nvCxnSpPr>
        <p:spPr>
          <a:xfrm>
            <a:off x="1623060" y="3968496"/>
            <a:ext cx="219456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137" name="ValidationGate"/>
          <p:cNvSpPr txBox="1"/>
          <p:nvPr/>
        </p:nvSpPr>
        <p:spPr>
          <a:xfrm>
            <a:off x="7511796" y="2084832"/>
            <a:ext cx="1353312" cy="2350008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50000" tIns="30000" rIns="50000" bIns="26000"/>
          <a:lstStyle/>
          <a:p>
            <a:pPr algn="ctr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Tag source, vintage, measure, vehicle family, and confidence before any total is published.</a:t>
            </a:r>
          </a:p>
        </p:txBody>
      </p:sp>
      <p:cxnSp>
        <p:nvCxnSpPr>
          <p:cNvPr id="138" name="SpineToGate"/>
          <p:cNvCxnSpPr/>
          <p:nvPr/>
        </p:nvCxnSpPr>
        <p:spPr>
          <a:xfrm>
            <a:off x="7127748" y="3968496"/>
            <a:ext cx="384048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39" name="FPDSLegacy"/>
          <p:cNvSpPr txBox="1"/>
          <p:nvPr/>
        </p:nvSpPr>
        <p:spPr>
          <a:xfrm>
            <a:off x="4690872" y="4279392"/>
            <a:ext cx="2615184" cy="274320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</a:ln>
        </p:spPr>
        <p:txBody>
          <a:bodyPr wrap="square" anchor="ctr" lIns="35000" tIns="12000" rIns="35000" bIns="12000"/>
          <a:lstStyle/>
          <a:p>
            <a:pPr algn="ctr">
              <a:lnSpc>
                <a:spcPct val="100000"/>
              </a:lnSpc>
              <a:buNone/>
            </a:pPr>
            <a:r>
              <a:rPr lang="en-US" sz="725" b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FPDS Atom | legacy lineage and action-level validation; retiring FY2026</a:t>
            </a:r>
          </a:p>
        </p:txBody>
      </p:sp>
      <p:cxnSp>
        <p:nvCxnSpPr>
          <p:cNvPr id="140" name="FPDSToGate"/>
          <p:cNvCxnSpPr/>
          <p:nvPr/>
        </p:nvCxnSpPr>
        <p:spPr>
          <a:xfrm>
            <a:off x="7306056" y="4416552"/>
            <a:ext cx="205740" cy="0"/>
          </a:xfrm>
          <a:prstGeom prst="line">
            <a:avLst/>
          </a:prstGeom>
          <a:ln w="6350">
            <a:solidFill>
              <a:srgbClr val="000000"/>
            </a:solidFill>
            <a:prstDash val="dash"/>
            <a:tailEnd type="triangle" w="med" len="med"/>
          </a:ln>
        </p:spPr>
      </p:cxnSp>
      <p:sp>
        <p:nvSpPr>
          <p:cNvPr id="141" name="ExternalProgramEvidence"/>
          <p:cNvSpPr txBox="1"/>
          <p:nvPr/>
        </p:nvSpPr>
        <p:spPr>
          <a:xfrm>
            <a:off x="9235440" y="1755648"/>
            <a:ext cx="2423160" cy="658368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</a:ln>
        </p:spPr>
        <p:txBody>
          <a:bodyPr wrap="square" anchor="t" lIns="50000" tIns="26000" rIns="50000" bIns="24000"/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External Program Evidence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Contextualizes data gaps and supports end-user attribution; cite and confidence-tag every claim.</a:t>
            </a:r>
          </a:p>
        </p:txBody>
      </p:sp>
      <p:cxnSp>
        <p:nvCxnSpPr>
          <p:cNvPr id="142" name="ExternalEvidenceLeft"/>
          <p:cNvCxnSpPr/>
          <p:nvPr/>
        </p:nvCxnSpPr>
        <p:spPr>
          <a:xfrm flipH="1">
            <a:off x="8865108" y="2084832"/>
            <a:ext cx="370332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cxnSp>
        <p:nvCxnSpPr>
          <p:cNvPr id="143" name="ExternalEvidenceDown"/>
          <p:cNvCxnSpPr/>
          <p:nvPr/>
        </p:nvCxnSpPr>
        <p:spPr>
          <a:xfrm>
            <a:off x="8865108" y="2084832"/>
            <a:ext cx="0" cy="329184"/>
          </a:xfrm>
          <a:prstGeom prst="line">
            <a:avLst/>
          </a:prstGeom>
          <a:ln w="6350">
            <a:solidFill>
              <a:srgbClr val="000000"/>
            </a:solidFill>
            <a:prstDash val="dash"/>
            <a:tailEnd type="triangle" w="med" len="med"/>
          </a:ln>
        </p:spPr>
      </p:cxnSp>
      <p:cxnSp>
        <p:nvCxnSpPr>
          <p:cNvPr id="144" name="GateToOutputBus"/>
          <p:cNvCxnSpPr/>
          <p:nvPr/>
        </p:nvCxnSpPr>
        <p:spPr>
          <a:xfrm>
            <a:off x="8865108" y="3529584"/>
            <a:ext cx="150876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45" name="OutputBus"/>
          <p:cNvCxnSpPr/>
          <p:nvPr/>
        </p:nvCxnSpPr>
        <p:spPr>
          <a:xfrm>
            <a:off x="9015984" y="2907792"/>
            <a:ext cx="0" cy="1243584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46" name="OutputCard"/>
          <p:cNvSpPr txBox="1"/>
          <p:nvPr/>
        </p:nvSpPr>
        <p:spPr>
          <a:xfrm>
            <a:off x="9235440" y="2651760"/>
            <a:ext cx="2423160" cy="512064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50000" tIns="24000" rIns="50000" bIns="24000"/>
          <a:lstStyle/>
          <a:p>
            <a:pPr algn="l">
              <a:lnSpc>
                <a:spcPct val="100000"/>
              </a:lnSpc>
              <a:buNone/>
            </a:pPr>
            <a:r>
              <a:rPr lang="en-US" sz="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Market Size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Validated funded-demand spine</a:t>
            </a:r>
          </a:p>
        </p:txBody>
      </p:sp>
      <p:sp>
        <p:nvSpPr>
          <p:cNvPr id="147" name="OutputCard"/>
          <p:cNvSpPr txBox="1"/>
          <p:nvPr/>
        </p:nvSpPr>
        <p:spPr>
          <a:xfrm>
            <a:off x="9235440" y="3273552"/>
            <a:ext cx="2423160" cy="512064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50000" tIns="24000" rIns="50000" bIns="24000"/>
          <a:lstStyle/>
          <a:p>
            <a:pPr algn="l">
              <a:lnSpc>
                <a:spcPct val="100000"/>
              </a:lnSpc>
              <a:buNone/>
            </a:pPr>
            <a:r>
              <a:rPr lang="en-US" sz="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Opportunity Map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Vehicles, incumbents and postings</a:t>
            </a:r>
          </a:p>
        </p:txBody>
      </p:sp>
      <p:sp>
        <p:nvSpPr>
          <p:cNvPr id="148" name="OutputCard"/>
          <p:cNvSpPr txBox="1"/>
          <p:nvPr/>
        </p:nvSpPr>
        <p:spPr>
          <a:xfrm>
            <a:off x="9235440" y="3895344"/>
            <a:ext cx="242316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50000" tIns="24000" rIns="50000" bIns="24000"/>
          <a:lstStyle/>
          <a:p>
            <a:pPr algn="l">
              <a:lnSpc>
                <a:spcPct val="100000"/>
              </a:lnSpc>
              <a:buNone/>
            </a:pPr>
            <a:r>
              <a:rPr lang="en-US" sz="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End-User Read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External evidence, confidence-tagged</a:t>
            </a:r>
          </a:p>
        </p:txBody>
      </p:sp>
      <p:cxnSp>
        <p:nvCxnSpPr>
          <p:cNvPr id="149" name="BusToOutput"/>
          <p:cNvCxnSpPr/>
          <p:nvPr/>
        </p:nvCxnSpPr>
        <p:spPr>
          <a:xfrm>
            <a:off x="9015984" y="2907792"/>
            <a:ext cx="219456" cy="0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cxnSp>
        <p:nvCxnSpPr>
          <p:cNvPr id="150" name="BusToOutput"/>
          <p:cNvCxnSpPr/>
          <p:nvPr/>
        </p:nvCxnSpPr>
        <p:spPr>
          <a:xfrm>
            <a:off x="9015984" y="3529584"/>
            <a:ext cx="219456" cy="0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cxnSp>
        <p:nvCxnSpPr>
          <p:cNvPr id="151" name="BusToOutput"/>
          <p:cNvCxnSpPr/>
          <p:nvPr/>
        </p:nvCxnSpPr>
        <p:spPr>
          <a:xfrm>
            <a:off x="9015984" y="4151376"/>
            <a:ext cx="219456" cy="0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sp>
        <p:nvSpPr>
          <p:cNvPr id="152" name="RulesLabel"/>
          <p:cNvSpPr txBox="1"/>
          <p:nvPr/>
        </p:nvSpPr>
        <p:spPr>
          <a:xfrm>
            <a:off x="452628" y="491947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KEY SOURCE RULES</a:t>
            </a:r>
          </a:p>
        </p:txBody>
      </p:sp>
      <p:sp>
        <p:nvSpPr>
          <p:cNvPr id="153" name="SourceRule"/>
          <p:cNvSpPr txBox="1"/>
          <p:nvPr/>
        </p:nvSpPr>
        <p:spPr>
          <a:xfrm>
            <a:off x="452628" y="5138928"/>
            <a:ext cx="2679192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65000" tIns="48000" rIns="65000" bIns="42000"/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 PULL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President's Budget frames funded demand; SAM.gov Contract Awards is the transaction base.</a:t>
            </a:r>
          </a:p>
        </p:txBody>
      </p:sp>
      <p:sp>
        <p:nvSpPr>
          <p:cNvPr id="154" name="SourceRule"/>
          <p:cNvSpPr txBox="1"/>
          <p:nvPr/>
        </p:nvSpPr>
        <p:spPr>
          <a:xfrm>
            <a:off x="3246120" y="5138928"/>
            <a:ext cx="2679192" cy="105156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65000" tIns="48000" rIns="65000" bIns="42000"/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ENRICH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USAspending bridges FY / TAS; entity and subaward records resolve vendors and first-tier suppliers.</a:t>
            </a:r>
          </a:p>
        </p:txBody>
      </p:sp>
      <p:sp>
        <p:nvSpPr>
          <p:cNvPr id="155" name="SourceRule"/>
          <p:cNvSpPr txBox="1"/>
          <p:nvPr/>
        </p:nvSpPr>
        <p:spPr>
          <a:xfrm>
            <a:off x="6039612" y="5138928"/>
            <a:ext cx="2679192" cy="105156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t" lIns="65000" tIns="48000" rIns="65000" bIns="42000"/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COUNT ONCE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 not add vehicle ceilings, child orders, prime obligations, and subawards into one total.</a:t>
            </a:r>
          </a:p>
        </p:txBody>
      </p:sp>
      <p:sp>
        <p:nvSpPr>
          <p:cNvPr id="156" name="SourceRule"/>
          <p:cNvSpPr txBox="1"/>
          <p:nvPr/>
        </p:nvSpPr>
        <p:spPr>
          <a:xfrm>
            <a:off x="8833104" y="5138928"/>
            <a:ext cx="2903220" cy="105156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t" lIns="65000" tIns="48000" rIns="65000" bIns="42000"/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 BEFORE OUTPUT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Tag source, vintage, measure, vehicle family, and confidence before sizing or publishing.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Strategic Contracts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Award Data Methodology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Award Data Reference | The right fields separate real demand, access, timing, and supplier opportunity.</a:t>
            </a:r>
          </a:p>
        </p:txBody>
      </p:sp>
      <p:sp>
        <p:nvSpPr>
          <p:cNvPr id="100" name="Prime Award Fields Banner"/>
          <p:cNvSpPr txBox="1"/>
          <p:nvPr/>
        </p:nvSpPr>
        <p:spPr>
          <a:xfrm>
            <a:off x="452628" y="1265530"/>
            <a:ext cx="5509260" cy="292608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 awards — fields that determine direct access and timing</a:t>
            </a:r>
          </a:p>
        </p:txBody>
      </p:sp>
      <p:graphicFrame>
        <p:nvGraphicFramePr>
          <p:cNvPr id="101" name="Prime Award Fields"/>
          <p:cNvGraphicFramePr>
            <a:graphicFrameLocks noGrp="1"/>
          </p:cNvGraphicFramePr>
          <p:nvPr/>
        </p:nvGraphicFramePr>
        <p:xfrm>
          <a:off x="452628" y="1577340"/>
          <a:ext cx="5509260" cy="4146804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298448"/>
                <a:gridCol w="2313432"/>
                <a:gridCol w="1897380"/>
              </a:tblGrid>
              <a:tr h="264262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Data field group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Actual data field nomenclature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Why it matters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7"/>
                    </a:solidFill>
                  </a:tcPr>
                </a:tc>
              </a:tr>
              <a:tr h="647395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Identity and linkage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PIID; referenced IDV PIID; modification number; UEI; ultimate-parent UEI; USAspending generated internal ID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Links the award family, holder, parent vehicle, modifications and detail calls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Classification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award or IDV type; single- / multiple-award IDC; type of IDC; contract pricing type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Determines whether the direct route is open, holder-gated, single-award, OT, delivery order, FSS, BPA, BOA or definitive contract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</a:tr>
              <a:tr h="647395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Competition and access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extent competed; fair opportunity; set-aside; number of offers; solicitation ID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Identifies who can compete and whether a new entrant must wait for a pool, on-ramp or recompete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395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Money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per-action obligation; cumulative obligation; base and all-options value / ceiling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Separates committed spend from capacity; prevents summing cumulative fields or shared ceilings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</a:tr>
              <a:tr h="507492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Timing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date signed; start date; current completion; ultimate completion; last date to order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Dates the entry window, especially for IDVs and successor vehicles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395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Scope, organization and funding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PSC; NAICS; requirement description; contracting office; TAS / federal account; business-size / socioeconomic data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Connects the award to the market, buyer, mission, appropriation and eligibility constraints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102" name="Subaward Fields Banner"/>
          <p:cNvSpPr txBox="1"/>
          <p:nvPr/>
        </p:nvSpPr>
        <p:spPr>
          <a:xfrm>
            <a:off x="6190488" y="1271930"/>
            <a:ext cx="5509260" cy="292608"/>
          </a:xfrm>
          <a:prstGeom prst="rect">
            <a:avLst/>
          </a:prstGeom>
          <a:solidFill>
            <a:srgbClr val="447BB2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Subawards — fields that identify the visible supplier layer</a:t>
            </a:r>
          </a:p>
        </p:txBody>
      </p:sp>
      <p:graphicFrame>
        <p:nvGraphicFramePr>
          <p:cNvPr id="103" name="Subaward Fields"/>
          <p:cNvGraphicFramePr>
            <a:graphicFrameLocks noGrp="1"/>
          </p:cNvGraphicFramePr>
          <p:nvPr/>
        </p:nvGraphicFramePr>
        <p:xfrm>
          <a:off x="6190488" y="1577340"/>
          <a:ext cx="5509260" cy="3422599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298448"/>
                <a:gridCol w="2313432"/>
                <a:gridCol w="1897380"/>
              </a:tblGrid>
              <a:tr h="262433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Data field group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Actual data field nomenclature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Why it matters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7"/>
                    </a:solidFill>
                  </a:tcPr>
                </a:tc>
              </a:tr>
              <a:tr h="503834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Report identity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subaward report ID; subaward number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Provides the report-level key; SAM FFATA report ID does not require deduplication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1909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Dollars and dates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subaward amount; subaward date; submitted date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Measures reported first-tier demand and reporting lag; submitted date is the lag field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</a:tr>
              <a:tr h="503834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Supplier identity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subawardee UEI; subawardee legal name; parent UEI; parent legal name; business type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Enables supplier rollup, recurrence, concentration and eligibility analysis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4846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Work description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subaward description; description of requirement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Shows what the supplier is being paid to provide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</a:tr>
              <a:tr h="503834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Prime linkage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prime PIID; referenced IDV PIID; prime contract key; prime award type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Connects the supplier report to the prime award, block or vehicle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1909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Prime context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prime UEI; prime name; prime NAICS; contracting office; funding office; total contract value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Shows who buys from the supplier, what market the prime sits in, and the scale of the underlying award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4" name="Source Orientation Strip"/>
          <p:cNvGraphicFramePr>
            <a:graphicFrameLocks noGrp="1"/>
          </p:cNvGraphicFramePr>
          <p:nvPr/>
        </p:nvGraphicFramePr>
        <p:xfrm>
          <a:off x="452628" y="5856732"/>
          <a:ext cx="11282782" cy="54864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513332"/>
                <a:gridCol w="9768535"/>
              </a:tblGrid>
              <a:tr h="274320">
                <a:tc rowSpan="2"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orientation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4D6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Prime awards: </a:t>
                      </a: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SAM.gov Contract Awards; USAspending; FPDS</a:t>
                      </a:r>
                      <a:r>
                        <a:rPr lang="en-US" sz="85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— classify access, competition, money, timing, scope, organization and appropriation</a:t>
                      </a: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2743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Subawards: </a:t>
                      </a: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SAM.gov Subaward Reporting / FFATA; USAspending subawards</a:t>
                      </a:r>
                      <a:r>
                        <a:rPr lang="en-US" sz="85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— identify first-tier suppliers, reported dollars, reporting lag and prime linkage</a:t>
                      </a: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deck_awards_methodology</Application>
  <PresentationFormat>Widescreen</PresentationFormat>
  <Slides>14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Awards Methodology (slides_new preview)</dc:title>
  <dc:creator>deck_awards_methodology build_deck.py</dc:creator>
  <cp:lastModifiedBy>deck_awards_methodology build_deck.py</cp:lastModifiedBy>
  <cp:revision>1</cp:revision>
  <dcterms:created xsi:type="dcterms:W3CDTF">2026-06-26T22:34:24Z</dcterms:created>
  <dcterms:modified xsi:type="dcterms:W3CDTF">2026-06-26T22:34:24Z</dcterms:modified>
</cp:coreProperties>
</file>