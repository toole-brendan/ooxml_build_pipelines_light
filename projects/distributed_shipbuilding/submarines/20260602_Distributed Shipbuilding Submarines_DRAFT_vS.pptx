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embeddings/Microsoft_Excel_Worksheet1.xlsx" ContentType="application/vnd.openxmlformats-officedocument.spreadsheetml.sheet"/>
  <Override PartName="/ppt/embeddings/Microsoft_Excel_Worksheet2.xlsx" ContentType="application/vnd.openxmlformats-officedocument.spreadsheetml.sheet"/>
  <Override PartName="/ppt/embeddings/Microsoft_Excel_Worksheet3.xlsx" ContentType="application/vnd.openxmlformats-officedocument.spreadsheetml.sheet"/>
  <Override PartName="/ppt/embeddings/Microsoft_Excel_Worksheet4.xlsx" ContentType="application/vnd.openxmlformats-officedocument.spreadsheetml.sheet"/>
  <Override PartName="/ppt/embeddings/Microsoft_Excel_Worksheet5.xlsx" ContentType="application/vnd.openxmlformats-officedocument.spreadsheetml.sheet"/>
  <Override PartName="/ppt/embeddings/Microsoft_Excel_Worksheet6.xlsx" ContentType="application/vnd.openxmlformats-officedocument.spreadsheetml.sheet"/>
  <Override PartName="/ppt/embeddings/Microsoft_Excel_Worksheet7.xlsx" ContentType="application/vnd.openxmlformats-officedocument.spreadsheetml.sheet"/>
  <Override PartName="/ppt/embeddings/Microsoft_Excel_Worksheet8.xlsx" ContentType="application/vnd.openxmlformats-officedocument.spreadsheetml.sheet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2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handoutMaster" Target="handoutMasters/handout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Virginia</c:v>
                </c:pt>
              </c:strCache>
            </c:strRef>
          </c:tx>
          <c:spPr>
            <a:solidFill>
              <a:srgbClr val="3D5972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  <c:pt idx="5">
                  <c:v>FY27</c:v>
                </c:pt>
              </c:strCache>
            </c:strRef>
          </c:cat>
          <c:val>
            <c:numRef>
              <c:f>Sheet1!$B$2:$B$7</c:f>
              <c:numCache>
                <c:formatCode>"$"0.0"B"</c:formatCode>
                <c:ptCount val="6"/>
                <c:pt idx="0">
                  <c:v>4.758</c:v>
                </c:pt>
                <c:pt idx="1">
                  <c:v>5.095</c:v>
                </c:pt>
                <c:pt idx="2">
                  <c:v>9.071</c:v>
                </c:pt>
                <c:pt idx="3">
                  <c:v>5.327</c:v>
                </c:pt>
                <c:pt idx="4">
                  <c:v>3.137</c:v>
                </c:pt>
                <c:pt idx="5">
                  <c:v>8.889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Columbia</c:v>
                </c:pt>
              </c:strCache>
            </c:strRef>
          </c:tx>
          <c:spPr>
            <a:solidFill>
              <a:srgbClr val="B6C8D8"/>
            </a:solidFill>
            <a:ln w="6350">
              <a:solidFill>
                <a:srgbClr val="000000"/>
              </a:solidFill>
            </a:ln>
          </c:spPr>
          <c:invertIfNegative val="0"/>
          <c:dLbls>
            <c:dLbl>
              <c:idx val="0"/>
              <c:txPr>
                <a:bodyPr rot="0" spcFirstLastPara="1" vertOverflow="ellipsis" wrap="square" anchor="ctr" anchorCtr="1"/>
                <a:lstStyle/>
                <a:p>
                  <a:pPr>
                    <a:defRPr sz="9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rot="0" spcFirstLastPara="1" vertOverflow="ellipsis" wrap="square" anchor="ctr" anchorCtr="1"/>
                <a:lstStyle/>
                <a:p>
                  <a:pPr>
                    <a:defRPr sz="9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rot="0" spcFirstLastPara="1" vertOverflow="ellipsis" wrap="square" anchor="ctr" anchorCtr="1"/>
                <a:lstStyle/>
                <a:p>
                  <a:pPr>
                    <a:defRPr sz="900" b="1">
                      <a:solidFill>
                        <a:srgbClr val="162029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rot="0" spcFirstLastPara="1" vertOverflow="ellipsis" wrap="square" anchor="ctr" anchorCtr="1"/>
                <a:lstStyle/>
                <a:p>
                  <a:pPr>
                    <a:defRPr sz="9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rot="0" spcFirstLastPara="1" vertOverflow="ellipsis" wrap="square" anchor="ctr" anchorCtr="1"/>
                <a:lstStyle/>
                <a:p>
                  <a:pPr>
                    <a:defRPr sz="900" b="1">
                      <a:solidFill>
                        <a:srgbClr val="162029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rot="0" spcFirstLastPara="1" vertOverflow="ellipsis" wrap="square" anchor="ctr" anchorCtr="1"/>
                <a:lstStyle/>
                <a:p>
                  <a:pPr>
                    <a:defRPr sz="900" b="1">
                      <a:solidFill>
                        <a:srgbClr val="162029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  <c:pt idx="5">
                  <c:v>FY27</c:v>
                </c:pt>
              </c:strCache>
            </c:strRef>
          </c:cat>
          <c:val>
            <c:numRef>
              <c:f>Sheet1!$C$2:$C$7</c:f>
              <c:numCache>
                <c:formatCode>"$"0.0"B"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6.356</c:v>
                </c:pt>
                <c:pt idx="3">
                  <c:v>0.0</c:v>
                </c:pt>
                <c:pt idx="4">
                  <c:v>7.16</c:v>
                </c:pt>
                <c:pt idx="5">
                  <c:v>6.854</c:v>
                </c:pt>
              </c:numCache>
            </c:numRef>
          </c:val>
        </c:ser>
        <c:gapWidth val="9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0.0&quot;B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legend>
      <c:legendPos val="b"/>
      <c:overlay val="0"/>
      <c:txPr>
        <a:bodyPr rot="0" spcFirstLastPara="1" vertOverflow="ellipsis" wrap="square" anchor="ctr" anchorCtr="1"/>
        <a:lstStyle/>
        <a:p>
          <a:pPr>
            <a:defRPr sz="900" b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TAM</c:v>
                </c:pt>
              </c:strCache>
            </c:strRef>
          </c:tx>
          <c:spPr>
            <a:solidFill>
              <a:srgbClr val="3D5972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  <c:pt idx="4">
                  <c:v>FY2026</c:v>
                </c:pt>
                <c:pt idx="5">
                  <c:v>FY2027</c:v>
                </c:pt>
              </c:strCache>
            </c:strRef>
          </c:cat>
          <c:val>
            <c:numRef>
              <c:f>Sheet1!$B$2:$B$7</c:f>
              <c:numCache>
                <c:formatCode>"$"0.0"B"</c:formatCode>
                <c:ptCount val="6"/>
                <c:pt idx="0">
                  <c:v>1.667</c:v>
                </c:pt>
                <c:pt idx="1">
                  <c:v>1.785</c:v>
                </c:pt>
                <c:pt idx="2">
                  <c:v>5.403</c:v>
                </c:pt>
                <c:pt idx="3">
                  <c:v>1.866</c:v>
                </c:pt>
                <c:pt idx="4">
                  <c:v>3.606</c:v>
                </c:pt>
                <c:pt idx="5">
                  <c:v>5.514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broad SAM</c:v>
                </c:pt>
              </c:strCache>
            </c:strRef>
          </c:tx>
          <c:spPr>
            <a:solidFill>
              <a:srgbClr val="B6C8D8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  <c:pt idx="4">
                  <c:v>FY2026</c:v>
                </c:pt>
                <c:pt idx="5">
                  <c:v>FY2027</c:v>
                </c:pt>
              </c:strCache>
            </c:strRef>
          </c:cat>
          <c:val>
            <c:numRef>
              <c:f>Sheet1!$C$2:$C$7</c:f>
              <c:numCache>
                <c:formatCode>"$"0.0"B"</c:formatCode>
                <c:ptCount val="6"/>
                <c:pt idx="0">
                  <c:v>1.414</c:v>
                </c:pt>
                <c:pt idx="1">
                  <c:v>1.514</c:v>
                </c:pt>
                <c:pt idx="2">
                  <c:v>4.584</c:v>
                </c:pt>
                <c:pt idx="3">
                  <c:v>1.583</c:v>
                </c:pt>
                <c:pt idx="4">
                  <c:v>3.06</c:v>
                </c:pt>
                <c:pt idx="5">
                  <c:v>4.678</c:v>
                </c:pt>
              </c:numCache>
            </c:numRef>
          </c:val>
        </c:ser>
        <c:gapWidth val="8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0.0&quot;B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legend>
      <c:legendPos val="b"/>
      <c:overlay val="0"/>
      <c:txPr>
        <a:bodyPr rot="0" spcFirstLastPara="1" vertOverflow="ellipsis" wrap="square" anchor="ctr" anchorCtr="1"/>
        <a:lstStyle/>
        <a:p>
          <a:pPr>
            <a:defRPr sz="900" b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 view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6E91B1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B6C8D8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263746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All-gated POP anchor</c:v>
                </c:pt>
                <c:pt idx="1">
                  <c:v>AP and LLTM reference</c:v>
                </c:pt>
                <c:pt idx="2">
                  <c:v>Applied BC supplier coefficient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0.518</c:v>
                </c:pt>
                <c:pt idx="1">
                  <c:v>0.485</c:v>
                </c:pt>
                <c:pt idx="2">
                  <c:v>0.35</c:v>
                </c:pt>
              </c:numCache>
            </c:numRef>
          </c:val>
        </c:ser>
        <c:gapWidth val="55"/>
        <c:overlap val="-27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0.0%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Gross AP top-line</c:v>
                </c:pt>
                <c:pt idx="1">
                  <c:v>GFE design and weapons</c:v>
                </c:pt>
                <c:pt idx="2">
                  <c:v>Already inside BC</c:v>
                </c:pt>
                <c:pt idx="3">
                  <c:v>Unitemized overlap</c:v>
                </c:pt>
                <c:pt idx="4">
                  <c:v>Additive base</c:v>
                </c:pt>
              </c:strCache>
            </c:strRef>
          </c:cat>
          <c:val>
            <c:numRef>
              <c:f>Sheet1!$B$2:$B$6</c:f>
              <c:numCache>
                <c:formatCode>"$"0.0"B"</c:formatCode>
                <c:ptCount val="5"/>
                <c:pt idx="1">
                  <c:v>17.436000000000003</c:v>
                </c:pt>
                <c:pt idx="2">
                  <c:v>0.5890000000000022</c:v>
                </c:pt>
                <c:pt idx="3">
                  <c:v>2.220446049250313e-15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3D5972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Gross AP top-line</c:v>
                </c:pt>
                <c:pt idx="1">
                  <c:v>GFE design and weapons</c:v>
                </c:pt>
                <c:pt idx="2">
                  <c:v>Already inside BC</c:v>
                </c:pt>
                <c:pt idx="3">
                  <c:v>Unitemized overlap</c:v>
                </c:pt>
                <c:pt idx="4">
                  <c:v>Additive base</c:v>
                </c:pt>
              </c:strCache>
            </c:strRef>
          </c:cat>
          <c:val>
            <c:numRef>
              <c:f>Sheet1!$C$2:$C$6</c:f>
              <c:numCache>
                <c:formatCode>"$"0.0"B"</c:formatCode>
                <c:ptCount val="5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BFBFBF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Gross AP top-line</c:v>
                </c:pt>
                <c:pt idx="1">
                  <c:v>GFE design and weapons</c:v>
                </c:pt>
                <c:pt idx="2">
                  <c:v>Already inside BC</c:v>
                </c:pt>
                <c:pt idx="3">
                  <c:v>Unitemized overlap</c:v>
                </c:pt>
                <c:pt idx="4">
                  <c:v>Additive base</c:v>
                </c:pt>
              </c:strCache>
            </c:strRef>
          </c:cat>
          <c:val>
            <c:numRef>
              <c:f>Sheet1!$D$2:$D$6</c:f>
              <c:numCache>
                <c:formatCode>"$"0.0"B"</c:formatCode>
                <c:ptCount val="5"/>
                <c:pt idx="1">
                  <c:v>27.273</c:v>
                </c:pt>
                <c:pt idx="2">
                  <c:v>16.847</c:v>
                </c:pt>
                <c:pt idx="3">
                  <c:v>0.589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263746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Gross AP top-line</c:v>
                </c:pt>
                <c:pt idx="1">
                  <c:v>GFE design and weapons</c:v>
                </c:pt>
                <c:pt idx="2">
                  <c:v>Already inside BC</c:v>
                </c:pt>
                <c:pt idx="3">
                  <c:v>Unitemized overlap</c:v>
                </c:pt>
                <c:pt idx="4">
                  <c:v>Additive base</c:v>
                </c:pt>
              </c:strCache>
            </c:strRef>
          </c:cat>
          <c:val>
            <c:numRef>
              <c:f>Sheet1!$E$2:$E$6</c:f>
              <c:numCache>
                <c:formatCode>"$"0.0"B"</c:formatCode>
                <c:ptCount val="5"/>
                <c:pt idx="0">
                  <c:v>44.709</c:v>
                </c:pt>
                <c:pt idx="4">
                  <c:v>0.0</c:v>
                </c:pt>
              </c:numCache>
            </c:numRef>
          </c:val>
        </c:ser>
        <c:gapWidth val="6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0.0&quot;B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annual TAM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263746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3D5972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6E91B1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Pt>
            <c:idx val="5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Pt>
            <c:idx val="6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Electrical and power (38.0%)</c:v>
                </c:pt>
                <c:pt idx="1">
                  <c:v>Structural fabrication and pre-outfit (18.9%)</c:v>
                </c:pt>
                <c:pt idx="2">
                  <c:v>Piping, valves, and pumps (15.7%)</c:v>
                </c:pt>
                <c:pt idx="3">
                  <c:v>Castings and forgings (4.3%)</c:v>
                </c:pt>
                <c:pt idx="4">
                  <c:v>Coatings and insulation (3.1%)</c:v>
                </c:pt>
                <c:pt idx="5">
                  <c:v>Machining (3.0%)</c:v>
                </c:pt>
                <c:pt idx="6">
                  <c:v>HVAC and ventilation (1.9%)</c:v>
                </c:pt>
              </c:strCache>
            </c:strRef>
          </c:cat>
          <c:val>
            <c:numRef>
              <c:f>Sheet1!$B$2:$B$8</c:f>
              <c:numCache>
                <c:formatCode>"$"#,##0"M"</c:formatCode>
                <c:ptCount val="7"/>
                <c:pt idx="0">
                  <c:v>1257.1</c:v>
                </c:pt>
                <c:pt idx="1">
                  <c:v>624.5</c:v>
                </c:pt>
                <c:pt idx="2">
                  <c:v>519.6</c:v>
                </c:pt>
                <c:pt idx="3">
                  <c:v>142.8</c:v>
                </c:pt>
                <c:pt idx="4">
                  <c:v>101.5</c:v>
                </c:pt>
                <c:pt idx="5">
                  <c:v>98.1</c:v>
                </c:pt>
                <c:pt idx="6">
                  <c:v>61.9</c:v>
                </c:pt>
              </c:numCache>
            </c:numRef>
          </c:val>
        </c:ser>
        <c:gapWidth val="40"/>
        <c:overlap val="-27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annual SAM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263746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3D5972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6E91B1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B6C8D8"/>
              </a:solidFill>
              <a:ln w="6350">
                <a:solidFill>
                  <a:srgbClr val="000000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Broad component manufacturing (84.8%)</c:v>
                </c:pt>
                <c:pt idx="1">
                  <c:v>Electrical and power (38.0%)</c:v>
                </c:pt>
                <c:pt idx="2">
                  <c:v>Metal components (26.2%)</c:v>
                </c:pt>
                <c:pt idx="3">
                  <c:v>Modular assemblies (22.0%)</c:v>
                </c:pt>
                <c:pt idx="4">
                  <c:v>HM&amp;E components (20.6%)</c:v>
                </c:pt>
              </c:strCache>
            </c:strRef>
          </c:cat>
          <c:val>
            <c:numRef>
              <c:f>Sheet1!$B$2:$B$6</c:f>
              <c:numCache>
                <c:formatCode>"$"#,##0"M"</c:formatCode>
                <c:ptCount val="5"/>
                <c:pt idx="0">
                  <c:v>2805.5</c:v>
                </c:pt>
                <c:pt idx="1">
                  <c:v>1257.1</c:v>
                </c:pt>
                <c:pt idx="2">
                  <c:v>865.4</c:v>
                </c:pt>
                <c:pt idx="3">
                  <c:v>726.0</c:v>
                </c:pt>
                <c:pt idx="4">
                  <c:v>679.6</c:v>
                </c:pt>
              </c:numCache>
            </c:numRef>
          </c:val>
        </c:ser>
        <c:gapWidth val="45"/>
        <c:overlap val="-27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Visible subaward $M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263746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3D5972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6E91B1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6E91B1"/>
              </a:solidFill>
              <a:ln w="6350">
                <a:solidFill>
                  <a:srgbClr val="000000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6E91B1"/>
              </a:solidFill>
              <a:ln w="6350">
                <a:solidFill>
                  <a:srgbClr val="000000"/>
                </a:solidFill>
              </a:ln>
            </c:spPr>
          </c:dPt>
          <c:dPt>
            <c:idx val="5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Pt>
            <c:idx val="6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Pt>
            <c:idx val="7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Pt>
            <c:idx val="8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Pt>
            <c:idx val="9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Sheet1!$A$2:$A$11</c:f>
              <c:strCache>
                <c:ptCount val="10"/>
                <c:pt idx="0">
                  <c:v>Northrop Grumman Corporation</c:v>
                </c:pt>
                <c:pt idx="1">
                  <c:v>Leonardo SpA</c:v>
                </c:pt>
                <c:pt idx="2">
                  <c:v>Curtiss-Wright Electro-Mechanical Corp.</c:v>
                </c:pt>
                <c:pt idx="3">
                  <c:v>Scot Forge Company</c:v>
                </c:pt>
                <c:pt idx="4">
                  <c:v>ESCO Technologies Inc.</c:v>
                </c:pt>
                <c:pt idx="5">
                  <c:v>DC Fabricators Inc.</c:v>
                </c:pt>
                <c:pt idx="6">
                  <c:v>Rhoads Metal Fabrications, Inc.</c:v>
                </c:pt>
                <c:pt idx="7">
                  <c:v>Curtiss-Wright Corporation</c:v>
                </c:pt>
                <c:pt idx="8">
                  <c:v>The Graham Corporation</c:v>
                </c:pt>
                <c:pt idx="9">
                  <c:v>Austal USA, LLC</c:v>
                </c:pt>
              </c:strCache>
            </c:strRef>
          </c:cat>
          <c:val>
            <c:numRef>
              <c:f>Sheet1!$B$2:$B$11</c:f>
              <c:numCache>
                <c:formatCode>"$"#,##0"M"</c:formatCode>
                <c:ptCount val="10"/>
                <c:pt idx="0">
                  <c:v>1426.6</c:v>
                </c:pt>
                <c:pt idx="1">
                  <c:v>490.6</c:v>
                </c:pt>
                <c:pt idx="2">
                  <c:v>198.0</c:v>
                </c:pt>
                <c:pt idx="3">
                  <c:v>197.5</c:v>
                </c:pt>
                <c:pt idx="4">
                  <c:v>188.5</c:v>
                </c:pt>
                <c:pt idx="5">
                  <c:v>162.9</c:v>
                </c:pt>
                <c:pt idx="6">
                  <c:v>141.9</c:v>
                </c:pt>
                <c:pt idx="7">
                  <c:v>110.8</c:v>
                </c:pt>
                <c:pt idx="8">
                  <c:v>89.1</c:v>
                </c:pt>
                <c:pt idx="9">
                  <c:v>87.6</c:v>
                </c:pt>
              </c:numCache>
            </c:numRef>
          </c:val>
        </c:ser>
        <c:gapWidth val="35"/>
        <c:overlap val="-27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 view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B6C8D8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B6C8D8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B6C8D8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6E91B1"/>
              </a:solidFill>
              <a:ln w="6350">
                <a:solidFill>
                  <a:srgbClr val="000000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6E91B1"/>
              </a:solidFill>
              <a:ln w="6350">
                <a:solidFill>
                  <a:srgbClr val="000000"/>
                </a:solidFill>
              </a:ln>
            </c:spPr>
          </c:dPt>
          <c:dPt>
            <c:idx val="5"/>
            <c:invertIfNegative val="0"/>
            <c:bubble3D val="0"/>
            <c:spPr>
              <a:solidFill>
                <a:srgbClr val="B6C8D8"/>
              </a:solidFill>
              <a:ln w="6350">
                <a:solidFill>
                  <a:srgbClr val="000000"/>
                </a:solidFill>
              </a:ln>
            </c:spPr>
          </c:dPt>
          <c:dPt>
            <c:idx val="6"/>
            <c:invertIfNegative val="0"/>
            <c:bubble3D val="0"/>
            <c:spPr>
              <a:solidFill>
                <a:srgbClr val="B6C8D8"/>
              </a:solidFill>
              <a:ln w="6350">
                <a:solidFill>
                  <a:srgbClr val="000000"/>
                </a:solidFill>
              </a:ln>
            </c:spPr>
          </c:dPt>
          <c:dPt>
            <c:idx val="7"/>
            <c:invertIfNegative val="0"/>
            <c:bubble3D val="0"/>
            <c:spPr>
              <a:solidFill>
                <a:srgbClr val="263746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Distributed, incl. unparsed (78%)</c:v>
                </c:pt>
                <c:pt idx="1">
                  <c:v>Outsourced band, high (65%)</c:v>
                </c:pt>
                <c:pt idx="2">
                  <c:v>BC stream incl-GFE (61%)</c:v>
                </c:pt>
                <c:pt idx="3">
                  <c:v>All-gated, GFE-excluded (54.5%)</c:v>
                </c:pt>
                <c:pt idx="4">
                  <c:v>All-gated POP anchor (51.8%)</c:v>
                </c:pt>
                <c:pt idx="5">
                  <c:v>Outsourced band, low (50%)</c:v>
                </c:pt>
                <c:pt idx="6">
                  <c:v>AP and LLTM reference (48.5%)</c:v>
                </c:pt>
                <c:pt idx="7">
                  <c:v>Applied non-nuclear supplier coefficient (35.0%)</c:v>
                </c:pt>
              </c:strCache>
            </c:strRef>
          </c:cat>
          <c:val>
            <c:numRef>
              <c:f>Sheet1!$B$2:$B$9</c:f>
              <c:numCache>
                <c:formatCode>0.0%</c:formatCode>
                <c:ptCount val="8"/>
                <c:pt idx="0">
                  <c:v>0.78</c:v>
                </c:pt>
                <c:pt idx="1">
                  <c:v>0.65</c:v>
                </c:pt>
                <c:pt idx="2">
                  <c:v>0.61</c:v>
                </c:pt>
                <c:pt idx="3">
                  <c:v>0.545</c:v>
                </c:pt>
                <c:pt idx="4">
                  <c:v>0.518</c:v>
                </c:pt>
                <c:pt idx="5">
                  <c:v>0.5</c:v>
                </c:pt>
                <c:pt idx="6">
                  <c:v>0.485</c:v>
                </c:pt>
                <c:pt idx="7">
                  <c:v>0.35</c:v>
                </c:pt>
              </c:numCache>
            </c:numRef>
          </c:val>
        </c:ser>
        <c:gapWidth val="50"/>
        <c:overlap val="-27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0%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6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8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and Scope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Ecosystem primer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Ecosystem primer | Submarine construction is a layered procurement ecosystem</a:t>
            </a:r>
          </a:p>
        </p:txBody>
      </p:sp>
      <p:cxnSp>
        <p:nvCxnSpPr>
          <p:cNvPr id="80" name="NavyToGDEB"/>
          <p:cNvCxnSpPr/>
          <p:nvPr/>
        </p:nvCxnSpPr>
        <p:spPr>
          <a:xfrm>
            <a:off x="2503079" y="2396600"/>
            <a:ext cx="90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81" name="GDEBToSupplier"/>
          <p:cNvCxnSpPr/>
          <p:nvPr/>
        </p:nvCxnSpPr>
        <p:spPr>
          <a:xfrm>
            <a:off x="6223079" y="2396600"/>
            <a:ext cx="93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82" name="GDEBToHII"/>
          <p:cNvCxnSpPr/>
          <p:nvPr/>
        </p:nvCxnSpPr>
        <p:spPr>
          <a:xfrm>
            <a:off x="4813079" y="2821600"/>
            <a:ext cx="0" cy="50000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83" name="SupplierToBuckets"/>
          <p:cNvCxnSpPr/>
          <p:nvPr/>
        </p:nvCxnSpPr>
        <p:spPr>
          <a:xfrm>
            <a:off x="8953079" y="2821600"/>
            <a:ext cx="0" cy="50000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84" name="NavyToGFE"/>
          <p:cNvCxnSpPr/>
          <p:nvPr/>
        </p:nvCxnSpPr>
        <p:spPr>
          <a:xfrm>
            <a:off x="1478079" y="2821600"/>
            <a:ext cx="0" cy="163000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10" name="Thesis"/>
          <p:cNvSpPr txBox="1"/>
          <p:nvPr/>
        </p:nvSpPr>
        <p:spPr>
          <a:xfrm>
            <a:off x="453079" y="1371600"/>
            <a:ext cx="11282362" cy="3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We size the supplier-addressable component layer inside Basic Construction, not total ship cost.</a:t>
            </a:r>
          </a:p>
        </p:txBody>
      </p:sp>
      <p:sp>
        <p:nvSpPr>
          <p:cNvPr id="11" name="NavyNode"/>
          <p:cNvSpPr txBox="1"/>
          <p:nvPr/>
        </p:nvSpPr>
        <p:spPr>
          <a:xfrm>
            <a:off x="453079" y="1971600"/>
            <a:ext cx="2050000" cy="8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NAVY and SCN budget authority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P-5c Total Ship Estimate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P-10 AP and LLTM timing</a:t>
            </a:r>
          </a:p>
        </p:txBody>
      </p:sp>
      <p:sp>
        <p:nvSpPr>
          <p:cNvPr id="12" name="GDEBNode"/>
          <p:cNvSpPr txBox="1"/>
          <p:nvPr/>
        </p:nvSpPr>
        <p:spPr>
          <a:xfrm>
            <a:off x="3403079" y="1971600"/>
            <a:ext cx="2820000" cy="85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GDEB prime construction contracts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Basic Construction base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Prime of record for Virginia and Columbia</a:t>
            </a:r>
          </a:p>
        </p:txBody>
      </p:sp>
      <p:sp>
        <p:nvSpPr>
          <p:cNvPr id="13" name="SupplierNode"/>
          <p:cNvSpPr txBox="1"/>
          <p:nvPr/>
        </p:nvSpPr>
        <p:spPr>
          <a:xfrm>
            <a:off x="7153079" y="1971600"/>
            <a:ext cx="3600000" cy="85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COUNTED SUPPLIER LAYER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Non-nuclear components and subcontracts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TAM and SAM candidate</a:t>
            </a:r>
          </a:p>
        </p:txBody>
      </p:sp>
      <p:sp>
        <p:nvSpPr>
          <p:cNvPr id="14" name="HIINode"/>
          <p:cNvSpPr txBox="1"/>
          <p:nvPr/>
        </p:nvSpPr>
        <p:spPr>
          <a:xfrm>
            <a:off x="3603079" y="3321600"/>
            <a:ext cx="2650000" cy="72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HII Newport News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Team-build workshare via GDEB prime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Context and yard layer</a:t>
            </a:r>
          </a:p>
        </p:txBody>
      </p:sp>
      <p:sp>
        <p:nvSpPr>
          <p:cNvPr id="15" name="BucketNode"/>
          <p:cNvSpPr txBox="1"/>
          <p:nvPr/>
        </p:nvSpPr>
        <p:spPr>
          <a:xfrm>
            <a:off x="7403079" y="3321600"/>
            <a:ext cx="3200000" cy="7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Work-type buckets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Structural, electrical, piping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machining, castings, HVAC, coatings</a:t>
            </a:r>
          </a:p>
        </p:txBody>
      </p:sp>
      <p:sp>
        <p:nvSpPr>
          <p:cNvPr id="20" name="ExclusionTag1"/>
          <p:cNvSpPr txBox="1"/>
          <p:nvPr/>
        </p:nvSpPr>
        <p:spPr>
          <a:xfrm>
            <a:off x="453079" y="4451600"/>
            <a:ext cx="2752010" cy="5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GFE and GFP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Combat systems, sonar, weapons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Excluded</a:t>
            </a:r>
          </a:p>
        </p:txBody>
      </p:sp>
      <p:sp>
        <p:nvSpPr>
          <p:cNvPr id="21" name="ExclusionTag2"/>
          <p:cNvSpPr txBox="1"/>
          <p:nvPr/>
        </p:nvSpPr>
        <p:spPr>
          <a:xfrm>
            <a:off x="3296529" y="4451600"/>
            <a:ext cx="2752010" cy="5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Nuclear and BPMI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Reactor plant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Excluded</a:t>
            </a:r>
          </a:p>
        </p:txBody>
      </p:sp>
      <p:sp>
        <p:nvSpPr>
          <p:cNvPr id="22" name="ExclusionTag3"/>
          <p:cNvSpPr txBox="1"/>
          <p:nvPr/>
        </p:nvSpPr>
        <p:spPr>
          <a:xfrm>
            <a:off x="6139979" y="4451600"/>
            <a:ext cx="2752010" cy="5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SIB capacity flows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Grants and BlueForge-type funding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Excluded</a:t>
            </a:r>
          </a:p>
        </p:txBody>
      </p:sp>
      <p:sp>
        <p:nvSpPr>
          <p:cNvPr id="23" name="ExclusionTag4"/>
          <p:cNvSpPr txBox="1"/>
          <p:nvPr/>
        </p:nvSpPr>
        <p:spPr>
          <a:xfrm>
            <a:off x="8983429" y="4451600"/>
            <a:ext cx="2752010" cy="5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Depot and sustainment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Overhauls and maintenance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Excluded</a:t>
            </a:r>
          </a:p>
        </p:txBody>
      </p:sp>
      <p:sp>
        <p:nvSpPr>
          <p:cNvPr id="30" name="Legend"/>
          <p:cNvSpPr txBox="1"/>
          <p:nvPr/>
        </p:nvSpPr>
        <p:spPr>
          <a:xfrm>
            <a:off x="453079" y="55100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Legend: dark blue is the counted sizing path; light blue is related component logic; gray is context or excluded lanes.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SCN Justification Books, Exhibit P-5c; (2) General Dynamics Corporation FY2021 Form 10-K; (3) GAO-25-106286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and Scope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Boundary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Boundary | The model sizes non-nuclear supplier opportunity, excluding GFE, SIB, yards, and SOM</a:t>
            </a:r>
          </a:p>
        </p:txBody>
      </p:sp>
      <p:sp>
        <p:nvSpPr>
          <p:cNvPr id="10" name="BoundaryNote"/>
          <p:cNvSpPr txBox="1"/>
          <p:nvPr/>
        </p:nvSpPr>
        <p:spPr>
          <a:xfrm>
            <a:off x="453079" y="13716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 narrower answer is more defensible than a larger, double-counted market.</a:t>
            </a:r>
          </a:p>
        </p:txBody>
      </p:sp>
      <p:sp>
        <p:nvSpPr>
          <p:cNvPr id="20" name="Included"/>
          <p:cNvSpPr txBox="1"/>
          <p:nvPr/>
        </p:nvSpPr>
        <p:spPr>
          <a:xfrm>
            <a:off x="453079" y="1891600"/>
            <a:ext cx="3699827" cy="265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INCLUDED IN TAM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P-5c Basic Construction base for Virginia and Columbia new construction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Non-nuclear supplier component manufacturing inside that base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Purchased material, subcontracts, and lower-tier supplier flow where supported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Work-type buckets used for scenario SAM</a:t>
            </a:r>
          </a:p>
        </p:txBody>
      </p:sp>
      <p:sp>
        <p:nvSpPr>
          <p:cNvPr id="21" name="Excluded"/>
          <p:cNvSpPr txBox="1"/>
          <p:nvPr/>
        </p:nvSpPr>
        <p:spPr>
          <a:xfrm>
            <a:off x="4244346" y="1891600"/>
            <a:ext cx="3699827" cy="265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EXCLUDED FROM TAM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GFE and GFP: reactor plant, combat systems, sonar, weapons, ordnance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BPMI nuclear reactor work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SIB capacity-development grants and pass-throughs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Prime and co-prime yard work at GDEB and HII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Depot, sustainment, overhauls, design-only, classified payloads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 and LLTM already inside Basic Construction; additive base is $0</a:t>
            </a:r>
          </a:p>
        </p:txBody>
      </p:sp>
      <p:sp>
        <p:nvSpPr>
          <p:cNvPr id="22" name="Context"/>
          <p:cNvSpPr txBox="1"/>
          <p:nvPr/>
        </p:nvSpPr>
        <p:spPr>
          <a:xfrm>
            <a:off x="8035613" y="1891600"/>
            <a:ext cx="3699827" cy="26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CONTEXT ONLY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Total Ship Estimate and TOA as top-of-funnel context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Gross AP and LLTM reference stream; additive base is $0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FFATA and FSRS visible first-tier vendor floor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DoD place-of-performance evidence behind the supplier coefficient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HII Newport News visibility gap and unseen-layer limitations</a:t>
            </a:r>
          </a:p>
        </p:txBody>
      </p:sp>
      <p:sp>
        <p:nvSpPr>
          <p:cNvPr id="30" name="WarningRail"/>
          <p:cNvSpPr txBox="1"/>
          <p:nvPr/>
        </p:nvSpPr>
        <p:spPr>
          <a:xfrm>
            <a:off x="453079" y="4891600"/>
            <a:ext cx="11282362" cy="72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Boundary warning: </a:t>
            </a: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SOM is modeled. SAM is a scenario menu, not market share, capture, win probability, or revenue forecast.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SCN Justification Books, Exhibits P-5c and P-10; (2) FAR 52.204-10 and FAR Part 45; (3) GAO-25-106286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and Scope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Executive summary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Executive summary | Average annual opportunity is about $3.3B TAM and $2.8B broad SAM</a:t>
            </a:r>
          </a:p>
        </p:txBody>
      </p:sp>
      <p:sp>
        <p:nvSpPr>
          <p:cNvPr id="10" name="AverageNote"/>
          <p:cNvSpPr txBox="1"/>
          <p:nvPr/>
        </p:nvSpPr>
        <p:spPr>
          <a:xfrm>
            <a:off x="453079" y="1371600"/>
            <a:ext cx="11282362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FY2022-FY2027 model-period averages; not a commercial-style steady run-rate.</a:t>
            </a:r>
          </a:p>
        </p:txBody>
      </p:sp>
      <p:sp>
        <p:nvSpPr>
          <p:cNvPr id="20" name="TAMHero"/>
          <p:cNvSpPr txBox="1"/>
          <p:nvPr/>
        </p:nvSpPr>
        <p:spPr>
          <a:xfrm>
            <a:off x="453079" y="1891600"/>
            <a:ext cx="5595461" cy="123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AVERAGE ANNUAL TAM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3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~$3.3B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FY2022-FY2027 model-period average</a:t>
            </a:r>
          </a:p>
        </p:txBody>
      </p:sp>
      <p:sp>
        <p:nvSpPr>
          <p:cNvPr id="21" name="BroadSAMHero"/>
          <p:cNvSpPr txBox="1"/>
          <p:nvPr/>
        </p:nvSpPr>
        <p:spPr>
          <a:xfrm>
            <a:off x="6139980" y="1891600"/>
            <a:ext cx="5595461" cy="1230000"/>
          </a:xfrm>
          <a:prstGeom prst="rect">
            <a:avLst/>
          </a:prstGeom>
          <a:solidFill>
            <a:srgbClr val="3D5972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AVERAGE ANNUAL BROAD SAM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3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~$2.8B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Broad component-manufacturing scenario</a:t>
            </a:r>
          </a:p>
        </p:txBody>
      </p:sp>
      <p:sp>
        <p:nvSpPr>
          <p:cNvPr id="30" name="Support"/>
          <p:cNvSpPr txBox="1"/>
          <p:nvPr/>
        </p:nvSpPr>
        <p:spPr>
          <a:xfrm>
            <a:off x="453079" y="3431600"/>
            <a:ext cx="2752010" cy="7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Cumulative TAM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8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~$19.8B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FY2022-FY2027</a:t>
            </a:r>
          </a:p>
        </p:txBody>
      </p:sp>
      <p:sp>
        <p:nvSpPr>
          <p:cNvPr id="31" name="Support"/>
          <p:cNvSpPr txBox="1"/>
          <p:nvPr/>
        </p:nvSpPr>
        <p:spPr>
          <a:xfrm>
            <a:off x="3296529" y="3431600"/>
            <a:ext cx="2752010" cy="7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Cumulative broad SAM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8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~$16.8B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FY2022-FY2027</a:t>
            </a:r>
          </a:p>
        </p:txBody>
      </p:sp>
      <p:sp>
        <p:nvSpPr>
          <p:cNvPr id="32" name="Support"/>
          <p:cNvSpPr txBox="1"/>
          <p:nvPr/>
        </p:nvSpPr>
        <p:spPr>
          <a:xfrm>
            <a:off x="6139979" y="3431600"/>
            <a:ext cx="2752010" cy="7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Applied BC supplier coefficient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8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35.0%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strict, non-nuclear, yard-excluded</a:t>
            </a:r>
          </a:p>
        </p:txBody>
      </p:sp>
      <p:sp>
        <p:nvSpPr>
          <p:cNvPr id="33" name="Support"/>
          <p:cNvSpPr txBox="1"/>
          <p:nvPr/>
        </p:nvSpPr>
        <p:spPr>
          <a:xfrm>
            <a:off x="8983429" y="3431600"/>
            <a:ext cx="2752010" cy="7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 and LLTM additive base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8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$0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 double count</a:t>
            </a:r>
          </a:p>
        </p:txBody>
      </p:sp>
      <p:sp>
        <p:nvSpPr>
          <p:cNvPr id="40" name="FindingsRail"/>
          <p:cNvSpPr txBox="1"/>
          <p:nvPr/>
        </p:nvSpPr>
        <p:spPr>
          <a:xfrm>
            <a:off x="453079" y="4431600"/>
            <a:ext cx="11282362" cy="13784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0" tIns="70000" rIns="200000" bIns="70000"/>
          <a:lstStyle/>
          <a:p>
            <a:pPr algn="l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KEY FINDINGS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1. Basic Construction is the denominator; GFE and SIB capacity grants are excluded.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2. The supplier coefficient is deliberately strict: non-nuclear, BPMI-excluded, yard-excluded.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3. Broad SAM is a scenario menu; no SOM, capture share, or win probability is modeled.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4. Annual flow is lumpy, with FY2024 and FY2027 peaks shown later in the deck.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SCN Justification Books, Exhibits P-5c and P-10; (2) U.S. DoD daily Contracts announcements; (3) SAM.gov FFATA/FSRS records and Entity Management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TAM Build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Demand backdrop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Demand backdrop | Policy and prime behavior point toward distributed supplier capacity</a:t>
            </a:r>
          </a:p>
        </p:txBody>
      </p:sp>
      <p:cxnSp>
        <p:nvCxnSpPr>
          <p:cNvPr id="10" name="TimeAxis"/>
          <p:cNvCxnSpPr/>
          <p:nvPr/>
        </p:nvCxnSpPr>
        <p:spPr>
          <a:xfrm>
            <a:off x="753079" y="1791600"/>
            <a:ext cx="10682362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cxnSp>
        <p:nvCxnSpPr>
          <p:cNvPr id="20" name="Tick"/>
          <p:cNvCxnSpPr/>
          <p:nvPr/>
        </p:nvCxnSpPr>
        <p:spPr>
          <a:xfrm>
            <a:off x="1607667" y="1721600"/>
            <a:ext cx="0" cy="140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30" name="TickLabel"/>
          <p:cNvSpPr txBox="1"/>
          <p:nvPr/>
        </p:nvSpPr>
        <p:spPr>
          <a:xfrm>
            <a:off x="1247667" y="1511600"/>
            <a:ext cx="7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2021</a:t>
            </a:r>
          </a:p>
        </p:txBody>
      </p:sp>
      <p:cxnSp>
        <p:nvCxnSpPr>
          <p:cNvPr id="21" name="Tick"/>
          <p:cNvCxnSpPr/>
          <p:nvPr/>
        </p:nvCxnSpPr>
        <p:spPr>
          <a:xfrm>
            <a:off x="3850963" y="1721600"/>
            <a:ext cx="0" cy="140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31" name="TickLabel"/>
          <p:cNvSpPr txBox="1"/>
          <p:nvPr/>
        </p:nvSpPr>
        <p:spPr>
          <a:xfrm>
            <a:off x="3490963" y="1511600"/>
            <a:ext cx="7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2024-2025</a:t>
            </a:r>
          </a:p>
        </p:txBody>
      </p:sp>
      <p:cxnSp>
        <p:nvCxnSpPr>
          <p:cNvPr id="22" name="Tick"/>
          <p:cNvCxnSpPr/>
          <p:nvPr/>
        </p:nvCxnSpPr>
        <p:spPr>
          <a:xfrm>
            <a:off x="6094260" y="1721600"/>
            <a:ext cx="0" cy="140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32" name="TickLabel"/>
          <p:cNvSpPr txBox="1"/>
          <p:nvPr/>
        </p:nvSpPr>
        <p:spPr>
          <a:xfrm>
            <a:off x="5734260" y="1511600"/>
            <a:ext cx="7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Jan 2026</a:t>
            </a:r>
          </a:p>
        </p:txBody>
      </p:sp>
      <p:cxnSp>
        <p:nvCxnSpPr>
          <p:cNvPr id="23" name="Tick"/>
          <p:cNvCxnSpPr/>
          <p:nvPr/>
        </p:nvCxnSpPr>
        <p:spPr>
          <a:xfrm>
            <a:off x="8230732" y="1721600"/>
            <a:ext cx="0" cy="140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33" name="TickLabel"/>
          <p:cNvSpPr txBox="1"/>
          <p:nvPr/>
        </p:nvSpPr>
        <p:spPr>
          <a:xfrm>
            <a:off x="7870732" y="1511600"/>
            <a:ext cx="7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Jan-Apr 2026</a:t>
            </a:r>
          </a:p>
        </p:txBody>
      </p:sp>
      <p:cxnSp>
        <p:nvCxnSpPr>
          <p:cNvPr id="24" name="Tick"/>
          <p:cNvCxnSpPr/>
          <p:nvPr/>
        </p:nvCxnSpPr>
        <p:spPr>
          <a:xfrm>
            <a:off x="10367204" y="1721600"/>
            <a:ext cx="0" cy="140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34" name="TickLabel"/>
          <p:cNvSpPr txBox="1"/>
          <p:nvPr/>
        </p:nvSpPr>
        <p:spPr>
          <a:xfrm>
            <a:off x="10007204" y="1511600"/>
            <a:ext cx="7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Apr-May 2026</a:t>
            </a:r>
          </a:p>
        </p:txBody>
      </p:sp>
      <p:sp>
        <p:nvSpPr>
          <p:cNvPr id="40" name="TimelineEvent"/>
          <p:cNvSpPr txBox="1"/>
          <p:nvPr/>
        </p:nvSpPr>
        <p:spPr>
          <a:xfrm>
            <a:off x="453079" y="2171600"/>
            <a:ext cx="2183320" cy="10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Jan 2021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GAO: supplier base roughly 70% smaller than prior booms; outsourcing raises oversight need.</a:t>
            </a:r>
          </a:p>
        </p:txBody>
      </p:sp>
      <p:sp>
        <p:nvSpPr>
          <p:cNvPr id="41" name="TimelineEvent"/>
          <p:cNvSpPr txBox="1"/>
          <p:nvPr/>
        </p:nvSpPr>
        <p:spPr>
          <a:xfrm>
            <a:off x="2727839" y="2171600"/>
            <a:ext cx="2183320" cy="10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2024-2025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SIB program office stood up; GAO documents outsourcing yard work due to constrained physical space.</a:t>
            </a:r>
          </a:p>
        </p:txBody>
      </p:sp>
      <p:sp>
        <p:nvSpPr>
          <p:cNvPr id="42" name="TimelineEvent"/>
          <p:cNvSpPr txBox="1"/>
          <p:nvPr/>
        </p:nvSpPr>
        <p:spPr>
          <a:xfrm>
            <a:off x="5002599" y="2171600"/>
            <a:ext cx="2183320" cy="10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Jan 2026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CRS: about 16,000 suppliers; about 70% of critical suppliers sole-source; AUKUS lifts demand.</a:t>
            </a:r>
          </a:p>
        </p:txBody>
      </p:sp>
      <p:sp>
        <p:nvSpPr>
          <p:cNvPr id="43" name="TimelineEvent"/>
          <p:cNvSpPr txBox="1"/>
          <p:nvPr/>
        </p:nvSpPr>
        <p:spPr>
          <a:xfrm>
            <a:off x="7277359" y="2171600"/>
            <a:ext cx="2183320" cy="10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Jan-Apr 2026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GD: supply chain remains the gating item; sole-source components are a bottleneck.</a:t>
            </a:r>
          </a:p>
        </p:txBody>
      </p:sp>
      <p:sp>
        <p:nvSpPr>
          <p:cNvPr id="44" name="TimelineEvent"/>
          <p:cNvSpPr txBox="1"/>
          <p:nvPr/>
        </p:nvSpPr>
        <p:spPr>
          <a:xfrm>
            <a:off x="9552119" y="2171600"/>
            <a:ext cx="2183320" cy="10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Apr-May 2026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GAO and Navy plan point to distributed shipbuilding; HII guides to plus 30% outsourcing hours.</a:t>
            </a:r>
          </a:p>
        </p:txBody>
      </p:sp>
      <p:sp>
        <p:nvSpPr>
          <p:cNvPr id="60" name="ThemeRail"/>
          <p:cNvSpPr txBox="1"/>
          <p:nvPr/>
        </p:nvSpPr>
        <p:spPr>
          <a:xfrm>
            <a:off x="453079" y="3891600"/>
            <a:ext cx="3699827" cy="1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CONSTRAINT SIGNAL</a:t>
            </a:r>
          </a:p>
          <a:p>
            <a:pPr marL="142875" indent="-142875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 base about 70% smaller than prior booms</a:t>
            </a:r>
          </a:p>
          <a:p>
            <a:pPr marL="142875" indent="-142875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About 70% of critical suppliers sole-source</a:t>
            </a:r>
          </a:p>
          <a:p>
            <a:pPr marL="142875" indent="-142875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AUKUS adds demand toward 2.33 Virginia per year</a:t>
            </a:r>
          </a:p>
        </p:txBody>
      </p:sp>
      <p:sp>
        <p:nvSpPr>
          <p:cNvPr id="61" name="ThemeRail"/>
          <p:cNvSpPr txBox="1"/>
          <p:nvPr/>
        </p:nvSpPr>
        <p:spPr>
          <a:xfrm>
            <a:off x="4244346" y="3891600"/>
            <a:ext cx="3699827" cy="1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POLICY SIGNAL</a:t>
            </a:r>
          </a:p>
          <a:p>
            <a:pPr marL="142875" indent="-142875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More than $10B DoD submarine industrial-base investment</a:t>
            </a:r>
          </a:p>
          <a:p>
            <a:pPr marL="142875" indent="-142875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SIB program office institutionalizes oversight</a:t>
            </a:r>
          </a:p>
          <a:p>
            <a:pPr marL="142875" indent="-142875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Navy distributed-shipbuilding policy context</a:t>
            </a:r>
          </a:p>
        </p:txBody>
      </p:sp>
      <p:sp>
        <p:nvSpPr>
          <p:cNvPr id="62" name="ThemeRail"/>
          <p:cNvSpPr txBox="1"/>
          <p:nvPr/>
        </p:nvSpPr>
        <p:spPr>
          <a:xfrm>
            <a:off x="8035613" y="3891600"/>
            <a:ext cx="3699827" cy="1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PRIME BEHAVIOR SIGNAL</a:t>
            </a:r>
          </a:p>
          <a:p>
            <a:pPr marL="142875" indent="-142875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HII guides to plus 30% YoY outsourcing hours</a:t>
            </a:r>
          </a:p>
          <a:p>
            <a:pPr marL="142875" indent="-142875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GD: supply chain is the gating item</a:t>
            </a:r>
          </a:p>
          <a:p>
            <a:pPr marL="142875" indent="-142875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Complex components drive bottlenecks</a:t>
            </a:r>
          </a:p>
        </p:txBody>
      </p:sp>
      <p:sp>
        <p:nvSpPr>
          <p:cNvPr id="80" name="Guardrail"/>
          <p:cNvSpPr txBox="1"/>
          <p:nvPr/>
        </p:nvSpPr>
        <p:spPr>
          <a:xfrm>
            <a:off x="453079" y="55400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Backdrop signals direction of travel; they do not change the FY2022-FY2027 sizing math or imply immediate addressability.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GAO, GAO-21-257, GAO-24-107732, GAO-25-106286, and GAO-26-109068; (2) CRS RL32418 and U.S. Navy FY2027 30-Year Shipbuilding Plan; (3) HII and General Dynamics SEC 10-K filings and earnings calls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TAM Build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Methodology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Methodology | TAM is built from Basic Construction, supplier coefficients, and work-type allocation</a:t>
            </a:r>
          </a:p>
        </p:txBody>
      </p:sp>
      <p:sp>
        <p:nvSpPr>
          <p:cNvPr id="10" name="Thesis"/>
          <p:cNvSpPr txBox="1"/>
          <p:nvPr/>
        </p:nvSpPr>
        <p:spPr>
          <a:xfrm>
            <a:off x="453079" y="1371600"/>
            <a:ext cx="11282362" cy="2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The headline model is intentionally simple; complexity is handled in the evidence and exclusions.</a:t>
            </a:r>
          </a:p>
        </p:txBody>
      </p:sp>
      <p:cxnSp>
        <p:nvCxnSpPr>
          <p:cNvPr id="20" name="ProcessAxis"/>
          <p:cNvCxnSpPr/>
          <p:nvPr/>
        </p:nvCxnSpPr>
        <p:spPr>
          <a:xfrm>
            <a:off x="953079" y="2151600"/>
            <a:ext cx="10282362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30" name="StepDot"/>
          <p:cNvSpPr txBox="1"/>
          <p:nvPr/>
        </p:nvSpPr>
        <p:spPr>
          <a:xfrm>
            <a:off x="1096549" y="1986600"/>
            <a:ext cx="330000" cy="330000"/>
          </a:xfrm>
          <a:prstGeom prst="ellipse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0" name="StepLabel"/>
          <p:cNvSpPr txBox="1"/>
          <p:nvPr/>
        </p:nvSpPr>
        <p:spPr>
          <a:xfrm>
            <a:off x="651549" y="2411600"/>
            <a:ext cx="122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Build budget base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P-5c Basic Construction; P-10 AP and LLTM reference</a:t>
            </a:r>
          </a:p>
        </p:txBody>
      </p:sp>
      <p:sp>
        <p:nvSpPr>
          <p:cNvPr id="31" name="StepDot"/>
          <p:cNvSpPr txBox="1"/>
          <p:nvPr/>
        </p:nvSpPr>
        <p:spPr>
          <a:xfrm>
            <a:off x="2707453" y="1986600"/>
            <a:ext cx="330000" cy="330000"/>
          </a:xfrm>
          <a:prstGeom prst="ellipse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1" name="StepLabel"/>
          <p:cNvSpPr txBox="1"/>
          <p:nvPr/>
        </p:nvSpPr>
        <p:spPr>
          <a:xfrm>
            <a:off x="2262453" y="2411600"/>
            <a:ext cx="122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Remove non-addressable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GFE, BPMI, SIB, yards, design-only, depot</a:t>
            </a:r>
          </a:p>
        </p:txBody>
      </p:sp>
      <p:sp>
        <p:nvSpPr>
          <p:cNvPr id="32" name="StepDot"/>
          <p:cNvSpPr txBox="1"/>
          <p:nvPr/>
        </p:nvSpPr>
        <p:spPr>
          <a:xfrm>
            <a:off x="4318356" y="1986600"/>
            <a:ext cx="330000" cy="330000"/>
          </a:xfrm>
          <a:prstGeom prst="ellipse">
            <a:avLst/>
          </a:prstGeom>
          <a:solidFill>
            <a:srgbClr val="162029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2" name="StepLabel"/>
          <p:cNvSpPr txBox="1"/>
          <p:nvPr/>
        </p:nvSpPr>
        <p:spPr>
          <a:xfrm>
            <a:off x="3873356" y="2411600"/>
            <a:ext cx="122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Apply supplier coefficient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POP evidence; strict 35.0% feeds headline TAM</a:t>
            </a:r>
          </a:p>
        </p:txBody>
      </p:sp>
      <p:sp>
        <p:nvSpPr>
          <p:cNvPr id="33" name="StepDot"/>
          <p:cNvSpPr txBox="1"/>
          <p:nvPr/>
        </p:nvSpPr>
        <p:spPr>
          <a:xfrm>
            <a:off x="5929260" y="1986600"/>
            <a:ext cx="330000" cy="330000"/>
          </a:xfrm>
          <a:prstGeom prst="ellipse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3" name="StepLabel"/>
          <p:cNvSpPr txBox="1"/>
          <p:nvPr/>
        </p:nvSpPr>
        <p:spPr>
          <a:xfrm>
            <a:off x="5484260" y="2411600"/>
            <a:ext cx="122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Calculate portfolio TAM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Basic Construction base times coefficient; AP and LLTM base is $0</a:t>
            </a:r>
          </a:p>
        </p:txBody>
      </p:sp>
      <p:sp>
        <p:nvSpPr>
          <p:cNvPr id="34" name="StepDot"/>
          <p:cNvSpPr txBox="1"/>
          <p:nvPr/>
        </p:nvSpPr>
        <p:spPr>
          <a:xfrm>
            <a:off x="7540163" y="1986600"/>
            <a:ext cx="330000" cy="330000"/>
          </a:xfrm>
          <a:prstGeom prst="ellipse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4" name="StepLabel"/>
          <p:cNvSpPr txBox="1"/>
          <p:nvPr/>
        </p:nvSpPr>
        <p:spPr>
          <a:xfrm>
            <a:off x="7095163" y="2411600"/>
            <a:ext cx="122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Allocate work-type buckets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FFATA, FSRS, SAM.gov entity data, NAICS mapping</a:t>
            </a:r>
          </a:p>
        </p:txBody>
      </p:sp>
      <p:sp>
        <p:nvSpPr>
          <p:cNvPr id="35" name="StepDot"/>
          <p:cNvSpPr txBox="1"/>
          <p:nvPr/>
        </p:nvSpPr>
        <p:spPr>
          <a:xfrm>
            <a:off x="9151066" y="1986600"/>
            <a:ext cx="330000" cy="330000"/>
          </a:xfrm>
          <a:prstGeom prst="ellipse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5" name="StepLabel"/>
          <p:cNvSpPr txBox="1"/>
          <p:nvPr/>
        </p:nvSpPr>
        <p:spPr>
          <a:xfrm>
            <a:off x="8706066" y="2411600"/>
            <a:ext cx="122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Apply scenario flags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Bucket inclusion menus; SAM scenario, not SOM</a:t>
            </a:r>
          </a:p>
        </p:txBody>
      </p:sp>
      <p:sp>
        <p:nvSpPr>
          <p:cNvPr id="36" name="StepDot"/>
          <p:cNvSpPr txBox="1"/>
          <p:nvPr/>
        </p:nvSpPr>
        <p:spPr>
          <a:xfrm>
            <a:off x="10761970" y="1986600"/>
            <a:ext cx="330000" cy="330000"/>
          </a:xfrm>
          <a:prstGeom prst="ellipse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6" name="StepLabel"/>
          <p:cNvSpPr txBox="1"/>
          <p:nvPr/>
        </p:nvSpPr>
        <p:spPr>
          <a:xfrm>
            <a:off x="10316970" y="2411600"/>
            <a:ext cx="122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Output SAM menu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Broad, electrical, metal, modular, HM&amp;E; no SOM</a:t>
            </a:r>
          </a:p>
        </p:txBody>
      </p:sp>
      <p:sp>
        <p:nvSpPr>
          <p:cNvPr id="60" name="FormulaBox"/>
          <p:cNvSpPr txBox="1"/>
          <p:nvPr/>
        </p:nvSpPr>
        <p:spPr>
          <a:xfrm>
            <a:off x="453079" y="3891600"/>
            <a:ext cx="7550000" cy="1310000"/>
          </a:xfrm>
          <a:prstGeom prst="rect">
            <a:avLst/>
          </a:prstGeom>
          <a:solidFill>
            <a:srgbClr val="E2E9EF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AVERAGE ANNUAL TAM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8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$56.647B × 35.0% = ~$19.840B cumulative TAM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1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over 6 years = ~$3.307B average annual</a:t>
            </a:r>
          </a:p>
        </p:txBody>
      </p:sp>
      <p:sp>
        <p:nvSpPr>
          <p:cNvPr id="70" name="ScopeNotes"/>
          <p:cNvSpPr txBox="1"/>
          <p:nvPr/>
        </p:nvSpPr>
        <p:spPr>
          <a:xfrm>
            <a:off x="8094519" y="3891600"/>
            <a:ext cx="3640922" cy="131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Scope notes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 and LLTM gross is reference evidence; additive base is $0.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scenarios are bucket inclusion menus; no SOM or win-probability haircut.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Detailed coefficient evidence belongs on the coefficient slide.</a:t>
            </a:r>
          </a:p>
        </p:txBody>
      </p:sp>
      <p:sp>
        <p:nvSpPr>
          <p:cNvPr id="80" name="NoSOM"/>
          <p:cNvSpPr txBox="1"/>
          <p:nvPr/>
        </p:nvSpPr>
        <p:spPr>
          <a:xfrm>
            <a:off x="453079" y="55400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Method note: SAM is a scenario menu, not SOM, capture share, win probability, or company revenue forecast.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SCN Justification Books, Exhibits P-5c and P-10; (2) U.S. DoD daily Contracts announcements; (3) SAM.gov FFATA/FSRS and Entity Management records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Budget denominator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Budget denominator | The FY2022-FY2027 denominator averages ~$9.4B annually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7897653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Basic Construction by fiscal year and class, $B</a:t>
            </a:r>
          </a:p>
        </p:txBody>
      </p:sp>
      <p:graphicFrame>
        <p:nvGraphicFramePr>
          <p:cNvPr id="20" name="BasicConstructionChart"/>
          <p:cNvGraphicFramePr/>
          <p:nvPr/>
        </p:nvGraphicFramePr>
        <p:xfrm>
          <a:off x="453079" y="1601600"/>
          <a:ext cx="7897653" cy="387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Rail"/>
          <p:cNvSpPr txBox="1"/>
          <p:nvPr/>
        </p:nvSpPr>
        <p:spPr>
          <a:xfrm>
            <a:off x="8442172" y="1601600"/>
            <a:ext cx="3293269" cy="1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How to read the denominator</a:t>
            </a:r>
          </a:p>
          <a:p>
            <a:pPr algn="l" marL="142875" indent="-142875">
              <a:lnSpc>
                <a:spcPct val="115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Total: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FY2022-FY2027 Basic Construction totals ~$56.6B.</a:t>
            </a:r>
          </a:p>
          <a:p>
            <a:pPr algn="l" marL="142875" indent="-142875">
              <a:lnSpc>
                <a:spcPct val="115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Average: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the denominator averages ~$9.4B annually across six years.</a:t>
            </a:r>
          </a:p>
          <a:p>
            <a:pPr algn="l" marL="142875" indent="-142875">
              <a:lnSpc>
                <a:spcPct val="115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Cadence: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FY2024 and FY2027 are peak years when both classes contribute.</a:t>
            </a:r>
          </a:p>
          <a:p>
            <a:pPr algn="l" marL="142875" indent="-142875">
              <a:lnSpc>
                <a:spcPct val="115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Scope: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BC includes yards, team-build work, purchased material, first-tier subs, and lower-tier flow.</a:t>
            </a:r>
          </a:p>
        </p:txBody>
      </p:sp>
      <p:sp>
        <p:nvSpPr>
          <p:cNvPr id="40" name="FY2024Peak"/>
          <p:cNvSpPr txBox="1"/>
          <p:nvPr/>
        </p:nvSpPr>
        <p:spPr>
          <a:xfrm>
            <a:off x="3454187" y="16816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FY2024 peak, Virginia and Columbia Basic Construction</a:t>
            </a:r>
          </a:p>
        </p:txBody>
      </p:sp>
      <p:cxnSp>
        <p:nvCxnSpPr>
          <p:cNvPr id="41" name="PeakLeader2024"/>
          <p:cNvCxnSpPr/>
          <p:nvPr/>
        </p:nvCxnSpPr>
        <p:spPr>
          <a:xfrm>
            <a:off x="4164975" y="1971600"/>
            <a:ext cx="0" cy="470000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sp>
        <p:nvSpPr>
          <p:cNvPr id="42" name="FY2027Peak"/>
          <p:cNvSpPr txBox="1"/>
          <p:nvPr/>
        </p:nvSpPr>
        <p:spPr>
          <a:xfrm>
            <a:off x="6139389" y="1681600"/>
            <a:ext cx="1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FY2027 peak, two-boat Virginia plus Columbia</a:t>
            </a:r>
          </a:p>
        </p:txBody>
      </p:sp>
      <p:cxnSp>
        <p:nvCxnSpPr>
          <p:cNvPr id="43" name="PeakLeader2027"/>
          <p:cNvCxnSpPr/>
          <p:nvPr/>
        </p:nvCxnSpPr>
        <p:spPr>
          <a:xfrm>
            <a:off x="7087107" y="1971600"/>
            <a:ext cx="0" cy="470000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sp>
        <p:nvSpPr>
          <p:cNvPr id="50" name="UnitNote"/>
          <p:cNvSpPr txBox="1"/>
          <p:nvPr/>
        </p:nvSpPr>
        <p:spPr>
          <a:xfrm>
            <a:off x="453079" y="5550000"/>
            <a:ext cx="7897653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AP-only Columbia years contribute no Basic Construction to this denominator. Average annual BC is a six-year average, not a smooth run-rate.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FY2022-FY2027 SCN Justification Books, Exhibit P-5c; (2) CRS RL32418; (3) CRS R41129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TAM Bridge Calculation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TAM Bridge Calculation | Applying the strict 35.0% coefficient yields ~$3.3B average annual TAM</a:t>
            </a:r>
          </a:p>
        </p:txBody>
      </p:sp>
      <p:cxnSp>
        <p:nvCxnSpPr>
          <p:cNvPr id="80" name="BaseToOperator"/>
          <p:cNvCxnSpPr/>
          <p:nvPr/>
        </p:nvCxnSpPr>
        <p:spPr>
          <a:xfrm>
            <a:off x="4403079" y="2091600"/>
            <a:ext cx="1451181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81" name="CoeffToOperator"/>
          <p:cNvCxnSpPr/>
          <p:nvPr/>
        </p:nvCxnSpPr>
        <p:spPr>
          <a:xfrm flipH="1">
            <a:off x="6334260" y="2091600"/>
            <a:ext cx="1451181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82" name="OperatorToCumulative"/>
          <p:cNvCxnSpPr/>
          <p:nvPr/>
        </p:nvCxnSpPr>
        <p:spPr>
          <a:xfrm>
            <a:off x="6094260" y="2291600"/>
            <a:ext cx="0" cy="72000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83" name="CumulativeToAnnual"/>
          <p:cNvCxnSpPr/>
          <p:nvPr/>
        </p:nvCxnSpPr>
        <p:spPr>
          <a:xfrm>
            <a:off x="6103079" y="3861600"/>
            <a:ext cx="0" cy="33000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10" name="BasicConstructionBase"/>
          <p:cNvSpPr txBox="1"/>
          <p:nvPr/>
        </p:nvSpPr>
        <p:spPr>
          <a:xfrm>
            <a:off x="1103079" y="1641600"/>
            <a:ext cx="3300000" cy="9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BASIC CONSTRUCTION BASE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8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$56.647B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FY2022-FY2027 P-5c</a:t>
            </a:r>
          </a:p>
        </p:txBody>
      </p:sp>
      <p:sp>
        <p:nvSpPr>
          <p:cNvPr id="11" name="Operator"/>
          <p:cNvSpPr txBox="1"/>
          <p:nvPr/>
        </p:nvSpPr>
        <p:spPr>
          <a:xfrm>
            <a:off x="5854260" y="1811600"/>
            <a:ext cx="480000" cy="48000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2" name="OperatorCaption"/>
          <p:cNvSpPr txBox="1"/>
          <p:nvPr/>
        </p:nvSpPr>
        <p:spPr>
          <a:xfrm>
            <a:off x="5624260" y="2301600"/>
            <a:ext cx="94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multiplied by</a:t>
            </a:r>
          </a:p>
        </p:txBody>
      </p:sp>
      <p:sp>
        <p:nvSpPr>
          <p:cNvPr id="13" name="Coefficient"/>
          <p:cNvSpPr txBox="1"/>
          <p:nvPr/>
        </p:nvSpPr>
        <p:spPr>
          <a:xfrm>
            <a:off x="7785441" y="1641600"/>
            <a:ext cx="3300000" cy="90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APPLIED BC SUPPLIER COEFFICIENT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35.0%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strict, non-nuclear, yard-excluded</a:t>
            </a:r>
          </a:p>
        </p:txBody>
      </p:sp>
      <p:sp>
        <p:nvSpPr>
          <p:cNvPr id="20" name="CumulativeTAM"/>
          <p:cNvSpPr txBox="1"/>
          <p:nvPr/>
        </p:nvSpPr>
        <p:spPr>
          <a:xfrm>
            <a:off x="3703079" y="3011600"/>
            <a:ext cx="4800000" cy="85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CUMULATIVE PORTFOLIO TAM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2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$19.840B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FY2022-FY2027</a:t>
            </a:r>
          </a:p>
        </p:txBody>
      </p:sp>
      <p:sp>
        <p:nvSpPr>
          <p:cNvPr id="21" name="Divide"/>
          <p:cNvSpPr txBox="1"/>
          <p:nvPr/>
        </p:nvSpPr>
        <p:spPr>
          <a:xfrm>
            <a:off x="6353079" y="3931600"/>
            <a:ext cx="1100000" cy="17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divide by 6</a:t>
            </a:r>
          </a:p>
        </p:txBody>
      </p:sp>
      <p:sp>
        <p:nvSpPr>
          <p:cNvPr id="30" name="AnnualTAM"/>
          <p:cNvSpPr txBox="1"/>
          <p:nvPr/>
        </p:nvSpPr>
        <p:spPr>
          <a:xfrm>
            <a:off x="3453079" y="4191600"/>
            <a:ext cx="5300000" cy="106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AVERAGE ANNUAL TAM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3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~$3.307B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FY2022-FY2027 model-period average</a:t>
            </a:r>
          </a:p>
        </p:txBody>
      </p:sp>
      <p:sp>
        <p:nvSpPr>
          <p:cNvPr id="40" name="SubtractionCheck"/>
          <p:cNvSpPr txBox="1"/>
          <p:nvPr/>
        </p:nvSpPr>
        <p:spPr>
          <a:xfrm>
            <a:off x="453079" y="5431600"/>
            <a:ext cx="11282362" cy="43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Subtraction check: </a:t>
            </a:r>
            <a:r>
              <a:rPr lang="en-US" sz="10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$56.647B BC base minus $36.807B prime, co-prime, and excluded share equals $19.840B TAM.</a:t>
            </a:r>
          </a:p>
        </p:txBody>
      </p:sp>
      <p:sp>
        <p:nvSpPr>
          <p:cNvPr id="50" name="Guardrail"/>
          <p:cNvSpPr txBox="1"/>
          <p:nvPr/>
        </p:nvSpPr>
        <p:spPr>
          <a:xfrm>
            <a:off x="453079" y="5560000"/>
            <a:ext cx="11282362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Guardrail:</a:t>
            </a:r>
            <a:r>
              <a:rPr lang="en-US" sz="10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Only the strict 35.0% BC coefficient feeds headline TAM; broader POP views are sensitivity.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SCN Justification Books, Exhibit P-5c; (2) U.S. DoD daily Contracts announcements; (3) SAM.gov FFATA and FSRS records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Annual cadence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Annual cadence | TAM and broad SAM are lumpy, with FY2024 and FY2027 peaks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11282362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Annual TAM and broad SAM, FY2022-FY2027</a:t>
            </a:r>
          </a:p>
        </p:txBody>
      </p:sp>
      <p:graphicFrame>
        <p:nvGraphicFramePr>
          <p:cNvPr id="20" name="AnnualCadenceChart"/>
          <p:cNvGraphicFramePr/>
          <p:nvPr/>
        </p:nvGraphicFramePr>
        <p:xfrm>
          <a:off x="453079" y="1596600"/>
          <a:ext cx="11282362" cy="386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FY2024Anno"/>
          <p:cNvSpPr txBox="1"/>
          <p:nvPr/>
        </p:nvSpPr>
        <p:spPr>
          <a:xfrm>
            <a:off x="4401905" y="1716600"/>
            <a:ext cx="2250000" cy="3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60000" tIns="35000" rIns="60000" bIns="350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FY2024: both classes contribute Basic Construction</a:t>
            </a:r>
          </a:p>
        </p:txBody>
      </p:sp>
      <p:sp>
        <p:nvSpPr>
          <p:cNvPr id="31" name="FY2027Anno"/>
          <p:cNvSpPr txBox="1"/>
          <p:nvPr/>
        </p:nvSpPr>
        <p:spPr>
          <a:xfrm>
            <a:off x="8576379" y="1716600"/>
            <a:ext cx="2350000" cy="3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60000" tIns="35000" rIns="60000" bIns="350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FY2027: two-boat Virginia plus Columbia</a:t>
            </a:r>
          </a:p>
        </p:txBody>
      </p:sp>
      <p:cxnSp>
        <p:nvCxnSpPr>
          <p:cNvPr id="32" name="FY2024PeakLeader"/>
          <p:cNvCxnSpPr/>
          <p:nvPr/>
        </p:nvCxnSpPr>
        <p:spPr>
          <a:xfrm flipH="1">
            <a:off x="5110141" y="2056600"/>
            <a:ext cx="420000" cy="620000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cxnSp>
        <p:nvCxnSpPr>
          <p:cNvPr id="33" name="FY2027PeakLeader"/>
          <p:cNvCxnSpPr/>
          <p:nvPr/>
        </p:nvCxnSpPr>
        <p:spPr>
          <a:xfrm flipH="1">
            <a:off x="9397439" y="2056600"/>
            <a:ext cx="420000" cy="620000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sp>
        <p:nvSpPr>
          <p:cNvPr id="40" name="ConventionNote"/>
          <p:cNvSpPr txBox="1"/>
          <p:nvPr/>
        </p:nvSpPr>
        <p:spPr>
          <a:xfrm>
            <a:off x="453079" y="55400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Average annual TAM is ~$3.3B and broad SAM is ~$2.8B, but actual annual flow follows procurement cadence. Peaks are cadence effects, not commercial-style volatility.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SCN Justification Books, Exhibit P-5c; (2) U.S. DoD daily Contracts announcements; (3) SAM.gov FFATA/FSRS and Entity Management records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Coefficient evidence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Coefficient evidence | POP data supports distributed production, but the headline coefficient remains strict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6205299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 coefficient evidence, %</a:t>
            </a:r>
          </a:p>
        </p:txBody>
      </p:sp>
      <p:graphicFrame>
        <p:nvGraphicFramePr>
          <p:cNvPr id="20" name="CoefficientChart"/>
          <p:cNvGraphicFramePr/>
          <p:nvPr/>
        </p:nvGraphicFramePr>
        <p:xfrm>
          <a:off x="453079" y="1601600"/>
          <a:ext cx="6205299" cy="28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0" name="EvidenceTable"/>
          <p:cNvGraphicFramePr>
            <a:graphicFrameLocks noGrp="1"/>
          </p:cNvGraphicFramePr>
          <p:nvPr/>
        </p:nvGraphicFramePr>
        <p:xfrm>
          <a:off x="6749818" y="1601600"/>
          <a:ext cx="4985623" cy="192024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3600727"/>
                <a:gridCol w="1384896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POP rows screened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658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Gated TAM-relevant actions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Gated POP corpus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~$25.4B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In-scope non-GFE corpus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~$19.3B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Confirmation coverage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Unparsed share (limitation)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10.1%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Read"/>
          <p:cNvSpPr txBox="1"/>
          <p:nvPr/>
        </p:nvSpPr>
        <p:spPr>
          <a:xfrm>
            <a:off x="453079" y="4571600"/>
            <a:ext cx="6205299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Read:</a:t>
            </a:r>
            <a:r>
              <a:rPr lang="en-US" sz="10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Evidence supports a large distributed-production layer; the model applies a stricter coefficient.</a:t>
            </a:r>
          </a:p>
        </p:txBody>
      </p:sp>
      <p:sp>
        <p:nvSpPr>
          <p:cNvPr id="50" name="Guardrail"/>
          <p:cNvSpPr txBox="1"/>
          <p:nvPr/>
        </p:nvSpPr>
        <p:spPr>
          <a:xfrm>
            <a:off x="453079" y="55500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Guardrail:</a:t>
            </a:r>
            <a:r>
              <a:rPr lang="en-US" sz="10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Higher POP views are explanatory and sensitivity views; they are not multiplied into headline TAM.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DoD daily Contracts announcements, July 2022-May 2026; (2) DoD Contracts releases dated April 30, 2025 and May 11, 2026; (3) GAO-25-106286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AP and LLTM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 and LLTM | Gross AP is large but contributes $0 additive TAM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7672006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P-10 AP and LLTM bridge to additive TAM base, FY2022-FY2027, $B</a:t>
            </a:r>
          </a:p>
        </p:txBody>
      </p:sp>
      <p:graphicFrame>
        <p:nvGraphicFramePr>
          <p:cNvPr id="20" name="APWaterfall"/>
          <p:cNvGraphicFramePr/>
          <p:nvPr/>
        </p:nvGraphicFramePr>
        <p:xfrm>
          <a:off x="453079" y="1601600"/>
          <a:ext cx="7672006" cy="386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Warning"/>
          <p:cNvSpPr txBox="1"/>
          <p:nvPr/>
        </p:nvSpPr>
        <p:spPr>
          <a:xfrm>
            <a:off x="8216525" y="1601600"/>
            <a:ext cx="3518916" cy="125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$0 additive base. </a:t>
            </a: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 not add P-10 AP to P-5c Basic Construction. P-10 is timing and reference evidence unless the model boundary is rebuilt.</a:t>
            </a:r>
          </a:p>
        </p:txBody>
      </p:sp>
      <p:sp>
        <p:nvSpPr>
          <p:cNvPr id="31" name="Interpretation"/>
          <p:cNvSpPr txBox="1"/>
          <p:nvPr/>
        </p:nvSpPr>
        <p:spPr>
          <a:xfrm>
            <a:off x="8216525" y="3021600"/>
            <a:ext cx="3518916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 and LLTM are useful evidence of supplier-heavy purchasing, but not additive market size in the headline model.</a:t>
            </a:r>
          </a:p>
        </p:txBody>
      </p:sp>
      <p:sp>
        <p:nvSpPr>
          <p:cNvPr id="32" name="Endpoint"/>
          <p:cNvSpPr txBox="1"/>
          <p:nvPr/>
        </p:nvSpPr>
        <p:spPr>
          <a:xfrm>
            <a:off x="6053643" y="3845272"/>
            <a:ext cx="170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$0 additive base</a:t>
            </a:r>
          </a:p>
        </p:txBody>
      </p:sp>
      <p:sp>
        <p:nvSpPr>
          <p:cNvPr id="40" name="ScopeGuardrail"/>
          <p:cNvSpPr txBox="1"/>
          <p:nvPr/>
        </p:nvSpPr>
        <p:spPr>
          <a:xfrm>
            <a:off x="453079" y="55500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Large does not mean additive. Adding P-10 AP to P-5c Basic Construction would double count unless the whole boundary changes.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FY2022-FY2027 SCN Justification Books, Exhibit P-10; (2) U.S. DoD daily Contracts announcements; (3) CRS RL32418 and CRS R41129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Work-type taxonomy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Work-type taxonomy | Seven component buckets define the serviceable market</a:t>
            </a:r>
          </a:p>
        </p:txBody>
      </p:sp>
      <p:sp>
        <p:nvSpPr>
          <p:cNvPr id="10" name="IncludedLabel"/>
          <p:cNvSpPr txBox="1"/>
          <p:nvPr/>
        </p:nvSpPr>
        <p:spPr>
          <a:xfrm>
            <a:off x="453079" y="1371600"/>
            <a:ext cx="11282362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Included in broad component manufacturing</a:t>
            </a:r>
          </a:p>
        </p:txBody>
      </p:sp>
      <p:sp>
        <p:nvSpPr>
          <p:cNvPr id="20" name="BucketCard"/>
          <p:cNvSpPr txBox="1"/>
          <p:nvPr/>
        </p:nvSpPr>
        <p:spPr>
          <a:xfrm>
            <a:off x="453079" y="1731600"/>
            <a:ext cx="2752010" cy="7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Structural fabrication and pre-outfit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hull sections, fabricated structural metal, pre-outfit modules</a:t>
            </a:r>
          </a:p>
        </p:txBody>
      </p:sp>
      <p:sp>
        <p:nvSpPr>
          <p:cNvPr id="21" name="BucketCard"/>
          <p:cNvSpPr txBox="1"/>
          <p:nvPr/>
        </p:nvSpPr>
        <p:spPr>
          <a:xfrm>
            <a:off x="3296529" y="1731600"/>
            <a:ext cx="2752010" cy="7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Machining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machine shops, precision machining, mechanical power transmission</a:t>
            </a:r>
          </a:p>
        </p:txBody>
      </p:sp>
      <p:sp>
        <p:nvSpPr>
          <p:cNvPr id="22" name="BucketCard"/>
          <p:cNvSpPr txBox="1"/>
          <p:nvPr/>
        </p:nvSpPr>
        <p:spPr>
          <a:xfrm>
            <a:off x="6139979" y="1731600"/>
            <a:ext cx="2752010" cy="7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Castings and forgings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iron and steel forging, foundries, cast and forged components</a:t>
            </a:r>
          </a:p>
        </p:txBody>
      </p:sp>
      <p:sp>
        <p:nvSpPr>
          <p:cNvPr id="23" name="BucketCard"/>
          <p:cNvSpPr txBox="1"/>
          <p:nvPr/>
        </p:nvSpPr>
        <p:spPr>
          <a:xfrm>
            <a:off x="8983429" y="1731600"/>
            <a:ext cx="2752010" cy="7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Piping, valves, and pumps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industrial valves, pumps, measuring and dispensing, pipe and fittings</a:t>
            </a:r>
          </a:p>
        </p:txBody>
      </p:sp>
      <p:sp>
        <p:nvSpPr>
          <p:cNvPr id="30" name="BucketCard"/>
          <p:cNvSpPr txBox="1"/>
          <p:nvPr/>
        </p:nvSpPr>
        <p:spPr>
          <a:xfrm>
            <a:off x="453079" y="2551600"/>
            <a:ext cx="3699827" cy="7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Electrical and power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switchgear, electronic components, propulsion-electronics, power distribution</a:t>
            </a:r>
          </a:p>
        </p:txBody>
      </p:sp>
      <p:sp>
        <p:nvSpPr>
          <p:cNvPr id="31" name="BucketCard"/>
          <p:cNvSpPr txBox="1"/>
          <p:nvPr/>
        </p:nvSpPr>
        <p:spPr>
          <a:xfrm>
            <a:off x="4244346" y="2551600"/>
            <a:ext cx="3699827" cy="7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HVAC and ventilation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air-conditioning, heating, shipboard ventilation systems</a:t>
            </a:r>
          </a:p>
        </p:txBody>
      </p:sp>
      <p:sp>
        <p:nvSpPr>
          <p:cNvPr id="32" name="BucketCard"/>
          <p:cNvSpPr txBox="1"/>
          <p:nvPr/>
        </p:nvSpPr>
        <p:spPr>
          <a:xfrm>
            <a:off x="8035613" y="2551600"/>
            <a:ext cx="3699827" cy="7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Coatings and insulation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rubber and synthetic products, composites, coatings and insulation</a:t>
            </a:r>
          </a:p>
        </p:txBody>
      </p:sp>
      <p:sp>
        <p:nvSpPr>
          <p:cNvPr id="40" name="ExcludedLabel"/>
          <p:cNvSpPr txBox="1"/>
          <p:nvPr/>
        </p:nvSpPr>
        <p:spPr>
          <a:xfrm>
            <a:off x="453079" y="3481600"/>
            <a:ext cx="11282362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Outside broad component SAM</a:t>
            </a:r>
          </a:p>
        </p:txBody>
      </p:sp>
      <p:sp>
        <p:nvSpPr>
          <p:cNvPr id="50" name="Residual"/>
          <p:cNvSpPr txBox="1"/>
          <p:nvPr/>
        </p:nvSpPr>
        <p:spPr>
          <a:xfrm>
            <a:off x="453079" y="3741600"/>
            <a:ext cx="11282362" cy="620000"/>
          </a:xfrm>
          <a:prstGeom prst="rect">
            <a:avLst/>
          </a:prstGeom>
          <a:solidFill>
            <a:srgbClr val="BFBFBF"/>
          </a:solidFill>
          <a:ln w="1905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Unbucketed / ambiguous residual: </a:t>
            </a:r>
            <a:r>
              <a:rPr lang="en-US" sz="10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visible vendor flow not confidently assigned to one of the seven buckets. Kept in TAM, excluded from broad component SAM.</a:t>
            </a:r>
          </a:p>
        </p:txBody>
      </p:sp>
      <p:sp>
        <p:nvSpPr>
          <p:cNvPr id="60" name="Method"/>
          <p:cNvSpPr txBox="1"/>
          <p:nvPr/>
        </p:nvSpPr>
        <p:spPr>
          <a:xfrm>
            <a:off x="453079" y="55500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Mapped from FFATA-visible vendors using SAM.gov Entity Management NAICS and manual work-type evidence; NAICS is corporate-primary, not a per-action work description.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SAM.gov Entity Management API; (3) FAR 52.204-10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Bucket TAM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Bucket TAM | Electrical and power, structural fabrication, and piping lead the opportunity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11282362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Average annual TAM by work-type bucket, FY2022-FY2027</a:t>
            </a:r>
          </a:p>
        </p:txBody>
      </p:sp>
      <p:graphicFrame>
        <p:nvGraphicFramePr>
          <p:cNvPr id="20" name="BucketTAMChart"/>
          <p:cNvGraphicFramePr/>
          <p:nvPr/>
        </p:nvGraphicFramePr>
        <p:xfrm>
          <a:off x="453079" y="1591600"/>
          <a:ext cx="9928478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ResidualStrip"/>
          <p:cNvSpPr txBox="1"/>
          <p:nvPr/>
        </p:nvSpPr>
        <p:spPr>
          <a:xfrm>
            <a:off x="453079" y="4511600"/>
            <a:ext cx="11282362" cy="580000"/>
          </a:xfrm>
          <a:prstGeom prst="rect">
            <a:avLst/>
          </a:prstGeom>
          <a:solidFill>
            <a:srgbClr val="BFBFBF"/>
          </a:solidFill>
          <a:ln w="1905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Unbucketed / ambiguous residual: </a:t>
            </a:r>
            <a:r>
              <a:rPr lang="en-US" sz="10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~$501M per year (~$3.01B cumulative). Tracked in TAM, excluded from broad component SAM.</a:t>
            </a:r>
          </a:p>
        </p:txBody>
      </p:sp>
      <p:sp>
        <p:nvSpPr>
          <p:cNvPr id="40" name="Note"/>
          <p:cNvSpPr txBox="1"/>
          <p:nvPr/>
        </p:nvSpPr>
        <p:spPr>
          <a:xfrm>
            <a:off x="453079" y="5560000"/>
            <a:ext cx="11282362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Values are average annual FY2022-FY2027; cumulative shown for context. Average annual is not a run-rate.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SAM.gov Entity Management API; (3) U.S. Department of the Navy SCN Justification Books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scenarios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scenarios | Broad component manufacturing is the largest scenario at ~$2.8B per year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6995064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scenarios, average annual FY2022-FY2027</a:t>
            </a:r>
          </a:p>
        </p:txBody>
      </p:sp>
      <p:graphicFrame>
        <p:nvGraphicFramePr>
          <p:cNvPr id="20" name="SAMScenarioChart"/>
          <p:cNvGraphicFramePr/>
          <p:nvPr/>
        </p:nvGraphicFramePr>
        <p:xfrm>
          <a:off x="453079" y="1596600"/>
          <a:ext cx="6995064" cy="365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Rail"/>
          <p:cNvSpPr txBox="1"/>
          <p:nvPr/>
        </p:nvSpPr>
        <p:spPr>
          <a:xfrm>
            <a:off x="7539583" y="1596600"/>
            <a:ext cx="4195858" cy="21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0" tIns="70000" rIns="200000" bIns="700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How to read the scenarios</a:t>
            </a:r>
          </a:p>
          <a:p>
            <a:pPr algn="l" marL="142875" indent="-142875">
              <a:lnSpc>
                <a:spcPct val="115000"/>
              </a:lnSpc>
              <a:spcAft>
                <a:spcPts val="9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Broad: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all seven buckets, residual excluded - the envelope.</a:t>
            </a:r>
          </a:p>
          <a:p>
            <a:pPr algn="l" marL="142875" indent="-142875">
              <a:lnSpc>
                <a:spcPct val="115000"/>
              </a:lnSpc>
              <a:spcAft>
                <a:spcPts val="9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Electrical: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the electrical and power bucket alone.</a:t>
            </a:r>
          </a:p>
          <a:p>
            <a:pPr algn="l" marL="142875" indent="-142875">
              <a:lnSpc>
                <a:spcPct val="115000"/>
              </a:lnSpc>
              <a:spcAft>
                <a:spcPts val="9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Metal: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structural fabrication, machining, and castings and forgings.</a:t>
            </a:r>
          </a:p>
          <a:p>
            <a:pPr algn="l" marL="142875" indent="-142875">
              <a:lnSpc>
                <a:spcPct val="115000"/>
              </a:lnSpc>
              <a:spcAft>
                <a:spcPts val="9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Modular: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structural fabrication and pre-outfit, with coatings and insulation.</a:t>
            </a:r>
          </a:p>
          <a:p>
            <a:pPr algn="l" marL="142875" indent="-142875">
              <a:lnSpc>
                <a:spcPct val="115000"/>
              </a:lnSpc>
              <a:spcAft>
                <a:spcPts val="9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HM&amp;E: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piping, valves, pumps, HVAC, and machining (machining also sits in metal).</a:t>
            </a:r>
          </a:p>
        </p:txBody>
      </p:sp>
      <p:sp>
        <p:nvSpPr>
          <p:cNvPr id="40" name="Caveat"/>
          <p:cNvSpPr txBox="1"/>
          <p:nvPr/>
        </p:nvSpPr>
        <p:spPr>
          <a:xfrm>
            <a:off x="453079" y="5350000"/>
            <a:ext cx="11282362" cy="460000"/>
          </a:xfrm>
          <a:prstGeom prst="rect">
            <a:avLst/>
          </a:prstGeom>
          <a:solidFill>
            <a:srgbClr val="D9D9D9"/>
          </a:solidFill>
          <a:ln w="1905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Scenario SAM only. </a:t>
            </a:r>
            <a:r>
              <a:rPr lang="en-US" sz="10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 SOM, share capture, win probability, qualification success, or pricing haircut is modeled. Scenarios are overlapping cuts of one TAM; do not sum across them. Values are average annual FY2022-FY2027.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SAM.gov Entity Management API; (3) U.S. Department of the Navy SCN Justification Books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Visible suppliers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Visible suppliers | The named vendor base is broad but anchored by a few large suppliers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7220711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Top 10 FFATA-visible suppliers, cumulative subaward value FY2016-FY2026</a:t>
            </a:r>
          </a:p>
        </p:txBody>
      </p:sp>
      <p:graphicFrame>
        <p:nvGraphicFramePr>
          <p:cNvPr id="20" name="VisibleSuppliersChart"/>
          <p:cNvGraphicFramePr/>
          <p:nvPr/>
        </p:nvGraphicFramePr>
        <p:xfrm>
          <a:off x="453079" y="1591600"/>
          <a:ext cx="7220711" cy="386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0" name="EvidenceTable"/>
          <p:cNvGraphicFramePr>
            <a:graphicFrameLocks noGrp="1"/>
          </p:cNvGraphicFramePr>
          <p:nvPr/>
        </p:nvGraphicFramePr>
        <p:xfrm>
          <a:off x="7765230" y="1591600"/>
          <a:ext cx="3970211" cy="11200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867374"/>
                <a:gridCol w="1102837"/>
              </a:tblGrid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Visible-supplier 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Classified subaward recipients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Supplier-addressable visible 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~$5.46B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Broader FFATA-visible parents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~759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ReadNote"/>
          <p:cNvSpPr txBox="1"/>
          <p:nvPr/>
        </p:nvSpPr>
        <p:spPr>
          <a:xfrm>
            <a:off x="7765230" y="2831600"/>
            <a:ext cx="3970211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Read:</a:t>
            </a:r>
            <a:r>
              <a:rPr lang="en-US" sz="85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the ranked names are the top of a visible first-tier floor, not a complete supplier universe or target list.</a:t>
            </a:r>
          </a:p>
        </p:txBody>
      </p:sp>
      <p:sp>
        <p:nvSpPr>
          <p:cNvPr id="40" name="FloorNote"/>
          <p:cNvSpPr txBox="1"/>
          <p:nvPr/>
        </p:nvSpPr>
        <p:spPr>
          <a:xfrm>
            <a:off x="453079" y="55500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Parent-normalized where SAM.gov Entity data supports the relationship. Visible value is a floor: FFATA misses purchased material, lower-tier subcontracts, long-term agreements, and most HII Newport News team-build work.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SAM.gov Entity Management API; (3) FAR 52.204-10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SIB exclusion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SIB exclusion | Capacity-development pass-throughs are material but outside component TAM</a:t>
            </a:r>
          </a:p>
        </p:txBody>
      </p:sp>
      <p:graphicFrame>
        <p:nvGraphicFramePr>
          <p:cNvPr id="20" name="SIBLedger"/>
          <p:cNvGraphicFramePr>
            <a:graphicFrameLocks noGrp="1"/>
          </p:cNvGraphicFramePr>
          <p:nvPr/>
        </p:nvGraphicFramePr>
        <p:xfrm>
          <a:off x="453079" y="1671600"/>
          <a:ext cx="6995064" cy="156576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646780"/>
                <a:gridCol w="945278"/>
                <a:gridCol w="1039806"/>
                <a:gridCol w="2363200"/>
              </a:tblGrid>
              <a:tr h="30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Entity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Amount $M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Rationale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BlueForge Alliance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4,173.3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Capacity development (nonprofit integrator)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0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Training Modernization Group,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77.0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Workforce and training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0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Institute for Advanced Learning and Research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Industrial-base support, applied R&amp;D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0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 excluded SIB pass-throughs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4,251.8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Exclude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Outside component TAM and SAM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6464"/>
                    </a:solidFill>
                  </a:tcPr>
                </a:tc>
              </a:tr>
            </a:tbl>
          </a:graphicData>
        </a:graphic>
      </p:graphicFrame>
      <p:sp>
        <p:nvSpPr>
          <p:cNvPr id="30" name="Treatment"/>
          <p:cNvSpPr txBox="1"/>
          <p:nvPr/>
        </p:nvSpPr>
        <p:spPr>
          <a:xfrm>
            <a:off x="7539583" y="1671600"/>
            <a:ext cx="4195858" cy="1520000"/>
          </a:xfrm>
          <a:prstGeom prst="rect">
            <a:avLst/>
          </a:prstGeom>
          <a:solidFill>
            <a:srgbClr val="D9D9D9"/>
          </a:solidFill>
          <a:ln w="1905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EXCLUDE FROM COMPONENT TAM AND SAM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1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SIB dollars fund supplier development, workforce, capacity expansion, qualification, and infrastructure rather than current components delivered into a hull. Material to the industrial-base story, not additive component TAM.</a:t>
            </a:r>
          </a:p>
        </p:txBody>
      </p:sp>
      <p:sp>
        <p:nvSpPr>
          <p:cNvPr id="40" name="Total"/>
          <p:cNvSpPr txBox="1"/>
          <p:nvPr/>
        </p:nvSpPr>
        <p:spPr>
          <a:xfrm>
            <a:off x="453079" y="3417360"/>
            <a:ext cx="6995064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1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Total excluded SIB pass-throughs:</a:t>
            </a:r>
            <a:r>
              <a:rPr lang="en-US" sz="11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~$4,252M</a:t>
            </a:r>
          </a:p>
        </p:txBody>
      </p:sp>
      <p:sp>
        <p:nvSpPr>
          <p:cNvPr id="50" name="Terminology"/>
          <p:cNvSpPr txBox="1"/>
          <p:nvPr/>
        </p:nvSpPr>
        <p:spPr>
          <a:xfrm>
            <a:off x="453079" y="5560000"/>
            <a:ext cx="11282362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Deck standardizes on SIB (Submarine Industrial Base); earlier source files may use MIB (Maritime Industrial Base).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GAO-25-106286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Data limits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Data limits | FFATA captures a visible floor, not the full supplier layer</a:t>
            </a:r>
          </a:p>
        </p:txBody>
      </p:sp>
      <p:sp>
        <p:nvSpPr>
          <p:cNvPr id="20" name="LedgerPanel"/>
          <p:cNvSpPr txBox="1"/>
          <p:nvPr/>
        </p:nvSpPr>
        <p:spPr>
          <a:xfrm>
            <a:off x="453079" y="1371600"/>
            <a:ext cx="5595461" cy="27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VISIBLE AND MEASURED LAYER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FFATA-visible first-tier subawards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Named vendors and parent entities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SAM.gov Entity NAICS enrichment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DoD Contracts POP evidence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SCN P-5c and P-10 budget exhibits</a:t>
            </a:r>
          </a:p>
        </p:txBody>
      </p:sp>
      <p:sp>
        <p:nvSpPr>
          <p:cNvPr id="21" name="LedgerPanel"/>
          <p:cNvSpPr txBox="1"/>
          <p:nvPr/>
        </p:nvSpPr>
        <p:spPr>
          <a:xfrm>
            <a:off x="6139980" y="1371600"/>
            <a:ext cx="5595461" cy="27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UNSEEN OR UNDER-OBSERVED LAYER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Purchased material booked as direct material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Lower-tier subcontracts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HII Newport News visibility gap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Standing supplier agreements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Reporting lag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Unparsed single-site POP rows</a:t>
            </a:r>
          </a:p>
        </p:txBody>
      </p:sp>
      <p:sp>
        <p:nvSpPr>
          <p:cNvPr id="30" name="Interpretation"/>
          <p:cNvSpPr txBox="1"/>
          <p:nvPr/>
        </p:nvSpPr>
        <p:spPr>
          <a:xfrm>
            <a:off x="453079" y="4251600"/>
            <a:ext cx="11282362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Visible data</a:t>
            </a:r>
            <a:r>
              <a:rPr lang="en-US" sz="10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is strong enough to classify and triangulate, not complete enough to equal the whole supplier layer.</a:t>
            </a:r>
          </a:p>
        </p:txBody>
      </p:sp>
      <p:sp>
        <p:nvSpPr>
          <p:cNvPr id="40" name="GuardrailChip"/>
          <p:cNvSpPr txBox="1"/>
          <p:nvPr/>
        </p:nvSpPr>
        <p:spPr>
          <a:xfrm>
            <a:off x="453079" y="5280000"/>
            <a:ext cx="2752010" cy="50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BFBFBF"/>
            </a:solidFill>
          </a:ln>
        </p:spPr>
        <p:txBody>
          <a:bodyPr wrap="square" anchor="ctr" lIns="60000" tIns="35000" rIns="60000" bIns="3500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MODEL GUARDRAIL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 SOM or capture modeled</a:t>
            </a:r>
          </a:p>
        </p:txBody>
      </p:sp>
      <p:sp>
        <p:nvSpPr>
          <p:cNvPr id="41" name="GuardrailChip"/>
          <p:cNvSpPr txBox="1"/>
          <p:nvPr/>
        </p:nvSpPr>
        <p:spPr>
          <a:xfrm>
            <a:off x="3296529" y="5280000"/>
            <a:ext cx="2752010" cy="50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BFBFBF"/>
            </a:solidFill>
          </a:ln>
        </p:spPr>
        <p:txBody>
          <a:bodyPr wrap="square" anchor="ctr" lIns="60000" tIns="35000" rIns="60000" bIns="3500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DOUBLE-COUNT CHECK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 and LLTM additive base = $0</a:t>
            </a:r>
          </a:p>
        </p:txBody>
      </p:sp>
      <p:sp>
        <p:nvSpPr>
          <p:cNvPr id="42" name="GuardrailChip"/>
          <p:cNvSpPr txBox="1"/>
          <p:nvPr/>
        </p:nvSpPr>
        <p:spPr>
          <a:xfrm>
            <a:off x="6139979" y="5280000"/>
            <a:ext cx="2752010" cy="50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BFBFBF"/>
            </a:solidFill>
          </a:ln>
        </p:spPr>
        <p:txBody>
          <a:bodyPr wrap="square" anchor="ctr" lIns="60000" tIns="35000" rIns="60000" bIns="3500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DOLLAR BASIS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Nominal then-year dollars</a:t>
            </a:r>
          </a:p>
        </p:txBody>
      </p:sp>
      <p:sp>
        <p:nvSpPr>
          <p:cNvPr id="43" name="GuardrailChip"/>
          <p:cNvSpPr txBox="1"/>
          <p:nvPr/>
        </p:nvSpPr>
        <p:spPr>
          <a:xfrm>
            <a:off x="8983429" y="5280000"/>
            <a:ext cx="2752010" cy="5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60000" tIns="35000" rIns="60000" bIns="3500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 VISIBILITY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FFATA-visible = named floor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FAR 52.204-10; (2) SAM.gov FFATA and FSRS records; (3) General Dynamics and HII Form 10-K filings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Interpretation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Implications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Implications | Priority areas are electrical and power, structural fabrication, and piping</a:t>
            </a:r>
          </a:p>
        </p:txBody>
      </p:sp>
      <p:graphicFrame>
        <p:nvGraphicFramePr>
          <p:cNvPr id="20" name="PriorityScorecard"/>
          <p:cNvGraphicFramePr>
            <a:graphicFrameLocks noGrp="1"/>
          </p:cNvGraphicFramePr>
          <p:nvPr/>
        </p:nvGraphicFramePr>
        <p:xfrm>
          <a:off x="453079" y="1371600"/>
          <a:ext cx="11282362" cy="25200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4716919"/>
                <a:gridCol w="1274843"/>
                <a:gridCol w="1593553"/>
                <a:gridCol w="1721038"/>
                <a:gridCol w="1274843"/>
                <a:gridCol w="701166"/>
              </a:tblGrid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Bucket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Avg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Addressability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Qual. burden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 and power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$1,257M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Structural fab and pre-outfit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$625M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Med-high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Piping, valves, and pumps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$520M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Med-high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Castings and forgings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$143M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Very 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$98M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 and insulation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$101M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HVAC and ventilation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$62M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ClosingNote"/>
          <p:cNvSpPr txBox="1"/>
          <p:nvPr/>
        </p:nvSpPr>
        <p:spPr>
          <a:xfrm>
            <a:off x="453079" y="55500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Read:</a:t>
            </a:r>
            <a:r>
              <a:rPr lang="en-US" sz="85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the scorecard is a diligence priority view, not SOM. Test supplier availability, qualification paths, capacity, concentration, and make-or-buy posture by bucket.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 and Entity Management API; (2) U.S. GAO, GAO-25-106286; (3) HII and General Dynamics earnings calls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Definitions and scope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Definitions and scope | Key terms define the model boundary and prevent double counting</a:t>
            </a:r>
          </a:p>
        </p:txBody>
      </p:sp>
      <p:sp>
        <p:nvSpPr>
          <p:cNvPr id="10" name="Setup"/>
          <p:cNvSpPr txBox="1"/>
          <p:nvPr/>
        </p:nvSpPr>
        <p:spPr>
          <a:xfrm>
            <a:off x="453079" y="13716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Scope anchor:</a:t>
            </a:r>
            <a:r>
              <a:rPr lang="en-US" sz="10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these definitions mirror the model's Methodology boundary; they are an interpretation aid, not a new boundary.</a:t>
            </a:r>
          </a:p>
        </p:txBody>
      </p:sp>
      <p:graphicFrame>
        <p:nvGraphicFramePr>
          <p:cNvPr id="20" name="GlossaryMatrix"/>
          <p:cNvGraphicFramePr>
            <a:graphicFrameLocks noGrp="1"/>
          </p:cNvGraphicFramePr>
          <p:nvPr/>
        </p:nvGraphicFramePr>
        <p:xfrm>
          <a:off x="453079" y="1711600"/>
          <a:ext cx="11282362" cy="25603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713776"/>
                <a:gridCol w="3713182"/>
                <a:gridCol w="1999405"/>
                <a:gridCol w="3855999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 role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Treatment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Guardrail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Non-GFE, non-SIB new-construction supplier opportunity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 model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Inside P-5c Basic Construction; opportunity ceiling, not forecast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Portion of TAM in targeted work-type buckets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 model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Scenario menu, not capture share or SOM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Basic Construction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P-5c construction-contract denominator (GFE-free)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 model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 total ship cost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GFE and GFP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Government-furnished equipment and property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Do not add to component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Submarine industrial base capacity grants and workforce funding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Context only; not current component delivery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and LLTM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Advance procurement and long-lead-time material reference stream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Additive base = $0; already inside Basic Construction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FFATA and FSRS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First-tier subaward visibility under FAR 52.204-10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Named-vendor floor, not the full supplier layer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Place-of-performance 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Drives the supplier coefficient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Guardrail"/>
          <p:cNvSpPr txBox="1"/>
          <p:nvPr/>
        </p:nvSpPr>
        <p:spPr>
          <a:xfrm>
            <a:off x="453079" y="5340000"/>
            <a:ext cx="11282362" cy="460000"/>
          </a:xfrm>
          <a:prstGeom prst="rect">
            <a:avLst/>
          </a:prstGeom>
          <a:solidFill>
            <a:srgbClr val="D9D9D9"/>
          </a:solidFill>
          <a:ln w="1905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 SOM IS MODELED. </a:t>
            </a:r>
            <a:r>
              <a:rPr lang="en-US" sz="11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is a scenario menu, not capture share or revenue forecast. AP and LLTM additive base = $0.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SCN Justification Books; (2) FAR 52.204-10; (3) FAR Part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AP and LLTM detail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 and LLTM detail | Gross P-10 reference flow reconciles to a $0 additive base</a:t>
            </a:r>
          </a:p>
        </p:txBody>
      </p:sp>
      <p:sp>
        <p:nvSpPr>
          <p:cNvPr id="10" name="Formula"/>
          <p:cNvSpPr txBox="1"/>
          <p:nvPr/>
        </p:nvSpPr>
        <p:spPr>
          <a:xfrm>
            <a:off x="453079" y="1371600"/>
            <a:ext cx="7897653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1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$44.709B gross P-10 AP, less exclusions and overlap, equals $0.000B additive base.</a:t>
            </a:r>
          </a:p>
        </p:txBody>
      </p:sp>
      <p:graphicFrame>
        <p:nvGraphicFramePr>
          <p:cNvPr id="20" name="APReconciliation"/>
          <p:cNvGraphicFramePr>
            <a:graphicFrameLocks noGrp="1"/>
          </p:cNvGraphicFramePr>
          <p:nvPr/>
        </p:nvGraphicFramePr>
        <p:xfrm>
          <a:off x="453079" y="1721600"/>
          <a:ext cx="7897653" cy="19715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909661"/>
                <a:gridCol w="1039164"/>
                <a:gridCol w="1454830"/>
                <a:gridCol w="2493998"/>
              </a:tblGrid>
              <a:tr h="31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Value $B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 reason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Gross P-10 AP top-line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44.709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Authoritative AP total, Va and Col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Less GFE, design, and weapons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(27.273)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Nuclear, electronics, ordnance, missile, plans - outside boundary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Less already inside Basic Construction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(16.847)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 overlap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Shipbuilder-procured, CFE, EOQ, HM&amp;E, propulsor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1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Less un-itemized overlap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(0.589)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Reconcile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Early-Virginia top-line over named detail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1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Additive AP and LLTM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0.000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 not add to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746"/>
                    </a:solidFill>
                  </a:tcPr>
                </a:tc>
              </a:tr>
            </a:tbl>
          </a:graphicData>
        </a:graphic>
      </p:graphicFrame>
      <p:sp>
        <p:nvSpPr>
          <p:cNvPr id="30" name="Warning"/>
          <p:cNvSpPr txBox="1"/>
          <p:nvPr/>
        </p:nvSpPr>
        <p:spPr>
          <a:xfrm>
            <a:off x="8442172" y="1371600"/>
            <a:ext cx="3293269" cy="1150000"/>
          </a:xfrm>
          <a:prstGeom prst="rect">
            <a:avLst/>
          </a:prstGeom>
          <a:solidFill>
            <a:srgbClr val="D9D9D9"/>
          </a:solidFill>
          <a:ln w="1905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DO NOT ADD P-10 AP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1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Adding P-10 AP to P-5c Basic Construction would double count unless the model boundary is rebuilt.</a:t>
            </a:r>
          </a:p>
        </p:txBody>
      </p:sp>
      <p:sp>
        <p:nvSpPr>
          <p:cNvPr id="31" name="Interpretation"/>
          <p:cNvSpPr txBox="1"/>
          <p:nvPr/>
        </p:nvSpPr>
        <p:spPr>
          <a:xfrm>
            <a:off x="8442172" y="2701600"/>
            <a:ext cx="3293269" cy="11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Evidence: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AP and LLTM show a large, supplier-heavy purchasing cadence years ahead of construction.</a:t>
            </a:r>
          </a:p>
          <a:p>
            <a:pPr algn="l"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Boundary: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under this model AP and LLTM are reference evidence, not additive TAM.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FY2022-FY2027 SCN Justification Books, Exhibit P-10; (2) U.S. DoD daily Contracts announcements; (3) CRS RL32418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Coefficient sensitivity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Coefficient sensitivity | The strict 35.0% supplier coefficient feeds TAM; broader POP views are sensitivity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6543769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 coefficient and place-of-performance views, percent of relevant corpus</a:t>
            </a:r>
          </a:p>
        </p:txBody>
      </p:sp>
      <p:graphicFrame>
        <p:nvGraphicFramePr>
          <p:cNvPr id="20" name="SensitivityChart"/>
          <p:cNvGraphicFramePr/>
          <p:nvPr/>
        </p:nvGraphicFramePr>
        <p:xfrm>
          <a:off x="453079" y="1596600"/>
          <a:ext cx="6543769" cy="373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0" name="CorpusControls"/>
          <p:cNvGraphicFramePr>
            <a:graphicFrameLocks noGrp="1"/>
          </p:cNvGraphicFramePr>
          <p:nvPr/>
        </p:nvGraphicFramePr>
        <p:xfrm>
          <a:off x="7448143" y="1371600"/>
          <a:ext cx="4287298" cy="19600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3062355"/>
                <a:gridCol w="1224943"/>
              </a:tblGrid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Corpus control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POP rows screened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658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Gated TAM-relevant actions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Gated POP corpus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$25.4B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In-scope non-GFE corpus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$19.3B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Confirmation coverage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Unparsed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10.1%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Guardrail"/>
          <p:cNvSpPr txBox="1"/>
          <p:nvPr/>
        </p:nvSpPr>
        <p:spPr>
          <a:xfrm>
            <a:off x="453079" y="5410000"/>
            <a:ext cx="11282362" cy="40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BFBFBF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Only the strict 35.0% </a:t>
            </a:r>
            <a:r>
              <a:rPr lang="en-US" sz="10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non-nuclear Basic Construction supplier coefficient feeds headline TAM; the broader place-of-performance views are sensitivity and evidence.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DoD daily Contracts announcements; (2) GAO-25-106286; (3) FAR 52.204-10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bucket crosswalk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bucket crosswalk | NAICS and vendor evidence map the seven buckets into broad SAM and four overlapping scenario cuts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11282362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Work-type bucket to SAM scenario crosswalk</a:t>
            </a:r>
          </a:p>
        </p:txBody>
      </p:sp>
      <p:graphicFrame>
        <p:nvGraphicFramePr>
          <p:cNvPr id="20" name="Crosswalk"/>
          <p:cNvGraphicFramePr>
            <a:graphicFrameLocks noGrp="1"/>
          </p:cNvGraphicFramePr>
          <p:nvPr/>
        </p:nvGraphicFramePr>
        <p:xfrm>
          <a:off x="453079" y="1596600"/>
          <a:ext cx="11282362" cy="246888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780487"/>
                <a:gridCol w="3849905"/>
                <a:gridCol w="909005"/>
                <a:gridCol w="909005"/>
                <a:gridCol w="1015947"/>
                <a:gridCol w="909005"/>
                <a:gridCol w="909008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 cues (NAICS-4; example vendor)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Modular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HM&amp;E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Structural fab / pre-outfit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3323, 3324, 3366, 3369; e.g. DC Fabricators, Rhoads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3327, 3336; e.g. Advance Mfg., B. &amp; F. Machine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Castings and forgings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3321, 3315, 3312; e.g. Scot Forge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Piping / valves / pumps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3329, 3339, 4235; e.g. Curtiss-Wright, CIRCOR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 / power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3353, 3344, 3359, 3364; e.g. Northrop Grumman, Leonardo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HVAC / ventilation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3334; e.g. Johnson Controls Navy Systems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 / insulation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3252, 3259, 3262; e.g. Globe Composite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Residual (Unbucketed / ambiguous)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 clean NAICS bucket; e.g. ESCO, L3Harris, BWX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sp>
        <p:nvSpPr>
          <p:cNvPr id="30" name="NoSum"/>
          <p:cNvSpPr txBox="1"/>
          <p:nvPr/>
        </p:nvSpPr>
        <p:spPr>
          <a:xfrm>
            <a:off x="453079" y="5570000"/>
            <a:ext cx="11282362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Scenario cuts overlap; do not sum scenarios (machining is in both Metal and HM&amp;E). Broad SAM excludes the unbucketed / ambiguous residual. No SOM is modeled.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SAM.gov Entity Management API; (3) U.S. Department of the Navy SCN Justification Books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Top visible suppliers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Top visible suppliers | The extended FFATA-visible list is a named-vendor floor, not the full supplier layer</a:t>
            </a:r>
          </a:p>
        </p:txBody>
      </p:sp>
      <p:sp>
        <p:nvSpPr>
          <p:cNvPr id="10" name="EvidenceChip"/>
          <p:cNvSpPr txBox="1"/>
          <p:nvPr/>
        </p:nvSpPr>
        <p:spPr>
          <a:xfrm>
            <a:off x="453079" y="1371600"/>
            <a:ext cx="2933414" cy="3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40000" tIns="70000" rIns="14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150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classified subaward recipients</a:t>
            </a:r>
          </a:p>
        </p:txBody>
      </p:sp>
      <p:sp>
        <p:nvSpPr>
          <p:cNvPr id="11" name="EvidenceChip"/>
          <p:cNvSpPr txBox="1"/>
          <p:nvPr/>
        </p:nvSpPr>
        <p:spPr>
          <a:xfrm>
            <a:off x="3477933" y="1371600"/>
            <a:ext cx="3836003" cy="3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40000" tIns="70000" rIns="14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~$5.46B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supplier-addressable visible value</a:t>
            </a:r>
          </a:p>
        </p:txBody>
      </p:sp>
      <p:sp>
        <p:nvSpPr>
          <p:cNvPr id="12" name="ReadNote"/>
          <p:cNvSpPr txBox="1"/>
          <p:nvPr/>
        </p:nvSpPr>
        <p:spPr>
          <a:xfrm>
            <a:off x="7405376" y="1371600"/>
            <a:ext cx="4330065" cy="3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Read:</a:t>
            </a:r>
            <a:r>
              <a:rPr lang="en-US" sz="85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this is a named-vendor evidence ledger; values are visible cumulative filings, not annual market size.</a:t>
            </a:r>
          </a:p>
        </p:txBody>
      </p:sp>
      <p:graphicFrame>
        <p:nvGraphicFramePr>
          <p:cNvPr id="20" name="Top25Ledger"/>
          <p:cNvGraphicFramePr>
            <a:graphicFrameLocks noGrp="1"/>
          </p:cNvGraphicFramePr>
          <p:nvPr/>
        </p:nvGraphicFramePr>
        <p:xfrm>
          <a:off x="453079" y="1801600"/>
          <a:ext cx="11282362" cy="384048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639721"/>
                <a:gridCol w="4129111"/>
                <a:gridCol w="872347"/>
                <a:gridCol w="639721"/>
                <a:gridCol w="4129111"/>
                <a:gridCol w="872351"/>
              </a:tblGrid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Rank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(parent legal entity)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Rank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(parent legal entity)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Northrop Grumman Corporation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1,426.6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 International SC,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74.1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Leonardo SpA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490.6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Oil States International,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71.5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Curtiss-Wright Electro-Mechanical Corp.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198.0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Precision Custom Components,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68.8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Scot Forge Company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197.5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Goodrich Corp. (RTX Collins Aerospace)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64.9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ESCO Technologies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188.5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Johnson Controls Navy Systems,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58.7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DC Fabricators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162.9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Globe Composite Solutions,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57.3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Rhoads Metal Fabrications,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141.9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CIRCOR International,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53.0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Curtiss-Wright Corporation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110.8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L3Harris Technologies,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52.3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The Graham Corporation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89.1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BWX Technologies,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51.8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Austal USA,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87.6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Advance Mfg. Co.,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51.2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Rosyth Royal Dockyard Ltd. (Babcock)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84.0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Pegasus Steel,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48.9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 International,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82.6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Portland Valve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48.1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Curtiss-Wright Flow Control Corp.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74.7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FloorCaveat"/>
          <p:cNvSpPr txBox="1"/>
          <p:nvPr/>
        </p:nvSpPr>
        <p:spPr>
          <a:xfrm>
            <a:off x="453079" y="5660000"/>
            <a:ext cx="11282362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Visible does not mean complete: FFATA names first-tier filings above the $30,000 per-action threshold and should be treated as a floor, not the full supplier layer. Across the fifteen in-scope new-construction PIIDs there are ~759 FFATA-visible parents; the 25 shown are the largest.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SAM.gov Entity Management API; (3) FAR 52.204-10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deck_submarines_draft</Application>
  <PresentationFormat>Widescreen</PresentationFormat>
  <Slides>22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Distributed Shipbuilding Submarines - Outsourced Construction TAM &amp; SAM (DRAFT)</dc:title>
  <dc:creator>deck_submarines_draft build_drafts.py</dc:creator>
  <cp:lastModifiedBy>deck_submarines_draft build_drafts.py</cp:lastModifiedBy>
  <cp:revision>1</cp:revision>
  <dcterms:created xsi:type="dcterms:W3CDTF">2026-06-15T14:11:06Z</dcterms:created>
  <dcterms:modified xsi:type="dcterms:W3CDTF">2026-06-15T14:11:06Z</dcterms:modified>
</cp:coreProperties>
</file>