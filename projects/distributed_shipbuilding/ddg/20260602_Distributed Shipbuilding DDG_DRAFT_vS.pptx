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embeddings/Microsoft_Excel_Worksheet5.xlsx" ContentType="application/vnd.openxmlformats-officedocument.spreadsheetml.sheet"/>
  <Override PartName="/ppt/embeddings/Microsoft_Excel_Worksheet6.xlsx" ContentType="application/vnd.openxmlformats-officedocument.spreadsheetml.sheet"/>
  <Override PartName="/ppt/embeddings/Microsoft_Excel_Worksheet7.xlsx" ContentType="application/vnd.openxmlformats-officedocument.spreadsheetml.sheet"/>
  <Override PartName="/ppt/embeddings/Microsoft_Excel_Worksheet8.xlsx" ContentType="application/vnd.openxmlformats-officedocument.spreadsheetml.sheet"/>
  <Override PartName="/ppt/embeddings/Microsoft_Excel_Worksheet9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cost category value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BFBFBF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F2F2F2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Basic Construction (60.5%)</c:v>
                </c:pt>
                <c:pt idx="1">
                  <c:v>Electronics and Ordnance GFE (32.9%)</c:v>
                </c:pt>
                <c:pt idx="2">
                  <c:v>Other smaller categories (6.6%)</c:v>
                </c:pt>
              </c:strCache>
            </c:strRef>
          </c:cat>
          <c:val>
            <c:numRef>
              <c:f>Sheet1!$B$2:$B$4</c:f>
              <c:numCache>
                <c:formatCode>"$"#,##0"M"</c:formatCode>
                <c:ptCount val="3"/>
                <c:pt idx="0">
                  <c:v>3322</c:v>
                </c:pt>
                <c:pt idx="1">
                  <c:v>1807</c:v>
                </c:pt>
                <c:pt idx="2">
                  <c:v>363</c:v>
                </c:pt>
              </c:numCache>
            </c:numRef>
          </c:val>
        </c:ser>
        <c:gapWidth val="4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BIW site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Corrected POP distribution</c:v>
                </c:pt>
              </c:strCache>
            </c:strRef>
          </c:cat>
          <c:val>
            <c:numRef>
              <c:f>Sheet1!$B$2:$B$2</c:f>
              <c:numCache>
                <c:formatCode>0.0%</c:formatCode>
                <c:ptCount val="1"/>
                <c:pt idx="0">
                  <c:v>0.29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Ingalls site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Corrected POP distribution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0.336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Other-US supplier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Corrected POP distribution</c:v>
                </c:pt>
              </c:strCache>
            </c:strRef>
          </c:cat>
          <c:val>
            <c:numRef>
              <c:f>Sheet1!$D$2:$D$2</c:f>
              <c:numCache>
                <c:formatCode>0.0%</c:formatCode>
                <c:ptCount val="1"/>
                <c:pt idx="0">
                  <c:v>0.315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Foreign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FBFB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Corrected POP distribution</c:v>
                </c:pt>
              </c:strCache>
            </c:strRef>
          </c:cat>
          <c:val>
            <c:numRef>
              <c:f>Sheet1!$E$2:$E$2</c:f>
              <c:numCache>
                <c:formatCode>0.0%</c:formatCode>
                <c:ptCount val="1"/>
                <c:pt idx="0">
                  <c:v>0.013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Unparsed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2F2F2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Corrected POP distribution</c:v>
                </c:pt>
              </c:strCache>
            </c:strRef>
          </c:cat>
          <c:val>
            <c:numRef>
              <c:f>Sheet1!$F$2:$F$2</c:f>
              <c:numCache>
                <c:formatCode>0.0%</c:formatCode>
                <c:ptCount val="1"/>
                <c:pt idx="0">
                  <c:v>0.045</c:v>
                </c:pt>
              </c:numCache>
            </c:numRef>
          </c:val>
        </c:ser>
        <c:gapWidth val="35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Outside-yards share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BFBFB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MYP-corrected</c:v>
                </c:pt>
                <c:pt idx="1">
                  <c:v>Disclosed-only artifact, do not headline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0.328</c:v>
                </c:pt>
                <c:pt idx="1">
                  <c:v>0.87</c:v>
                </c:pt>
              </c:numCache>
            </c:numRef>
          </c:val>
        </c:ser>
        <c:gapWidth val="5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construction base</c:v>
                </c:pt>
                <c:pt idx="1">
                  <c:v>Less prime, co-prime, GFE POP</c:v>
                </c:pt>
                <c:pt idx="2">
                  <c:v>BC-stream supplier TAM</c:v>
                </c:pt>
                <c:pt idx="3">
                  <c:v>Add AP and LLTM stream</c:v>
                </c:pt>
                <c:pt idx="4">
                  <c:v>Portfolio supplier TAM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1">
                  <c:v>365.3000000000002</c:v>
                </c:pt>
                <c:pt idx="3">
                  <c:v>365.3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597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construction base</c:v>
                </c:pt>
                <c:pt idx="1">
                  <c:v>Less prime, co-prime, GFE POP</c:v>
                </c:pt>
                <c:pt idx="2">
                  <c:v>BC-stream supplier TAM</c:v>
                </c:pt>
                <c:pt idx="3">
                  <c:v>Add AP and LLTM stream</c:v>
                </c:pt>
                <c:pt idx="4">
                  <c:v>Portfolio supplier TAM</c:v>
                </c:pt>
              </c:strCache>
            </c:strRef>
          </c:cat>
          <c:val>
            <c:numRef>
              <c:f>Sheet1!$C$2:$C$6</c:f>
              <c:numCache>
                <c:formatCode>"$"#,##0"M"</c:formatCode>
                <c:ptCount val="5"/>
                <c:pt idx="3">
                  <c:v>207.8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BFBFBF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construction base</c:v>
                </c:pt>
                <c:pt idx="1">
                  <c:v>Less prime, co-prime, GFE POP</c:v>
                </c:pt>
                <c:pt idx="2">
                  <c:v>BC-stream supplier TAM</c:v>
                </c:pt>
                <c:pt idx="3">
                  <c:v>Add AP and LLTM stream</c:v>
                </c:pt>
                <c:pt idx="4">
                  <c:v>Portfolio supplier TAM</c:v>
                </c:pt>
              </c:strCache>
            </c:strRef>
          </c:cat>
          <c:val>
            <c:numRef>
              <c:f>Sheet1!$D$2:$D$6</c:f>
              <c:numCache>
                <c:formatCode>"$"#,##0"M"</c:formatCode>
                <c:ptCount val="5"/>
                <c:pt idx="1">
                  <c:v>2546.5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63746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construction base</c:v>
                </c:pt>
                <c:pt idx="1">
                  <c:v>Less prime, co-prime, GFE POP</c:v>
                </c:pt>
                <c:pt idx="2">
                  <c:v>BC-stream supplier TAM</c:v>
                </c:pt>
                <c:pt idx="3">
                  <c:v>Add AP and LLTM stream</c:v>
                </c:pt>
                <c:pt idx="4">
                  <c:v>Portfolio supplier TAM</c:v>
                </c:pt>
              </c:strCache>
            </c:strRef>
          </c:cat>
          <c:val>
            <c:numRef>
              <c:f>Sheet1!$E$2:$E$6</c:f>
              <c:numCache>
                <c:formatCode>"$"#,##0"M"</c:formatCode>
                <c:ptCount val="5"/>
                <c:pt idx="0">
                  <c:v>2911.8</c:v>
                </c:pt>
                <c:pt idx="2">
                  <c:v>365.3</c:v>
                </c:pt>
                <c:pt idx="4">
                  <c:v>573.1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BC stream</c:v>
                </c:pt>
              </c:strCache>
            </c:strRef>
          </c:tx>
          <c:spPr>
            <a:solidFill>
              <a:srgbClr val="6E91B1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Sheet1!$B$2:$B$7</c:f>
              <c:numCache>
                <c:formatCode>"$"#,##0"M"</c:formatCode>
                <c:ptCount val="6"/>
                <c:pt idx="0">
                  <c:v>245.9</c:v>
                </c:pt>
                <c:pt idx="1">
                  <c:v>571.9</c:v>
                </c:pt>
                <c:pt idx="2">
                  <c:v>416.9</c:v>
                </c:pt>
                <c:pt idx="3">
                  <c:v>580.7</c:v>
                </c:pt>
                <c:pt idx="4">
                  <c:v>35.5</c:v>
                </c:pt>
                <c:pt idx="5">
                  <c:v>341.2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 and LLTM stream</c:v>
                </c:pt>
              </c:strCache>
            </c:strRef>
          </c:tx>
          <c:spPr>
            <a:solidFill>
              <a:srgbClr val="263746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Sheet1!$C$2:$C$7</c:f>
              <c:numCache>
                <c:formatCode>"$"#,##0"M"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56.6</c:v>
                </c:pt>
                <c:pt idx="4">
                  <c:v>1190.0</c:v>
                </c:pt>
                <c:pt idx="5">
                  <c:v>0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TAM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FBFBF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Unbucketed / ambiguous (42.9%)</c:v>
                </c:pt>
                <c:pt idx="1">
                  <c:v>Electrical and power (23.0%)</c:v>
                </c:pt>
                <c:pt idx="2">
                  <c:v>Structural fabrication and pre-outfit (17.7%)</c:v>
                </c:pt>
                <c:pt idx="3">
                  <c:v>Machining (11.4%)</c:v>
                </c:pt>
                <c:pt idx="4">
                  <c:v>Piping, valves, and pumps (2.3%)</c:v>
                </c:pt>
                <c:pt idx="5">
                  <c:v>HVAC and ventilation (1.7%)</c:v>
                </c:pt>
                <c:pt idx="6">
                  <c:v>Coatings and insulation (0.5%)</c:v>
                </c:pt>
                <c:pt idx="7">
                  <c:v>Castings and forgings (0.5%)</c:v>
                </c:pt>
              </c:strCache>
            </c:strRef>
          </c:cat>
          <c:val>
            <c:numRef>
              <c:f>Sheet1!$B$2:$B$9</c:f>
              <c:numCache>
                <c:formatCode>"$"#,##0"M"</c:formatCode>
                <c:ptCount val="8"/>
                <c:pt idx="0">
                  <c:v>245.8</c:v>
                </c:pt>
                <c:pt idx="1">
                  <c:v>131.8</c:v>
                </c:pt>
                <c:pt idx="2">
                  <c:v>101.4</c:v>
                </c:pt>
                <c:pt idx="3">
                  <c:v>65.6</c:v>
                </c:pt>
                <c:pt idx="4">
                  <c:v>13.0</c:v>
                </c:pt>
                <c:pt idx="5">
                  <c:v>9.9</c:v>
                </c:pt>
                <c:pt idx="6">
                  <c:v>2.8</c:v>
                </c:pt>
                <c:pt idx="7">
                  <c:v>2.7</c:v>
                </c:pt>
              </c:numCache>
            </c:numRef>
          </c:val>
        </c:ser>
        <c:gapWidth val="5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Broad component manufacturing (57.1%)</c:v>
                </c:pt>
                <c:pt idx="1">
                  <c:v>Metal components (29.6%)</c:v>
                </c:pt>
                <c:pt idx="2">
                  <c:v>Electrical and power (23.0%)</c:v>
                </c:pt>
                <c:pt idx="3">
                  <c:v>Modular assemblies (18.2%)</c:v>
                </c:pt>
                <c:pt idx="4">
                  <c:v>HM&amp;E components (15.4%)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0">
                  <c:v>327.3</c:v>
                </c:pt>
                <c:pt idx="1">
                  <c:v>169.7</c:v>
                </c:pt>
                <c:pt idx="2">
                  <c:v>131.8</c:v>
                </c:pt>
                <c:pt idx="3">
                  <c:v>104.3</c:v>
                </c:pt>
                <c:pt idx="4">
                  <c:v>88.5</c:v>
                </c:pt>
              </c:numCache>
            </c:numRef>
          </c:val>
        </c:ser>
        <c:gapWidth val="4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Lifetime visible flow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8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9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Sheet1!$A$2:$A$11</c:f>
              <c:strCache>
                <c:ptCount val="10"/>
                <c:pt idx="0">
                  <c:v>Leonardo SpA</c:v>
                </c:pt>
                <c:pt idx="1">
                  <c:v>Arctic Slope Regional Corp</c:v>
                </c:pt>
                <c:pt idx="2">
                  <c:v>Major Tool and Machine</c:v>
                </c:pt>
                <c:pt idx="3">
                  <c:v>General Dynamics Corp</c:v>
                </c:pt>
                <c:pt idx="4">
                  <c:v>General Electric Co</c:v>
                </c:pt>
                <c:pt idx="5">
                  <c:v>Rolls-Royce Holdings plc</c:v>
                </c:pt>
                <c:pt idx="6">
                  <c:v>Northrop Grumman Corp</c:v>
                </c:pt>
                <c:pt idx="7">
                  <c:v>Johnson Controls Navy Systems</c:v>
                </c:pt>
                <c:pt idx="8">
                  <c:v>Advanced Sciences and Technologies</c:v>
                </c:pt>
                <c:pt idx="9">
                  <c:v>CAES Systems LLC</c:v>
                </c:pt>
              </c:strCache>
            </c:strRef>
          </c:cat>
          <c:val>
            <c:numRef>
              <c:f>Sheet1!$B$2:$B$11</c:f>
              <c:numCache>
                <c:formatCode>"$"#,##0"M"</c:formatCode>
                <c:ptCount val="10"/>
                <c:pt idx="0">
                  <c:v>1810.3</c:v>
                </c:pt>
                <c:pt idx="1">
                  <c:v>987.4</c:v>
                </c:pt>
                <c:pt idx="2">
                  <c:v>816.1</c:v>
                </c:pt>
                <c:pt idx="3">
                  <c:v>372.0</c:v>
                </c:pt>
                <c:pt idx="4">
                  <c:v>335.6</c:v>
                </c:pt>
                <c:pt idx="5">
                  <c:v>257.2</c:v>
                </c:pt>
                <c:pt idx="6">
                  <c:v>249.3</c:v>
                </c:pt>
                <c:pt idx="7">
                  <c:v>178.2</c:v>
                </c:pt>
                <c:pt idx="8">
                  <c:v>174.0</c:v>
                </c:pt>
                <c:pt idx="9">
                  <c:v>169.2</c:v>
                </c:pt>
              </c:numCache>
            </c:numRef>
          </c:val>
        </c:ser>
        <c:gapWidth val="4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FY2016-FY2027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D9D9D9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7F7F7F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D9D9D9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FFATA-visible yard-side flow (~$2.73B)</c:v>
                </c:pt>
                <c:pt idx="1">
                  <c:v>Estimated outsourcing, low (~$11.31B)</c:v>
                </c:pt>
                <c:pt idx="2">
                  <c:v>Estimated outsourcing, midpoint (~$13.57B)</c:v>
                </c:pt>
                <c:pt idx="3">
                  <c:v>Estimated outsourcing, high (~$16.16B)</c:v>
                </c:pt>
              </c:strCache>
            </c:strRef>
          </c:cat>
          <c:val>
            <c:numRef>
              <c:f>Sheet1!$B$2:$B$5</c:f>
              <c:numCache>
                <c:formatCode>"$"#,##0"M"</c:formatCode>
                <c:ptCount val="4"/>
                <c:pt idx="0">
                  <c:v>2728.6</c:v>
                </c:pt>
                <c:pt idx="1">
                  <c:v>11311.4</c:v>
                </c:pt>
                <c:pt idx="2">
                  <c:v>13573.7</c:v>
                </c:pt>
                <c:pt idx="3">
                  <c:v>16159.2</c:v>
                </c:pt>
              </c:numCache>
            </c:numRef>
          </c:val>
        </c:ser>
        <c:gapWidth val="6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primer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Primer | DDG-51 construction dollars flow through prime yards, Navy-procured GFE primes, and yard-side suppliers</a:t>
            </a:r>
          </a:p>
        </p:txBody>
      </p:sp>
      <p:sp>
        <p:nvSpPr>
          <p:cNvPr id="10" name="Thesis"/>
          <p:cNvSpPr txBox="1"/>
          <p:nvPr/>
        </p:nvSpPr>
        <p:spPr>
          <a:xfrm>
            <a:off x="453079" y="13716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DDG-51 construction is layered: Navy funding, two prime yards, Navy-procured GFE, and the yard-side supplier layer sized in this deck.</a:t>
            </a:r>
          </a:p>
        </p:txBody>
      </p:sp>
      <p:cxnSp>
        <p:nvCxnSpPr>
          <p:cNvPr id="20" name="NavyToBIW"/>
          <p:cNvCxnSpPr/>
          <p:nvPr/>
        </p:nvCxnSpPr>
        <p:spPr>
          <a:xfrm flipV="1">
            <a:off x="2983079" y="2111600"/>
            <a:ext cx="1070000" cy="28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1" name="NavyToIngalls"/>
          <p:cNvCxnSpPr/>
          <p:nvPr/>
        </p:nvCxnSpPr>
        <p:spPr>
          <a:xfrm>
            <a:off x="2983079" y="2711600"/>
            <a:ext cx="1070000" cy="28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2" name="BIWToSupplier"/>
          <p:cNvCxnSpPr/>
          <p:nvPr/>
        </p:nvCxnSpPr>
        <p:spPr>
          <a:xfrm>
            <a:off x="6953079" y="2291600"/>
            <a:ext cx="800000" cy="20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3" name="IngallsToSupplier"/>
          <p:cNvCxnSpPr/>
          <p:nvPr/>
        </p:nvCxnSpPr>
        <p:spPr>
          <a:xfrm flipV="1">
            <a:off x="6953079" y="2911600"/>
            <a:ext cx="800000" cy="22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4" name="NavyToGFE"/>
          <p:cNvCxnSpPr/>
          <p:nvPr/>
        </p:nvCxnSpPr>
        <p:spPr>
          <a:xfrm>
            <a:off x="1533079" y="2951600"/>
            <a:ext cx="300000" cy="1670000"/>
          </a:xfrm>
          <a:prstGeom prst="bentConnector3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</p:cxnSp>
      <p:cxnSp>
        <p:nvCxnSpPr>
          <p:cNvPr id="25" name="SupplierToFFATA"/>
          <p:cNvCxnSpPr/>
          <p:nvPr/>
        </p:nvCxnSpPr>
        <p:spPr>
          <a:xfrm flipH="1">
            <a:off x="10153079" y="3221600"/>
            <a:ext cx="850000" cy="1400000"/>
          </a:xfrm>
          <a:prstGeom prst="bentConnector3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</p:cxnSp>
      <p:sp>
        <p:nvSpPr>
          <p:cNvPr id="30" name="NavyNode"/>
          <p:cNvSpPr txBox="1"/>
          <p:nvPr/>
        </p:nvSpPr>
        <p:spPr>
          <a:xfrm>
            <a:off x="633079" y="2191600"/>
            <a:ext cx="2350000" cy="76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U.S. NAVY SCN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Line Item 2122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new-construction funding</a:t>
            </a:r>
          </a:p>
        </p:txBody>
      </p:sp>
      <p:sp>
        <p:nvSpPr>
          <p:cNvPr id="31" name="BIW"/>
          <p:cNvSpPr txBox="1"/>
          <p:nvPr/>
        </p:nvSpPr>
        <p:spPr>
          <a:xfrm>
            <a:off x="4053079" y="1991600"/>
            <a:ext cx="2900000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GD Bath Iron Works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prime-yard node</a:t>
            </a:r>
          </a:p>
        </p:txBody>
      </p:sp>
      <p:sp>
        <p:nvSpPr>
          <p:cNvPr id="32" name="Ingalls"/>
          <p:cNvSpPr txBox="1"/>
          <p:nvPr/>
        </p:nvSpPr>
        <p:spPr>
          <a:xfrm>
            <a:off x="4053079" y="2831600"/>
            <a:ext cx="2900000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HII Ingalls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prime-yard node and distributed-network context</a:t>
            </a:r>
          </a:p>
        </p:txBody>
      </p:sp>
      <p:sp>
        <p:nvSpPr>
          <p:cNvPr id="33" name="SupplierLane"/>
          <p:cNvSpPr txBox="1"/>
          <p:nvPr/>
        </p:nvSpPr>
        <p:spPr>
          <a:xfrm>
            <a:off x="7753079" y="2271600"/>
            <a:ext cx="3750000" cy="9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IN-SCOPE SUPPLIER LANE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yard-side supplier work sized by the deck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non-GFE new-construction supplier TAM</a:t>
            </a:r>
          </a:p>
        </p:txBody>
      </p:sp>
      <p:sp>
        <p:nvSpPr>
          <p:cNvPr id="40" name="ExhibitTitle"/>
          <p:cNvSpPr txBox="1"/>
          <p:nvPr/>
        </p:nvSpPr>
        <p:spPr>
          <a:xfrm>
            <a:off x="453079" y="40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 lanes are context, not the sized supplier TAM</a:t>
            </a:r>
          </a:p>
        </p:txBody>
      </p:sp>
      <p:sp>
        <p:nvSpPr>
          <p:cNvPr id="41" name="TagGFE"/>
          <p:cNvSpPr txBox="1"/>
          <p:nvPr/>
        </p:nvSpPr>
        <p:spPr>
          <a:xfrm>
            <a:off x="453079" y="4321600"/>
            <a:ext cx="2752010" cy="5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GFE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Navy-procured combat-system primes</a:t>
            </a:r>
          </a:p>
        </p:txBody>
      </p:sp>
      <p:sp>
        <p:nvSpPr>
          <p:cNvPr id="42" name="TagWEAPONS"/>
          <p:cNvSpPr txBox="1"/>
          <p:nvPr/>
        </p:nvSpPr>
        <p:spPr>
          <a:xfrm>
            <a:off x="3296529" y="4321600"/>
            <a:ext cx="2752010" cy="5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WEAPONS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WPN and OPN missile and ordnance flows</a:t>
            </a:r>
          </a:p>
        </p:txBody>
      </p:sp>
      <p:sp>
        <p:nvSpPr>
          <p:cNvPr id="43" name="TagSUSTAINMENT"/>
          <p:cNvSpPr txBox="1"/>
          <p:nvPr/>
        </p:nvSpPr>
        <p:spPr>
          <a:xfrm>
            <a:off x="6139979" y="4321600"/>
            <a:ext cx="2752010" cy="5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SUSTAINMENT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depot, repair, modernization</a:t>
            </a:r>
          </a:p>
        </p:txBody>
      </p:sp>
      <p:sp>
        <p:nvSpPr>
          <p:cNvPr id="44" name="TagFFATA"/>
          <p:cNvSpPr txBox="1"/>
          <p:nvPr/>
        </p:nvSpPr>
        <p:spPr>
          <a:xfrm>
            <a:off x="8983429" y="4321600"/>
            <a:ext cx="2752010" cy="5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evidence source, not definition</a:t>
            </a:r>
          </a:p>
        </p:txBody>
      </p:sp>
      <p:sp>
        <p:nvSpPr>
          <p:cNvPr id="50" name="Legend"/>
          <p:cNvSpPr txBox="1"/>
          <p:nvPr/>
        </p:nvSpPr>
        <p:spPr>
          <a:xfrm>
            <a:off x="453079" y="5001600"/>
            <a:ext cx="665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Legend: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blue lane = sized non-GFE supplier work; gray tags = exclusions or evidence lenses; dashed lines = context/evidence only.</a:t>
            </a:r>
          </a:p>
        </p:txBody>
      </p:sp>
      <p:sp>
        <p:nvSpPr>
          <p:cNvPr id="51" name="CommentaryRail"/>
          <p:cNvSpPr txBox="1"/>
          <p:nvPr/>
        </p:nvSpPr>
        <p:spPr>
          <a:xfrm>
            <a:off x="7703079" y="4921600"/>
            <a:ext cx="395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layer: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prime yards are pass-through and self-perform nodes, not target suppliers.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Evidence layer: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FFATA-visible subawards help classify work, but do not set the denominator.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FY2027 SCN Justification Book, LI 2122; (2) FAR Part 45 and FAR 52.245-1, Government Property; (3) FAR 52.204-10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Answer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Executive Summary | DDG-51 supplier TAM averages ~$573M per year, with ~$327M per year in broad component SAM</a:t>
            </a:r>
          </a:p>
        </p:txBody>
      </p:sp>
      <p:sp>
        <p:nvSpPr>
          <p:cNvPr id="10" name="Qualifier"/>
          <p:cNvSpPr txBox="1"/>
          <p:nvPr/>
        </p:nvSpPr>
        <p:spPr>
          <a:xfrm>
            <a:off x="453079" y="137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Answer convention: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headline values are average annual FY22-27; cumulative values are secondary context, not a run-rate.</a:t>
            </a:r>
          </a:p>
        </p:txBody>
      </p:sp>
      <p:sp>
        <p:nvSpPr>
          <p:cNvPr id="20" name="SupplierTAM"/>
          <p:cNvSpPr txBox="1"/>
          <p:nvPr/>
        </p:nvSpPr>
        <p:spPr>
          <a:xfrm>
            <a:off x="453079" y="1891600"/>
            <a:ext cx="5595461" cy="113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SUPPLIER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($3.44B FY22-27)</a:t>
            </a:r>
          </a:p>
        </p:txBody>
      </p:sp>
      <p:sp>
        <p:nvSpPr>
          <p:cNvPr id="21" name="BroadSAM"/>
          <p:cNvSpPr txBox="1"/>
          <p:nvPr/>
        </p:nvSpPr>
        <p:spPr>
          <a:xfrm>
            <a:off x="6139980" y="1891600"/>
            <a:ext cx="5595461" cy="1130000"/>
          </a:xfrm>
          <a:prstGeom prst="rect">
            <a:avLst/>
          </a:prstGeom>
          <a:solidFill>
            <a:srgbClr val="3D5972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 SAM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~$327M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($1.96B FY22-27)</a:t>
            </a:r>
          </a:p>
        </p:txBody>
      </p:sp>
      <p:sp>
        <p:nvSpPr>
          <p:cNvPr id="30" name="Support0"/>
          <p:cNvSpPr txBox="1"/>
          <p:nvPr/>
        </p:nvSpPr>
        <p:spPr>
          <a:xfrm>
            <a:off x="453079" y="3113040"/>
            <a:ext cx="2752010" cy="89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BC STREAM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~$365M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~$2.19B cumulative</a:t>
            </a:r>
          </a:p>
        </p:txBody>
      </p:sp>
      <p:sp>
        <p:nvSpPr>
          <p:cNvPr id="31" name="Support1"/>
          <p:cNvSpPr txBox="1"/>
          <p:nvPr/>
        </p:nvSpPr>
        <p:spPr>
          <a:xfrm>
            <a:off x="3296529" y="3113040"/>
            <a:ext cx="2752010" cy="89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~$208M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~$1.25B cumulative</a:t>
            </a:r>
          </a:p>
        </p:txBody>
      </p:sp>
      <p:sp>
        <p:nvSpPr>
          <p:cNvPr id="32" name="Support2"/>
          <p:cNvSpPr txBox="1"/>
          <p:nvPr/>
        </p:nvSpPr>
        <p:spPr>
          <a:xfrm>
            <a:off x="6139979" y="3113040"/>
            <a:ext cx="2752010" cy="8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BROAD SAM SHARE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57.1% of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scenario, not SOM</a:t>
            </a:r>
          </a:p>
        </p:txBody>
      </p:sp>
      <p:sp>
        <p:nvSpPr>
          <p:cNvPr id="33" name="Support3"/>
          <p:cNvSpPr txBox="1"/>
          <p:nvPr/>
        </p:nvSpPr>
        <p:spPr>
          <a:xfrm>
            <a:off x="8983429" y="3113040"/>
            <a:ext cx="2752010" cy="8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PER HULL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~$265M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13 in-window hulls</a:t>
            </a:r>
          </a:p>
        </p:txBody>
      </p:sp>
      <p:sp>
        <p:nvSpPr>
          <p:cNvPr id="40" name="CommentaryRail"/>
          <p:cNvSpPr txBox="1"/>
          <p:nvPr/>
        </p:nvSpPr>
        <p:spPr>
          <a:xfrm>
            <a:off x="453079" y="4094480"/>
            <a:ext cx="11282362" cy="8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Answer: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supplier TAM is ~$573M per year after non-GFE and MYP-corrected scope gates.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Serviceable menu: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broad component SAM is the largest scenario at ~$327M per year.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Discipline: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SAM is not SOM and the scenarios are never summed.</a:t>
            </a:r>
          </a:p>
        </p:txBody>
      </p:sp>
      <p:sp>
        <p:nvSpPr>
          <p:cNvPr id="50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 2122; (2) DoW DDG-51 contract announcements, July 2022 to May 2026; (3) SAM.gov Subaward Reporting Public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| The analysis sizes non-GFE new-construction supplier work, not total DDG spend</a:t>
            </a:r>
          </a:p>
        </p:txBody>
      </p:sp>
      <p:graphicFrame>
        <p:nvGraphicFramePr>
          <p:cNvPr id="20" name="ScopeBoundaryLedger"/>
          <p:cNvGraphicFramePr>
            <a:graphicFrameLocks noGrp="1"/>
          </p:cNvGraphicFramePr>
          <p:nvPr/>
        </p:nvGraphicFramePr>
        <p:xfrm>
          <a:off x="1355667" y="1501600"/>
          <a:ext cx="9477184" cy="16157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4738592"/>
                <a:gridCol w="4738592"/>
              </a:tblGrid>
              <a:tr h="2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SCOPE
sized in TAM and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 OF SCOPE
not in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Flight IIA and Flight III new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DDG-1000 Zumwalt (out of class, closed)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Line Item 2122 appropriation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WPN and OPN weapons procurement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 supplier 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Aegis, SPY-6, Mk 41 VLS, Mk 45, LM2500, SEWIP, CIWS, and other GFE-heavy prime flows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supplier-addressable material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Sustainment, depot, ship repair, design-only, and MIB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Work performed away from BIW, Ingalls, GFE prime sites, and Navy-directed flows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Contaminants such as the IVECO Mk 110 gun and Thales ESSM artifacts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0" name="BoundaryCue"/>
          <p:cNvSpPr txBox="1"/>
          <p:nvPr/>
        </p:nvSpPr>
        <p:spPr>
          <a:xfrm>
            <a:off x="1355667" y="3337360"/>
            <a:ext cx="9477184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Boundary cue: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total DDG spend, then non-GFE new-construction base, then supplier-addressable TAM, then the SAM work-type menu.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CRS RL32109, Navy DDG-51 and DDG-1000 Destroyer Programs; (2) U.S. Navy FY2027 SCN Justification Book, LI 2122; (3) FAR 52.204-10 and FAR Part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Cost funnel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Cost Funnel | Basic Construction is the supplier-addressable base after excluding GFE-heavy cost categories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722071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FY24 DDG-51 cost categories, both ships</a:t>
            </a:r>
          </a:p>
        </p:txBody>
      </p:sp>
      <p:graphicFrame>
        <p:nvGraphicFramePr>
          <p:cNvPr id="20" name="FY24CostCategoryChart"/>
          <p:cNvGraphicFramePr/>
          <p:nvPr/>
        </p:nvGraphicFramePr>
        <p:xfrm>
          <a:off x="453079" y="1631600"/>
          <a:ext cx="7220711" cy="32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TotalShipRef"/>
          <p:cNvSpPr txBox="1"/>
          <p:nvPr/>
        </p:nvSpPr>
        <p:spPr>
          <a:xfrm>
            <a:off x="453079" y="5450000"/>
            <a:ext cx="7220711" cy="3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TOTAL SHIP ESTIMATE</a:t>
            </a:r>
          </a:p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~$5,492M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is ~$3,322M, or 60.5% of total.</a:t>
            </a:r>
          </a:p>
        </p:txBody>
      </p:sp>
      <p:sp>
        <p:nvSpPr>
          <p:cNvPr id="40" name="ExhibitTitle"/>
          <p:cNvSpPr txBox="1"/>
          <p:nvPr/>
        </p:nvSpPr>
        <p:spPr>
          <a:xfrm>
            <a:off x="7765230" y="1631600"/>
            <a:ext cx="397021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Denominator decision</a:t>
            </a:r>
          </a:p>
        </p:txBody>
      </p:sp>
      <p:sp>
        <p:nvSpPr>
          <p:cNvPr id="41" name="StepTotal"/>
          <p:cNvSpPr txBox="1"/>
          <p:nvPr/>
        </p:nvSpPr>
        <p:spPr>
          <a:xfrm>
            <a:off x="7765230" y="1991600"/>
            <a:ext cx="3970211" cy="6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1. TOTAL SHIP COST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Too broad for supplier TAM</a:t>
            </a:r>
          </a:p>
        </p:txBody>
      </p:sp>
      <p:sp>
        <p:nvSpPr>
          <p:cNvPr id="42" name="StepBC"/>
          <p:cNvSpPr txBox="1"/>
          <p:nvPr/>
        </p:nvSpPr>
        <p:spPr>
          <a:xfrm>
            <a:off x="7765230" y="2763040"/>
            <a:ext cx="3970211" cy="6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2. BASIC CONSTRUCTION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Supplier-addressable starting base</a:t>
            </a:r>
          </a:p>
        </p:txBody>
      </p:sp>
      <p:sp>
        <p:nvSpPr>
          <p:cNvPr id="43" name="StepNext"/>
          <p:cNvSpPr txBox="1"/>
          <p:nvPr/>
        </p:nvSpPr>
        <p:spPr>
          <a:xfrm>
            <a:off x="7765230" y="3534480"/>
            <a:ext cx="3970211" cy="6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3. NEXT CORRECTION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Apply the MYP-corrected supplier coefficient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FY2027 SCN Justification Book, LI 2122, Exhibit P-5c; (2) Congressional Research Service, Navy DDG-51 and DDG-1000 Destroyer Programs, RL32109; (3) FAR Part 45 and FAR 52.245-1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Denominator correction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 Redaction | Restoring the redacted multiyear masters corrects the outside-yards artifact to ~33%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722071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MYP-corrected place-of-performance distribution</a:t>
            </a:r>
          </a:p>
        </p:txBody>
      </p:sp>
      <p:graphicFrame>
        <p:nvGraphicFramePr>
          <p:cNvPr id="20" name="CorrectedPOPChart"/>
          <p:cNvGraphicFramePr/>
          <p:nvPr/>
        </p:nvGraphicFramePr>
        <p:xfrm>
          <a:off x="453079" y="1591600"/>
          <a:ext cx="7220711" cy="11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ExhibitTitle"/>
          <p:cNvSpPr txBox="1"/>
          <p:nvPr/>
        </p:nvSpPr>
        <p:spPr>
          <a:xfrm>
            <a:off x="453079" y="2991600"/>
            <a:ext cx="722071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Outside-yards share after restoring redacted MYP masters</a:t>
            </a:r>
          </a:p>
        </p:txBody>
      </p:sp>
      <p:graphicFrame>
        <p:nvGraphicFramePr>
          <p:cNvPr id="21" name="OutsideYardsComparison"/>
          <p:cNvGraphicFramePr/>
          <p:nvPr/>
        </p:nvGraphicFramePr>
        <p:xfrm>
          <a:off x="453079" y="3211600"/>
          <a:ext cx="7220711" cy="13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MasterBadge"/>
          <p:cNvSpPr txBox="1"/>
          <p:nvPr/>
        </p:nvSpPr>
        <p:spPr>
          <a:xfrm>
            <a:off x="453079" y="4631600"/>
            <a:ext cx="3564635" cy="5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RECONSTRUCTED FY23-27 MYP MASTERS</a:t>
            </a:r>
          </a:p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~$14.58B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BIW plus Ingalls masters folded back</a:t>
            </a:r>
          </a:p>
        </p:txBody>
      </p:sp>
      <p:sp>
        <p:nvSpPr>
          <p:cNvPr id="41" name="CorpusBadge"/>
          <p:cNvSpPr txBox="1"/>
          <p:nvPr/>
        </p:nvSpPr>
        <p:spPr>
          <a:xfrm>
            <a:off x="4109154" y="4631600"/>
            <a:ext cx="3564635" cy="5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GATED POP CORPUS INCL. MASTERS</a:t>
            </a:r>
          </a:p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~$21.71B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distribution base for correction</a:t>
            </a:r>
          </a:p>
        </p:txBody>
      </p:sp>
      <p:sp>
        <p:nvSpPr>
          <p:cNvPr id="50" name="CommentaryRail"/>
          <p:cNvSpPr txBox="1"/>
          <p:nvPr/>
        </p:nvSpPr>
        <p:spPr>
          <a:xfrm>
            <a:off x="7765230" y="1371600"/>
            <a:ext cx="3970211" cy="38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algn="l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900" b="1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What changed</a:t>
            </a:r>
          </a:p>
          <a:p>
            <a:pPr algn="l"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The FY23-27 BIW and Ingalls multiyear masters disclose work locations but redact dollar values.</a:t>
            </a:r>
          </a:p>
          <a:p>
            <a:pPr algn="l"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Those masters are large and yard-heavy, so omitting their dollars over-weights disclosed GFE actions.</a:t>
            </a:r>
          </a:p>
          <a:p>
            <a:pPr algn="l"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The model restores ~$14.58B of master value before applying the Basic Construction supplier coefficient.</a:t>
            </a:r>
          </a:p>
          <a:p>
            <a:pPr algn="l"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Use the corrected ~33% outside-yards view going forward, not the disclosed-only artifact.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DoD daily contract announcements, war.gov articles 3479250 (Aug. 1, 2023) and 3491276 (Aug. 11, 2023); (2) 41 U.S. Code 2101 et seq. and FAR 2.101 and FAR 3.104; (3) U.S. Naval Institute News reporting on the FY23-27 DDG-51 multiyear award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Methodology | TAM combines Basic Construction supplier work with AP and LLTM supplier material</a:t>
            </a:r>
          </a:p>
        </p:txBody>
      </p:sp>
      <p:sp>
        <p:nvSpPr>
          <p:cNvPr id="10" name="Equation"/>
          <p:cNvSpPr txBox="1"/>
          <p:nvPr/>
        </p:nvSpPr>
        <p:spPr>
          <a:xfrm>
            <a:off x="453079" y="13716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supplier TAM is the sum of two separately gated supplier streams.</a:t>
            </a:r>
          </a:p>
        </p:txBody>
      </p:sp>
      <p:cxnSp>
        <p:nvCxnSpPr>
          <p:cNvPr id="20" name="BCToPlus"/>
          <p:cNvCxnSpPr/>
          <p:nvPr/>
        </p:nvCxnSpPr>
        <p:spPr>
          <a:xfrm>
            <a:off x="5191671" y="2716600"/>
            <a:ext cx="507706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1" name="APToPlus"/>
          <p:cNvCxnSpPr/>
          <p:nvPr/>
        </p:nvCxnSpPr>
        <p:spPr>
          <a:xfrm flipH="1">
            <a:off x="6714789" y="2716600"/>
            <a:ext cx="507706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2" name="PlusToOutputA"/>
          <p:cNvCxnSpPr/>
          <p:nvPr/>
        </p:nvCxnSpPr>
        <p:spPr>
          <a:xfrm flipH="1">
            <a:off x="5304493" y="3441600"/>
            <a:ext cx="902590" cy="72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3" name="PlusToOutputB"/>
          <p:cNvCxnSpPr/>
          <p:nvPr/>
        </p:nvCxnSpPr>
        <p:spPr>
          <a:xfrm>
            <a:off x="6207083" y="3441600"/>
            <a:ext cx="676941" cy="72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30" name="BCStream"/>
          <p:cNvSpPr txBox="1"/>
          <p:nvPr/>
        </p:nvSpPr>
        <p:spPr>
          <a:xfrm>
            <a:off x="453079" y="1991600"/>
            <a:ext cx="4738592" cy="14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STREAM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BC base: ~$17.47B cumulative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Times 12.5% MYP-corrected supplier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Equals ~$365M per year (~$2.19B cumulative)</a:t>
            </a:r>
          </a:p>
        </p:txBody>
      </p:sp>
      <p:sp>
        <p:nvSpPr>
          <p:cNvPr id="31" name="Plus"/>
          <p:cNvSpPr txBox="1"/>
          <p:nvPr/>
        </p:nvSpPr>
        <p:spPr>
          <a:xfrm>
            <a:off x="5699377" y="2281600"/>
            <a:ext cx="1015412" cy="6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PLUS</a:t>
            </a:r>
          </a:p>
        </p:txBody>
      </p:sp>
      <p:sp>
        <p:nvSpPr>
          <p:cNvPr id="32" name="APStream"/>
          <p:cNvSpPr txBox="1"/>
          <p:nvPr/>
        </p:nvSpPr>
        <p:spPr>
          <a:xfrm>
            <a:off x="7222495" y="1991600"/>
            <a:ext cx="4512946" cy="14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STREAM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CY AP after 80.0% ship-construction share: ~$1.47B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Times 85.0% AP supplier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Equals ~$208M per year (~$1.25B cumulative)</a:t>
            </a:r>
          </a:p>
        </p:txBody>
      </p:sp>
      <p:sp>
        <p:nvSpPr>
          <p:cNvPr id="40" name="Output"/>
          <p:cNvSpPr txBox="1"/>
          <p:nvPr/>
        </p:nvSpPr>
        <p:spPr>
          <a:xfrm>
            <a:off x="3724963" y="4161600"/>
            <a:ext cx="4738592" cy="80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PORTFOLIO SUPPLIER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(~$3.44B FY22-27 cumulative)</a:t>
            </a:r>
          </a:p>
        </p:txBody>
      </p:sp>
      <p:sp>
        <p:nvSpPr>
          <p:cNvPr id="50" name="Guardrail"/>
          <p:cNvSpPr txBox="1"/>
          <p:nvPr/>
        </p:nvSpPr>
        <p:spPr>
          <a:xfrm>
            <a:off x="453079" y="50616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Guardrail: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BC coefficient is 12.5% on the MYP-corrected non-GFE corpus. It is not the ~32.8% outside-yards POP share, nor the disclosed-only ~87% artifact.</a:t>
            </a:r>
          </a:p>
        </p:txBody>
      </p:sp>
      <p:sp>
        <p:nvSpPr>
          <p:cNvPr id="51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 2122; (2) DoD DDG-51 daily contract announcements, July 2022 to May 2026; (3) SAM.gov Acquisition Subaward Reporting Public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build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TAM Build | The corrected model yields ~$573M per year of supplier TAM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722071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 annual supplier TAM build, FY22-27</a:t>
            </a:r>
          </a:p>
        </p:txBody>
      </p:sp>
      <p:graphicFrame>
        <p:nvGraphicFramePr>
          <p:cNvPr id="20" name="AnnualizedWaterfall"/>
          <p:cNvGraphicFramePr/>
          <p:nvPr/>
        </p:nvGraphicFramePr>
        <p:xfrm>
          <a:off x="453079" y="1611600"/>
          <a:ext cx="7220711" cy="35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CumulativeBridge"/>
          <p:cNvGraphicFramePr>
            <a:graphicFrameLocks noGrp="1"/>
          </p:cNvGraphicFramePr>
          <p:nvPr/>
        </p:nvGraphicFramePr>
        <p:xfrm>
          <a:off x="7765230" y="1611600"/>
          <a:ext cx="3970211" cy="147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689497"/>
                <a:gridCol w="1280714"/>
              </a:tblGrid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Cumulative bridge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FY22-27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~$17.47B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~$15.28B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~$2.19B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~$1.25B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Portfolio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~$3.44B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 2122; (2) DoD DDG-51 daily contract announcements, July 2022 to May 2026; (3) SAM.gov Acquisition Subaward Reporting Public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Timing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Timing | Annual supplier TAM is lumpy, with the FY26 spike driven by AP and LLTM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TAM by fiscal year and stream</a:t>
            </a:r>
          </a:p>
        </p:txBody>
      </p:sp>
      <p:graphicFrame>
        <p:nvGraphicFramePr>
          <p:cNvPr id="20" name="TimingChart"/>
          <p:cNvGraphicFramePr/>
          <p:nvPr/>
        </p:nvGraphicFramePr>
        <p:xfrm>
          <a:off x="453079" y="1611600"/>
          <a:ext cx="11282362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AvgKPI"/>
          <p:cNvSpPr txBox="1"/>
          <p:nvPr/>
        </p:nvSpPr>
        <p:spPr>
          <a:xfrm>
            <a:off x="2032609" y="4791600"/>
            <a:ext cx="3836003" cy="5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Average-annual convention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~$573M per year</a:t>
            </a:r>
          </a:p>
        </p:txBody>
      </p:sp>
      <p:sp>
        <p:nvSpPr>
          <p:cNvPr id="31" name="FY26KPI"/>
          <p:cNvSpPr txBox="1"/>
          <p:nvPr/>
        </p:nvSpPr>
        <p:spPr>
          <a:xfrm>
            <a:off x="6319907" y="4791600"/>
            <a:ext cx="4512944" cy="5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FY26 is not the run-rate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~$1.23B, driven by AP and LLTM</a:t>
            </a:r>
          </a:p>
        </p:txBody>
      </p:sp>
      <p:sp>
        <p:nvSpPr>
          <p:cNvPr id="40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 2122; (2) DoD DDG-51 daily contract announcements, July 2022 to May 2026; (3) SAM.gov Acquisition Subaward Reporting Public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taxonomy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Taxonomy | SAM is a work-type bucket menu, not a capture forecast</a:t>
            </a:r>
          </a:p>
        </p:txBody>
      </p:sp>
      <p:sp>
        <p:nvSpPr>
          <p:cNvPr id="10" name="TAMBanner"/>
          <p:cNvSpPr txBox="1"/>
          <p:nvPr/>
        </p:nvSpPr>
        <p:spPr>
          <a:xfrm>
            <a:off x="453079" y="1371600"/>
            <a:ext cx="11282362" cy="72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PORTFOLIO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(~$3.44B FY22 to FY27 cumulative)</a:t>
            </a:r>
          </a:p>
        </p:txBody>
      </p:sp>
      <p:sp>
        <p:nvSpPr>
          <p:cNvPr id="20" name="Bucket0"/>
          <p:cNvSpPr txBox="1"/>
          <p:nvPr/>
        </p:nvSpPr>
        <p:spPr>
          <a:xfrm>
            <a:off x="453079" y="229160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STRUCTURAL FABRICATION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and pre-outfit</a:t>
            </a:r>
          </a:p>
        </p:txBody>
      </p:sp>
      <p:sp>
        <p:nvSpPr>
          <p:cNvPr id="21" name="Bucket1"/>
          <p:cNvSpPr txBox="1"/>
          <p:nvPr/>
        </p:nvSpPr>
        <p:spPr>
          <a:xfrm>
            <a:off x="3872815" y="229160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MACHINING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precision and mechanical</a:t>
            </a:r>
          </a:p>
        </p:txBody>
      </p:sp>
      <p:sp>
        <p:nvSpPr>
          <p:cNvPr id="22" name="Bucket2"/>
          <p:cNvSpPr txBox="1"/>
          <p:nvPr/>
        </p:nvSpPr>
        <p:spPr>
          <a:xfrm>
            <a:off x="453079" y="271804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CASTINGS AND FORGINGS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metal components</a:t>
            </a:r>
          </a:p>
        </p:txBody>
      </p:sp>
      <p:sp>
        <p:nvSpPr>
          <p:cNvPr id="23" name="Bucket3"/>
          <p:cNvSpPr txBox="1"/>
          <p:nvPr/>
        </p:nvSpPr>
        <p:spPr>
          <a:xfrm>
            <a:off x="3872815" y="271804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PIPING, VALVES, AND PUMPS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HM&amp;E path</a:t>
            </a:r>
          </a:p>
        </p:txBody>
      </p:sp>
      <p:sp>
        <p:nvSpPr>
          <p:cNvPr id="24" name="Bucket4"/>
          <p:cNvSpPr txBox="1"/>
          <p:nvPr/>
        </p:nvSpPr>
        <p:spPr>
          <a:xfrm>
            <a:off x="453079" y="314448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ELECTRICAL AND POWER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standalone scenario</a:t>
            </a:r>
          </a:p>
        </p:txBody>
      </p:sp>
      <p:sp>
        <p:nvSpPr>
          <p:cNvPr id="25" name="Bucket5"/>
          <p:cNvSpPr txBox="1"/>
          <p:nvPr/>
        </p:nvSpPr>
        <p:spPr>
          <a:xfrm>
            <a:off x="3872815" y="314448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HVAC AND VENTILATION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HM&amp;E path</a:t>
            </a:r>
          </a:p>
        </p:txBody>
      </p:sp>
      <p:sp>
        <p:nvSpPr>
          <p:cNvPr id="26" name="Bucket6"/>
          <p:cNvSpPr txBox="1"/>
          <p:nvPr/>
        </p:nvSpPr>
        <p:spPr>
          <a:xfrm>
            <a:off x="453079" y="357092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COATINGS AND INSULATION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modular path</a:t>
            </a:r>
          </a:p>
        </p:txBody>
      </p:sp>
      <p:sp>
        <p:nvSpPr>
          <p:cNvPr id="30" name="Residual"/>
          <p:cNvSpPr txBox="1"/>
          <p:nvPr/>
        </p:nvSpPr>
        <p:spPr>
          <a:xfrm>
            <a:off x="8012261" y="2291600"/>
            <a:ext cx="3723180" cy="59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UNBUCKETED AND AMBIGUOUS</a:t>
            </a:r>
          </a:p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~$246M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42.9% of TAM</a:t>
            </a:r>
          </a:p>
        </p:txBody>
      </p:sp>
      <p:sp>
        <p:nvSpPr>
          <p:cNvPr id="31" name="SAMNote"/>
          <p:cNvSpPr txBox="1"/>
          <p:nvPr/>
        </p:nvSpPr>
        <p:spPr>
          <a:xfrm>
            <a:off x="8012261" y="2971600"/>
            <a:ext cx="372318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selects from named work-type buckets inside TAM. It does not apply win probability, and scenarios are not additive.</a:t>
            </a:r>
          </a:p>
        </p:txBody>
      </p:sp>
      <p:graphicFrame>
        <p:nvGraphicFramePr>
          <p:cNvPr id="40" name="ScenarioMembership"/>
          <p:cNvGraphicFramePr>
            <a:graphicFrameLocks noGrp="1"/>
          </p:cNvGraphicFramePr>
          <p:nvPr/>
        </p:nvGraphicFramePr>
        <p:xfrm>
          <a:off x="453079" y="4021600"/>
          <a:ext cx="11282362" cy="1731256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4566670"/>
                <a:gridCol w="1343138"/>
                <a:gridCol w="1343138"/>
                <a:gridCol w="1343138"/>
                <a:gridCol w="1343138"/>
                <a:gridCol w="1343140"/>
              </a:tblGrid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</a:tr>
            </a:tbl>
          </a:graphicData>
        </a:graphic>
      </p:graphicFrame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FAR 52.204-10; (3) U.S. Navy FY2022-FY2027 SCN Justification Books, LI 2122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Work-type allocation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Allocation | Residual ambiguity is the largest line, while electrical and structural are the largest named buckets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Portfolio TAM allocation by work type, average annual FY22-27</a:t>
            </a:r>
          </a:p>
        </p:txBody>
      </p:sp>
      <p:graphicFrame>
        <p:nvGraphicFramePr>
          <p:cNvPr id="20" name="WorkTypeAllocation"/>
          <p:cNvGraphicFramePr/>
          <p:nvPr/>
        </p:nvGraphicFramePr>
        <p:xfrm>
          <a:off x="453079" y="1591600"/>
          <a:ext cx="11282362" cy="33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ResidualCue"/>
          <p:cNvSpPr txBox="1"/>
          <p:nvPr/>
        </p:nvSpPr>
        <p:spPr>
          <a:xfrm>
            <a:off x="453079" y="5150000"/>
            <a:ext cx="11282362" cy="3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RESIDUAL IS EVIDENCE AMBIGUITY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The seven named buckets sum to broad component SAM; the gray residual remains in TAM but outside broad SAM.</a:t>
            </a:r>
          </a:p>
        </p:txBody>
      </p:sp>
      <p:sp>
        <p:nvSpPr>
          <p:cNvPr id="31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FAR 52.204-10; (3) U.S. Navy FY2022-FY2027 SCN Justification Books, LI 2122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scenarios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| Broad component manufacturing represents ~$327M per year of serviceable market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6769417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scenarios, average annual FY22-27</a:t>
            </a:r>
          </a:p>
        </p:txBody>
      </p:sp>
      <p:graphicFrame>
        <p:nvGraphicFramePr>
          <p:cNvPr id="20" name="SAMScenarioChart"/>
          <p:cNvGraphicFramePr/>
          <p:nvPr/>
        </p:nvGraphicFramePr>
        <p:xfrm>
          <a:off x="453079" y="1611600"/>
          <a:ext cx="6769417" cy="33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ScenarioMatrix"/>
          <p:cNvGraphicFramePr>
            <a:graphicFrameLocks noGrp="1"/>
          </p:cNvGraphicFramePr>
          <p:nvPr/>
        </p:nvGraphicFramePr>
        <p:xfrm>
          <a:off x="7313936" y="1611600"/>
          <a:ext cx="4421505" cy="1743456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89656"/>
                <a:gridCol w="526369"/>
                <a:gridCol w="526369"/>
                <a:gridCol w="526369"/>
                <a:gridCol w="526369"/>
                <a:gridCol w="526373"/>
              </a:tblGrid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FAR 52.204-10; (3) U.S. Navy FY2022-FY2027 SCN Justification Books, LI 2122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landscape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Landscape | Visible supplier flow is concentrated among specialized defense manufacturers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688224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Top visible first-tier suppliers by lifetime flow, $M</a:t>
            </a:r>
          </a:p>
        </p:txBody>
      </p:sp>
      <p:graphicFrame>
        <p:nvGraphicFramePr>
          <p:cNvPr id="20" name="TopSupplierChart"/>
          <p:cNvGraphicFramePr/>
          <p:nvPr/>
        </p:nvGraphicFramePr>
        <p:xfrm>
          <a:off x="453079" y="1611600"/>
          <a:ext cx="6882240" cy="3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SupplierEvidenceTable"/>
          <p:cNvGraphicFramePr>
            <a:graphicFrameLocks noGrp="1"/>
          </p:cNvGraphicFramePr>
          <p:nvPr/>
        </p:nvGraphicFramePr>
        <p:xfrm>
          <a:off x="7426759" y="1611600"/>
          <a:ext cx="4308682" cy="1548376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17065"/>
                <a:gridCol w="1117065"/>
                <a:gridCol w="2074552"/>
              </a:tblGrid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Caveat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Leonardo via DRS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VLS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Foreign parent, U.S. work sites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137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Arctic Slope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Engineering services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a pure component manufacturer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Major Tool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Clean physical-components proof point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General Dynamics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Prime-affiliated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read as third-party wedge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137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 and Rolls-Royce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Propulsion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 flow can understate vertical integration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VisibleFloor"/>
          <p:cNvSpPr txBox="1"/>
          <p:nvPr/>
        </p:nvSpPr>
        <p:spPr>
          <a:xfrm>
            <a:off x="453079" y="5510000"/>
            <a:ext cx="688224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Lifetime visible first-tier subaward flow per parent vendor; a floor, not the full supplier base. Names only, no logos.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SAM.gov Entity Management API; (3) FAR 52.204-10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Visibility gap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 Visibility Gap | FFATA is evidence, not the market-size denominator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6769417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Cumulative FFATA-visible flow vs estimated yard-side outsourcing, $M</a:t>
            </a:r>
          </a:p>
        </p:txBody>
      </p:sp>
      <p:graphicFrame>
        <p:nvGraphicFramePr>
          <p:cNvPr id="20" name="VisibilityGapChart"/>
          <p:cNvGraphicFramePr/>
          <p:nvPr/>
        </p:nvGraphicFramePr>
        <p:xfrm>
          <a:off x="453079" y="1611600"/>
          <a:ext cx="6769417" cy="31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ExhibitTitle"/>
          <p:cNvSpPr txBox="1"/>
          <p:nvPr/>
        </p:nvSpPr>
        <p:spPr>
          <a:xfrm>
            <a:off x="7313936" y="1611600"/>
            <a:ext cx="4421505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What public FFATA misses</a:t>
            </a:r>
          </a:p>
        </p:txBody>
      </p:sp>
      <p:sp>
        <p:nvSpPr>
          <p:cNvPr id="31" name="Miss0"/>
          <p:cNvSpPr txBox="1"/>
          <p:nvPr/>
        </p:nvSpPr>
        <p:spPr>
          <a:xfrm>
            <a:off x="7313936" y="1941600"/>
            <a:ext cx="4421505" cy="43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DIRECT MATERIAL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Booked as direct cost, not a subcontract</a:t>
            </a:r>
          </a:p>
        </p:txBody>
      </p:sp>
      <p:sp>
        <p:nvSpPr>
          <p:cNvPr id="32" name="Miss1"/>
          <p:cNvSpPr txBox="1"/>
          <p:nvPr/>
        </p:nvSpPr>
        <p:spPr>
          <a:xfrm>
            <a:off x="7313936" y="2422320"/>
            <a:ext cx="4421505" cy="43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LOWER TIERS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 sub's sub is outside FFATA visibility</a:t>
            </a:r>
          </a:p>
        </p:txBody>
      </p:sp>
      <p:sp>
        <p:nvSpPr>
          <p:cNvPr id="33" name="Miss2"/>
          <p:cNvSpPr txBox="1"/>
          <p:nvPr/>
        </p:nvSpPr>
        <p:spPr>
          <a:xfrm>
            <a:off x="7313936" y="2903040"/>
            <a:ext cx="4421505" cy="43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STANDING AGREEMENTS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Long-term supplier deals may not sit under a prime PIID</a:t>
            </a:r>
          </a:p>
        </p:txBody>
      </p:sp>
      <p:sp>
        <p:nvSpPr>
          <p:cNvPr id="34" name="Miss3"/>
          <p:cNvSpPr txBox="1"/>
          <p:nvPr/>
        </p:nvSpPr>
        <p:spPr>
          <a:xfrm>
            <a:off x="7313936" y="3383760"/>
            <a:ext cx="4421505" cy="43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THRESHOLD AND LAG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Sub-$30,000 actions plus 12-30 month reporting lag</a:t>
            </a:r>
          </a:p>
        </p:txBody>
      </p:sp>
      <p:sp>
        <p:nvSpPr>
          <p:cNvPr id="35" name="Miss4"/>
          <p:cNvSpPr txBox="1"/>
          <p:nvPr/>
        </p:nvSpPr>
        <p:spPr>
          <a:xfrm>
            <a:off x="7313936" y="3864480"/>
            <a:ext cx="4421505" cy="43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REPORTING GAP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BIW under-reporting is acute but not the whole gap</a:t>
            </a:r>
          </a:p>
        </p:txBody>
      </p:sp>
      <p:sp>
        <p:nvSpPr>
          <p:cNvPr id="50" name="VisibleShareCallout"/>
          <p:cNvSpPr txBox="1"/>
          <p:nvPr/>
        </p:nvSpPr>
        <p:spPr>
          <a:xfrm>
            <a:off x="1103079" y="2021600"/>
            <a:ext cx="3300000" cy="5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flow is ~20.1%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of the midpoint estimate on a cumulative basis</a:t>
            </a:r>
          </a:p>
        </p:txBody>
      </p:sp>
      <p:sp>
        <p:nvSpPr>
          <p:cNvPr id="60" name="EvidenceNote"/>
          <p:cNvSpPr txBox="1"/>
          <p:nvPr/>
        </p:nvSpPr>
        <p:spPr>
          <a:xfrm>
            <a:off x="453079" y="5510000"/>
            <a:ext cx="6769417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 provides public evidence of the supplier base; it does not capture the full true flow. Values are cumulative FY2016-FY2027.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HII and General Dynamics Form 10-K filings; (3) U.S. BLS OEWS, NAICS 336611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direction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Direction | Distributed shipbuilding points toward more external production capacity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Distributed-shipbuilding signals, FY2024 Q3 to FY2026 Q1</a:t>
            </a:r>
          </a:p>
        </p:txBody>
      </p:sp>
      <p:graphicFrame>
        <p:nvGraphicFramePr>
          <p:cNvPr id="20" name="MarketDirectionTimeline"/>
          <p:cNvGraphicFramePr>
            <a:graphicFrameLocks noGrp="1"/>
          </p:cNvGraphicFramePr>
          <p:nvPr/>
        </p:nvGraphicFramePr>
        <p:xfrm>
          <a:off x="453079" y="1601600"/>
          <a:ext cx="11282362" cy="1977424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348978"/>
                <a:gridCol w="1716881"/>
                <a:gridCol w="5273277"/>
                <a:gridCol w="2943226"/>
              </a:tblGrid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Signal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Implication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FY24 Q3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over 1 million hours in 2024; planned increase of more than 30% in 2025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is now a named lever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185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 Q4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doubled year over year in 2025; +30% planned in 2026; over 23 vendors established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network is scaling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185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FY26 Q1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 track to grow outsourcing hours ~30%; first 2 of 32 units in yard from partners on DDG 137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Distributed work reaching the DDG 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185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 Q4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General Dynamics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Supply chain remains the gating item (Electric Boat context); no comparable DDG outsourcing-hours target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Constraint is broad, not a DDG plan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185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FY25-FY26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and GAO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Shipbuilders already outsource to overcome constrained physical space; distributed production policy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Directional tailwind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CommentaryRail"/>
          <p:cNvSpPr txBox="1"/>
          <p:nvPr/>
        </p:nvSpPr>
        <p:spPr>
          <a:xfrm>
            <a:off x="453079" y="3699024"/>
            <a:ext cx="11282362" cy="6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Direction: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external production capacity is expanding, especially at HII Ingalls.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Asymmetry: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HII has the clearest public commitment; GD signals supplier constraints, submarine-centric.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directional only — it does not change the FY22-27 TAM math without a refreshed model.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HII quarterly earnings materials, FY2024 Q3-FY2026 Q1; (2) General Dynamics earnings materials, FY2025 Q4-FY2026 Q1; (3) GAO-25-106286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Implications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Implications | Prioritization depends on product scope, qualification burden, and confidence in bucket visibility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Scenario prioritization scorecard, average annual FY22-27</a:t>
            </a:r>
          </a:p>
        </p:txBody>
      </p:sp>
      <p:graphicFrame>
        <p:nvGraphicFramePr>
          <p:cNvPr id="20" name="ImplicationsScorecard"/>
          <p:cNvGraphicFramePr>
            <a:graphicFrameLocks noGrp="1"/>
          </p:cNvGraphicFramePr>
          <p:nvPr/>
        </p:nvGraphicFramePr>
        <p:xfrm>
          <a:off x="453079" y="1601600"/>
          <a:ext cx="11282362" cy="1859712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95941"/>
                <a:gridCol w="1497658"/>
                <a:gridCol w="1397814"/>
                <a:gridCol w="1098283"/>
                <a:gridCol w="1497658"/>
                <a:gridCol w="3195008"/>
              </a:tblGrid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annual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Cumulative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TAM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 read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 component manufacturing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~$327M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~$1.96B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57.1%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Envelope, not a single wedge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49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~$170M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~$1.02B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29.6%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Largest targeted scenario; high if fabrication or machining scope fits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749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~$132M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~$791M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Largest single named bucket; high but qualification-heavy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749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 assemblies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~$104M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~$626M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18.2%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Strategic distributed-capacity lane; smaller in the current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~$89M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~$531M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15.4%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Medium-low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Selective, product-by-product; evidence-dependent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ClosingNote"/>
          <p:cNvSpPr txBox="1"/>
          <p:nvPr/>
        </p:nvSpPr>
        <p:spPr>
          <a:xfrm>
            <a:off x="453079" y="3601312"/>
            <a:ext cx="11282362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Where-to-play screen, not SOM.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Prioritization depends on product scope, qualification burden, and confidence in bucket visibility.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U.S. Navy FY2022-FY2027 SCN Justification Books, LI 2122; (3) GAO-25-106286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Definitions and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Definitions and Scope | Total ship cost, SCN, Basic Construction, FFATA-visible flow, and supplier-addressable TAM each do a different job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Denominator and scope ledger, DDG-51 supplier TAM</a:t>
            </a:r>
          </a:p>
        </p:txBody>
      </p:sp>
      <p:graphicFrame>
        <p:nvGraphicFramePr>
          <p:cNvPr id="20" name="DenominatorLedger"/>
          <p:cNvGraphicFramePr>
            <a:graphicFrameLocks noGrp="1"/>
          </p:cNvGraphicFramePr>
          <p:nvPr/>
        </p:nvGraphicFramePr>
        <p:xfrm>
          <a:off x="453079" y="1591600"/>
          <a:ext cx="11282362" cy="25146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92524"/>
                <a:gridCol w="2846951"/>
                <a:gridCol w="2425180"/>
                <a:gridCol w="2425180"/>
                <a:gridCol w="1792527"/>
              </a:tblGrid>
              <a:tr h="21031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Included examples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 examples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Where used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ship cost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Total Ship Estimate by procurement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Construction, Electronics, Ordnance, Plans, HM&amp;E, Other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WPN and OPN weapons, depot sustainment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Cost funnel context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LI 2122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Class Destroyer line item in the Navy SCN budget books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Flight IIA and Flight III new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DDG-1000 Zumwalt (LI 2119), cruiser modernization, depot repair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Scope gate and schedule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 construction layer flowing through BIW and Ingalls prime contracts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 work and yard-side supplier 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Navy-procured Aegis, SPY-6, Mk 41, Mk 45, LM2500, SEWIP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Current-year advance procurement and long-lead material that is supplier-addressable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Ship-construction EOQ and long-lead material after the non-GFE filter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AWS EOQ, Other GFE, VLS and weapons 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FFATA-visible flow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First-tier subawards reported to FSRS and surfaced through SAM.gov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Reportable first-tier subcontracts above the threshold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material, lower-tier subs, standing agreements, sub-threshold tail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and bucket rules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Supplier-addressable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base times the BC supplier coefficient, plus AP and LLTM base times the AP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new-construction supplier work away from the prime yards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GFE, WPN and OPN weapons, sustainment, design-only, SOM and capture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Headline market size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scenarios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Selected work-type bucket menus within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Broad, metal, electrical, modular, 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Unbucketed residual unless later classified, capture probability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Where-to-play menu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CommentaryRail"/>
          <p:cNvSpPr txBox="1"/>
          <p:nvPr/>
        </p:nvSpPr>
        <p:spPr>
          <a:xfrm>
            <a:off x="453079" y="4186200"/>
            <a:ext cx="11282362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window: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FY2022 to FY2027; the wiki framing window is FY2018 to FY2027.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 scope: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DDG-51 new-construction PIID set, two prime yards plus major GFE primes.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Zumwalt, depot sustainment, WPN and OPN weapons, GFE combat-system content, and contaminants.</a:t>
            </a:r>
          </a:p>
        </p:txBody>
      </p:sp>
      <p:sp>
        <p:nvSpPr>
          <p:cNvPr id="50" name="BoundaryCue"/>
          <p:cNvSpPr txBox="1"/>
          <p:nvPr/>
        </p:nvSpPr>
        <p:spPr>
          <a:xfrm>
            <a:off x="453079" y="5570000"/>
            <a:ext cx="11282362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Boundary cue: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deck sizes non-GFE new-construction supplier work within Basic Construction and AP and LLTM. SAM is a strict subset of TAM, never SOM.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FY2027 SCN Justification Book, LI 2122, Exhibit P-5c; (2) FAR 52.204-10 and 48 C.F.R. Part 45; (3) CRS, Navy DDG-51 and DDG-1000 Destroyer Programs, RL32109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calculation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Calculation | The annual headline is the FY22-27 cumulative two-stream model divided by six</a:t>
            </a:r>
          </a:p>
        </p:txBody>
      </p:sp>
      <p:sp>
        <p:nvSpPr>
          <p:cNvPr id="10" name="AnnualizationHeader"/>
          <p:cNvSpPr txBox="1"/>
          <p:nvPr/>
        </p:nvSpPr>
        <p:spPr>
          <a:xfrm>
            <a:off x="453079" y="1371600"/>
            <a:ext cx="11282362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 annual: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FY22-27 cumulative divided by six; not a steady run-rate. The per-FY TAM profile is lumpy, with a FY26 AP spike.</a:t>
            </a:r>
          </a:p>
        </p:txBody>
      </p:sp>
      <p:graphicFrame>
        <p:nvGraphicFramePr>
          <p:cNvPr id="20" name="TAMReconciliation"/>
          <p:cNvGraphicFramePr>
            <a:graphicFrameLocks noGrp="1"/>
          </p:cNvGraphicFramePr>
          <p:nvPr/>
        </p:nvGraphicFramePr>
        <p:xfrm>
          <a:off x="453079" y="1791600"/>
          <a:ext cx="7559182" cy="2395716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76993"/>
                <a:gridCol w="1030797"/>
                <a:gridCol w="944897"/>
                <a:gridCol w="944897"/>
                <a:gridCol w="2061598"/>
              </a:tblGrid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FY22-27 cumulative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Avg $M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source or note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17,471.0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2,911.8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BC base, LI 2122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supplier coefficient (MYP-corrected)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Other-US and foreign 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BC-stream supplier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2,192.0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365.3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 times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CY AP in-window (FY25 to FY27)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1,833.2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305.5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FY22-24 sit in Prior Years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Ship-construction share of CY 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1,466.6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244.4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AP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1,466.6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244.4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base after the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Inputs assumption knob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1,246.6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207.8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Second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Portfolio supplier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3,438.6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573.1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Headline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Average annual convention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3,438.6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573.1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divide by 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a steady run-rate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MiniBridge"/>
          <p:cNvSpPr txBox="1"/>
          <p:nvPr/>
        </p:nvSpPr>
        <p:spPr>
          <a:xfrm>
            <a:off x="8103701" y="1791600"/>
            <a:ext cx="3631740" cy="13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CUMULATIVE BRIDGE, $M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BC-stream supplier TAM: ~2,192.0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stream TAM: ~1,246.6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Portfolio supplier TAM: ~3,438.6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Divide by 6: ~573.1 per year</a:t>
            </a:r>
          </a:p>
        </p:txBody>
      </p:sp>
      <p:sp>
        <p:nvSpPr>
          <p:cNvPr id="50" name="PerHull"/>
          <p:cNvSpPr txBox="1"/>
          <p:nvPr/>
        </p:nvSpPr>
        <p:spPr>
          <a:xfrm>
            <a:off x="453079" y="5190000"/>
            <a:ext cx="11282362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13 in-window hulls (award FY22-27). Supplier TAM per hull ~$265M; BC TAM per hull ~$169M. BC base ~$17.47B less POP removal leaves the ~$2.19B BC stream.</a:t>
            </a:r>
          </a:p>
        </p:txBody>
      </p:sp>
      <p:sp>
        <p:nvSpPr>
          <p:cNvPr id="51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 2122, Exhibit P-5c; (2) U.S. Navy FY2027 SCN Justification Book, LI 2122, Exhibit P-40; (3) DoW DDG-51 contract announcements, July 2022 to May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MYP correction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 Correction | Folding the redacted $14.58B masters back into the corpus corrects outside-yards POP to about one third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7446358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 master reconstruction and outside-yards POP correction</a:t>
            </a:r>
          </a:p>
        </p:txBody>
      </p:sp>
      <p:graphicFrame>
        <p:nvGraphicFramePr>
          <p:cNvPr id="20" name="MYPReconstruction"/>
          <p:cNvGraphicFramePr>
            <a:graphicFrameLocks noGrp="1"/>
          </p:cNvGraphicFramePr>
          <p:nvPr/>
        </p:nvGraphicFramePr>
        <p:xfrm>
          <a:off x="453079" y="1591600"/>
          <a:ext cx="7446358" cy="19202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078053"/>
                <a:gridCol w="865855"/>
                <a:gridCol w="1471954"/>
                <a:gridCol w="1731711"/>
                <a:gridCol w="1298785"/>
              </a:tblGrid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Approx.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Reconstructed 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use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Guardrail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BIW FY23-27 MYP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6,400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Bath 86%, supplier 14%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PIID N00024-23-C-2305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Redacted dollar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Ingalls FY23-27 MYP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8,180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Pascagoula 88%, supplier 12%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PIID N00024-23-C-2307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Redacted dollar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Combined reconstructed masters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14,580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Yard-heavy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67.2% of gated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Too large to ignore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Disclosed announcement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7,132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152 gated actions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Disclosed-only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Over-weights GFE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corpus incl. masters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21,712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gated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Denominator for correction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for the corrected view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Corrected outside-yards 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32.8%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Other-US and foreign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Defensible reading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646464"/>
                          </a:solidFill>
                          <a:latin typeface="Arial"/>
                          <a:ea typeface="Arial"/>
                          <a:cs typeface="Arial"/>
                        </a:rPr>
                        <a:t>Disclosed-only artifact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73.6%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Guardrail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headline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TAM sensitivity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1,310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Uplift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~$3.44B corrected vs ~$2.13B disclosed-only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Method swing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OutsideYardsComparison"/>
          <p:cNvSpPr txBox="1"/>
          <p:nvPr/>
        </p:nvSpPr>
        <p:spPr>
          <a:xfrm>
            <a:off x="7990877" y="1601600"/>
            <a:ext cx="3744564" cy="147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Outside-yards POP share</a:t>
            </a:r>
          </a:p>
        </p:txBody>
      </p:sp>
      <p:sp>
        <p:nvSpPr>
          <p:cNvPr id="41" name="BarLabel"/>
          <p:cNvSpPr txBox="1"/>
          <p:nvPr/>
        </p:nvSpPr>
        <p:spPr>
          <a:xfrm>
            <a:off x="8150877" y="2031600"/>
            <a:ext cx="1232843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Disclosed-only artifact</a:t>
            </a:r>
          </a:p>
        </p:txBody>
      </p:sp>
      <p:sp>
        <p:nvSpPr>
          <p:cNvPr id="141" name="BarBack"/>
          <p:cNvSpPr txBox="1"/>
          <p:nvPr/>
        </p:nvSpPr>
        <p:spPr>
          <a:xfrm>
            <a:off x="9429440" y="2121600"/>
            <a:ext cx="2146001" cy="1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1" name="BarFill"/>
          <p:cNvSpPr txBox="1"/>
          <p:nvPr/>
        </p:nvSpPr>
        <p:spPr>
          <a:xfrm>
            <a:off x="9429440" y="2121600"/>
            <a:ext cx="1579456" cy="18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41" name="BarValue"/>
          <p:cNvSpPr txBox="1"/>
          <p:nvPr/>
        </p:nvSpPr>
        <p:spPr>
          <a:xfrm>
            <a:off x="10725441" y="2031600"/>
            <a:ext cx="85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73.6%</a:t>
            </a:r>
          </a:p>
        </p:txBody>
      </p:sp>
      <p:sp>
        <p:nvSpPr>
          <p:cNvPr id="42" name="BarLabel"/>
          <p:cNvSpPr txBox="1"/>
          <p:nvPr/>
        </p:nvSpPr>
        <p:spPr>
          <a:xfrm>
            <a:off x="8150877" y="2451600"/>
            <a:ext cx="1232843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MYP-corrected</a:t>
            </a:r>
          </a:p>
        </p:txBody>
      </p:sp>
      <p:sp>
        <p:nvSpPr>
          <p:cNvPr id="142" name="BarBack"/>
          <p:cNvSpPr txBox="1"/>
          <p:nvPr/>
        </p:nvSpPr>
        <p:spPr>
          <a:xfrm>
            <a:off x="9429440" y="2541600"/>
            <a:ext cx="2146001" cy="1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2" name="BarFill"/>
          <p:cNvSpPr txBox="1"/>
          <p:nvPr/>
        </p:nvSpPr>
        <p:spPr>
          <a:xfrm>
            <a:off x="9429440" y="2541600"/>
            <a:ext cx="703888" cy="18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42" name="BarValue"/>
          <p:cNvSpPr txBox="1"/>
          <p:nvPr/>
        </p:nvSpPr>
        <p:spPr>
          <a:xfrm>
            <a:off x="10725441" y="2451600"/>
            <a:ext cx="85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32.8%</a:t>
            </a:r>
          </a:p>
        </p:txBody>
      </p:sp>
      <p:sp>
        <p:nvSpPr>
          <p:cNvPr id="50" name="Read"/>
          <p:cNvSpPr txBox="1"/>
          <p:nvPr/>
        </p:nvSpPr>
        <p:spPr>
          <a:xfrm>
            <a:off x="7990877" y="2931600"/>
            <a:ext cx="3744564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 the corrected view is about one third of the gated corpus, corrected to from the artifact.</a:t>
            </a:r>
          </a:p>
        </p:txBody>
      </p:sp>
      <p:sp>
        <p:nvSpPr>
          <p:cNvPr id="60" name="Guardrail"/>
          <p:cNvSpPr txBox="1"/>
          <p:nvPr/>
        </p:nvSpPr>
        <p:spPr>
          <a:xfrm>
            <a:off x="453079" y="5440000"/>
            <a:ext cx="11282362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Guardrail: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do not headline the disclosed artifact; the ~32.8% outside-yards POP is not the 12.5% BC supplier coefficient.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DoW DDG-51 contract announcements, Aug. 1 and Aug. 11, 2023; (2) 41 U.S. Code 2101 et seq. and FAR 2.101 and 3.104; (3) USNI News, Navy reporting on the FY23-27 DDG-51 multiyear master awards, 2023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 and LLTM sensitivity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Sensitivity | The AP and LLTM stream is assumption-driven and contributes about 36% of portfolio TAM</a:t>
            </a:r>
          </a:p>
        </p:txBody>
      </p:sp>
      <p:graphicFrame>
        <p:nvGraphicFramePr>
          <p:cNvPr id="20" name="APStreamBuild"/>
          <p:cNvGraphicFramePr>
            <a:graphicFrameLocks noGrp="1"/>
          </p:cNvGraphicFramePr>
          <p:nvPr/>
        </p:nvGraphicFramePr>
        <p:xfrm>
          <a:off x="453079" y="1371600"/>
          <a:ext cx="5979651" cy="1484122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993217"/>
                <a:gridCol w="797286"/>
                <a:gridCol w="797286"/>
                <a:gridCol w="797286"/>
                <a:gridCol w="1594576"/>
              </a:tblGrid>
              <a:tr h="34137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Cum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Avg $M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Share or coeff.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Treatment note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CY Advance Procurement, in-window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1,833.2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305.5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FY25-27 CY AP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 ship-construction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1,466.6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244.4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Strips AWS EOQ and other GFE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137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 AP and LLTM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1,246.6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207.8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Inputs assumption (no AP POP corpus)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137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1,246.6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207.8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36.3%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Share of ~$3.44B portfolio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CommentaryRail"/>
          <p:cNvSpPr txBox="1"/>
          <p:nvPr/>
        </p:nvSpPr>
        <p:spPr>
          <a:xfrm>
            <a:off x="453079" y="2995722"/>
            <a:ext cx="5979651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Include: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Ship Construction EOQ and supplier-addressable long-lead material.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Aegis Weapon System EOQ, Other GFE, VLS, weapons and ordnance AP, WPN and OPN flows.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Already in BC: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Power Conversion Modules moved into Basic Construction in FY23; do not re-add.</a:t>
            </a:r>
          </a:p>
        </p:txBody>
      </p:sp>
      <p:sp>
        <p:nvSpPr>
          <p:cNvPr id="50" name="ExhibitTitle"/>
          <p:cNvSpPr txBox="1"/>
          <p:nvPr/>
        </p:nvSpPr>
        <p:spPr>
          <a:xfrm>
            <a:off x="6524170" y="1371600"/>
            <a:ext cx="521127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cumulative TAM sensitivity, $M</a:t>
            </a:r>
          </a:p>
        </p:txBody>
      </p:sp>
      <p:graphicFrame>
        <p:nvGraphicFramePr>
          <p:cNvPr id="60" name="APSensitivity"/>
          <p:cNvGraphicFramePr>
            <a:graphicFrameLocks noGrp="1"/>
          </p:cNvGraphicFramePr>
          <p:nvPr/>
        </p:nvGraphicFramePr>
        <p:xfrm>
          <a:off x="6524170" y="1631600"/>
          <a:ext cx="5211271" cy="92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88934"/>
                <a:gridCol w="1240778"/>
                <a:gridCol w="1240778"/>
                <a:gridCol w="1240781"/>
              </a:tblGrid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coeff 75%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coeff 85%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coeff 95%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962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1,091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1,219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1,100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1,247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1,393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1,237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1,403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1,568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Line Item 2122; (2) CRS, Navy DDG-51 and DDG-1000 Destroyer Programs, RL32109; (3) DoD daily contract announcement, DDG 51 FY23-27 multiyear award, Aug. 1, 2023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FFATA limitations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 Limitations | Visible first-tier subawards are a floor and evidence base, not the market denominator</a:t>
            </a:r>
          </a:p>
        </p:txBody>
      </p:sp>
      <p:graphicFrame>
        <p:nvGraphicFramePr>
          <p:cNvPr id="20" name="FFATAEvidenceLedger"/>
          <p:cNvGraphicFramePr>
            <a:graphicFrameLocks noGrp="1"/>
          </p:cNvGraphicFramePr>
          <p:nvPr/>
        </p:nvGraphicFramePr>
        <p:xfrm>
          <a:off x="453079" y="1371600"/>
          <a:ext cx="7107888" cy="2145779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91778"/>
                <a:gridCol w="1842785"/>
                <a:gridCol w="1842785"/>
                <a:gridCol w="1930540"/>
              </a:tblGrid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Public-data element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captures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misses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Implication for deck use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 first-tier subawards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prime-to-sub subcontracts above the $30,000 threshold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Lower-tier suppliers and sub-threshold actions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 floor and evidence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published and deleted records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FSRS records surfaced through the SAM.gov API (no per-PIID cap)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Reporting lag of 12 to 30 months and late corrections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Longitudinal evidence with a timing caveat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Yard-prime PIID filings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Yard-side filings by BIW and Ingalls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material booked as direct cost and standing agreements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Supports the supplier landscape, not the 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Vendor and description fields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 supplier names and award descriptions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Incomplete NAICS and UEI resolution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for SAM classification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Entity Management enrichment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Entity attributes, country, and validation support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Corporate-primary NAICS, not action-level work type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Useful for cleaning and enrichment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USAspending cross-validation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 cross-check against the federal spending view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Truncation at about 2,500 records per PIID and timing differences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Triangulation only; SAM.gov is canonical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0" name="CumulativeRangeCue"/>
          <p:cNvGraphicFramePr>
            <a:graphicFrameLocks noGrp="1"/>
          </p:cNvGraphicFramePr>
          <p:nvPr/>
        </p:nvGraphicFramePr>
        <p:xfrm>
          <a:off x="7652407" y="1371600"/>
          <a:ext cx="4083034" cy="141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51896"/>
                <a:gridCol w="1531138"/>
              </a:tblGrid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Cumulative yard-side view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 visible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~$2.73B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Estimated 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~$11.31B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Estimated midpoint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~$13.57B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Estimated 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~$16.16B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 share at midpoint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0" name="LimitationsRail"/>
          <p:cNvSpPr txBox="1"/>
          <p:nvPr/>
        </p:nvSpPr>
        <p:spPr>
          <a:xfrm>
            <a:off x="453079" y="5440000"/>
            <a:ext cx="11282362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What FFATA misses: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direct material booked as direct cost (~$400 to 700M per year), lower-tier subcontracts, BIW under-reporting, long-term supplier agreements, sub-$30,000 tail, and 12 to 30 month reporting lag.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FAR 52.204-10; (2) SAM.gov Acquisition Subaward Reporting Public API; (3) GAO-25-106286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Bucket rules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Rules and Supplier Evidence | Description-led classification maps subawards into seven target work types, with an explicit residual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definitions, scale, and supplier evidence</a:t>
            </a:r>
          </a:p>
        </p:txBody>
      </p:sp>
      <p:graphicFrame>
        <p:nvGraphicFramePr>
          <p:cNvPr id="20" name="BucketRules"/>
          <p:cNvGraphicFramePr>
            <a:graphicFrameLocks noGrp="1"/>
          </p:cNvGraphicFramePr>
          <p:nvPr/>
        </p:nvGraphicFramePr>
        <p:xfrm>
          <a:off x="453079" y="1591600"/>
          <a:ext cx="11282362" cy="257860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75927"/>
                <a:gridCol w="2925056"/>
                <a:gridCol w="1253595"/>
                <a:gridCol w="1253595"/>
                <a:gridCol w="2611657"/>
                <a:gridCol w="1462532"/>
              </a:tblGrid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Inclusion rule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Avg annual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FY22-27 cum.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 and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 sections, fabricated structural metal, deckhouse, pre-outfit modules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~$101M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~$608M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Major Tool and Machine; Superior Electromechanical; Leonardo via DRS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metal, modular,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Machine shops, precision machining, mechanical power transmission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~$66M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~$394M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Major Tool and Machine; Rolls-Royce; Timken Gears and Services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metal, HM&amp;E,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Iron and steel forging, steel foundries, cast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Ellwood Group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Piping, valves, and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Industrial valves, pumps, manifolds, pipe and fittings, hydraulics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~$78M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Curtiss-Wright; CIRCOR; Leslie Controls (vendor overrides)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Switchgear, switchboards, cable, generators, motors, power distribution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~$132M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~$791M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Leonardo via DRS; General Electric; DRS Naval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and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Air-conditioning, chilled water, warm-air heating, shipboard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~$59M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Johnson Controls Navy Systems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and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Coatings, paint, deck covering, insulation, rubber and synthetic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~$17M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M.S.M. Industries; Espey Mfg. and Electronics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Unbucketed / ambiguous residual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Insufficient description, ambiguous scope, or evidence too thin to classify; do not force-classify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~$246M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~$1.47B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Held explicit; not assigned to a named 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 from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0" name="RuleCue"/>
          <p:cNvSpPr txBox="1"/>
          <p:nvPr/>
        </p:nvSpPr>
        <p:spPr>
          <a:xfrm>
            <a:off x="453079" y="5440000"/>
            <a:ext cx="11282362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Arbiter: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description keyword, then vendor override, then NAICS-4 fallback, then residual.</a:t>
            </a:r>
          </a:p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Scenarios: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broad component manufacturing is the seven named buckets; the residual is excluded until evidence assigns a named bucket.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SAM.gov Entity Management API; (3) FAR 52.204-10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deck_ddg_draft</Application>
  <PresentationFormat>Widescreen</PresentationFormat>
  <Slides>21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Destroyers - Outsourced Construction TAM &amp; SAM (DRAFT)</dc:title>
  <dc:creator>deck_ddg_draft build_drafts.py</dc:creator>
  <cp:lastModifiedBy>deck_ddg_draft build_drafts.py</cp:lastModifiedBy>
  <cp:revision>1</cp:revision>
  <dcterms:created xsi:type="dcterms:W3CDTF">2026-06-15T14:11:06Z</dcterms:created>
  <dcterms:modified xsi:type="dcterms:W3CDTF">2026-06-15T14:11:06Z</dcterms:modified>
</cp:coreProperties>
</file>