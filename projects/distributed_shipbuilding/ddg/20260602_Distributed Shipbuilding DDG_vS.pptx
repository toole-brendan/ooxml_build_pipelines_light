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embeddings/Microsoft_Excel_Worksheet9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Total ship</c:v>
                </c:pt>
                <c:pt idx="1">
                  <c:v>Less GFE</c:v>
                </c:pt>
                <c:pt idx="2">
                  <c:v>Less other</c:v>
                </c:pt>
                <c:pt idx="3">
                  <c:v>Basic Construction</c:v>
                </c:pt>
              </c:strCache>
            </c:strRef>
          </c:cat>
          <c:val>
            <c:numRef>
              <c:f>Sheet1!$B$2:$B$5</c:f>
              <c:numCache>
                <c:formatCode>"$"#,##0"M"</c:formatCode>
                <c:ptCount val="4"/>
                <c:pt idx="1">
                  <c:v>3685.0</c:v>
                </c:pt>
                <c:pt idx="2">
                  <c:v>3322.0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Total ship</c:v>
                </c:pt>
                <c:pt idx="1">
                  <c:v>Less GFE</c:v>
                </c:pt>
                <c:pt idx="2">
                  <c:v>Less other</c:v>
                </c:pt>
                <c:pt idx="3">
                  <c:v>Basic Construction</c:v>
                </c:pt>
              </c:strCache>
            </c:strRef>
          </c:cat>
          <c:val>
            <c:numRef>
              <c:f>Sheet1!$C$2:$C$5</c:f>
              <c:numCache>
                <c:formatCode>"$"#,##0"M"</c:formatCode>
                <c:ptCount val="4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Total ship</c:v>
                </c:pt>
                <c:pt idx="1">
                  <c:v>Less GFE</c:v>
                </c:pt>
                <c:pt idx="2">
                  <c:v>Less other</c:v>
                </c:pt>
                <c:pt idx="3">
                  <c:v>Basic Construction</c:v>
                </c:pt>
              </c:strCache>
            </c:strRef>
          </c:cat>
          <c:val>
            <c:numRef>
              <c:f>Sheet1!$D$2:$D$5</c:f>
              <c:numCache>
                <c:formatCode>"$"#,##0"M"</c:formatCode>
                <c:ptCount val="4"/>
                <c:pt idx="1">
                  <c:v>1807.0</c:v>
                </c:pt>
                <c:pt idx="2">
                  <c:v>363.0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Total ship</c:v>
                </c:pt>
                <c:pt idx="1">
                  <c:v>Less GFE</c:v>
                </c:pt>
                <c:pt idx="2">
                  <c:v>Less other</c:v>
                </c:pt>
                <c:pt idx="3">
                  <c:v>Basic Construction</c:v>
                </c:pt>
              </c:strCache>
            </c:strRef>
          </c:cat>
          <c:val>
            <c:numRef>
              <c:f>Sheet1!$E$2:$E$5</c:f>
              <c:numCache>
                <c:formatCode>"$"#,##0"M"</c:formatCode>
                <c:ptCount val="4"/>
                <c:pt idx="0">
                  <c:v>5492.0</c:v>
                </c:pt>
                <c:pt idx="3">
                  <c:v>3322.0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BIW site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Sheet1!$B$2:$B$2</c:f>
              <c:numCache>
                <c:formatCode>0.0%</c:formatCode>
                <c:ptCount val="1"/>
                <c:pt idx="0">
                  <c:v>0.29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Ingalls site</c:v>
                </c:pt>
              </c:strCache>
            </c:strRef>
          </c:tx>
          <c:spPr>
            <a:solidFill>
              <a:srgbClr val="BEBEBE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0.336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Other-US supplier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Sheet1!$D$2:$D$2</c:f>
              <c:numCache>
                <c:formatCode>0.0%</c:formatCode>
                <c:ptCount val="1"/>
                <c:pt idx="0">
                  <c:v>0.315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Foreign</c:v>
                </c:pt>
              </c:strCache>
            </c:strRef>
          </c:tx>
          <c:spPr>
            <a:solidFill>
              <a:srgbClr val="89A2B0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Sheet1!$E$2:$E$2</c:f>
              <c:numCache>
                <c:formatCode>0.0%</c:formatCode>
                <c:ptCount val="1"/>
                <c:pt idx="0">
                  <c:v>0.013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Unparsed</c:v>
                </c:pt>
              </c:strCache>
            </c:strRef>
          </c:tx>
          <c:spPr>
            <a:solidFill>
              <a:srgbClr val="DBDBDB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Sheet1!$F$2:$F$2</c:f>
              <c:numCache>
                <c:formatCode>0.0%</c:formatCode>
                <c:ptCount val="1"/>
                <c:pt idx="0">
                  <c:v>0.045</c:v>
                </c:pt>
              </c:numCache>
            </c:numRef>
          </c:val>
        </c:ser>
        <c:gapWidth val="25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8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Outside-yards share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A1A1A1"/>
              </a:solidFill>
              <a:ln w="6350">
                <a:solidFill>
                  <a:srgbClr val="000000"/>
                </a:solidFill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11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11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11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MYP-corrected</c:v>
                </c:pt>
                <c:pt idx="1">
                  <c:v>Disclosed artifact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0.328</c:v>
                </c:pt>
                <c:pt idx="1">
                  <c:v>0.736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Remainder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MYP-corrected</c:v>
                </c:pt>
                <c:pt idx="1">
                  <c:v>Disclosed artifact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0">
                  <c:v>0.672</c:v>
                </c:pt>
                <c:pt idx="1">
                  <c:v>0.264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base</c:v>
                </c:pt>
                <c:pt idx="1">
                  <c:v>Less non-supplier</c:v>
                </c:pt>
                <c:pt idx="2">
                  <c:v>BC stream</c:v>
                </c:pt>
                <c:pt idx="3">
                  <c:v>AP/LLTM</c:v>
                </c:pt>
                <c:pt idx="4">
                  <c:v>Portfolio TAM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1">
                  <c:v>365.3000000000002</c:v>
                </c:pt>
                <c:pt idx="3">
                  <c:v>365.3000000000002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base</c:v>
                </c:pt>
                <c:pt idx="1">
                  <c:v>Less non-supplier</c:v>
                </c:pt>
                <c:pt idx="2">
                  <c:v>BC stream</c:v>
                </c:pt>
                <c:pt idx="3">
                  <c:v>AP/LLTM</c:v>
                </c:pt>
                <c:pt idx="4">
                  <c:v>Portfolio TAM</c:v>
                </c:pt>
              </c:strCache>
            </c:strRef>
          </c:cat>
          <c:val>
            <c:numRef>
              <c:f>Sheet1!$C$2:$C$6</c:f>
              <c:numCache>
                <c:formatCode>"$"#,##0"M"</c:formatCode>
                <c:ptCount val="5"/>
                <c:pt idx="3">
                  <c:v>207.8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base</c:v>
                </c:pt>
                <c:pt idx="1">
                  <c:v>Less non-supplier</c:v>
                </c:pt>
                <c:pt idx="2">
                  <c:v>BC stream</c:v>
                </c:pt>
                <c:pt idx="3">
                  <c:v>AP/LLTM</c:v>
                </c:pt>
                <c:pt idx="4">
                  <c:v>Portfolio TAM</c:v>
                </c:pt>
              </c:strCache>
            </c:strRef>
          </c:cat>
          <c:val>
            <c:numRef>
              <c:f>Sheet1!$D$2:$D$6</c:f>
              <c:numCache>
                <c:formatCode>"$"#,##0"M"</c:formatCode>
                <c:ptCount val="5"/>
                <c:pt idx="1">
                  <c:v>2546.5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base</c:v>
                </c:pt>
                <c:pt idx="1">
                  <c:v>Less non-supplier</c:v>
                </c:pt>
                <c:pt idx="2">
                  <c:v>BC stream</c:v>
                </c:pt>
                <c:pt idx="3">
                  <c:v>AP/LLTM</c:v>
                </c:pt>
                <c:pt idx="4">
                  <c:v>Portfolio TAM</c:v>
                </c:pt>
              </c:strCache>
            </c:strRef>
          </c:cat>
          <c:val>
            <c:numRef>
              <c:f>Sheet1!$E$2:$E$6</c:f>
              <c:numCache>
                <c:formatCode>"$"#,##0"M"</c:formatCode>
                <c:ptCount val="5"/>
                <c:pt idx="0">
                  <c:v>2911.8</c:v>
                </c:pt>
                <c:pt idx="2">
                  <c:v>365.3000000000002</c:v>
                </c:pt>
                <c:pt idx="4">
                  <c:v>573.1000000000001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BC stream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"$"#,##0"M"</c:formatCode>
                <c:ptCount val="6"/>
                <c:pt idx="0">
                  <c:v>245.9</c:v>
                </c:pt>
                <c:pt idx="1">
                  <c:v>571.9</c:v>
                </c:pt>
                <c:pt idx="2">
                  <c:v>416.9</c:v>
                </c:pt>
                <c:pt idx="3">
                  <c:v>580.7</c:v>
                </c:pt>
                <c:pt idx="4">
                  <c:v>35.5</c:v>
                </c:pt>
                <c:pt idx="5">
                  <c:v>341.2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AP/LLTM stream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"$"#,##0"M"</c:formatCode>
                <c:ptCount val="6"/>
                <c:pt idx="3">
                  <c:v>56.6</c:v>
                </c:pt>
                <c:pt idx="4">
                  <c:v>1190.0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TAM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1A1A1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D8E3EB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BEBEBE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BEBEBE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Unbucketed</c:v>
                </c:pt>
                <c:pt idx="1">
                  <c:v>Electrical/power</c:v>
                </c:pt>
                <c:pt idx="2">
                  <c:v>Structural</c:v>
                </c:pt>
                <c:pt idx="3">
                  <c:v>Machining</c:v>
                </c:pt>
                <c:pt idx="4">
                  <c:v>Piping/valves</c:v>
                </c:pt>
                <c:pt idx="5">
                  <c:v>HVAC</c:v>
                </c:pt>
                <c:pt idx="6">
                  <c:v>Coatings</c:v>
                </c:pt>
                <c:pt idx="7">
                  <c:v>Castings</c:v>
                </c:pt>
              </c:strCache>
            </c:strRef>
          </c:cat>
          <c:val>
            <c:numRef>
              <c:f>Sheet1!$B$2:$B$9</c:f>
              <c:numCache>
                <c:formatCode>"$"#,##0"M"</c:formatCode>
                <c:ptCount val="8"/>
                <c:pt idx="0">
                  <c:v>245.8</c:v>
                </c:pt>
                <c:pt idx="1">
                  <c:v>131.8</c:v>
                </c:pt>
                <c:pt idx="2">
                  <c:v>101.4</c:v>
                </c:pt>
                <c:pt idx="3">
                  <c:v>65.6</c:v>
                </c:pt>
                <c:pt idx="4">
                  <c:v>13.0</c:v>
                </c:pt>
                <c:pt idx="5">
                  <c:v>9.9</c:v>
                </c:pt>
                <c:pt idx="6">
                  <c:v>2.8</c:v>
                </c:pt>
                <c:pt idx="7">
                  <c:v>2.7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components</c:v>
                </c:pt>
                <c:pt idx="1">
                  <c:v>Metal components</c:v>
                </c:pt>
                <c:pt idx="2">
                  <c:v>Electrical/power</c:v>
                </c:pt>
                <c:pt idx="3">
                  <c:v>Modular assy</c:v>
                </c:pt>
                <c:pt idx="4">
                  <c:v>HM&amp;E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0">
                  <c:v>327.3</c:v>
                </c:pt>
                <c:pt idx="1">
                  <c:v>169.7</c:v>
                </c:pt>
                <c:pt idx="2">
                  <c:v>131.8</c:v>
                </c:pt>
                <c:pt idx="3">
                  <c:v>104.3</c:v>
                </c:pt>
                <c:pt idx="4">
                  <c:v>88.5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Lifetime visible flow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8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9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Leonardo SpA</c:v>
                </c:pt>
                <c:pt idx="1">
                  <c:v>Arctic Slope Regional Corp</c:v>
                </c:pt>
                <c:pt idx="2">
                  <c:v>Major Tool and Machine</c:v>
                </c:pt>
                <c:pt idx="3">
                  <c:v>General Dynamics Corp</c:v>
                </c:pt>
                <c:pt idx="4">
                  <c:v>General Electric Co</c:v>
                </c:pt>
                <c:pt idx="5">
                  <c:v>Rolls-Royce Holdings plc</c:v>
                </c:pt>
                <c:pt idx="6">
                  <c:v>Northrop Grumman Corp</c:v>
                </c:pt>
                <c:pt idx="7">
                  <c:v>Johnson Controls Navy Systems</c:v>
                </c:pt>
                <c:pt idx="8">
                  <c:v>Advanced Sciences and Technologies</c:v>
                </c:pt>
                <c:pt idx="9">
                  <c:v>CAES Systems LLC</c:v>
                </c:pt>
              </c:strCache>
            </c:strRef>
          </c:cat>
          <c:val>
            <c:numRef>
              <c:f>Sheet1!$B$2:$B$11</c:f>
              <c:numCache>
                <c:formatCode>"$"#,##0"M"</c:formatCode>
                <c:ptCount val="10"/>
                <c:pt idx="0">
                  <c:v>1810.3</c:v>
                </c:pt>
                <c:pt idx="1">
                  <c:v>987.4</c:v>
                </c:pt>
                <c:pt idx="2">
                  <c:v>816.1</c:v>
                </c:pt>
                <c:pt idx="3">
                  <c:v>372.0</c:v>
                </c:pt>
                <c:pt idx="4">
                  <c:v>335.6</c:v>
                </c:pt>
                <c:pt idx="5">
                  <c:v>257.2</c:v>
                </c:pt>
                <c:pt idx="6">
                  <c:v>249.3</c:v>
                </c:pt>
                <c:pt idx="7">
                  <c:v>178.2</c:v>
                </c:pt>
                <c:pt idx="8">
                  <c:v>174.0</c:v>
                </c:pt>
                <c:pt idx="9">
                  <c:v>169.2</c:v>
                </c:pt>
              </c:numCache>
            </c:numRef>
          </c:val>
        </c:ser>
        <c:gapWidth val="4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FY2016-FY2027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Visible flow</c:v>
                </c:pt>
                <c:pt idx="1">
                  <c:v>Outsourcing low</c:v>
                </c:pt>
                <c:pt idx="2">
                  <c:v>Outsourcing mid</c:v>
                </c:pt>
                <c:pt idx="3">
                  <c:v>Outsourcing high</c:v>
                </c:pt>
              </c:strCache>
            </c:strRef>
          </c:cat>
          <c:val>
            <c:numRef>
              <c:f>Sheet1!$B$2:$B$5</c:f>
              <c:numCache>
                <c:formatCode>"$"#,##0"M"</c:formatCode>
                <c:ptCount val="4"/>
                <c:pt idx="0">
                  <c:v>2728.6</c:v>
                </c:pt>
                <c:pt idx="1">
                  <c:v>11311.4</c:v>
                </c:pt>
                <c:pt idx="2">
                  <c:v>13573.7</c:v>
                </c:pt>
                <c:pt idx="3">
                  <c:v>16159.2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verTitle"/>
          <p:cNvSpPr>
            <a:spLocks noGrp="1"/>
          </p:cNvSpPr>
          <p:nvPr>
            <p:ph type="body" sz="quarter" idx="12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DDG-51 Supplier Market Sizing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TAM and SAM for the DDG-51 new-construction supplier base, average annual FY2022–FY2027</a:t>
            </a:r>
          </a:p>
        </p:txBody>
      </p:sp>
      <p:sp>
        <p:nvSpPr>
          <p:cNvPr id="101" name="CoverFoot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kern="1200" dirty="0"/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Market and Scope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supplier-addressable market is a narrow slice of total DDG-51 spend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Primer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Primer | DDG-51 construction dollars flow through yards, Navy-procured GFE primes, and yard-side suppliers</a:t>
            </a:r>
          </a:p>
        </p:txBody>
      </p:sp>
      <p:sp>
        <p:nvSpPr>
          <p:cNvPr id="30" name="FundingNode"/>
          <p:cNvSpPr txBox="1"/>
          <p:nvPr/>
        </p:nvSpPr>
        <p:spPr>
          <a:xfrm>
            <a:off x="3444260" y="1431600"/>
            <a:ext cx="5300000" cy="58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U.S. NAVY AND SCN LINE ITEM 2122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DDG-51 new-construction funding</a:t>
            </a:r>
          </a:p>
        </p:txBody>
      </p:sp>
      <p:sp>
        <p:nvSpPr>
          <p:cNvPr id="31" name="PrimeYardCard"/>
          <p:cNvSpPr txBox="1"/>
          <p:nvPr/>
        </p:nvSpPr>
        <p:spPr>
          <a:xfrm>
            <a:off x="753079" y="2691600"/>
            <a:ext cx="3280000" cy="10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Bath Iron Works</a:t>
            </a:r>
          </a:p>
          <a:p>
            <a:pPr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Bath, ME and Brunswick, ME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yard and DDG-51 design agent</a:t>
            </a:r>
          </a:p>
        </p:txBody>
      </p:sp>
      <p:sp>
        <p:nvSpPr>
          <p:cNvPr id="32" name="PrimeYardCard"/>
          <p:cNvSpPr txBox="1"/>
          <p:nvPr/>
        </p:nvSpPr>
        <p:spPr>
          <a:xfrm>
            <a:off x="4173079" y="2691600"/>
            <a:ext cx="3280000" cy="10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Ingalls Shipbuilding</a:t>
            </a:r>
          </a:p>
          <a:p>
            <a:pPr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Pascagoula, MS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yard and distributed-shipbuilding network</a:t>
            </a:r>
          </a:p>
        </p:txBody>
      </p:sp>
      <p:sp>
        <p:nvSpPr>
          <p:cNvPr id="33" name="GFEPrimesCard"/>
          <p:cNvSpPr txBox="1"/>
          <p:nvPr/>
        </p:nvSpPr>
        <p:spPr>
          <a:xfrm>
            <a:off x="7853079" y="2691600"/>
            <a:ext cx="3632362" cy="10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7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Navy-procured GFE primes</a:t>
            </a:r>
          </a:p>
          <a:p>
            <a:pPr>
              <a:lnSpc>
                <a:spcPct val="115000"/>
              </a:lnSpc>
              <a:spcAft>
                <a:spcPts val="7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Aegis, SPY-6, VLS, Mk 45, LM2500, SEWIP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from non-GFE supplier TAM</a:t>
            </a:r>
          </a:p>
        </p:txBody>
      </p:sp>
      <p:sp>
        <p:nvSpPr>
          <p:cNvPr id="34" name="ExcludedTag"/>
          <p:cNvSpPr txBox="1"/>
          <p:nvPr/>
        </p:nvSpPr>
        <p:spPr>
          <a:xfrm>
            <a:off x="8799260" y="3971600"/>
            <a:ext cx="1740000" cy="260000"/>
          </a:xfrm>
          <a:prstGeom prst="roundRect">
            <a:avLst>
              <a:gd name="adj" fmla="val 42000"/>
            </a:avLst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900" b="1" kern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EXCLUDED FROM TAM</a:t>
            </a:r>
          </a:p>
        </p:txBody>
      </p:sp>
      <p:sp>
        <p:nvSpPr>
          <p:cNvPr id="40" name="SupplierRailCap"/>
          <p:cNvSpPr txBox="1"/>
          <p:nvPr/>
        </p:nvSpPr>
        <p:spPr>
          <a:xfrm>
            <a:off x="753079" y="4071600"/>
            <a:ext cx="6840000" cy="3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YARD-SIDE SUPPLIER WORK SIZED IN THIS DECK</a:t>
            </a:r>
          </a:p>
        </p:txBody>
      </p:sp>
      <p:sp>
        <p:nvSpPr>
          <p:cNvPr id="41" name="SupplierRailBody"/>
          <p:cNvSpPr txBox="1"/>
          <p:nvPr/>
        </p:nvSpPr>
        <p:spPr>
          <a:xfrm>
            <a:off x="753079" y="4431600"/>
            <a:ext cx="6840000" cy="8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fabrication, machining, electrical and power, piping, HVAC, coatings, castings and forgings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supplier-addressable material</a:t>
            </a:r>
          </a:p>
        </p:txBody>
      </p:sp>
      <p:sp>
        <p:nvSpPr>
          <p:cNvPr id="50" name="CommentaryRail"/>
          <p:cNvSpPr txBox="1"/>
          <p:nvPr/>
        </p:nvSpPr>
        <p:spPr>
          <a:xfrm>
            <a:off x="7853079" y="4341600"/>
            <a:ext cx="3632362" cy="1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0000" tIns="20000" rIns="30000" bIns="20000"/>
          <a:lstStyle/>
          <a:p>
            <a:pPr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the flows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market in layers, not as one gross ship cost.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Sized market: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non-GFE new-construction supplier work that sits outside the two assembling yards.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context: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critical DDG supplier flow, but outside this TAM definition.</a:t>
            </a:r>
          </a:p>
        </p:txBody>
      </p:sp>
      <p:cxnSp>
        <p:nvCxnSpPr>
          <p:cNvPr id="10" name="FundingToSplit"/>
          <p:cNvCxnSpPr/>
          <p:nvPr/>
        </p:nvCxnSpPr>
        <p:spPr>
          <a:xfrm>
            <a:off x="6094260" y="2011600"/>
            <a:ext cx="0" cy="3200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1" name="SplitBus"/>
          <p:cNvCxnSpPr/>
          <p:nvPr/>
        </p:nvCxnSpPr>
        <p:spPr>
          <a:xfrm>
            <a:off x="2393079" y="2331600"/>
            <a:ext cx="727618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2" name="SplitToBIW"/>
          <p:cNvCxnSpPr/>
          <p:nvPr/>
        </p:nvCxnSpPr>
        <p:spPr>
          <a:xfrm>
            <a:off x="2393079" y="2331600"/>
            <a:ext cx="0" cy="36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13" name="SplitToIngalls"/>
          <p:cNvCxnSpPr/>
          <p:nvPr/>
        </p:nvCxnSpPr>
        <p:spPr>
          <a:xfrm>
            <a:off x="5813079" y="2331600"/>
            <a:ext cx="0" cy="36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14" name="SplitToGFE"/>
          <p:cNvCxnSpPr/>
          <p:nvPr/>
        </p:nvCxnSpPr>
        <p:spPr>
          <a:xfrm>
            <a:off x="9669260" y="2331600"/>
            <a:ext cx="0" cy="36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15" name="BIWToSupplierBus"/>
          <p:cNvCxnSpPr/>
          <p:nvPr/>
        </p:nvCxnSpPr>
        <p:spPr>
          <a:xfrm>
            <a:off x="2393079" y="3711600"/>
            <a:ext cx="0" cy="800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6" name="IngallsToSupplierBus"/>
          <p:cNvCxnSpPr/>
          <p:nvPr/>
        </p:nvCxnSpPr>
        <p:spPr>
          <a:xfrm>
            <a:off x="5813079" y="3711600"/>
            <a:ext cx="0" cy="800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7" name="YardSupplierBus"/>
          <p:cNvCxnSpPr/>
          <p:nvPr/>
        </p:nvCxnSpPr>
        <p:spPr>
          <a:xfrm>
            <a:off x="2393079" y="3791600"/>
            <a:ext cx="342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8" name="SupplierBusToRail"/>
          <p:cNvCxnSpPr/>
          <p:nvPr/>
        </p:nvCxnSpPr>
        <p:spPr>
          <a:xfrm>
            <a:off x="4173079" y="3791600"/>
            <a:ext cx="0" cy="28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19" name="GFEToExcluded"/>
          <p:cNvCxnSpPr/>
          <p:nvPr/>
        </p:nvCxnSpPr>
        <p:spPr>
          <a:xfrm>
            <a:off x="9669260" y="3711600"/>
            <a:ext cx="0" cy="260000"/>
          </a:xfrm>
          <a:prstGeom prst="line">
            <a:avLst/>
          </a:prstGeom>
          <a:ln w="9525">
            <a:solidFill>
              <a:srgbClr val="7F7F7F"/>
            </a:solidFill>
            <a:prstDash val="dash"/>
            <a:tailEnd type="triangle" w="med" len="med"/>
          </a:ln>
        </p:spPr>
      </p:cxnSp>
      <p:sp>
        <p:nvSpPr>
          <p:cNvPr id="20" name="FlowLabel"/>
          <p:cNvSpPr txBox="1"/>
          <p:nvPr/>
        </p:nvSpPr>
        <p:spPr>
          <a:xfrm>
            <a:off x="753079" y="2151600"/>
            <a:ext cx="684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IN-PROGRAM CONSTRUCTION FLOW</a:t>
            </a:r>
          </a:p>
        </p:txBody>
      </p:sp>
      <p:sp>
        <p:nvSpPr>
          <p:cNvPr id="21" name="FlowLabel"/>
          <p:cNvSpPr txBox="1"/>
          <p:nvPr/>
        </p:nvSpPr>
        <p:spPr>
          <a:xfrm>
            <a:off x="7853079" y="2151600"/>
            <a:ext cx="363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NAVY-PROCURED GFE FLOW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FY2027 SCN Justification Book, LI 2122; 48 C.F.R. Part 45 and section 52.245-1; FAR 52.204-10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Answer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Executive Summary | Supplier TAM averages ~$573M per year, with ~$327M in broad component SAM</a:t>
            </a:r>
          </a:p>
        </p:txBody>
      </p:sp>
      <p:sp>
        <p:nvSpPr>
          <p:cNvPr id="10" name="AnswerRail"/>
          <p:cNvSpPr txBox="1"/>
          <p:nvPr/>
        </p:nvSpPr>
        <p:spPr>
          <a:xfrm>
            <a:off x="453079" y="1451600"/>
            <a:ext cx="4620000" cy="18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tIns="20000" rIns="90000" bIns="20000"/>
          <a:lstStyle/>
          <a:p>
            <a:pPr>
              <a:lnSpc>
                <a:spcPct val="115000"/>
              </a:lnSpc>
              <a:spcAft>
                <a:spcPts val="13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 at a Glance</a:t>
            </a:r>
          </a:p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TAM: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~$573M per year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or ~$3.44B across FY22–27.</a:t>
            </a:r>
          </a:p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SAM: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~$327M per year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57.1% of TAM.</a:t>
            </a:r>
          </a:p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build: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supplier work plus AP/LLTM supplier material.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read: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work-type menu, not a probability-weighted capture forecast.</a:t>
            </a:r>
          </a:p>
        </p:txBody>
      </p:sp>
      <p:sp>
        <p:nvSpPr>
          <p:cNvPr id="20" name="KPICard"/>
          <p:cNvSpPr txBox="1"/>
          <p:nvPr/>
        </p:nvSpPr>
        <p:spPr>
          <a:xfrm>
            <a:off x="5373079" y="1451600"/>
            <a:ext cx="3121181" cy="88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year ($3.44B FY22–27)</a:t>
            </a:r>
          </a:p>
        </p:txBody>
      </p:sp>
      <p:sp>
        <p:nvSpPr>
          <p:cNvPr id="21" name="KPICard"/>
          <p:cNvSpPr txBox="1"/>
          <p:nvPr/>
        </p:nvSpPr>
        <p:spPr>
          <a:xfrm>
            <a:off x="8614260" y="1451600"/>
            <a:ext cx="3121181" cy="88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SAM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~$327M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year ($1.96B FY22–27)</a:t>
            </a:r>
          </a:p>
        </p:txBody>
      </p:sp>
      <p:sp>
        <p:nvSpPr>
          <p:cNvPr id="22" name="KPICard"/>
          <p:cNvSpPr txBox="1"/>
          <p:nvPr/>
        </p:nvSpPr>
        <p:spPr>
          <a:xfrm>
            <a:off x="5373079" y="2451600"/>
            <a:ext cx="3121181" cy="88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SAM SHARE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57.1%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 TAM</a:t>
            </a:r>
          </a:p>
        </p:txBody>
      </p:sp>
      <p:sp>
        <p:nvSpPr>
          <p:cNvPr id="23" name="KPICard"/>
          <p:cNvSpPr txBox="1"/>
          <p:nvPr/>
        </p:nvSpPr>
        <p:spPr>
          <a:xfrm>
            <a:off x="8614260" y="2451600"/>
            <a:ext cx="3121181" cy="8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PER-HULL KPI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~$265M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 in-window hull</a:t>
            </a:r>
          </a:p>
        </p:txBody>
      </p:sp>
      <p:sp>
        <p:nvSpPr>
          <p:cNvPr id="40" name="SizingNote"/>
          <p:cNvSpPr txBox="1"/>
          <p:nvPr/>
        </p:nvSpPr>
        <p:spPr>
          <a:xfrm>
            <a:off x="5373079" y="5490000"/>
            <a:ext cx="6362362" cy="2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FY22–27 unless noted. Cumulative FY22–27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FY2022–FY2027 SCN Justification Books, LI 2122; DoW DDG-51 contract announcements, July 2022–May 2026; SAM.gov Acquisition Subaward Reporting Public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| The analysis sizes non-GFE new-construction supplier work, not total DDG spend</a:t>
            </a:r>
          </a:p>
        </p:txBody>
      </p:sp>
      <p:sp>
        <p:nvSpPr>
          <p:cNvPr id="10" name="ScopeColumnCap"/>
          <p:cNvSpPr txBox="1"/>
          <p:nvPr/>
        </p:nvSpPr>
        <p:spPr>
          <a:xfrm>
            <a:off x="703079" y="1551600"/>
            <a:ext cx="5281181" cy="50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SCOPE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sized in TAM and SAM</a:t>
            </a:r>
          </a:p>
        </p:txBody>
      </p:sp>
      <p:sp>
        <p:nvSpPr>
          <p:cNvPr id="11" name="ScopeColumnCap"/>
          <p:cNvSpPr txBox="1"/>
          <p:nvPr/>
        </p:nvSpPr>
        <p:spPr>
          <a:xfrm>
            <a:off x="6204260" y="1551600"/>
            <a:ext cx="5281181" cy="50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 OF SCOPE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in TAM</a:t>
            </a:r>
          </a:p>
        </p:txBody>
      </p:sp>
      <p:sp>
        <p:nvSpPr>
          <p:cNvPr id="20" name="ScopeColumnBody"/>
          <p:cNvSpPr txBox="1"/>
          <p:nvPr/>
        </p:nvSpPr>
        <p:spPr>
          <a:xfrm>
            <a:off x="703079" y="2051600"/>
            <a:ext cx="5281181" cy="30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Flight III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Arleigh Burke new construction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SCN Line Item 2122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supplier work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supplier-addressable material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 performed away from BIW, Ingalls, GFE prime sites, and excluded Navy-directed flows</a:t>
            </a:r>
          </a:p>
        </p:txBody>
      </p:sp>
      <p:sp>
        <p:nvSpPr>
          <p:cNvPr id="21" name="ScopeColumnBody"/>
          <p:cNvSpPr txBox="1"/>
          <p:nvPr/>
        </p:nvSpPr>
        <p:spPr>
          <a:xfrm>
            <a:off x="6204260" y="2051600"/>
            <a:ext cx="5281181" cy="30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DDG-1000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Zumwalt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WPN and OPN weapons procurement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Aegis, SPY-6, VLS, Mk 45, LM2500, SEWIP, CIWS, and other GFE-heavy prime flows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Sustainment, depot, ship repair, design-only, and MIB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Contaminants such as IVECO Mk 110 and Thales ESSM artifacts</a:t>
            </a:r>
          </a:p>
        </p:txBody>
      </p:sp>
      <p:sp>
        <p:nvSpPr>
          <p:cNvPr id="30" name="BoundaryCue"/>
          <p:cNvSpPr txBox="1"/>
          <p:nvPr/>
        </p:nvSpPr>
        <p:spPr>
          <a:xfrm>
            <a:off x="703079" y="5331600"/>
            <a:ext cx="10782362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 cue: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DDG spend to non-GFE new-construction base to supplier-addressable TAM to SAM menu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CRS, Navy DDG-51 and DDG-1000 Destroyer Programs, RL32109; U.S. Navy FY2027 SCN Justification Book, LI 2122; FAR 52.204-10 and 48 C.F.R. Part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TAM Build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Two supplier streams build the market, and a single year carries an outsized 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Cost Funnel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Cost Funnel | Basic Construction is the supplier-addressable base after excluding GFE-heavy cost categories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73079" y="1421600"/>
            <a:ext cx="733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FY24 DDG-51 cost categories, both ships</a:t>
            </a:r>
          </a:p>
        </p:txBody>
      </p:sp>
      <p:sp>
        <p:nvSpPr>
          <p:cNvPr id="11" name="DenominatorReference"/>
          <p:cNvSpPr txBox="1"/>
          <p:nvPr/>
        </p:nvSpPr>
        <p:spPr>
          <a:xfrm>
            <a:off x="473079" y="1631600"/>
            <a:ext cx="733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Estimate: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~$5,492M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denominator reference</a:t>
            </a:r>
          </a:p>
        </p:txBody>
      </p:sp>
      <p:cxnSp>
        <p:nvCxnSpPr>
          <p:cNvPr id="12" name="DenominatorRule"/>
          <p:cNvCxnSpPr/>
          <p:nvPr/>
        </p:nvCxnSpPr>
        <p:spPr>
          <a:xfrm>
            <a:off x="473079" y="1881600"/>
            <a:ext cx="7330000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graphicFrame>
        <p:nvGraphicFramePr>
          <p:cNvPr id="20" name="CostFunnelChart"/>
          <p:cNvGraphicFramePr/>
          <p:nvPr/>
        </p:nvGraphicFramePr>
        <p:xfrm>
          <a:off x="473079" y="2001600"/>
          <a:ext cx="7330000" cy="27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GranularCaption"/>
          <p:cNvSpPr txBox="1"/>
          <p:nvPr/>
        </p:nvSpPr>
        <p:spPr>
          <a:xfrm>
            <a:off x="473079" y="4931600"/>
            <a:ext cx="733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Plans $83M | Change Orders $92M | HM&amp;E $101M | Other Cost $88M</a:t>
            </a:r>
          </a:p>
        </p:txBody>
      </p:sp>
      <p:sp>
        <p:nvSpPr>
          <p:cNvPr id="40" name="ScopeBoundaryChip"/>
          <p:cNvSpPr txBox="1"/>
          <p:nvPr/>
        </p:nvSpPr>
        <p:spPr>
          <a:xfrm>
            <a:off x="8173079" y="1651600"/>
            <a:ext cx="3562362" cy="43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cost is not supplier TAM.</a:t>
            </a:r>
          </a:p>
        </p:txBody>
      </p:sp>
      <p:sp>
        <p:nvSpPr>
          <p:cNvPr id="41" name="CommentaryRail"/>
          <p:cNvSpPr txBox="1"/>
          <p:nvPr/>
        </p:nvSpPr>
        <p:spPr>
          <a:xfrm>
            <a:off x="8173079" y="2261600"/>
            <a:ext cx="3562362" cy="2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20000" rIns="20000" bIns="20000"/>
          <a:lstStyle/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largest cost category and the starting base for the BC supplier stream.</a:t>
            </a:r>
          </a:p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GFE-heavy categories: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Electronics and Ordnance are excluded from the non-GFE supplier TAM.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step: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the supplier coefficient before applying it to the Basic Construction base.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FY2027 SCN Justification Book, LI 2122, Exhibit P-5c; CRS, Navy DDG-51 and DDG-1000 Destroyer Programs, RL32109; 48 C.F.R. Part 45 and section 52.245-1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Denominator Correction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Redaction | Restoring the redacted multiyear masters corrects the outside-yards artifact to ~33%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73079" y="1421600"/>
            <a:ext cx="72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MYP-corrected place-of-performance distribution</a:t>
            </a:r>
          </a:p>
        </p:txBody>
      </p:sp>
      <p:graphicFrame>
        <p:nvGraphicFramePr>
          <p:cNvPr id="20" name="DistributionChart"/>
          <p:cNvGraphicFramePr/>
          <p:nvPr/>
        </p:nvGraphicFramePr>
        <p:xfrm>
          <a:off x="473079" y="1671600"/>
          <a:ext cx="7250000" cy="1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" name="OutsideYardsComparisonChart"/>
          <p:cNvGraphicFramePr/>
          <p:nvPr/>
        </p:nvGraphicFramePr>
        <p:xfrm>
          <a:off x="473079" y="2931600"/>
          <a:ext cx="7250000" cy="13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EvidenceBadge"/>
          <p:cNvSpPr txBox="1"/>
          <p:nvPr/>
        </p:nvSpPr>
        <p:spPr>
          <a:xfrm>
            <a:off x="473079" y="4611600"/>
            <a:ext cx="3550000" cy="6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Reconstructed masters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~$14.58B</a:t>
            </a:r>
          </a:p>
        </p:txBody>
      </p:sp>
      <p:sp>
        <p:nvSpPr>
          <p:cNvPr id="51" name="EvidenceBadge"/>
          <p:cNvSpPr txBox="1"/>
          <p:nvPr/>
        </p:nvSpPr>
        <p:spPr>
          <a:xfrm>
            <a:off x="4173079" y="4611600"/>
            <a:ext cx="3550000" cy="6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corpus incl. masters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~$21.71B</a:t>
            </a:r>
          </a:p>
        </p:txBody>
      </p:sp>
      <p:sp>
        <p:nvSpPr>
          <p:cNvPr id="60" name="ExplanationRail"/>
          <p:cNvSpPr txBox="1"/>
          <p:nvPr/>
        </p:nvSpPr>
        <p:spPr>
          <a:xfrm>
            <a:off x="8173079" y="1421600"/>
            <a:ext cx="3562362" cy="38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tIns="20000" rIns="30000" bIns="20000"/>
          <a:lstStyle/>
          <a:p>
            <a:pPr>
              <a:lnSpc>
                <a:spcPct val="115000"/>
              </a:lnSpc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Changed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Master awards: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FY23-27 BIW and Ingalls MYP masters disclose work locations but not dollar values.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Artifact: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omitting large yard-heavy master dollars over-weights disclosed GFE actions.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Correction: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restore ~$14.58B of master value before applying the Basic Construction supplier coefficient.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Carry-forward: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the corrected ~33% outside-yards view going forward.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DoW contract announcements, Aug. 1, Aug. 11, and Sept. 6, 2023; USNI News, Navy Reveals Contract Costs of Latest 10-Hull Destroyer Deal, Sept. 6, 2023; NAVSEA, Navy Awards DDG 51 FY23-27 Multiyear Procurement Contracts, Aug. 1,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Methodology | TAM combines Basic Construction supplier work with AP/LLTM supplier material</a:t>
            </a:r>
          </a:p>
        </p:txBody>
      </p:sp>
      <p:cxnSp>
        <p:nvCxnSpPr>
          <p:cNvPr id="10" name="BCToPortfolio"/>
          <p:cNvCxnSpPr/>
          <p:nvPr/>
        </p:nvCxnSpPr>
        <p:spPr>
          <a:xfrm>
            <a:off x="3418669" y="4031600"/>
            <a:ext cx="2675591" cy="30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1" name="APToPortfolio"/>
          <p:cNvCxnSpPr/>
          <p:nvPr/>
        </p:nvCxnSpPr>
        <p:spPr>
          <a:xfrm flipH="1">
            <a:off x="6094260" y="4031600"/>
            <a:ext cx="2675590" cy="30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" name="HeroEquationBanner"/>
          <p:cNvSpPr txBox="1"/>
          <p:nvPr/>
        </p:nvSpPr>
        <p:spPr>
          <a:xfrm>
            <a:off x="633079" y="1441600"/>
            <a:ext cx="10922362" cy="62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TAM is 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Basic Construction base</a:t>
            </a: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times 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MYP-corrected supplier coefficient</a:t>
            </a: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plus 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AP/LLTM base</a:t>
            </a: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times 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 supplier coefficient</a:t>
            </a:r>
          </a:p>
        </p:txBody>
      </p:sp>
      <p:sp>
        <p:nvSpPr>
          <p:cNvPr id="30" name="StreamCardCap"/>
          <p:cNvSpPr txBox="1"/>
          <p:nvPr/>
        </p:nvSpPr>
        <p:spPr>
          <a:xfrm>
            <a:off x="893079" y="2411600"/>
            <a:ext cx="5051181" cy="36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BASIC CONSTRUCTION STREAM</a:t>
            </a:r>
          </a:p>
        </p:txBody>
      </p:sp>
      <p:sp>
        <p:nvSpPr>
          <p:cNvPr id="31" name="StreamCardBody"/>
          <p:cNvSpPr txBox="1"/>
          <p:nvPr/>
        </p:nvSpPr>
        <p:spPr>
          <a:xfrm>
            <a:off x="893079" y="2771600"/>
            <a:ext cx="5051181" cy="12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~$17.47B cumulative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12.5% supplier coefficient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Equals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~$365M per year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(~$2.19B cumulative)</a:t>
            </a:r>
          </a:p>
        </p:txBody>
      </p:sp>
      <p:sp>
        <p:nvSpPr>
          <p:cNvPr id="40" name="StreamCardCap"/>
          <p:cNvSpPr txBox="1"/>
          <p:nvPr/>
        </p:nvSpPr>
        <p:spPr>
          <a:xfrm>
            <a:off x="6244260" y="2411600"/>
            <a:ext cx="5051181" cy="36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AP/LLTM STREAM</a:t>
            </a:r>
          </a:p>
        </p:txBody>
      </p:sp>
      <p:sp>
        <p:nvSpPr>
          <p:cNvPr id="41" name="StreamCardBody"/>
          <p:cNvSpPr txBox="1"/>
          <p:nvPr/>
        </p:nvSpPr>
        <p:spPr>
          <a:xfrm>
            <a:off x="6244260" y="2771600"/>
            <a:ext cx="5051181" cy="12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base after share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~$1.47B cumulative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Ship-construction share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80.0%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85.0% supplier coefficient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Equals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~$208M per year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(~$1.25B cumulative)</a:t>
            </a:r>
          </a:p>
        </p:txBody>
      </p:sp>
      <p:sp>
        <p:nvSpPr>
          <p:cNvPr id="50" name="ConnectorNote"/>
          <p:cNvSpPr txBox="1"/>
          <p:nvPr/>
        </p:nvSpPr>
        <p:spPr>
          <a:xfrm>
            <a:off x="3619260" y="4121600"/>
            <a:ext cx="49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supplier-addressable streams</a:t>
            </a:r>
          </a:p>
        </p:txBody>
      </p:sp>
      <p:sp>
        <p:nvSpPr>
          <p:cNvPr id="60" name="PortfolioOutputCard"/>
          <p:cNvSpPr txBox="1"/>
          <p:nvPr/>
        </p:nvSpPr>
        <p:spPr>
          <a:xfrm>
            <a:off x="3619260" y="4331600"/>
            <a:ext cx="4950000" cy="90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60000" tIns="45000" rIns="160000" bIns="45000"/>
          <a:lstStyle/>
          <a:p>
            <a:pPr algn="ctr">
              <a:lnSpc>
                <a:spcPct val="115000"/>
              </a:lnSpc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PORTFOLIO SUPPLIER TAM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(~$3.44B FY22-27 cumulative)</a:t>
            </a:r>
          </a:p>
        </p:txBody>
      </p:sp>
      <p:sp>
        <p:nvSpPr>
          <p:cNvPr id="70" name="GuardrailNote"/>
          <p:cNvSpPr txBox="1"/>
          <p:nvPr/>
        </p:nvSpPr>
        <p:spPr>
          <a:xfrm>
            <a:off x="853079" y="5291600"/>
            <a:ext cx="10482362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coefficient uses the MYP-corrected non-GFE corpus. It is not the disclosed-only artifact.</a:t>
            </a:r>
          </a:p>
        </p:txBody>
      </p:sp>
      <p:sp>
        <p:nvSpPr>
          <p:cNvPr id="80" name="SizingNote"/>
          <p:cNvSpPr txBox="1"/>
          <p:nvPr/>
        </p:nvSpPr>
        <p:spPr>
          <a:xfrm>
            <a:off x="453079" y="56500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DoW DDG-51 contract announcements, July 2022-May 2026; SAM.gov Acquisition Subaward Reporting Public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Build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TAM Build | The corrected model yields ~$573M per year of supplier TAM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21600"/>
            <a:ext cx="733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supplier TAM build, FY22-27</a:t>
            </a:r>
          </a:p>
        </p:txBody>
      </p:sp>
      <p:graphicFrame>
        <p:nvGraphicFramePr>
          <p:cNvPr id="20" name="AnnualTAMBuildWaterfall"/>
          <p:cNvGraphicFramePr/>
          <p:nvPr/>
        </p:nvGraphicFramePr>
        <p:xfrm>
          <a:off x="453079" y="1721600"/>
          <a:ext cx="7330000" cy="2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WaterfallStepLabel"/>
          <p:cNvSpPr txBox="1"/>
          <p:nvPr/>
        </p:nvSpPr>
        <p:spPr>
          <a:xfrm>
            <a:off x="453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~$2,912M per year</a:t>
            </a:r>
          </a:p>
        </p:txBody>
      </p:sp>
      <p:sp>
        <p:nvSpPr>
          <p:cNvPr id="31" name="WaterfallStepLabel"/>
          <p:cNvSpPr txBox="1"/>
          <p:nvPr/>
        </p:nvSpPr>
        <p:spPr>
          <a:xfrm>
            <a:off x="1930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non-supplier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~-$2,546M per year</a:t>
            </a:r>
          </a:p>
        </p:txBody>
      </p:sp>
      <p:sp>
        <p:nvSpPr>
          <p:cNvPr id="32" name="WaterfallStepLabel"/>
          <p:cNvSpPr txBox="1"/>
          <p:nvPr/>
        </p:nvSpPr>
        <p:spPr>
          <a:xfrm>
            <a:off x="3407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stream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~$365M per year</a:t>
            </a:r>
          </a:p>
        </p:txBody>
      </p:sp>
      <p:sp>
        <p:nvSpPr>
          <p:cNvPr id="33" name="WaterfallStepLabel"/>
          <p:cNvSpPr txBox="1"/>
          <p:nvPr/>
        </p:nvSpPr>
        <p:spPr>
          <a:xfrm>
            <a:off x="4884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AP/LLTM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~$208M per year</a:t>
            </a:r>
          </a:p>
        </p:txBody>
      </p:sp>
      <p:sp>
        <p:nvSpPr>
          <p:cNvPr id="34" name="WaterfallStepLabel"/>
          <p:cNvSpPr txBox="1"/>
          <p:nvPr/>
        </p:nvSpPr>
        <p:spPr>
          <a:xfrm>
            <a:off x="6361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~$573M per year</a:t>
            </a:r>
          </a:p>
        </p:txBody>
      </p:sp>
      <p:sp>
        <p:nvSpPr>
          <p:cNvPr id="60" name="BridgeHeader"/>
          <p:cNvSpPr txBox="1"/>
          <p:nvPr/>
        </p:nvSpPr>
        <p:spPr>
          <a:xfrm>
            <a:off x="8173079" y="1721600"/>
            <a:ext cx="3562362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BRIDGE, FY22-27</a:t>
            </a:r>
          </a:p>
        </p:txBody>
      </p:sp>
      <p:cxnSp>
        <p:nvCxnSpPr>
          <p:cNvPr id="80" name="BridgeRowRule0"/>
          <p:cNvCxnSpPr/>
          <p:nvPr/>
        </p:nvCxnSpPr>
        <p:spPr>
          <a:xfrm>
            <a:off x="8173079" y="212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62" name="BridgeRowLabel"/>
          <p:cNvSpPr txBox="1"/>
          <p:nvPr/>
        </p:nvSpPr>
        <p:spPr>
          <a:xfrm>
            <a:off x="8173079" y="215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</a:t>
            </a:r>
          </a:p>
        </p:txBody>
      </p:sp>
      <p:sp>
        <p:nvSpPr>
          <p:cNvPr id="63" name="BridgeRowValue"/>
          <p:cNvSpPr txBox="1"/>
          <p:nvPr/>
        </p:nvSpPr>
        <p:spPr>
          <a:xfrm>
            <a:off x="10417367" y="215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~$17.47B</a:t>
            </a:r>
          </a:p>
        </p:txBody>
      </p:sp>
      <p:cxnSp>
        <p:nvCxnSpPr>
          <p:cNvPr id="81" name="BridgeRowRule1"/>
          <p:cNvCxnSpPr/>
          <p:nvPr/>
        </p:nvCxnSpPr>
        <p:spPr>
          <a:xfrm>
            <a:off x="8173079" y="246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64" name="BridgeRowLabel"/>
          <p:cNvSpPr txBox="1"/>
          <p:nvPr/>
        </p:nvSpPr>
        <p:spPr>
          <a:xfrm>
            <a:off x="8173079" y="249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Removed non-supplier</a:t>
            </a:r>
          </a:p>
        </p:txBody>
      </p:sp>
      <p:sp>
        <p:nvSpPr>
          <p:cNvPr id="65" name="BridgeRowValue"/>
          <p:cNvSpPr txBox="1"/>
          <p:nvPr/>
        </p:nvSpPr>
        <p:spPr>
          <a:xfrm>
            <a:off x="10417367" y="249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~$15.28B</a:t>
            </a:r>
          </a:p>
        </p:txBody>
      </p:sp>
      <p:cxnSp>
        <p:nvCxnSpPr>
          <p:cNvPr id="82" name="BridgeRowRule2"/>
          <p:cNvCxnSpPr/>
          <p:nvPr/>
        </p:nvCxnSpPr>
        <p:spPr>
          <a:xfrm>
            <a:off x="8173079" y="280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66" name="BridgeRowLabel"/>
          <p:cNvSpPr txBox="1"/>
          <p:nvPr/>
        </p:nvSpPr>
        <p:spPr>
          <a:xfrm>
            <a:off x="8173079" y="283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stream</a:t>
            </a:r>
          </a:p>
        </p:txBody>
      </p:sp>
      <p:sp>
        <p:nvSpPr>
          <p:cNvPr id="67" name="BridgeRowValue"/>
          <p:cNvSpPr txBox="1"/>
          <p:nvPr/>
        </p:nvSpPr>
        <p:spPr>
          <a:xfrm>
            <a:off x="10417367" y="283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~$2.19B</a:t>
            </a:r>
          </a:p>
        </p:txBody>
      </p:sp>
      <p:cxnSp>
        <p:nvCxnSpPr>
          <p:cNvPr id="83" name="BridgeRowRule3"/>
          <p:cNvCxnSpPr/>
          <p:nvPr/>
        </p:nvCxnSpPr>
        <p:spPr>
          <a:xfrm>
            <a:off x="8173079" y="314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68" name="BridgeRowLabel"/>
          <p:cNvSpPr txBox="1"/>
          <p:nvPr/>
        </p:nvSpPr>
        <p:spPr>
          <a:xfrm>
            <a:off x="8173079" y="317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stream</a:t>
            </a:r>
          </a:p>
        </p:txBody>
      </p:sp>
      <p:sp>
        <p:nvSpPr>
          <p:cNvPr id="69" name="BridgeRowValue"/>
          <p:cNvSpPr txBox="1"/>
          <p:nvPr/>
        </p:nvSpPr>
        <p:spPr>
          <a:xfrm>
            <a:off x="10417367" y="317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~$1.25B</a:t>
            </a:r>
          </a:p>
        </p:txBody>
      </p:sp>
      <p:cxnSp>
        <p:nvCxnSpPr>
          <p:cNvPr id="84" name="BridgeRowRule4"/>
          <p:cNvCxnSpPr/>
          <p:nvPr/>
        </p:nvCxnSpPr>
        <p:spPr>
          <a:xfrm>
            <a:off x="8173079" y="348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70" name="BridgeRowLabel"/>
          <p:cNvSpPr txBox="1"/>
          <p:nvPr/>
        </p:nvSpPr>
        <p:spPr>
          <a:xfrm>
            <a:off x="8173079" y="351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TAM</a:t>
            </a:r>
          </a:p>
        </p:txBody>
      </p:sp>
      <p:sp>
        <p:nvSpPr>
          <p:cNvPr id="71" name="BridgeRowValue"/>
          <p:cNvSpPr txBox="1"/>
          <p:nvPr/>
        </p:nvSpPr>
        <p:spPr>
          <a:xfrm>
            <a:off x="10417367" y="351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~$3.44B</a:t>
            </a:r>
          </a:p>
        </p:txBody>
      </p:sp>
      <p:sp>
        <p:nvSpPr>
          <p:cNvPr id="100" name="CoefficientChip"/>
          <p:cNvSpPr txBox="1"/>
          <p:nvPr/>
        </p:nvSpPr>
        <p:spPr>
          <a:xfrm>
            <a:off x="8173079" y="3961600"/>
            <a:ext cx="1736181" cy="4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12.5%</a:t>
            </a:r>
          </a:p>
        </p:txBody>
      </p:sp>
      <p:sp>
        <p:nvSpPr>
          <p:cNvPr id="101" name="CoefficientChip"/>
          <p:cNvSpPr txBox="1"/>
          <p:nvPr/>
        </p:nvSpPr>
        <p:spPr>
          <a:xfrm>
            <a:off x="9999260" y="3961600"/>
            <a:ext cx="1736181" cy="43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85.0%</a:t>
            </a:r>
          </a:p>
        </p:txBody>
      </p:sp>
      <p:sp>
        <p:nvSpPr>
          <p:cNvPr id="120" name="SizingNote"/>
          <p:cNvSpPr txBox="1"/>
          <p:nvPr/>
        </p:nvSpPr>
        <p:spPr>
          <a:xfrm>
            <a:off x="453079" y="56500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DoW DDG-51 contract announcements, July 2022-May 2026; SAM.gov Acquisition Subaward Reporting Public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Timing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Timing | Annual supplier TAM is lumpy, with the FY26 spike driven by AP/LLTM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21600"/>
            <a:ext cx="1128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by fiscal year and stream</a:t>
            </a:r>
          </a:p>
        </p:txBody>
      </p:sp>
      <p:sp>
        <p:nvSpPr>
          <p:cNvPr id="20" name="NoFillKPICallout"/>
          <p:cNvSpPr txBox="1"/>
          <p:nvPr/>
        </p:nvSpPr>
        <p:spPr>
          <a:xfrm>
            <a:off x="5895441" y="1621600"/>
            <a:ext cx="279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convention</a:t>
            </a:r>
          </a:p>
          <a:p>
            <a:pPr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useful for market sizing, not a smooth run-rate</a:t>
            </a:r>
          </a:p>
        </p:txBody>
      </p:sp>
      <p:sp>
        <p:nvSpPr>
          <p:cNvPr id="21" name="NoFillKPICallout"/>
          <p:cNvSpPr txBox="1"/>
          <p:nvPr/>
        </p:nvSpPr>
        <p:spPr>
          <a:xfrm>
            <a:off x="8945441" y="1621600"/>
            <a:ext cx="279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FY26 is not the run-rate</a:t>
            </a:r>
          </a:p>
          <a:p>
            <a:pPr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~$1.23B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driven by AP/LLTM</a:t>
            </a:r>
          </a:p>
        </p:txBody>
      </p:sp>
      <p:graphicFrame>
        <p:nvGraphicFramePr>
          <p:cNvPr id="30" name="TAMTimingStackedColumn"/>
          <p:cNvGraphicFramePr/>
          <p:nvPr/>
        </p:nvGraphicFramePr>
        <p:xfrm>
          <a:off x="453079" y="2171600"/>
          <a:ext cx="11282362" cy="32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FY26DirectLabel"/>
          <p:cNvSpPr txBox="1"/>
          <p:nvPr/>
        </p:nvSpPr>
        <p:spPr>
          <a:xfrm>
            <a:off x="8407144" y="2401600"/>
            <a:ext cx="136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2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FY26 peak</a:t>
            </a:r>
          </a:p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~$1.23B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mostly AP/LLTM</a:t>
            </a:r>
          </a:p>
        </p:txBody>
      </p:sp>
      <p:sp>
        <p:nvSpPr>
          <p:cNvPr id="50" name="SizingNote"/>
          <p:cNvSpPr txBox="1"/>
          <p:nvPr/>
        </p:nvSpPr>
        <p:spPr>
          <a:xfrm>
            <a:off x="453079" y="56500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DoW DDG-51 contract announcements, July 2022-May 2026; SAM.gov Acquisition Subaward Reporting Public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SAM and Work Types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serviceable market is a menu of work types, not a single capture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Taxonomy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Taxonomy | SAM is a work-type bucket menu, not a capture forecast</a:t>
            </a:r>
          </a:p>
        </p:txBody>
      </p:sp>
      <p:sp>
        <p:nvSpPr>
          <p:cNvPr id="10" name="PortfolioTAMBanner"/>
          <p:cNvSpPr txBox="1"/>
          <p:nvPr/>
        </p:nvSpPr>
        <p:spPr>
          <a:xfrm>
            <a:off x="633079" y="1411600"/>
            <a:ext cx="10922362" cy="73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20000" tIns="5000" rIns="120000" bIns="50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PORTFOLIO TAM</a:t>
            </a:r>
          </a:p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(~$3.44B FY22-27 cumulative)</a:t>
            </a:r>
          </a:p>
        </p:txBody>
      </p:sp>
      <p:sp>
        <p:nvSpPr>
          <p:cNvPr id="20" name="MainSAMNote"/>
          <p:cNvSpPr txBox="1"/>
          <p:nvPr/>
        </p:nvSpPr>
        <p:spPr>
          <a:xfrm>
            <a:off x="1103079" y="2231600"/>
            <a:ext cx="9982362" cy="2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selects from named work-type buckets inside TAM.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does not apply win probability, capture probability, or SOM.</a:t>
            </a:r>
          </a:p>
        </p:txBody>
      </p:sp>
      <p:sp>
        <p:nvSpPr>
          <p:cNvPr id="30" name="GroupLabel"/>
          <p:cNvSpPr txBox="1"/>
          <p:nvPr/>
        </p:nvSpPr>
        <p:spPr>
          <a:xfrm>
            <a:off x="633079" y="2591600"/>
            <a:ext cx="724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 work-type buckets included in scenarios</a:t>
            </a:r>
          </a:p>
        </p:txBody>
      </p:sp>
      <p:sp>
        <p:nvSpPr>
          <p:cNvPr id="31" name="GroupLabel"/>
          <p:cNvSpPr txBox="1"/>
          <p:nvPr/>
        </p:nvSpPr>
        <p:spPr>
          <a:xfrm>
            <a:off x="8195441" y="2591600"/>
            <a:ext cx="33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shown, not hidden</a:t>
            </a:r>
          </a:p>
        </p:txBody>
      </p:sp>
      <p:sp>
        <p:nvSpPr>
          <p:cNvPr id="40" name="NamedBucketChip"/>
          <p:cNvSpPr txBox="1"/>
          <p:nvPr/>
        </p:nvSpPr>
        <p:spPr>
          <a:xfrm>
            <a:off x="633079" y="280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Hull sections, deckhouse, modules</a:t>
            </a:r>
          </a:p>
        </p:txBody>
      </p:sp>
      <p:sp>
        <p:nvSpPr>
          <p:cNvPr id="41" name="NamedBucketChip"/>
          <p:cNvSpPr txBox="1"/>
          <p:nvPr/>
        </p:nvSpPr>
        <p:spPr>
          <a:xfrm>
            <a:off x="4314260" y="280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Machine shops, gears, shafts, bearings</a:t>
            </a:r>
          </a:p>
        </p:txBody>
      </p:sp>
      <p:sp>
        <p:nvSpPr>
          <p:cNvPr id="42" name="NamedBucketChip"/>
          <p:cNvSpPr txBox="1"/>
          <p:nvPr/>
        </p:nvSpPr>
        <p:spPr>
          <a:xfrm>
            <a:off x="633079" y="331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and forgings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Forging, foundries, cast components</a:t>
            </a:r>
          </a:p>
        </p:txBody>
      </p:sp>
      <p:sp>
        <p:nvSpPr>
          <p:cNvPr id="43" name="NamedBucketChip"/>
          <p:cNvSpPr txBox="1"/>
          <p:nvPr/>
        </p:nvSpPr>
        <p:spPr>
          <a:xfrm>
            <a:off x="4314260" y="331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and pumps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Valves, pumps, manifolds, fittings</a:t>
            </a:r>
          </a:p>
        </p:txBody>
      </p:sp>
      <p:sp>
        <p:nvSpPr>
          <p:cNvPr id="44" name="NamedBucketChip"/>
          <p:cNvSpPr txBox="1"/>
          <p:nvPr/>
        </p:nvSpPr>
        <p:spPr>
          <a:xfrm>
            <a:off x="633079" y="382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Switchgear, cable, distribution, motors</a:t>
            </a:r>
          </a:p>
        </p:txBody>
      </p:sp>
      <p:sp>
        <p:nvSpPr>
          <p:cNvPr id="45" name="NamedBucketChip"/>
          <p:cNvSpPr txBox="1"/>
          <p:nvPr/>
        </p:nvSpPr>
        <p:spPr>
          <a:xfrm>
            <a:off x="4314260" y="382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and ventilation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Chilled water, air handling, ductwork</a:t>
            </a:r>
          </a:p>
        </p:txBody>
      </p:sp>
      <p:sp>
        <p:nvSpPr>
          <p:cNvPr id="46" name="NamedBucketChip"/>
          <p:cNvSpPr txBox="1"/>
          <p:nvPr/>
        </p:nvSpPr>
        <p:spPr>
          <a:xfrm>
            <a:off x="633079" y="433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and insulation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Paint, deck covering, non-skid</a:t>
            </a:r>
          </a:p>
        </p:txBody>
      </p:sp>
      <p:sp>
        <p:nvSpPr>
          <p:cNvPr id="60" name="ResidualChip"/>
          <p:cNvSpPr txBox="1"/>
          <p:nvPr/>
        </p:nvSpPr>
        <p:spPr>
          <a:xfrm>
            <a:off x="8195441" y="2801600"/>
            <a:ext cx="3360000" cy="98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AND AMBIGUOUS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~$246M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42.9% of TAM; ~$1.47B cumulative</a:t>
            </a:r>
          </a:p>
        </p:txBody>
      </p:sp>
      <p:sp>
        <p:nvSpPr>
          <p:cNvPr id="61" name="ResidualNote"/>
          <p:cNvSpPr txBox="1"/>
          <p:nvPr/>
        </p:nvSpPr>
        <p:spPr>
          <a:xfrm>
            <a:off x="8195441" y="3921600"/>
            <a:ext cx="3360000" cy="8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20000" rIns="20000" bIns="20000"/>
          <a:lstStyle/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and ambiguous remains explicit.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real evidence ambiguity, not zero market.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parent-unknown, GFE-adjacent specialty, or no clean description cue.</a:t>
            </a:r>
          </a:p>
        </p:txBody>
      </p:sp>
      <p:sp>
        <p:nvSpPr>
          <p:cNvPr id="80" name="ScenarioCueTitle"/>
          <p:cNvSpPr txBox="1"/>
          <p:nvPr/>
        </p:nvSpPr>
        <p:spPr>
          <a:xfrm>
            <a:off x="633079" y="4780000"/>
            <a:ext cx="1092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membership cue: overlapping definitions, not additive</a:t>
            </a:r>
          </a:p>
        </p:txBody>
      </p:sp>
      <p:sp>
        <p:nvSpPr>
          <p:cNvPr id="81" name="ScenarioMembershipCell"/>
          <p:cNvSpPr txBox="1"/>
          <p:nvPr/>
        </p:nvSpPr>
        <p:spPr>
          <a:xfrm>
            <a:off x="633079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Metal components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structural, machining, castings</a:t>
            </a:r>
          </a:p>
        </p:txBody>
      </p:sp>
      <p:sp>
        <p:nvSpPr>
          <p:cNvPr id="82" name="ScenarioMembershipCell"/>
          <p:cNvSpPr txBox="1"/>
          <p:nvPr/>
        </p:nvSpPr>
        <p:spPr>
          <a:xfrm>
            <a:off x="2835551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 components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machining, piping, HVAC</a:t>
            </a:r>
          </a:p>
        </p:txBody>
      </p:sp>
      <p:sp>
        <p:nvSpPr>
          <p:cNvPr id="83" name="ScenarioMembershipCell"/>
          <p:cNvSpPr txBox="1"/>
          <p:nvPr/>
        </p:nvSpPr>
        <p:spPr>
          <a:xfrm>
            <a:off x="5038023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only</a:t>
            </a:r>
          </a:p>
        </p:txBody>
      </p:sp>
      <p:sp>
        <p:nvSpPr>
          <p:cNvPr id="84" name="ScenarioMembershipCell"/>
          <p:cNvSpPr txBox="1"/>
          <p:nvPr/>
        </p:nvSpPr>
        <p:spPr>
          <a:xfrm>
            <a:off x="7240495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assemblies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structural, coatings</a:t>
            </a:r>
          </a:p>
        </p:txBody>
      </p:sp>
      <p:sp>
        <p:nvSpPr>
          <p:cNvPr id="85" name="ScenarioMembershipCell"/>
          <p:cNvSpPr txBox="1"/>
          <p:nvPr/>
        </p:nvSpPr>
        <p:spPr>
          <a:xfrm>
            <a:off x="9442967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manufacturing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seven named buckets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Acquisition Subaward Reporting Public API; FAR 52.204-10; SAM.gov Subcontract Reports Help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Allocation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Allocation | Residual ambiguity remains material, while electrical and structural work are the largest named buckets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513079" y="1426600"/>
            <a:ext cx="761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TAM allocation by work type</a:t>
            </a:r>
          </a:p>
        </p:txBody>
      </p:sp>
      <p:graphicFrame>
        <p:nvGraphicFramePr>
          <p:cNvPr id="20" name="WorkTypeAllocationChart"/>
          <p:cNvGraphicFramePr/>
          <p:nvPr/>
        </p:nvGraphicFramePr>
        <p:xfrm>
          <a:off x="513079" y="1656600"/>
          <a:ext cx="7610000" cy="37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InterpretationRail"/>
          <p:cNvSpPr txBox="1"/>
          <p:nvPr/>
        </p:nvSpPr>
        <p:spPr>
          <a:xfrm>
            <a:off x="8503079" y="1916600"/>
            <a:ext cx="3162362" cy="26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30000" rIns="40000" bIns="30000"/>
          <a:lstStyle/>
          <a:p>
            <a:pPr>
              <a:lnSpc>
                <a:spcPct val="115000"/>
              </a:lnSpc>
              <a:spcAft>
                <a:spcPts val="15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the allocation</a:t>
            </a:r>
          </a:p>
          <a:p>
            <a:pPr marL="142875" indent="-142875">
              <a:lnSpc>
                <a:spcPct val="115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ambiguity: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largest line item at ~$246M per year and 42.9% of TAM.</a:t>
            </a:r>
          </a:p>
          <a:p>
            <a:pPr marL="142875" indent="-142875">
              <a:lnSpc>
                <a:spcPct val="115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Largest named lanes: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 and structural fabrication are the biggest targetable buckets.</a:t>
            </a:r>
          </a:p>
          <a:p>
            <a:pPr marL="142875" indent="-142875">
              <a:lnSpc>
                <a:spcPct val="115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metal lane: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 adds a third material named bucket behind electrical and structural.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evidence ambiguity, not a target wedge or zero market.</a:t>
            </a:r>
          </a:p>
        </p:txBody>
      </p:sp>
      <p:sp>
        <p:nvSpPr>
          <p:cNvPr id="40" name="SizingNote"/>
          <p:cNvSpPr txBox="1"/>
          <p:nvPr/>
        </p:nvSpPr>
        <p:spPr>
          <a:xfrm>
            <a:off x="453079" y="5600000"/>
            <a:ext cx="11282362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Acquisition Subaward Reporting Public API; FAR 52.204-10; U.S. Navy FY2022-FY2027 SCN Justification Books, LI 2122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represents ~$327M per year of serviceable market</a:t>
            </a:r>
          </a:p>
        </p:txBody>
      </p:sp>
      <p:sp>
        <p:nvSpPr>
          <p:cNvPr id="20" name="ChartTitle"/>
          <p:cNvSpPr txBox="1"/>
          <p:nvPr/>
        </p:nvSpPr>
        <p:spPr>
          <a:xfrm>
            <a:off x="453079" y="1371600"/>
            <a:ext cx="6995064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scenarios, average annual FY22-27</a:t>
            </a:r>
          </a:p>
        </p:txBody>
      </p:sp>
      <p:graphicFrame>
        <p:nvGraphicFramePr>
          <p:cNvPr id="21" name="SAMScenarioChart"/>
          <p:cNvGraphicFramePr/>
          <p:nvPr/>
        </p:nvGraphicFramePr>
        <p:xfrm>
          <a:off x="453079" y="1601600"/>
          <a:ext cx="6995064" cy="381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ScenarioInclusionMatrix"/>
          <p:cNvGraphicFramePr>
            <a:graphicFrameLocks noGrp="1"/>
          </p:cNvGraphicFramePr>
          <p:nvPr/>
        </p:nvGraphicFramePr>
        <p:xfrm>
          <a:off x="7539583" y="1601600"/>
          <a:ext cx="4195858" cy="21945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698323"/>
                <a:gridCol w="499506"/>
                <a:gridCol w="499506"/>
                <a:gridCol w="499506"/>
                <a:gridCol w="499506"/>
                <a:gridCol w="499511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SizingNote"/>
          <p:cNvSpPr txBox="1"/>
          <p:nvPr/>
        </p:nvSpPr>
        <p:spPr>
          <a:xfrm>
            <a:off x="453079" y="5500000"/>
            <a:ext cx="11282362" cy="3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FAR 52.204-10; (3) U.S. Navy FY2022-FY2027 SCN Justification Books, LI 2122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Landscape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Landscape | Visible supplier flow is concentrated among specialized defense manufacturers</a:t>
            </a:r>
          </a:p>
        </p:txBody>
      </p:sp>
      <p:sp>
        <p:nvSpPr>
          <p:cNvPr id="20" name="ChartTitle"/>
          <p:cNvSpPr txBox="1"/>
          <p:nvPr/>
        </p:nvSpPr>
        <p:spPr>
          <a:xfrm>
            <a:off x="453079" y="1371600"/>
            <a:ext cx="7672006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 visible first-tier suppliers by lifetime flow, $M</a:t>
            </a:r>
          </a:p>
        </p:txBody>
      </p:sp>
      <p:graphicFrame>
        <p:nvGraphicFramePr>
          <p:cNvPr id="21" name="SupplierLandscapeChart"/>
          <p:cNvGraphicFramePr/>
          <p:nvPr/>
        </p:nvGraphicFramePr>
        <p:xfrm>
          <a:off x="453079" y="1601600"/>
          <a:ext cx="7672006" cy="381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CaveatRail"/>
          <p:cNvSpPr txBox="1"/>
          <p:nvPr/>
        </p:nvSpPr>
        <p:spPr>
          <a:xfrm>
            <a:off x="8216525" y="1601600"/>
            <a:ext cx="3518916" cy="1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>
              <a:lnSpc>
                <a:spcPct val="115000"/>
              </a:lnSpc>
              <a:spcAft>
                <a:spcPts val="17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Caveats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only: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FFATA flow, not the full true market.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Mixed roles: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 parent names blend product, service, and prime-related activity.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Aggregate parents: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clean duplicate name variants; avoid bucket-split rows.</a:t>
            </a:r>
          </a:p>
        </p:txBody>
      </p:sp>
      <p:sp>
        <p:nvSpPr>
          <p:cNvPr id="23" name="VisibleFloorNote"/>
          <p:cNvSpPr txBox="1"/>
          <p:nvPr/>
        </p:nvSpPr>
        <p:spPr>
          <a:xfrm>
            <a:off x="453079" y="5500000"/>
            <a:ext cx="7672006" cy="3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Lifetime visible first-tier subaward flow per parent vendor; a floor, not the full supplier base. Names only, no logos.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SAM.gov Entity Management API; (3) FAR 52.204-10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Visibility Gap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Visibility Gap | FFATA is evidence, not the market-size denominator</a:t>
            </a:r>
          </a:p>
        </p:txBody>
      </p:sp>
      <p:sp>
        <p:nvSpPr>
          <p:cNvPr id="20" name="ChartTitle"/>
          <p:cNvSpPr txBox="1"/>
          <p:nvPr/>
        </p:nvSpPr>
        <p:spPr>
          <a:xfrm>
            <a:off x="453079" y="1371600"/>
            <a:ext cx="722071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FFATA-visible flow vs estimated yard-side outsourcing, $M</a:t>
            </a:r>
          </a:p>
        </p:txBody>
      </p:sp>
      <p:graphicFrame>
        <p:nvGraphicFramePr>
          <p:cNvPr id="21" name="FFATAVisibilityGapChart"/>
          <p:cNvGraphicFramePr/>
          <p:nvPr/>
        </p:nvGraphicFramePr>
        <p:xfrm>
          <a:off x="453079" y="1601600"/>
          <a:ext cx="7220711" cy="37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ExplanationRail"/>
          <p:cNvSpPr txBox="1"/>
          <p:nvPr/>
        </p:nvSpPr>
        <p:spPr>
          <a:xfrm>
            <a:off x="7765230" y="1601600"/>
            <a:ext cx="3970211" cy="2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>
              <a:lnSpc>
                <a:spcPct val="115000"/>
              </a:lnSpc>
              <a:spcAft>
                <a:spcPts val="17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visible is not the full market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material: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purchased material booked as direct cost, not a subcontract.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tiers: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reaches only one tier below the prime.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Standing agreements: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long-term supplier deals not subordinated to the prime.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Threshold and lag: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sub-$30,000 actions and 12-30 month reporting lag.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Compliance: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under-reporting, acute at BIW.</a:t>
            </a:r>
          </a:p>
        </p:txBody>
      </p:sp>
      <p:sp>
        <p:nvSpPr>
          <p:cNvPr id="23" name="PointerCallout VisibleShare"/>
          <p:cNvSpPr>
            <a:spLocks noGrp="1"/>
          </p:cNvSpPr>
          <p:nvPr/>
        </p:nvSpPr>
        <p:spPr>
          <a:xfrm>
            <a:off x="1175150" y="1691600"/>
            <a:ext cx="3321527" cy="560000"/>
          </a:xfrm>
          <a:prstGeom prst="wedgeRectCallout">
            <a:avLst>
              <a:gd name="adj1" fmla="val -41304"/>
              <a:gd name="adj2" fmla="val 431896"/>
            </a:avLst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flow is ~20.1% of the midpoint estimate (cumulative basis).</a:t>
            </a:r>
          </a:p>
        </p:txBody>
      </p:sp>
      <p:sp>
        <p:nvSpPr>
          <p:cNvPr id="24" name="EvidenceDenominatorNote"/>
          <p:cNvSpPr txBox="1"/>
          <p:nvPr/>
        </p:nvSpPr>
        <p:spPr>
          <a:xfrm>
            <a:off x="453079" y="5460000"/>
            <a:ext cx="7220711" cy="4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provides public evidence of the supplier base; it does not capture the full true flow. Values are cumulative FY2016-FY2027.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HII and General Dynamics Form 10-K filings; (3) U.S. BLS OEWS, NAICS 336611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Direction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Direction | Distributed shipbuilding points toward more external production capacity</a:t>
            </a:r>
          </a:p>
        </p:txBody>
      </p:sp>
      <p:sp>
        <p:nvSpPr>
          <p:cNvPr id="20" name="ExhibitTitle"/>
          <p:cNvSpPr txBox="1"/>
          <p:nvPr/>
        </p:nvSpPr>
        <p:spPr>
          <a:xfrm>
            <a:off x="453079" y="1371600"/>
            <a:ext cx="11282362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Distributed-shipbuilding signals, FY2024 Q3 to FY2026 Q1</a:t>
            </a:r>
          </a:p>
        </p:txBody>
      </p:sp>
      <p:graphicFrame>
        <p:nvGraphicFramePr>
          <p:cNvPr id="21" name="MarketDirectionTimeline"/>
          <p:cNvGraphicFramePr>
            <a:graphicFrameLocks noGrp="1"/>
          </p:cNvGraphicFramePr>
          <p:nvPr/>
        </p:nvGraphicFramePr>
        <p:xfrm>
          <a:off x="453079" y="1601600"/>
          <a:ext cx="11282362" cy="20726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48978"/>
                <a:gridCol w="1716881"/>
                <a:gridCol w="5273277"/>
                <a:gridCol w="2943226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Implication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FY24 Q3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over 1 million hours in 2024; planned increase of more than 30% in 2025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is now a named lever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 Q4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doubled year over year in 2025; 30% planned in 2026; over 23 vendors established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network is scaling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FY26 Q1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 track to grow outsourcing hours ~30%; first 2 of 32 units in yard from partners on DDG 137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Distributed work reaching the DDG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 Q4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General Dynamics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Supply chain remains the gating item in an Electric Boat context; no comparable DDG outsourcing-hours target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Constraint is broad, not a DDG plan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FY25-FY26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and GAO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Shipbuilders already outsource to overcome constrained physical space; distributed production policy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Directional tailwind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InterpretationRail"/>
          <p:cNvSpPr txBox="1"/>
          <p:nvPr/>
        </p:nvSpPr>
        <p:spPr>
          <a:xfrm>
            <a:off x="453079" y="3765680"/>
            <a:ext cx="11282362" cy="10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Direction: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production capacity is expanding, especially at HII Ingalls.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Asymmetry: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has the clearest public commitment; GD signals supplier constraints, submarine-centric.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directional only; it does not change the FY22-27 TAM math without a refreshed model.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HII quarterly earnings materials, FY2024 Q3-FY2026 Q1; (2) General Dynamics earnings materials, FY2025 Q4-FY2026 Q1; (3) GAO-25-106286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Implications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Implications | Prioritization depends on product scope, qualification burden, and confidence in bucket visibility</a:t>
            </a:r>
          </a:p>
        </p:txBody>
      </p:sp>
      <p:sp>
        <p:nvSpPr>
          <p:cNvPr id="20" name="ExhibitTitle"/>
          <p:cNvSpPr txBox="1"/>
          <p:nvPr/>
        </p:nvSpPr>
        <p:spPr>
          <a:xfrm>
            <a:off x="453079" y="1371600"/>
            <a:ext cx="11282362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prioritization scorecard, average annual FY22-27</a:t>
            </a:r>
          </a:p>
        </p:txBody>
      </p:sp>
      <p:graphicFrame>
        <p:nvGraphicFramePr>
          <p:cNvPr id="21" name="ScenarioPrioritizationScorecard"/>
          <p:cNvGraphicFramePr>
            <a:graphicFrameLocks noGrp="1"/>
          </p:cNvGraphicFramePr>
          <p:nvPr/>
        </p:nvGraphicFramePr>
        <p:xfrm>
          <a:off x="453079" y="1601600"/>
          <a:ext cx="11282362" cy="19659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95941"/>
                <a:gridCol w="1497658"/>
                <a:gridCol w="1397814"/>
                <a:gridCol w="1098283"/>
                <a:gridCol w="1497658"/>
                <a:gridCol w="3195008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annual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Cumulative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TAM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 read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component manufacturing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~$327M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~$1.96B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Envelope, not a single wedge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~$170M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~$1.02B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Largest targeted scenario; high if fabrication or machining scope fits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~$132M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~$791M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Largest single named bucket; high but qualification-heavy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 assemblies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~$104M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~$626M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18.2%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Strategic distributed-capacity lane; smaller in the current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~$89M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~$531M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15.4%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Medium-low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Selective, product-by-product; evidence-dependent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WhereToPlayNote"/>
          <p:cNvSpPr txBox="1"/>
          <p:nvPr/>
        </p:nvSpPr>
        <p:spPr>
          <a:xfrm>
            <a:off x="453079" y="3659000"/>
            <a:ext cx="11282362" cy="209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Where-to-play screen, not SOM.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Prioritization depends on product scope, qualification burden, and confidence in bucket visibility.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U.S. Navy FY2022-FY2027 SCN Justification Books, LI 2122; (3) GAO-25-106286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Definitions and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| Four denominators need to stay separate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Denominator ledger</a:t>
            </a:r>
          </a:p>
        </p:txBody>
      </p:sp>
      <p:graphicFrame>
        <p:nvGraphicFramePr>
          <p:cNvPr id="20" name="DenominatorLedger"/>
          <p:cNvGraphicFramePr>
            <a:graphicFrameLocks noGrp="1"/>
          </p:cNvGraphicFramePr>
          <p:nvPr/>
        </p:nvGraphicFramePr>
        <p:xfrm>
          <a:off x="453079" y="1611600"/>
          <a:ext cx="11282362" cy="31089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050000"/>
                <a:gridCol w="2260000"/>
                <a:gridCol w="2520000"/>
                <a:gridCol w="2580000"/>
                <a:gridCol w="1872362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Included examples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examples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Where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cost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Total Ship Estimate by procurement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Construction; Electronics; Ordnance; Plans; HM&amp;E; Other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WPN missiles; OPN sustainment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Cost funnel context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LI 2122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Class Destroyer line item in Navy SCN budget books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Flight III new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DDG-1000, cruiser modernization, sustainment, depot repair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Scope gate and production schedule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Construction layer flowing through BIW and Ingalls prime contracts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 work and yard-side supplier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Navy-procured Aegis, SPY-6, Mk 41, Mk 45, LM2500, SEWIP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procurement and long-lead material considered supplier-addressable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 Construction EOQ and long-lead material after non-GFE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Aegis Weapon System EOQ, Other GFE, VLS and weapons 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FFATA-visible flow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subawards reported to FSRS and surfaced through SAM.gov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Reportable subcontracts above the reporting threshold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material purchases, lower-tier subcontracts, standing agreements, sub-threshold long 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Evidence, bucket rules, supplier landscape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Supplier-addressable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stream plus AP/LLTM stream after supplier coefficients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new-construction supplier work away from prime yards and excluded flows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GFE, weapons, sustainment, MIB, design-only, SOM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Headline market size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scenarios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Work-type bucket menus selected from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component, metal, electrical, modular, HM&amp;E scenarios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Unbucketed residual unless later classified; capture probability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Target-market menu, not a forecast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BoundaryCommentary"/>
          <p:cNvSpPr txBox="1"/>
          <p:nvPr/>
        </p:nvSpPr>
        <p:spPr>
          <a:xfrm>
            <a:off x="6103079" y="4830560"/>
            <a:ext cx="5632362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deck keeps GFE-heavy prime flows visible as context, but excludes them from non-GFE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CRS, Navy DDG-51 and DDG-1000 Destroyer Programs, RL32109; U.S. Navy FY2027 SCN Justification Book, LI 2122; FAR 52.204-10 and 48 C.F.R. Part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Calculation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Detail | The annual headline reconciles to the FY22-27 cumulative model</a:t>
            </a:r>
          </a:p>
        </p:txBody>
      </p:sp>
      <p:sp>
        <p:nvSpPr>
          <p:cNvPr id="10" name="HeaderNote"/>
          <p:cNvSpPr txBox="1"/>
          <p:nvPr/>
        </p:nvSpPr>
        <p:spPr>
          <a:xfrm>
            <a:off x="453079" y="137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convention: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FY22-27 cumulative values are divided by six; they are not a steady run-rate.</a:t>
            </a:r>
          </a:p>
        </p:txBody>
      </p:sp>
      <p:graphicFrame>
        <p:nvGraphicFramePr>
          <p:cNvPr id="20" name="TAMReconciliationTable"/>
          <p:cNvGraphicFramePr>
            <a:graphicFrameLocks noGrp="1"/>
          </p:cNvGraphicFramePr>
          <p:nvPr/>
        </p:nvGraphicFramePr>
        <p:xfrm>
          <a:off x="453079" y="1771600"/>
          <a:ext cx="7720000" cy="31546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350000"/>
                <a:gridCol w="1250000"/>
                <a:gridCol w="1380000"/>
                <a:gridCol w="1350000"/>
                <a:gridCol w="1390000"/>
              </a:tblGrid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FY22-27 cumulative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Average annual $M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 coefficient or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17,471.0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2,911.8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BC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MYP-corrected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Other-US and foreign POP over non-GFE BC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BC-stream supplier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2,192.0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365.3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 times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CY AP in-window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1,833.2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305.5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FY25-27 AP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share of CY 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knob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Portfolio supplier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3,438.6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573.1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Average annual convention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573.1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divide by six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Six-year average, not run-rate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0" name="MiniBridgeContainer"/>
          <p:cNvSpPr txBox="1"/>
          <p:nvPr/>
        </p:nvSpPr>
        <p:spPr>
          <a:xfrm>
            <a:off x="8423079" y="1771600"/>
            <a:ext cx="3312362" cy="310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1" name="BridgeCap"/>
          <p:cNvSpPr txBox="1"/>
          <p:nvPr/>
        </p:nvSpPr>
        <p:spPr>
          <a:xfrm>
            <a:off x="8573079" y="1891600"/>
            <a:ext cx="3012362" cy="2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BRIDGE</a:t>
            </a:r>
          </a:p>
        </p:txBody>
      </p:sp>
      <p:sp>
        <p:nvSpPr>
          <p:cNvPr id="62" name="BridgeRow1"/>
          <p:cNvSpPr txBox="1"/>
          <p:nvPr/>
        </p:nvSpPr>
        <p:spPr>
          <a:xfrm>
            <a:off x="8573079" y="2271600"/>
            <a:ext cx="3012362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BC-stream supplier TAM</a:t>
            </a:r>
          </a:p>
          <a:p>
            <a:pPr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~$2.19B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cumulative</a:t>
            </a:r>
          </a:p>
        </p:txBody>
      </p:sp>
      <p:sp>
        <p:nvSpPr>
          <p:cNvPr id="63" name="BridgeRow2"/>
          <p:cNvSpPr txBox="1"/>
          <p:nvPr/>
        </p:nvSpPr>
        <p:spPr>
          <a:xfrm>
            <a:off x="8573079" y="2751600"/>
            <a:ext cx="3012362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stream TAM</a:t>
            </a:r>
          </a:p>
          <a:p>
            <a:pPr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~$1.25B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cumulative</a:t>
            </a:r>
          </a:p>
        </p:txBody>
      </p:sp>
      <p:sp>
        <p:nvSpPr>
          <p:cNvPr id="64" name="BridgeRow3"/>
          <p:cNvSpPr txBox="1"/>
          <p:nvPr/>
        </p:nvSpPr>
        <p:spPr>
          <a:xfrm>
            <a:off x="8573079" y="3231600"/>
            <a:ext cx="3012362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supplier TAM</a:t>
            </a:r>
          </a:p>
          <a:p>
            <a:pPr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~$3.44B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cumulative</a:t>
            </a:r>
          </a:p>
        </p:txBody>
      </p:sp>
      <p:cxnSp>
        <p:nvCxnSpPr>
          <p:cNvPr id="70" name="BridgeDividerRule"/>
          <p:cNvCxnSpPr/>
          <p:nvPr/>
        </p:nvCxnSpPr>
        <p:spPr>
          <a:xfrm>
            <a:off x="8573079" y="3806600"/>
            <a:ext cx="301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71" name="BridgeAnnualBand"/>
          <p:cNvSpPr txBox="1"/>
          <p:nvPr/>
        </p:nvSpPr>
        <p:spPr>
          <a:xfrm>
            <a:off x="8573079" y="3961600"/>
            <a:ext cx="3012362" cy="7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headline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Divide by 6 fiscal years</a:t>
            </a:r>
          </a:p>
        </p:txBody>
      </p:sp>
      <p:sp>
        <p:nvSpPr>
          <p:cNvPr id="80" name="KPIChip"/>
          <p:cNvSpPr txBox="1"/>
          <p:nvPr/>
        </p:nvSpPr>
        <p:spPr>
          <a:xfrm>
            <a:off x="453079" y="5015000"/>
            <a:ext cx="2512373" cy="4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In-window hulls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1" name="KPIChip"/>
          <p:cNvSpPr txBox="1"/>
          <p:nvPr/>
        </p:nvSpPr>
        <p:spPr>
          <a:xfrm>
            <a:off x="3056892" y="5015000"/>
            <a:ext cx="2512373" cy="4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per in-window hull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~$265M</a:t>
            </a:r>
          </a:p>
        </p:txBody>
      </p:sp>
      <p:sp>
        <p:nvSpPr>
          <p:cNvPr id="82" name="KPIChip"/>
          <p:cNvSpPr txBox="1"/>
          <p:nvPr/>
        </p:nvSpPr>
        <p:spPr>
          <a:xfrm>
            <a:off x="5660705" y="5015000"/>
            <a:ext cx="2512373" cy="4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TAM per in-window hull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~$169M</a:t>
            </a:r>
          </a:p>
        </p:txBody>
      </p:sp>
      <p:sp>
        <p:nvSpPr>
          <p:cNvPr id="90" name="SizingNote"/>
          <p:cNvSpPr txBox="1"/>
          <p:nvPr/>
        </p:nvSpPr>
        <p:spPr>
          <a:xfrm>
            <a:off x="453079" y="5590000"/>
            <a:ext cx="11282362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DoW DDG-51 contract announcements, July 2022-May 2026; SAM.gov Acquisition Subaward Reporting Public API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MYP Correction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Correction | The $14.58B redacted masters drive the outside-yards correction</a:t>
            </a:r>
          </a:p>
        </p:txBody>
      </p:sp>
      <p:graphicFrame>
        <p:nvGraphicFramePr>
          <p:cNvPr id="20" name="MYPReconstructionTable"/>
          <p:cNvGraphicFramePr>
            <a:graphicFrameLocks noGrp="1"/>
          </p:cNvGraphicFramePr>
          <p:nvPr/>
        </p:nvGraphicFramePr>
        <p:xfrm>
          <a:off x="453079" y="1561600"/>
          <a:ext cx="7600000" cy="2286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150000"/>
                <a:gridCol w="1000000"/>
                <a:gridCol w="1600000"/>
                <a:gridCol w="1800000"/>
                <a:gridCol w="10500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BIW FY23-27 MYP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6,400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Bath 69% plus supplier sites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Reconstructed from public reporting and POP paragraph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Yard-heavy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Ingalls FY23-27 MYP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8,180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Pascagoula 77% to 79%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Reconstructed from public reporting and POP paragraph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Yard-heavy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Combined masters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14,580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yard-heavy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67.2% of gated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Too large to omit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corpus with masters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21,712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gated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denominator for correction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Corpus used for corrected 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Corrected outside-yards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other-US plus foreign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forward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Disclosed artifact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73.6%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guardrail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headline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60" name="ComparisonTitle"/>
          <p:cNvSpPr txBox="1"/>
          <p:nvPr/>
        </p:nvSpPr>
        <p:spPr>
          <a:xfrm>
            <a:off x="8323079" y="1561600"/>
            <a:ext cx="3412362" cy="15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Outside-yards share</a:t>
            </a:r>
          </a:p>
        </p:txBody>
      </p:sp>
      <p:sp>
        <p:nvSpPr>
          <p:cNvPr id="61" name="OutsideYardsBar"/>
          <p:cNvSpPr txBox="1"/>
          <p:nvPr/>
        </p:nvSpPr>
        <p:spPr>
          <a:xfrm>
            <a:off x="8323079" y="1931600"/>
            <a:ext cx="3122362" cy="56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Disclosed artifact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73.6%</a:t>
            </a:r>
          </a:p>
        </p:txBody>
      </p:sp>
      <p:sp>
        <p:nvSpPr>
          <p:cNvPr id="62" name="OutsideYardsBar"/>
          <p:cNvSpPr txBox="1"/>
          <p:nvPr/>
        </p:nvSpPr>
        <p:spPr>
          <a:xfrm>
            <a:off x="8323079" y="2851600"/>
            <a:ext cx="1391487" cy="5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MYP-corrected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32.8%</a:t>
            </a:r>
          </a:p>
        </p:txBody>
      </p:sp>
      <p:sp>
        <p:nvSpPr>
          <p:cNvPr id="63" name="CorrectedUseForwardLabel"/>
          <p:cNvSpPr txBox="1"/>
          <p:nvPr/>
        </p:nvSpPr>
        <p:spPr>
          <a:xfrm>
            <a:off x="9804566" y="2961600"/>
            <a:ext cx="1930875" cy="2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forward</a:t>
            </a:r>
          </a:p>
        </p:txBody>
      </p:sp>
      <p:sp>
        <p:nvSpPr>
          <p:cNvPr id="80" name="SensitivityMiniRow"/>
          <p:cNvSpPr txBox="1"/>
          <p:nvPr/>
        </p:nvSpPr>
        <p:spPr>
          <a:xfrm>
            <a:off x="453079" y="3982600"/>
            <a:ext cx="11282362" cy="5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TAM: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~$3.44B corrected versus ~$2.13B disclosed-only; MYP reconstruction uplift is ~$1.31B.</a:t>
            </a:r>
          </a:p>
        </p:txBody>
      </p:sp>
      <p:sp>
        <p:nvSpPr>
          <p:cNvPr id="90" name="GuardrailCommentary"/>
          <p:cNvSpPr txBox="1"/>
          <p:nvPr/>
        </p:nvSpPr>
        <p:spPr>
          <a:xfrm>
            <a:off x="453079" y="4592600"/>
            <a:ext cx="11282362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Corrected distribution is BIW 29.0%, Ingalls 33.6%, Other-US 31.5%, Foreign 1.3%, and Unparsed 4.5%. The applied BC supplier coefficient is lower because it is measured on the non-GFE BC corpus, not the all-gated corpus.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DoW contract announcements, Aug. 1, Aug. 11, and Sept. 6, 2023; USNI News, Navy Reveals Contract Costs of Latest 10-Hull Destroyer Deal, Sept. 6, 2023; NAVSEA, Navy Awards DDG 51 FY23-27 Multiyear Procurement Contracts, Aug. 1, 2023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AP/LLTM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AP/LLTM | The second stream contributes ~36% of portfolio TAM</a:t>
            </a:r>
          </a:p>
        </p:txBody>
      </p:sp>
      <p:graphicFrame>
        <p:nvGraphicFramePr>
          <p:cNvPr id="20" name="APStreamBuildTable"/>
          <p:cNvGraphicFramePr>
            <a:graphicFrameLocks noGrp="1"/>
          </p:cNvGraphicFramePr>
          <p:nvPr/>
        </p:nvGraphicFramePr>
        <p:xfrm>
          <a:off x="453079" y="1451600"/>
          <a:ext cx="6200000" cy="18745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100000"/>
                <a:gridCol w="1070000"/>
                <a:gridCol w="1180000"/>
                <a:gridCol w="1160000"/>
                <a:gridCol w="690000"/>
              </a:tblGrid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Cum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$M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 or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CY Advance Procurement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1,833.2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305.5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starting AP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knob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AP/LLTM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contributes 36.3% of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</a:tr>
            </a:tbl>
          </a:graphicData>
        </a:graphic>
      </p:graphicFrame>
      <p:sp>
        <p:nvSpPr>
          <p:cNvPr id="40" name="SensitivityMatrixTitle"/>
          <p:cNvSpPr txBox="1"/>
          <p:nvPr/>
        </p:nvSpPr>
        <p:spPr>
          <a:xfrm>
            <a:off x="6953079" y="1451600"/>
            <a:ext cx="4782362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cumulative TAM sensitivity, $M</a:t>
            </a:r>
          </a:p>
        </p:txBody>
      </p:sp>
      <p:graphicFrame>
        <p:nvGraphicFramePr>
          <p:cNvPr id="50" name="APSensitivityMatrix"/>
          <p:cNvGraphicFramePr>
            <a:graphicFrameLocks noGrp="1"/>
          </p:cNvGraphicFramePr>
          <p:nvPr/>
        </p:nvGraphicFramePr>
        <p:xfrm>
          <a:off x="6953079" y="1711600"/>
          <a:ext cx="4782362" cy="11887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60000"/>
                <a:gridCol w="1140000"/>
                <a:gridCol w="1140000"/>
                <a:gridCol w="1142362"/>
              </a:tblGrid>
              <a:tr h="36576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75% AP coeff.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85% AP coeff.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95% AP coeff.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~$962M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~$1,091M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~$1,219M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~$1,100M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~$1,247M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~$1,393M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~$1,237M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~$1,403M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~$1,568M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" name="LineLevelTreatmentCue"/>
          <p:cNvSpPr txBox="1"/>
          <p:nvPr/>
        </p:nvSpPr>
        <p:spPr>
          <a:xfrm>
            <a:off x="453079" y="3546120"/>
            <a:ext cx="6200000" cy="1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 Construction EOQ and supplier-addressable long-lead material.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Aegis Weapon System EOQ; Other GFE; VLS, weapons, and ordnance AP; WPN and OPN-funded flows.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ALREADY IN BC: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Power Conversion Modules moved into Basic Construction in FY23.</a:t>
            </a:r>
          </a:p>
        </p:txBody>
      </p:sp>
      <p:sp>
        <p:nvSpPr>
          <p:cNvPr id="90" name="SizingNote"/>
          <p:cNvSpPr txBox="1"/>
          <p:nvPr/>
        </p:nvSpPr>
        <p:spPr>
          <a:xfrm>
            <a:off x="453079" y="5620000"/>
            <a:ext cx="1128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CRS, Navy DDG-51 and DDG-1000 Destroyer Programs, RL32109; NAVSEA, DDG 51 FY23-27 MYP award release, Aug. 1, 2023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FFATA Limitations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Visibility Gap | Visible first-tier subawards are a floor, not a full market read</a:t>
            </a:r>
          </a:p>
        </p:txBody>
      </p:sp>
      <p:sp>
        <p:nvSpPr>
          <p:cNvPr id="10" name="MainCaution"/>
          <p:cNvSpPr txBox="1"/>
          <p:nvPr/>
        </p:nvSpPr>
        <p:spPr>
          <a:xfrm>
            <a:off x="453079" y="142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is the observable floor.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supports supplier names, bucket evidence, and concentration, but not the full market denominator.</a:t>
            </a:r>
          </a:p>
        </p:txBody>
      </p:sp>
      <p:graphicFrame>
        <p:nvGraphicFramePr>
          <p:cNvPr id="20" name="FFATAEvidenceLedger"/>
          <p:cNvGraphicFramePr>
            <a:graphicFrameLocks noGrp="1"/>
          </p:cNvGraphicFramePr>
          <p:nvPr/>
        </p:nvGraphicFramePr>
        <p:xfrm>
          <a:off x="453079" y="1841600"/>
          <a:ext cx="7300000" cy="26060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90000"/>
                <a:gridCol w="1820000"/>
                <a:gridCol w="1970000"/>
                <a:gridCol w="17200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Public-data element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captures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remains unseen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Implication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FFATA-reported first-tier subawards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prime-to-sub subcontracts above threshold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Lower-tier suppliers and sub-threshold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layer, not TAM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published and deleted records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FSRS records through SAM.gov API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Reporting lag and late corrections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Public access path for FFATA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Yard-prime PIID filings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supplier names and descriptions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material bookings and standing agreements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Supports supplier landscape and bucket classification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Vendor and description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for SAM classification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Incomplete NAICS and UEI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with residual and caveat logic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Entity Management enrichment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Entity names and identifiers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 cleanup and name variants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Supports supplier aggregation, not perfect parentage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USAspending cross-validation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Secondary public cross-check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Truncation and timing differences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QA support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  <p:sp>
        <p:nvSpPr>
          <p:cNvPr id="50" name="RangeCueTitle"/>
          <p:cNvSpPr txBox="1"/>
          <p:nvPr/>
        </p:nvSpPr>
        <p:spPr>
          <a:xfrm>
            <a:off x="8103079" y="1841600"/>
            <a:ext cx="3632362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yard-side view</a:t>
            </a:r>
          </a:p>
        </p:txBody>
      </p:sp>
      <p:sp>
        <p:nvSpPr>
          <p:cNvPr id="51" name="RangeCueValue"/>
          <p:cNvSpPr txBox="1"/>
          <p:nvPr/>
        </p:nvSpPr>
        <p:spPr>
          <a:xfrm>
            <a:off x="8103079" y="2101600"/>
            <a:ext cx="3632362" cy="50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FFATA-visible yard-side flow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~$2.73B cumulative</a:t>
            </a:r>
          </a:p>
        </p:txBody>
      </p:sp>
      <p:sp>
        <p:nvSpPr>
          <p:cNvPr id="52" name="RangeCueValue"/>
          <p:cNvSpPr txBox="1"/>
          <p:nvPr/>
        </p:nvSpPr>
        <p:spPr>
          <a:xfrm>
            <a:off x="8103079" y="2661600"/>
            <a:ext cx="3632362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Estimated outsourcing low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~$11.31B cumulative</a:t>
            </a:r>
          </a:p>
        </p:txBody>
      </p:sp>
      <p:sp>
        <p:nvSpPr>
          <p:cNvPr id="53" name="RangeCueValue"/>
          <p:cNvSpPr txBox="1"/>
          <p:nvPr/>
        </p:nvSpPr>
        <p:spPr>
          <a:xfrm>
            <a:off x="8103079" y="3221600"/>
            <a:ext cx="3632362" cy="5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Estimated outsourcing midpoint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~$13.57B cumulative</a:t>
            </a:r>
          </a:p>
        </p:txBody>
      </p:sp>
      <p:sp>
        <p:nvSpPr>
          <p:cNvPr id="54" name="RangeCueValue"/>
          <p:cNvSpPr txBox="1"/>
          <p:nvPr/>
        </p:nvSpPr>
        <p:spPr>
          <a:xfrm>
            <a:off x="8103079" y="3781600"/>
            <a:ext cx="3632362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Estimated outsourcing high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~$16.16B cumulative</a:t>
            </a:r>
          </a:p>
        </p:txBody>
      </p:sp>
      <p:sp>
        <p:nvSpPr>
          <p:cNvPr id="55" name="RangeCueValue"/>
          <p:cNvSpPr txBox="1"/>
          <p:nvPr/>
        </p:nvSpPr>
        <p:spPr>
          <a:xfrm>
            <a:off x="8103079" y="4341600"/>
            <a:ext cx="3632362" cy="5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share at midpoint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20.1%</a:t>
            </a:r>
          </a:p>
        </p:txBody>
      </p:sp>
      <p:sp>
        <p:nvSpPr>
          <p:cNvPr id="80" name="LimitationsCommentary"/>
          <p:cNvSpPr txBox="1"/>
          <p:nvPr/>
        </p:nvSpPr>
        <p:spPr>
          <a:xfrm>
            <a:off x="453079" y="4971600"/>
            <a:ext cx="11282362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Coverage: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material purchases can be booked outside subcontract reporting.</a:t>
            </a:r>
          </a:p>
          <a:p>
            <a:pPr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Tiering: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sub's sub is not reportable.</a:t>
            </a:r>
          </a:p>
          <a:p>
            <a:pPr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FY23-27 BIW master shows a major reporting gap.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Timing: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Recent years are still affected by reporting lag.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FAR 52.204-10; SAM.gov Acquisition Subaward Reporting Public API; GAO-25-106286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Bucket Rules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Rules | Description-led classification maps subawards into seven target work types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401600"/>
            <a:ext cx="11282362" cy="3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Bucket rules and evidence limits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Scale: TAM basis ~$573M per year; seven named buckets ~$327M per year (57.1%); unbucketed and ambiguous residual ~$246M per year (42.9%).</a:t>
            </a:r>
          </a:p>
        </p:txBody>
      </p:sp>
      <p:graphicFrame>
        <p:nvGraphicFramePr>
          <p:cNvPr id="20" name="BucketRulesTable"/>
          <p:cNvGraphicFramePr>
            <a:graphicFrameLocks noGrp="1"/>
          </p:cNvGraphicFramePr>
          <p:nvPr/>
        </p:nvGraphicFramePr>
        <p:xfrm>
          <a:off x="453079" y="1781600"/>
          <a:ext cx="11282362" cy="31089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100000"/>
                <a:gridCol w="2730000"/>
                <a:gridCol w="1700000"/>
                <a:gridCol w="1900000"/>
                <a:gridCol w="2852362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Description cues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 use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limits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fabrication and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 sections; structural metal; deckhouse; pre-outfit modules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Metal; Modular;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mixed fabrication and module descriptions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machine shops; gears; shafts; bearings; power transmission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Metal; HM&amp;E;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overlaps metal and HM&amp;E by design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forgings; foundries; cast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small bucket; do not over-interpret precision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Piping, valves, and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valves; pumps; manifolds; piping; fittings; hydraulics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 descriptions can be ambiguous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switchgear; cable; power distribution; generators; motors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screen GFE-adjacent electronics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and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air conditioning; chilled water; ventilation; AHUs; ductwork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sparse records and mixed services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and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coatings; paint; deck covering; insulation; non-skid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low-dollar bucket; description-led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Unbucketed and ambiguous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 unknown; GFE-adjacent specialty; no clean cue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Residual, not broad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explicit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ambiguity, not zero market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0" name="BucketRulesCommentary"/>
          <p:cNvSpPr txBox="1"/>
          <p:nvPr/>
        </p:nvSpPr>
        <p:spPr>
          <a:xfrm>
            <a:off x="453079" y="4970560"/>
            <a:ext cx="11282362" cy="8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 numCol="2" spcCol="91440"/>
          <a:lstStyle/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scenarios are work-type menus selected from TAM.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Overlap: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 buckets appear in more than one scenario, so scenarios are not additive.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and ambiguous remains visible and should not be forced into a named bucket.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evidence: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Top-vendor rows should come from Bucket Evidence or Vendors tie-outs, not inference.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not SOM and no capture probability is applied.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Acquisition Subaward Reporting Public API; SAM.gov Entity Management API; FAR 52.204-10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deck_ddg</Application>
  <PresentationFormat>Widescreen</PresentationFormat>
  <Slides>25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Destroyers - Outsourced Construction TAM &amp; SAM</dc:title>
  <dc:creator>deck_ddg build_deck.py</dc:creator>
  <cp:lastModifiedBy>deck_ddg build_deck.py</cp:lastModifiedBy>
  <cp:revision>1</cp:revision>
  <dcterms:created xsi:type="dcterms:W3CDTF">2026-06-15T14:10:48Z</dcterms:created>
  <dcterms:modified xsi:type="dcterms:W3CDTF">2026-06-15T14:10:48Z</dcterms:modified>
</cp:coreProperties>
</file>