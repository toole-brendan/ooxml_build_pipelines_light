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jpg" ContentType="image/jpeg"/>
  <Default Extension="png" ContentType="image/png"/>
  <Default Extension="svg" ContentType="image/svg+xml"/>
  <Default Extension="emf" ContentType="image/x-emf"/>
  <Default Extension="bin" ContentType="application/vnd.openxmlformats-officedocument.oleObjec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embeddings/Microsoft_Excel_Worksheet1.xlsx" ContentType="application/vnd.openxmlformats-officedocument.spreadsheetml.sheet"/>
  <Override PartName="/ppt/embeddings/Microsoft_Excel_Worksheet2.xlsx" ContentType="application/vnd.openxmlformats-officedocument.spreadsheetml.sheet"/>
  <Override PartName="/ppt/embeddings/Microsoft_Excel_Worksheet3.xlsx" ContentType="application/vnd.openxmlformats-officedocument.spreadsheetml.sheet"/>
  <Override PartName="/ppt/embeddings/Microsoft_Excel_Worksheet4.xlsx" ContentType="application/vnd.openxmlformats-officedocument.spreadsheetml.sheet"/>
  <Override PartName="/ppt/embeddings/Microsoft_Excel_Worksheet5.xlsx" ContentType="application/vnd.openxmlformats-officedocument.spreadsheetml.sheet"/>
  <Override PartName="/ppt/embeddings/Microsoft_Excel_Worksheet6.xlsx" ContentType="application/vnd.openxmlformats-officedocument.spreadsheetml.sheet"/>
  <Override PartName="/ppt/embeddings/Microsoft_Excel_Worksheet7.xlsx" ContentType="application/vnd.openxmlformats-officedocument.spreadsheetml.sheet"/>
  <Override PartName="/ppt/embeddings/Microsoft_Excel_Worksheet8.xlsx" ContentType="application/vnd.openxmlformats-officedocument.spreadsheetml.sheet"/>
  <Override PartName="/ppt/embeddings/Microsoft_Excel_Worksheet9.xlsx" ContentType="application/vnd.openxmlformats-officedocument.spreadsheetml.sheet"/>
  <Override PartName="/ppt/theme/theme1.xml" ContentType="application/vnd.openxmlformats-officedocument.theme+xml"/>
  <Override PartName="/ppt/theme/theme2.xml" ContentType="application/vnd.openxmlformats-officedocument.theme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handoutMasterIdLst>
    <p:handoutMasterId r:id="rId27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934200" cy="9220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D5972"/>
    <a:srgbClr val="6E91B1"/>
    <a:srgbClr val="B6C8D8"/>
    <a:srgbClr val="E2E9EF"/>
    <a:srgbClr val="F2F2F2"/>
    <a:srgbClr val="447BB2"/>
    <a:srgbClr val="D1D1D1"/>
    <a:srgbClr val="BFBFBF"/>
    <a:srgbClr val="1D4D68"/>
    <a:srgbClr val="7983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38" autoAdjust="0"/>
    <p:restoredTop sz="94660"/>
  </p:normalViewPr>
  <p:slideViewPr>
    <p:cSldViewPr snapToGrid="0">
      <p:cViewPr varScale="1">
        <p:scale>
          <a:sx n="97" d="100"/>
          <a:sy n="97" d="100"/>
        </p:scale>
        <p:origin x="103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handoutMaster" Target="handoutMasters/handout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charts/_rels/chart1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_Base</c:v>
                </c:pt>
              </c:strCache>
            </c:strRef>
          </c:tx>
          <c:spPr>
            <a:noFill/>
            <a:ln>
              <a:noFill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Total ship</c:v>
                </c:pt>
                <c:pt idx="1">
                  <c:v>Less GFE</c:v>
                </c:pt>
                <c:pt idx="2">
                  <c:v>Less other</c:v>
                </c:pt>
                <c:pt idx="3">
                  <c:v>Basic Construction</c:v>
                </c:pt>
              </c:strCache>
            </c:strRef>
          </c:cat>
          <c:val>
            <c:numRef>
              <c:f>Sheet1!$B$2:$B$5</c:f>
              <c:numCache>
                <c:formatCode>"$"#,##0"M"</c:formatCode>
                <c:ptCount val="4"/>
                <c:pt idx="1">
                  <c:v>3685.0</c:v>
                </c:pt>
                <c:pt idx="2">
                  <c:v>3322.0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Increase</c:v>
                </c:pt>
              </c:strCache>
            </c:strRef>
          </c:tx>
          <c:spPr>
            <a:solidFill>
              <a:srgbClr val="486D82"/>
            </a:solidFill>
            <a:ln w="6350">
              <a:solidFill>
                <a:srgbClr val="000000"/>
              </a:solidFill>
            </a:ln>
          </c:spPr>
          <c:invertIfNegative val="0"/>
          <c:dLbls>
            <c:txPr>
              <a:bodyPr rot="0" spcFirstLastPara="1" vertOverflow="ellipsis" wrap="square" anchor="ctr" anchorCtr="1"/>
              <a:lstStyle/>
              <a:p>
                <a:pPr>
                  <a:defRPr sz="900" b="1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Sheet1!$A$2:$A$5</c:f>
              <c:strCache>
                <c:ptCount val="4"/>
                <c:pt idx="0">
                  <c:v>Total ship</c:v>
                </c:pt>
                <c:pt idx="1">
                  <c:v>Less GFE</c:v>
                </c:pt>
                <c:pt idx="2">
                  <c:v>Less other</c:v>
                </c:pt>
                <c:pt idx="3">
                  <c:v>Basic Construction</c:v>
                </c:pt>
              </c:strCache>
            </c:strRef>
          </c:cat>
          <c:val>
            <c:numRef>
              <c:f>Sheet1!$C$2:$C$5</c:f>
              <c:numCache>
                <c:formatCode>"$"#,##0"M"</c:formatCode>
                <c:ptCount val="4"/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Decrease</c:v>
                </c:pt>
              </c:strCache>
            </c:strRef>
          </c:tx>
          <c:spPr>
            <a:solidFill>
              <a:srgbClr val="A1A1A1"/>
            </a:solidFill>
            <a:ln w="6350">
              <a:solidFill>
                <a:srgbClr val="000000"/>
              </a:solidFill>
            </a:ln>
          </c:spPr>
          <c:invertIfNegative val="0"/>
          <c:dLbls>
            <c:txPr>
              <a:bodyPr rot="0" spcFirstLastPara="1" vertOverflow="ellipsis" wrap="square" anchor="ctr" anchorCtr="1"/>
              <a:lstStyle/>
              <a:p>
                <a:pPr>
                  <a:defRPr sz="9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Sheet1!$A$2:$A$5</c:f>
              <c:strCache>
                <c:ptCount val="4"/>
                <c:pt idx="0">
                  <c:v>Total ship</c:v>
                </c:pt>
                <c:pt idx="1">
                  <c:v>Less GFE</c:v>
                </c:pt>
                <c:pt idx="2">
                  <c:v>Less other</c:v>
                </c:pt>
                <c:pt idx="3">
                  <c:v>Basic Construction</c:v>
                </c:pt>
              </c:strCache>
            </c:strRef>
          </c:cat>
          <c:val>
            <c:numRef>
              <c:f>Sheet1!$D$2:$D$5</c:f>
              <c:numCache>
                <c:formatCode>"$"#,##0"M"</c:formatCode>
                <c:ptCount val="4"/>
                <c:pt idx="1">
                  <c:v>1807.0</c:v>
                </c:pt>
                <c:pt idx="2">
                  <c:v>363.0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1D4D68"/>
            </a:solidFill>
            <a:ln w="6350">
              <a:solidFill>
                <a:srgbClr val="000000"/>
              </a:solidFill>
            </a:ln>
          </c:spPr>
          <c:invertIfNegative val="0"/>
          <c:dLbls>
            <c:txPr>
              <a:bodyPr rot="0" spcFirstLastPara="1" vertOverflow="ellipsis" wrap="square" anchor="ctr" anchorCtr="1"/>
              <a:lstStyle/>
              <a:p>
                <a:pPr>
                  <a:defRPr sz="900" b="1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Sheet1!$A$2:$A$5</c:f>
              <c:strCache>
                <c:ptCount val="4"/>
                <c:pt idx="0">
                  <c:v>Total ship</c:v>
                </c:pt>
                <c:pt idx="1">
                  <c:v>Less GFE</c:v>
                </c:pt>
                <c:pt idx="2">
                  <c:v>Less other</c:v>
                </c:pt>
                <c:pt idx="3">
                  <c:v>Basic Construction</c:v>
                </c:pt>
              </c:strCache>
            </c:strRef>
          </c:cat>
          <c:val>
            <c:numRef>
              <c:f>Sheet1!$E$2:$E$5</c:f>
              <c:numCache>
                <c:formatCode>"$"#,##0"M"</c:formatCode>
                <c:ptCount val="4"/>
                <c:pt idx="0">
                  <c:v>5492.0</c:v>
                </c:pt>
                <c:pt idx="3">
                  <c:v>3322.0</c:v>
                </c:pt>
              </c:numCache>
            </c:numRef>
          </c:val>
        </c:ser>
        <c:gapWidth val="60"/>
        <c:overlap val="10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22222222"/>
        <c:crosses val="autoZero"/>
        <c:auto val="1"/>
        <c:lblAlgn val="ctr"/>
        <c:lblOffset val="100"/>
        <c:noMultiLvlLbl val="0"/>
      </c:catAx>
      <c:valAx>
        <c:axId val="222222222"/>
        <c:scaling>
          <c:orientation val="minMax"/>
        </c:scaling>
        <c:delete val="0"/>
        <c:axPos val="l"/>
        <c:majorGridlines>
          <c:spPr>
            <a:ln w="3175" cap="flat">
              <a:solidFill>
                <a:srgbClr val="F2F2F2"/>
              </a:solidFill>
              <a:prstDash val="solid"/>
            </a:ln>
          </c:spPr>
        </c:majorGridlines>
        <c:numFmt formatCode="&quot;$&quot;#,##0&quot;M&quot;" sourceLinked="0"/>
        <c:majorTickMark val="out"/>
        <c:minorTickMark val="none"/>
        <c:tickLblPos val="nextTo"/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111111111"/>
        <c:crosses val="autoZero"/>
        <c:crossBetween val="between"/>
      </c:valAx>
    </c:plotArea>
    <c:plotVisOnly val="1"/>
    <c:dispBlanksAs val="gap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BIW site</c:v>
                </c:pt>
              </c:strCache>
            </c:strRef>
          </c:tx>
          <c:spPr>
            <a:solidFill>
              <a:srgbClr val="A1A1A1"/>
            </a:solidFill>
            <a:ln w="6350">
              <a:solidFill>
                <a:srgbClr val="000000"/>
              </a:solidFill>
            </a:ln>
          </c:spPr>
          <c:invertIfNegative val="0"/>
          <c:dLbls>
            <c:txPr>
              <a:bodyPr rot="0" spcFirstLastPara="1" vertOverflow="ellipsis" wrap="square" anchor="ctr" anchorCtr="1"/>
              <a:lstStyle/>
              <a:p>
                <a:pPr>
                  <a:defRPr sz="8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Sheet1!$A$2:$A$2</c:f>
              <c:strCache>
                <c:ptCount val="1"/>
                <c:pt idx="0">
                  <c:v/>
                </c:pt>
              </c:strCache>
            </c:strRef>
          </c:cat>
          <c:val>
            <c:numRef>
              <c:f>Sheet1!$B$2:$B$2</c:f>
              <c:numCache>
                <c:formatCode>0.0%</c:formatCode>
                <c:ptCount val="1"/>
                <c:pt idx="0">
                  <c:v>0.29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Ingalls site</c:v>
                </c:pt>
              </c:strCache>
            </c:strRef>
          </c:tx>
          <c:spPr>
            <a:solidFill>
              <a:srgbClr val="BEBEBE"/>
            </a:solidFill>
            <a:ln w="6350">
              <a:solidFill>
                <a:srgbClr val="000000"/>
              </a:solidFill>
            </a:ln>
          </c:spPr>
          <c:invertIfNegative val="0"/>
          <c:dLbls>
            <c:txPr>
              <a:bodyPr rot="0" spcFirstLastPara="1" vertOverflow="ellipsis" wrap="square" anchor="ctr" anchorCtr="1"/>
              <a:lstStyle/>
              <a:p>
                <a:pPr>
                  <a:defRPr sz="8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Sheet1!$A$2:$A$2</c:f>
              <c:strCache>
                <c:ptCount val="1"/>
                <c:pt idx="0">
                  <c:v/>
                </c:pt>
              </c:strCache>
            </c:strRef>
          </c:cat>
          <c:val>
            <c:numRef>
              <c:f>Sheet1!$C$2:$C$2</c:f>
              <c:numCache>
                <c:formatCode>0.0%</c:formatCode>
                <c:ptCount val="1"/>
                <c:pt idx="0">
                  <c:v>0.336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Other-US supplier</c:v>
                </c:pt>
              </c:strCache>
            </c:strRef>
          </c:tx>
          <c:spPr>
            <a:solidFill>
              <a:srgbClr val="1D4D68"/>
            </a:solidFill>
            <a:ln w="6350">
              <a:solidFill>
                <a:srgbClr val="000000"/>
              </a:solidFill>
            </a:ln>
          </c:spPr>
          <c:invertIfNegative val="0"/>
          <c:dLbls>
            <c:txPr>
              <a:bodyPr rot="0" spcFirstLastPara="1" vertOverflow="ellipsis" wrap="square" anchor="ctr" anchorCtr="1"/>
              <a:lstStyle/>
              <a:p>
                <a:pPr>
                  <a:defRPr sz="800" b="1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Sheet1!$A$2:$A$2</c:f>
              <c:strCache>
                <c:ptCount val="1"/>
                <c:pt idx="0">
                  <c:v/>
                </c:pt>
              </c:strCache>
            </c:strRef>
          </c:cat>
          <c:val>
            <c:numRef>
              <c:f>Sheet1!$D$2:$D$2</c:f>
              <c:numCache>
                <c:formatCode>0.0%</c:formatCode>
                <c:ptCount val="1"/>
                <c:pt idx="0">
                  <c:v>0.315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Foreign</c:v>
                </c:pt>
              </c:strCache>
            </c:strRef>
          </c:tx>
          <c:spPr>
            <a:solidFill>
              <a:srgbClr val="89A2B0"/>
            </a:solidFill>
            <a:ln w="6350">
              <a:solidFill>
                <a:srgbClr val="000000"/>
              </a:solidFill>
            </a:ln>
          </c:spPr>
          <c:invertIfNegative val="0"/>
          <c:cat>
            <c:strRef>
              <c:f>Sheet1!$A$2:$A$2</c:f>
              <c:strCache>
                <c:ptCount val="1"/>
                <c:pt idx="0">
                  <c:v/>
                </c:pt>
              </c:strCache>
            </c:strRef>
          </c:cat>
          <c:val>
            <c:numRef>
              <c:f>Sheet1!$E$2:$E$2</c:f>
              <c:numCache>
                <c:formatCode>0.0%</c:formatCode>
                <c:ptCount val="1"/>
                <c:pt idx="0">
                  <c:v>0.013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Unparsed</c:v>
                </c:pt>
              </c:strCache>
            </c:strRef>
          </c:tx>
          <c:spPr>
            <a:solidFill>
              <a:srgbClr val="DBDBDB"/>
            </a:solidFill>
            <a:ln w="6350">
              <a:solidFill>
                <a:srgbClr val="000000"/>
              </a:solidFill>
            </a:ln>
          </c:spPr>
          <c:invertIfNegative val="0"/>
          <c:cat>
            <c:strRef>
              <c:f>Sheet1!$A$2:$A$2</c:f>
              <c:strCache>
                <c:ptCount val="1"/>
                <c:pt idx="0">
                  <c:v/>
                </c:pt>
              </c:strCache>
            </c:strRef>
          </c:cat>
          <c:val>
            <c:numRef>
              <c:f>Sheet1!$F$2:$F$2</c:f>
              <c:numCache>
                <c:formatCode>0.0%</c:formatCode>
                <c:ptCount val="1"/>
                <c:pt idx="0">
                  <c:v>0.045</c:v>
                </c:pt>
              </c:numCache>
            </c:numRef>
          </c:val>
        </c:ser>
        <c:gapWidth val="25"/>
        <c:overlap val="10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 rot="0" spcFirstLastPara="1" vertOverflow="ellipsis" wrap="square" anchor="ctr" anchorCtr="1"/>
          <a:lstStyle/>
          <a:p>
            <a:pPr>
              <a:defRPr sz="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22222222"/>
        <c:crosses val="autoZero"/>
        <c:auto val="1"/>
        <c:lblAlgn val="ctr"/>
        <c:lblOffset val="100"/>
        <c:noMultiLvlLbl val="0"/>
      </c:catAx>
      <c:valAx>
        <c:axId val="222222222"/>
        <c:scaling>
          <c:orientation val="minMax"/>
        </c:scaling>
        <c:delete val="0"/>
        <c:axPos val="l"/>
        <c:numFmt formatCode="0%" sourceLinked="0"/>
        <c:majorTickMark val="out"/>
        <c:minorTickMark val="none"/>
        <c:tickLblPos val="nextTo"/>
        <c:txPr>
          <a:bodyPr rot="0" spcFirstLastPara="1" vertOverflow="ellipsis" wrap="square" anchor="ctr" anchorCtr="1"/>
          <a:lstStyle/>
          <a:p>
            <a:pPr>
              <a:defRPr sz="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111111111"/>
        <c:crosses val="autoZero"/>
        <c:crossBetween val="between"/>
      </c:valAx>
    </c:plotArea>
    <c:legend>
      <c:legendPos val="b"/>
      <c:overlay val="0"/>
      <c:txPr>
        <a:bodyPr rot="0" spcFirstLastPara="1" vertOverflow="ellipsis" wrap="square" anchor="ctr" anchorCtr="1"/>
        <a:lstStyle/>
        <a:p>
          <a:pPr>
            <a:defRPr sz="800" b="0">
              <a:solidFill>
                <a:srgbClr val="000000"/>
              </a:solidFill>
              <a:latin typeface="Arial"/>
              <a:ea typeface="Arial"/>
              <a:cs typeface="Arial"/>
            </a:defRPr>
          </a:pPr>
          <a:endParaRPr lang="en-US"/>
        </a:p>
      </c:txPr>
    </c:legend>
    <c:plotVisOnly val="1"/>
    <c:dispBlanksAs val="gap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Outside-yards share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1D4D68"/>
              </a:solidFill>
              <a:ln w="6350">
                <a:solidFill>
                  <a:srgbClr val="000000"/>
                </a:solidFill>
              </a:ln>
            </c:spPr>
          </c:dPt>
          <c:dPt>
            <c:idx val="1"/>
            <c:invertIfNegative val="0"/>
            <c:bubble3D val="0"/>
            <c:spPr>
              <a:solidFill>
                <a:srgbClr val="A1A1A1"/>
              </a:solidFill>
              <a:ln w="6350">
                <a:solidFill>
                  <a:srgbClr val="000000"/>
                </a:solidFill>
              </a:ln>
            </c:spPr>
          </c:dPt>
          <c:dLbls>
            <c:dLbl>
              <c:idx val="0"/>
              <c:txPr>
                <a:bodyPr rot="0" spcFirstLastPara="1" vertOverflow="ellipsis" wrap="square" anchor="ctr" anchorCtr="1"/>
                <a:lstStyle/>
                <a:p>
                  <a:pPr>
                    <a:defRPr sz="1100" b="1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rot="0" spcFirstLastPara="1" vertOverflow="ellipsis" wrap="square" anchor="ctr" anchorCtr="1"/>
                <a:lstStyle/>
                <a:p>
                  <a:pPr>
                    <a:defRPr sz="1100" b="1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 rot="0" spcFirstLastPara="1" vertOverflow="ellipsis" wrap="square" anchor="ctr" anchorCtr="1"/>
              <a:lstStyle/>
              <a:p>
                <a:pPr>
                  <a:defRPr sz="11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Sheet1!$A$2:$A$3</c:f>
              <c:strCache>
                <c:ptCount val="2"/>
                <c:pt idx="0">
                  <c:v>MYP-corrected</c:v>
                </c:pt>
                <c:pt idx="1">
                  <c:v>Disclosed artifact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0.328</c:v>
                </c:pt>
                <c:pt idx="1">
                  <c:v>0.736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Remainder</c:v>
                </c:pt>
              </c:strCache>
            </c:strRef>
          </c:tx>
          <c:spPr>
            <a:noFill/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MYP-corrected</c:v>
                </c:pt>
                <c:pt idx="1">
                  <c:v>Disclosed artifact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0">
                  <c:v>0.672</c:v>
                </c:pt>
                <c:pt idx="1">
                  <c:v>0.264</c:v>
                </c:pt>
              </c:numCache>
            </c:numRef>
          </c:val>
        </c:ser>
        <c:gapWidth val="80"/>
        <c:overlap val="10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22222222"/>
        <c:crosses val="autoZero"/>
        <c:auto val="1"/>
        <c:lblAlgn val="ctr"/>
        <c:lblOffset val="100"/>
        <c:noMultiLvlLbl val="0"/>
      </c:catAx>
      <c:valAx>
        <c:axId val="222222222"/>
        <c:scaling>
          <c:orientation val="minMax"/>
        </c:scaling>
        <c:delete val="0"/>
        <c:axPos val="l"/>
        <c:numFmt formatCode="0%" sourceLinked="0"/>
        <c:majorTickMark val="out"/>
        <c:minorTickMark val="none"/>
        <c:tickLblPos val="nextTo"/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111111111"/>
        <c:crosses val="autoZero"/>
        <c:crossBetween val="between"/>
      </c:valAx>
    </c:plotArea>
    <c:plotVisOnly val="1"/>
    <c:dispBlanksAs val="gap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_Base</c:v>
                </c:pt>
              </c:strCache>
            </c:strRef>
          </c:tx>
          <c:spPr>
            <a:noFill/>
            <a:ln>
              <a:noFill/>
            </a:ln>
          </c:spPr>
          <c:invertIfNegative val="0"/>
          <c:cat>
            <c:strRef>
              <c:f>Sheet1!$A$2:$A$6</c:f>
              <c:strCache>
                <c:ptCount val="5"/>
                <c:pt idx="0">
                  <c:v>BC base</c:v>
                </c:pt>
                <c:pt idx="1">
                  <c:v>Less non-supplier</c:v>
                </c:pt>
                <c:pt idx="2">
                  <c:v>BC stream</c:v>
                </c:pt>
                <c:pt idx="3">
                  <c:v>AP/LLTM</c:v>
                </c:pt>
                <c:pt idx="4">
                  <c:v>Portfolio TAM</c:v>
                </c:pt>
              </c:strCache>
            </c:strRef>
          </c:cat>
          <c:val>
            <c:numRef>
              <c:f>Sheet1!$B$2:$B$6</c:f>
              <c:numCache>
                <c:formatCode>"$"#,##0"M"</c:formatCode>
                <c:ptCount val="5"/>
                <c:pt idx="1">
                  <c:v>365.3000000000002</c:v>
                </c:pt>
                <c:pt idx="3">
                  <c:v>365.3000000000002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Increase</c:v>
                </c:pt>
              </c:strCache>
            </c:strRef>
          </c:tx>
          <c:spPr>
            <a:solidFill>
              <a:srgbClr val="486D82"/>
            </a:solidFill>
            <a:ln w="6350">
              <a:solidFill>
                <a:srgbClr val="000000"/>
              </a:solidFill>
            </a:ln>
          </c:spPr>
          <c:invertIfNegative val="0"/>
          <c:cat>
            <c:strRef>
              <c:f>Sheet1!$A$2:$A$6</c:f>
              <c:strCache>
                <c:ptCount val="5"/>
                <c:pt idx="0">
                  <c:v>BC base</c:v>
                </c:pt>
                <c:pt idx="1">
                  <c:v>Less non-supplier</c:v>
                </c:pt>
                <c:pt idx="2">
                  <c:v>BC stream</c:v>
                </c:pt>
                <c:pt idx="3">
                  <c:v>AP/LLTM</c:v>
                </c:pt>
                <c:pt idx="4">
                  <c:v>Portfolio TAM</c:v>
                </c:pt>
              </c:strCache>
            </c:strRef>
          </c:cat>
          <c:val>
            <c:numRef>
              <c:f>Sheet1!$C$2:$C$6</c:f>
              <c:numCache>
                <c:formatCode>"$"#,##0"M"</c:formatCode>
                <c:ptCount val="5"/>
                <c:pt idx="3">
                  <c:v>207.8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Decrease</c:v>
                </c:pt>
              </c:strCache>
            </c:strRef>
          </c:tx>
          <c:spPr>
            <a:solidFill>
              <a:srgbClr val="A1A1A1"/>
            </a:solidFill>
            <a:ln w="6350">
              <a:solidFill>
                <a:srgbClr val="000000"/>
              </a:solidFill>
            </a:ln>
          </c:spPr>
          <c:invertIfNegative val="0"/>
          <c:cat>
            <c:strRef>
              <c:f>Sheet1!$A$2:$A$6</c:f>
              <c:strCache>
                <c:ptCount val="5"/>
                <c:pt idx="0">
                  <c:v>BC base</c:v>
                </c:pt>
                <c:pt idx="1">
                  <c:v>Less non-supplier</c:v>
                </c:pt>
                <c:pt idx="2">
                  <c:v>BC stream</c:v>
                </c:pt>
                <c:pt idx="3">
                  <c:v>AP/LLTM</c:v>
                </c:pt>
                <c:pt idx="4">
                  <c:v>Portfolio TAM</c:v>
                </c:pt>
              </c:strCache>
            </c:strRef>
          </c:cat>
          <c:val>
            <c:numRef>
              <c:f>Sheet1!$D$2:$D$6</c:f>
              <c:numCache>
                <c:formatCode>"$"#,##0"M"</c:formatCode>
                <c:ptCount val="5"/>
                <c:pt idx="1">
                  <c:v>2546.5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1D4D68"/>
            </a:solidFill>
            <a:ln w="6350">
              <a:solidFill>
                <a:srgbClr val="000000"/>
              </a:solidFill>
            </a:ln>
          </c:spPr>
          <c:invertIfNegative val="0"/>
          <c:cat>
            <c:strRef>
              <c:f>Sheet1!$A$2:$A$6</c:f>
              <c:strCache>
                <c:ptCount val="5"/>
                <c:pt idx="0">
                  <c:v>BC base</c:v>
                </c:pt>
                <c:pt idx="1">
                  <c:v>Less non-supplier</c:v>
                </c:pt>
                <c:pt idx="2">
                  <c:v>BC stream</c:v>
                </c:pt>
                <c:pt idx="3">
                  <c:v>AP/LLTM</c:v>
                </c:pt>
                <c:pt idx="4">
                  <c:v>Portfolio TAM</c:v>
                </c:pt>
              </c:strCache>
            </c:strRef>
          </c:cat>
          <c:val>
            <c:numRef>
              <c:f>Sheet1!$E$2:$E$6</c:f>
              <c:numCache>
                <c:formatCode>"$"#,##0"M"</c:formatCode>
                <c:ptCount val="5"/>
                <c:pt idx="0">
                  <c:v>2911.8</c:v>
                </c:pt>
                <c:pt idx="2">
                  <c:v>365.3000000000002</c:v>
                </c:pt>
                <c:pt idx="4">
                  <c:v>573.1000000000001</c:v>
                </c:pt>
              </c:numCache>
            </c:numRef>
          </c:val>
        </c:ser>
        <c:gapWidth val="60"/>
        <c:overlap val="10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22222222"/>
        <c:crosses val="autoZero"/>
        <c:auto val="1"/>
        <c:lblAlgn val="ctr"/>
        <c:lblOffset val="100"/>
        <c:noMultiLvlLbl val="0"/>
      </c:catAx>
      <c:valAx>
        <c:axId val="222222222"/>
        <c:scaling>
          <c:orientation val="minMax"/>
        </c:scaling>
        <c:delete val="0"/>
        <c:axPos val="l"/>
        <c:majorGridlines>
          <c:spPr>
            <a:ln w="3175" cap="flat">
              <a:solidFill>
                <a:srgbClr val="F2F2F2"/>
              </a:solidFill>
              <a:prstDash val="solid"/>
            </a:ln>
          </c:spPr>
        </c:majorGridlines>
        <c:numFmt formatCode="&quot;$&quot;#,##0&quot;M&quot;" sourceLinked="0"/>
        <c:majorTickMark val="out"/>
        <c:minorTickMark val="none"/>
        <c:tickLblPos val="nextTo"/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111111111"/>
        <c:crosses val="autoZero"/>
        <c:crossBetween val="between"/>
      </c:valAx>
    </c:plotArea>
    <c:plotVisOnly val="1"/>
    <c:dispBlanksAs val="gap"/>
  </c:chart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BC stream</c:v>
                </c:pt>
              </c:strCache>
            </c:strRef>
          </c:tx>
          <c:spPr>
            <a:solidFill>
              <a:srgbClr val="486D82"/>
            </a:solidFill>
            <a:ln w="6350">
              <a:solidFill>
                <a:srgbClr val="000000"/>
              </a:solidFill>
            </a:ln>
          </c:spPr>
          <c:invertIfNegative val="0"/>
          <c:dLbls>
            <c:txPr>
              <a:bodyPr rot="0" spcFirstLastPara="1" vertOverflow="ellipsis" wrap="square" anchor="ctr" anchorCtr="1"/>
              <a:lstStyle/>
              <a:p>
                <a:pPr>
                  <a:defRPr sz="900" b="1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Sheet1!$A$2:$A$7</c:f>
              <c:strCache>
                <c:ptCount val="6"/>
                <c:pt idx="0">
                  <c:v>FY22</c:v>
                </c:pt>
                <c:pt idx="1">
                  <c:v>FY23</c:v>
                </c:pt>
                <c:pt idx="2">
                  <c:v>FY24</c:v>
                </c:pt>
                <c:pt idx="3">
                  <c:v>FY25</c:v>
                </c:pt>
                <c:pt idx="4">
                  <c:v>FY26</c:v>
                </c:pt>
                <c:pt idx="5">
                  <c:v>FY27</c:v>
                </c:pt>
              </c:strCache>
            </c:strRef>
          </c:cat>
          <c:val>
            <c:numRef>
              <c:f>Sheet1!$B$2:$B$7</c:f>
              <c:numCache>
                <c:formatCode>"$"#,##0"M"</c:formatCode>
                <c:ptCount val="6"/>
                <c:pt idx="0">
                  <c:v>245.9</c:v>
                </c:pt>
                <c:pt idx="1">
                  <c:v>571.9</c:v>
                </c:pt>
                <c:pt idx="2">
                  <c:v>416.9</c:v>
                </c:pt>
                <c:pt idx="3">
                  <c:v>580.7</c:v>
                </c:pt>
                <c:pt idx="4">
                  <c:v>35.5</c:v>
                </c:pt>
                <c:pt idx="5">
                  <c:v>341.2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AP/LLTM stream</c:v>
                </c:pt>
              </c:strCache>
            </c:strRef>
          </c:tx>
          <c:spPr>
            <a:solidFill>
              <a:srgbClr val="1D4D68"/>
            </a:solidFill>
            <a:ln w="6350">
              <a:solidFill>
                <a:srgbClr val="000000"/>
              </a:solidFill>
            </a:ln>
          </c:spPr>
          <c:invertIfNegative val="0"/>
          <c:dLbls>
            <c:txPr>
              <a:bodyPr rot="0" spcFirstLastPara="1" vertOverflow="ellipsis" wrap="square" anchor="ctr" anchorCtr="1"/>
              <a:lstStyle/>
              <a:p>
                <a:pPr>
                  <a:defRPr sz="900" b="1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Sheet1!$A$2:$A$7</c:f>
              <c:strCache>
                <c:ptCount val="6"/>
                <c:pt idx="0">
                  <c:v>FY22</c:v>
                </c:pt>
                <c:pt idx="1">
                  <c:v>FY23</c:v>
                </c:pt>
                <c:pt idx="2">
                  <c:v>FY24</c:v>
                </c:pt>
                <c:pt idx="3">
                  <c:v>FY25</c:v>
                </c:pt>
                <c:pt idx="4">
                  <c:v>FY26</c:v>
                </c:pt>
                <c:pt idx="5">
                  <c:v>FY27</c:v>
                </c:pt>
              </c:strCache>
            </c:strRef>
          </c:cat>
          <c:val>
            <c:numRef>
              <c:f>Sheet1!$C$2:$C$7</c:f>
              <c:numCache>
                <c:formatCode>"$"#,##0"M"</c:formatCode>
                <c:ptCount val="6"/>
                <c:pt idx="3">
                  <c:v>56.6</c:v>
                </c:pt>
                <c:pt idx="4">
                  <c:v>1190.0</c:v>
                </c:pt>
              </c:numCache>
            </c:numRef>
          </c:val>
        </c:ser>
        <c:gapWidth val="80"/>
        <c:overlap val="10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22222222"/>
        <c:crosses val="autoZero"/>
        <c:auto val="1"/>
        <c:lblAlgn val="ctr"/>
        <c:lblOffset val="100"/>
        <c:noMultiLvlLbl val="0"/>
      </c:catAx>
      <c:valAx>
        <c:axId val="222222222"/>
        <c:scaling>
          <c:orientation val="minMax"/>
        </c:scaling>
        <c:delete val="0"/>
        <c:axPos val="l"/>
        <c:majorGridlines>
          <c:spPr>
            <a:ln w="3175" cap="flat">
              <a:solidFill>
                <a:srgbClr val="F2F2F2"/>
              </a:solidFill>
              <a:prstDash val="solid"/>
            </a:ln>
          </c:spPr>
        </c:majorGridlines>
        <c:numFmt formatCode="&quot;$&quot;#,##0&quot;M&quot;" sourceLinked="0"/>
        <c:majorTickMark val="out"/>
        <c:minorTickMark val="none"/>
        <c:tickLblPos val="nextTo"/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111111111"/>
        <c:crosses val="autoZero"/>
        <c:crossBetween val="between"/>
      </c:valAx>
    </c:plotArea>
    <c:legend>
      <c:legendPos val="b"/>
      <c:overlay val="0"/>
      <c:txPr>
        <a:bodyPr rot="0" spcFirstLastPara="1" vertOverflow="ellipsis" wrap="square" anchor="ctr" anchorCtr="1"/>
        <a:lstStyle/>
        <a:p>
          <a:pPr>
            <a:defRPr sz="900" b="0">
              <a:solidFill>
                <a:srgbClr val="000000"/>
              </a:solidFill>
              <a:latin typeface="Arial"/>
              <a:ea typeface="Arial"/>
              <a:cs typeface="Arial"/>
            </a:defRPr>
          </a:pPr>
          <a:endParaRPr lang="en-US"/>
        </a:p>
      </c:txPr>
    </c:legend>
    <c:plotVisOnly val="1"/>
    <c:dispBlanksAs val="gap"/>
  </c:chart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annual TAM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A1A1A1"/>
              </a:solidFill>
              <a:ln w="6350">
                <a:solidFill>
                  <a:srgbClr val="000000"/>
                </a:solidFill>
              </a:ln>
            </c:spPr>
          </c:dPt>
          <c:dPt>
            <c:idx val="1"/>
            <c:invertIfNegative val="0"/>
            <c:bubble3D val="0"/>
            <c:spPr>
              <a:solidFill>
                <a:srgbClr val="1D4D68"/>
              </a:solidFill>
              <a:ln w="6350">
                <a:solidFill>
                  <a:srgbClr val="000000"/>
                </a:solidFill>
              </a:ln>
            </c:spPr>
          </c:dPt>
          <c:dPt>
            <c:idx val="2"/>
            <c:invertIfNegative val="0"/>
            <c:bubble3D val="0"/>
            <c:spPr>
              <a:solidFill>
                <a:srgbClr val="486D82"/>
              </a:solidFill>
              <a:ln w="6350">
                <a:solidFill>
                  <a:srgbClr val="000000"/>
                </a:solidFill>
              </a:ln>
            </c:spPr>
          </c:dPt>
          <c:dPt>
            <c:idx val="3"/>
            <c:invertIfNegative val="0"/>
            <c:bubble3D val="0"/>
            <c:spPr>
              <a:solidFill>
                <a:srgbClr val="89A2B0"/>
              </a:solidFill>
              <a:ln w="6350">
                <a:solidFill>
                  <a:srgbClr val="000000"/>
                </a:solidFill>
              </a:ln>
            </c:spPr>
          </c:dPt>
          <c:dPt>
            <c:idx val="4"/>
            <c:invertIfNegative val="0"/>
            <c:bubble3D val="0"/>
            <c:spPr>
              <a:solidFill>
                <a:srgbClr val="AFC2CC"/>
              </a:solidFill>
              <a:ln w="6350">
                <a:solidFill>
                  <a:srgbClr val="000000"/>
                </a:solidFill>
              </a:ln>
            </c:spPr>
          </c:dPt>
          <c:dPt>
            <c:idx val="5"/>
            <c:invertIfNegative val="0"/>
            <c:bubble3D val="0"/>
            <c:spPr>
              <a:solidFill>
                <a:srgbClr val="D8E3EB"/>
              </a:solidFill>
              <a:ln w="6350">
                <a:solidFill>
                  <a:srgbClr val="000000"/>
                </a:solidFill>
              </a:ln>
            </c:spPr>
          </c:dPt>
          <c:dPt>
            <c:idx val="6"/>
            <c:invertIfNegative val="0"/>
            <c:bubble3D val="0"/>
            <c:spPr>
              <a:solidFill>
                <a:srgbClr val="BEBEBE"/>
              </a:solidFill>
              <a:ln w="6350">
                <a:solidFill>
                  <a:srgbClr val="000000"/>
                </a:solidFill>
              </a:ln>
            </c:spPr>
          </c:dPt>
          <c:dPt>
            <c:idx val="7"/>
            <c:invertIfNegative val="0"/>
            <c:bubble3D val="0"/>
            <c:spPr>
              <a:solidFill>
                <a:srgbClr val="BEBEBE"/>
              </a:solidFill>
              <a:ln w="6350">
                <a:solidFill>
                  <a:srgbClr val="000000"/>
                </a:solidFill>
              </a:ln>
            </c:spPr>
          </c:dPt>
          <c:dLbls>
            <c:txPr>
              <a:bodyPr rot="0" spcFirstLastPara="1" vertOverflow="ellipsis" wrap="square" anchor="ctr" anchorCtr="1"/>
              <a:lstStyle/>
              <a:p>
                <a:pPr>
                  <a:defRPr sz="10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Sheet1!$A$2:$A$9</c:f>
              <c:strCache>
                <c:ptCount val="8"/>
                <c:pt idx="0">
                  <c:v>Unbucketed</c:v>
                </c:pt>
                <c:pt idx="1">
                  <c:v>Electrical/power</c:v>
                </c:pt>
                <c:pt idx="2">
                  <c:v>Structural</c:v>
                </c:pt>
                <c:pt idx="3">
                  <c:v>Machining</c:v>
                </c:pt>
                <c:pt idx="4">
                  <c:v>Piping/valves</c:v>
                </c:pt>
                <c:pt idx="5">
                  <c:v>HVAC</c:v>
                </c:pt>
                <c:pt idx="6">
                  <c:v>Coatings</c:v>
                </c:pt>
                <c:pt idx="7">
                  <c:v>Castings</c:v>
                </c:pt>
              </c:strCache>
            </c:strRef>
          </c:cat>
          <c:val>
            <c:numRef>
              <c:f>Sheet1!$B$2:$B$9</c:f>
              <c:numCache>
                <c:formatCode>"$"#,##0"M"</c:formatCode>
                <c:ptCount val="8"/>
                <c:pt idx="0">
                  <c:v>245.8</c:v>
                </c:pt>
                <c:pt idx="1">
                  <c:v>131.8</c:v>
                </c:pt>
                <c:pt idx="2">
                  <c:v>101.4</c:v>
                </c:pt>
                <c:pt idx="3">
                  <c:v>65.6</c:v>
                </c:pt>
                <c:pt idx="4">
                  <c:v>13.0</c:v>
                </c:pt>
                <c:pt idx="5">
                  <c:v>9.9</c:v>
                </c:pt>
                <c:pt idx="6">
                  <c:v>2.8</c:v>
                </c:pt>
                <c:pt idx="7">
                  <c:v>2.7</c:v>
                </c:pt>
              </c:numCache>
            </c:numRef>
          </c:val>
        </c:ser>
        <c:gapWidth val="80"/>
        <c:overlap val="-27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22222222"/>
        <c:crosses val="autoZero"/>
        <c:auto val="1"/>
        <c:lblAlgn val="ctr"/>
        <c:lblOffset val="100"/>
        <c:noMultiLvlLbl val="0"/>
      </c:catAx>
      <c:valAx>
        <c:axId val="222222222"/>
        <c:scaling>
          <c:orientation val="minMax"/>
        </c:scaling>
        <c:delete val="0"/>
        <c:axPos val="l"/>
        <c:majorGridlines>
          <c:spPr>
            <a:ln w="3175" cap="flat">
              <a:solidFill>
                <a:srgbClr val="F2F2F2"/>
              </a:solidFill>
              <a:prstDash val="solid"/>
            </a:ln>
          </c:spPr>
        </c:majorGridlines>
        <c:numFmt formatCode="&quot;$&quot;#,##0&quot;M&quot;" sourceLinked="0"/>
        <c:majorTickMark val="out"/>
        <c:minorTickMark val="none"/>
        <c:tickLblPos val="nextTo"/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111111111"/>
        <c:crosses val="autoZero"/>
        <c:crossBetween val="between"/>
      </c:valAx>
    </c:plotArea>
    <c:plotVisOnly val="1"/>
    <c:dispBlanksAs val="gap"/>
  </c:chart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annual SAM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1D4D68"/>
              </a:solidFill>
              <a:ln w="6350">
                <a:solidFill>
                  <a:srgbClr val="000000"/>
                </a:solidFill>
              </a:ln>
            </c:spPr>
          </c:dPt>
          <c:dPt>
            <c:idx val="1"/>
            <c:invertIfNegative val="0"/>
            <c:bubble3D val="0"/>
            <c:spPr>
              <a:solidFill>
                <a:srgbClr val="486D82"/>
              </a:solidFill>
              <a:ln w="6350">
                <a:solidFill>
                  <a:srgbClr val="000000"/>
                </a:solidFill>
              </a:ln>
            </c:spPr>
          </c:dPt>
          <c:dPt>
            <c:idx val="2"/>
            <c:invertIfNegative val="0"/>
            <c:bubble3D val="0"/>
            <c:spPr>
              <a:solidFill>
                <a:srgbClr val="89A2B0"/>
              </a:solidFill>
              <a:ln w="6350">
                <a:solidFill>
                  <a:srgbClr val="000000"/>
                </a:solidFill>
              </a:ln>
            </c:spPr>
          </c:dPt>
          <c:dPt>
            <c:idx val="3"/>
            <c:invertIfNegative val="0"/>
            <c:bubble3D val="0"/>
            <c:spPr>
              <a:solidFill>
                <a:srgbClr val="AFC2CC"/>
              </a:solidFill>
              <a:ln w="6350">
                <a:solidFill>
                  <a:srgbClr val="000000"/>
                </a:solidFill>
              </a:ln>
            </c:spPr>
          </c:dPt>
          <c:dPt>
            <c:idx val="4"/>
            <c:invertIfNegative val="0"/>
            <c:bubble3D val="0"/>
            <c:spPr>
              <a:solidFill>
                <a:srgbClr val="D8E3EB"/>
              </a:solidFill>
              <a:ln w="6350">
                <a:solidFill>
                  <a:srgbClr val="000000"/>
                </a:solidFill>
              </a:ln>
            </c:spPr>
          </c:dPt>
          <c:dLbls>
            <c:txPr>
              <a:bodyPr rot="0" spcFirstLastPara="1" vertOverflow="ellipsis" wrap="square" anchor="ctr" anchorCtr="1"/>
              <a:lstStyle/>
              <a:p>
                <a:pPr>
                  <a:defRPr sz="10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Sheet1!$A$2:$A$6</c:f>
              <c:strCache>
                <c:ptCount val="5"/>
                <c:pt idx="0">
                  <c:v>Broad components</c:v>
                </c:pt>
                <c:pt idx="1">
                  <c:v>Metal components</c:v>
                </c:pt>
                <c:pt idx="2">
                  <c:v>Electrical/power</c:v>
                </c:pt>
                <c:pt idx="3">
                  <c:v>Modular assy</c:v>
                </c:pt>
                <c:pt idx="4">
                  <c:v>HM&amp;E</c:v>
                </c:pt>
              </c:strCache>
            </c:strRef>
          </c:cat>
          <c:val>
            <c:numRef>
              <c:f>Sheet1!$B$2:$B$6</c:f>
              <c:numCache>
                <c:formatCode>"$"#,##0"M"</c:formatCode>
                <c:ptCount val="5"/>
                <c:pt idx="0">
                  <c:v>327.3</c:v>
                </c:pt>
                <c:pt idx="1">
                  <c:v>169.7</c:v>
                </c:pt>
                <c:pt idx="2">
                  <c:v>131.8</c:v>
                </c:pt>
                <c:pt idx="3">
                  <c:v>104.3</c:v>
                </c:pt>
                <c:pt idx="4">
                  <c:v>88.5</c:v>
                </c:pt>
              </c:numCache>
            </c:numRef>
          </c:val>
        </c:ser>
        <c:gapWidth val="80"/>
        <c:overlap val="-27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22222222"/>
        <c:crosses val="autoZero"/>
        <c:auto val="1"/>
        <c:lblAlgn val="ctr"/>
        <c:lblOffset val="100"/>
        <c:noMultiLvlLbl val="0"/>
      </c:catAx>
      <c:valAx>
        <c:axId val="222222222"/>
        <c:scaling>
          <c:orientation val="minMax"/>
        </c:scaling>
        <c:delete val="0"/>
        <c:axPos val="l"/>
        <c:majorGridlines>
          <c:spPr>
            <a:ln w="3175" cap="flat">
              <a:solidFill>
                <a:srgbClr val="F2F2F2"/>
              </a:solidFill>
              <a:prstDash val="solid"/>
            </a:ln>
          </c:spPr>
        </c:majorGridlines>
        <c:numFmt formatCode="&quot;$&quot;#,##0&quot;M&quot;" sourceLinked="0"/>
        <c:majorTickMark val="out"/>
        <c:minorTickMark val="none"/>
        <c:tickLblPos val="nextTo"/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111111111"/>
        <c:crosses val="autoZero"/>
        <c:crossBetween val="between"/>
      </c:valAx>
    </c:plotArea>
    <c:plotVisOnly val="1"/>
    <c:dispBlanksAs val="gap"/>
  </c:chart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Lifetime visible flow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1D4D68"/>
              </a:solidFill>
              <a:ln w="6350">
                <a:solidFill>
                  <a:srgbClr val="000000"/>
                </a:solidFill>
              </a:ln>
            </c:spPr>
          </c:dPt>
          <c:dPt>
            <c:idx val="1"/>
            <c:invertIfNegative val="0"/>
            <c:bubble3D val="0"/>
            <c:spPr>
              <a:solidFill>
                <a:srgbClr val="486D82"/>
              </a:solidFill>
              <a:ln w="6350">
                <a:solidFill>
                  <a:srgbClr val="000000"/>
                </a:solidFill>
              </a:ln>
            </c:spPr>
          </c:dPt>
          <c:dPt>
            <c:idx val="2"/>
            <c:invertIfNegative val="0"/>
            <c:bubble3D val="0"/>
            <c:spPr>
              <a:solidFill>
                <a:srgbClr val="486D82"/>
              </a:solidFill>
              <a:ln w="6350">
                <a:solidFill>
                  <a:srgbClr val="000000"/>
                </a:solidFill>
              </a:ln>
            </c:spPr>
          </c:dPt>
          <c:dPt>
            <c:idx val="3"/>
            <c:invertIfNegative val="0"/>
            <c:bubble3D val="0"/>
            <c:spPr>
              <a:solidFill>
                <a:srgbClr val="89A2B0"/>
              </a:solidFill>
              <a:ln w="6350">
                <a:solidFill>
                  <a:srgbClr val="000000"/>
                </a:solidFill>
              </a:ln>
            </c:spPr>
          </c:dPt>
          <c:dPt>
            <c:idx val="4"/>
            <c:invertIfNegative val="0"/>
            <c:bubble3D val="0"/>
            <c:spPr>
              <a:solidFill>
                <a:srgbClr val="89A2B0"/>
              </a:solidFill>
              <a:ln w="6350">
                <a:solidFill>
                  <a:srgbClr val="000000"/>
                </a:solidFill>
              </a:ln>
            </c:spPr>
          </c:dPt>
          <c:dPt>
            <c:idx val="5"/>
            <c:invertIfNegative val="0"/>
            <c:bubble3D val="0"/>
            <c:spPr>
              <a:solidFill>
                <a:srgbClr val="AFC2CC"/>
              </a:solidFill>
              <a:ln w="6350">
                <a:solidFill>
                  <a:srgbClr val="000000"/>
                </a:solidFill>
              </a:ln>
            </c:spPr>
          </c:dPt>
          <c:dPt>
            <c:idx val="6"/>
            <c:invertIfNegative val="0"/>
            <c:bubble3D val="0"/>
            <c:spPr>
              <a:solidFill>
                <a:srgbClr val="AFC2CC"/>
              </a:solidFill>
              <a:ln w="6350">
                <a:solidFill>
                  <a:srgbClr val="000000"/>
                </a:solidFill>
              </a:ln>
            </c:spPr>
          </c:dPt>
          <c:dPt>
            <c:idx val="7"/>
            <c:invertIfNegative val="0"/>
            <c:bubble3D val="0"/>
            <c:spPr>
              <a:solidFill>
                <a:srgbClr val="79838F"/>
              </a:solidFill>
              <a:ln w="6350">
                <a:solidFill>
                  <a:srgbClr val="000000"/>
                </a:solidFill>
              </a:ln>
            </c:spPr>
          </c:dPt>
          <c:dPt>
            <c:idx val="8"/>
            <c:invertIfNegative val="0"/>
            <c:bubble3D val="0"/>
            <c:spPr>
              <a:solidFill>
                <a:srgbClr val="79838F"/>
              </a:solidFill>
              <a:ln w="6350">
                <a:solidFill>
                  <a:srgbClr val="000000"/>
                </a:solidFill>
              </a:ln>
            </c:spPr>
          </c:dPt>
          <c:dPt>
            <c:idx val="9"/>
            <c:invertIfNegative val="0"/>
            <c:bubble3D val="0"/>
            <c:spPr>
              <a:solidFill>
                <a:srgbClr val="79838F"/>
              </a:solidFill>
              <a:ln w="6350">
                <a:solidFill>
                  <a:srgbClr val="000000"/>
                </a:solidFill>
              </a:ln>
            </c:spPr>
          </c:dPt>
          <c:dLbls>
            <c:txPr>
              <a:bodyPr rot="0" spcFirstLastPara="1" vertOverflow="ellipsis" wrap="square" anchor="ctr" anchorCtr="1"/>
              <a:lstStyle/>
              <a:p>
                <a:pPr>
                  <a:defRPr sz="9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Sheet1!$A$2:$A$11</c:f>
              <c:strCache>
                <c:ptCount val="10"/>
                <c:pt idx="0">
                  <c:v>Leonardo SpA</c:v>
                </c:pt>
                <c:pt idx="1">
                  <c:v>Arctic Slope Regional Corp</c:v>
                </c:pt>
                <c:pt idx="2">
                  <c:v>Major Tool and Machine</c:v>
                </c:pt>
                <c:pt idx="3">
                  <c:v>General Dynamics Corp</c:v>
                </c:pt>
                <c:pt idx="4">
                  <c:v>General Electric Co</c:v>
                </c:pt>
                <c:pt idx="5">
                  <c:v>Rolls-Royce Holdings plc</c:v>
                </c:pt>
                <c:pt idx="6">
                  <c:v>Northrop Grumman Corp</c:v>
                </c:pt>
                <c:pt idx="7">
                  <c:v>Johnson Controls Navy Systems</c:v>
                </c:pt>
                <c:pt idx="8">
                  <c:v>Advanced Sciences and Technologies</c:v>
                </c:pt>
                <c:pt idx="9">
                  <c:v>CAES Systems LLC</c:v>
                </c:pt>
              </c:strCache>
            </c:strRef>
          </c:cat>
          <c:val>
            <c:numRef>
              <c:f>Sheet1!$B$2:$B$11</c:f>
              <c:numCache>
                <c:formatCode>"$"#,##0"M"</c:formatCode>
                <c:ptCount val="10"/>
                <c:pt idx="0">
                  <c:v>1810.3</c:v>
                </c:pt>
                <c:pt idx="1">
                  <c:v>987.4</c:v>
                </c:pt>
                <c:pt idx="2">
                  <c:v>816.1</c:v>
                </c:pt>
                <c:pt idx="3">
                  <c:v>372.0</c:v>
                </c:pt>
                <c:pt idx="4">
                  <c:v>335.6</c:v>
                </c:pt>
                <c:pt idx="5">
                  <c:v>257.2</c:v>
                </c:pt>
                <c:pt idx="6">
                  <c:v>249.3</c:v>
                </c:pt>
                <c:pt idx="7">
                  <c:v>178.2</c:v>
                </c:pt>
                <c:pt idx="8">
                  <c:v>174.0</c:v>
                </c:pt>
                <c:pt idx="9">
                  <c:v>169.2</c:v>
                </c:pt>
              </c:numCache>
            </c:numRef>
          </c:val>
        </c:ser>
        <c:gapWidth val="40"/>
        <c:overlap val="-27"/>
        <c:axId val="111111111"/>
        <c:axId val="222222222"/>
      </c:barChart>
      <c:catAx>
        <c:axId val="111111111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22222222"/>
        <c:crosses val="autoZero"/>
        <c:auto val="1"/>
        <c:lblAlgn val="ctr"/>
        <c:lblOffset val="100"/>
        <c:noMultiLvlLbl val="0"/>
      </c:catAx>
      <c:valAx>
        <c:axId val="222222222"/>
        <c:scaling>
          <c:orientation val="minMax"/>
        </c:scaling>
        <c:delete val="0"/>
        <c:axPos val="b"/>
        <c:majorGridlines>
          <c:spPr>
            <a:ln w="3175" cap="flat">
              <a:solidFill>
                <a:srgbClr val="F2F2F2"/>
              </a:solidFill>
              <a:prstDash val="solid"/>
            </a:ln>
          </c:spPr>
        </c:majorGridlines>
        <c:numFmt formatCode="&quot;$&quot;#,##0&quot;M&quot;" sourceLinked="0"/>
        <c:majorTickMark val="out"/>
        <c:minorTickMark val="none"/>
        <c:tickLblPos val="nextTo"/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111111111"/>
        <c:crosses val="autoZero"/>
        <c:crossBetween val="between"/>
      </c:valAx>
    </c:plotArea>
    <c:plotVisOnly val="1"/>
    <c:dispBlanksAs val="gap"/>
  </c:chart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Cumulative FY2016-FY2027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1D4D68"/>
              </a:solidFill>
              <a:ln w="6350">
                <a:solidFill>
                  <a:srgbClr val="000000"/>
                </a:solidFill>
              </a:ln>
            </c:spPr>
          </c:dPt>
          <c:dPt>
            <c:idx val="1"/>
            <c:invertIfNegative val="0"/>
            <c:bubble3D val="0"/>
            <c:spPr>
              <a:solidFill>
                <a:srgbClr val="79838F"/>
              </a:solidFill>
              <a:ln w="6350">
                <a:solidFill>
                  <a:srgbClr val="000000"/>
                </a:solidFill>
              </a:ln>
            </c:spPr>
          </c:dPt>
          <c:dPt>
            <c:idx val="2"/>
            <c:invertIfNegative val="0"/>
            <c:bubble3D val="0"/>
            <c:spPr>
              <a:solidFill>
                <a:srgbClr val="79838F"/>
              </a:solidFill>
              <a:ln w="6350">
                <a:solidFill>
                  <a:srgbClr val="000000"/>
                </a:solidFill>
              </a:ln>
            </c:spPr>
          </c:dPt>
          <c:dPt>
            <c:idx val="3"/>
            <c:invertIfNegative val="0"/>
            <c:bubble3D val="0"/>
            <c:spPr>
              <a:solidFill>
                <a:srgbClr val="79838F"/>
              </a:solidFill>
              <a:ln w="6350">
                <a:solidFill>
                  <a:srgbClr val="000000"/>
                </a:solidFill>
              </a:ln>
            </c:spPr>
          </c:dPt>
          <c:dLbls>
            <c:txPr>
              <a:bodyPr rot="0" spcFirstLastPara="1" vertOverflow="ellipsis" wrap="square" anchor="ctr" anchorCtr="1"/>
              <a:lstStyle/>
              <a:p>
                <a:pPr>
                  <a:defRPr sz="10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Sheet1!$A$2:$A$5</c:f>
              <c:strCache>
                <c:ptCount val="4"/>
                <c:pt idx="0">
                  <c:v>Visible flow</c:v>
                </c:pt>
                <c:pt idx="1">
                  <c:v>Outsourcing low</c:v>
                </c:pt>
                <c:pt idx="2">
                  <c:v>Outsourcing mid</c:v>
                </c:pt>
                <c:pt idx="3">
                  <c:v>Outsourcing high</c:v>
                </c:pt>
              </c:strCache>
            </c:strRef>
          </c:cat>
          <c:val>
            <c:numRef>
              <c:f>Sheet1!$B$2:$B$5</c:f>
              <c:numCache>
                <c:formatCode>"$"#,##0"M"</c:formatCode>
                <c:ptCount val="4"/>
                <c:pt idx="0">
                  <c:v>2728.6</c:v>
                </c:pt>
                <c:pt idx="1">
                  <c:v>11311.4</c:v>
                </c:pt>
                <c:pt idx="2">
                  <c:v>13573.7</c:v>
                </c:pt>
                <c:pt idx="3">
                  <c:v>16159.2</c:v>
                </c:pt>
              </c:numCache>
            </c:numRef>
          </c:val>
        </c:ser>
        <c:gapWidth val="80"/>
        <c:overlap val="-27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22222222"/>
        <c:crosses val="autoZero"/>
        <c:auto val="1"/>
        <c:lblAlgn val="ctr"/>
        <c:lblOffset val="100"/>
        <c:noMultiLvlLbl val="0"/>
      </c:catAx>
      <c:valAx>
        <c:axId val="222222222"/>
        <c:scaling>
          <c:orientation val="minMax"/>
        </c:scaling>
        <c:delete val="0"/>
        <c:axPos val="l"/>
        <c:majorGridlines>
          <c:spPr>
            <a:ln w="3175" cap="flat">
              <a:solidFill>
                <a:srgbClr val="F2F2F2"/>
              </a:solidFill>
              <a:prstDash val="solid"/>
            </a:ln>
          </c:spPr>
        </c:majorGridlines>
        <c:numFmt formatCode="&quot;$&quot;#,##0&quot;M&quot;" sourceLinked="0"/>
        <c:majorTickMark val="out"/>
        <c:minorTickMark val="none"/>
        <c:tickLblPos val="nextTo"/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111111111"/>
        <c:crosses val="autoZero"/>
        <c:crossBetween val="between"/>
      </c:valAx>
    </c:plotArea>
    <c:plotVisOnly val="1"/>
    <c:dispBlanksAs val="gap"/>
  </c:chart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04820" cy="462612"/>
          </a:xfrm>
          <a:prstGeom prst="rect">
            <a:avLst/>
          </a:prstGeom>
        </p:spPr>
        <p:txBody>
          <a:bodyPr vert="horz" lIns="92307" tIns="46153" rIns="92307" bIns="46153" rtlCol="0"/>
          <a:lstStyle>
            <a:lvl1pPr algn="l">
              <a:defRPr sz="1200"/>
            </a:lvl1pPr>
          </a:lstStyle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27776" y="0"/>
            <a:ext cx="3004820" cy="462612"/>
          </a:xfrm>
          <a:prstGeom prst="rect">
            <a:avLst/>
          </a:prstGeom>
        </p:spPr>
        <p:txBody>
          <a:bodyPr vert="horz" lIns="92307" tIns="46153" rIns="92307" bIns="46153" rtlCol="0"/>
          <a:lstStyle>
            <a:lvl1pPr algn="r">
              <a:defRPr sz="1200"/>
            </a:lvl1pPr>
          </a:lstStyle>
          <a:p>
            <a:fld id="{8ACBDEED-51C7-9D44-8B0E-E5493C8A1496}" type="datetimeFigureOut">
              <a:rPr lang="en-US">
                <a:latin typeface="Arial" panose="020B0604020202020204" pitchFamily="34" charset="0"/>
              </a:rPr>
              <a:t>5/15/2026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57591"/>
            <a:ext cx="3004820" cy="462611"/>
          </a:xfrm>
          <a:prstGeom prst="rect">
            <a:avLst/>
          </a:prstGeom>
        </p:spPr>
        <p:txBody>
          <a:bodyPr vert="horz" lIns="92307" tIns="46153" rIns="92307" bIns="46153" rtlCol="0" anchor="b"/>
          <a:lstStyle>
            <a:lvl1pPr algn="l">
              <a:defRPr sz="1200"/>
            </a:lvl1pPr>
          </a:lstStyle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27776" y="8757591"/>
            <a:ext cx="3004820" cy="462611"/>
          </a:xfrm>
          <a:prstGeom prst="rect">
            <a:avLst/>
          </a:prstGeom>
        </p:spPr>
        <p:txBody>
          <a:bodyPr vert="horz" lIns="92307" tIns="46153" rIns="92307" bIns="46153" rtlCol="0" anchor="b"/>
          <a:lstStyle>
            <a:lvl1pPr algn="r">
              <a:defRPr sz="1200"/>
            </a:lvl1pPr>
          </a:lstStyle>
          <a:p>
            <a:fld id="{89B20CC8-1D49-1F4A-B7DF-0C6E98397D09}" type="slidenum">
              <a:rPr>
                <a:latin typeface="Arial" panose="020B0604020202020204" pitchFamily="34" charset="0"/>
              </a:rPr>
              <a:t>‹#›</a:t>
            </a:fld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02294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o not remove" hidden="1"/>
          <p:cNvSpPr/>
          <p:nvPr userDrawn="1"/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453080" y="5640670"/>
            <a:ext cx="7776391" cy="473423"/>
          </a:xfrm>
        </p:spPr>
        <p:txBody>
          <a:bodyPr anchor="t"/>
          <a:lstStyle>
            <a:lvl1pPr>
              <a:defRPr sz="1600">
                <a:solidFill>
                  <a:schemeClr val="bg2"/>
                </a:solidFill>
              </a:defRPr>
            </a:lvl1pPr>
          </a:lstStyle>
          <a:p>
            <a:r>
              <a:rPr lang="en-US"/>
              <a:t>Date (16 PT)</a:t>
            </a:r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63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 userDrawn="1"/>
        </p:nvSpPr>
        <p:spPr>
          <a:xfrm>
            <a:off x="4220848" y="6521083"/>
            <a:ext cx="37503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SARONIC PROPRIETARY AND CONFIDENTIAL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3429000"/>
            <a:ext cx="0" cy="136506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26"/>
          <p:cNvSpPr>
            <a:spLocks noGrp="1"/>
          </p:cNvSpPr>
          <p:nvPr>
            <p:ph type="body" sz="quarter" idx="12" hasCustomPrompt="1"/>
          </p:nvPr>
        </p:nvSpPr>
        <p:spPr>
          <a:xfrm>
            <a:off x="453080" y="3260838"/>
            <a:ext cx="7776399" cy="21621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Title (36 PT)</a:t>
            </a:r>
          </a:p>
        </p:txBody>
      </p:sp>
      <p:grpSp>
        <p:nvGrpSpPr>
          <p:cNvPr id="4" name="Group 3"/>
          <p:cNvGrpSpPr/>
          <p:nvPr userDrawn="1"/>
        </p:nvGrpSpPr>
        <p:grpSpPr>
          <a:xfrm>
            <a:off x="453080" y="743907"/>
            <a:ext cx="11230920" cy="1637662"/>
            <a:chOff x="588922" y="596464"/>
            <a:chExt cx="10697007" cy="1559809"/>
          </a:xfrm>
        </p:grpSpPr>
        <p:pic>
          <p:nvPicPr>
            <p:cNvPr id="5" name="Graphic 4"/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88922" y="596464"/>
              <a:ext cx="7799041" cy="1559809"/>
            </a:xfrm>
            <a:prstGeom prst="rect">
              <a:avLst/>
            </a:prstGeom>
          </p:spPr>
        </p:pic>
        <p:pic>
          <p:nvPicPr>
            <p:cNvPr id="6" name="Graphic 5"/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980882" y="913377"/>
              <a:ext cx="2305047" cy="91439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071211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 not remove" hidden="1"/>
          <p:cNvSpPr/>
          <p:nvPr userDrawn="1"/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 userDrawn="1"/>
        </p:nvSpPr>
        <p:spPr>
          <a:xfrm>
            <a:off x="4220848" y="6521083"/>
            <a:ext cx="37503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SARONIC PROPRIETARY AND CONFIDENTIAL</a:t>
            </a:r>
          </a:p>
        </p:txBody>
      </p:sp>
      <p:sp>
        <p:nvSpPr>
          <p:cNvPr id="7" name="Text Placeholder 26"/>
          <p:cNvSpPr>
            <a:spLocks noGrp="1"/>
          </p:cNvSpPr>
          <p:nvPr>
            <p:ph type="body" sz="quarter" idx="11" hasCustomPrompt="1"/>
          </p:nvPr>
        </p:nvSpPr>
        <p:spPr>
          <a:xfrm>
            <a:off x="453082" y="2383743"/>
            <a:ext cx="9153537" cy="210520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Section Divider Title (36 PT)</a:t>
            </a:r>
          </a:p>
        </p:txBody>
      </p:sp>
      <p:sp>
        <p:nvSpPr>
          <p:cNvPr id="8" name="Text Placeholder 26"/>
          <p:cNvSpPr>
            <a:spLocks noGrp="1"/>
          </p:cNvSpPr>
          <p:nvPr>
            <p:ph type="body" sz="quarter" idx="12" hasCustomPrompt="1"/>
          </p:nvPr>
        </p:nvSpPr>
        <p:spPr>
          <a:xfrm>
            <a:off x="453082" y="4715093"/>
            <a:ext cx="9153537" cy="499503"/>
          </a:xfr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None/>
              <a:tabLst/>
              <a:defRPr sz="1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Subsections / Headline Paragraph (16 PT)</a:t>
            </a:r>
          </a:p>
        </p:txBody>
      </p:sp>
      <p:pic>
        <p:nvPicPr>
          <p:cNvPr id="29" name="Graphic 28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5439" y="6477927"/>
            <a:ext cx="226315" cy="301753"/>
          </a:xfrm>
          <a:prstGeom prst="rect">
            <a:avLst/>
          </a:prstGeom>
        </p:spPr>
      </p:pic>
      <p:sp>
        <p:nvSpPr>
          <p:cNvPr id="2" name="TextBox 1"/>
          <p:cNvSpPr txBox="1"/>
          <p:nvPr userDrawn="1"/>
        </p:nvSpPr>
        <p:spPr>
          <a:xfrm>
            <a:off x="11724460" y="6567249"/>
            <a:ext cx="467539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F8FBCD80-1BA2-9C4B-8FD8-FBEEFF13001D}" type="slidenum">
              <a:rPr lang="en-US" sz="800" smtClean="0">
                <a:solidFill>
                  <a:schemeClr val="accent4"/>
                </a:solidFill>
              </a:rPr>
              <a:pPr algn="ctr"/>
              <a:t>‹#›</a:t>
            </a:fld>
            <a:endParaRPr lang="en-US" sz="80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90492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% Block +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o not remove" hidden="1"/>
          <p:cNvSpPr/>
          <p:nvPr userDrawn="1"/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 userDrawn="1"/>
        </p:nvSpPr>
        <p:spPr>
          <a:xfrm>
            <a:off x="0" y="0"/>
            <a:ext cx="6096000" cy="640079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5838" y="566400"/>
            <a:ext cx="5181827" cy="566928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Title (20 PT)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455460" y="263452"/>
            <a:ext cx="4874834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Category / Description (10 PT)</a:t>
            </a:r>
          </a:p>
        </p:txBody>
      </p:sp>
      <p:sp>
        <p:nvSpPr>
          <p:cNvPr id="3" name="Content Placeholder 5"/>
          <p:cNvSpPr>
            <a:spLocks noGrp="1"/>
          </p:cNvSpPr>
          <p:nvPr>
            <p:ph sz="quarter" idx="15" hasCustomPrompt="1"/>
          </p:nvPr>
        </p:nvSpPr>
        <p:spPr>
          <a:xfrm>
            <a:off x="6552217" y="1424682"/>
            <a:ext cx="5182583" cy="4712658"/>
          </a:xfrm>
        </p:spPr>
        <p:txBody>
          <a:bodyPr/>
          <a:lstStyle/>
          <a:p>
            <a:pPr lvl="0"/>
            <a:r>
              <a:rPr lang="en-US"/>
              <a:t>Click to edit Content (12 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6" hasCustomPrompt="1"/>
          </p:nvPr>
        </p:nvSpPr>
        <p:spPr>
          <a:xfrm>
            <a:off x="455460" y="1424682"/>
            <a:ext cx="5181827" cy="4712657"/>
          </a:xfrm>
        </p:spPr>
        <p:txBody>
          <a:bodyPr/>
          <a:lstStyle>
            <a:lvl1pPr>
              <a:buClr>
                <a:schemeClr val="bg2"/>
              </a:buClr>
              <a:defRPr>
                <a:solidFill>
                  <a:schemeClr val="bg2"/>
                </a:solidFill>
              </a:defRPr>
            </a:lvl1pPr>
            <a:lvl2pPr>
              <a:buClr>
                <a:schemeClr val="bg2"/>
              </a:buClr>
              <a:defRPr>
                <a:solidFill>
                  <a:schemeClr val="bg2"/>
                </a:solidFill>
              </a:defRPr>
            </a:lvl2pPr>
            <a:lvl3pPr>
              <a:buClr>
                <a:schemeClr val="bg2"/>
              </a:buClr>
              <a:defRPr>
                <a:solidFill>
                  <a:schemeClr val="bg2"/>
                </a:solidFill>
              </a:defRPr>
            </a:lvl3pPr>
            <a:lvl4pPr>
              <a:buClr>
                <a:schemeClr val="bg2"/>
              </a:buClr>
              <a:defRPr>
                <a:solidFill>
                  <a:schemeClr val="bg2"/>
                </a:solidFill>
              </a:defRPr>
            </a:lvl4pPr>
            <a:lvl5pPr>
              <a:buClr>
                <a:schemeClr val="bg2"/>
              </a:buCl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Content (12 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596963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o not remove" hidden="1"/>
          <p:cNvSpPr/>
          <p:nvPr userDrawn="1"/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452701" y="263452"/>
            <a:ext cx="4874834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Category / Description (10 PT)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3079" y="566400"/>
            <a:ext cx="11282099" cy="5669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 (20 PT)</a:t>
            </a:r>
          </a:p>
        </p:txBody>
      </p:sp>
    </p:spTree>
    <p:extLst>
      <p:ext uri="{BB962C8B-B14F-4D97-AF65-F5344CB8AC3E}">
        <p14:creationId xmlns:p14="http://schemas.microsoft.com/office/powerpoint/2010/main" val="36652981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/>
          <p:cNvSpPr/>
          <p:nvPr userDrawn="1"/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712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Gloss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sv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D5435E64-C67E-B7D2-F1D2-3FF5E4CADA9A}"/>
              </a:ext>
            </a:extLst>
          </p:cNvPr>
          <p:cNvGraphicFramePr>
            <a:graphicFrameLocks/>
          </p:cNvGraphicFramePr>
          <p:nvPr userDrawn="1"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12900928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04" imgH="405" progId="TCLayout.ActiveDocument.1">
                  <p:embed/>
                </p:oleObj>
              </mc:Choice>
              <mc:Fallback>
                <p:oleObj name="think-cell Slide" r:id="rId9" imgW="404" imgH="40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2702" y="566399"/>
            <a:ext cx="11282100" cy="566919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/>
              <a:t>Click to edit Master Title (20 PT)</a:t>
            </a:r>
            <a:br>
              <a:rPr lang="en-US"/>
            </a:br>
            <a:br>
              <a:rPr lang="en-US"/>
            </a:br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63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 Placeholder 25"/>
          <p:cNvSpPr>
            <a:spLocks noGrp="1"/>
          </p:cNvSpPr>
          <p:nvPr>
            <p:ph type="body" idx="1"/>
          </p:nvPr>
        </p:nvSpPr>
        <p:spPr>
          <a:xfrm>
            <a:off x="452701" y="1424682"/>
            <a:ext cx="11282099" cy="471265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 (12 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Box 10"/>
          <p:cNvSpPr txBox="1"/>
          <p:nvPr userDrawn="1"/>
        </p:nvSpPr>
        <p:spPr>
          <a:xfrm>
            <a:off x="4220848" y="6521083"/>
            <a:ext cx="37503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SARONIC PROPRIETARY AND CONFIDENTIAL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11724460" y="6567249"/>
            <a:ext cx="467539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F8FBCD80-1BA2-9C4B-8FD8-FBEEFF13001D}" type="slidenum">
              <a:rPr lang="en-US" sz="800" smtClean="0">
                <a:solidFill>
                  <a:schemeClr val="tx2"/>
                </a:solidFill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cxnSp>
        <p:nvCxnSpPr>
          <p:cNvPr id="20" name="Straight Connector 19"/>
          <p:cNvCxnSpPr>
            <a:cxnSpLocks/>
          </p:cNvCxnSpPr>
          <p:nvPr userDrawn="1"/>
        </p:nvCxnSpPr>
        <p:spPr>
          <a:xfrm>
            <a:off x="457193" y="6400800"/>
            <a:ext cx="0" cy="457200"/>
          </a:xfrm>
          <a:prstGeom prst="line">
            <a:avLst/>
          </a:prstGeom>
          <a:ln w="63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cxnSpLocks/>
          </p:cNvCxnSpPr>
          <p:nvPr userDrawn="1"/>
        </p:nvCxnSpPr>
        <p:spPr>
          <a:xfrm>
            <a:off x="11724461" y="6400800"/>
            <a:ext cx="0" cy="457200"/>
          </a:xfrm>
          <a:prstGeom prst="line">
            <a:avLst/>
          </a:prstGeom>
          <a:ln w="63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9" name="Graphic 28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5439" y="6477927"/>
            <a:ext cx="226315" cy="301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979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54" r:id="rId2"/>
    <p:sldLayoutId id="2147483658" r:id="rId3"/>
    <p:sldLayoutId id="2147483661" r:id="rId4"/>
    <p:sldLayoutId id="2147483691" r:id="rId5"/>
    <p:sldLayoutId id="2147483696" r:id="rId6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0650" indent="-120650" algn="l" defTabSz="914400" rtl="0" eaLnBrk="1" latinLnBrk="0" hangingPunct="1">
        <a:lnSpc>
          <a:spcPct val="100000"/>
        </a:lnSpc>
        <a:spcBef>
          <a:spcPts val="800"/>
        </a:spcBef>
        <a:buClr>
          <a:schemeClr val="tx2"/>
        </a:buClr>
        <a:buSzPct val="120000"/>
        <a:buFont typeface="Arial" panose="020B0604020202020204" pitchFamily="34" charset="0"/>
        <a:buChar char="•"/>
        <a:tabLst/>
        <a:defRPr sz="1200" kern="1200">
          <a:solidFill>
            <a:schemeClr val="tx2"/>
          </a:solidFill>
          <a:latin typeface="+mn-lt"/>
          <a:ea typeface="+mn-ea"/>
          <a:cs typeface="+mn-cs"/>
        </a:defRPr>
      </a:lvl1pPr>
      <a:lvl2pPr marL="233363" indent="-117475" algn="l" defTabSz="914400" rtl="0" eaLnBrk="1" latinLnBrk="0" hangingPunct="1">
        <a:lnSpc>
          <a:spcPct val="100000"/>
        </a:lnSpc>
        <a:spcBef>
          <a:spcPts val="800"/>
        </a:spcBef>
        <a:buClr>
          <a:schemeClr val="tx2"/>
        </a:buClr>
        <a:buSzPct val="120000"/>
        <a:buFont typeface="Arial" panose="020B0604020202020204" pitchFamily="34" charset="0"/>
        <a:buChar char="-"/>
        <a:tabLst/>
        <a:defRPr sz="1200" kern="1200">
          <a:solidFill>
            <a:schemeClr val="tx2"/>
          </a:solidFill>
          <a:latin typeface="+mn-lt"/>
          <a:ea typeface="+mn-ea"/>
          <a:cs typeface="+mn-cs"/>
        </a:defRPr>
      </a:lvl2pPr>
      <a:lvl3pPr marL="350838" indent="-117475" algn="l" defTabSz="914400" rtl="0" eaLnBrk="1" latinLnBrk="0" hangingPunct="1">
        <a:lnSpc>
          <a:spcPct val="100000"/>
        </a:lnSpc>
        <a:spcBef>
          <a:spcPts val="800"/>
        </a:spcBef>
        <a:buClr>
          <a:schemeClr val="tx2"/>
        </a:buClr>
        <a:buSzPct val="90000"/>
        <a:buFont typeface="Wingdings" pitchFamily="2" charset="2"/>
        <a:buChar char="§"/>
        <a:tabLst/>
        <a:defRPr sz="1200" kern="1200">
          <a:solidFill>
            <a:schemeClr val="tx2"/>
          </a:solidFill>
          <a:latin typeface="+mn-lt"/>
          <a:ea typeface="+mn-ea"/>
          <a:cs typeface="+mn-cs"/>
        </a:defRPr>
      </a:lvl3pPr>
      <a:lvl4pPr marL="463550" indent="-111125" algn="l" defTabSz="914400" rtl="0" eaLnBrk="1" latinLnBrk="0" hangingPunct="1">
        <a:lnSpc>
          <a:spcPct val="100000"/>
        </a:lnSpc>
        <a:spcBef>
          <a:spcPts val="800"/>
        </a:spcBef>
        <a:buSzPct val="90000"/>
        <a:buFont typeface="Wingdings" pitchFamily="2" charset="2"/>
        <a:buChar char="§"/>
        <a:tabLst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573088" indent="-109538" algn="l" defTabSz="914400" rtl="0" eaLnBrk="1" latinLnBrk="0" hangingPunct="1">
        <a:lnSpc>
          <a:spcPct val="100000"/>
        </a:lnSpc>
        <a:spcBef>
          <a:spcPts val="800"/>
        </a:spcBef>
        <a:buSzPct val="90000"/>
        <a:buFont typeface="Wingdings" pitchFamily="2" charset="2"/>
        <a:buChar char="§"/>
        <a:tabLst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4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5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6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7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8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9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CoverTitle"/>
          <p:cNvSpPr>
            <a:spLocks noGrp="1"/>
          </p:cNvSpPr>
          <p:nvPr>
            <p:ph type="body" sz="quarter" idx="12"/>
          </p:nvPr>
        </p:nvSpPr>
        <p:spPr>
          <a:xfrm>
            <a:off x="453080" y="4140000"/>
            <a:ext cx="11285842" cy="2162129"/>
          </a:xfrm>
        </p:spPr>
        <p:txBody>
          <a:bodyPr anchor="t"/>
          <a:lstStyle/>
          <a:p>
            <a:pPr>
              <a:lnSpc>
                <a:spcPct val="115000"/>
              </a:lnSpc>
            </a:pPr>
            <a:r>
              <a:rPr lang="en-US" sz="2800" kern="1200" dirty="0"/>
              <a:t>DDG-51 Supplier Market Sizing</a:t>
            </a:r>
          </a:p>
          <a:p>
            <a:pPr>
              <a:lnSpc>
                <a:spcPct val="115000"/>
              </a:lnSpc>
            </a:pPr>
            <a:r>
              <a:rPr lang="en-US" sz="2000" i="1" kern="1200" dirty="0"/>
              <a:t>TAM and SAM for the DDG-51 new-construction supplier base, average annual FY2022–FY2027</a:t>
            </a:r>
          </a:p>
        </p:txBody>
      </p:sp>
      <p:sp>
        <p:nvSpPr>
          <p:cNvPr id="101" name="CoverFooter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15000"/>
              </a:lnSpc>
            </a:pPr>
            <a:r>
              <a:rPr lang="en-US" kern="1200" dirty="0"/>
              <a:t>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DividerTitle"/>
          <p:cNvSpPr>
            <a:spLocks noGrp="1"/>
          </p:cNvSpPr>
          <p:nvPr>
            <p:ph type="body" sz="quarter" idx="11"/>
          </p:nvPr>
        </p:nvSpPr>
        <p:spPr>
          <a:xfrm>
            <a:off x="453080" y="4140000"/>
            <a:ext cx="11285842" cy="2162129"/>
          </a:xfrm>
        </p:spPr>
        <p:txBody>
          <a:bodyPr anchor="t"/>
          <a:lstStyle/>
          <a:p>
            <a:pPr>
              <a:lnSpc>
                <a:spcPct val="115000"/>
              </a:lnSpc>
            </a:pPr>
            <a:r>
              <a:rPr lang="en-US" sz="2800" kern="1200" dirty="0"/>
              <a:t>Market and Scope</a:t>
            </a:r>
          </a:p>
          <a:p>
            <a:pPr>
              <a:lnSpc>
                <a:spcPct val="115000"/>
              </a:lnSpc>
            </a:pPr>
            <a:r>
              <a:rPr lang="en-US" sz="2000" i="1" kern="1200" dirty="0"/>
              <a:t>The supplier-addressable market is a narrow slice of total DDG-51 spend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DDG-51 Supplier TAM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Market Primer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Market Primer | DDG-51 construction dollars flow through yards, Navy-procured GFE primes, and yard-side suppliers</a:t>
            </a:r>
          </a:p>
        </p:txBody>
      </p:sp>
      <p:sp>
        <p:nvSpPr>
          <p:cNvPr id="30" name="FundingNode"/>
          <p:cNvSpPr txBox="1"/>
          <p:nvPr/>
        </p:nvSpPr>
        <p:spPr>
          <a:xfrm>
            <a:off x="3444260" y="1431600"/>
            <a:ext cx="5300000" cy="580000"/>
          </a:xfrm>
          <a:prstGeom prst="rect">
            <a:avLst/>
          </a:prstGeom>
          <a:solidFill>
            <a:srgbClr val="263746"/>
          </a:solidFill>
          <a:ln w="12700">
            <a:solidFill>
              <a:srgbClr val="000000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spcAft>
                <a:spcPts val="8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U.S. NAVY AND SCN LINE ITEM 2122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DDG-51 new-construction funding</a:t>
            </a:r>
          </a:p>
        </p:txBody>
      </p:sp>
      <p:sp>
        <p:nvSpPr>
          <p:cNvPr id="31" name="PrimeYardCard"/>
          <p:cNvSpPr txBox="1"/>
          <p:nvPr/>
        </p:nvSpPr>
        <p:spPr>
          <a:xfrm>
            <a:off x="753079" y="2691600"/>
            <a:ext cx="3280000" cy="102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t" lIns="114300" tIns="76200" rIns="114300" bIns="76200"/>
          <a:lstStyle/>
          <a:p>
            <a:pPr>
              <a:lnSpc>
                <a:spcPct val="115000"/>
              </a:lnSpc>
              <a:spcAft>
                <a:spcPts val="80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GD Bath Iron Works</a:t>
            </a:r>
          </a:p>
          <a:p>
            <a:pPr>
              <a:lnSpc>
                <a:spcPct val="115000"/>
              </a:lnSpc>
              <a:spcAft>
                <a:spcPts val="60"/>
              </a:spcAft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Bath, ME and Brunswick, ME</a:t>
            </a:r>
          </a:p>
          <a:p>
            <a:pPr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Prime yard and DDG-51 design agent</a:t>
            </a:r>
          </a:p>
        </p:txBody>
      </p:sp>
      <p:sp>
        <p:nvSpPr>
          <p:cNvPr id="32" name="PrimeYardCard"/>
          <p:cNvSpPr txBox="1"/>
          <p:nvPr/>
        </p:nvSpPr>
        <p:spPr>
          <a:xfrm>
            <a:off x="4173079" y="2691600"/>
            <a:ext cx="3280000" cy="102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t" lIns="114300" tIns="76200" rIns="114300" bIns="76200"/>
          <a:lstStyle/>
          <a:p>
            <a:pPr>
              <a:lnSpc>
                <a:spcPct val="115000"/>
              </a:lnSpc>
              <a:spcAft>
                <a:spcPts val="80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HII Ingalls Shipbuilding</a:t>
            </a:r>
          </a:p>
          <a:p>
            <a:pPr>
              <a:lnSpc>
                <a:spcPct val="115000"/>
              </a:lnSpc>
              <a:spcAft>
                <a:spcPts val="60"/>
              </a:spcAft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Pascagoula, MS</a:t>
            </a:r>
          </a:p>
          <a:p>
            <a:pPr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Prime yard and distributed-shipbuilding network</a:t>
            </a:r>
          </a:p>
        </p:txBody>
      </p:sp>
      <p:sp>
        <p:nvSpPr>
          <p:cNvPr id="33" name="GFEPrimesCard"/>
          <p:cNvSpPr txBox="1"/>
          <p:nvPr/>
        </p:nvSpPr>
        <p:spPr>
          <a:xfrm>
            <a:off x="7853079" y="2691600"/>
            <a:ext cx="3632362" cy="102000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anchor="t" lIns="114300" tIns="76200" rIns="114300" bIns="76200"/>
          <a:lstStyle/>
          <a:p>
            <a:pPr>
              <a:lnSpc>
                <a:spcPct val="115000"/>
              </a:lnSpc>
              <a:spcAft>
                <a:spcPts val="70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Navy-procured GFE primes</a:t>
            </a:r>
          </a:p>
          <a:p>
            <a:pPr>
              <a:lnSpc>
                <a:spcPct val="115000"/>
              </a:lnSpc>
              <a:spcAft>
                <a:spcPts val="70"/>
              </a:spcAft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Aegis, SPY-6, VLS, Mk 45, LM2500, SEWIP</a:t>
            </a:r>
          </a:p>
          <a:p>
            <a:pPr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Excluded from non-GFE supplier TAM</a:t>
            </a:r>
          </a:p>
        </p:txBody>
      </p:sp>
      <p:sp>
        <p:nvSpPr>
          <p:cNvPr id="34" name="ExcludedTag"/>
          <p:cNvSpPr txBox="1"/>
          <p:nvPr/>
        </p:nvSpPr>
        <p:spPr>
          <a:xfrm>
            <a:off x="8799260" y="3971600"/>
            <a:ext cx="1740000" cy="260000"/>
          </a:xfrm>
          <a:prstGeom prst="roundRect">
            <a:avLst>
              <a:gd name="adj" fmla="val 42000"/>
            </a:avLst>
          </a:prstGeom>
          <a:solidFill>
            <a:srgbClr val="646464"/>
          </a:solidFill>
          <a:ln w="1270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900" b="1" kern="12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EXCLUDED FROM TAM</a:t>
            </a:r>
          </a:p>
        </p:txBody>
      </p:sp>
      <p:sp>
        <p:nvSpPr>
          <p:cNvPr id="40" name="SupplierRailCap"/>
          <p:cNvSpPr txBox="1"/>
          <p:nvPr/>
        </p:nvSpPr>
        <p:spPr>
          <a:xfrm>
            <a:off x="753079" y="4071600"/>
            <a:ext cx="6840000" cy="360000"/>
          </a:xfrm>
          <a:prstGeom prst="rect">
            <a:avLst/>
          </a:prstGeom>
          <a:solidFill>
            <a:srgbClr val="263746"/>
          </a:solidFill>
          <a:ln w="19050">
            <a:solidFill>
              <a:srgbClr val="000000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YARD-SIDE SUPPLIER WORK SIZED IN THIS DECK</a:t>
            </a:r>
          </a:p>
        </p:txBody>
      </p:sp>
      <p:sp>
        <p:nvSpPr>
          <p:cNvPr id="41" name="SupplierRailBody"/>
          <p:cNvSpPr txBox="1"/>
          <p:nvPr/>
        </p:nvSpPr>
        <p:spPr>
          <a:xfrm>
            <a:off x="753079" y="4431600"/>
            <a:ext cx="6840000" cy="84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200000" tIns="70000" rIns="200000" bIns="70000"/>
          <a:lstStyle/>
          <a:p>
            <a:pPr algn="ctr">
              <a:lnSpc>
                <a:spcPct val="115000"/>
              </a:lnSpc>
              <a:spcAft>
                <a:spcPts val="90"/>
              </a:spcAft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Structural fabrication, machining, electrical and power, piping, HVAC, coatings, castings and forgings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AP/LLTM supplier-addressable material</a:t>
            </a:r>
          </a:p>
        </p:txBody>
      </p:sp>
      <p:sp>
        <p:nvSpPr>
          <p:cNvPr id="50" name="CommentaryRail"/>
          <p:cNvSpPr txBox="1"/>
          <p:nvPr/>
        </p:nvSpPr>
        <p:spPr>
          <a:xfrm>
            <a:off x="7853079" y="4341600"/>
            <a:ext cx="3632362" cy="1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0000" tIns="20000" rIns="30000" bIns="20000"/>
          <a:lstStyle/>
          <a:p>
            <a:pPr>
              <a:lnSpc>
                <a:spcPct val="115000"/>
              </a:lnSpc>
              <a:spcAft>
                <a:spcPts val="160"/>
              </a:spcAft>
              <a:buNone/>
            </a:pPr>
            <a:r>
              <a:rPr lang="en-US" sz="900" b="1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How to read the flows</a:t>
            </a:r>
          </a:p>
          <a:p>
            <a:pPr marL="142875" indent="-142875">
              <a:lnSpc>
                <a:spcPct val="115000"/>
              </a:lnSpc>
              <a:spcAft>
                <a:spcPts val="120"/>
              </a:spcAft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Read: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market in layers, not as one gross ship cost.</a:t>
            </a:r>
          </a:p>
          <a:p>
            <a:pPr marL="142875" indent="-142875">
              <a:lnSpc>
                <a:spcPct val="115000"/>
              </a:lnSpc>
              <a:spcAft>
                <a:spcPts val="120"/>
              </a:spcAft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Sized market: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non-GFE new-construction supplier work that sits outside the two assembling yards.</a:t>
            </a:r>
          </a:p>
          <a:p>
            <a:pPr marL="142875" indent="-142875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GFE context: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critical DDG supplier flow, but outside this TAM definition.</a:t>
            </a:r>
          </a:p>
        </p:txBody>
      </p:sp>
      <p:cxnSp>
        <p:nvCxnSpPr>
          <p:cNvPr id="10" name="FundingToSplit"/>
          <p:cNvCxnSpPr/>
          <p:nvPr/>
        </p:nvCxnSpPr>
        <p:spPr>
          <a:xfrm>
            <a:off x="6094260" y="2011600"/>
            <a:ext cx="0" cy="32000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cxnSp>
        <p:nvCxnSpPr>
          <p:cNvPr id="11" name="SplitBus"/>
          <p:cNvCxnSpPr/>
          <p:nvPr/>
        </p:nvCxnSpPr>
        <p:spPr>
          <a:xfrm>
            <a:off x="2393079" y="2331600"/>
            <a:ext cx="7276181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cxnSp>
        <p:nvCxnSpPr>
          <p:cNvPr id="12" name="SplitToBIW"/>
          <p:cNvCxnSpPr/>
          <p:nvPr/>
        </p:nvCxnSpPr>
        <p:spPr>
          <a:xfrm>
            <a:off x="2393079" y="2331600"/>
            <a:ext cx="0" cy="360000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</p:cxnSp>
      <p:cxnSp>
        <p:nvCxnSpPr>
          <p:cNvPr id="13" name="SplitToIngalls"/>
          <p:cNvCxnSpPr/>
          <p:nvPr/>
        </p:nvCxnSpPr>
        <p:spPr>
          <a:xfrm>
            <a:off x="5813079" y="2331600"/>
            <a:ext cx="0" cy="360000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</p:cxnSp>
      <p:cxnSp>
        <p:nvCxnSpPr>
          <p:cNvPr id="14" name="SplitToGFE"/>
          <p:cNvCxnSpPr/>
          <p:nvPr/>
        </p:nvCxnSpPr>
        <p:spPr>
          <a:xfrm>
            <a:off x="9669260" y="2331600"/>
            <a:ext cx="0" cy="360000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</p:cxnSp>
      <p:cxnSp>
        <p:nvCxnSpPr>
          <p:cNvPr id="15" name="BIWToSupplierBus"/>
          <p:cNvCxnSpPr/>
          <p:nvPr/>
        </p:nvCxnSpPr>
        <p:spPr>
          <a:xfrm>
            <a:off x="2393079" y="3711600"/>
            <a:ext cx="0" cy="8000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cxnSp>
        <p:nvCxnSpPr>
          <p:cNvPr id="16" name="IngallsToSupplierBus"/>
          <p:cNvCxnSpPr/>
          <p:nvPr/>
        </p:nvCxnSpPr>
        <p:spPr>
          <a:xfrm>
            <a:off x="5813079" y="3711600"/>
            <a:ext cx="0" cy="8000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cxnSp>
        <p:nvCxnSpPr>
          <p:cNvPr id="17" name="YardSupplierBus"/>
          <p:cNvCxnSpPr/>
          <p:nvPr/>
        </p:nvCxnSpPr>
        <p:spPr>
          <a:xfrm>
            <a:off x="2393079" y="3791600"/>
            <a:ext cx="3420000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cxnSp>
        <p:nvCxnSpPr>
          <p:cNvPr id="18" name="SupplierBusToRail"/>
          <p:cNvCxnSpPr/>
          <p:nvPr/>
        </p:nvCxnSpPr>
        <p:spPr>
          <a:xfrm>
            <a:off x="4173079" y="3791600"/>
            <a:ext cx="0" cy="280000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</p:cxnSp>
      <p:cxnSp>
        <p:nvCxnSpPr>
          <p:cNvPr id="19" name="GFEToExcluded"/>
          <p:cNvCxnSpPr/>
          <p:nvPr/>
        </p:nvCxnSpPr>
        <p:spPr>
          <a:xfrm>
            <a:off x="9669260" y="3711600"/>
            <a:ext cx="0" cy="260000"/>
          </a:xfrm>
          <a:prstGeom prst="line">
            <a:avLst/>
          </a:prstGeom>
          <a:ln w="9525">
            <a:solidFill>
              <a:srgbClr val="7F7F7F"/>
            </a:solidFill>
            <a:prstDash val="dash"/>
            <a:tailEnd type="triangle" w="med" len="med"/>
          </a:ln>
        </p:spPr>
      </p:cxnSp>
      <p:sp>
        <p:nvSpPr>
          <p:cNvPr id="20" name="FlowLabel"/>
          <p:cNvSpPr txBox="1"/>
          <p:nvPr/>
        </p:nvSpPr>
        <p:spPr>
          <a:xfrm>
            <a:off x="753079" y="2151600"/>
            <a:ext cx="684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IN-PROGRAM CONSTRUCTION FLOW</a:t>
            </a:r>
          </a:p>
        </p:txBody>
      </p:sp>
      <p:sp>
        <p:nvSpPr>
          <p:cNvPr id="21" name="FlowLabel"/>
          <p:cNvSpPr txBox="1"/>
          <p:nvPr/>
        </p:nvSpPr>
        <p:spPr>
          <a:xfrm>
            <a:off x="7853079" y="2151600"/>
            <a:ext cx="3632362" cy="15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NAVY-PROCURED GFE FLOW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U.S. Navy FY2027 SCN Justification Book, LI 2122; 48 C.F.R. Part 45 and section 52.245-1; FAR 52.204-10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DDG-51 Supplier TAM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TAM Answer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Executive Summary | Supplier TAM averages ~$573M per year, with ~$327M in broad component SAM</a:t>
            </a:r>
          </a:p>
        </p:txBody>
      </p:sp>
      <p:sp>
        <p:nvSpPr>
          <p:cNvPr id="10" name="AnswerRail"/>
          <p:cNvSpPr txBox="1"/>
          <p:nvPr/>
        </p:nvSpPr>
        <p:spPr>
          <a:xfrm>
            <a:off x="453079" y="1451600"/>
            <a:ext cx="4620000" cy="188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tIns="20000" rIns="90000" bIns="20000"/>
          <a:lstStyle/>
          <a:p>
            <a:pPr>
              <a:lnSpc>
                <a:spcPct val="115000"/>
              </a:lnSpc>
              <a:spcAft>
                <a:spcPts val="13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Answer at a Glance</a:t>
            </a:r>
          </a:p>
          <a:p>
            <a:pPr marL="142875" indent="-142875">
              <a:lnSpc>
                <a:spcPct val="115000"/>
              </a:lnSpc>
              <a:spcAft>
                <a:spcPts val="135"/>
              </a:spcAft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Supplier TAM: </a:t>
            </a:r>
            <a:r>
              <a:rPr lang="en-US" sz="11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~$573M per year</a:t>
            </a: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, or ~$3.44B across FY22–27.</a:t>
            </a:r>
          </a:p>
          <a:p>
            <a:pPr marL="142875" indent="-142875">
              <a:lnSpc>
                <a:spcPct val="115000"/>
              </a:lnSpc>
              <a:spcAft>
                <a:spcPts val="135"/>
              </a:spcAft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Broad component SAM: </a:t>
            </a:r>
            <a:r>
              <a:rPr lang="en-US" sz="11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~$327M per year</a:t>
            </a: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and 57.1% of TAM.</a:t>
            </a:r>
          </a:p>
          <a:p>
            <a:pPr marL="142875" indent="-142875">
              <a:lnSpc>
                <a:spcPct val="115000"/>
              </a:lnSpc>
              <a:spcAft>
                <a:spcPts val="135"/>
              </a:spcAft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TAM build: </a:t>
            </a: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Basic Construction supplier work plus AP/LLTM supplier material.</a:t>
            </a:r>
          </a:p>
          <a:p>
            <a:pPr marL="142875" indent="-142875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SAM read: </a:t>
            </a: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 work-type menu, not a probability-weighted capture forecast.</a:t>
            </a:r>
          </a:p>
        </p:txBody>
      </p:sp>
      <p:sp>
        <p:nvSpPr>
          <p:cNvPr id="20" name="KPICard"/>
          <p:cNvSpPr txBox="1"/>
          <p:nvPr/>
        </p:nvSpPr>
        <p:spPr>
          <a:xfrm>
            <a:off x="5373079" y="1451600"/>
            <a:ext cx="3121181" cy="880000"/>
          </a:xfrm>
          <a:prstGeom prst="rect">
            <a:avLst/>
          </a:prstGeom>
          <a:solidFill>
            <a:srgbClr val="263746"/>
          </a:solidFill>
          <a:ln w="19050">
            <a:solidFill>
              <a:srgbClr val="000000"/>
            </a:solidFill>
          </a:ln>
        </p:spPr>
        <p:txBody>
          <a:bodyPr wrap="square" anchor="ctr" lIns="200000" tIns="110000" rIns="200000" bIns="110000"/>
          <a:lstStyle/>
          <a:p>
            <a:pPr algn="ctr">
              <a:lnSpc>
                <a:spcPct val="115000"/>
              </a:lnSpc>
              <a:spcAft>
                <a:spcPts val="9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SUPPLIER TAM</a:t>
            </a:r>
          </a:p>
          <a:p>
            <a:pPr algn="ctr">
              <a:lnSpc>
                <a:spcPct val="115000"/>
              </a:lnSpc>
              <a:spcAft>
                <a:spcPts val="8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~$573M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per year ($3.44B FY22–27)</a:t>
            </a:r>
          </a:p>
        </p:txBody>
      </p:sp>
      <p:sp>
        <p:nvSpPr>
          <p:cNvPr id="21" name="KPICard"/>
          <p:cNvSpPr txBox="1"/>
          <p:nvPr/>
        </p:nvSpPr>
        <p:spPr>
          <a:xfrm>
            <a:off x="8614260" y="1451600"/>
            <a:ext cx="3121181" cy="880000"/>
          </a:xfrm>
          <a:prstGeom prst="rect">
            <a:avLst/>
          </a:prstGeom>
          <a:solidFill>
            <a:srgbClr val="3D5972"/>
          </a:solidFill>
          <a:ln w="12700">
            <a:solidFill>
              <a:srgbClr val="000000"/>
            </a:solidFill>
          </a:ln>
        </p:spPr>
        <p:txBody>
          <a:bodyPr wrap="square" anchor="ctr" lIns="200000" tIns="110000" rIns="200000" bIns="110000"/>
          <a:lstStyle/>
          <a:p>
            <a:pPr algn="ctr">
              <a:lnSpc>
                <a:spcPct val="115000"/>
              </a:lnSpc>
              <a:spcAft>
                <a:spcPts val="9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BROAD SAM</a:t>
            </a:r>
          </a:p>
          <a:p>
            <a:pPr algn="ctr">
              <a:lnSpc>
                <a:spcPct val="115000"/>
              </a:lnSpc>
              <a:spcAft>
                <a:spcPts val="8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~$327M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per year ($1.96B FY22–27)</a:t>
            </a:r>
          </a:p>
        </p:txBody>
      </p:sp>
      <p:sp>
        <p:nvSpPr>
          <p:cNvPr id="22" name="KPICard"/>
          <p:cNvSpPr txBox="1"/>
          <p:nvPr/>
        </p:nvSpPr>
        <p:spPr>
          <a:xfrm>
            <a:off x="5373079" y="2451600"/>
            <a:ext cx="3121181" cy="880000"/>
          </a:xfrm>
          <a:prstGeom prst="rect">
            <a:avLst/>
          </a:prstGeom>
          <a:solidFill>
            <a:srgbClr val="6E91B1"/>
          </a:solidFill>
          <a:ln w="12700">
            <a:solidFill>
              <a:srgbClr val="000000"/>
            </a:solidFill>
          </a:ln>
        </p:spPr>
        <p:txBody>
          <a:bodyPr wrap="square" anchor="ctr" lIns="200000" tIns="110000" rIns="200000" bIns="110000"/>
          <a:lstStyle/>
          <a:p>
            <a:pPr algn="ctr">
              <a:lnSpc>
                <a:spcPct val="115000"/>
              </a:lnSpc>
              <a:spcAft>
                <a:spcPts val="9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BROAD SAM SHARE</a:t>
            </a:r>
          </a:p>
          <a:p>
            <a:pPr algn="ctr">
              <a:lnSpc>
                <a:spcPct val="115000"/>
              </a:lnSpc>
              <a:spcAft>
                <a:spcPts val="8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57.1%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of TAM</a:t>
            </a:r>
          </a:p>
        </p:txBody>
      </p:sp>
      <p:sp>
        <p:nvSpPr>
          <p:cNvPr id="23" name="KPICard"/>
          <p:cNvSpPr txBox="1"/>
          <p:nvPr/>
        </p:nvSpPr>
        <p:spPr>
          <a:xfrm>
            <a:off x="8614260" y="2451600"/>
            <a:ext cx="3121181" cy="88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200000" tIns="110000" rIns="200000" bIns="110000"/>
          <a:lstStyle/>
          <a:p>
            <a:pPr algn="ctr">
              <a:lnSpc>
                <a:spcPct val="115000"/>
              </a:lnSpc>
              <a:spcAft>
                <a:spcPts val="9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PER-HULL KPI</a:t>
            </a:r>
          </a:p>
          <a:p>
            <a:pPr algn="ctr">
              <a:lnSpc>
                <a:spcPct val="115000"/>
              </a:lnSpc>
              <a:spcAft>
                <a:spcPts val="8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~$265M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per in-window hull</a:t>
            </a:r>
          </a:p>
        </p:txBody>
      </p:sp>
      <p:sp>
        <p:nvSpPr>
          <p:cNvPr id="40" name="SizingNote"/>
          <p:cNvSpPr txBox="1"/>
          <p:nvPr/>
        </p:nvSpPr>
        <p:spPr>
          <a:xfrm>
            <a:off x="5373079" y="5490000"/>
            <a:ext cx="6362362" cy="27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Nominal $M per year; average annual FY22–27 unless noted. Cumulative FY22–27 values shown in parentheses. Excludes SOM and capture.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U.S. Navy FY2022–FY2027 SCN Justification Books, LI 2122; DoW DDG-51 contract announcements, July 2022–May 2026; SAM.gov Acquisition Subaward Reporting Public API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DDG-51 Supplier TAM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Scope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Scope | The analysis sizes non-GFE new-construction supplier work, not total DDG spend</a:t>
            </a:r>
          </a:p>
        </p:txBody>
      </p:sp>
      <p:sp>
        <p:nvSpPr>
          <p:cNvPr id="10" name="ScopeColumnCap"/>
          <p:cNvSpPr txBox="1"/>
          <p:nvPr/>
        </p:nvSpPr>
        <p:spPr>
          <a:xfrm>
            <a:off x="703079" y="1551600"/>
            <a:ext cx="5281181" cy="500000"/>
          </a:xfrm>
          <a:prstGeom prst="rect">
            <a:avLst/>
          </a:prstGeom>
          <a:solidFill>
            <a:srgbClr val="263746"/>
          </a:solidFill>
          <a:ln w="19050">
            <a:solidFill>
              <a:srgbClr val="000000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spcAft>
                <a:spcPts val="55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 SCOPE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sized in TAM and SAM</a:t>
            </a:r>
          </a:p>
        </p:txBody>
      </p:sp>
      <p:sp>
        <p:nvSpPr>
          <p:cNvPr id="11" name="ScopeColumnCap"/>
          <p:cNvSpPr txBox="1"/>
          <p:nvPr/>
        </p:nvSpPr>
        <p:spPr>
          <a:xfrm>
            <a:off x="6204260" y="1551600"/>
            <a:ext cx="5281181" cy="500000"/>
          </a:xfrm>
          <a:prstGeom prst="rect">
            <a:avLst/>
          </a:prstGeom>
          <a:solidFill>
            <a:srgbClr val="646464"/>
          </a:solidFill>
          <a:ln w="12700">
            <a:solidFill>
              <a:srgbClr val="000000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spcAft>
                <a:spcPts val="55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OUT OF SCOPE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not in TAM</a:t>
            </a:r>
          </a:p>
        </p:txBody>
      </p:sp>
      <p:sp>
        <p:nvSpPr>
          <p:cNvPr id="20" name="ScopeColumnBody"/>
          <p:cNvSpPr txBox="1"/>
          <p:nvPr/>
        </p:nvSpPr>
        <p:spPr>
          <a:xfrm>
            <a:off x="703079" y="2051600"/>
            <a:ext cx="5281181" cy="305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t" lIns="114300" tIns="76200" rIns="114300" bIns="76200"/>
          <a:lstStyle/>
          <a:p>
            <a:pPr marL="142875" indent="-142875">
              <a:lnSpc>
                <a:spcPct val="115000"/>
              </a:lnSpc>
              <a:spcAft>
                <a:spcPts val="145"/>
              </a:spcAft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DDG-51 Flight III</a:t>
            </a: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and Arleigh Burke new construction</a:t>
            </a:r>
          </a:p>
          <a:p>
            <a:pPr marL="142875" indent="-142875">
              <a:lnSpc>
                <a:spcPct val="115000"/>
              </a:lnSpc>
              <a:spcAft>
                <a:spcPts val="145"/>
              </a:spcAft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SCN Line Item 2122</a:t>
            </a:r>
          </a:p>
          <a:p>
            <a:pPr marL="142875" indent="-142875">
              <a:lnSpc>
                <a:spcPct val="115000"/>
              </a:lnSpc>
              <a:spcAft>
                <a:spcPts val="145"/>
              </a:spcAft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Basic Construction</a:t>
            </a: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supplier work</a:t>
            </a:r>
          </a:p>
          <a:p>
            <a:pPr marL="142875" indent="-142875">
              <a:lnSpc>
                <a:spcPct val="115000"/>
              </a:lnSpc>
              <a:spcAft>
                <a:spcPts val="145"/>
              </a:spcAft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AP/LLTM</a:t>
            </a: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supplier-addressable material</a:t>
            </a:r>
          </a:p>
          <a:p>
            <a:pPr marL="142875" indent="-142875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Work performed away from BIW, Ingalls, GFE prime sites, and excluded Navy-directed flows</a:t>
            </a:r>
          </a:p>
        </p:txBody>
      </p:sp>
      <p:sp>
        <p:nvSpPr>
          <p:cNvPr id="21" name="ScopeColumnBody"/>
          <p:cNvSpPr txBox="1"/>
          <p:nvPr/>
        </p:nvSpPr>
        <p:spPr>
          <a:xfrm>
            <a:off x="6204260" y="2051600"/>
            <a:ext cx="5281181" cy="305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t" lIns="114300" tIns="76200" rIns="114300" bIns="76200"/>
          <a:lstStyle/>
          <a:p>
            <a:pPr marL="142875" indent="-142875">
              <a:lnSpc>
                <a:spcPct val="115000"/>
              </a:lnSpc>
              <a:spcAft>
                <a:spcPts val="145"/>
              </a:spcAft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DDG-1000</a:t>
            </a: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and Zumwalt</a:t>
            </a:r>
          </a:p>
          <a:p>
            <a:pPr marL="142875" indent="-142875">
              <a:lnSpc>
                <a:spcPct val="115000"/>
              </a:lnSpc>
              <a:spcAft>
                <a:spcPts val="145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WPN and OPN weapons procurement</a:t>
            </a:r>
          </a:p>
          <a:p>
            <a:pPr marL="142875" indent="-142875">
              <a:lnSpc>
                <a:spcPct val="115000"/>
              </a:lnSpc>
              <a:spcAft>
                <a:spcPts val="145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Aegis, SPY-6, VLS, Mk 45, LM2500, SEWIP, CIWS, and other GFE-heavy prime flows</a:t>
            </a:r>
          </a:p>
          <a:p>
            <a:pPr marL="142875" indent="-142875">
              <a:lnSpc>
                <a:spcPct val="115000"/>
              </a:lnSpc>
              <a:spcAft>
                <a:spcPts val="145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Sustainment, depot, ship repair, design-only, and MIB</a:t>
            </a:r>
          </a:p>
          <a:p>
            <a:pPr marL="142875" indent="-142875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Contaminants such as IVECO Mk 110 and Thales ESSM artifacts</a:t>
            </a:r>
          </a:p>
        </p:txBody>
      </p:sp>
      <p:sp>
        <p:nvSpPr>
          <p:cNvPr id="30" name="BoundaryCue"/>
          <p:cNvSpPr txBox="1"/>
          <p:nvPr/>
        </p:nvSpPr>
        <p:spPr>
          <a:xfrm>
            <a:off x="703079" y="5331600"/>
            <a:ext cx="10782362" cy="32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Boundary cue: </a:t>
            </a:r>
            <a:r>
              <a:rPr lang="en-US" sz="11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Total DDG spend to non-GFE new-construction base to supplier-addressable TAM to SAM menu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CRS, Navy DDG-51 and DDG-1000 Destroyer Programs, RL32109; U.S. Navy FY2027 SCN Justification Book, LI 2122; FAR 52.204-10 and 48 C.F.R. Part 45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DividerTitle"/>
          <p:cNvSpPr>
            <a:spLocks noGrp="1"/>
          </p:cNvSpPr>
          <p:nvPr>
            <p:ph type="body" sz="quarter" idx="11"/>
          </p:nvPr>
        </p:nvSpPr>
        <p:spPr>
          <a:xfrm>
            <a:off x="453080" y="4140000"/>
            <a:ext cx="11285842" cy="2162129"/>
          </a:xfrm>
        </p:spPr>
        <p:txBody>
          <a:bodyPr anchor="t"/>
          <a:lstStyle/>
          <a:p>
            <a:pPr>
              <a:lnSpc>
                <a:spcPct val="115000"/>
              </a:lnSpc>
            </a:pPr>
            <a:r>
              <a:rPr lang="en-US" sz="2800" kern="1200" dirty="0"/>
              <a:t>TAM Build</a:t>
            </a:r>
          </a:p>
          <a:p>
            <a:pPr>
              <a:lnSpc>
                <a:spcPct val="115000"/>
              </a:lnSpc>
            </a:pPr>
            <a:r>
              <a:rPr lang="en-US" sz="2000" i="1" kern="1200" dirty="0"/>
              <a:t>Two supplier streams build the market, and a single year carries an outsized share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DDG-51 Supplier TAM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Cost Funnel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Cost Funnel | Basic Construction is the supplier-addressable base after excluding GFE-heavy cost categories</a:t>
            </a:r>
          </a:p>
        </p:txBody>
      </p:sp>
      <p:sp>
        <p:nvSpPr>
          <p:cNvPr id="10" name="ChartTitle"/>
          <p:cNvSpPr txBox="1"/>
          <p:nvPr/>
        </p:nvSpPr>
        <p:spPr>
          <a:xfrm>
            <a:off x="473079" y="1421600"/>
            <a:ext cx="733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FY24 DDG-51 cost categories, both ships</a:t>
            </a:r>
          </a:p>
        </p:txBody>
      </p:sp>
      <p:sp>
        <p:nvSpPr>
          <p:cNvPr id="11" name="DenominatorReference"/>
          <p:cNvSpPr txBox="1"/>
          <p:nvPr/>
        </p:nvSpPr>
        <p:spPr>
          <a:xfrm>
            <a:off x="473079" y="1631600"/>
            <a:ext cx="733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Total Ship Estimate: </a:t>
            </a:r>
            <a:r>
              <a:rPr lang="en-US" sz="14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~$5,492M</a:t>
            </a:r>
            <a:r>
              <a:rPr lang="en-US" sz="9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denominator reference</a:t>
            </a:r>
          </a:p>
        </p:txBody>
      </p:sp>
      <p:cxnSp>
        <p:nvCxnSpPr>
          <p:cNvPr id="12" name="DenominatorRule"/>
          <p:cNvCxnSpPr/>
          <p:nvPr/>
        </p:nvCxnSpPr>
        <p:spPr>
          <a:xfrm>
            <a:off x="473079" y="1881600"/>
            <a:ext cx="7330000" cy="0"/>
          </a:xfrm>
          <a:prstGeom prst="line">
            <a:avLst/>
          </a:prstGeom>
          <a:ln w="6350">
            <a:solidFill>
              <a:srgbClr val="7F7F7F"/>
            </a:solidFill>
          </a:ln>
        </p:spPr>
      </p:cxnSp>
      <p:graphicFrame>
        <p:nvGraphicFramePr>
          <p:cNvPr id="20" name="CostFunnelChart"/>
          <p:cNvGraphicFramePr/>
          <p:nvPr/>
        </p:nvGraphicFramePr>
        <p:xfrm>
          <a:off x="473079" y="2001600"/>
          <a:ext cx="7330000" cy="276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0" name="GranularCaption"/>
          <p:cNvSpPr txBox="1"/>
          <p:nvPr/>
        </p:nvSpPr>
        <p:spPr>
          <a:xfrm>
            <a:off x="473079" y="4931600"/>
            <a:ext cx="7330000" cy="19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Plans $83M | Change Orders $92M | HM&amp;E $101M | Other Cost $88M</a:t>
            </a:r>
          </a:p>
        </p:txBody>
      </p:sp>
      <p:sp>
        <p:nvSpPr>
          <p:cNvPr id="40" name="ScopeBoundaryChip"/>
          <p:cNvSpPr txBox="1"/>
          <p:nvPr/>
        </p:nvSpPr>
        <p:spPr>
          <a:xfrm>
            <a:off x="8173079" y="1651600"/>
            <a:ext cx="3562362" cy="43000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Total ship cost is not supplier TAM.</a:t>
            </a:r>
          </a:p>
        </p:txBody>
      </p:sp>
      <p:sp>
        <p:nvSpPr>
          <p:cNvPr id="41" name="CommentaryRail"/>
          <p:cNvSpPr txBox="1"/>
          <p:nvPr/>
        </p:nvSpPr>
        <p:spPr>
          <a:xfrm>
            <a:off x="8173079" y="2261600"/>
            <a:ext cx="3562362" cy="21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60000" tIns="20000" rIns="20000" bIns="20000"/>
          <a:lstStyle/>
          <a:p>
            <a:pPr marL="142875" indent="-142875">
              <a:lnSpc>
                <a:spcPct val="115000"/>
              </a:lnSpc>
              <a:spcAft>
                <a:spcPts val="135"/>
              </a:spcAft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Basic Construction: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largest cost category and the starting base for the BC supplier stream.</a:t>
            </a:r>
          </a:p>
          <a:p>
            <a:pPr marL="142875" indent="-142875">
              <a:lnSpc>
                <a:spcPct val="115000"/>
              </a:lnSpc>
              <a:spcAft>
                <a:spcPts val="135"/>
              </a:spcAft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GFE-heavy categories: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Electronics and Ordnance are excluded from the non-GFE supplier TAM.</a:t>
            </a:r>
          </a:p>
          <a:p>
            <a:pPr marL="142875" indent="-142875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Next step: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correct the supplier coefficient before applying it to the Basic Construction base.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U.S. Navy FY2027 SCN Justification Book, LI 2122, Exhibit P-5c; CRS, Navy DDG-51 and DDG-1000 Destroyer Programs, RL32109; 48 C.F.R. Part 45 and section 52.245-1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DDG-51 Supplier TAM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Denominator Correction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MYP Redaction | Restoring the redacted multiyear masters corrects the outside-yards artifact to ~33%</a:t>
            </a:r>
          </a:p>
        </p:txBody>
      </p:sp>
      <p:sp>
        <p:nvSpPr>
          <p:cNvPr id="10" name="ExhibitTitle"/>
          <p:cNvSpPr txBox="1"/>
          <p:nvPr/>
        </p:nvSpPr>
        <p:spPr>
          <a:xfrm>
            <a:off x="473079" y="1421600"/>
            <a:ext cx="725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MYP-corrected place-of-performance distribution</a:t>
            </a:r>
          </a:p>
        </p:txBody>
      </p:sp>
      <p:graphicFrame>
        <p:nvGraphicFramePr>
          <p:cNvPr id="20" name="DistributionChart"/>
          <p:cNvGraphicFramePr/>
          <p:nvPr/>
        </p:nvGraphicFramePr>
        <p:xfrm>
          <a:off x="473079" y="1671600"/>
          <a:ext cx="7250000" cy="104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0" name="OutsideYardsComparisonChart"/>
          <p:cNvGraphicFramePr/>
          <p:nvPr/>
        </p:nvGraphicFramePr>
        <p:xfrm>
          <a:off x="473079" y="2931600"/>
          <a:ext cx="7250000" cy="139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0" name="EvidenceBadge"/>
          <p:cNvSpPr txBox="1"/>
          <p:nvPr/>
        </p:nvSpPr>
        <p:spPr>
          <a:xfrm>
            <a:off x="473079" y="4611600"/>
            <a:ext cx="3550000" cy="62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120000" tIns="30000" rIns="120000" bIns="30000"/>
          <a:lstStyle/>
          <a:p>
            <a:pPr algn="ctr">
              <a:lnSpc>
                <a:spcPct val="115000"/>
              </a:lnSpc>
              <a:spcAft>
                <a:spcPts val="55"/>
              </a:spcAft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Reconstructed masters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~$14.58B</a:t>
            </a:r>
          </a:p>
        </p:txBody>
      </p:sp>
      <p:sp>
        <p:nvSpPr>
          <p:cNvPr id="51" name="EvidenceBadge"/>
          <p:cNvSpPr txBox="1"/>
          <p:nvPr/>
        </p:nvSpPr>
        <p:spPr>
          <a:xfrm>
            <a:off x="4173079" y="4611600"/>
            <a:ext cx="3550000" cy="62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120000" tIns="30000" rIns="120000" bIns="30000"/>
          <a:lstStyle/>
          <a:p>
            <a:pPr algn="ctr">
              <a:lnSpc>
                <a:spcPct val="115000"/>
              </a:lnSpc>
              <a:spcAft>
                <a:spcPts val="55"/>
              </a:spcAft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Gated corpus incl. masters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~$21.71B</a:t>
            </a:r>
          </a:p>
        </p:txBody>
      </p:sp>
      <p:sp>
        <p:nvSpPr>
          <p:cNvPr id="60" name="ExplanationRail"/>
          <p:cNvSpPr txBox="1"/>
          <p:nvPr/>
        </p:nvSpPr>
        <p:spPr>
          <a:xfrm>
            <a:off x="8173079" y="1421600"/>
            <a:ext cx="3562362" cy="381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tIns="20000" rIns="30000" bIns="20000"/>
          <a:lstStyle/>
          <a:p>
            <a:pPr>
              <a:lnSpc>
                <a:spcPct val="115000"/>
              </a:lnSpc>
              <a:spcAft>
                <a:spcPts val="15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What Changed</a:t>
            </a:r>
          </a:p>
          <a:p>
            <a:pPr marL="142875" indent="-142875">
              <a:lnSpc>
                <a:spcPct val="115000"/>
              </a:lnSpc>
              <a:spcAft>
                <a:spcPts val="120"/>
              </a:spcAft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Master awards: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FY23-27 BIW and Ingalls MYP masters disclose work locations but not dollar values.</a:t>
            </a:r>
          </a:p>
          <a:p>
            <a:pPr marL="142875" indent="-142875">
              <a:lnSpc>
                <a:spcPct val="115000"/>
              </a:lnSpc>
              <a:spcAft>
                <a:spcPts val="120"/>
              </a:spcAft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Artifact: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omitting large yard-heavy master dollars over-weights disclosed GFE actions.</a:t>
            </a:r>
          </a:p>
          <a:p>
            <a:pPr marL="142875" indent="-142875">
              <a:lnSpc>
                <a:spcPct val="115000"/>
              </a:lnSpc>
              <a:spcAft>
                <a:spcPts val="120"/>
              </a:spcAft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Correction: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restore ~$14.58B of master value before applying the Basic Construction supplier coefficient.</a:t>
            </a:r>
          </a:p>
          <a:p>
            <a:pPr marL="142875" indent="-142875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Carry-forward: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use the corrected ~33% outside-yards view going forward.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DoW contract announcements, Aug. 1, Aug. 11, and Sept. 6, 2023; USNI News, Navy Reveals Contract Costs of Latest 10-Hull Destroyer Deal, Sept. 6, 2023; NAVSEA, Navy Awards DDG 51 FY23-27 Multiyear Procurement Contracts, Aug. 1, 2023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DDG-51 Supplier TAM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Method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TAM Methodology | TAM combines Basic Construction supplier work with AP/LLTM supplier material</a:t>
            </a:r>
          </a:p>
        </p:txBody>
      </p:sp>
      <p:cxnSp>
        <p:nvCxnSpPr>
          <p:cNvPr id="10" name="BCToPortfolio"/>
          <p:cNvCxnSpPr/>
          <p:nvPr/>
        </p:nvCxnSpPr>
        <p:spPr>
          <a:xfrm>
            <a:off x="3418669" y="4031600"/>
            <a:ext cx="2675591" cy="30000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cxnSp>
        <p:nvCxnSpPr>
          <p:cNvPr id="11" name="APToPortfolio"/>
          <p:cNvCxnSpPr/>
          <p:nvPr/>
        </p:nvCxnSpPr>
        <p:spPr>
          <a:xfrm flipH="1">
            <a:off x="6094260" y="4031600"/>
            <a:ext cx="2675590" cy="30000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20" name="HeroEquationBanner"/>
          <p:cNvSpPr txBox="1"/>
          <p:nvPr/>
        </p:nvSpPr>
        <p:spPr>
          <a:xfrm>
            <a:off x="633079" y="1441600"/>
            <a:ext cx="10922362" cy="620000"/>
          </a:xfrm>
          <a:prstGeom prst="rect">
            <a:avLst/>
          </a:prstGeom>
          <a:solidFill>
            <a:srgbClr val="263746"/>
          </a:solidFill>
          <a:ln w="19050">
            <a:solidFill>
              <a:srgbClr val="000000"/>
            </a:solidFill>
          </a:ln>
        </p:spPr>
        <p:txBody>
          <a:bodyPr wrap="square" anchor="ctr" lIns="200000" tIns="70000" rIns="200000" bIns="70000"/>
          <a:lstStyle/>
          <a:p>
            <a:pPr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Supplier TAM is </a:t>
            </a:r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Basic Construction base</a:t>
            </a:r>
            <a:r>
              <a:rPr lang="en-US" sz="12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times </a:t>
            </a:r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MYP-corrected supplier coefficient</a:t>
            </a:r>
            <a:r>
              <a:rPr lang="en-US" sz="12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plus </a:t>
            </a:r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AP/LLTM base</a:t>
            </a:r>
            <a:r>
              <a:rPr lang="en-US" sz="12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times </a:t>
            </a:r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AP supplier coefficient</a:t>
            </a:r>
          </a:p>
        </p:txBody>
      </p:sp>
      <p:sp>
        <p:nvSpPr>
          <p:cNvPr id="30" name="StreamCardCap"/>
          <p:cNvSpPr txBox="1"/>
          <p:nvPr/>
        </p:nvSpPr>
        <p:spPr>
          <a:xfrm>
            <a:off x="893079" y="2411600"/>
            <a:ext cx="5051181" cy="360000"/>
          </a:xfrm>
          <a:prstGeom prst="rect">
            <a:avLst/>
          </a:prstGeom>
          <a:solidFill>
            <a:srgbClr val="3D5972"/>
          </a:solidFill>
          <a:ln w="12700">
            <a:solidFill>
              <a:srgbClr val="000000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BASIC CONSTRUCTION STREAM</a:t>
            </a:r>
          </a:p>
        </p:txBody>
      </p:sp>
      <p:sp>
        <p:nvSpPr>
          <p:cNvPr id="31" name="StreamCardBody"/>
          <p:cNvSpPr txBox="1"/>
          <p:nvPr/>
        </p:nvSpPr>
        <p:spPr>
          <a:xfrm>
            <a:off x="893079" y="2771600"/>
            <a:ext cx="5051181" cy="126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t" lIns="114300" tIns="76200" rIns="114300" bIns="76200"/>
          <a:lstStyle/>
          <a:p>
            <a:pPr>
              <a:lnSpc>
                <a:spcPct val="115000"/>
              </a:lnSpc>
              <a:spcAft>
                <a:spcPts val="80"/>
              </a:spcAft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BC base </a:t>
            </a:r>
            <a:r>
              <a:rPr lang="en-US" sz="14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~$17.47B cumulative</a:t>
            </a:r>
          </a:p>
          <a:p>
            <a:pPr>
              <a:lnSpc>
                <a:spcPct val="115000"/>
              </a:lnSpc>
              <a:spcAft>
                <a:spcPts val="80"/>
              </a:spcAft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Times </a:t>
            </a:r>
            <a:r>
              <a:rPr lang="en-US" sz="14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12.5% supplier coefficient</a:t>
            </a:r>
          </a:p>
          <a:p>
            <a:pPr>
              <a:lnSpc>
                <a:spcPct val="115000"/>
              </a:lnSpc>
              <a:spcAft>
                <a:spcPts val="80"/>
              </a:spcAft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Equals </a:t>
            </a:r>
            <a:r>
              <a:rPr lang="en-US" sz="14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~$365M per year</a:t>
            </a:r>
          </a:p>
          <a:p>
            <a:pPr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(~$2.19B cumulative)</a:t>
            </a:r>
          </a:p>
        </p:txBody>
      </p:sp>
      <p:sp>
        <p:nvSpPr>
          <p:cNvPr id="40" name="StreamCardCap"/>
          <p:cNvSpPr txBox="1"/>
          <p:nvPr/>
        </p:nvSpPr>
        <p:spPr>
          <a:xfrm>
            <a:off x="6244260" y="2411600"/>
            <a:ext cx="5051181" cy="360000"/>
          </a:xfrm>
          <a:prstGeom prst="rect">
            <a:avLst/>
          </a:prstGeom>
          <a:solidFill>
            <a:srgbClr val="6E91B1"/>
          </a:solidFill>
          <a:ln w="12700">
            <a:solidFill>
              <a:srgbClr val="000000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AP/LLTM STREAM</a:t>
            </a:r>
          </a:p>
        </p:txBody>
      </p:sp>
      <p:sp>
        <p:nvSpPr>
          <p:cNvPr id="41" name="StreamCardBody"/>
          <p:cNvSpPr txBox="1"/>
          <p:nvPr/>
        </p:nvSpPr>
        <p:spPr>
          <a:xfrm>
            <a:off x="6244260" y="2771600"/>
            <a:ext cx="5051181" cy="126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t" lIns="114300" tIns="76200" rIns="114300" bIns="76200"/>
          <a:lstStyle/>
          <a:p>
            <a:pPr>
              <a:lnSpc>
                <a:spcPct val="115000"/>
              </a:lnSpc>
              <a:spcAft>
                <a:spcPts val="80"/>
              </a:spcAft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AP/LLTM base after share </a:t>
            </a:r>
            <a:r>
              <a:rPr lang="en-US" sz="14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~$1.47B cumulative</a:t>
            </a:r>
          </a:p>
          <a:p>
            <a:pPr>
              <a:lnSpc>
                <a:spcPct val="115000"/>
              </a:lnSpc>
              <a:spcAft>
                <a:spcPts val="80"/>
              </a:spcAft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Ship-construction share </a:t>
            </a:r>
            <a:r>
              <a:rPr lang="en-US" sz="14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80.0%</a:t>
            </a:r>
          </a:p>
          <a:p>
            <a:pPr>
              <a:lnSpc>
                <a:spcPct val="115000"/>
              </a:lnSpc>
              <a:spcAft>
                <a:spcPts val="80"/>
              </a:spcAft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Times </a:t>
            </a:r>
            <a:r>
              <a:rPr lang="en-US" sz="14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85.0% supplier coefficient</a:t>
            </a:r>
          </a:p>
          <a:p>
            <a:pPr>
              <a:lnSpc>
                <a:spcPct val="115000"/>
              </a:lnSpc>
              <a:spcAft>
                <a:spcPts val="80"/>
              </a:spcAft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Equals </a:t>
            </a:r>
            <a:r>
              <a:rPr lang="en-US" sz="14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~$208M per year</a:t>
            </a:r>
          </a:p>
          <a:p>
            <a:pPr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(~$1.25B cumulative)</a:t>
            </a:r>
          </a:p>
        </p:txBody>
      </p:sp>
      <p:sp>
        <p:nvSpPr>
          <p:cNvPr id="50" name="ConnectorNote"/>
          <p:cNvSpPr txBox="1"/>
          <p:nvPr/>
        </p:nvSpPr>
        <p:spPr>
          <a:xfrm>
            <a:off x="3619260" y="4121600"/>
            <a:ext cx="495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two supplier-addressable streams</a:t>
            </a:r>
          </a:p>
        </p:txBody>
      </p:sp>
      <p:sp>
        <p:nvSpPr>
          <p:cNvPr id="60" name="PortfolioOutputCard"/>
          <p:cNvSpPr txBox="1"/>
          <p:nvPr/>
        </p:nvSpPr>
        <p:spPr>
          <a:xfrm>
            <a:off x="3619260" y="4331600"/>
            <a:ext cx="4950000" cy="900000"/>
          </a:xfrm>
          <a:prstGeom prst="rect">
            <a:avLst/>
          </a:prstGeom>
          <a:solidFill>
            <a:srgbClr val="263746"/>
          </a:solidFill>
          <a:ln w="19050">
            <a:solidFill>
              <a:srgbClr val="000000"/>
            </a:solidFill>
          </a:ln>
        </p:spPr>
        <p:txBody>
          <a:bodyPr wrap="square" anchor="ctr" lIns="160000" tIns="45000" rIns="160000" bIns="45000"/>
          <a:lstStyle/>
          <a:p>
            <a:pPr algn="ctr">
              <a:lnSpc>
                <a:spcPct val="115000"/>
              </a:lnSpc>
              <a:spcAft>
                <a:spcPts val="7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PORTFOLIO SUPPLIER TAM</a:t>
            </a:r>
          </a:p>
          <a:p>
            <a:pPr algn="ctr">
              <a:lnSpc>
                <a:spcPct val="115000"/>
              </a:lnSpc>
              <a:spcAft>
                <a:spcPts val="45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~$573M per year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(~$3.44B FY22-27 cumulative)</a:t>
            </a:r>
          </a:p>
        </p:txBody>
      </p:sp>
      <p:sp>
        <p:nvSpPr>
          <p:cNvPr id="70" name="GuardrailNote"/>
          <p:cNvSpPr txBox="1"/>
          <p:nvPr/>
        </p:nvSpPr>
        <p:spPr>
          <a:xfrm>
            <a:off x="853079" y="5291600"/>
            <a:ext cx="10482362" cy="25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Guardrail: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BC coefficient uses the MYP-corrected non-GFE corpus. It is not the disclosed-only artifact.</a:t>
            </a:r>
          </a:p>
        </p:txBody>
      </p:sp>
      <p:sp>
        <p:nvSpPr>
          <p:cNvPr id="80" name="SizingNote"/>
          <p:cNvSpPr txBox="1"/>
          <p:nvPr/>
        </p:nvSpPr>
        <p:spPr>
          <a:xfrm>
            <a:off x="453079" y="5650000"/>
            <a:ext cx="11282362" cy="19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Nominal $M per year; average annual FY22-27 unless noted. FY22-27 cumulative values shown in parentheses. Excludes SOM and capture.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U.S. Navy FY2022-FY2027 SCN Justification Books, LI 2122; DoW DDG-51 contract announcements, July 2022-May 2026; SAM.gov Acquisition Subaward Reporting Public API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DDG-51 Supplier TAM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TAM Build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Annual TAM Build | The corrected model yields ~$573M per year of supplier TAM</a:t>
            </a:r>
          </a:p>
        </p:txBody>
      </p:sp>
      <p:sp>
        <p:nvSpPr>
          <p:cNvPr id="10" name="ChartTitle"/>
          <p:cNvSpPr txBox="1"/>
          <p:nvPr/>
        </p:nvSpPr>
        <p:spPr>
          <a:xfrm>
            <a:off x="453079" y="1421600"/>
            <a:ext cx="733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Average annual supplier TAM build, FY22-27</a:t>
            </a:r>
          </a:p>
        </p:txBody>
      </p:sp>
      <p:graphicFrame>
        <p:nvGraphicFramePr>
          <p:cNvPr id="20" name="AnnualTAMBuildWaterfall"/>
          <p:cNvGraphicFramePr/>
          <p:nvPr/>
        </p:nvGraphicFramePr>
        <p:xfrm>
          <a:off x="453079" y="1721600"/>
          <a:ext cx="7330000" cy="29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0" name="WaterfallStepLabel"/>
          <p:cNvSpPr txBox="1"/>
          <p:nvPr/>
        </p:nvSpPr>
        <p:spPr>
          <a:xfrm>
            <a:off x="453079" y="4691600"/>
            <a:ext cx="1422000" cy="4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lnSpc>
                <a:spcPct val="115000"/>
              </a:lnSpc>
              <a:spcAft>
                <a:spcPts val="30"/>
              </a:spcAft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BC base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~$2,912M per year</a:t>
            </a:r>
          </a:p>
        </p:txBody>
      </p:sp>
      <p:sp>
        <p:nvSpPr>
          <p:cNvPr id="31" name="WaterfallStepLabel"/>
          <p:cNvSpPr txBox="1"/>
          <p:nvPr/>
        </p:nvSpPr>
        <p:spPr>
          <a:xfrm>
            <a:off x="1930079" y="4691600"/>
            <a:ext cx="1422000" cy="4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lnSpc>
                <a:spcPct val="115000"/>
              </a:lnSpc>
              <a:spcAft>
                <a:spcPts val="30"/>
              </a:spcAft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Less non-supplier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~-$2,546M per year</a:t>
            </a:r>
          </a:p>
        </p:txBody>
      </p:sp>
      <p:sp>
        <p:nvSpPr>
          <p:cNvPr id="32" name="WaterfallStepLabel"/>
          <p:cNvSpPr txBox="1"/>
          <p:nvPr/>
        </p:nvSpPr>
        <p:spPr>
          <a:xfrm>
            <a:off x="3407079" y="4691600"/>
            <a:ext cx="1422000" cy="4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lnSpc>
                <a:spcPct val="115000"/>
              </a:lnSpc>
              <a:spcAft>
                <a:spcPts val="30"/>
              </a:spcAft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BC stream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~$365M per year</a:t>
            </a:r>
          </a:p>
        </p:txBody>
      </p:sp>
      <p:sp>
        <p:nvSpPr>
          <p:cNvPr id="33" name="WaterfallStepLabel"/>
          <p:cNvSpPr txBox="1"/>
          <p:nvPr/>
        </p:nvSpPr>
        <p:spPr>
          <a:xfrm>
            <a:off x="4884079" y="4691600"/>
            <a:ext cx="1422000" cy="4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lnSpc>
                <a:spcPct val="115000"/>
              </a:lnSpc>
              <a:spcAft>
                <a:spcPts val="30"/>
              </a:spcAft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Add AP/LLTM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~$208M per year</a:t>
            </a:r>
          </a:p>
        </p:txBody>
      </p:sp>
      <p:sp>
        <p:nvSpPr>
          <p:cNvPr id="34" name="WaterfallStepLabel"/>
          <p:cNvSpPr txBox="1"/>
          <p:nvPr/>
        </p:nvSpPr>
        <p:spPr>
          <a:xfrm>
            <a:off x="6361079" y="4691600"/>
            <a:ext cx="1422000" cy="4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lnSpc>
                <a:spcPct val="115000"/>
              </a:lnSpc>
              <a:spcAft>
                <a:spcPts val="30"/>
              </a:spcAft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Portfolio TAM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~$573M per year</a:t>
            </a:r>
          </a:p>
        </p:txBody>
      </p:sp>
      <p:sp>
        <p:nvSpPr>
          <p:cNvPr id="60" name="BridgeHeader"/>
          <p:cNvSpPr txBox="1"/>
          <p:nvPr/>
        </p:nvSpPr>
        <p:spPr>
          <a:xfrm>
            <a:off x="8173079" y="1721600"/>
            <a:ext cx="3562362" cy="36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CUMULATIVE BRIDGE, FY22-27</a:t>
            </a:r>
          </a:p>
        </p:txBody>
      </p:sp>
      <p:cxnSp>
        <p:nvCxnSpPr>
          <p:cNvPr id="80" name="BridgeRowRule0"/>
          <p:cNvCxnSpPr/>
          <p:nvPr/>
        </p:nvCxnSpPr>
        <p:spPr>
          <a:xfrm>
            <a:off x="8173079" y="2126600"/>
            <a:ext cx="3562362" cy="0"/>
          </a:xfrm>
          <a:prstGeom prst="line">
            <a:avLst/>
          </a:prstGeom>
          <a:ln w="6350">
            <a:solidFill>
              <a:srgbClr val="7F7F7F"/>
            </a:solidFill>
          </a:ln>
        </p:spPr>
      </p:cxnSp>
      <p:sp>
        <p:nvSpPr>
          <p:cNvPr id="62" name="BridgeRowLabel"/>
          <p:cNvSpPr txBox="1"/>
          <p:nvPr/>
        </p:nvSpPr>
        <p:spPr>
          <a:xfrm>
            <a:off x="8173079" y="2151600"/>
            <a:ext cx="2244288" cy="32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BC base</a:t>
            </a:r>
          </a:p>
        </p:txBody>
      </p:sp>
      <p:sp>
        <p:nvSpPr>
          <p:cNvPr id="63" name="BridgeRowValue"/>
          <p:cNvSpPr txBox="1"/>
          <p:nvPr/>
        </p:nvSpPr>
        <p:spPr>
          <a:xfrm>
            <a:off x="10417367" y="2151600"/>
            <a:ext cx="1318074" cy="32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~$17.47B</a:t>
            </a:r>
          </a:p>
        </p:txBody>
      </p:sp>
      <p:cxnSp>
        <p:nvCxnSpPr>
          <p:cNvPr id="81" name="BridgeRowRule1"/>
          <p:cNvCxnSpPr/>
          <p:nvPr/>
        </p:nvCxnSpPr>
        <p:spPr>
          <a:xfrm>
            <a:off x="8173079" y="2466600"/>
            <a:ext cx="3562362" cy="0"/>
          </a:xfrm>
          <a:prstGeom prst="line">
            <a:avLst/>
          </a:prstGeom>
          <a:ln w="6350">
            <a:solidFill>
              <a:srgbClr val="7F7F7F"/>
            </a:solidFill>
          </a:ln>
        </p:spPr>
      </p:cxnSp>
      <p:sp>
        <p:nvSpPr>
          <p:cNvPr id="64" name="BridgeRowLabel"/>
          <p:cNvSpPr txBox="1"/>
          <p:nvPr/>
        </p:nvSpPr>
        <p:spPr>
          <a:xfrm>
            <a:off x="8173079" y="2491600"/>
            <a:ext cx="2244288" cy="32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Removed non-supplier</a:t>
            </a:r>
          </a:p>
        </p:txBody>
      </p:sp>
      <p:sp>
        <p:nvSpPr>
          <p:cNvPr id="65" name="BridgeRowValue"/>
          <p:cNvSpPr txBox="1"/>
          <p:nvPr/>
        </p:nvSpPr>
        <p:spPr>
          <a:xfrm>
            <a:off x="10417367" y="2491600"/>
            <a:ext cx="1318074" cy="32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~$15.28B</a:t>
            </a:r>
          </a:p>
        </p:txBody>
      </p:sp>
      <p:cxnSp>
        <p:nvCxnSpPr>
          <p:cNvPr id="82" name="BridgeRowRule2"/>
          <p:cNvCxnSpPr/>
          <p:nvPr/>
        </p:nvCxnSpPr>
        <p:spPr>
          <a:xfrm>
            <a:off x="8173079" y="2806600"/>
            <a:ext cx="3562362" cy="0"/>
          </a:xfrm>
          <a:prstGeom prst="line">
            <a:avLst/>
          </a:prstGeom>
          <a:ln w="6350">
            <a:solidFill>
              <a:srgbClr val="7F7F7F"/>
            </a:solidFill>
          </a:ln>
        </p:spPr>
      </p:cxnSp>
      <p:sp>
        <p:nvSpPr>
          <p:cNvPr id="66" name="BridgeRowLabel"/>
          <p:cNvSpPr txBox="1"/>
          <p:nvPr/>
        </p:nvSpPr>
        <p:spPr>
          <a:xfrm>
            <a:off x="8173079" y="2831600"/>
            <a:ext cx="2244288" cy="32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BC stream</a:t>
            </a:r>
          </a:p>
        </p:txBody>
      </p:sp>
      <p:sp>
        <p:nvSpPr>
          <p:cNvPr id="67" name="BridgeRowValue"/>
          <p:cNvSpPr txBox="1"/>
          <p:nvPr/>
        </p:nvSpPr>
        <p:spPr>
          <a:xfrm>
            <a:off x="10417367" y="2831600"/>
            <a:ext cx="1318074" cy="32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~$2.19B</a:t>
            </a:r>
          </a:p>
        </p:txBody>
      </p:sp>
      <p:cxnSp>
        <p:nvCxnSpPr>
          <p:cNvPr id="83" name="BridgeRowRule3"/>
          <p:cNvCxnSpPr/>
          <p:nvPr/>
        </p:nvCxnSpPr>
        <p:spPr>
          <a:xfrm>
            <a:off x="8173079" y="3146600"/>
            <a:ext cx="3562362" cy="0"/>
          </a:xfrm>
          <a:prstGeom prst="line">
            <a:avLst/>
          </a:prstGeom>
          <a:ln w="6350">
            <a:solidFill>
              <a:srgbClr val="7F7F7F"/>
            </a:solidFill>
          </a:ln>
        </p:spPr>
      </p:cxnSp>
      <p:sp>
        <p:nvSpPr>
          <p:cNvPr id="68" name="BridgeRowLabel"/>
          <p:cNvSpPr txBox="1"/>
          <p:nvPr/>
        </p:nvSpPr>
        <p:spPr>
          <a:xfrm>
            <a:off x="8173079" y="3171600"/>
            <a:ext cx="2244288" cy="32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AP/LLTM stream</a:t>
            </a:r>
          </a:p>
        </p:txBody>
      </p:sp>
      <p:sp>
        <p:nvSpPr>
          <p:cNvPr id="69" name="BridgeRowValue"/>
          <p:cNvSpPr txBox="1"/>
          <p:nvPr/>
        </p:nvSpPr>
        <p:spPr>
          <a:xfrm>
            <a:off x="10417367" y="3171600"/>
            <a:ext cx="1318074" cy="32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~$1.25B</a:t>
            </a:r>
          </a:p>
        </p:txBody>
      </p:sp>
      <p:cxnSp>
        <p:nvCxnSpPr>
          <p:cNvPr id="84" name="BridgeRowRule4"/>
          <p:cNvCxnSpPr/>
          <p:nvPr/>
        </p:nvCxnSpPr>
        <p:spPr>
          <a:xfrm>
            <a:off x="8173079" y="3486600"/>
            <a:ext cx="3562362" cy="0"/>
          </a:xfrm>
          <a:prstGeom prst="line">
            <a:avLst/>
          </a:prstGeom>
          <a:ln w="6350">
            <a:solidFill>
              <a:srgbClr val="7F7F7F"/>
            </a:solidFill>
          </a:ln>
        </p:spPr>
      </p:cxnSp>
      <p:sp>
        <p:nvSpPr>
          <p:cNvPr id="70" name="BridgeRowLabel"/>
          <p:cNvSpPr txBox="1"/>
          <p:nvPr/>
        </p:nvSpPr>
        <p:spPr>
          <a:xfrm>
            <a:off x="8173079" y="3511600"/>
            <a:ext cx="2244288" cy="32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Portfolio TAM</a:t>
            </a:r>
          </a:p>
        </p:txBody>
      </p:sp>
      <p:sp>
        <p:nvSpPr>
          <p:cNvPr id="71" name="BridgeRowValue"/>
          <p:cNvSpPr txBox="1"/>
          <p:nvPr/>
        </p:nvSpPr>
        <p:spPr>
          <a:xfrm>
            <a:off x="10417367" y="3511600"/>
            <a:ext cx="1318074" cy="32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r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~$3.44B</a:t>
            </a:r>
          </a:p>
        </p:txBody>
      </p:sp>
      <p:sp>
        <p:nvSpPr>
          <p:cNvPr id="100" name="CoefficientChip"/>
          <p:cNvSpPr txBox="1"/>
          <p:nvPr/>
        </p:nvSpPr>
        <p:spPr>
          <a:xfrm>
            <a:off x="8173079" y="3961600"/>
            <a:ext cx="1736181" cy="43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>
              <a:lnSpc>
                <a:spcPct val="115000"/>
              </a:lnSpc>
              <a:spcAft>
                <a:spcPts val="35"/>
              </a:spcAft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BC coefficient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12.5%</a:t>
            </a:r>
          </a:p>
        </p:txBody>
      </p:sp>
      <p:sp>
        <p:nvSpPr>
          <p:cNvPr id="101" name="CoefficientChip"/>
          <p:cNvSpPr txBox="1"/>
          <p:nvPr/>
        </p:nvSpPr>
        <p:spPr>
          <a:xfrm>
            <a:off x="9999260" y="3961600"/>
            <a:ext cx="1736181" cy="43000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>
              <a:lnSpc>
                <a:spcPct val="115000"/>
              </a:lnSpc>
              <a:spcAft>
                <a:spcPts val="35"/>
              </a:spcAft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AP coefficient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85.0%</a:t>
            </a:r>
          </a:p>
        </p:txBody>
      </p:sp>
      <p:sp>
        <p:nvSpPr>
          <p:cNvPr id="120" name="SizingNote"/>
          <p:cNvSpPr txBox="1"/>
          <p:nvPr/>
        </p:nvSpPr>
        <p:spPr>
          <a:xfrm>
            <a:off x="453079" y="5650000"/>
            <a:ext cx="11282362" cy="19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Nominal $M per year; average annual FY22-27 unless noted. FY22-27 cumulative values shown in parentheses. Excludes SOM and capture.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U.S. Navy FY2022-FY2027 SCN Justification Books, LI 2122; DoW DDG-51 contract announcements, July 2022-May 2026; SAM.gov Acquisition Subaward Reporting Public API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DDG-51 Supplier TAM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Timing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TAM Timing | Annual supplier TAM is lumpy, with the FY26 spike driven by AP/LLTM</a:t>
            </a:r>
          </a:p>
        </p:txBody>
      </p:sp>
      <p:sp>
        <p:nvSpPr>
          <p:cNvPr id="10" name="ChartTitle"/>
          <p:cNvSpPr txBox="1"/>
          <p:nvPr/>
        </p:nvSpPr>
        <p:spPr>
          <a:xfrm>
            <a:off x="453079" y="1421600"/>
            <a:ext cx="11282362" cy="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Supplier TAM by fiscal year and stream</a:t>
            </a:r>
          </a:p>
        </p:txBody>
      </p:sp>
      <p:sp>
        <p:nvSpPr>
          <p:cNvPr id="20" name="NoFillKPICallout"/>
          <p:cNvSpPr txBox="1"/>
          <p:nvPr/>
        </p:nvSpPr>
        <p:spPr>
          <a:xfrm>
            <a:off x="5895441" y="1621600"/>
            <a:ext cx="2790000" cy="5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spcAft>
                <a:spcPts val="35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Average annual convention</a:t>
            </a:r>
          </a:p>
          <a:p>
            <a:pPr>
              <a:lnSpc>
                <a:spcPct val="115000"/>
              </a:lnSpc>
              <a:spcAft>
                <a:spcPts val="3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~$573M per year</a:t>
            </a:r>
          </a:p>
          <a:p>
            <a:pPr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useful for market sizing, not a smooth run-rate</a:t>
            </a:r>
          </a:p>
        </p:txBody>
      </p:sp>
      <p:sp>
        <p:nvSpPr>
          <p:cNvPr id="21" name="NoFillKPICallout"/>
          <p:cNvSpPr txBox="1"/>
          <p:nvPr/>
        </p:nvSpPr>
        <p:spPr>
          <a:xfrm>
            <a:off x="8945441" y="1621600"/>
            <a:ext cx="2790000" cy="5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spcAft>
                <a:spcPts val="35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FY26 is not the run-rate</a:t>
            </a:r>
          </a:p>
          <a:p>
            <a:pPr>
              <a:lnSpc>
                <a:spcPct val="115000"/>
              </a:lnSpc>
              <a:spcAft>
                <a:spcPts val="3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~$1.23B</a:t>
            </a:r>
          </a:p>
          <a:p>
            <a:pPr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driven by AP/LLTM</a:t>
            </a:r>
          </a:p>
        </p:txBody>
      </p:sp>
      <p:graphicFrame>
        <p:nvGraphicFramePr>
          <p:cNvPr id="30" name="TAMTimingStackedColumn"/>
          <p:cNvGraphicFramePr/>
          <p:nvPr/>
        </p:nvGraphicFramePr>
        <p:xfrm>
          <a:off x="453079" y="2171600"/>
          <a:ext cx="11282362" cy="321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0" name="FY26DirectLabel"/>
          <p:cNvSpPr txBox="1"/>
          <p:nvPr/>
        </p:nvSpPr>
        <p:spPr>
          <a:xfrm>
            <a:off x="8407144" y="2401600"/>
            <a:ext cx="1360000" cy="52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spcAft>
                <a:spcPts val="25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FY26 peak</a:t>
            </a:r>
          </a:p>
          <a:p>
            <a:pPr algn="ctr">
              <a:lnSpc>
                <a:spcPct val="115000"/>
              </a:lnSpc>
              <a:spcAft>
                <a:spcPts val="2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~$1.23B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mostly AP/LLTM</a:t>
            </a:r>
          </a:p>
        </p:txBody>
      </p:sp>
      <p:sp>
        <p:nvSpPr>
          <p:cNvPr id="50" name="SizingNote"/>
          <p:cNvSpPr txBox="1"/>
          <p:nvPr/>
        </p:nvSpPr>
        <p:spPr>
          <a:xfrm>
            <a:off x="453079" y="5650000"/>
            <a:ext cx="11282362" cy="19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Nominal $M per year; average annual FY22-27 unless noted. FY22-27 cumulative values shown in parentheses. Excludes SOM and capture.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U.S. Navy FY2022-FY2027 SCN Justification Books, LI 2122; DoW DDG-51 contract announcements, July 2022-May 2026; SAM.gov Acquisition Subaward Reporting Public API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DividerTitle"/>
          <p:cNvSpPr>
            <a:spLocks noGrp="1"/>
          </p:cNvSpPr>
          <p:nvPr>
            <p:ph type="body" sz="quarter" idx="11"/>
          </p:nvPr>
        </p:nvSpPr>
        <p:spPr>
          <a:xfrm>
            <a:off x="453080" y="4140000"/>
            <a:ext cx="11285842" cy="2162129"/>
          </a:xfrm>
        </p:spPr>
        <p:txBody>
          <a:bodyPr anchor="t"/>
          <a:lstStyle/>
          <a:p>
            <a:pPr>
              <a:lnSpc>
                <a:spcPct val="115000"/>
              </a:lnSpc>
            </a:pPr>
            <a:r>
              <a:rPr lang="en-US" sz="2800" kern="1200" dirty="0"/>
              <a:t>SAM and Work Types</a:t>
            </a:r>
          </a:p>
          <a:p>
            <a:pPr>
              <a:lnSpc>
                <a:spcPct val="115000"/>
              </a:lnSpc>
            </a:pPr>
            <a:r>
              <a:rPr lang="en-US" sz="2000" i="1" kern="1200" dirty="0"/>
              <a:t>The serviceable market is a menu of work types, not a single capture number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DDG-51 Supplier TAM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SAM Taxonomy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SAM Taxonomy | SAM is a work-type bucket menu, not a capture forecast</a:t>
            </a:r>
          </a:p>
        </p:txBody>
      </p:sp>
      <p:sp>
        <p:nvSpPr>
          <p:cNvPr id="10" name="PortfolioTAMBanner"/>
          <p:cNvSpPr txBox="1"/>
          <p:nvPr/>
        </p:nvSpPr>
        <p:spPr>
          <a:xfrm>
            <a:off x="633079" y="1411600"/>
            <a:ext cx="10922362" cy="730000"/>
          </a:xfrm>
          <a:prstGeom prst="rect">
            <a:avLst/>
          </a:prstGeom>
          <a:solidFill>
            <a:srgbClr val="263746"/>
          </a:solidFill>
          <a:ln w="19050">
            <a:solidFill>
              <a:srgbClr val="000000"/>
            </a:solidFill>
          </a:ln>
        </p:spPr>
        <p:txBody>
          <a:bodyPr wrap="square" anchor="ctr" lIns="120000" tIns="5000" rIns="120000" bIns="5000"/>
          <a:lstStyle/>
          <a:p>
            <a:pPr algn="ctr">
              <a:lnSpc>
                <a:spcPct val="115000"/>
              </a:lnSpc>
              <a:spcAft>
                <a:spcPts val="4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PORTFOLIO TAM</a:t>
            </a:r>
          </a:p>
          <a:p>
            <a:pPr algn="ctr">
              <a:lnSpc>
                <a:spcPct val="115000"/>
              </a:lnSpc>
              <a:spcAft>
                <a:spcPts val="35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~$573M per year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(~$3.44B FY22-27 cumulative)</a:t>
            </a:r>
          </a:p>
        </p:txBody>
      </p:sp>
      <p:sp>
        <p:nvSpPr>
          <p:cNvPr id="20" name="MainSAMNote"/>
          <p:cNvSpPr txBox="1"/>
          <p:nvPr/>
        </p:nvSpPr>
        <p:spPr>
          <a:xfrm>
            <a:off x="1103079" y="2231600"/>
            <a:ext cx="9982362" cy="285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SAM selects from named work-type buckets inside TAM.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It does not apply win probability, capture probability, or SOM.</a:t>
            </a:r>
          </a:p>
        </p:txBody>
      </p:sp>
      <p:sp>
        <p:nvSpPr>
          <p:cNvPr id="30" name="GroupLabel"/>
          <p:cNvSpPr txBox="1"/>
          <p:nvPr/>
        </p:nvSpPr>
        <p:spPr>
          <a:xfrm>
            <a:off x="633079" y="2591600"/>
            <a:ext cx="7242362" cy="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900" b="1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Named work-type buckets included in scenarios</a:t>
            </a:r>
          </a:p>
        </p:txBody>
      </p:sp>
      <p:sp>
        <p:nvSpPr>
          <p:cNvPr id="31" name="GroupLabel"/>
          <p:cNvSpPr txBox="1"/>
          <p:nvPr/>
        </p:nvSpPr>
        <p:spPr>
          <a:xfrm>
            <a:off x="8195441" y="2591600"/>
            <a:ext cx="336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900" b="1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Residual shown, not hidden</a:t>
            </a:r>
          </a:p>
        </p:txBody>
      </p:sp>
      <p:sp>
        <p:nvSpPr>
          <p:cNvPr id="40" name="NamedBucketChip"/>
          <p:cNvSpPr txBox="1"/>
          <p:nvPr/>
        </p:nvSpPr>
        <p:spPr>
          <a:xfrm>
            <a:off x="633079" y="2801600"/>
            <a:ext cx="3561181" cy="42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t" lIns="114300" tIns="76200" rIns="114300" bIns="76200"/>
          <a:lstStyle/>
          <a:p>
            <a:pPr>
              <a:lnSpc>
                <a:spcPct val="115000"/>
              </a:lnSpc>
              <a:spcAft>
                <a:spcPts val="40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Structural fabrication and pre-outfit</a:t>
            </a:r>
          </a:p>
          <a:p>
            <a:pPr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Hull sections, deckhouse, modules</a:t>
            </a:r>
          </a:p>
        </p:txBody>
      </p:sp>
      <p:sp>
        <p:nvSpPr>
          <p:cNvPr id="41" name="NamedBucketChip"/>
          <p:cNvSpPr txBox="1"/>
          <p:nvPr/>
        </p:nvSpPr>
        <p:spPr>
          <a:xfrm>
            <a:off x="4314260" y="2801600"/>
            <a:ext cx="3561181" cy="42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t" lIns="114300" tIns="76200" rIns="114300" bIns="76200"/>
          <a:lstStyle/>
          <a:p>
            <a:pPr>
              <a:lnSpc>
                <a:spcPct val="115000"/>
              </a:lnSpc>
              <a:spcAft>
                <a:spcPts val="40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Machining</a:t>
            </a:r>
          </a:p>
          <a:p>
            <a:pPr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Machine shops, gears, shafts, bearings</a:t>
            </a:r>
          </a:p>
        </p:txBody>
      </p:sp>
      <p:sp>
        <p:nvSpPr>
          <p:cNvPr id="42" name="NamedBucketChip"/>
          <p:cNvSpPr txBox="1"/>
          <p:nvPr/>
        </p:nvSpPr>
        <p:spPr>
          <a:xfrm>
            <a:off x="633079" y="3311600"/>
            <a:ext cx="3561181" cy="42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t" lIns="114300" tIns="76200" rIns="114300" bIns="76200"/>
          <a:lstStyle/>
          <a:p>
            <a:pPr>
              <a:lnSpc>
                <a:spcPct val="115000"/>
              </a:lnSpc>
              <a:spcAft>
                <a:spcPts val="40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Castings and forgings</a:t>
            </a:r>
          </a:p>
          <a:p>
            <a:pPr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Forging, foundries, cast components</a:t>
            </a:r>
          </a:p>
        </p:txBody>
      </p:sp>
      <p:sp>
        <p:nvSpPr>
          <p:cNvPr id="43" name="NamedBucketChip"/>
          <p:cNvSpPr txBox="1"/>
          <p:nvPr/>
        </p:nvSpPr>
        <p:spPr>
          <a:xfrm>
            <a:off x="4314260" y="3311600"/>
            <a:ext cx="3561181" cy="42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t" lIns="114300" tIns="76200" rIns="114300" bIns="76200"/>
          <a:lstStyle/>
          <a:p>
            <a:pPr>
              <a:lnSpc>
                <a:spcPct val="115000"/>
              </a:lnSpc>
              <a:spcAft>
                <a:spcPts val="40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Piping, valves, and pumps</a:t>
            </a:r>
          </a:p>
          <a:p>
            <a:pPr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Valves, pumps, manifolds, fittings</a:t>
            </a:r>
          </a:p>
        </p:txBody>
      </p:sp>
      <p:sp>
        <p:nvSpPr>
          <p:cNvPr id="44" name="NamedBucketChip"/>
          <p:cNvSpPr txBox="1"/>
          <p:nvPr/>
        </p:nvSpPr>
        <p:spPr>
          <a:xfrm>
            <a:off x="633079" y="3821600"/>
            <a:ext cx="3561181" cy="42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t" lIns="114300" tIns="76200" rIns="114300" bIns="76200"/>
          <a:lstStyle/>
          <a:p>
            <a:pPr>
              <a:lnSpc>
                <a:spcPct val="115000"/>
              </a:lnSpc>
              <a:spcAft>
                <a:spcPts val="40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Electrical and power</a:t>
            </a:r>
          </a:p>
          <a:p>
            <a:pPr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Switchgear, cable, distribution, motors</a:t>
            </a:r>
          </a:p>
        </p:txBody>
      </p:sp>
      <p:sp>
        <p:nvSpPr>
          <p:cNvPr id="45" name="NamedBucketChip"/>
          <p:cNvSpPr txBox="1"/>
          <p:nvPr/>
        </p:nvSpPr>
        <p:spPr>
          <a:xfrm>
            <a:off x="4314260" y="3821600"/>
            <a:ext cx="3561181" cy="42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t" lIns="114300" tIns="76200" rIns="114300" bIns="76200"/>
          <a:lstStyle/>
          <a:p>
            <a:pPr>
              <a:lnSpc>
                <a:spcPct val="115000"/>
              </a:lnSpc>
              <a:spcAft>
                <a:spcPts val="40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HVAC and ventilation</a:t>
            </a:r>
          </a:p>
          <a:p>
            <a:pPr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Chilled water, air handling, ductwork</a:t>
            </a:r>
          </a:p>
        </p:txBody>
      </p:sp>
      <p:sp>
        <p:nvSpPr>
          <p:cNvPr id="46" name="NamedBucketChip"/>
          <p:cNvSpPr txBox="1"/>
          <p:nvPr/>
        </p:nvSpPr>
        <p:spPr>
          <a:xfrm>
            <a:off x="633079" y="4331600"/>
            <a:ext cx="3561181" cy="42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t" lIns="114300" tIns="76200" rIns="114300" bIns="76200"/>
          <a:lstStyle/>
          <a:p>
            <a:pPr>
              <a:lnSpc>
                <a:spcPct val="115000"/>
              </a:lnSpc>
              <a:spcAft>
                <a:spcPts val="40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Coatings and insulation</a:t>
            </a:r>
          </a:p>
          <a:p>
            <a:pPr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Paint, deck covering, non-skid</a:t>
            </a:r>
          </a:p>
        </p:txBody>
      </p:sp>
      <p:sp>
        <p:nvSpPr>
          <p:cNvPr id="60" name="ResidualChip"/>
          <p:cNvSpPr txBox="1"/>
          <p:nvPr/>
        </p:nvSpPr>
        <p:spPr>
          <a:xfrm>
            <a:off x="8195441" y="2801600"/>
            <a:ext cx="3360000" cy="980000"/>
          </a:xfrm>
          <a:prstGeom prst="rect">
            <a:avLst/>
          </a:prstGeom>
          <a:solidFill>
            <a:srgbClr val="BFBFBF"/>
          </a:solidFill>
          <a:ln w="12700">
            <a:solidFill>
              <a:srgbClr val="000000"/>
            </a:solidFill>
          </a:ln>
        </p:spPr>
        <p:txBody>
          <a:bodyPr wrap="square" anchor="ctr" lIns="200000" tIns="70000" rIns="200000" bIns="70000"/>
          <a:lstStyle/>
          <a:p>
            <a:pPr algn="ctr">
              <a:lnSpc>
                <a:spcPct val="115000"/>
              </a:lnSpc>
              <a:spcAft>
                <a:spcPts val="55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UNBUCKETED AND AMBIGUOUS</a:t>
            </a:r>
          </a:p>
          <a:p>
            <a:pPr algn="ctr">
              <a:lnSpc>
                <a:spcPct val="115000"/>
              </a:lnSpc>
              <a:spcAft>
                <a:spcPts val="45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~$246M per year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42.9% of TAM; ~$1.47B cumulative</a:t>
            </a:r>
          </a:p>
        </p:txBody>
      </p:sp>
      <p:sp>
        <p:nvSpPr>
          <p:cNvPr id="61" name="ResidualNote"/>
          <p:cNvSpPr txBox="1"/>
          <p:nvPr/>
        </p:nvSpPr>
        <p:spPr>
          <a:xfrm>
            <a:off x="8195441" y="3921600"/>
            <a:ext cx="3360000" cy="8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tIns="20000" rIns="20000" bIns="20000"/>
          <a:lstStyle/>
          <a:p>
            <a:pPr marL="142875" indent="-142875">
              <a:lnSpc>
                <a:spcPct val="115000"/>
              </a:lnSpc>
              <a:spcAft>
                <a:spcPts val="110"/>
              </a:spcAft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Unbucketed and ambiguous remains explicit.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It is real evidence ambiguity, not zero market.</a:t>
            </a:r>
          </a:p>
          <a:p>
            <a:pPr marL="142875" indent="-142875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Boundary: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parent-unknown, GFE-adjacent specialty, or no clean description cue.</a:t>
            </a:r>
          </a:p>
        </p:txBody>
      </p:sp>
      <p:sp>
        <p:nvSpPr>
          <p:cNvPr id="80" name="ScenarioCueTitle"/>
          <p:cNvSpPr txBox="1"/>
          <p:nvPr/>
        </p:nvSpPr>
        <p:spPr>
          <a:xfrm>
            <a:off x="633079" y="4780000"/>
            <a:ext cx="10922362" cy="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900" b="1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Scenario membership cue: overlapping definitions, not additive</a:t>
            </a:r>
          </a:p>
        </p:txBody>
      </p:sp>
      <p:sp>
        <p:nvSpPr>
          <p:cNvPr id="81" name="ScenarioMembershipCell"/>
          <p:cNvSpPr txBox="1"/>
          <p:nvPr/>
        </p:nvSpPr>
        <p:spPr>
          <a:xfrm>
            <a:off x="633079" y="4970000"/>
            <a:ext cx="2112472" cy="61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60000" tIns="45720" rIns="60000" bIns="45720"/>
          <a:lstStyle/>
          <a:p>
            <a:pPr algn="ctr">
              <a:lnSpc>
                <a:spcPct val="115000"/>
              </a:lnSpc>
              <a:spcAft>
                <a:spcPts val="45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Metal components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structural, machining, castings</a:t>
            </a:r>
          </a:p>
        </p:txBody>
      </p:sp>
      <p:sp>
        <p:nvSpPr>
          <p:cNvPr id="82" name="ScenarioMembershipCell"/>
          <p:cNvSpPr txBox="1"/>
          <p:nvPr/>
        </p:nvSpPr>
        <p:spPr>
          <a:xfrm>
            <a:off x="2835551" y="4970000"/>
            <a:ext cx="2112472" cy="61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60000" tIns="45720" rIns="60000" bIns="45720"/>
          <a:lstStyle/>
          <a:p>
            <a:pPr algn="ctr">
              <a:lnSpc>
                <a:spcPct val="115000"/>
              </a:lnSpc>
              <a:spcAft>
                <a:spcPts val="45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HM&amp;E components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machining, piping, HVAC</a:t>
            </a:r>
          </a:p>
        </p:txBody>
      </p:sp>
      <p:sp>
        <p:nvSpPr>
          <p:cNvPr id="83" name="ScenarioMembershipCell"/>
          <p:cNvSpPr txBox="1"/>
          <p:nvPr/>
        </p:nvSpPr>
        <p:spPr>
          <a:xfrm>
            <a:off x="5038023" y="4970000"/>
            <a:ext cx="2112472" cy="61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60000" tIns="45720" rIns="60000" bIns="45720"/>
          <a:lstStyle/>
          <a:p>
            <a:pPr algn="ctr">
              <a:lnSpc>
                <a:spcPct val="115000"/>
              </a:lnSpc>
              <a:spcAft>
                <a:spcPts val="45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Electrical and power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electrical only</a:t>
            </a:r>
          </a:p>
        </p:txBody>
      </p:sp>
      <p:sp>
        <p:nvSpPr>
          <p:cNvPr id="84" name="ScenarioMembershipCell"/>
          <p:cNvSpPr txBox="1"/>
          <p:nvPr/>
        </p:nvSpPr>
        <p:spPr>
          <a:xfrm>
            <a:off x="7240495" y="4970000"/>
            <a:ext cx="2112472" cy="61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60000" tIns="45720" rIns="60000" bIns="45720"/>
          <a:lstStyle/>
          <a:p>
            <a:pPr algn="ctr">
              <a:lnSpc>
                <a:spcPct val="115000"/>
              </a:lnSpc>
              <a:spcAft>
                <a:spcPts val="45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Modular assemblies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structural, coatings</a:t>
            </a:r>
          </a:p>
        </p:txBody>
      </p:sp>
      <p:sp>
        <p:nvSpPr>
          <p:cNvPr id="85" name="ScenarioMembershipCell"/>
          <p:cNvSpPr txBox="1"/>
          <p:nvPr/>
        </p:nvSpPr>
        <p:spPr>
          <a:xfrm>
            <a:off x="9442967" y="4970000"/>
            <a:ext cx="2112472" cy="61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60000" tIns="45720" rIns="60000" bIns="45720"/>
          <a:lstStyle/>
          <a:p>
            <a:pPr algn="ctr">
              <a:lnSpc>
                <a:spcPct val="115000"/>
              </a:lnSpc>
              <a:spcAft>
                <a:spcPts val="45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Broad component manufacturing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all seven named buckets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SAM.gov Acquisition Subaward Reporting Public API; FAR 52.204-10; SAM.gov Subcontract Reports Help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DDG-51 Supplier TAM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Work-Type Allocation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Work-Type Allocation | Residual ambiguity remains material, while electrical and structural work are the largest named buckets</a:t>
            </a:r>
          </a:p>
        </p:txBody>
      </p:sp>
      <p:sp>
        <p:nvSpPr>
          <p:cNvPr id="10" name="ChartTitle"/>
          <p:cNvSpPr txBox="1"/>
          <p:nvPr/>
        </p:nvSpPr>
        <p:spPr>
          <a:xfrm>
            <a:off x="513079" y="1426600"/>
            <a:ext cx="761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Portfolio TAM allocation by work type</a:t>
            </a:r>
          </a:p>
        </p:txBody>
      </p:sp>
      <p:graphicFrame>
        <p:nvGraphicFramePr>
          <p:cNvPr id="20" name="WorkTypeAllocationChart"/>
          <p:cNvGraphicFramePr/>
          <p:nvPr/>
        </p:nvGraphicFramePr>
        <p:xfrm>
          <a:off x="513079" y="1656600"/>
          <a:ext cx="7610000" cy="376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0" name="InterpretationRail"/>
          <p:cNvSpPr txBox="1"/>
          <p:nvPr/>
        </p:nvSpPr>
        <p:spPr>
          <a:xfrm>
            <a:off x="8503079" y="1916600"/>
            <a:ext cx="3162362" cy="26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tIns="30000" rIns="40000" bIns="30000"/>
          <a:lstStyle/>
          <a:p>
            <a:pPr>
              <a:lnSpc>
                <a:spcPct val="115000"/>
              </a:lnSpc>
              <a:spcAft>
                <a:spcPts val="150"/>
              </a:spcAft>
              <a:buNone/>
            </a:pPr>
            <a:r>
              <a:rPr lang="en-US" sz="900" b="1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How to read the allocation</a:t>
            </a:r>
          </a:p>
          <a:p>
            <a:pPr marL="142875" indent="-142875">
              <a:lnSpc>
                <a:spcPct val="115000"/>
              </a:lnSpc>
              <a:spcAft>
                <a:spcPts val="140"/>
              </a:spcAft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Residual ambiguity: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largest line item at ~$246M per year and 42.9% of TAM.</a:t>
            </a:r>
          </a:p>
          <a:p>
            <a:pPr marL="142875" indent="-142875">
              <a:lnSpc>
                <a:spcPct val="115000"/>
              </a:lnSpc>
              <a:spcAft>
                <a:spcPts val="140"/>
              </a:spcAft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Largest named lanes: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electrical and power and structural fabrication are the biggest targetable buckets.</a:t>
            </a:r>
          </a:p>
          <a:p>
            <a:pPr marL="142875" indent="-142875">
              <a:lnSpc>
                <a:spcPct val="115000"/>
              </a:lnSpc>
              <a:spcAft>
                <a:spcPts val="140"/>
              </a:spcAft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Core metal lane: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machining adds a third material named bucket behind electrical and structural.</a:t>
            </a:r>
          </a:p>
          <a:p>
            <a:pPr marL="142875" indent="-142875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Read: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residual is evidence ambiguity, not a target wedge or zero market.</a:t>
            </a:r>
          </a:p>
        </p:txBody>
      </p:sp>
      <p:sp>
        <p:nvSpPr>
          <p:cNvPr id="40" name="SizingNote"/>
          <p:cNvSpPr txBox="1"/>
          <p:nvPr/>
        </p:nvSpPr>
        <p:spPr>
          <a:xfrm>
            <a:off x="453079" y="5600000"/>
            <a:ext cx="11282362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Nominal $M per year; average annual FY22-27 unless noted. FY22-27 cumulative values shown in parentheses. Excludes SOM and capture.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SAM.gov Acquisition Subaward Reporting Public API; FAR 52.204-10; U.S. Navy FY2022-FY2027 SCN Justification Books, LI 2122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DDG-51 Supplier TAM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SAM Scenarios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SAM Scenarios | Broad component manufacturing represents ~$327M per year of serviceable market</a:t>
            </a:r>
          </a:p>
        </p:txBody>
      </p:sp>
      <p:sp>
        <p:nvSpPr>
          <p:cNvPr id="20" name="ChartTitle"/>
          <p:cNvSpPr txBox="1"/>
          <p:nvPr/>
        </p:nvSpPr>
        <p:spPr>
          <a:xfrm>
            <a:off x="453079" y="1371600"/>
            <a:ext cx="6995064" cy="1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SAM scenarios, average annual FY22-27</a:t>
            </a:r>
          </a:p>
        </p:txBody>
      </p:sp>
      <p:graphicFrame>
        <p:nvGraphicFramePr>
          <p:cNvPr id="21" name="SAMScenarioChart"/>
          <p:cNvGraphicFramePr/>
          <p:nvPr/>
        </p:nvGraphicFramePr>
        <p:xfrm>
          <a:off x="453079" y="1601600"/>
          <a:ext cx="6995064" cy="3818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2" name="ScenarioInclusionMatrix"/>
          <p:cNvGraphicFramePr>
            <a:graphicFrameLocks noGrp="1"/>
          </p:cNvGraphicFramePr>
          <p:nvPr/>
        </p:nvGraphicFramePr>
        <p:xfrm>
          <a:off x="7539583" y="1601600"/>
          <a:ext cx="4195858" cy="2194560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1698323"/>
                <a:gridCol w="499506"/>
                <a:gridCol w="499506"/>
                <a:gridCol w="499506"/>
                <a:gridCol w="499506"/>
                <a:gridCol w="499511"/>
              </a:tblGrid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Bucket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Metal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HM&amp;E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Elec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Modular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Broad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Structural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Machining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Castings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Piping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Electrical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HVAC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Coatings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3" name="SizingNote"/>
          <p:cNvSpPr txBox="1"/>
          <p:nvPr/>
        </p:nvSpPr>
        <p:spPr>
          <a:xfrm>
            <a:off x="453079" y="5500000"/>
            <a:ext cx="11282362" cy="37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Nominal $M per year; average annual FY22-27 unless noted. FY22-27 cumulative values shown in parentheses. Excludes SOM and capture.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SAM.gov Acquisition Subaward Reporting Public API; (2) FAR 52.204-10; (3) U.S. Navy FY2022-FY2027 SCN Justification Books, LI 2122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DDG-51 Supplier TAM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Supplier Landscape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Supplier Landscape | Visible supplier flow is concentrated among specialized defense manufacturers</a:t>
            </a:r>
          </a:p>
        </p:txBody>
      </p:sp>
      <p:sp>
        <p:nvSpPr>
          <p:cNvPr id="20" name="ChartTitle"/>
          <p:cNvSpPr txBox="1"/>
          <p:nvPr/>
        </p:nvSpPr>
        <p:spPr>
          <a:xfrm>
            <a:off x="453079" y="1371600"/>
            <a:ext cx="7672006" cy="1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Top visible first-tier suppliers by lifetime flow, $M</a:t>
            </a:r>
          </a:p>
        </p:txBody>
      </p:sp>
      <p:graphicFrame>
        <p:nvGraphicFramePr>
          <p:cNvPr id="21" name="SupplierLandscapeChart"/>
          <p:cNvGraphicFramePr/>
          <p:nvPr/>
        </p:nvGraphicFramePr>
        <p:xfrm>
          <a:off x="453079" y="1601600"/>
          <a:ext cx="7672006" cy="3818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2" name="CaveatRail"/>
          <p:cNvSpPr txBox="1"/>
          <p:nvPr/>
        </p:nvSpPr>
        <p:spPr>
          <a:xfrm>
            <a:off x="8216525" y="1601600"/>
            <a:ext cx="3518916" cy="16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200000" tIns="70000" rIns="200000" bIns="70000"/>
          <a:lstStyle/>
          <a:p>
            <a:pPr>
              <a:lnSpc>
                <a:spcPct val="115000"/>
              </a:lnSpc>
              <a:spcAft>
                <a:spcPts val="170"/>
              </a:spcAft>
              <a:buNone/>
            </a:pPr>
            <a:r>
              <a:rPr lang="en-US" sz="900" b="1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Caveats</a:t>
            </a:r>
          </a:p>
          <a:p>
            <a:pPr marL="142875" indent="-142875">
              <a:lnSpc>
                <a:spcPct val="115000"/>
              </a:lnSpc>
              <a:spcAft>
                <a:spcPts val="120"/>
              </a:spcAft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Visible only: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first-tier FFATA flow, not the full true market.</a:t>
            </a:r>
          </a:p>
          <a:p>
            <a:pPr marL="142875" indent="-142875">
              <a:lnSpc>
                <a:spcPct val="115000"/>
              </a:lnSpc>
              <a:spcAft>
                <a:spcPts val="120"/>
              </a:spcAft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Mixed roles: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some parent names blend product, service, and prime-related activity.</a:t>
            </a:r>
          </a:p>
          <a:p>
            <a:pPr marL="142875" indent="-142875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Aggregate parents: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clean duplicate name variants; avoid bucket-split rows.</a:t>
            </a:r>
          </a:p>
        </p:txBody>
      </p:sp>
      <p:sp>
        <p:nvSpPr>
          <p:cNvPr id="23" name="VisibleFloorNote"/>
          <p:cNvSpPr txBox="1"/>
          <p:nvPr/>
        </p:nvSpPr>
        <p:spPr>
          <a:xfrm>
            <a:off x="453079" y="5500000"/>
            <a:ext cx="7672006" cy="37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Lifetime visible first-tier subaward flow per parent vendor; a floor, not the full supplier base. Names only, no logos.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SAM.gov Acquisition Subaward Reporting Public API; (2) SAM.gov Entity Management API; (3) FAR 52.204-10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DDG-51 Supplier TAM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Visibility Gap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FFATA Visibility Gap | FFATA is evidence, not the market-size denominator</a:t>
            </a:r>
          </a:p>
        </p:txBody>
      </p:sp>
      <p:sp>
        <p:nvSpPr>
          <p:cNvPr id="20" name="ChartTitle"/>
          <p:cNvSpPr txBox="1"/>
          <p:nvPr/>
        </p:nvSpPr>
        <p:spPr>
          <a:xfrm>
            <a:off x="453079" y="1371600"/>
            <a:ext cx="7220711" cy="1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Cumulative FFATA-visible flow vs estimated yard-side outsourcing, $M</a:t>
            </a:r>
          </a:p>
        </p:txBody>
      </p:sp>
      <p:graphicFrame>
        <p:nvGraphicFramePr>
          <p:cNvPr id="21" name="FFATAVisibilityGapChart"/>
          <p:cNvGraphicFramePr/>
          <p:nvPr/>
        </p:nvGraphicFramePr>
        <p:xfrm>
          <a:off x="453079" y="1601600"/>
          <a:ext cx="7220711" cy="3768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2" name="ExplanationRail"/>
          <p:cNvSpPr txBox="1"/>
          <p:nvPr/>
        </p:nvSpPr>
        <p:spPr>
          <a:xfrm>
            <a:off x="7765230" y="1601600"/>
            <a:ext cx="3970211" cy="2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200000" tIns="70000" rIns="200000" bIns="70000"/>
          <a:lstStyle/>
          <a:p>
            <a:pPr>
              <a:lnSpc>
                <a:spcPct val="115000"/>
              </a:lnSpc>
              <a:spcAft>
                <a:spcPts val="170"/>
              </a:spcAft>
              <a:buNone/>
            </a:pPr>
            <a:r>
              <a:rPr lang="en-US" sz="900" b="1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Why visible is not the full market</a:t>
            </a:r>
          </a:p>
          <a:p>
            <a:pPr marL="142875" indent="-142875">
              <a:lnSpc>
                <a:spcPct val="115000"/>
              </a:lnSpc>
              <a:spcAft>
                <a:spcPts val="110"/>
              </a:spcAft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Direct material: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purchased material booked as direct cost, not a subcontract.</a:t>
            </a:r>
          </a:p>
          <a:p>
            <a:pPr marL="142875" indent="-142875">
              <a:lnSpc>
                <a:spcPct val="115000"/>
              </a:lnSpc>
              <a:spcAft>
                <a:spcPts val="110"/>
              </a:spcAft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Lower tiers: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FFATA reaches only one tier below the prime.</a:t>
            </a:r>
          </a:p>
          <a:p>
            <a:pPr marL="142875" indent="-142875">
              <a:lnSpc>
                <a:spcPct val="115000"/>
              </a:lnSpc>
              <a:spcAft>
                <a:spcPts val="110"/>
              </a:spcAft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Standing agreements: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long-term supplier deals not subordinated to the prime.</a:t>
            </a:r>
          </a:p>
          <a:p>
            <a:pPr marL="142875" indent="-142875">
              <a:lnSpc>
                <a:spcPct val="115000"/>
              </a:lnSpc>
              <a:spcAft>
                <a:spcPts val="110"/>
              </a:spcAft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Threshold and lag: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sub-$30,000 actions and 12-30 month reporting lag.</a:t>
            </a:r>
          </a:p>
          <a:p>
            <a:pPr marL="142875" indent="-142875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Compliance: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under-reporting, acute at BIW.</a:t>
            </a:r>
          </a:p>
        </p:txBody>
      </p:sp>
      <p:sp>
        <p:nvSpPr>
          <p:cNvPr id="23" name="PointerCallout VisibleShare"/>
          <p:cNvSpPr>
            <a:spLocks noGrp="1"/>
          </p:cNvSpPr>
          <p:nvPr/>
        </p:nvSpPr>
        <p:spPr>
          <a:xfrm>
            <a:off x="1175150" y="1691600"/>
            <a:ext cx="3321527" cy="560000"/>
          </a:xfrm>
          <a:prstGeom prst="wedgeRectCallout">
            <a:avLst>
              <a:gd name="adj1" fmla="val -41304"/>
              <a:gd name="adj2" fmla="val 431896"/>
            </a:avLst>
          </a:prstGeom>
          <a:solidFill>
            <a:srgbClr val="E2E9EF"/>
          </a:solidFill>
          <a:ln w="12700">
            <a:solidFill>
              <a:srgbClr val="BFBFBF"/>
            </a:solidFill>
          </a:ln>
        </p:spPr>
        <p:txBody>
          <a:bodyPr wrap="square" anchor="ctr" lIns="200000" tIns="70000" rIns="200000" bIns="70000"/>
          <a:lstStyle/>
          <a:p>
            <a:pPr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Visible flow is ~20.1% of the midpoint estimate (cumulative basis).</a:t>
            </a:r>
          </a:p>
        </p:txBody>
      </p:sp>
      <p:sp>
        <p:nvSpPr>
          <p:cNvPr id="24" name="EvidenceDenominatorNote"/>
          <p:cNvSpPr txBox="1"/>
          <p:nvPr/>
        </p:nvSpPr>
        <p:spPr>
          <a:xfrm>
            <a:off x="453079" y="5460000"/>
            <a:ext cx="7220711" cy="41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FFATA provides public evidence of the supplier base; it does not capture the full true flow. Values are cumulative FY2016-FY2027.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SAM.gov Acquisition Subaward Reporting Public API; (2) HII and General Dynamics Form 10-K filings; (3) U.S. BLS OEWS, NAICS 336611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DDG-51 Supplier TAM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Market Direction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Market Direction | Distributed shipbuilding points toward more external production capacity</a:t>
            </a:r>
          </a:p>
        </p:txBody>
      </p:sp>
      <p:sp>
        <p:nvSpPr>
          <p:cNvPr id="20" name="ExhibitTitle"/>
          <p:cNvSpPr txBox="1"/>
          <p:nvPr/>
        </p:nvSpPr>
        <p:spPr>
          <a:xfrm>
            <a:off x="453079" y="1371600"/>
            <a:ext cx="11282362" cy="1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Distributed-shipbuilding signals, FY2024 Q3 to FY2026 Q1</a:t>
            </a:r>
          </a:p>
        </p:txBody>
      </p:sp>
      <p:graphicFrame>
        <p:nvGraphicFramePr>
          <p:cNvPr id="21" name="MarketDirectionTimeline"/>
          <p:cNvGraphicFramePr>
            <a:graphicFrameLocks noGrp="1"/>
          </p:cNvGraphicFramePr>
          <p:nvPr/>
        </p:nvGraphicFramePr>
        <p:xfrm>
          <a:off x="453079" y="1601600"/>
          <a:ext cx="11282362" cy="2072640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1348978"/>
                <a:gridCol w="1716881"/>
                <a:gridCol w="5273277"/>
                <a:gridCol w="2943226"/>
              </a:tblGrid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Period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Source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Signal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Implication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FY24 Q3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HII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Outsourcing over 1 million hours in 2024; planned increase of more than 30% in 2025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Outsourcing is now a named lever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81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FY25 Q4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HII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Outsourcing doubled year over year in 2025; 30% planned in 2026; over 23 vendors established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Supplier network is scaling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81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FY26 Q1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HII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On track to grow outsourcing hours ~30%; first 2 of 32 units in yard from partners on DDG 137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Distributed work reaching the DDG line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81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FY25 Q4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General Dynamics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Supply chain remains the gating item in an Electric Boat context; no comparable DDG outsourcing-hours target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Constraint is broad, not a DDG plan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81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FY25-FY26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Navy and GAO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Shipbuilders already outsource to overcome constrained physical space; distributed production policy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Directional tailwind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2" name="InterpretationRail"/>
          <p:cNvSpPr txBox="1"/>
          <p:nvPr/>
        </p:nvSpPr>
        <p:spPr>
          <a:xfrm>
            <a:off x="453079" y="3765680"/>
            <a:ext cx="11282362" cy="1070000"/>
          </a:xfrm>
          <a:prstGeom prst="rect">
            <a:avLst/>
          </a:prstGeom>
          <a:noFill/>
          <a:ln>
            <a:noFill/>
          </a:ln>
        </p:spPr>
        <p:txBody>
          <a:bodyPr wrap="square" anchor="t" lIns="200000" tIns="70000" rIns="200000" bIns="70000"/>
          <a:lstStyle/>
          <a:p>
            <a:pPr marL="142875" indent="-142875">
              <a:lnSpc>
                <a:spcPct val="115000"/>
              </a:lnSpc>
              <a:spcAft>
                <a:spcPts val="110"/>
              </a:spcAft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Direction: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external production capacity is expanding, especially at HII Ingalls.</a:t>
            </a:r>
          </a:p>
          <a:p>
            <a:pPr marL="142875" indent="-142875">
              <a:lnSpc>
                <a:spcPct val="115000"/>
              </a:lnSpc>
              <a:spcAft>
                <a:spcPts val="110"/>
              </a:spcAft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Asymmetry: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HII has the clearest public commitment; GD signals supplier constraints, submarine-centric.</a:t>
            </a:r>
          </a:p>
          <a:p>
            <a:pPr marL="142875" indent="-142875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Scope: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directional only; it does not change the FY22-27 TAM math without a refreshed model.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HII quarterly earnings materials, FY2024 Q3-FY2026 Q1; (2) General Dynamics earnings materials, FY2025 Q4-FY2026 Q1; (3) GAO-25-106286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DDG-51 Supplier TAM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Implications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Implications | Prioritization depends on product scope, qualification burden, and confidence in bucket visibility</a:t>
            </a:r>
          </a:p>
        </p:txBody>
      </p:sp>
      <p:sp>
        <p:nvSpPr>
          <p:cNvPr id="20" name="ExhibitTitle"/>
          <p:cNvSpPr txBox="1"/>
          <p:nvPr/>
        </p:nvSpPr>
        <p:spPr>
          <a:xfrm>
            <a:off x="453079" y="1371600"/>
            <a:ext cx="11282362" cy="1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Scenario prioritization scorecard, average annual FY22-27</a:t>
            </a:r>
          </a:p>
        </p:txBody>
      </p:sp>
      <p:graphicFrame>
        <p:nvGraphicFramePr>
          <p:cNvPr id="21" name="ScenarioPrioritizationScorecard"/>
          <p:cNvGraphicFramePr>
            <a:graphicFrameLocks noGrp="1"/>
          </p:cNvGraphicFramePr>
          <p:nvPr/>
        </p:nvGraphicFramePr>
        <p:xfrm>
          <a:off x="453079" y="1601600"/>
          <a:ext cx="11282362" cy="1965960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2595941"/>
                <a:gridCol w="1497658"/>
                <a:gridCol w="1397814"/>
                <a:gridCol w="1098283"/>
                <a:gridCol w="1497658"/>
                <a:gridCol w="3195008"/>
              </a:tblGrid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Scenario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Avg annual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Cumulative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TAM share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Confidence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Priority read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Broad component manufacturing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~$327M per year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~$1.96B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57.1%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Medium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Envelope, not a single wedge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81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Metal components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~$170M per year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~$1.02B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29.6%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Medium-high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Largest targeted scenario; high if fabrication or machining scope fits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</a:tr>
              <a:tr h="381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Electrical and power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~$132M per year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~$791M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23.0%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Medium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Largest single named bucket; high but qualification-heavy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</a:tr>
              <a:tr h="381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Modular assemblies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~$104M per year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~$626M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18.2%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Medium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Strategic distributed-capacity lane; smaller in the current model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HM&amp;E components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~$89M per year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~$531M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15.4%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Medium-low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Selective, product-by-product; evidence-dependent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2" name="WhereToPlayNote"/>
          <p:cNvSpPr txBox="1"/>
          <p:nvPr/>
        </p:nvSpPr>
        <p:spPr>
          <a:xfrm>
            <a:off x="453079" y="3659000"/>
            <a:ext cx="11282362" cy="2091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Where-to-play screen, not SOM. </a:t>
            </a: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Prioritization depends on product scope, qualification burden, and confidence in bucket visibility.</a:t>
            </a:r>
          </a:p>
          <a:p>
            <a:pPr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Nominal $M per year; average annual FY22-27 unless noted. FY22-27 cumulative values shown in parentheses. Excludes SOM and capture.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SAM.gov Acquisition Subaward Reporting Public API; (2) U.S. Navy FY2022-FY2027 SCN Justification Books, LI 2122; (3) GAO-25-106286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Appendix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Definitions and Scope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Definitions | Four denominators need to stay separate</a:t>
            </a:r>
          </a:p>
        </p:txBody>
      </p:sp>
      <p:sp>
        <p:nvSpPr>
          <p:cNvPr id="10" name="ExhibitTitle"/>
          <p:cNvSpPr txBox="1"/>
          <p:nvPr/>
        </p:nvSpPr>
        <p:spPr>
          <a:xfrm>
            <a:off x="453079" y="1371600"/>
            <a:ext cx="11282362" cy="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Denominator ledger</a:t>
            </a:r>
          </a:p>
        </p:txBody>
      </p:sp>
      <p:graphicFrame>
        <p:nvGraphicFramePr>
          <p:cNvPr id="20" name="DenominatorLedger"/>
          <p:cNvGraphicFramePr>
            <a:graphicFrameLocks noGrp="1"/>
          </p:cNvGraphicFramePr>
          <p:nvPr/>
        </p:nvGraphicFramePr>
        <p:xfrm>
          <a:off x="453079" y="1611600"/>
          <a:ext cx="11282362" cy="3108960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2050000"/>
                <a:gridCol w="2260000"/>
                <a:gridCol w="2520000"/>
                <a:gridCol w="2580000"/>
                <a:gridCol w="1872362"/>
              </a:tblGrid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Denominator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Definition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Included examples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Excluded examples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Where used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Total ship cost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P-5c Total Ship Estimate by procurement year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Basic Construction; Electronics; Ordnance; Plans; HM&amp;E; Other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WPN missiles; OPN sustainment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Cost funnel context only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SCN LI 2122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DDG-51 Class Destroyer line item in Navy SCN budget books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DDG-51 Flight III new construction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DDG-1000, cruiser modernization, sustainment, depot repair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Scope gate and production schedule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Basic Construction base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Construction layer flowing through BIW and Ingalls prime contracts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Yard work and yard-side supplier work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Navy-procured Aegis, SPY-6, Mk 41, Mk 45, LM2500, SEWIP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BC stream TAM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029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AP/LLTM base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Advance procurement and long-lead material considered supplier-addressable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Ship Construction EOQ and long-lead material after non-GFE filter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Aegis Weapon System EOQ, Other GFE, VLS and weapons AP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AP/LLTM stream TAM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029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FFATA-visible flow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First-tier subawards reported to FSRS and surfaced through SAM.gov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Reportable subcontracts above the reporting threshold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Direct material purchases, lower-tier subcontracts, standing agreements, sub-threshold long tail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Evidence, bucket rules, supplier landscape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Supplier-addressable TAM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BC stream plus AP/LLTM stream after supplier coefficients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Non-GFE new-construction supplier work away from prime yards and excluded flows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GFE, weapons, sustainment, MIB, design-only, SOM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Headline market size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</a:tr>
              <a:tr h="36576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SAM scenarios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Work-type bucket menus selected from TAM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Broad component, metal, electrical, modular, HM&amp;E scenarios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Unbucketed residual unless later classified; capture probability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Target-market menu, not a forecast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" name="BoundaryCommentary"/>
          <p:cNvSpPr txBox="1"/>
          <p:nvPr/>
        </p:nvSpPr>
        <p:spPr>
          <a:xfrm>
            <a:off x="6103079" y="4830560"/>
            <a:ext cx="5632362" cy="5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200000" tIns="70000" rIns="200000" bIns="70000"/>
          <a:lstStyle/>
          <a:p>
            <a:pPr algn="l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Boundary: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deck keeps GFE-heavy prime flows visible as context, but excludes them from non-GFE TAM.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CRS, Navy DDG-51 and DDG-1000 Destroyer Programs, RL32109; U.S. Navy FY2027 SCN Justification Book, LI 2122; FAR 52.204-10 and 48 C.F.R. Part 45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Appendix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TAM Calculation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TAM Detail | The annual headline reconciles to the FY22-27 cumulative model</a:t>
            </a:r>
          </a:p>
        </p:txBody>
      </p:sp>
      <p:sp>
        <p:nvSpPr>
          <p:cNvPr id="10" name="HeaderNote"/>
          <p:cNvSpPr txBox="1"/>
          <p:nvPr/>
        </p:nvSpPr>
        <p:spPr>
          <a:xfrm>
            <a:off x="453079" y="1371600"/>
            <a:ext cx="11282362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Average annual convention: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FY22-27 cumulative values are divided by six; they are not a steady run-rate.</a:t>
            </a:r>
          </a:p>
        </p:txBody>
      </p:sp>
      <p:graphicFrame>
        <p:nvGraphicFramePr>
          <p:cNvPr id="20" name="TAMReconciliationTable"/>
          <p:cNvGraphicFramePr>
            <a:graphicFrameLocks noGrp="1"/>
          </p:cNvGraphicFramePr>
          <p:nvPr/>
        </p:nvGraphicFramePr>
        <p:xfrm>
          <a:off x="453079" y="1771600"/>
          <a:ext cx="7720000" cy="3154680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2350000"/>
                <a:gridCol w="1250000"/>
                <a:gridCol w="1380000"/>
                <a:gridCol w="1350000"/>
                <a:gridCol w="1390000"/>
              </a:tblGrid>
              <a:tr h="36576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Step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FY22-27 cumulative $M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Average annual $M per year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Applied coefficient or share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Note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Basic Construction base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17,471.0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2,911.8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n.a.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P-5c BC base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029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MYP-corrected supplier coefficient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n.a.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n.a.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12.5%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Other-US and foreign POP over non-GFE BC corpus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BC-stream supplier TAM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2,192.0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365.3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applied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Base times coefficient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CY AP in-window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1,833.2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305.5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n.a.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FY25-27 AP base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Ship-construction share of CY AP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1,466.6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244.4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80.0%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Non-GFE share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AP/LLTM supplier coefficient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n.a.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n.a.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85.0%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Input knob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AP/LLTM stream TAM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1,246.6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207.8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applied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Second stream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Portfolio supplier TAM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3,438.6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573.1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n.a.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Headline TAM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</a:tr>
              <a:tr h="36576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Average annual convention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n.a.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573.1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divide by six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Six-year average, not run-rate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0" name="MiniBridgeContainer"/>
          <p:cNvSpPr txBox="1"/>
          <p:nvPr/>
        </p:nvSpPr>
        <p:spPr>
          <a:xfrm>
            <a:off x="8423079" y="1771600"/>
            <a:ext cx="3312362" cy="3105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t" lIns="114300" tIns="76200" rIns="114300" bIns="7620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61" name="BridgeCap"/>
          <p:cNvSpPr txBox="1"/>
          <p:nvPr/>
        </p:nvSpPr>
        <p:spPr>
          <a:xfrm>
            <a:off x="8573079" y="1891600"/>
            <a:ext cx="3012362" cy="27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CUMULATIVE BRIDGE</a:t>
            </a:r>
          </a:p>
        </p:txBody>
      </p:sp>
      <p:sp>
        <p:nvSpPr>
          <p:cNvPr id="62" name="BridgeRow1"/>
          <p:cNvSpPr txBox="1"/>
          <p:nvPr/>
        </p:nvSpPr>
        <p:spPr>
          <a:xfrm>
            <a:off x="8573079" y="2271600"/>
            <a:ext cx="3012362" cy="39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BC-stream supplier TAM</a:t>
            </a:r>
          </a:p>
          <a:p>
            <a:pPr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~$2.19B</a:t>
            </a: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 cumulative</a:t>
            </a:r>
          </a:p>
        </p:txBody>
      </p:sp>
      <p:sp>
        <p:nvSpPr>
          <p:cNvPr id="63" name="BridgeRow2"/>
          <p:cNvSpPr txBox="1"/>
          <p:nvPr/>
        </p:nvSpPr>
        <p:spPr>
          <a:xfrm>
            <a:off x="8573079" y="2751600"/>
            <a:ext cx="3012362" cy="39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AP/LLTM stream TAM</a:t>
            </a:r>
          </a:p>
          <a:p>
            <a:pPr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~$1.25B</a:t>
            </a: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 cumulative</a:t>
            </a:r>
          </a:p>
        </p:txBody>
      </p:sp>
      <p:sp>
        <p:nvSpPr>
          <p:cNvPr id="64" name="BridgeRow3"/>
          <p:cNvSpPr txBox="1"/>
          <p:nvPr/>
        </p:nvSpPr>
        <p:spPr>
          <a:xfrm>
            <a:off x="8573079" y="3231600"/>
            <a:ext cx="3012362" cy="39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Portfolio supplier TAM</a:t>
            </a:r>
          </a:p>
          <a:p>
            <a:pPr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~$3.44B</a:t>
            </a: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 cumulative</a:t>
            </a:r>
          </a:p>
        </p:txBody>
      </p:sp>
      <p:cxnSp>
        <p:nvCxnSpPr>
          <p:cNvPr id="70" name="BridgeDividerRule"/>
          <p:cNvCxnSpPr/>
          <p:nvPr/>
        </p:nvCxnSpPr>
        <p:spPr>
          <a:xfrm>
            <a:off x="8573079" y="3806600"/>
            <a:ext cx="3012362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71" name="BridgeAnnualBand"/>
          <p:cNvSpPr txBox="1"/>
          <p:nvPr/>
        </p:nvSpPr>
        <p:spPr>
          <a:xfrm>
            <a:off x="8573079" y="3961600"/>
            <a:ext cx="3012362" cy="73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Average annual headline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~$573M per year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Divide by 6 fiscal years</a:t>
            </a:r>
          </a:p>
        </p:txBody>
      </p:sp>
      <p:sp>
        <p:nvSpPr>
          <p:cNvPr id="80" name="KPIChip"/>
          <p:cNvSpPr txBox="1"/>
          <p:nvPr/>
        </p:nvSpPr>
        <p:spPr>
          <a:xfrm>
            <a:off x="453079" y="5015000"/>
            <a:ext cx="2512373" cy="46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In-window hulls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81" name="KPIChip"/>
          <p:cNvSpPr txBox="1"/>
          <p:nvPr/>
        </p:nvSpPr>
        <p:spPr>
          <a:xfrm>
            <a:off x="3056892" y="5015000"/>
            <a:ext cx="2512373" cy="46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Supplier TAM per in-window hull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~$265M</a:t>
            </a:r>
          </a:p>
        </p:txBody>
      </p:sp>
      <p:sp>
        <p:nvSpPr>
          <p:cNvPr id="82" name="KPIChip"/>
          <p:cNvSpPr txBox="1"/>
          <p:nvPr/>
        </p:nvSpPr>
        <p:spPr>
          <a:xfrm>
            <a:off x="5660705" y="5015000"/>
            <a:ext cx="2512373" cy="46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BC TAM per in-window hull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~$169M</a:t>
            </a:r>
          </a:p>
        </p:txBody>
      </p:sp>
      <p:sp>
        <p:nvSpPr>
          <p:cNvPr id="90" name="SizingNote"/>
          <p:cNvSpPr txBox="1"/>
          <p:nvPr/>
        </p:nvSpPr>
        <p:spPr>
          <a:xfrm>
            <a:off x="453079" y="5590000"/>
            <a:ext cx="11282362" cy="21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Nominal $M per year; average annual FY22-27 unless noted. FY22-27 cumulative values shown in parentheses. Excludes SOM and capture.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U.S. Navy FY2022-FY2027 SCN Justification Books, LI 2122; DoW DDG-51 contract announcements, July 2022-May 2026; SAM.gov Acquisition Subaward Reporting Public API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Appendix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MYP Correction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MYP Correction | The $14.58B redacted masters drive the outside-yards correction</a:t>
            </a:r>
          </a:p>
        </p:txBody>
      </p:sp>
      <p:graphicFrame>
        <p:nvGraphicFramePr>
          <p:cNvPr id="20" name="MYPReconstructionTable"/>
          <p:cNvGraphicFramePr>
            <a:graphicFrameLocks noGrp="1"/>
          </p:cNvGraphicFramePr>
          <p:nvPr/>
        </p:nvGraphicFramePr>
        <p:xfrm>
          <a:off x="453079" y="1561600"/>
          <a:ext cx="7600000" cy="2286000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2150000"/>
                <a:gridCol w="1000000"/>
                <a:gridCol w="1600000"/>
                <a:gridCol w="1800000"/>
                <a:gridCol w="1050000"/>
              </a:tblGrid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Item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POP treatment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Use in model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Note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BIW FY23-27 MYP master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6,400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Bath 69% plus supplier sites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Reconstructed from public reporting and POP paragraph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Yard-heavy master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Ingalls FY23-27 MYP master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8,180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Pascagoula 77% to 79%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Reconstructed from public reporting and POP paragraph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Yard-heavy master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Combined masters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14,580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yard-heavy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67.2% of gated corpus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Too large to omit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</a:tr>
              <a:tr h="36576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Gated corpus with masters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21,712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all gated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denominator for correction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Corpus used for corrected POP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Corrected outside-yards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n.a.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32.8%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other-US plus foreign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Use forward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Disclosed artifact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n.a.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73.6%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guardrail only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Do not headline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60" name="ComparisonTitle"/>
          <p:cNvSpPr txBox="1"/>
          <p:nvPr/>
        </p:nvSpPr>
        <p:spPr>
          <a:xfrm>
            <a:off x="8323079" y="1561600"/>
            <a:ext cx="3412362" cy="155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Outside-yards share</a:t>
            </a:r>
          </a:p>
        </p:txBody>
      </p:sp>
      <p:sp>
        <p:nvSpPr>
          <p:cNvPr id="61" name="OutsideYardsBar"/>
          <p:cNvSpPr txBox="1"/>
          <p:nvPr/>
        </p:nvSpPr>
        <p:spPr>
          <a:xfrm>
            <a:off x="8323079" y="1931600"/>
            <a:ext cx="3122362" cy="560000"/>
          </a:xfrm>
          <a:prstGeom prst="rect">
            <a:avLst/>
          </a:prstGeom>
          <a:solidFill>
            <a:srgbClr val="BFBFBF"/>
          </a:solidFill>
          <a:ln w="12700">
            <a:solidFill>
              <a:srgbClr val="000000"/>
            </a:solidFill>
          </a:ln>
        </p:spPr>
        <p:txBody>
          <a:bodyPr wrap="square" anchor="ctr" lIns="114300" tIns="76200" rIns="114300" bIns="76200"/>
          <a:lstStyle/>
          <a:p>
            <a:pPr algn="l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Disclosed artifact</a:t>
            </a:r>
          </a:p>
          <a:p>
            <a:pPr algn="r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73.6%</a:t>
            </a:r>
          </a:p>
        </p:txBody>
      </p:sp>
      <p:sp>
        <p:nvSpPr>
          <p:cNvPr id="62" name="OutsideYardsBar"/>
          <p:cNvSpPr txBox="1"/>
          <p:nvPr/>
        </p:nvSpPr>
        <p:spPr>
          <a:xfrm>
            <a:off x="8323079" y="2851600"/>
            <a:ext cx="1391487" cy="560000"/>
          </a:xfrm>
          <a:prstGeom prst="rect">
            <a:avLst/>
          </a:prstGeom>
          <a:solidFill>
            <a:srgbClr val="263746"/>
          </a:solidFill>
          <a:ln w="19050">
            <a:solidFill>
              <a:srgbClr val="000000"/>
            </a:solidFill>
          </a:ln>
        </p:spPr>
        <p:txBody>
          <a:bodyPr wrap="square" anchor="ctr" lIns="114300" tIns="76200" rIns="114300" bIns="76200"/>
          <a:lstStyle/>
          <a:p>
            <a:pPr algn="l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MYP-corrected</a:t>
            </a:r>
          </a:p>
          <a:p>
            <a:pPr algn="r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32.8%</a:t>
            </a:r>
          </a:p>
        </p:txBody>
      </p:sp>
      <p:sp>
        <p:nvSpPr>
          <p:cNvPr id="63" name="CorrectedUseForwardLabel"/>
          <p:cNvSpPr txBox="1"/>
          <p:nvPr/>
        </p:nvSpPr>
        <p:spPr>
          <a:xfrm>
            <a:off x="9804566" y="2961600"/>
            <a:ext cx="1930875" cy="28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use forward</a:t>
            </a:r>
          </a:p>
        </p:txBody>
      </p:sp>
      <p:sp>
        <p:nvSpPr>
          <p:cNvPr id="80" name="SensitivityMiniRow"/>
          <p:cNvSpPr txBox="1"/>
          <p:nvPr/>
        </p:nvSpPr>
        <p:spPr>
          <a:xfrm>
            <a:off x="453079" y="3982600"/>
            <a:ext cx="11282362" cy="50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200000" tIns="70000" rIns="200000" bIns="70000"/>
          <a:lstStyle/>
          <a:p>
            <a:pPr algn="ctr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Portfolio TAM: </a:t>
            </a:r>
            <a:r>
              <a:rPr lang="en-US" sz="11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~$3.44B corrected versus ~$2.13B disclosed-only; MYP reconstruction uplift is ~$1.31B.</a:t>
            </a:r>
          </a:p>
        </p:txBody>
      </p:sp>
      <p:sp>
        <p:nvSpPr>
          <p:cNvPr id="90" name="GuardrailCommentary"/>
          <p:cNvSpPr txBox="1"/>
          <p:nvPr/>
        </p:nvSpPr>
        <p:spPr>
          <a:xfrm>
            <a:off x="453079" y="4592600"/>
            <a:ext cx="11282362" cy="6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Guardrail: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Corrected distribution is BIW 29.0%, Ingalls 33.6%, Other-US 31.5%, Foreign 1.3%, and Unparsed 4.5%. The applied BC supplier coefficient is lower because it is measured on the non-GFE BC corpus, not the all-gated corpus.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DoW contract announcements, Aug. 1, Aug. 11, and Sept. 6, 2023; USNI News, Navy Reveals Contract Costs of Latest 10-Hull Destroyer Deal, Sept. 6, 2023; NAVSEA, Navy Awards DDG 51 FY23-27 Multiyear Procurement Contracts, Aug. 1, 2023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Appendix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AP/LLTM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AP/LLTM | The second stream contributes ~36% of portfolio TAM</a:t>
            </a:r>
          </a:p>
        </p:txBody>
      </p:sp>
      <p:graphicFrame>
        <p:nvGraphicFramePr>
          <p:cNvPr id="20" name="APStreamBuildTable"/>
          <p:cNvGraphicFramePr>
            <a:graphicFrameLocks noGrp="1"/>
          </p:cNvGraphicFramePr>
          <p:nvPr/>
        </p:nvGraphicFramePr>
        <p:xfrm>
          <a:off x="453079" y="1451600"/>
          <a:ext cx="6200000" cy="1874520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2100000"/>
                <a:gridCol w="1070000"/>
                <a:gridCol w="1180000"/>
                <a:gridCol w="1160000"/>
                <a:gridCol w="690000"/>
              </a:tblGrid>
              <a:tr h="36576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Step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Cum $M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Avg $M per year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Share or coefficient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Treatment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</a:tr>
              <a:tr h="36576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CY Advance Procurement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1,833.2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305.5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n.a.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starting AP base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Ship-construction share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1,466.6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244.4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80.0%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non-GFE share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AP/LLTM supplier coefficient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n.a.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n.a.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85.0%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input knob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AP/LLTM stream TAM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1,246.6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207.8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applied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contributes 36.3% of TAM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63746"/>
                    </a:solidFill>
                  </a:tcPr>
                </a:tc>
              </a:tr>
            </a:tbl>
          </a:graphicData>
        </a:graphic>
      </p:graphicFrame>
      <p:sp>
        <p:nvSpPr>
          <p:cNvPr id="40" name="SensitivityMatrixTitle"/>
          <p:cNvSpPr txBox="1"/>
          <p:nvPr/>
        </p:nvSpPr>
        <p:spPr>
          <a:xfrm>
            <a:off x="6953079" y="1451600"/>
            <a:ext cx="4782362" cy="17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AP/LLTM cumulative TAM sensitivity, $M</a:t>
            </a:r>
          </a:p>
        </p:txBody>
      </p:sp>
      <p:graphicFrame>
        <p:nvGraphicFramePr>
          <p:cNvPr id="50" name="APSensitivityMatrix"/>
          <p:cNvGraphicFramePr>
            <a:graphicFrameLocks noGrp="1"/>
          </p:cNvGraphicFramePr>
          <p:nvPr/>
        </p:nvGraphicFramePr>
        <p:xfrm>
          <a:off x="6953079" y="1711600"/>
          <a:ext cx="4782362" cy="1188720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1360000"/>
                <a:gridCol w="1140000"/>
                <a:gridCol w="1140000"/>
                <a:gridCol w="1142362"/>
              </a:tblGrid>
              <a:tr h="365760"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Ship-construction share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75% AP coeff.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85% AP coeff.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95% AP coeff.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70%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~$962M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~$1,091M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~$1,219M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80%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~$1,100M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~$1,247M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~$1,393M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90%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~$1,237M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~$1,403M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~$1,568M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0" name="LineLevelTreatmentCue"/>
          <p:cNvSpPr txBox="1"/>
          <p:nvPr/>
        </p:nvSpPr>
        <p:spPr>
          <a:xfrm>
            <a:off x="453079" y="3546120"/>
            <a:ext cx="6200000" cy="16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200000" tIns="70000" rIns="200000" bIns="70000"/>
          <a:lstStyle/>
          <a:p>
            <a:pPr marL="142875" indent="-142875">
              <a:lnSpc>
                <a:spcPct val="115000"/>
              </a:lnSpc>
              <a:spcAft>
                <a:spcPts val="120"/>
              </a:spcAft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INCLUDE: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Ship Construction EOQ and supplier-addressable long-lead material.</a:t>
            </a:r>
          </a:p>
          <a:p>
            <a:pPr marL="142875" indent="-142875">
              <a:lnSpc>
                <a:spcPct val="115000"/>
              </a:lnSpc>
              <a:spcAft>
                <a:spcPts val="120"/>
              </a:spcAft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EXCLUDE: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Aegis Weapon System EOQ; Other GFE; VLS, weapons, and ordnance AP; WPN and OPN-funded flows.</a:t>
            </a:r>
          </a:p>
          <a:p>
            <a:pPr marL="142875" indent="-142875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ALREADY IN BC: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Power Conversion Modules moved into Basic Construction in FY23.</a:t>
            </a:r>
          </a:p>
        </p:txBody>
      </p:sp>
      <p:sp>
        <p:nvSpPr>
          <p:cNvPr id="90" name="SizingNote"/>
          <p:cNvSpPr txBox="1"/>
          <p:nvPr/>
        </p:nvSpPr>
        <p:spPr>
          <a:xfrm>
            <a:off x="453079" y="5620000"/>
            <a:ext cx="11282362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Nominal $M per year; average annual FY22-27 unless noted. FY22-27 cumulative values shown in parentheses. Excludes SOM and capture.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U.S. Navy FY2022-FY2027 SCN Justification Books, LI 2122; CRS, Navy DDG-51 and DDG-1000 Destroyer Programs, RL32109; NAVSEA, DDG 51 FY23-27 MYP award release, Aug. 1, 2023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Appendix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FFATA Limitations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Visibility Gap | Visible first-tier subawards are a floor, not a full market read</a:t>
            </a:r>
          </a:p>
        </p:txBody>
      </p:sp>
      <p:sp>
        <p:nvSpPr>
          <p:cNvPr id="10" name="MainCaution"/>
          <p:cNvSpPr txBox="1"/>
          <p:nvPr/>
        </p:nvSpPr>
        <p:spPr>
          <a:xfrm>
            <a:off x="453079" y="1421600"/>
            <a:ext cx="11282362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FFATA is the observable floor.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It supports supplier names, bucket evidence, and concentration, but not the full market denominator.</a:t>
            </a:r>
          </a:p>
        </p:txBody>
      </p:sp>
      <p:graphicFrame>
        <p:nvGraphicFramePr>
          <p:cNvPr id="20" name="FFATAEvidenceLedger"/>
          <p:cNvGraphicFramePr>
            <a:graphicFrameLocks noGrp="1"/>
          </p:cNvGraphicFramePr>
          <p:nvPr/>
        </p:nvGraphicFramePr>
        <p:xfrm>
          <a:off x="453079" y="1841600"/>
          <a:ext cx="7300000" cy="2606040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1790000"/>
                <a:gridCol w="1820000"/>
                <a:gridCol w="1970000"/>
                <a:gridCol w="1720000"/>
              </a:tblGrid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Public-data element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What it captures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What remains unseen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Implication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FFATA-reported first-tier subawards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Direct prime-to-sub subcontracts above threshold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Lower-tier suppliers and sub-threshold actions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Evidence layer, not TAM denominator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</a:tr>
              <a:tr h="36576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SAM.gov published and deleted records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FSRS records through SAM.gov API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Reporting lag and late corrections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Public access path for FFATA evidence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</a:tr>
              <a:tr h="36576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Yard-prime PIID filings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Visible supplier names and descriptions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Direct material bookings and standing agreements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Supports supplier landscape and bucket classification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</a:tr>
              <a:tr h="36576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Vendor and description fields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Bucket evidence for SAM classification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Incomplete NAICS and UEI resolution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Use with residual and caveat logic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</a:tr>
              <a:tr h="5029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SAM.gov Entity Management enrichment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Entity names and identifiers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Parent cleanup and name variants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Supports supplier aggregation, not perfect parentage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</a:tr>
              <a:tr h="36576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USAspending cross-validation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Secondary public cross-check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Truncation and timing differences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QA support only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9EF"/>
                    </a:solidFill>
                  </a:tcPr>
                </a:tc>
              </a:tr>
            </a:tbl>
          </a:graphicData>
        </a:graphic>
      </p:graphicFrame>
      <p:sp>
        <p:nvSpPr>
          <p:cNvPr id="50" name="RangeCueTitle"/>
          <p:cNvSpPr txBox="1"/>
          <p:nvPr/>
        </p:nvSpPr>
        <p:spPr>
          <a:xfrm>
            <a:off x="8103079" y="1841600"/>
            <a:ext cx="3632362" cy="17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Cumulative yard-side view</a:t>
            </a:r>
          </a:p>
        </p:txBody>
      </p:sp>
      <p:sp>
        <p:nvSpPr>
          <p:cNvPr id="51" name="RangeCueValue"/>
          <p:cNvSpPr txBox="1"/>
          <p:nvPr/>
        </p:nvSpPr>
        <p:spPr>
          <a:xfrm>
            <a:off x="8103079" y="2101600"/>
            <a:ext cx="3632362" cy="500000"/>
          </a:xfrm>
          <a:prstGeom prst="rect">
            <a:avLst/>
          </a:prstGeom>
          <a:solidFill>
            <a:srgbClr val="646464"/>
          </a:solidFill>
          <a:ln w="12700">
            <a:solidFill>
              <a:srgbClr val="000000"/>
            </a:solidFill>
          </a:ln>
        </p:spPr>
        <p:txBody>
          <a:bodyPr wrap="square" anchor="ctr" lIns="114300" tIns="76200" rIns="114300" bIns="76200"/>
          <a:lstStyle/>
          <a:p>
            <a:pPr algn="l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FFATA-visible yard-side flow</a:t>
            </a:r>
          </a:p>
          <a:p>
            <a:pPr algn="r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~$2.73B cumulative</a:t>
            </a:r>
          </a:p>
        </p:txBody>
      </p:sp>
      <p:sp>
        <p:nvSpPr>
          <p:cNvPr id="52" name="RangeCueValue"/>
          <p:cNvSpPr txBox="1"/>
          <p:nvPr/>
        </p:nvSpPr>
        <p:spPr>
          <a:xfrm>
            <a:off x="8103079" y="2661600"/>
            <a:ext cx="3632362" cy="50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114300" tIns="76200" rIns="114300" bIns="76200"/>
          <a:lstStyle/>
          <a:p>
            <a:pPr algn="l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Estimated outsourcing low</a:t>
            </a:r>
          </a:p>
          <a:p>
            <a:pPr algn="r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~$11.31B cumulative</a:t>
            </a:r>
          </a:p>
        </p:txBody>
      </p:sp>
      <p:sp>
        <p:nvSpPr>
          <p:cNvPr id="53" name="RangeCueValue"/>
          <p:cNvSpPr txBox="1"/>
          <p:nvPr/>
        </p:nvSpPr>
        <p:spPr>
          <a:xfrm>
            <a:off x="8103079" y="3221600"/>
            <a:ext cx="3632362" cy="50000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anchor="ctr" lIns="114300" tIns="76200" rIns="114300" bIns="76200"/>
          <a:lstStyle/>
          <a:p>
            <a:pPr algn="l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Estimated outsourcing midpoint</a:t>
            </a:r>
          </a:p>
          <a:p>
            <a:pPr algn="r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~$13.57B cumulative</a:t>
            </a:r>
          </a:p>
        </p:txBody>
      </p:sp>
      <p:sp>
        <p:nvSpPr>
          <p:cNvPr id="54" name="RangeCueValue"/>
          <p:cNvSpPr txBox="1"/>
          <p:nvPr/>
        </p:nvSpPr>
        <p:spPr>
          <a:xfrm>
            <a:off x="8103079" y="3781600"/>
            <a:ext cx="3632362" cy="50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114300" tIns="76200" rIns="114300" bIns="76200"/>
          <a:lstStyle/>
          <a:p>
            <a:pPr algn="l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Estimated outsourcing high</a:t>
            </a:r>
          </a:p>
          <a:p>
            <a:pPr algn="r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~$16.16B cumulative</a:t>
            </a:r>
          </a:p>
        </p:txBody>
      </p:sp>
      <p:sp>
        <p:nvSpPr>
          <p:cNvPr id="55" name="RangeCueValue"/>
          <p:cNvSpPr txBox="1"/>
          <p:nvPr/>
        </p:nvSpPr>
        <p:spPr>
          <a:xfrm>
            <a:off x="8103079" y="4341600"/>
            <a:ext cx="3632362" cy="50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114300" tIns="76200" rIns="114300" bIns="76200"/>
          <a:lstStyle/>
          <a:p>
            <a:pPr algn="l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Visible share at midpoint</a:t>
            </a:r>
          </a:p>
          <a:p>
            <a:pPr algn="r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20.1%</a:t>
            </a:r>
          </a:p>
        </p:txBody>
      </p:sp>
      <p:sp>
        <p:nvSpPr>
          <p:cNvPr id="80" name="LimitationsCommentary"/>
          <p:cNvSpPr txBox="1"/>
          <p:nvPr/>
        </p:nvSpPr>
        <p:spPr>
          <a:xfrm>
            <a:off x="453079" y="4971600"/>
            <a:ext cx="11282362" cy="7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200000" tIns="70000" rIns="200000" bIns="70000"/>
          <a:lstStyle/>
          <a:p>
            <a:pPr marL="142875" indent="-142875">
              <a:lnSpc>
                <a:spcPct val="115000"/>
              </a:lnSpc>
              <a:spcAft>
                <a:spcPts val="90"/>
              </a:spcAft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Coverage: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Direct material purchases can be booked outside subcontract reporting.</a:t>
            </a:r>
          </a:p>
          <a:p>
            <a:pPr marL="142875" indent="-142875">
              <a:lnSpc>
                <a:spcPct val="115000"/>
              </a:lnSpc>
              <a:spcAft>
                <a:spcPts val="90"/>
              </a:spcAft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Tiering: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 sub's sub is not reportable.</a:t>
            </a:r>
          </a:p>
          <a:p>
            <a:pPr marL="142875" indent="-142875">
              <a:lnSpc>
                <a:spcPct val="115000"/>
              </a:lnSpc>
              <a:spcAft>
                <a:spcPts val="90"/>
              </a:spcAft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Reporting: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FY23-27 BIW master shows a major reporting gap.</a:t>
            </a:r>
          </a:p>
          <a:p>
            <a:pPr marL="142875" indent="-142875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Timing: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Recent years are still affected by reporting lag.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FAR 52.204-10; SAM.gov Acquisition Subaward Reporting Public API; GAO-25-106286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Appendix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Bucket Rules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Bucket Rules | Description-led classification maps subawards into seven target work types</a:t>
            </a:r>
          </a:p>
        </p:txBody>
      </p:sp>
      <p:sp>
        <p:nvSpPr>
          <p:cNvPr id="10" name="ExhibitTitle"/>
          <p:cNvSpPr txBox="1"/>
          <p:nvPr/>
        </p:nvSpPr>
        <p:spPr>
          <a:xfrm>
            <a:off x="453079" y="1401600"/>
            <a:ext cx="11282362" cy="3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Bucket rules and evidence limits</a:t>
            </a:r>
          </a:p>
          <a:p>
            <a:pPr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Scale: TAM basis ~$573M per year; seven named buckets ~$327M per year (57.1%); unbucketed and ambiguous residual ~$246M per year (42.9%).</a:t>
            </a:r>
          </a:p>
        </p:txBody>
      </p:sp>
      <p:graphicFrame>
        <p:nvGraphicFramePr>
          <p:cNvPr id="20" name="BucketRulesTable"/>
          <p:cNvGraphicFramePr>
            <a:graphicFrameLocks noGrp="1"/>
          </p:cNvGraphicFramePr>
          <p:nvPr/>
        </p:nvGraphicFramePr>
        <p:xfrm>
          <a:off x="453079" y="1781600"/>
          <a:ext cx="11282362" cy="3108960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2100000"/>
                <a:gridCol w="2730000"/>
                <a:gridCol w="1700000"/>
                <a:gridCol w="1900000"/>
                <a:gridCol w="2852362"/>
              </a:tblGrid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Bucket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Description cues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Scenario use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Supplier evidence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Evidence limits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Structural fabrication and pre-outfit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hull sections; structural metal; deckhouse; pre-outfit modules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Metal; Modular; Broad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Bucket Evidence top vendors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mixed fabrication and module descriptions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Machining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machine shops; gears; shafts; bearings; power transmission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Metal; HM&amp;E; Broad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Bucket Evidence top vendors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overlaps metal and HM&amp;E by design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Castings and forgings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forgings; foundries; cast components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Metal; Broad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Bucket Evidence top vendors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small bucket; do not over-interpret precision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Piping, valves, and pumps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valves; pumps; manifolds; piping; fittings; hydraulics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HM&amp;E; Broad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Bucket Evidence top vendors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HM&amp;E descriptions can be ambiguous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Electrical and power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switchgear; cable; power distribution; generators; motors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Electrical and power; Broad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Bucket Evidence top vendors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screen GFE-adjacent electronics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HVAC and ventilation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air conditioning; chilled water; ventilation; AHUs; ductwork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HM&amp;E; Broad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Bucket Evidence top vendors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sparse records and mixed services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Coatings and insulation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coatings; paint; deck covering; insulation; non-skid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Modular; Broad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Bucket Evidence top vendors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low-dollar bucket; description-led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Unbucketed and ambiguous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parent unknown; GFE-adjacent specialty; no clean cue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Residual, not broad SAM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Keep explicit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evidence ambiguity, not zero market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80" name="BucketRulesCommentary"/>
          <p:cNvSpPr txBox="1"/>
          <p:nvPr/>
        </p:nvSpPr>
        <p:spPr>
          <a:xfrm>
            <a:off x="453079" y="4970560"/>
            <a:ext cx="11282362" cy="8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200000" tIns="70000" rIns="200000" bIns="70000" numCol="2" spcCol="91440"/>
          <a:lstStyle/>
          <a:p>
            <a:pPr marL="142875" indent="-142875">
              <a:lnSpc>
                <a:spcPct val="115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Rules: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SAM scenarios are work-type menus selected from TAM.</a:t>
            </a:r>
          </a:p>
          <a:p>
            <a:pPr marL="142875" indent="-142875">
              <a:lnSpc>
                <a:spcPct val="115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Overlap: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Some buckets appear in more than one scenario, so scenarios are not additive.</a:t>
            </a:r>
          </a:p>
          <a:p>
            <a:pPr marL="142875" indent="-142875">
              <a:lnSpc>
                <a:spcPct val="115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Residual: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Unbucketed and ambiguous remains visible and should not be forced into a named bucket.</a:t>
            </a:r>
          </a:p>
          <a:p>
            <a:pPr marL="142875" indent="-142875">
              <a:lnSpc>
                <a:spcPct val="115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Supplier evidence: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Top-vendor rows should come from Bucket Evidence or Vendors tie-outs, not inference.</a:t>
            </a:r>
          </a:p>
          <a:p>
            <a:pPr marL="142875" indent="-142875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Use: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This is not SOM and no capture probability is applied.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SAM.gov Acquisition Subaward Reporting Public API; SAM.gov Entity Management API; FAR 52.204-10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Saronic Theme">
  <a:themeElements>
    <a:clrScheme name="Saronic">
      <a:dk1>
        <a:srgbClr val="162029"/>
      </a:dk1>
      <a:lt1>
        <a:srgbClr val="FFFFFF"/>
      </a:lt1>
      <a:dk2>
        <a:srgbClr val="44505C"/>
      </a:dk2>
      <a:lt2>
        <a:srgbClr val="F2F6FA"/>
      </a:lt2>
      <a:accent1>
        <a:srgbClr val="79838F"/>
      </a:accent1>
      <a:accent2>
        <a:srgbClr val="1D4D68"/>
      </a:accent2>
      <a:accent3>
        <a:srgbClr val="486D82"/>
      </a:accent3>
      <a:accent4>
        <a:srgbClr val="89A2B0"/>
      </a:accent4>
      <a:accent5>
        <a:srgbClr val="AFC2CC"/>
      </a:accent5>
      <a:accent6>
        <a:srgbClr val="D8E3EB"/>
      </a:accent6>
      <a:hlink>
        <a:srgbClr val="1D4D68"/>
      </a:hlink>
      <a:folHlink>
        <a:srgbClr val="89A2B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97799b1f-9a79-4131-92f4-d7e1a1e8fbf9}" enabled="0" method="" siteId="{97799b1f-9a79-4131-92f4-d7e1a1e8fbf9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Application>deck_ddg</Application>
  <PresentationFormat>Widescreen</PresentationFormat>
  <Slides>25</Slides>
  <Notes>0</Notes>
  <HiddenSlides>0</HiddenSlides>
  <MMClips>0</MMClip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Distributed Shipbuilding Destroyers - Outsourced Construction TAM &amp; SAM</dc:title>
  <dc:creator>deck_ddg build_deck.py</dc:creator>
  <cp:lastModifiedBy>deck_ddg build_deck.py</cp:lastModifiedBy>
  <cp:revision>1</cp:revision>
  <dcterms:created xsi:type="dcterms:W3CDTF">2026-06-20T23:29:49Z</dcterms:created>
  <dcterms:modified xsi:type="dcterms:W3CDTF">2026-06-20T23:29:49Z</dcterms:modified>
</cp:coreProperties>
</file>