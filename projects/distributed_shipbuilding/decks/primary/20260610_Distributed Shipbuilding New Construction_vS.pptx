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eg"/>
  <Default Extension="png" ContentType="image/png"/>
  <Default Extension="svg" ContentType="image/svg+xml"/>
  <Default Extension="emf" ContentType="image/x-emf"/>
  <Default Extension="bin" ContentType="application/vnd.openxmlformats-officedocument.oleObjec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embeddings/Microsoft_Excel_BinaryWorksheet1.xlsb" ContentType="application/vnd.ms-excel.sheet.binary.macroEnabled.12"/>
  <Override PartName="/ppt/embeddings/Microsoft_Excel_BinaryWorksheet2.xlsb" ContentType="application/vnd.ms-excel.sheet.binary.macroEnabled.12"/>
  <Override PartName="/ppt/embeddings/Microsoft_Excel_BinaryWorksheet3.xlsb" ContentType="application/vnd.ms-excel.sheet.binary.macroEnabled.12"/>
  <Override PartName="/ppt/embeddings/Microsoft_Excel_BinaryWorksheet4.xlsb" ContentType="application/vnd.ms-excel.sheet.binary.macroEnabled.12"/>
  <Override PartName="/ppt/embeddings/Microsoft_Excel_BinaryWorksheet5.xlsb" ContentType="application/vnd.ms-excel.sheet.binary.macroEnabled.12"/>
  <Override PartName="/ppt/embeddings/Microsoft_Excel_Worksheet6.xlsx" ContentType="application/vnd.openxmlformats-officedocument.spreadsheetml.sheet"/>
  <Override PartName="/ppt/theme/theme1.xml" ContentType="application/vnd.openxmlformats-officedocument.theme+xml"/>
  <Override PartName="/ppt/theme/theme2.xml" ContentType="application/vnd.openxmlformats-officedocument.theme+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handoutMasterIdLst>
    <p:handoutMasterId r:id="rId16"/>
  </p:handout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12192000" cy="6858000"/>
  <p:notesSz cx="6934200" cy="9220200"/>
  <p:defaultTextStyle>
    <a:defPPr>
      <a:defRPr lang="en-US"/>
    </a:defPPr>
    <a:lvl1pPr marL="0" algn="l" defTabSz="914400" rtl="0" eaLnBrk="1" latinLnBrk="0" hangingPunct="1">
      <a:defRPr sz="1800" kern="1200">
        <a:solidFill>
          <a:schemeClr val="tx1"/>
        </a:solidFill>
        <a:latin typeface="+mn-lt"/>
        <a:ea typeface="+mn-ea"/>
        <a:cs typeface="+mn-cs"/>
      </a:defRPr>
    </a:lvl1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D5972"/>
    <a:srgbClr val="6E91B1"/>
    <a:srgbClr val="B6C8D8"/>
    <a:srgbClr val="E2E9EF"/>
    <a:srgbClr val="F2F2F2"/>
    <a:srgbClr val="447BB2"/>
    <a:srgbClr val="D1D1D1"/>
    <a:srgbClr val="BFBFBF"/>
    <a:srgbClr val="1D4D68"/>
    <a:srgbClr val="79838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838" autoAdjust="0"/>
    <p:restoredTop sz="94660"/>
  </p:normalViewPr>
  <p:slideViewPr>
    <p:cSldViewPr snapToGrid="0">
      <p:cViewPr varScale="1">
        <p:scale>
          <a:sx n="97" d="100"/>
          <a:sy n="97" d="100"/>
        </p:scale>
        <p:origin x="1038" y="66"/>
      </p:cViewPr>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handoutMaster" Target="handoutMasters/handout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BinaryWorksheet1.xlsb"/></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BinaryWorksheet2.xlsb"/></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BinaryWorksheet3.xlsb"/></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BinaryWorksheet4.xlsb"/></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BinaryWorksheet5.xlsb"/></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3.0057803468208091E-2"/>
          <c:y val="5.2052785923753668E-2"/>
          <c:w val="0.93988439306358385"/>
          <c:h val="0.89589442815249265"/>
        </c:manualLayout>
      </c:layout>
      <c:barChart>
        <c:barDir val="bar"/>
        <c:grouping val="stacked"/>
        <c:varyColors val="0"/>
        <c:ser>
          <c:idx val="0"/>
          <c:order val="0"/>
          <c:spPr>
            <a:noFill/>
            <a:ln>
              <a:noFill/>
            </a:ln>
          </c:spPr>
          <c:invertIfNegative val="0"/>
          <c:dPt>
            <c:idx val="0"/>
            <c:invertIfNegative val="0"/>
            <c:bubble3D val="0"/>
            <c:spPr>
              <a:solidFill>
                <a:schemeClr val="accent1"/>
              </a:solidFill>
              <a:ln>
                <a:noFill/>
              </a:ln>
            </c:spPr>
            <c:extLst>
              <c:ext xmlns:c16="http://schemas.microsoft.com/office/drawing/2014/chart" uri="{C3380CC4-5D6E-409C-BE32-E72D297353CC}">
                <c16:uniqueId val="{00000000-2D0E-4053-98A3-9A79FB46A0C2}"/>
              </c:ext>
            </c:extLst>
          </c:dPt>
          <c:dPt>
            <c:idx val="3"/>
            <c:invertIfNegative val="0"/>
            <c:bubble3D val="0"/>
            <c:spPr>
              <a:solidFill>
                <a:schemeClr val="accent1"/>
              </a:solidFill>
              <a:ln>
                <a:noFill/>
              </a:ln>
            </c:spPr>
            <c:extLst>
              <c:ext xmlns:c16="http://schemas.microsoft.com/office/drawing/2014/chart" uri="{C3380CC4-5D6E-409C-BE32-E72D297353CC}">
                <c16:uniqueId val="{00000001-2D0E-4053-98A3-9A79FB46A0C2}"/>
              </c:ext>
            </c:extLst>
          </c:dPt>
          <c:dPt>
            <c:idx val="6"/>
            <c:invertIfNegative val="0"/>
            <c:bubble3D val="0"/>
            <c:spPr>
              <a:solidFill>
                <a:srgbClr val="000000"/>
              </a:solidFill>
              <a:ln>
                <a:noFill/>
              </a:ln>
            </c:spPr>
            <c:extLst>
              <c:ext xmlns:c16="http://schemas.microsoft.com/office/drawing/2014/chart" uri="{C3380CC4-5D6E-409C-BE32-E72D297353CC}">
                <c16:uniqueId val="{00000002-2D0E-4053-98A3-9A79FB46A0C2}"/>
              </c:ext>
            </c:extLst>
          </c:dPt>
          <c:dLbls>
            <c:dLbl>
              <c:idx val="0"/>
              <c:layout>
                <c:manualLayout>
                  <c:x val="0"/>
                  <c:y val="0"/>
                </c:manualLayout>
              </c:layout>
              <c:numFmt formatCode="#,##0;#,##0" sourceLinked="0"/>
              <c:spPr>
                <a:noFill/>
                <a:ln>
                  <a:noFill/>
                </a:ln>
              </c:spPr>
              <c:txPr>
                <a:bodyPr wrap="none"/>
                <a:lstStyle/>
                <a:p>
                  <a:pPr>
                    <a:defRPr sz="10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0-2D0E-4053-98A3-9A79FB46A0C2}"/>
                </c:ext>
              </c:extLst>
            </c:dLbl>
            <c:dLbl>
              <c:idx val="3"/>
              <c:layout>
                <c:manualLayout>
                  <c:x val="0"/>
                  <c:y val="0"/>
                </c:manualLayout>
              </c:layout>
              <c:numFmt formatCode="#,##0;#,##0" sourceLinked="0"/>
              <c:spPr>
                <a:noFill/>
                <a:ln>
                  <a:noFill/>
                </a:ln>
              </c:spPr>
              <c:txPr>
                <a:bodyPr wrap="none"/>
                <a:lstStyle/>
                <a:p>
                  <a:pPr>
                    <a:defRPr sz="10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1-2D0E-4053-98A3-9A79FB46A0C2}"/>
                </c:ext>
              </c:extLst>
            </c:dLbl>
            <c:dLbl>
              <c:idx val="6"/>
              <c:layout>
                <c:manualLayout>
                  <c:x val="0"/>
                  <c:y val="0"/>
                </c:manualLayout>
              </c:layout>
              <c:numFmt formatCode="#,##0;#,##0" sourceLinked="0"/>
              <c:spPr>
                <a:noFill/>
                <a:ln>
                  <a:noFill/>
                </a:ln>
              </c:spPr>
              <c:txPr>
                <a:bodyPr wrap="none"/>
                <a:lstStyle/>
                <a:p>
                  <a:pPr>
                    <a:defRPr sz="10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2-2D0E-4053-98A3-9A79FB46A0C2}"/>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val>
            <c:numRef>
              <c:f>Sheet1!$A$1:$G$1</c:f>
              <c:numCache>
                <c:formatCode>General</c:formatCode>
                <c:ptCount val="7"/>
                <c:pt idx="0">
                  <c:v>90.223471970000006</c:v>
                </c:pt>
                <c:pt idx="1">
                  <c:v>71.05496661892461</c:v>
                </c:pt>
                <c:pt idx="2">
                  <c:v>60.565462798924614</c:v>
                </c:pt>
                <c:pt idx="3">
                  <c:v>60.565462798924614</c:v>
                </c:pt>
                <c:pt idx="4">
                  <c:v>18.133846531924611</c:v>
                </c:pt>
                <c:pt idx="6">
                  <c:v>18.133846531924611</c:v>
                </c:pt>
              </c:numCache>
            </c:numRef>
          </c:val>
          <c:extLst>
            <c:ext xmlns:c16="http://schemas.microsoft.com/office/drawing/2014/chart" uri="{C3380CC4-5D6E-409C-BE32-E72D297353CC}">
              <c16:uniqueId val="{00000003-2D0E-4053-98A3-9A79FB46A0C2}"/>
            </c:ext>
          </c:extLst>
        </c:ser>
        <c:ser>
          <c:idx val="1"/>
          <c:order val="1"/>
          <c:spPr>
            <a:solidFill>
              <a:schemeClr val="accent3"/>
            </a:solidFill>
            <a:ln>
              <a:noFill/>
            </a:ln>
          </c:spPr>
          <c:invertIfNegative val="0"/>
          <c:dPt>
            <c:idx val="1"/>
            <c:invertIfNegative val="0"/>
            <c:bubble3D val="0"/>
            <c:spPr>
              <a:solidFill>
                <a:schemeClr val="accent5"/>
              </a:solidFill>
              <a:ln>
                <a:noFill/>
              </a:ln>
            </c:spPr>
            <c:extLst>
              <c:ext xmlns:c16="http://schemas.microsoft.com/office/drawing/2014/chart" uri="{C3380CC4-5D6E-409C-BE32-E72D297353CC}">
                <c16:uniqueId val="{00000004-2D0E-4053-98A3-9A79FB46A0C2}"/>
              </c:ext>
            </c:extLst>
          </c:dPt>
          <c:dPt>
            <c:idx val="2"/>
            <c:invertIfNegative val="0"/>
            <c:bubble3D val="0"/>
            <c:spPr>
              <a:solidFill>
                <a:schemeClr val="accent4"/>
              </a:solidFill>
              <a:ln>
                <a:noFill/>
              </a:ln>
            </c:spPr>
            <c:extLst>
              <c:ext xmlns:c16="http://schemas.microsoft.com/office/drawing/2014/chart" uri="{C3380CC4-5D6E-409C-BE32-E72D297353CC}">
                <c16:uniqueId val="{00000005-2D0E-4053-98A3-9A79FB46A0C2}"/>
              </c:ext>
            </c:extLst>
          </c:dPt>
          <c:dLbls>
            <c:dLbl>
              <c:idx val="1"/>
              <c:layout>
                <c:manualLayout>
                  <c:x val="0"/>
                  <c:y val="0"/>
                </c:manualLayout>
              </c:layout>
              <c:numFmt formatCode="#,##0;#,##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4-2D0E-4053-98A3-9A79FB46A0C2}"/>
                </c:ext>
              </c:extLst>
            </c:dLbl>
            <c:dLbl>
              <c:idx val="2"/>
              <c:layout>
                <c:manualLayout>
                  <c:x val="0"/>
                  <c:y val="0"/>
                </c:manualLayout>
              </c:layout>
              <c:numFmt formatCode="#,##0;#,##0" sourceLinked="0"/>
              <c:spPr>
                <a:noFill/>
                <a:ln>
                  <a:noFill/>
                </a:ln>
              </c:spPr>
              <c:txPr>
                <a:bodyPr wrap="none"/>
                <a:lstStyle/>
                <a:p>
                  <a:pPr>
                    <a:defRPr sz="10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5-2D0E-4053-98A3-9A79FB46A0C2}"/>
                </c:ext>
              </c:extLst>
            </c:dLbl>
            <c:dLbl>
              <c:idx val="4"/>
              <c:layout>
                <c:manualLayout>
                  <c:x val="0"/>
                  <c:y val="0"/>
                </c:manualLayout>
              </c:layout>
              <c:numFmt formatCode="#,##0;#,##0" sourceLinked="0"/>
              <c:spPr>
                <a:noFill/>
                <a:ln>
                  <a:noFill/>
                </a:ln>
              </c:spPr>
              <c:txPr>
                <a:bodyPr wrap="none"/>
                <a:lstStyle/>
                <a:p>
                  <a:pPr>
                    <a:defRPr sz="10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6-2D0E-4053-98A3-9A79FB46A0C2}"/>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val>
            <c:numRef>
              <c:f>Sheet1!$A$2:$G$2</c:f>
              <c:numCache>
                <c:formatCode>General</c:formatCode>
                <c:ptCount val="7"/>
                <c:pt idx="1">
                  <c:v>19.168505351075396</c:v>
                </c:pt>
                <c:pt idx="2">
                  <c:v>10.489503819999996</c:v>
                </c:pt>
                <c:pt idx="4">
                  <c:v>42.431616267000003</c:v>
                </c:pt>
              </c:numCache>
            </c:numRef>
          </c:val>
          <c:extLst>
            <c:ext xmlns:c16="http://schemas.microsoft.com/office/drawing/2014/chart" uri="{C3380CC4-5D6E-409C-BE32-E72D297353CC}">
              <c16:uniqueId val="{00000007-2D0E-4053-98A3-9A79FB46A0C2}"/>
            </c:ext>
          </c:extLst>
        </c:ser>
        <c:dLbls>
          <c:showLegendKey val="0"/>
          <c:showVal val="0"/>
          <c:showCatName val="0"/>
          <c:showSerName val="0"/>
          <c:showPercent val="0"/>
          <c:showBubbleSize val="0"/>
        </c:dLbls>
        <c:gapWidth val="80"/>
        <c:overlap val="100"/>
        <c:axId val="1909047344"/>
        <c:axId val="1"/>
      </c:barChart>
      <c:catAx>
        <c:axId val="1909047344"/>
        <c:scaling>
          <c:orientation val="maxMin"/>
        </c:scaling>
        <c:delete val="0"/>
        <c:axPos val="l"/>
        <c:majorGridlines>
          <c:spPr>
            <a:ln>
              <a:noFill/>
            </a:ln>
          </c:spPr>
        </c:majorGridlines>
        <c:majorTickMark val="none"/>
        <c:minorTickMark val="none"/>
        <c:tickLblPos val="none"/>
        <c:spPr>
          <a:ln w="9525" cmpd="sng" algn="ctr">
            <a:solidFill>
              <a:schemeClr val="tx1"/>
            </a:solidFill>
            <a:prstDash val="solid"/>
          </a:ln>
        </c:spPr>
        <c:crossAx val="1"/>
        <c:crosses val="min"/>
        <c:auto val="0"/>
        <c:lblAlgn val="ctr"/>
        <c:lblOffset val="100"/>
        <c:noMultiLvlLbl val="0"/>
      </c:catAx>
      <c:valAx>
        <c:axId val="1"/>
        <c:scaling>
          <c:orientation val="minMax"/>
          <c:max val="90.223471970000006"/>
          <c:min val="0"/>
        </c:scaling>
        <c:delete val="0"/>
        <c:axPos val="t"/>
        <c:majorGridlines>
          <c:spPr>
            <a:ln>
              <a:noFill/>
            </a:ln>
          </c:spPr>
        </c:majorGridlines>
        <c:numFmt formatCode="General" sourceLinked="1"/>
        <c:majorTickMark val="none"/>
        <c:minorTickMark val="none"/>
        <c:tickLblPos val="none"/>
        <c:spPr>
          <a:ln>
            <a:noFill/>
          </a:ln>
        </c:spPr>
        <c:crossAx val="1909047344"/>
        <c:crosses val="min"/>
        <c:crossBetween val="between"/>
      </c:valAx>
    </c:plotArea>
    <c:plotVisOnly val="0"/>
    <c:dispBlanksAs val="gap"/>
    <c:showDLblsOverMax val="1"/>
  </c:chart>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3.0057803468208091E-2"/>
          <c:y val="5.2052785923753668E-2"/>
          <c:w val="0.93988439306358385"/>
          <c:h val="0.89589442815249265"/>
        </c:manualLayout>
      </c:layout>
      <c:barChart>
        <c:barDir val="bar"/>
        <c:grouping val="stacked"/>
        <c:varyColors val="0"/>
        <c:ser>
          <c:idx val="0"/>
          <c:order val="0"/>
          <c:spPr>
            <a:noFill/>
            <a:ln>
              <a:noFill/>
            </a:ln>
          </c:spPr>
          <c:invertIfNegative val="0"/>
          <c:dPt>
            <c:idx val="0"/>
            <c:invertIfNegative val="0"/>
            <c:bubble3D val="0"/>
            <c:spPr>
              <a:solidFill>
                <a:schemeClr val="accent1"/>
              </a:solidFill>
              <a:ln>
                <a:noFill/>
              </a:ln>
            </c:spPr>
            <c:extLst>
              <c:ext xmlns:c16="http://schemas.microsoft.com/office/drawing/2014/chart" uri="{C3380CC4-5D6E-409C-BE32-E72D297353CC}">
                <c16:uniqueId val="{00000000-F470-4C54-B7A9-5CE2E3705EEB}"/>
              </c:ext>
            </c:extLst>
          </c:dPt>
          <c:dPt>
            <c:idx val="3"/>
            <c:invertIfNegative val="0"/>
            <c:bubble3D val="0"/>
            <c:spPr>
              <a:solidFill>
                <a:schemeClr val="accent1"/>
              </a:solidFill>
              <a:ln>
                <a:noFill/>
              </a:ln>
            </c:spPr>
            <c:extLst>
              <c:ext xmlns:c16="http://schemas.microsoft.com/office/drawing/2014/chart" uri="{C3380CC4-5D6E-409C-BE32-E72D297353CC}">
                <c16:uniqueId val="{00000001-F470-4C54-B7A9-5CE2E3705EEB}"/>
              </c:ext>
            </c:extLst>
          </c:dPt>
          <c:dPt>
            <c:idx val="6"/>
            <c:invertIfNegative val="0"/>
            <c:bubble3D val="0"/>
            <c:spPr>
              <a:solidFill>
                <a:srgbClr val="000000"/>
              </a:solidFill>
              <a:ln>
                <a:noFill/>
              </a:ln>
            </c:spPr>
            <c:extLst>
              <c:ext xmlns:c16="http://schemas.microsoft.com/office/drawing/2014/chart" uri="{C3380CC4-5D6E-409C-BE32-E72D297353CC}">
                <c16:uniqueId val="{00000002-F470-4C54-B7A9-5CE2E3705EEB}"/>
              </c:ext>
            </c:extLst>
          </c:dPt>
          <c:dLbls>
            <c:dLbl>
              <c:idx val="0"/>
              <c:layout>
                <c:manualLayout>
                  <c:x val="0"/>
                  <c:y val="0"/>
                </c:manualLayout>
              </c:layout>
              <c:numFmt formatCode="#,##0;#,##0" sourceLinked="0"/>
              <c:spPr>
                <a:noFill/>
                <a:ln>
                  <a:noFill/>
                </a:ln>
              </c:spPr>
              <c:txPr>
                <a:bodyPr wrap="none"/>
                <a:lstStyle/>
                <a:p>
                  <a:pPr>
                    <a:defRPr sz="10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0-F470-4C54-B7A9-5CE2E3705EEB}"/>
                </c:ext>
              </c:extLst>
            </c:dLbl>
            <c:dLbl>
              <c:idx val="6"/>
              <c:layout>
                <c:manualLayout>
                  <c:x val="0.10809248554913295"/>
                  <c:y val="0"/>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2-F470-4C54-B7A9-5CE2E3705EEB}"/>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val>
            <c:numRef>
              <c:f>Sheet1!$A$1:$G$1</c:f>
              <c:numCache>
                <c:formatCode>General</c:formatCode>
                <c:ptCount val="7"/>
                <c:pt idx="0">
                  <c:v>36.592092200000003</c:v>
                </c:pt>
                <c:pt idx="1">
                  <c:v>24.866334960000003</c:v>
                </c:pt>
                <c:pt idx="2">
                  <c:v>22.590654890000003</c:v>
                </c:pt>
                <c:pt idx="3">
                  <c:v>22.590654890000003</c:v>
                </c:pt>
                <c:pt idx="4">
                  <c:v>6.4217296800000021</c:v>
                </c:pt>
                <c:pt idx="6">
                  <c:v>6.4217296800000057</c:v>
                </c:pt>
              </c:numCache>
            </c:numRef>
          </c:val>
          <c:extLst>
            <c:ext xmlns:c16="http://schemas.microsoft.com/office/drawing/2014/chart" uri="{C3380CC4-5D6E-409C-BE32-E72D297353CC}">
              <c16:uniqueId val="{00000003-F470-4C54-B7A9-5CE2E3705EEB}"/>
            </c:ext>
          </c:extLst>
        </c:ser>
        <c:ser>
          <c:idx val="1"/>
          <c:order val="1"/>
          <c:spPr>
            <a:solidFill>
              <a:schemeClr val="accent3"/>
            </a:solidFill>
            <a:ln>
              <a:noFill/>
            </a:ln>
          </c:spPr>
          <c:invertIfNegative val="0"/>
          <c:dPt>
            <c:idx val="0"/>
            <c:invertIfNegative val="0"/>
            <c:bubble3D val="0"/>
            <c:spPr>
              <a:pattFill prst="ltUpDiag">
                <a:fgClr>
                  <a:schemeClr val="tx1"/>
                </a:fgClr>
                <a:bgClr>
                  <a:schemeClr val="bg1"/>
                </a:bgClr>
              </a:pattFill>
              <a:ln>
                <a:noFill/>
              </a:ln>
            </c:spPr>
            <c:extLst>
              <c:ext xmlns:c16="http://schemas.microsoft.com/office/drawing/2014/chart" uri="{C3380CC4-5D6E-409C-BE32-E72D297353CC}">
                <c16:uniqueId val="{00000004-F470-4C54-B7A9-5CE2E3705EEB}"/>
              </c:ext>
            </c:extLst>
          </c:dPt>
          <c:dPt>
            <c:idx val="1"/>
            <c:invertIfNegative val="0"/>
            <c:bubble3D val="0"/>
            <c:spPr>
              <a:solidFill>
                <a:schemeClr val="accent5"/>
              </a:solidFill>
              <a:ln>
                <a:noFill/>
              </a:ln>
            </c:spPr>
            <c:extLst>
              <c:ext xmlns:c16="http://schemas.microsoft.com/office/drawing/2014/chart" uri="{C3380CC4-5D6E-409C-BE32-E72D297353CC}">
                <c16:uniqueId val="{00000005-F470-4C54-B7A9-5CE2E3705EEB}"/>
              </c:ext>
            </c:extLst>
          </c:dPt>
          <c:dPt>
            <c:idx val="2"/>
            <c:invertIfNegative val="0"/>
            <c:bubble3D val="0"/>
            <c:spPr>
              <a:solidFill>
                <a:schemeClr val="accent4"/>
              </a:solidFill>
              <a:ln>
                <a:noFill/>
              </a:ln>
            </c:spPr>
            <c:extLst>
              <c:ext xmlns:c16="http://schemas.microsoft.com/office/drawing/2014/chart" uri="{C3380CC4-5D6E-409C-BE32-E72D297353CC}">
                <c16:uniqueId val="{00000006-F470-4C54-B7A9-5CE2E3705EEB}"/>
              </c:ext>
            </c:extLst>
          </c:dPt>
          <c:dLbls>
            <c:dLbl>
              <c:idx val="1"/>
              <c:layout>
                <c:manualLayout>
                  <c:x val="0"/>
                  <c:y val="0"/>
                </c:manualLayout>
              </c:layout>
              <c:numFmt formatCode="#,##0;#,##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5-F470-4C54-B7A9-5CE2E3705EEB}"/>
                </c:ext>
              </c:extLst>
            </c:dLbl>
            <c:dLbl>
              <c:idx val="2"/>
              <c:layout>
                <c:manualLayout>
                  <c:x val="0"/>
                  <c:y val="0"/>
                </c:manualLayout>
              </c:layout>
              <c:numFmt formatCode="#,##0;#,##0" sourceLinked="0"/>
              <c:spPr>
                <a:noFill/>
                <a:ln>
                  <a:noFill/>
                </a:ln>
              </c:spPr>
              <c:txPr>
                <a:bodyPr wrap="none"/>
                <a:lstStyle/>
                <a:p>
                  <a:pPr>
                    <a:defRPr sz="10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6-F470-4C54-B7A9-5CE2E3705EEB}"/>
                </c:ext>
              </c:extLst>
            </c:dLbl>
            <c:dLbl>
              <c:idx val="4"/>
              <c:layout>
                <c:manualLayout>
                  <c:x val="-5.7803468208092489E-4"/>
                  <c:y val="0"/>
                </c:manualLayout>
              </c:layout>
              <c:numFmt formatCode="#,##0;#,##0" sourceLinked="0"/>
              <c:spPr>
                <a:noFill/>
                <a:ln>
                  <a:noFill/>
                </a:ln>
              </c:spPr>
              <c:txPr>
                <a:bodyPr wrap="none"/>
                <a:lstStyle/>
                <a:p>
                  <a:pPr>
                    <a:defRPr sz="10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7-F470-4C54-B7A9-5CE2E3705EEB}"/>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val>
            <c:numRef>
              <c:f>Sheet1!$A$2:$G$2</c:f>
              <c:numCache>
                <c:formatCode>General</c:formatCode>
                <c:ptCount val="7"/>
                <c:pt idx="0">
                  <c:v>1.0423299999999998</c:v>
                </c:pt>
                <c:pt idx="1">
                  <c:v>12.76808724</c:v>
                </c:pt>
                <c:pt idx="2">
                  <c:v>2.2756800699999999</c:v>
                </c:pt>
                <c:pt idx="4">
                  <c:v>16.168925210000001</c:v>
                </c:pt>
              </c:numCache>
            </c:numRef>
          </c:val>
          <c:extLst>
            <c:ext xmlns:c16="http://schemas.microsoft.com/office/drawing/2014/chart" uri="{C3380CC4-5D6E-409C-BE32-E72D297353CC}">
              <c16:uniqueId val="{00000008-F470-4C54-B7A9-5CE2E3705EEB}"/>
            </c:ext>
          </c:extLst>
        </c:ser>
        <c:dLbls>
          <c:showLegendKey val="0"/>
          <c:showVal val="0"/>
          <c:showCatName val="0"/>
          <c:showSerName val="0"/>
          <c:showPercent val="0"/>
          <c:showBubbleSize val="0"/>
        </c:dLbls>
        <c:gapWidth val="80"/>
        <c:overlap val="100"/>
        <c:axId val="675489231"/>
        <c:axId val="1"/>
      </c:barChart>
      <c:catAx>
        <c:axId val="675489231"/>
        <c:scaling>
          <c:orientation val="maxMin"/>
        </c:scaling>
        <c:delete val="0"/>
        <c:axPos val="l"/>
        <c:majorGridlines>
          <c:spPr>
            <a:ln>
              <a:noFill/>
            </a:ln>
          </c:spPr>
        </c:majorGridlines>
        <c:majorTickMark val="none"/>
        <c:minorTickMark val="none"/>
        <c:tickLblPos val="none"/>
        <c:spPr>
          <a:ln w="9525" cmpd="sng" algn="ctr">
            <a:solidFill>
              <a:schemeClr val="tx1"/>
            </a:solidFill>
            <a:prstDash val="solid"/>
          </a:ln>
        </c:spPr>
        <c:crossAx val="1"/>
        <c:crosses val="min"/>
        <c:auto val="0"/>
        <c:lblAlgn val="ctr"/>
        <c:lblOffset val="100"/>
        <c:noMultiLvlLbl val="0"/>
      </c:catAx>
      <c:valAx>
        <c:axId val="1"/>
        <c:scaling>
          <c:orientation val="minMax"/>
          <c:max val="37.634422200000003"/>
          <c:min val="0"/>
        </c:scaling>
        <c:delete val="0"/>
        <c:axPos val="t"/>
        <c:majorGridlines>
          <c:spPr>
            <a:ln>
              <a:noFill/>
            </a:ln>
          </c:spPr>
        </c:majorGridlines>
        <c:numFmt formatCode="General" sourceLinked="1"/>
        <c:majorTickMark val="none"/>
        <c:minorTickMark val="none"/>
        <c:tickLblPos val="none"/>
        <c:spPr>
          <a:ln>
            <a:noFill/>
          </a:ln>
        </c:spPr>
        <c:crossAx val="675489231"/>
        <c:crosses val="min"/>
        <c:crossBetween val="between"/>
      </c:valAx>
    </c:plotArea>
    <c:plotVisOnly val="0"/>
    <c:dispBlanksAs val="gap"/>
    <c:showDLblsOverMax val="1"/>
  </c:chart>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8.5557586837294336E-2"/>
          <c:y val="5.1505259339862171E-2"/>
          <c:w val="0.8954296160877514"/>
          <c:h val="0.89698948132027567"/>
        </c:manualLayout>
      </c:layout>
      <c:barChart>
        <c:barDir val="col"/>
        <c:grouping val="stacked"/>
        <c:varyColors val="0"/>
        <c:ser>
          <c:idx val="0"/>
          <c:order val="0"/>
          <c:spPr>
            <a:solidFill>
              <a:schemeClr val="accent1"/>
            </a:solidFill>
            <a:ln>
              <a:noFill/>
            </a:ln>
          </c:spPr>
          <c:invertIfNegative val="0"/>
          <c:dLbls>
            <c:dLbl>
              <c:idx val="0"/>
              <c:layout>
                <c:manualLayout>
                  <c:x val="0"/>
                  <c:y val="0"/>
                </c:manualLayout>
              </c:layout>
              <c:numFmt formatCode="#,##0.0;&quot;-&quot;#,##0.0" sourceLinked="0"/>
              <c:spPr>
                <a:noFill/>
                <a:ln>
                  <a:noFill/>
                </a:ln>
              </c:spPr>
              <c:txPr>
                <a:bodyPr wrap="none"/>
                <a:lstStyle/>
                <a:p>
                  <a:pPr>
                    <a:defRPr sz="10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0-77EE-46FF-BF6B-B260BDD9C016}"/>
                </c:ext>
              </c:extLst>
            </c:dLbl>
            <c:dLbl>
              <c:idx val="1"/>
              <c:layout>
                <c:manualLayout>
                  <c:x val="0"/>
                  <c:y val="0"/>
                </c:manualLayout>
              </c:layout>
              <c:numFmt formatCode="#,##0.0;&quot;-&quot;#,##0.0" sourceLinked="0"/>
              <c:spPr>
                <a:noFill/>
                <a:ln>
                  <a:noFill/>
                </a:ln>
              </c:spPr>
              <c:txPr>
                <a:bodyPr wrap="none"/>
                <a:lstStyle/>
                <a:p>
                  <a:pPr>
                    <a:defRPr sz="10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1-77EE-46FF-BF6B-B260BDD9C016}"/>
                </c:ext>
              </c:extLst>
            </c:dLbl>
            <c:dLbl>
              <c:idx val="2"/>
              <c:layout>
                <c:manualLayout>
                  <c:x val="0"/>
                  <c:y val="0"/>
                </c:manualLayout>
              </c:layout>
              <c:numFmt formatCode="#,##0.0;&quot;-&quot;#,##0.0" sourceLinked="0"/>
              <c:spPr>
                <a:noFill/>
                <a:ln>
                  <a:noFill/>
                </a:ln>
              </c:spPr>
              <c:txPr>
                <a:bodyPr wrap="none"/>
                <a:lstStyle/>
                <a:p>
                  <a:pPr>
                    <a:defRPr sz="10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2-77EE-46FF-BF6B-B260BDD9C016}"/>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val>
            <c:numRef>
              <c:f>Sheet1!$A$1:$C$1</c:f>
              <c:numCache>
                <c:formatCode>General</c:formatCode>
                <c:ptCount val="3"/>
                <c:pt idx="0">
                  <c:v>0.68784013200000005</c:v>
                </c:pt>
                <c:pt idx="1">
                  <c:v>2.0152642570000001</c:v>
                </c:pt>
                <c:pt idx="2">
                  <c:v>3.5796119719999999</c:v>
                </c:pt>
              </c:numCache>
            </c:numRef>
          </c:val>
          <c:extLst>
            <c:ext xmlns:c16="http://schemas.microsoft.com/office/drawing/2014/chart" uri="{C3380CC4-5D6E-409C-BE32-E72D297353CC}">
              <c16:uniqueId val="{00000003-77EE-46FF-BF6B-B260BDD9C016}"/>
            </c:ext>
          </c:extLst>
        </c:ser>
        <c:ser>
          <c:idx val="1"/>
          <c:order val="1"/>
          <c:spPr>
            <a:solidFill>
              <a:schemeClr val="accent2"/>
            </a:solidFill>
            <a:ln>
              <a:noFill/>
            </a:ln>
          </c:spPr>
          <c:invertIfNegative val="0"/>
          <c:dLbls>
            <c:dLbl>
              <c:idx val="0"/>
              <c:layout>
                <c:manualLayout>
                  <c:x val="0"/>
                  <c:y val="0"/>
                </c:manualLayout>
              </c:layout>
              <c:numFmt formatCode="#,##0.0;&quot;-&quot;#,##0.0" sourceLinked="0"/>
              <c:spPr>
                <a:noFill/>
                <a:ln>
                  <a:noFill/>
                </a:ln>
              </c:spPr>
              <c:txPr>
                <a:bodyPr wrap="none"/>
                <a:lstStyle/>
                <a:p>
                  <a:pPr>
                    <a:defRPr sz="10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4-77EE-46FF-BF6B-B260BDD9C016}"/>
                </c:ext>
              </c:extLst>
            </c:dLbl>
            <c:dLbl>
              <c:idx val="1"/>
              <c:layout>
                <c:manualLayout>
                  <c:x val="0"/>
                  <c:y val="0"/>
                </c:manualLayout>
              </c:layout>
              <c:numFmt formatCode="#,##0.0;&quot;-&quot;#,##0.0" sourceLinked="0"/>
              <c:spPr>
                <a:noFill/>
                <a:ln>
                  <a:noFill/>
                </a:ln>
              </c:spPr>
              <c:txPr>
                <a:bodyPr wrap="none"/>
                <a:lstStyle/>
                <a:p>
                  <a:pPr>
                    <a:defRPr sz="10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5-77EE-46FF-BF6B-B260BDD9C016}"/>
                </c:ext>
              </c:extLst>
            </c:dLbl>
            <c:dLbl>
              <c:idx val="2"/>
              <c:layout>
                <c:manualLayout>
                  <c:x val="0"/>
                  <c:y val="0"/>
                </c:manualLayout>
              </c:layout>
              <c:numFmt formatCode="#,##0.0;&quot;-&quot;#,##0.0" sourceLinked="0"/>
              <c:spPr>
                <a:noFill/>
                <a:ln>
                  <a:noFill/>
                </a:ln>
              </c:spPr>
              <c:txPr>
                <a:bodyPr wrap="none"/>
                <a:lstStyle/>
                <a:p>
                  <a:pPr>
                    <a:defRPr sz="10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6-77EE-46FF-BF6B-B260BDD9C016}"/>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val>
            <c:numRef>
              <c:f>Sheet1!$A$2:$C$2</c:f>
              <c:numCache>
                <c:formatCode>General</c:formatCode>
                <c:ptCount val="3"/>
                <c:pt idx="0">
                  <c:v>0.60391566499999993</c:v>
                </c:pt>
                <c:pt idx="1">
                  <c:v>0.91896297599999999</c:v>
                </c:pt>
                <c:pt idx="2">
                  <c:v>2.7926330600000004</c:v>
                </c:pt>
              </c:numCache>
            </c:numRef>
          </c:val>
          <c:extLst>
            <c:ext xmlns:c16="http://schemas.microsoft.com/office/drawing/2014/chart" uri="{C3380CC4-5D6E-409C-BE32-E72D297353CC}">
              <c16:uniqueId val="{00000007-77EE-46FF-BF6B-B260BDD9C016}"/>
            </c:ext>
          </c:extLst>
        </c:ser>
        <c:ser>
          <c:idx val="2"/>
          <c:order val="2"/>
          <c:spPr>
            <a:solidFill>
              <a:schemeClr val="accent3"/>
            </a:solidFill>
            <a:ln>
              <a:noFill/>
            </a:ln>
          </c:spPr>
          <c:invertIfNegative val="0"/>
          <c:dLbls>
            <c:dLbl>
              <c:idx val="1"/>
              <c:layout>
                <c:manualLayout>
                  <c:x val="-4.1316270566727605E-2"/>
                  <c:y val="0"/>
                </c:manualLayout>
              </c:layout>
              <c:numFmt formatCode="#,##0.0;&quot;-&quot;#,##0.0" sourceLinked="0"/>
              <c:spPr>
                <a:noFill/>
                <a:ln>
                  <a:noFill/>
                </a:ln>
              </c:spPr>
              <c:txPr>
                <a:bodyPr wrap="none"/>
                <a:lstStyle/>
                <a:p>
                  <a:pPr>
                    <a:defRPr sz="10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8-77EE-46FF-BF6B-B260BDD9C016}"/>
                </c:ext>
              </c:extLst>
            </c:dLbl>
            <c:dLbl>
              <c:idx val="2"/>
              <c:layout>
                <c:manualLayout>
                  <c:x val="0"/>
                  <c:y val="0"/>
                </c:manualLayout>
              </c:layout>
              <c:numFmt formatCode="#,##0.0;&quot;-&quot;#,##0.0" sourceLinked="0"/>
              <c:spPr>
                <a:noFill/>
                <a:ln>
                  <a:noFill/>
                </a:ln>
              </c:spPr>
              <c:txPr>
                <a:bodyPr wrap="none"/>
                <a:lstStyle/>
                <a:p>
                  <a:pPr>
                    <a:defRPr sz="10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9-77EE-46FF-BF6B-B260BDD9C016}"/>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val>
            <c:numRef>
              <c:f>Sheet1!$A$3:$C$3</c:f>
              <c:numCache>
                <c:formatCode>General</c:formatCode>
                <c:ptCount val="3"/>
                <c:pt idx="0">
                  <c:v>0.37146878000000005</c:v>
                </c:pt>
                <c:pt idx="1">
                  <c:v>0.69112669100000002</c:v>
                </c:pt>
                <c:pt idx="2">
                  <c:v>2.9251053250000005</c:v>
                </c:pt>
              </c:numCache>
            </c:numRef>
          </c:val>
          <c:extLst>
            <c:ext xmlns:c16="http://schemas.microsoft.com/office/drawing/2014/chart" uri="{C3380CC4-5D6E-409C-BE32-E72D297353CC}">
              <c16:uniqueId val="{0000000A-77EE-46FF-BF6B-B260BDD9C016}"/>
            </c:ext>
          </c:extLst>
        </c:ser>
        <c:ser>
          <c:idx val="3"/>
          <c:order val="3"/>
          <c:spPr>
            <a:solidFill>
              <a:schemeClr val="accent4"/>
            </a:solidFill>
            <a:ln>
              <a:noFill/>
            </a:ln>
          </c:spPr>
          <c:invertIfNegative val="0"/>
          <c:dLbls>
            <c:dLbl>
              <c:idx val="0"/>
              <c:layout>
                <c:manualLayout>
                  <c:x val="0"/>
                  <c:y val="-3.6271309394269132E-4"/>
                </c:manualLayout>
              </c:layout>
              <c:numFmt formatCode="#,##0.0;&quot;-&quot;#,##0.0" sourceLinked="0"/>
              <c:spPr>
                <a:noFill/>
                <a:ln>
                  <a:noFill/>
                </a:ln>
              </c:spPr>
              <c:txPr>
                <a:bodyPr wrap="none"/>
                <a:lstStyle/>
                <a:p>
                  <a:pPr>
                    <a:defRPr sz="10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B-77EE-46FF-BF6B-B260BDD9C016}"/>
                </c:ext>
              </c:extLst>
            </c:dLbl>
            <c:dLbl>
              <c:idx val="2"/>
              <c:layout>
                <c:manualLayout>
                  <c:x val="0"/>
                  <c:y val="0"/>
                </c:manualLayout>
              </c:layout>
              <c:numFmt formatCode="#,##0.0;&quot;-&quot;#,##0.0" sourceLinked="0"/>
              <c:spPr>
                <a:noFill/>
                <a:ln>
                  <a:noFill/>
                </a:ln>
              </c:spPr>
              <c:txPr>
                <a:bodyPr wrap="none"/>
                <a:lstStyle/>
                <a:p>
                  <a:pPr>
                    <a:defRPr sz="10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C-77EE-46FF-BF6B-B260BDD9C016}"/>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val>
            <c:numRef>
              <c:f>Sheet1!$A$4:$C$4</c:f>
              <c:numCache>
                <c:formatCode>General</c:formatCode>
                <c:ptCount val="3"/>
                <c:pt idx="0">
                  <c:v>2.2607818750000002</c:v>
                </c:pt>
                <c:pt idx="1">
                  <c:v>0.10813463999999984</c:v>
                </c:pt>
                <c:pt idx="2">
                  <c:v>0.60014579999999995</c:v>
                </c:pt>
              </c:numCache>
            </c:numRef>
          </c:val>
          <c:extLst>
            <c:ext xmlns:c16="http://schemas.microsoft.com/office/drawing/2014/chart" uri="{C3380CC4-5D6E-409C-BE32-E72D297353CC}">
              <c16:uniqueId val="{0000000D-77EE-46FF-BF6B-B260BDD9C016}"/>
            </c:ext>
          </c:extLst>
        </c:ser>
        <c:ser>
          <c:idx val="4"/>
          <c:order val="4"/>
          <c:spPr>
            <a:solidFill>
              <a:schemeClr val="accent5"/>
            </a:solidFill>
            <a:ln>
              <a:noFill/>
            </a:ln>
          </c:spPr>
          <c:invertIfNegative val="0"/>
          <c:dLbls>
            <c:dLbl>
              <c:idx val="1"/>
              <c:layout>
                <c:manualLayout>
                  <c:x val="0.11078610603290677"/>
                  <c:y val="9.4305404425099743E-3"/>
                </c:manualLayout>
              </c:layout>
              <c:numFmt formatCode="#,##0.0;&quot;-&quot;#,##0.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E-77EE-46FF-BF6B-B260BDD9C016}"/>
                </c:ext>
              </c:extLst>
            </c:dLbl>
            <c:dLbl>
              <c:idx val="2"/>
              <c:layout>
                <c:manualLayout>
                  <c:x val="0"/>
                  <c:y val="0"/>
                </c:manualLayout>
              </c:layout>
              <c:numFmt formatCode="#,##0.0;&quot;-&quot;#,##0.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F-77EE-46FF-BF6B-B260BDD9C016}"/>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val>
            <c:numRef>
              <c:f>Sheet1!$A$5:$C$5</c:f>
              <c:numCache>
                <c:formatCode>General</c:formatCode>
                <c:ptCount val="3"/>
                <c:pt idx="0">
                  <c:v>9.6669270000000473E-3</c:v>
                </c:pt>
                <c:pt idx="1">
                  <c:v>6.8406289999999981E-2</c:v>
                </c:pt>
                <c:pt idx="2">
                  <c:v>0.89459187900000003</c:v>
                </c:pt>
              </c:numCache>
            </c:numRef>
          </c:val>
          <c:extLst>
            <c:ext xmlns:c16="http://schemas.microsoft.com/office/drawing/2014/chart" uri="{C3380CC4-5D6E-409C-BE32-E72D297353CC}">
              <c16:uniqueId val="{00000010-77EE-46FF-BF6B-B260BDD9C016}"/>
            </c:ext>
          </c:extLst>
        </c:ser>
        <c:ser>
          <c:idx val="5"/>
          <c:order val="5"/>
          <c:spPr>
            <a:solidFill>
              <a:schemeClr val="accent6"/>
            </a:solidFill>
            <a:ln>
              <a:noFill/>
            </a:ln>
          </c:spPr>
          <c:invertIfNegative val="0"/>
          <c:dLbls>
            <c:dLbl>
              <c:idx val="2"/>
              <c:layout>
                <c:manualLayout>
                  <c:x val="-4.1316270566727605E-2"/>
                  <c:y val="0"/>
                </c:manualLayout>
              </c:layout>
              <c:numFmt formatCode="#,##0.0;&quot;-&quot;#,##0.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11-77EE-46FF-BF6B-B260BDD9C016}"/>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val>
            <c:numRef>
              <c:f>Sheet1!$A$6:$C$6</c:f>
              <c:numCache>
                <c:formatCode>General</c:formatCode>
                <c:ptCount val="3"/>
                <c:pt idx="0">
                  <c:v>0.14655910400000005</c:v>
                </c:pt>
                <c:pt idx="1">
                  <c:v>0.17871781699999989</c:v>
                </c:pt>
                <c:pt idx="2">
                  <c:v>0.60710954199999989</c:v>
                </c:pt>
              </c:numCache>
            </c:numRef>
          </c:val>
          <c:extLst>
            <c:ext xmlns:c16="http://schemas.microsoft.com/office/drawing/2014/chart" uri="{C3380CC4-5D6E-409C-BE32-E72D297353CC}">
              <c16:uniqueId val="{00000012-77EE-46FF-BF6B-B260BDD9C016}"/>
            </c:ext>
          </c:extLst>
        </c:ser>
        <c:ser>
          <c:idx val="6"/>
          <c:order val="6"/>
          <c:spPr>
            <a:solidFill>
              <a:schemeClr val="hlink"/>
            </a:solidFill>
            <a:ln>
              <a:noFill/>
            </a:ln>
          </c:spPr>
          <c:invertIfNegative val="0"/>
          <c:dLbls>
            <c:dLbl>
              <c:idx val="0"/>
              <c:layout>
                <c:manualLayout>
                  <c:x val="0"/>
                  <c:y val="0"/>
                </c:manualLayout>
              </c:layout>
              <c:numFmt formatCode="#,##0.0;&quot;-&quot;#,##0.0" sourceLinked="0"/>
              <c:spPr>
                <a:noFill/>
                <a:ln>
                  <a:noFill/>
                </a:ln>
              </c:spPr>
              <c:txPr>
                <a:bodyPr wrap="none"/>
                <a:lstStyle/>
                <a:p>
                  <a:pPr>
                    <a:defRPr sz="10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13-77EE-46FF-BF6B-B260BDD9C016}"/>
                </c:ext>
              </c:extLst>
            </c:dLbl>
            <c:dLbl>
              <c:idx val="1"/>
              <c:layout>
                <c:manualLayout>
                  <c:x val="0.11078610603290677"/>
                  <c:y val="-9.0678273485672832E-3"/>
                </c:manualLayout>
              </c:layout>
              <c:numFmt formatCode="#,##0.0;&quot;-&quot;#,##0.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14-77EE-46FF-BF6B-B260BDD9C016}"/>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val>
            <c:numRef>
              <c:f>Sheet1!$A$7:$C$7</c:f>
              <c:numCache>
                <c:formatCode>General</c:formatCode>
                <c:ptCount val="3"/>
                <c:pt idx="0">
                  <c:v>0.98415003800000012</c:v>
                </c:pt>
                <c:pt idx="1">
                  <c:v>8.6917623000000166E-2</c:v>
                </c:pt>
                <c:pt idx="2">
                  <c:v>0.10459976900000001</c:v>
                </c:pt>
              </c:numCache>
            </c:numRef>
          </c:val>
          <c:extLst>
            <c:ext xmlns:c16="http://schemas.microsoft.com/office/drawing/2014/chart" uri="{C3380CC4-5D6E-409C-BE32-E72D297353CC}">
              <c16:uniqueId val="{00000015-77EE-46FF-BF6B-B260BDD9C016}"/>
            </c:ext>
          </c:extLst>
        </c:ser>
        <c:ser>
          <c:idx val="7"/>
          <c:order val="7"/>
          <c:spPr>
            <a:pattFill prst="ltUpDiag">
              <a:fgClr>
                <a:schemeClr val="tx1"/>
              </a:fgClr>
              <a:bgClr>
                <a:schemeClr val="bg1"/>
              </a:bgClr>
            </a:pattFill>
            <a:ln>
              <a:noFill/>
            </a:ln>
          </c:spPr>
          <c:invertIfNegative val="0"/>
          <c:val>
            <c:numRef>
              <c:f>Sheet1!$A$8:$C$8</c:f>
              <c:numCache>
                <c:formatCode>General</c:formatCode>
                <c:ptCount val="3"/>
                <c:pt idx="0">
                  <c:v>1.3573471589999997</c:v>
                </c:pt>
                <c:pt idx="1">
                  <c:v>0.43955620699999987</c:v>
                </c:pt>
                <c:pt idx="2">
                  <c:v>2.1229626849999992</c:v>
                </c:pt>
              </c:numCache>
            </c:numRef>
          </c:val>
          <c:extLst>
            <c:ext xmlns:c16="http://schemas.microsoft.com/office/drawing/2014/chart" uri="{C3380CC4-5D6E-409C-BE32-E72D297353CC}">
              <c16:uniqueId val="{00000016-77EE-46FF-BF6B-B260BDD9C016}"/>
            </c:ext>
          </c:extLst>
        </c:ser>
        <c:dLbls>
          <c:showLegendKey val="0"/>
          <c:showVal val="0"/>
          <c:showCatName val="0"/>
          <c:showSerName val="0"/>
          <c:showPercent val="0"/>
          <c:showBubbleSize val="0"/>
        </c:dLbls>
        <c:gapWidth val="80"/>
        <c:overlap val="100"/>
        <c:axId val="1607055904"/>
        <c:axId val="1"/>
      </c:barChart>
      <c:catAx>
        <c:axId val="1607055904"/>
        <c:scaling>
          <c:orientation val="minMax"/>
        </c:scaling>
        <c:delete val="0"/>
        <c:axPos val="b"/>
        <c:majorGridlines>
          <c:spPr>
            <a:ln>
              <a:noFill/>
            </a:ln>
          </c:spPr>
        </c:majorGridlines>
        <c:majorTickMark val="none"/>
        <c:minorTickMark val="none"/>
        <c:tickLblPos val="none"/>
        <c:spPr>
          <a:ln w="9525" cmpd="sng" algn="ctr">
            <a:solidFill>
              <a:schemeClr val="tx1"/>
            </a:solidFill>
            <a:prstDash val="solid"/>
          </a:ln>
        </c:spPr>
        <c:crossAx val="1"/>
        <c:crosses val="min"/>
        <c:auto val="0"/>
        <c:lblAlgn val="ctr"/>
        <c:lblOffset val="100"/>
        <c:noMultiLvlLbl val="0"/>
      </c:catAx>
      <c:valAx>
        <c:axId val="1"/>
        <c:scaling>
          <c:orientation val="minMax"/>
          <c:max val="14"/>
          <c:min val="0"/>
        </c:scaling>
        <c:delete val="0"/>
        <c:axPos val="l"/>
        <c:majorGridlines>
          <c:spPr>
            <a:ln>
              <a:noFill/>
            </a:ln>
          </c:spPr>
        </c:majorGridlines>
        <c:numFmt formatCode="#,##0;&quot;-&quot;#,##0" sourceLinked="0"/>
        <c:majorTickMark val="out"/>
        <c:minorTickMark val="none"/>
        <c:tickLblPos val="nextTo"/>
        <c:spPr>
          <a:ln w="9525" cmpd="sng" algn="ctr">
            <a:solidFill>
              <a:schemeClr val="tx1"/>
            </a:solidFill>
            <a:prstDash val="solid"/>
          </a:ln>
        </c:spPr>
        <c:txPr>
          <a:bodyPr wrap="none"/>
          <a:lstStyle/>
          <a:p>
            <a:pPr>
              <a:defRPr sz="1000" kern="1200">
                <a:solidFill>
                  <a:schemeClr val="tx2"/>
                </a:solidFill>
                <a:latin typeface="+mn-lt"/>
                <a:ea typeface="+mn-ea"/>
                <a:cs typeface="+mn-cs"/>
              </a:defRPr>
            </a:pPr>
            <a:endParaRPr lang="en-US"/>
          </a:p>
        </c:txPr>
        <c:crossAx val="1607055904"/>
        <c:crosses val="min"/>
        <c:crossBetween val="between"/>
        <c:majorUnit val="1"/>
      </c:valAx>
    </c:plotArea>
    <c:plotVisOnly val="0"/>
    <c:dispBlanksAs val="gap"/>
    <c:showDLblsOverMax val="1"/>
  </c:chart>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3.3385647025253248E-2"/>
          <c:y val="9.1259640102827763E-2"/>
          <c:w val="0.95919532030246824"/>
          <c:h val="0.81748071979434445"/>
        </c:manualLayout>
      </c:layout>
      <c:barChart>
        <c:barDir val="col"/>
        <c:grouping val="stacked"/>
        <c:varyColors val="0"/>
        <c:ser>
          <c:idx val="0"/>
          <c:order val="0"/>
          <c:spPr>
            <a:solidFill>
              <a:schemeClr val="accent3"/>
            </a:solidFill>
            <a:ln>
              <a:noFill/>
            </a:ln>
          </c:spPr>
          <c:invertIfNegative val="0"/>
          <c:dPt>
            <c:idx val="0"/>
            <c:invertIfNegative val="0"/>
            <c:bubble3D val="0"/>
            <c:spPr>
              <a:solidFill>
                <a:schemeClr val="accent4"/>
              </a:solidFill>
              <a:ln>
                <a:noFill/>
              </a:ln>
            </c:spPr>
            <c:extLst>
              <c:ext xmlns:c16="http://schemas.microsoft.com/office/drawing/2014/chart" uri="{C3380CC4-5D6E-409C-BE32-E72D297353CC}">
                <c16:uniqueId val="{00000000-DF20-4971-848F-1DAC26978B78}"/>
              </c:ext>
            </c:extLst>
          </c:dPt>
          <c:dPt>
            <c:idx val="4"/>
            <c:invertIfNegative val="0"/>
            <c:bubble3D val="0"/>
            <c:spPr>
              <a:solidFill>
                <a:schemeClr val="accent4"/>
              </a:solidFill>
              <a:ln>
                <a:noFill/>
              </a:ln>
            </c:spPr>
            <c:extLst>
              <c:ext xmlns:c16="http://schemas.microsoft.com/office/drawing/2014/chart" uri="{C3380CC4-5D6E-409C-BE32-E72D297353CC}">
                <c16:uniqueId val="{00000001-DF20-4971-848F-1DAC26978B78}"/>
              </c:ext>
            </c:extLst>
          </c:dPt>
          <c:dPt>
            <c:idx val="8"/>
            <c:invertIfNegative val="0"/>
            <c:bubble3D val="0"/>
            <c:spPr>
              <a:solidFill>
                <a:schemeClr val="accent4"/>
              </a:solidFill>
              <a:ln>
                <a:noFill/>
              </a:ln>
            </c:spPr>
            <c:extLst>
              <c:ext xmlns:c16="http://schemas.microsoft.com/office/drawing/2014/chart" uri="{C3380CC4-5D6E-409C-BE32-E72D297353CC}">
                <c16:uniqueId val="{00000002-DF20-4971-848F-1DAC26978B78}"/>
              </c:ext>
            </c:extLst>
          </c:dPt>
          <c:dPt>
            <c:idx val="10"/>
            <c:invertIfNegative val="0"/>
            <c:bubble3D val="0"/>
            <c:spPr>
              <a:solidFill>
                <a:schemeClr val="accent2"/>
              </a:solidFill>
              <a:ln>
                <a:noFill/>
              </a:ln>
            </c:spPr>
            <c:extLst>
              <c:ext xmlns:c16="http://schemas.microsoft.com/office/drawing/2014/chart" uri="{C3380CC4-5D6E-409C-BE32-E72D297353CC}">
                <c16:uniqueId val="{00000003-DF20-4971-848F-1DAC26978B78}"/>
              </c:ext>
            </c:extLst>
          </c:dPt>
          <c:dPt>
            <c:idx val="12"/>
            <c:invertIfNegative val="0"/>
            <c:bubble3D val="0"/>
            <c:spPr>
              <a:solidFill>
                <a:schemeClr val="accent4"/>
              </a:solidFill>
              <a:ln>
                <a:noFill/>
              </a:ln>
            </c:spPr>
            <c:extLst>
              <c:ext xmlns:c16="http://schemas.microsoft.com/office/drawing/2014/chart" uri="{C3380CC4-5D6E-409C-BE32-E72D297353CC}">
                <c16:uniqueId val="{00000004-DF20-4971-848F-1DAC26978B78}"/>
              </c:ext>
            </c:extLst>
          </c:dPt>
          <c:dPt>
            <c:idx val="16"/>
            <c:invertIfNegative val="0"/>
            <c:bubble3D val="0"/>
            <c:spPr>
              <a:solidFill>
                <a:schemeClr val="accent4"/>
              </a:solidFill>
              <a:ln>
                <a:noFill/>
              </a:ln>
            </c:spPr>
            <c:extLst>
              <c:ext xmlns:c16="http://schemas.microsoft.com/office/drawing/2014/chart" uri="{C3380CC4-5D6E-409C-BE32-E72D297353CC}">
                <c16:uniqueId val="{00000005-DF20-4971-848F-1DAC26978B78}"/>
              </c:ext>
            </c:extLst>
          </c:dPt>
          <c:dPt>
            <c:idx val="18"/>
            <c:invertIfNegative val="0"/>
            <c:bubble3D val="0"/>
            <c:spPr>
              <a:solidFill>
                <a:schemeClr val="accent2"/>
              </a:solidFill>
              <a:ln>
                <a:noFill/>
              </a:ln>
            </c:spPr>
            <c:extLst>
              <c:ext xmlns:c16="http://schemas.microsoft.com/office/drawing/2014/chart" uri="{C3380CC4-5D6E-409C-BE32-E72D297353CC}">
                <c16:uniqueId val="{00000006-DF20-4971-848F-1DAC26978B78}"/>
              </c:ext>
            </c:extLst>
          </c:dPt>
          <c:dPt>
            <c:idx val="20"/>
            <c:invertIfNegative val="0"/>
            <c:bubble3D val="0"/>
            <c:spPr>
              <a:solidFill>
                <a:schemeClr val="accent4"/>
              </a:solidFill>
              <a:ln>
                <a:noFill/>
              </a:ln>
            </c:spPr>
            <c:extLst>
              <c:ext xmlns:c16="http://schemas.microsoft.com/office/drawing/2014/chart" uri="{C3380CC4-5D6E-409C-BE32-E72D297353CC}">
                <c16:uniqueId val="{00000007-DF20-4971-848F-1DAC26978B78}"/>
              </c:ext>
            </c:extLst>
          </c:dPt>
          <c:dPt>
            <c:idx val="22"/>
            <c:invertIfNegative val="0"/>
            <c:bubble3D val="0"/>
            <c:spPr>
              <a:solidFill>
                <a:schemeClr val="accent2"/>
              </a:solidFill>
              <a:ln>
                <a:noFill/>
              </a:ln>
            </c:spPr>
            <c:extLst>
              <c:ext xmlns:c16="http://schemas.microsoft.com/office/drawing/2014/chart" uri="{C3380CC4-5D6E-409C-BE32-E72D297353CC}">
                <c16:uniqueId val="{00000008-DF20-4971-848F-1DAC26978B78}"/>
              </c:ext>
            </c:extLst>
          </c:dPt>
          <c:dPt>
            <c:idx val="24"/>
            <c:invertIfNegative val="0"/>
            <c:bubble3D val="0"/>
            <c:spPr>
              <a:solidFill>
                <a:srgbClr val="BEBEBE"/>
              </a:solidFill>
              <a:ln>
                <a:noFill/>
              </a:ln>
            </c:spPr>
            <c:extLst>
              <c:ext xmlns:c16="http://schemas.microsoft.com/office/drawing/2014/chart" uri="{C3380CC4-5D6E-409C-BE32-E72D297353CC}">
                <c16:uniqueId val="{00000009-DF20-4971-848F-1DAC26978B78}"/>
              </c:ext>
            </c:extLst>
          </c:dPt>
          <c:dPt>
            <c:idx val="25"/>
            <c:invertIfNegative val="0"/>
            <c:bubble3D val="0"/>
            <c:spPr>
              <a:solidFill>
                <a:srgbClr val="A1A1A1"/>
              </a:solidFill>
              <a:ln>
                <a:noFill/>
              </a:ln>
            </c:spPr>
            <c:extLst>
              <c:ext xmlns:c16="http://schemas.microsoft.com/office/drawing/2014/chart" uri="{C3380CC4-5D6E-409C-BE32-E72D297353CC}">
                <c16:uniqueId val="{0000000A-DF20-4971-848F-1DAC26978B78}"/>
              </c:ext>
            </c:extLst>
          </c:dPt>
          <c:dPt>
            <c:idx val="26"/>
            <c:invertIfNegative val="0"/>
            <c:bubble3D val="0"/>
            <c:spPr>
              <a:solidFill>
                <a:srgbClr val="000000"/>
              </a:solidFill>
              <a:ln>
                <a:noFill/>
              </a:ln>
            </c:spPr>
            <c:extLst>
              <c:ext xmlns:c16="http://schemas.microsoft.com/office/drawing/2014/chart" uri="{C3380CC4-5D6E-409C-BE32-E72D297353CC}">
                <c16:uniqueId val="{0000000B-DF20-4971-848F-1DAC26978B78}"/>
              </c:ext>
            </c:extLst>
          </c:dPt>
          <c:dPt>
            <c:idx val="28"/>
            <c:invertIfNegative val="0"/>
            <c:bubble3D val="0"/>
            <c:spPr>
              <a:solidFill>
                <a:srgbClr val="BEBEBE"/>
              </a:solidFill>
              <a:ln>
                <a:noFill/>
              </a:ln>
            </c:spPr>
            <c:extLst>
              <c:ext xmlns:c16="http://schemas.microsoft.com/office/drawing/2014/chart" uri="{C3380CC4-5D6E-409C-BE32-E72D297353CC}">
                <c16:uniqueId val="{0000000C-DF20-4971-848F-1DAC26978B78}"/>
              </c:ext>
            </c:extLst>
          </c:dPt>
          <c:dPt>
            <c:idx val="29"/>
            <c:invertIfNegative val="0"/>
            <c:bubble3D val="0"/>
            <c:spPr>
              <a:solidFill>
                <a:srgbClr val="A1A1A1"/>
              </a:solidFill>
              <a:ln>
                <a:noFill/>
              </a:ln>
            </c:spPr>
            <c:extLst>
              <c:ext xmlns:c16="http://schemas.microsoft.com/office/drawing/2014/chart" uri="{C3380CC4-5D6E-409C-BE32-E72D297353CC}">
                <c16:uniqueId val="{0000000D-DF20-4971-848F-1DAC26978B78}"/>
              </c:ext>
            </c:extLst>
          </c:dPt>
          <c:dPt>
            <c:idx val="30"/>
            <c:invertIfNegative val="0"/>
            <c:bubble3D val="0"/>
            <c:spPr>
              <a:solidFill>
                <a:srgbClr val="000000"/>
              </a:solidFill>
              <a:ln>
                <a:noFill/>
              </a:ln>
            </c:spPr>
            <c:extLst>
              <c:ext xmlns:c16="http://schemas.microsoft.com/office/drawing/2014/chart" uri="{C3380CC4-5D6E-409C-BE32-E72D297353CC}">
                <c16:uniqueId val="{0000000E-DF20-4971-848F-1DAC26978B78}"/>
              </c:ext>
            </c:extLst>
          </c:dPt>
          <c:dPt>
            <c:idx val="32"/>
            <c:invertIfNegative val="0"/>
            <c:bubble3D val="0"/>
            <c:spPr>
              <a:solidFill>
                <a:srgbClr val="BEBEBE"/>
              </a:solidFill>
              <a:ln>
                <a:noFill/>
              </a:ln>
            </c:spPr>
            <c:extLst>
              <c:ext xmlns:c16="http://schemas.microsoft.com/office/drawing/2014/chart" uri="{C3380CC4-5D6E-409C-BE32-E72D297353CC}">
                <c16:uniqueId val="{0000000F-DF20-4971-848F-1DAC26978B78}"/>
              </c:ext>
            </c:extLst>
          </c:dPt>
          <c:dPt>
            <c:idx val="33"/>
            <c:invertIfNegative val="0"/>
            <c:bubble3D val="0"/>
            <c:spPr>
              <a:solidFill>
                <a:srgbClr val="A1A1A1"/>
              </a:solidFill>
              <a:ln>
                <a:noFill/>
              </a:ln>
            </c:spPr>
            <c:extLst>
              <c:ext xmlns:c16="http://schemas.microsoft.com/office/drawing/2014/chart" uri="{C3380CC4-5D6E-409C-BE32-E72D297353CC}">
                <c16:uniqueId val="{00000010-DF20-4971-848F-1DAC26978B78}"/>
              </c:ext>
            </c:extLst>
          </c:dPt>
          <c:dPt>
            <c:idx val="34"/>
            <c:invertIfNegative val="0"/>
            <c:bubble3D val="0"/>
            <c:spPr>
              <a:solidFill>
                <a:srgbClr val="000000"/>
              </a:solidFill>
              <a:ln>
                <a:noFill/>
              </a:ln>
            </c:spPr>
            <c:extLst>
              <c:ext xmlns:c16="http://schemas.microsoft.com/office/drawing/2014/chart" uri="{C3380CC4-5D6E-409C-BE32-E72D297353CC}">
                <c16:uniqueId val="{00000011-DF20-4971-848F-1DAC26978B78}"/>
              </c:ext>
            </c:extLst>
          </c:dPt>
          <c:dPt>
            <c:idx val="36"/>
            <c:invertIfNegative val="0"/>
            <c:bubble3D val="0"/>
            <c:spPr>
              <a:solidFill>
                <a:srgbClr val="BEBEBE"/>
              </a:solidFill>
              <a:ln>
                <a:noFill/>
              </a:ln>
            </c:spPr>
            <c:extLst>
              <c:ext xmlns:c16="http://schemas.microsoft.com/office/drawing/2014/chart" uri="{C3380CC4-5D6E-409C-BE32-E72D297353CC}">
                <c16:uniqueId val="{00000012-DF20-4971-848F-1DAC26978B78}"/>
              </c:ext>
            </c:extLst>
          </c:dPt>
          <c:dPt>
            <c:idx val="37"/>
            <c:invertIfNegative val="0"/>
            <c:bubble3D val="0"/>
            <c:spPr>
              <a:solidFill>
                <a:srgbClr val="A1A1A1"/>
              </a:solidFill>
              <a:ln>
                <a:noFill/>
              </a:ln>
            </c:spPr>
            <c:extLst>
              <c:ext xmlns:c16="http://schemas.microsoft.com/office/drawing/2014/chart" uri="{C3380CC4-5D6E-409C-BE32-E72D297353CC}">
                <c16:uniqueId val="{00000013-DF20-4971-848F-1DAC26978B78}"/>
              </c:ext>
            </c:extLst>
          </c:dPt>
          <c:dPt>
            <c:idx val="38"/>
            <c:invertIfNegative val="0"/>
            <c:bubble3D val="0"/>
            <c:spPr>
              <a:solidFill>
                <a:srgbClr val="000000"/>
              </a:solidFill>
              <a:ln>
                <a:noFill/>
              </a:ln>
            </c:spPr>
            <c:extLst>
              <c:ext xmlns:c16="http://schemas.microsoft.com/office/drawing/2014/chart" uri="{C3380CC4-5D6E-409C-BE32-E72D297353CC}">
                <c16:uniqueId val="{00000014-DF20-4971-848F-1DAC26978B78}"/>
              </c:ext>
            </c:extLst>
          </c:dPt>
          <c:dLbls>
            <c:dLbl>
              <c:idx val="1"/>
              <c:layout>
                <c:manualLayout>
                  <c:x val="0"/>
                  <c:y val="-6.426735218508997E-4"/>
                </c:manualLayout>
              </c:layout>
              <c:numFmt formatCode="#,##0.0;&quot;-&quot;#,##0.0" sourceLinked="0"/>
              <c:spPr>
                <a:noFill/>
                <a:ln>
                  <a:noFill/>
                </a:ln>
              </c:spPr>
              <c:txPr>
                <a:bodyPr wrap="none"/>
                <a:lstStyle/>
                <a:p>
                  <a:pPr>
                    <a:defRPr sz="10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15-DF20-4971-848F-1DAC26978B78}"/>
                </c:ext>
              </c:extLst>
            </c:dLbl>
            <c:dLbl>
              <c:idx val="4"/>
              <c:layout>
                <c:manualLayout>
                  <c:x val="0"/>
                  <c:y val="-6.426735218508997E-4"/>
                </c:manualLayout>
              </c:layout>
              <c:numFmt formatCode="#,##0.0;&quot;-&quot;#,##0.0" sourceLinked="0"/>
              <c:spPr>
                <a:noFill/>
                <a:ln>
                  <a:noFill/>
                </a:ln>
              </c:spPr>
              <c:txPr>
                <a:bodyPr wrap="none"/>
                <a:lstStyle/>
                <a:p>
                  <a:pPr>
                    <a:defRPr sz="10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1-DF20-4971-848F-1DAC26978B78}"/>
                </c:ext>
              </c:extLst>
            </c:dLbl>
            <c:dLbl>
              <c:idx val="5"/>
              <c:layout>
                <c:manualLayout>
                  <c:x val="0"/>
                  <c:y val="0"/>
                </c:manualLayout>
              </c:layout>
              <c:numFmt formatCode="#,##0.0;&quot;-&quot;#,##0.0" sourceLinked="0"/>
              <c:spPr>
                <a:noFill/>
                <a:ln>
                  <a:noFill/>
                </a:ln>
              </c:spPr>
              <c:txPr>
                <a:bodyPr wrap="none"/>
                <a:lstStyle/>
                <a:p>
                  <a:pPr>
                    <a:defRPr sz="10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16-DF20-4971-848F-1DAC26978B78}"/>
                </c:ext>
              </c:extLst>
            </c:dLbl>
            <c:dLbl>
              <c:idx val="9"/>
              <c:layout>
                <c:manualLayout>
                  <c:x val="0"/>
                  <c:y val="0"/>
                </c:manualLayout>
              </c:layout>
              <c:numFmt formatCode="#,##0.0;&quot;-&quot;#,##0.0" sourceLinked="0"/>
              <c:spPr>
                <a:noFill/>
                <a:ln>
                  <a:noFill/>
                </a:ln>
              </c:spPr>
              <c:txPr>
                <a:bodyPr wrap="none"/>
                <a:lstStyle/>
                <a:p>
                  <a:pPr>
                    <a:defRPr sz="10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17-DF20-4971-848F-1DAC26978B78}"/>
                </c:ext>
              </c:extLst>
            </c:dLbl>
            <c:dLbl>
              <c:idx val="10"/>
              <c:layout>
                <c:manualLayout>
                  <c:x val="0"/>
                  <c:y val="0"/>
                </c:manualLayout>
              </c:layout>
              <c:numFmt formatCode="#,##0.0;&quot;-&quot;#,##0.0" sourceLinked="0"/>
              <c:spPr>
                <a:noFill/>
                <a:ln>
                  <a:noFill/>
                </a:ln>
              </c:spPr>
              <c:txPr>
                <a:bodyPr wrap="none"/>
                <a:lstStyle/>
                <a:p>
                  <a:pPr>
                    <a:defRPr sz="10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3-DF20-4971-848F-1DAC26978B78}"/>
                </c:ext>
              </c:extLst>
            </c:dLbl>
            <c:dLbl>
              <c:idx val="12"/>
              <c:layout>
                <c:manualLayout>
                  <c:x val="0"/>
                  <c:y val="-6.426735218508997E-4"/>
                </c:manualLayout>
              </c:layout>
              <c:numFmt formatCode="#,##0.0;&quot;-&quot;#,##0.0" sourceLinked="0"/>
              <c:spPr>
                <a:noFill/>
                <a:ln>
                  <a:noFill/>
                </a:ln>
              </c:spPr>
              <c:txPr>
                <a:bodyPr wrap="none"/>
                <a:lstStyle/>
                <a:p>
                  <a:pPr>
                    <a:defRPr sz="10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4-DF20-4971-848F-1DAC26978B78}"/>
                </c:ext>
              </c:extLst>
            </c:dLbl>
            <c:dLbl>
              <c:idx val="13"/>
              <c:layout>
                <c:manualLayout>
                  <c:x val="0"/>
                  <c:y val="-6.426735218508997E-4"/>
                </c:manualLayout>
              </c:layout>
              <c:numFmt formatCode="#,##0.0;&quot;-&quot;#,##0.0" sourceLinked="0"/>
              <c:spPr>
                <a:noFill/>
                <a:ln>
                  <a:noFill/>
                </a:ln>
              </c:spPr>
              <c:txPr>
                <a:bodyPr wrap="none"/>
                <a:lstStyle/>
                <a:p>
                  <a:pPr>
                    <a:defRPr sz="10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18-DF20-4971-848F-1DAC26978B78}"/>
                </c:ext>
              </c:extLst>
            </c:dLbl>
            <c:dLbl>
              <c:idx val="16"/>
              <c:layout>
                <c:manualLayout>
                  <c:x val="0"/>
                  <c:y val="0"/>
                </c:manualLayout>
              </c:layout>
              <c:numFmt formatCode="#,##0.0;&quot;-&quot;#,##0.0" sourceLinked="0"/>
              <c:spPr>
                <a:noFill/>
                <a:ln>
                  <a:noFill/>
                </a:ln>
              </c:spPr>
              <c:txPr>
                <a:bodyPr wrap="none"/>
                <a:lstStyle/>
                <a:p>
                  <a:pPr>
                    <a:defRPr sz="10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5-DF20-4971-848F-1DAC26978B78}"/>
                </c:ext>
              </c:extLst>
            </c:dLbl>
            <c:dLbl>
              <c:idx val="17"/>
              <c:layout>
                <c:manualLayout>
                  <c:x val="0"/>
                  <c:y val="0"/>
                </c:manualLayout>
              </c:layout>
              <c:numFmt formatCode="#,##0.0;&quot;-&quot;#,##0.0" sourceLinked="0"/>
              <c:spPr>
                <a:noFill/>
                <a:ln>
                  <a:noFill/>
                </a:ln>
              </c:spPr>
              <c:txPr>
                <a:bodyPr wrap="none"/>
                <a:lstStyle/>
                <a:p>
                  <a:pPr>
                    <a:defRPr sz="10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19-DF20-4971-848F-1DAC26978B78}"/>
                </c:ext>
              </c:extLst>
            </c:dLbl>
            <c:dLbl>
              <c:idx val="18"/>
              <c:layout>
                <c:manualLayout>
                  <c:x val="0"/>
                  <c:y val="0"/>
                </c:manualLayout>
              </c:layout>
              <c:numFmt formatCode="#,##0.0;&quot;-&quot;#,##0.0" sourceLinked="0"/>
              <c:spPr>
                <a:noFill/>
                <a:ln>
                  <a:noFill/>
                </a:ln>
              </c:spPr>
              <c:txPr>
                <a:bodyPr wrap="none"/>
                <a:lstStyle/>
                <a:p>
                  <a:pPr>
                    <a:defRPr sz="10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6-DF20-4971-848F-1DAC26978B78}"/>
                </c:ext>
              </c:extLst>
            </c:dLbl>
            <c:dLbl>
              <c:idx val="21"/>
              <c:layout>
                <c:manualLayout>
                  <c:x val="0"/>
                  <c:y val="0"/>
                </c:manualLayout>
              </c:layout>
              <c:numFmt formatCode="#,##0.0;&quot;-&quot;#,##0.0" sourceLinked="0"/>
              <c:spPr>
                <a:noFill/>
                <a:ln>
                  <a:noFill/>
                </a:ln>
              </c:spPr>
              <c:txPr>
                <a:bodyPr wrap="none"/>
                <a:lstStyle/>
                <a:p>
                  <a:pPr>
                    <a:defRPr sz="10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1A-DF20-4971-848F-1DAC26978B78}"/>
                </c:ext>
              </c:extLst>
            </c:dLbl>
            <c:dLbl>
              <c:idx val="22"/>
              <c:layout>
                <c:manualLayout>
                  <c:x val="0"/>
                  <c:y val="0"/>
                </c:manualLayout>
              </c:layout>
              <c:numFmt formatCode="#,##0.0;&quot;-&quot;#,##0.0" sourceLinked="0"/>
              <c:spPr>
                <a:noFill/>
                <a:ln>
                  <a:noFill/>
                </a:ln>
              </c:spPr>
              <c:txPr>
                <a:bodyPr wrap="none"/>
                <a:lstStyle/>
                <a:p>
                  <a:pPr>
                    <a:defRPr sz="10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8-DF20-4971-848F-1DAC26978B78}"/>
                </c:ext>
              </c:extLst>
            </c:dLbl>
            <c:dLbl>
              <c:idx val="25"/>
              <c:layout>
                <c:manualLayout>
                  <c:x val="0"/>
                  <c:y val="0"/>
                </c:manualLayout>
              </c:layout>
              <c:numFmt formatCode="#,##0.0;&quot;-&quot;#,##0.0" sourceLinked="0"/>
              <c:spPr>
                <a:noFill/>
                <a:ln>
                  <a:noFill/>
                </a:ln>
              </c:spPr>
              <c:txPr>
                <a:bodyPr wrap="none"/>
                <a:lstStyle/>
                <a:p>
                  <a:pPr>
                    <a:defRPr sz="10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A-DF20-4971-848F-1DAC26978B78}"/>
                </c:ext>
              </c:extLst>
            </c:dLbl>
            <c:dLbl>
              <c:idx val="26"/>
              <c:layout>
                <c:manualLayout>
                  <c:x val="0"/>
                  <c:y val="0"/>
                </c:manualLayout>
              </c:layout>
              <c:numFmt formatCode="#,##0.0;&quot;-&quot;#,##0.0" sourceLinked="0"/>
              <c:spPr>
                <a:noFill/>
                <a:ln>
                  <a:noFill/>
                </a:ln>
              </c:spPr>
              <c:txPr>
                <a:bodyPr wrap="none"/>
                <a:lstStyle/>
                <a:p>
                  <a:pPr>
                    <a:defRPr sz="10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B-DF20-4971-848F-1DAC26978B78}"/>
                </c:ext>
              </c:extLst>
            </c:dLbl>
            <c:dLbl>
              <c:idx val="29"/>
              <c:layout>
                <c:manualLayout>
                  <c:x val="0"/>
                  <c:y val="0"/>
                </c:manualLayout>
              </c:layout>
              <c:numFmt formatCode="#,##0.0;&quot;-&quot;#,##0.0" sourceLinked="0"/>
              <c:spPr>
                <a:noFill/>
                <a:ln>
                  <a:noFill/>
                </a:ln>
              </c:spPr>
              <c:txPr>
                <a:bodyPr wrap="none"/>
                <a:lstStyle/>
                <a:p>
                  <a:pPr>
                    <a:defRPr sz="10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D-DF20-4971-848F-1DAC26978B78}"/>
                </c:ext>
              </c:extLst>
            </c:dLbl>
            <c:dLbl>
              <c:idx val="30"/>
              <c:layout>
                <c:manualLayout>
                  <c:x val="0"/>
                  <c:y val="0"/>
                </c:manualLayout>
              </c:layout>
              <c:numFmt formatCode="#,##0.0;&quot;-&quot;#,##0.0" sourceLinked="0"/>
              <c:spPr>
                <a:noFill/>
                <a:ln>
                  <a:noFill/>
                </a:ln>
              </c:spPr>
              <c:txPr>
                <a:bodyPr wrap="none"/>
                <a:lstStyle/>
                <a:p>
                  <a:pPr>
                    <a:defRPr sz="10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E-DF20-4971-848F-1DAC26978B78}"/>
                </c:ext>
              </c:extLst>
            </c:dLbl>
            <c:dLbl>
              <c:idx val="32"/>
              <c:layout>
                <c:manualLayout>
                  <c:x val="0"/>
                  <c:y val="0"/>
                </c:manualLayout>
              </c:layout>
              <c:numFmt formatCode="#,##0.0;&quot;-&quot;#,##0.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F-DF20-4971-848F-1DAC26978B78}"/>
                </c:ext>
              </c:extLst>
            </c:dLbl>
            <c:dLbl>
              <c:idx val="33"/>
              <c:layout>
                <c:manualLayout>
                  <c:x val="0"/>
                  <c:y val="0"/>
                </c:manualLayout>
              </c:layout>
              <c:numFmt formatCode="#,##0.0;&quot;-&quot;#,##0.0" sourceLinked="0"/>
              <c:spPr>
                <a:noFill/>
                <a:ln>
                  <a:noFill/>
                </a:ln>
              </c:spPr>
              <c:txPr>
                <a:bodyPr wrap="none"/>
                <a:lstStyle/>
                <a:p>
                  <a:pPr>
                    <a:defRPr sz="10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10-DF20-4971-848F-1DAC26978B78}"/>
                </c:ext>
              </c:extLst>
            </c:dLbl>
            <c:dLbl>
              <c:idx val="34"/>
              <c:layout>
                <c:manualLayout>
                  <c:x val="0"/>
                  <c:y val="0"/>
                </c:manualLayout>
              </c:layout>
              <c:numFmt formatCode="#,##0.0;&quot;-&quot;#,##0.0" sourceLinked="0"/>
              <c:spPr>
                <a:noFill/>
                <a:ln>
                  <a:noFill/>
                </a:ln>
              </c:spPr>
              <c:txPr>
                <a:bodyPr wrap="none"/>
                <a:lstStyle/>
                <a:p>
                  <a:pPr>
                    <a:defRPr sz="10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11-DF20-4971-848F-1DAC26978B78}"/>
                </c:ext>
              </c:extLst>
            </c:dLbl>
            <c:dLbl>
              <c:idx val="36"/>
              <c:layout>
                <c:manualLayout>
                  <c:x val="0"/>
                  <c:y val="-6.426735218508997E-4"/>
                </c:manualLayout>
              </c:layout>
              <c:numFmt formatCode="#,##0.0;&quot;-&quot;#,##0.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12-DF20-4971-848F-1DAC26978B78}"/>
                </c:ext>
              </c:extLst>
            </c:dLbl>
            <c:dLbl>
              <c:idx val="37"/>
              <c:layout>
                <c:manualLayout>
                  <c:x val="0"/>
                  <c:y val="0"/>
                </c:manualLayout>
              </c:layout>
              <c:numFmt formatCode="#,##0.0;&quot;-&quot;#,##0.0" sourceLinked="0"/>
              <c:spPr>
                <a:noFill/>
                <a:ln>
                  <a:noFill/>
                </a:ln>
              </c:spPr>
              <c:txPr>
                <a:bodyPr wrap="none"/>
                <a:lstStyle/>
                <a:p>
                  <a:pPr>
                    <a:defRPr sz="10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13-DF20-4971-848F-1DAC26978B78}"/>
                </c:ext>
              </c:extLst>
            </c:dLbl>
            <c:dLbl>
              <c:idx val="38"/>
              <c:layout>
                <c:manualLayout>
                  <c:x val="0"/>
                  <c:y val="-6.426735218508997E-4"/>
                </c:manualLayout>
              </c:layout>
              <c:numFmt formatCode="#,##0.0;&quot;-&quot;#,##0.0" sourceLinked="0"/>
              <c:spPr>
                <a:noFill/>
                <a:ln>
                  <a:noFill/>
                </a:ln>
              </c:spPr>
              <c:txPr>
                <a:bodyPr wrap="none"/>
                <a:lstStyle/>
                <a:p>
                  <a:pPr>
                    <a:defRPr sz="10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14-DF20-4971-848F-1DAC26978B78}"/>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val>
            <c:numRef>
              <c:f>Sheet1!$A$1:$AM$1</c:f>
              <c:numCache>
                <c:formatCode>General</c:formatCode>
                <c:ptCount val="39"/>
                <c:pt idx="0">
                  <c:v>0.47436499799999998</c:v>
                </c:pt>
                <c:pt idx="1">
                  <c:v>1.779597842</c:v>
                </c:pt>
                <c:pt idx="4">
                  <c:v>1.2336318879999999</c:v>
                </c:pt>
                <c:pt idx="5">
                  <c:v>1.853723982</c:v>
                </c:pt>
                <c:pt idx="8">
                  <c:v>0.87398664500000001</c:v>
                </c:pt>
                <c:pt idx="9">
                  <c:v>3.2074214429999999</c:v>
                </c:pt>
                <c:pt idx="10">
                  <c:v>1.454272706</c:v>
                </c:pt>
                <c:pt idx="12">
                  <c:v>1.236388123</c:v>
                </c:pt>
                <c:pt idx="13">
                  <c:v>1.847245459</c:v>
                </c:pt>
                <c:pt idx="16">
                  <c:v>1.9292400940000001</c:v>
                </c:pt>
                <c:pt idx="17">
                  <c:v>1.9768532139999999</c:v>
                </c:pt>
                <c:pt idx="18">
                  <c:v>1.5751489599999999</c:v>
                </c:pt>
                <c:pt idx="20">
                  <c:v>0.67411793200000003</c:v>
                </c:pt>
                <c:pt idx="21">
                  <c:v>2.9619180919999999</c:v>
                </c:pt>
                <c:pt idx="22">
                  <c:v>1.4776648349999999</c:v>
                </c:pt>
                <c:pt idx="24">
                  <c:v>0.58991397740804807</c:v>
                </c:pt>
                <c:pt idx="25">
                  <c:v>2.724439839400433</c:v>
                </c:pt>
                <c:pt idx="26">
                  <c:v>1.3594178717035803</c:v>
                </c:pt>
                <c:pt idx="28">
                  <c:v>0.64485194770451282</c:v>
                </c:pt>
                <c:pt idx="29">
                  <c:v>2.8014719698262818</c:v>
                </c:pt>
                <c:pt idx="30">
                  <c:v>1.4527277602531905</c:v>
                </c:pt>
                <c:pt idx="32">
                  <c:v>1.0587415169185364</c:v>
                </c:pt>
                <c:pt idx="33">
                  <c:v>2.6898411862948204</c:v>
                </c:pt>
                <c:pt idx="34">
                  <c:v>1.5299265978967191</c:v>
                </c:pt>
                <c:pt idx="36">
                  <c:v>1.1646471863000001</c:v>
                </c:pt>
                <c:pt idx="37">
                  <c:v>2.9193127222999999</c:v>
                </c:pt>
                <c:pt idx="38">
                  <c:v>1.6367105235000001</c:v>
                </c:pt>
              </c:numCache>
            </c:numRef>
          </c:val>
          <c:extLst>
            <c:ext xmlns:c16="http://schemas.microsoft.com/office/drawing/2014/chart" uri="{C3380CC4-5D6E-409C-BE32-E72D297353CC}">
              <c16:uniqueId val="{0000001B-DF20-4971-848F-1DAC26978B78}"/>
            </c:ext>
          </c:extLst>
        </c:ser>
        <c:ser>
          <c:idx val="1"/>
          <c:order val="1"/>
          <c:spPr>
            <a:noFill/>
            <a:ln>
              <a:noFill/>
            </a:ln>
          </c:spPr>
          <c:invertIfNegative val="0"/>
          <c:dLbls>
            <c:dLbl>
              <c:idx val="0"/>
              <c:layout>
                <c:manualLayout>
                  <c:x val="0"/>
                  <c:y val="0"/>
                </c:manualLayout>
              </c:layout>
              <c:numFmt formatCode="#,##0.0;&quot;-&quot;#,##0.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1C-DF20-4971-848F-1DAC26978B78}"/>
                </c:ext>
              </c:extLst>
            </c:dLbl>
            <c:dLbl>
              <c:idx val="1"/>
              <c:layout>
                <c:manualLayout>
                  <c:x val="0"/>
                  <c:y val="0"/>
                </c:manualLayout>
              </c:layout>
              <c:numFmt formatCode="#,##0.0;&quot;-&quot;#,##0.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1D-DF20-4971-848F-1DAC26978B78}"/>
                </c:ext>
              </c:extLst>
            </c:dLbl>
            <c:dLbl>
              <c:idx val="4"/>
              <c:layout>
                <c:manualLayout>
                  <c:x val="0"/>
                  <c:y val="0"/>
                </c:manualLayout>
              </c:layout>
              <c:numFmt formatCode="#,##0.0;&quot;-&quot;#,##0.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1E-DF20-4971-848F-1DAC26978B78}"/>
                </c:ext>
              </c:extLst>
            </c:dLbl>
            <c:dLbl>
              <c:idx val="5"/>
              <c:layout>
                <c:manualLayout>
                  <c:x val="0"/>
                  <c:y val="0"/>
                </c:manualLayout>
              </c:layout>
              <c:numFmt formatCode="#,##0.0;&quot;-&quot;#,##0.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1F-DF20-4971-848F-1DAC26978B78}"/>
                </c:ext>
              </c:extLst>
            </c:dLbl>
            <c:dLbl>
              <c:idx val="8"/>
              <c:layout>
                <c:manualLayout>
                  <c:x val="0"/>
                  <c:y val="0"/>
                </c:manualLayout>
              </c:layout>
              <c:numFmt formatCode="#,##0.0;&quot;-&quot;#,##0.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20-DF20-4971-848F-1DAC26978B78}"/>
                </c:ext>
              </c:extLst>
            </c:dLbl>
            <c:dLbl>
              <c:idx val="9"/>
              <c:layout>
                <c:manualLayout>
                  <c:x val="0"/>
                  <c:y val="0"/>
                </c:manualLayout>
              </c:layout>
              <c:numFmt formatCode="#,##0.0;&quot;-&quot;#,##0.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21-DF20-4971-848F-1DAC26978B78}"/>
                </c:ext>
              </c:extLst>
            </c:dLbl>
            <c:dLbl>
              <c:idx val="10"/>
              <c:layout>
                <c:manualLayout>
                  <c:x val="0"/>
                  <c:y val="0"/>
                </c:manualLayout>
              </c:layout>
              <c:numFmt formatCode="#,##0.0;&quot;-&quot;#,##0.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22-DF20-4971-848F-1DAC26978B78}"/>
                </c:ext>
              </c:extLst>
            </c:dLbl>
            <c:dLbl>
              <c:idx val="12"/>
              <c:layout>
                <c:manualLayout>
                  <c:x val="0"/>
                  <c:y val="-6.426735218508997E-4"/>
                </c:manualLayout>
              </c:layout>
              <c:numFmt formatCode="#,##0.0;&quot;-&quot;#,##0.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23-DF20-4971-848F-1DAC26978B78}"/>
                </c:ext>
              </c:extLst>
            </c:dLbl>
            <c:dLbl>
              <c:idx val="13"/>
              <c:layout>
                <c:manualLayout>
                  <c:x val="0"/>
                  <c:y val="-6.426735218508997E-4"/>
                </c:manualLayout>
              </c:layout>
              <c:numFmt formatCode="#,##0.0;&quot;-&quot;#,##0.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24-DF20-4971-848F-1DAC26978B78}"/>
                </c:ext>
              </c:extLst>
            </c:dLbl>
            <c:dLbl>
              <c:idx val="16"/>
              <c:layout>
                <c:manualLayout>
                  <c:x val="0"/>
                  <c:y val="0"/>
                </c:manualLayout>
              </c:layout>
              <c:numFmt formatCode="#,##0.0;&quot;-&quot;#,##0.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25-DF20-4971-848F-1DAC26978B78}"/>
                </c:ext>
              </c:extLst>
            </c:dLbl>
            <c:dLbl>
              <c:idx val="17"/>
              <c:layout>
                <c:manualLayout>
                  <c:x val="0"/>
                  <c:y val="-6.426735218508997E-4"/>
                </c:manualLayout>
              </c:layout>
              <c:numFmt formatCode="#,##0.0;&quot;-&quot;#,##0.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26-DF20-4971-848F-1DAC26978B78}"/>
                </c:ext>
              </c:extLst>
            </c:dLbl>
            <c:dLbl>
              <c:idx val="18"/>
              <c:layout>
                <c:manualLayout>
                  <c:x val="0"/>
                  <c:y val="-6.426735218508997E-4"/>
                </c:manualLayout>
              </c:layout>
              <c:numFmt formatCode="#,##0.0;&quot;-&quot;#,##0.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27-DF20-4971-848F-1DAC26978B78}"/>
                </c:ext>
              </c:extLst>
            </c:dLbl>
            <c:dLbl>
              <c:idx val="20"/>
              <c:layout>
                <c:manualLayout>
                  <c:x val="0"/>
                  <c:y val="-6.426735218508997E-4"/>
                </c:manualLayout>
              </c:layout>
              <c:numFmt formatCode="#,##0.0;&quot;-&quot;#,##0.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28-DF20-4971-848F-1DAC26978B78}"/>
                </c:ext>
              </c:extLst>
            </c:dLbl>
            <c:dLbl>
              <c:idx val="21"/>
              <c:layout>
                <c:manualLayout>
                  <c:x val="0"/>
                  <c:y val="0"/>
                </c:manualLayout>
              </c:layout>
              <c:numFmt formatCode="#,##0.0;&quot;-&quot;#,##0.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29-DF20-4971-848F-1DAC26978B78}"/>
                </c:ext>
              </c:extLst>
            </c:dLbl>
            <c:dLbl>
              <c:idx val="22"/>
              <c:layout>
                <c:manualLayout>
                  <c:x val="0"/>
                  <c:y val="0"/>
                </c:manualLayout>
              </c:layout>
              <c:numFmt formatCode="#,##0.0;&quot;-&quot;#,##0.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2A-DF20-4971-848F-1DAC26978B78}"/>
                </c:ext>
              </c:extLst>
            </c:dLbl>
            <c:dLbl>
              <c:idx val="24"/>
              <c:layout>
                <c:manualLayout>
                  <c:x val="0"/>
                  <c:y val="0"/>
                </c:manualLayout>
              </c:layout>
              <c:numFmt formatCode="#,##0.0;&quot;-&quot;#,##0.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2B-DF20-4971-848F-1DAC26978B78}"/>
                </c:ext>
              </c:extLst>
            </c:dLbl>
            <c:dLbl>
              <c:idx val="25"/>
              <c:layout>
                <c:manualLayout>
                  <c:x val="0"/>
                  <c:y val="0"/>
                </c:manualLayout>
              </c:layout>
              <c:numFmt formatCode="#,##0.0;&quot;-&quot;#,##0.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2C-DF20-4971-848F-1DAC26978B78}"/>
                </c:ext>
              </c:extLst>
            </c:dLbl>
            <c:dLbl>
              <c:idx val="26"/>
              <c:layout>
                <c:manualLayout>
                  <c:x val="0"/>
                  <c:y val="0"/>
                </c:manualLayout>
              </c:layout>
              <c:numFmt formatCode="#,##0.0;&quot;-&quot;#,##0.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2D-DF20-4971-848F-1DAC26978B78}"/>
                </c:ext>
              </c:extLst>
            </c:dLbl>
            <c:dLbl>
              <c:idx val="28"/>
              <c:layout>
                <c:manualLayout>
                  <c:x val="0"/>
                  <c:y val="-6.426735218508997E-4"/>
                </c:manualLayout>
              </c:layout>
              <c:numFmt formatCode="#,##0.0;&quot;-&quot;#,##0.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2E-DF20-4971-848F-1DAC26978B78}"/>
                </c:ext>
              </c:extLst>
            </c:dLbl>
            <c:dLbl>
              <c:idx val="29"/>
              <c:layout>
                <c:manualLayout>
                  <c:x val="0"/>
                  <c:y val="-6.426735218508997E-4"/>
                </c:manualLayout>
              </c:layout>
              <c:numFmt formatCode="#,##0.0;&quot;-&quot;#,##0.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2F-DF20-4971-848F-1DAC26978B78}"/>
                </c:ext>
              </c:extLst>
            </c:dLbl>
            <c:dLbl>
              <c:idx val="30"/>
              <c:layout>
                <c:manualLayout>
                  <c:x val="0"/>
                  <c:y val="0"/>
                </c:manualLayout>
              </c:layout>
              <c:numFmt formatCode="#,##0.0;&quot;-&quot;#,##0.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30-DF20-4971-848F-1DAC26978B78}"/>
                </c:ext>
              </c:extLst>
            </c:dLbl>
            <c:dLbl>
              <c:idx val="32"/>
              <c:layout>
                <c:manualLayout>
                  <c:x val="0"/>
                  <c:y val="0"/>
                </c:manualLayout>
              </c:layout>
              <c:numFmt formatCode="#,##0.0;&quot;-&quot;#,##0.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31-DF20-4971-848F-1DAC26978B78}"/>
                </c:ext>
              </c:extLst>
            </c:dLbl>
            <c:dLbl>
              <c:idx val="33"/>
              <c:layout>
                <c:manualLayout>
                  <c:x val="0"/>
                  <c:y val="0"/>
                </c:manualLayout>
              </c:layout>
              <c:numFmt formatCode="#,##0.0;&quot;-&quot;#,##0.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32-DF20-4971-848F-1DAC26978B78}"/>
                </c:ext>
              </c:extLst>
            </c:dLbl>
            <c:dLbl>
              <c:idx val="34"/>
              <c:layout>
                <c:manualLayout>
                  <c:x val="0"/>
                  <c:y val="-6.426735218508997E-4"/>
                </c:manualLayout>
              </c:layout>
              <c:numFmt formatCode="#,##0.0;&quot;-&quot;#,##0.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33-DF20-4971-848F-1DAC26978B78}"/>
                </c:ext>
              </c:extLst>
            </c:dLbl>
            <c:dLbl>
              <c:idx val="36"/>
              <c:layout>
                <c:manualLayout>
                  <c:x val="0"/>
                  <c:y val="-6.426735218508997E-4"/>
                </c:manualLayout>
              </c:layout>
              <c:numFmt formatCode="#,##0.0;&quot;-&quot;#,##0.0" sourceLinked="0"/>
              <c:spPr>
                <a:noFill/>
                <a:ln>
                  <a:noFill/>
                </a:ln>
              </c:spPr>
              <c:txPr>
                <a:bodyPr wrap="none"/>
                <a:lstStyle/>
                <a:p>
                  <a:pPr>
                    <a:defRPr sz="1000" kern="1200">
                      <a:solidFill>
                        <a:schemeClr val="tx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34-DF20-4971-848F-1DAC26978B78}"/>
                </c:ext>
              </c:extLst>
            </c:dLbl>
            <c:dLbl>
              <c:idx val="37"/>
              <c:layout>
                <c:manualLayout>
                  <c:x val="0"/>
                  <c:y val="-6.426735218508997E-4"/>
                </c:manualLayout>
              </c:layout>
              <c:numFmt formatCode="#,##0.0;&quot;-&quot;#,##0.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35-DF20-4971-848F-1DAC26978B78}"/>
                </c:ext>
              </c:extLst>
            </c:dLbl>
            <c:dLbl>
              <c:idx val="38"/>
              <c:layout>
                <c:manualLayout>
                  <c:x val="0"/>
                  <c:y val="-6.426735218508997E-4"/>
                </c:manualLayout>
              </c:layout>
              <c:numFmt formatCode="#,##0.0;&quot;-&quot;#,##0.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36-DF20-4971-848F-1DAC26978B78}"/>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val>
            <c:numRef>
              <c:f>Sheet1!$A$2:$AM$2</c:f>
              <c:numCache>
                <c:formatCode>General</c:formatCode>
                <c:ptCount val="39"/>
                <c:pt idx="0">
                  <c:v>4.0058052019999995</c:v>
                </c:pt>
                <c:pt idx="1">
                  <c:v>5.8277348580000004</c:v>
                </c:pt>
                <c:pt idx="4">
                  <c:v>7.2723759120000011</c:v>
                </c:pt>
                <c:pt idx="5">
                  <c:v>5.9043955480000001</c:v>
                </c:pt>
                <c:pt idx="8">
                  <c:v>4.8380365550000004</c:v>
                </c:pt>
                <c:pt idx="9">
                  <c:v>8.6253272770000002</c:v>
                </c:pt>
                <c:pt idx="10">
                  <c:v>9.6620907339999995</c:v>
                </c:pt>
                <c:pt idx="12">
                  <c:v>6.7796021570000002</c:v>
                </c:pt>
                <c:pt idx="13">
                  <c:v>7.8432992210000005</c:v>
                </c:pt>
                <c:pt idx="16">
                  <c:v>3.7768849060000003</c:v>
                </c:pt>
                <c:pt idx="17">
                  <c:v>8.0122557860000008</c:v>
                </c:pt>
                <c:pt idx="18">
                  <c:v>9.1691680400000006</c:v>
                </c:pt>
                <c:pt idx="20">
                  <c:v>3.4976577880000002</c:v>
                </c:pt>
                <c:pt idx="21">
                  <c:v>8.2463771880000003</c:v>
                </c:pt>
                <c:pt idx="22">
                  <c:v>8.7989767850000007</c:v>
                </c:pt>
                <c:pt idx="24">
                  <c:v>3.275238984234087</c:v>
                </c:pt>
                <c:pt idx="25">
                  <c:v>8.1089912165420053</c:v>
                </c:pt>
                <c:pt idx="26">
                  <c:v>8.3721770314501534</c:v>
                </c:pt>
                <c:pt idx="28">
                  <c:v>3.3120216502400317</c:v>
                </c:pt>
                <c:pt idx="29">
                  <c:v>7.6310484848887308</c:v>
                </c:pt>
                <c:pt idx="30">
                  <c:v>8.286610386118376</c:v>
                </c:pt>
                <c:pt idx="32">
                  <c:v>5.0253574038950948</c:v>
                </c:pt>
                <c:pt idx="33">
                  <c:v>6.6910427869811659</c:v>
                </c:pt>
                <c:pt idx="34">
                  <c:v>8.0757943495272233</c:v>
                </c:pt>
                <c:pt idx="36">
                  <c:v>5.1031490130244377</c:v>
                </c:pt>
                <c:pt idx="37">
                  <c:v>6.6154942894631121</c:v>
                </c:pt>
                <c:pt idx="38">
                  <c:v>7.9870632997925348</c:v>
                </c:pt>
              </c:numCache>
            </c:numRef>
          </c:val>
          <c:extLst>
            <c:ext xmlns:c16="http://schemas.microsoft.com/office/drawing/2014/chart" uri="{C3380CC4-5D6E-409C-BE32-E72D297353CC}">
              <c16:uniqueId val="{00000037-DF20-4971-848F-1DAC26978B78}"/>
            </c:ext>
          </c:extLst>
        </c:ser>
        <c:dLbls>
          <c:showLegendKey val="0"/>
          <c:showVal val="0"/>
          <c:showCatName val="0"/>
          <c:showSerName val="0"/>
          <c:showPercent val="0"/>
          <c:showBubbleSize val="0"/>
        </c:dLbls>
        <c:gapWidth val="0"/>
        <c:overlap val="100"/>
        <c:axId val="1885925088"/>
        <c:axId val="1"/>
      </c:barChart>
      <c:catAx>
        <c:axId val="1885925088"/>
        <c:scaling>
          <c:orientation val="minMax"/>
        </c:scaling>
        <c:delete val="0"/>
        <c:axPos val="b"/>
        <c:majorGridlines>
          <c:spPr>
            <a:ln>
              <a:noFill/>
            </a:ln>
          </c:spPr>
        </c:majorGridlines>
        <c:majorTickMark val="none"/>
        <c:minorTickMark val="none"/>
        <c:tickLblPos val="none"/>
        <c:spPr>
          <a:ln w="9525" cmpd="sng" algn="ctr">
            <a:solidFill>
              <a:schemeClr val="tx1"/>
            </a:solidFill>
            <a:prstDash val="solid"/>
          </a:ln>
        </c:spPr>
        <c:crossAx val="1"/>
        <c:crosses val="min"/>
        <c:auto val="0"/>
        <c:lblAlgn val="ctr"/>
        <c:lblOffset val="100"/>
        <c:noMultiLvlLbl val="0"/>
      </c:catAx>
      <c:valAx>
        <c:axId val="1"/>
        <c:scaling>
          <c:orientation val="minMax"/>
          <c:max val="15"/>
          <c:min val="0"/>
        </c:scaling>
        <c:delete val="0"/>
        <c:axPos val="l"/>
        <c:majorGridlines>
          <c:spPr>
            <a:ln>
              <a:noFill/>
            </a:ln>
          </c:spPr>
        </c:majorGridlines>
        <c:numFmt formatCode="#,##0;&quot;-&quot;#,##0" sourceLinked="0"/>
        <c:majorTickMark val="out"/>
        <c:minorTickMark val="none"/>
        <c:tickLblPos val="nextTo"/>
        <c:spPr>
          <a:ln w="9525" cmpd="sng" algn="ctr">
            <a:solidFill>
              <a:schemeClr val="tx1"/>
            </a:solidFill>
            <a:prstDash val="solid"/>
          </a:ln>
        </c:spPr>
        <c:txPr>
          <a:bodyPr wrap="none"/>
          <a:lstStyle/>
          <a:p>
            <a:pPr>
              <a:defRPr sz="1000" kern="1200">
                <a:solidFill>
                  <a:srgbClr val="000000"/>
                </a:solidFill>
                <a:latin typeface="+mn-lt"/>
                <a:ea typeface="+mn-ea"/>
                <a:cs typeface="+mn-cs"/>
              </a:defRPr>
            </a:pPr>
            <a:endParaRPr lang="en-US"/>
          </a:p>
        </c:txPr>
        <c:crossAx val="1885925088"/>
        <c:crosses val="min"/>
        <c:crossBetween val="between"/>
        <c:majorUnit val="5"/>
      </c:valAx>
    </c:plotArea>
    <c:plotVisOnly val="0"/>
    <c:dispBlanksAs val="gap"/>
    <c:showDLblsOverMax val="1"/>
  </c:chart>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4.9044406970207982E-2"/>
          <c:y val="6.7458432304038002E-2"/>
          <c:w val="0.94364811691961781"/>
          <c:h val="0.86508313539192394"/>
        </c:manualLayout>
      </c:layout>
      <c:barChart>
        <c:barDir val="col"/>
        <c:grouping val="stacked"/>
        <c:varyColors val="0"/>
        <c:ser>
          <c:idx val="0"/>
          <c:order val="0"/>
          <c:spPr>
            <a:solidFill>
              <a:schemeClr val="accent1"/>
            </a:solidFill>
            <a:ln>
              <a:noFill/>
            </a:ln>
          </c:spPr>
          <c:invertIfNegative val="0"/>
          <c:dLbls>
            <c:dLbl>
              <c:idx val="0"/>
              <c:layout>
                <c:manualLayout>
                  <c:x val="0"/>
                  <c:y val="-4.7505938242280285E-4"/>
                </c:manualLayout>
              </c:layout>
              <c:numFmt formatCode="#,##0&quot;%&quot;;&quot;-&quot;#,##0&quot;%&quot;" sourceLinked="0"/>
              <c:spPr>
                <a:noFill/>
                <a:ln>
                  <a:noFill/>
                </a:ln>
              </c:spPr>
              <c:txPr>
                <a:bodyPr wrap="none"/>
                <a:lstStyle/>
                <a:p>
                  <a:pPr>
                    <a:defRPr sz="10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0-CE29-4A3D-A133-B53D9B4C9BE0}"/>
                </c:ext>
              </c:extLst>
            </c:dLbl>
            <c:dLbl>
              <c:idx val="1"/>
              <c:layout>
                <c:manualLayout>
                  <c:x val="0"/>
                  <c:y val="0"/>
                </c:manualLayout>
              </c:layout>
              <c:numFmt formatCode="#,##0&quot;%&quot;;&quot;-&quot;#,##0&quot;%&quot;" sourceLinked="0"/>
              <c:spPr>
                <a:noFill/>
                <a:ln>
                  <a:noFill/>
                </a:ln>
              </c:spPr>
              <c:txPr>
                <a:bodyPr wrap="none"/>
                <a:lstStyle/>
                <a:p>
                  <a:pPr>
                    <a:defRPr sz="10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1-CE29-4A3D-A133-B53D9B4C9BE0}"/>
                </c:ext>
              </c:extLst>
            </c:dLbl>
            <c:dLbl>
              <c:idx val="2"/>
              <c:layout>
                <c:manualLayout>
                  <c:x val="0"/>
                  <c:y val="0"/>
                </c:manualLayout>
              </c:layout>
              <c:numFmt formatCode="#,##0&quot;%&quot;;&quot;-&quot;#,##0&quot;%&quot;" sourceLinked="0"/>
              <c:spPr>
                <a:noFill/>
                <a:ln>
                  <a:noFill/>
                </a:ln>
              </c:spPr>
              <c:txPr>
                <a:bodyPr wrap="none"/>
                <a:lstStyle/>
                <a:p>
                  <a:pPr>
                    <a:defRPr sz="10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2-CE29-4A3D-A133-B53D9B4C9BE0}"/>
                </c:ext>
              </c:extLst>
            </c:dLbl>
            <c:dLbl>
              <c:idx val="3"/>
              <c:layout>
                <c:manualLayout>
                  <c:x val="0"/>
                  <c:y val="-4.7505938242280285E-4"/>
                </c:manualLayout>
              </c:layout>
              <c:numFmt formatCode="#,##0&quot;%&quot;;&quot;-&quot;#,##0&quot;%&quot;" sourceLinked="0"/>
              <c:spPr>
                <a:noFill/>
                <a:ln>
                  <a:noFill/>
                </a:ln>
              </c:spPr>
              <c:txPr>
                <a:bodyPr wrap="none"/>
                <a:lstStyle/>
                <a:p>
                  <a:pPr>
                    <a:defRPr sz="10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3-CE29-4A3D-A133-B53D9B4C9BE0}"/>
                </c:ext>
              </c:extLst>
            </c:dLbl>
            <c:dLbl>
              <c:idx val="5"/>
              <c:layout>
                <c:manualLayout>
                  <c:x val="0"/>
                  <c:y val="0"/>
                </c:manualLayout>
              </c:layout>
              <c:numFmt formatCode="#,##0&quot;%&quot;;&quot;-&quot;#,##0&quot;%&quot;" sourceLinked="0"/>
              <c:spPr>
                <a:noFill/>
                <a:ln>
                  <a:noFill/>
                </a:ln>
              </c:spPr>
              <c:txPr>
                <a:bodyPr wrap="none"/>
                <a:lstStyle/>
                <a:p>
                  <a:pPr>
                    <a:defRPr sz="10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4-CE29-4A3D-A133-B53D9B4C9BE0}"/>
                </c:ext>
              </c:extLst>
            </c:dLbl>
            <c:dLbl>
              <c:idx val="6"/>
              <c:layout>
                <c:manualLayout>
                  <c:x val="0"/>
                  <c:y val="-4.7505938242280285E-4"/>
                </c:manualLayout>
              </c:layout>
              <c:numFmt formatCode="#,##0&quot;%&quot;;&quot;-&quot;#,##0&quot;%&quot;" sourceLinked="0"/>
              <c:spPr>
                <a:noFill/>
                <a:ln>
                  <a:noFill/>
                </a:ln>
              </c:spPr>
              <c:txPr>
                <a:bodyPr wrap="none"/>
                <a:lstStyle/>
                <a:p>
                  <a:pPr>
                    <a:defRPr sz="10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5-CE29-4A3D-A133-B53D9B4C9BE0}"/>
                </c:ext>
              </c:extLst>
            </c:dLbl>
            <c:dLbl>
              <c:idx val="7"/>
              <c:layout>
                <c:manualLayout>
                  <c:x val="0"/>
                  <c:y val="0"/>
                </c:manualLayout>
              </c:layout>
              <c:numFmt formatCode="#,##0&quot;%&quot;;&quot;-&quot;#,##0&quot;%&quot;" sourceLinked="0"/>
              <c:spPr>
                <a:noFill/>
                <a:ln>
                  <a:noFill/>
                </a:ln>
              </c:spPr>
              <c:txPr>
                <a:bodyPr wrap="none"/>
                <a:lstStyle/>
                <a:p>
                  <a:pPr>
                    <a:defRPr sz="10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6-CE29-4A3D-A133-B53D9B4C9BE0}"/>
                </c:ext>
              </c:extLst>
            </c:dLbl>
            <c:dLbl>
              <c:idx val="10"/>
              <c:layout>
                <c:manualLayout>
                  <c:x val="0"/>
                  <c:y val="0"/>
                </c:manualLayout>
              </c:layout>
              <c:numFmt formatCode="#,##0&quot;%&quot;;&quot;-&quot;#,##0&quot;%&quot;" sourceLinked="0"/>
              <c:spPr>
                <a:noFill/>
                <a:ln>
                  <a:noFill/>
                </a:ln>
              </c:spPr>
              <c:txPr>
                <a:bodyPr wrap="none"/>
                <a:lstStyle/>
                <a:p>
                  <a:pPr>
                    <a:defRPr sz="10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7-CE29-4A3D-A133-B53D9B4C9BE0}"/>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val>
            <c:numRef>
              <c:f>Sheet1!$A$1:$K$1</c:f>
              <c:numCache>
                <c:formatCode>General</c:formatCode>
                <c:ptCount val="11"/>
                <c:pt idx="0">
                  <c:v>5.7386942361605939</c:v>
                </c:pt>
                <c:pt idx="1">
                  <c:v>4.5773045454818932</c:v>
                </c:pt>
                <c:pt idx="2">
                  <c:v>21.956178072149335</c:v>
                </c:pt>
                <c:pt idx="3">
                  <c:v>8.5982914060327182</c:v>
                </c:pt>
                <c:pt idx="5">
                  <c:v>20.706699968729957</c:v>
                </c:pt>
                <c:pt idx="6">
                  <c:v>46.709153247886668</c:v>
                </c:pt>
                <c:pt idx="7">
                  <c:v>22.957577039261079</c:v>
                </c:pt>
                <c:pt idx="8">
                  <c:v>1.9054019074910205</c:v>
                </c:pt>
                <c:pt idx="10">
                  <c:v>43.242400026174998</c:v>
                </c:pt>
              </c:numCache>
            </c:numRef>
          </c:val>
          <c:extLst>
            <c:ext xmlns:c16="http://schemas.microsoft.com/office/drawing/2014/chart" uri="{C3380CC4-5D6E-409C-BE32-E72D297353CC}">
              <c16:uniqueId val="{00000008-CE29-4A3D-A133-B53D9B4C9BE0}"/>
            </c:ext>
          </c:extLst>
        </c:ser>
        <c:ser>
          <c:idx val="1"/>
          <c:order val="1"/>
          <c:spPr>
            <a:solidFill>
              <a:schemeClr val="accent2"/>
            </a:solidFill>
            <a:ln>
              <a:noFill/>
            </a:ln>
          </c:spPr>
          <c:invertIfNegative val="0"/>
          <c:dLbls>
            <c:dLbl>
              <c:idx val="0"/>
              <c:layout>
                <c:manualLayout>
                  <c:x val="0"/>
                  <c:y val="0"/>
                </c:manualLayout>
              </c:layout>
              <c:numFmt formatCode="#,##0&quot;%&quot;;&quot;-&quot;#,##0&quot;%&quot;" sourceLinked="0"/>
              <c:spPr>
                <a:noFill/>
                <a:ln>
                  <a:noFill/>
                </a:ln>
              </c:spPr>
              <c:txPr>
                <a:bodyPr wrap="none"/>
                <a:lstStyle/>
                <a:p>
                  <a:pPr>
                    <a:defRPr sz="10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9-CE29-4A3D-A133-B53D9B4C9BE0}"/>
                </c:ext>
              </c:extLst>
            </c:dLbl>
            <c:dLbl>
              <c:idx val="1"/>
              <c:layout>
                <c:manualLayout>
                  <c:x val="0"/>
                  <c:y val="0"/>
                </c:manualLayout>
              </c:layout>
              <c:numFmt formatCode="#,##0&quot;%&quot;;&quot;-&quot;#,##0&quot;%&quot;" sourceLinked="0"/>
              <c:spPr>
                <a:noFill/>
                <a:ln>
                  <a:noFill/>
                </a:ln>
              </c:spPr>
              <c:txPr>
                <a:bodyPr wrap="none"/>
                <a:lstStyle/>
                <a:p>
                  <a:pPr>
                    <a:defRPr sz="10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A-CE29-4A3D-A133-B53D9B4C9BE0}"/>
                </c:ext>
              </c:extLst>
            </c:dLbl>
            <c:dLbl>
              <c:idx val="2"/>
              <c:layout>
                <c:manualLayout>
                  <c:x val="0"/>
                  <c:y val="0"/>
                </c:manualLayout>
              </c:layout>
              <c:numFmt formatCode="#,##0&quot;%&quot;;&quot;-&quot;#,##0&quot;%&quot;" sourceLinked="0"/>
              <c:spPr>
                <a:noFill/>
                <a:ln>
                  <a:noFill/>
                </a:ln>
              </c:spPr>
              <c:txPr>
                <a:bodyPr wrap="none"/>
                <a:lstStyle/>
                <a:p>
                  <a:pPr>
                    <a:defRPr sz="10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B-CE29-4A3D-A133-B53D9B4C9BE0}"/>
                </c:ext>
              </c:extLst>
            </c:dLbl>
            <c:dLbl>
              <c:idx val="3"/>
              <c:layout>
                <c:manualLayout>
                  <c:x val="0"/>
                  <c:y val="-4.7505938242280285E-4"/>
                </c:manualLayout>
              </c:layout>
              <c:numFmt formatCode="#,##0&quot;%&quot;;&quot;-&quot;#,##0&quot;%&quot;" sourceLinked="0"/>
              <c:spPr>
                <a:noFill/>
                <a:ln>
                  <a:noFill/>
                </a:ln>
              </c:spPr>
              <c:txPr>
                <a:bodyPr wrap="none"/>
                <a:lstStyle/>
                <a:p>
                  <a:pPr>
                    <a:defRPr sz="10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C-CE29-4A3D-A133-B53D9B4C9BE0}"/>
                </c:ext>
              </c:extLst>
            </c:dLbl>
            <c:dLbl>
              <c:idx val="5"/>
              <c:layout>
                <c:manualLayout>
                  <c:x val="0"/>
                  <c:y val="-4.7505938242280285E-4"/>
                </c:manualLayout>
              </c:layout>
              <c:numFmt formatCode="#,##0&quot;%&quot;;&quot;-&quot;#,##0&quot;%&quot;" sourceLinked="0"/>
              <c:spPr>
                <a:noFill/>
                <a:ln>
                  <a:noFill/>
                </a:ln>
              </c:spPr>
              <c:txPr>
                <a:bodyPr wrap="none"/>
                <a:lstStyle/>
                <a:p>
                  <a:pPr>
                    <a:defRPr sz="10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D-CE29-4A3D-A133-B53D9B4C9BE0}"/>
                </c:ext>
              </c:extLst>
            </c:dLbl>
            <c:dLbl>
              <c:idx val="6"/>
              <c:layout>
                <c:manualLayout>
                  <c:x val="0"/>
                  <c:y val="0"/>
                </c:manualLayout>
              </c:layout>
              <c:numFmt formatCode="#,##0&quot;%&quot;;&quot;-&quot;#,##0&quot;%&quot;" sourceLinked="0"/>
              <c:spPr>
                <a:noFill/>
                <a:ln>
                  <a:noFill/>
                </a:ln>
              </c:spPr>
              <c:txPr>
                <a:bodyPr wrap="none"/>
                <a:lstStyle/>
                <a:p>
                  <a:pPr>
                    <a:defRPr sz="10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E-CE29-4A3D-A133-B53D9B4C9BE0}"/>
                </c:ext>
              </c:extLst>
            </c:dLbl>
            <c:dLbl>
              <c:idx val="7"/>
              <c:layout>
                <c:manualLayout>
                  <c:x val="0"/>
                  <c:y val="0"/>
                </c:manualLayout>
              </c:layout>
              <c:numFmt formatCode="#,##0&quot;%&quot;;&quot;-&quot;#,##0&quot;%&quot;" sourceLinked="0"/>
              <c:spPr>
                <a:noFill/>
                <a:ln>
                  <a:noFill/>
                </a:ln>
              </c:spPr>
              <c:txPr>
                <a:bodyPr wrap="none"/>
                <a:lstStyle/>
                <a:p>
                  <a:pPr>
                    <a:defRPr sz="10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F-CE29-4A3D-A133-B53D9B4C9BE0}"/>
                </c:ext>
              </c:extLst>
            </c:dLbl>
            <c:dLbl>
              <c:idx val="8"/>
              <c:layout>
                <c:manualLayout>
                  <c:x val="0"/>
                  <c:y val="-4.7505938242280285E-4"/>
                </c:manualLayout>
              </c:layout>
              <c:numFmt formatCode="#,##0&quot;%&quot;;&quot;-&quot;#,##0&quot;%&quot;" sourceLinked="0"/>
              <c:spPr>
                <a:noFill/>
                <a:ln>
                  <a:noFill/>
                </a:ln>
              </c:spPr>
              <c:txPr>
                <a:bodyPr wrap="none"/>
                <a:lstStyle/>
                <a:p>
                  <a:pPr>
                    <a:defRPr sz="10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10-CE29-4A3D-A133-B53D9B4C9BE0}"/>
                </c:ext>
              </c:extLst>
            </c:dLbl>
            <c:dLbl>
              <c:idx val="10"/>
              <c:layout>
                <c:manualLayout>
                  <c:x val="0"/>
                  <c:y val="0"/>
                </c:manualLayout>
              </c:layout>
              <c:numFmt formatCode="#,##0&quot;%&quot;;&quot;-&quot;#,##0&quot;%&quot;" sourceLinked="0"/>
              <c:spPr>
                <a:noFill/>
                <a:ln>
                  <a:noFill/>
                </a:ln>
              </c:spPr>
              <c:txPr>
                <a:bodyPr wrap="none"/>
                <a:lstStyle/>
                <a:p>
                  <a:pPr>
                    <a:defRPr sz="10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11-CE29-4A3D-A133-B53D9B4C9BE0}"/>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val>
            <c:numRef>
              <c:f>Sheet1!$A$2:$K$2</c:f>
              <c:numCache>
                <c:formatCode>General</c:formatCode>
                <c:ptCount val="11"/>
                <c:pt idx="0">
                  <c:v>10.661489291530899</c:v>
                </c:pt>
                <c:pt idx="1">
                  <c:v>7.0958071377496754</c:v>
                </c:pt>
                <c:pt idx="2">
                  <c:v>14.063285954086947</c:v>
                </c:pt>
                <c:pt idx="3">
                  <c:v>7.341392688255902</c:v>
                </c:pt>
                <c:pt idx="5">
                  <c:v>15.309599979100453</c:v>
                </c:pt>
                <c:pt idx="6">
                  <c:v>9.0544909419633886</c:v>
                </c:pt>
                <c:pt idx="7">
                  <c:v>29.392870601028775</c:v>
                </c:pt>
                <c:pt idx="8">
                  <c:v>29.620129621333419</c:v>
                </c:pt>
                <c:pt idx="10">
                  <c:v>24.110500015118895</c:v>
                </c:pt>
              </c:numCache>
            </c:numRef>
          </c:val>
          <c:extLst>
            <c:ext xmlns:c16="http://schemas.microsoft.com/office/drawing/2014/chart" uri="{C3380CC4-5D6E-409C-BE32-E72D297353CC}">
              <c16:uniqueId val="{00000012-CE29-4A3D-A133-B53D9B4C9BE0}"/>
            </c:ext>
          </c:extLst>
        </c:ser>
        <c:ser>
          <c:idx val="2"/>
          <c:order val="2"/>
          <c:spPr>
            <a:solidFill>
              <a:schemeClr val="accent3"/>
            </a:solidFill>
            <a:ln>
              <a:noFill/>
            </a:ln>
          </c:spPr>
          <c:invertIfNegative val="0"/>
          <c:dLbls>
            <c:dLbl>
              <c:idx val="2"/>
              <c:layout>
                <c:manualLayout>
                  <c:x val="0"/>
                  <c:y val="0"/>
                </c:manualLayout>
              </c:layout>
              <c:numFmt formatCode="#,##0&quot;%&quot;;&quot;-&quot;#,##0&quot;%&quot;" sourceLinked="0"/>
              <c:spPr>
                <a:noFill/>
                <a:ln>
                  <a:noFill/>
                </a:ln>
              </c:spPr>
              <c:txPr>
                <a:bodyPr wrap="none"/>
                <a:lstStyle/>
                <a:p>
                  <a:pPr>
                    <a:defRPr sz="10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13-CE29-4A3D-A133-B53D9B4C9BE0}"/>
                </c:ext>
              </c:extLst>
            </c:dLbl>
            <c:dLbl>
              <c:idx val="3"/>
              <c:layout>
                <c:manualLayout>
                  <c:x val="0"/>
                  <c:y val="0"/>
                </c:manualLayout>
              </c:layout>
              <c:numFmt formatCode="#,##0&quot;%&quot;;&quot;-&quot;#,##0&quot;%&quot;" sourceLinked="0"/>
              <c:spPr>
                <a:noFill/>
                <a:ln>
                  <a:noFill/>
                </a:ln>
              </c:spPr>
              <c:txPr>
                <a:bodyPr wrap="none"/>
                <a:lstStyle/>
                <a:p>
                  <a:pPr>
                    <a:defRPr sz="10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14-CE29-4A3D-A133-B53D9B4C9BE0}"/>
                </c:ext>
              </c:extLst>
            </c:dLbl>
            <c:dLbl>
              <c:idx val="5"/>
              <c:layout>
                <c:manualLayout>
                  <c:x val="0"/>
                  <c:y val="0"/>
                </c:manualLayout>
              </c:layout>
              <c:numFmt formatCode="#,##0&quot;%&quot;;&quot;-&quot;#,##0&quot;%&quot;" sourceLinked="0"/>
              <c:spPr>
                <a:noFill/>
                <a:ln>
                  <a:noFill/>
                </a:ln>
              </c:spPr>
              <c:txPr>
                <a:bodyPr wrap="none"/>
                <a:lstStyle/>
                <a:p>
                  <a:pPr>
                    <a:defRPr sz="10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15-CE29-4A3D-A133-B53D9B4C9BE0}"/>
                </c:ext>
              </c:extLst>
            </c:dLbl>
            <c:dLbl>
              <c:idx val="6"/>
              <c:layout>
                <c:manualLayout>
                  <c:x val="0"/>
                  <c:y val="0"/>
                </c:manualLayout>
              </c:layout>
              <c:numFmt formatCode="#,##0&quot;%&quot;;&quot;-&quot;#,##0&quot;%&quot;" sourceLinked="0"/>
              <c:spPr>
                <a:noFill/>
                <a:ln>
                  <a:noFill/>
                </a:ln>
              </c:spPr>
              <c:txPr>
                <a:bodyPr wrap="none"/>
                <a:lstStyle/>
                <a:p>
                  <a:pPr>
                    <a:defRPr sz="10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16-CE29-4A3D-A133-B53D9B4C9BE0}"/>
                </c:ext>
              </c:extLst>
            </c:dLbl>
            <c:dLbl>
              <c:idx val="7"/>
              <c:layout>
                <c:manualLayout>
                  <c:x val="0"/>
                  <c:y val="0"/>
                </c:manualLayout>
              </c:layout>
              <c:numFmt formatCode="#,##0&quot;%&quot;;&quot;-&quot;#,##0&quot;%&quot;" sourceLinked="0"/>
              <c:spPr>
                <a:noFill/>
                <a:ln>
                  <a:noFill/>
                </a:ln>
              </c:spPr>
              <c:txPr>
                <a:bodyPr wrap="none"/>
                <a:lstStyle/>
                <a:p>
                  <a:pPr>
                    <a:defRPr sz="10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17-CE29-4A3D-A133-B53D9B4C9BE0}"/>
                </c:ext>
              </c:extLst>
            </c:dLbl>
            <c:dLbl>
              <c:idx val="8"/>
              <c:layout>
                <c:manualLayout>
                  <c:x val="0"/>
                  <c:y val="0"/>
                </c:manualLayout>
              </c:layout>
              <c:numFmt formatCode="#,##0&quot;%&quot;;&quot;-&quot;#,##0&quot;%&quot;" sourceLinked="0"/>
              <c:spPr>
                <a:noFill/>
                <a:ln>
                  <a:noFill/>
                </a:ln>
              </c:spPr>
              <c:txPr>
                <a:bodyPr wrap="none"/>
                <a:lstStyle/>
                <a:p>
                  <a:pPr>
                    <a:defRPr sz="10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18-CE29-4A3D-A133-B53D9B4C9BE0}"/>
                </c:ext>
              </c:extLst>
            </c:dLbl>
            <c:dLbl>
              <c:idx val="10"/>
              <c:layout>
                <c:manualLayout>
                  <c:x val="0"/>
                  <c:y val="0"/>
                </c:manualLayout>
              </c:layout>
              <c:numFmt formatCode="#,##0&quot;%&quot;;&quot;-&quot;#,##0&quot;%&quot;" sourceLinked="0"/>
              <c:spPr>
                <a:noFill/>
                <a:ln>
                  <a:noFill/>
                </a:ln>
              </c:spPr>
              <c:txPr>
                <a:bodyPr wrap="none"/>
                <a:lstStyle/>
                <a:p>
                  <a:pPr>
                    <a:defRPr sz="10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19-CE29-4A3D-A133-B53D9B4C9BE0}"/>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val>
            <c:numRef>
              <c:f>Sheet1!$A$3:$K$3</c:f>
              <c:numCache>
                <c:formatCode>General</c:formatCode>
                <c:ptCount val="11"/>
                <c:pt idx="0">
                  <c:v>3.5069963945436573</c:v>
                </c:pt>
                <c:pt idx="1">
                  <c:v>3.5309035049318731</c:v>
                </c:pt>
                <c:pt idx="2">
                  <c:v>7.3884925809792943</c:v>
                </c:pt>
                <c:pt idx="3">
                  <c:v>6.9867929848464518</c:v>
                </c:pt>
                <c:pt idx="5">
                  <c:v>28.855599989620806</c:v>
                </c:pt>
                <c:pt idx="6">
                  <c:v>18.593781406090415</c:v>
                </c:pt>
                <c:pt idx="7">
                  <c:v>17.351982656864607</c:v>
                </c:pt>
                <c:pt idx="8">
                  <c:v>26.678326673611657</c:v>
                </c:pt>
                <c:pt idx="10">
                  <c:v>14.05589998056389</c:v>
                </c:pt>
              </c:numCache>
            </c:numRef>
          </c:val>
          <c:extLst>
            <c:ext xmlns:c16="http://schemas.microsoft.com/office/drawing/2014/chart" uri="{C3380CC4-5D6E-409C-BE32-E72D297353CC}">
              <c16:uniqueId val="{0000001A-CE29-4A3D-A133-B53D9B4C9BE0}"/>
            </c:ext>
          </c:extLst>
        </c:ser>
        <c:ser>
          <c:idx val="3"/>
          <c:order val="3"/>
          <c:spPr>
            <a:solidFill>
              <a:schemeClr val="accent4"/>
            </a:solidFill>
            <a:ln>
              <a:noFill/>
            </a:ln>
          </c:spPr>
          <c:invertIfNegative val="0"/>
          <c:dLbls>
            <c:dLbl>
              <c:idx val="0"/>
              <c:layout>
                <c:manualLayout>
                  <c:x val="0"/>
                  <c:y val="-4.7505938242280285E-4"/>
                </c:manualLayout>
              </c:layout>
              <c:numFmt formatCode="#,##0&quot;%&quot;;&quot;-&quot;#,##0&quot;%&quot;" sourceLinked="0"/>
              <c:spPr>
                <a:noFill/>
                <a:ln>
                  <a:noFill/>
                </a:ln>
              </c:spPr>
              <c:txPr>
                <a:bodyPr wrap="none"/>
                <a:lstStyle/>
                <a:p>
                  <a:pPr>
                    <a:defRPr sz="10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1B-CE29-4A3D-A133-B53D9B4C9BE0}"/>
                </c:ext>
              </c:extLst>
            </c:dLbl>
            <c:dLbl>
              <c:idx val="1"/>
              <c:layout>
                <c:manualLayout>
                  <c:x val="0"/>
                  <c:y val="0"/>
                </c:manualLayout>
              </c:layout>
              <c:numFmt formatCode="#,##0&quot;%&quot;;&quot;-&quot;#,##0&quot;%&quot;" sourceLinked="0"/>
              <c:spPr>
                <a:noFill/>
                <a:ln>
                  <a:noFill/>
                </a:ln>
              </c:spPr>
              <c:txPr>
                <a:bodyPr wrap="none"/>
                <a:lstStyle/>
                <a:p>
                  <a:pPr>
                    <a:defRPr sz="10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1C-CE29-4A3D-A133-B53D9B4C9BE0}"/>
                </c:ext>
              </c:extLst>
            </c:dLbl>
            <c:dLbl>
              <c:idx val="2"/>
              <c:layout>
                <c:manualLayout>
                  <c:x val="0"/>
                  <c:y val="0"/>
                </c:manualLayout>
              </c:layout>
              <c:numFmt formatCode="#,##0&quot;%&quot;;&quot;-&quot;#,##0&quot;%&quot;" sourceLinked="0"/>
              <c:spPr>
                <a:noFill/>
                <a:ln>
                  <a:noFill/>
                </a:ln>
              </c:spPr>
              <c:txPr>
                <a:bodyPr wrap="none"/>
                <a:lstStyle/>
                <a:p>
                  <a:pPr>
                    <a:defRPr sz="10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1D-CE29-4A3D-A133-B53D9B4C9BE0}"/>
                </c:ext>
              </c:extLst>
            </c:dLbl>
            <c:dLbl>
              <c:idx val="3"/>
              <c:layout>
                <c:manualLayout>
                  <c:x val="0"/>
                  <c:y val="0"/>
                </c:manualLayout>
              </c:layout>
              <c:numFmt formatCode="#,##0&quot;%&quot;;&quot;-&quot;#,##0&quot;%&quot;" sourceLinked="0"/>
              <c:spPr>
                <a:noFill/>
                <a:ln>
                  <a:noFill/>
                </a:ln>
              </c:spPr>
              <c:txPr>
                <a:bodyPr wrap="none"/>
                <a:lstStyle/>
                <a:p>
                  <a:pPr>
                    <a:defRPr sz="10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1E-CE29-4A3D-A133-B53D9B4C9BE0}"/>
                </c:ext>
              </c:extLst>
            </c:dLbl>
            <c:dLbl>
              <c:idx val="5"/>
              <c:layout>
                <c:manualLayout>
                  <c:x val="-1.1944912872400225E-2"/>
                  <c:y val="0"/>
                </c:manualLayout>
              </c:layout>
              <c:numFmt formatCode="#,##0&quot;%&quot;;&quot;-&quot;#,##0&quot;%&quot;" sourceLinked="0"/>
              <c:spPr>
                <a:noFill/>
                <a:ln>
                  <a:noFill/>
                </a:ln>
              </c:spPr>
              <c:txPr>
                <a:bodyPr wrap="none"/>
                <a:lstStyle/>
                <a:p>
                  <a:pPr>
                    <a:defRPr sz="10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1F-CE29-4A3D-A133-B53D9B4C9BE0}"/>
                </c:ext>
              </c:extLst>
            </c:dLbl>
            <c:dLbl>
              <c:idx val="7"/>
              <c:layout>
                <c:manualLayout>
                  <c:x val="-1.1944912872400225E-2"/>
                  <c:y val="-4.7505938242280285E-4"/>
                </c:manualLayout>
              </c:layout>
              <c:numFmt formatCode="#,##0&quot;%&quot;;&quot;-&quot;#,##0&quot;%&quot;" sourceLinked="0"/>
              <c:spPr>
                <a:noFill/>
                <a:ln>
                  <a:noFill/>
                </a:ln>
              </c:spPr>
              <c:txPr>
                <a:bodyPr wrap="none"/>
                <a:lstStyle/>
                <a:p>
                  <a:pPr>
                    <a:defRPr sz="10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20-CE29-4A3D-A133-B53D9B4C9BE0}"/>
                </c:ext>
              </c:extLst>
            </c:dLbl>
            <c:dLbl>
              <c:idx val="8"/>
              <c:layout>
                <c:manualLayout>
                  <c:x val="-1.1804384485666104E-2"/>
                  <c:y val="0"/>
                </c:manualLayout>
              </c:layout>
              <c:numFmt formatCode="#,##0&quot;%&quot;;&quot;-&quot;#,##0&quot;%&quot;" sourceLinked="0"/>
              <c:spPr>
                <a:noFill/>
                <a:ln>
                  <a:noFill/>
                </a:ln>
              </c:spPr>
              <c:txPr>
                <a:bodyPr wrap="none"/>
                <a:lstStyle/>
                <a:p>
                  <a:pPr>
                    <a:defRPr sz="10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21-CE29-4A3D-A133-B53D9B4C9BE0}"/>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val>
            <c:numRef>
              <c:f>Sheet1!$A$4:$K$4</c:f>
              <c:numCache>
                <c:formatCode>General</c:formatCode>
                <c:ptCount val="11"/>
                <c:pt idx="0">
                  <c:v>31.598668505114127</c:v>
                </c:pt>
                <c:pt idx="1">
                  <c:v>33.067333052831216</c:v>
                </c:pt>
                <c:pt idx="2">
                  <c:v>27.180672816907808</c:v>
                </c:pt>
                <c:pt idx="3">
                  <c:v>43.739756255860833</c:v>
                </c:pt>
                <c:pt idx="5">
                  <c:v>6.0865000160600928</c:v>
                </c:pt>
                <c:pt idx="6">
                  <c:v>0.80879921403393951</c:v>
                </c:pt>
                <c:pt idx="7">
                  <c:v>6.0555939482475507</c:v>
                </c:pt>
                <c:pt idx="8">
                  <c:v>6.1631061719233049</c:v>
                </c:pt>
                <c:pt idx="10">
                  <c:v>3.1212000206514268</c:v>
                </c:pt>
              </c:numCache>
            </c:numRef>
          </c:val>
          <c:extLst>
            <c:ext xmlns:c16="http://schemas.microsoft.com/office/drawing/2014/chart" uri="{C3380CC4-5D6E-409C-BE32-E72D297353CC}">
              <c16:uniqueId val="{00000022-CE29-4A3D-A133-B53D9B4C9BE0}"/>
            </c:ext>
          </c:extLst>
        </c:ser>
        <c:ser>
          <c:idx val="4"/>
          <c:order val="4"/>
          <c:spPr>
            <a:solidFill>
              <a:schemeClr val="accent5"/>
            </a:solidFill>
            <a:ln>
              <a:noFill/>
            </a:ln>
          </c:spPr>
          <c:invertIfNegative val="0"/>
          <c:dLbls>
            <c:dLbl>
              <c:idx val="0"/>
              <c:layout>
                <c:manualLayout>
                  <c:x val="0"/>
                  <c:y val="0"/>
                </c:manualLayout>
              </c:layout>
              <c:numFmt formatCode="#,##0&quot;%&quot;;&quot;-&quot;#,##0&quot;%&quot;"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23-CE29-4A3D-A133-B53D9B4C9BE0}"/>
                </c:ext>
              </c:extLst>
            </c:dLbl>
            <c:dLbl>
              <c:idx val="1"/>
              <c:layout>
                <c:manualLayout>
                  <c:x val="0"/>
                  <c:y val="0"/>
                </c:manualLayout>
              </c:layout>
              <c:numFmt formatCode="#,##0&quot;%&quot;;&quot;-&quot;#,##0&quot;%&quot;"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24-CE29-4A3D-A133-B53D9B4C9BE0}"/>
                </c:ext>
              </c:extLst>
            </c:dLbl>
            <c:dLbl>
              <c:idx val="2"/>
              <c:layout>
                <c:manualLayout>
                  <c:x val="0"/>
                  <c:y val="0"/>
                </c:manualLayout>
              </c:layout>
              <c:numFmt formatCode="#,##0&quot;%&quot;;&quot;-&quot;#,##0&quot;%&quot;"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25-CE29-4A3D-A133-B53D9B4C9BE0}"/>
                </c:ext>
              </c:extLst>
            </c:dLbl>
            <c:dLbl>
              <c:idx val="3"/>
              <c:layout>
                <c:manualLayout>
                  <c:x val="0"/>
                  <c:y val="0"/>
                </c:manualLayout>
              </c:layout>
              <c:numFmt formatCode="#,##0&quot;%&quot;;&quot;-&quot;#,##0&quot;%&quot;"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26-CE29-4A3D-A133-B53D9B4C9BE0}"/>
                </c:ext>
              </c:extLst>
            </c:dLbl>
            <c:dLbl>
              <c:idx val="10"/>
              <c:layout>
                <c:manualLayout>
                  <c:x val="3.4851039910061832E-2"/>
                  <c:y val="0"/>
                </c:manualLayout>
              </c:layout>
              <c:numFmt formatCode="#,##0&quot;%&quot;;&quot;-&quot;#,##0&quot;%&quot;"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27-CE29-4A3D-A133-B53D9B4C9BE0}"/>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val>
            <c:numRef>
              <c:f>Sheet1!$A$5:$K$5</c:f>
              <c:numCache>
                <c:formatCode>General</c:formatCode>
                <c:ptCount val="11"/>
                <c:pt idx="0">
                  <c:v>10.067389980694042</c:v>
                </c:pt>
                <c:pt idx="1">
                  <c:v>20.729920756330355</c:v>
                </c:pt>
                <c:pt idx="2">
                  <c:v>10.023689937842239</c:v>
                </c:pt>
                <c:pt idx="3">
                  <c:v>16.780083190605978</c:v>
                </c:pt>
                <c:pt idx="5">
                  <c:v>0.21059999677691676</c:v>
                </c:pt>
                <c:pt idx="6">
                  <c:v>1.6789983383071361</c:v>
                </c:pt>
                <c:pt idx="7">
                  <c:v>8.4299907092122428E-2</c:v>
                </c:pt>
                <c:pt idx="8">
                  <c:v>0.90620088765325235</c:v>
                </c:pt>
                <c:pt idx="10">
                  <c:v>1.1565999919137537</c:v>
                </c:pt>
              </c:numCache>
            </c:numRef>
          </c:val>
          <c:extLst>
            <c:ext xmlns:c16="http://schemas.microsoft.com/office/drawing/2014/chart" uri="{C3380CC4-5D6E-409C-BE32-E72D297353CC}">
              <c16:uniqueId val="{00000028-CE29-4A3D-A133-B53D9B4C9BE0}"/>
            </c:ext>
          </c:extLst>
        </c:ser>
        <c:ser>
          <c:idx val="5"/>
          <c:order val="5"/>
          <c:spPr>
            <a:solidFill>
              <a:schemeClr val="accent6"/>
            </a:solidFill>
            <a:ln>
              <a:noFill/>
            </a:ln>
          </c:spPr>
          <c:invertIfNegative val="0"/>
          <c:dPt>
            <c:idx val="3"/>
            <c:invertIfNegative val="0"/>
            <c:bubble3D val="0"/>
            <c:spPr>
              <a:solidFill>
                <a:schemeClr val="accent1"/>
              </a:solidFill>
              <a:ln>
                <a:noFill/>
              </a:ln>
            </c:spPr>
            <c:extLst>
              <c:ext xmlns:c16="http://schemas.microsoft.com/office/drawing/2014/chart" uri="{C3380CC4-5D6E-409C-BE32-E72D297353CC}">
                <c16:uniqueId val="{00000029-CE29-4A3D-A133-B53D9B4C9BE0}"/>
              </c:ext>
            </c:extLst>
          </c:dPt>
          <c:dLbls>
            <c:dLbl>
              <c:idx val="5"/>
              <c:layout>
                <c:manualLayout>
                  <c:x val="-1.1944912872400225E-2"/>
                  <c:y val="0"/>
                </c:manualLayout>
              </c:layout>
              <c:numFmt formatCode="#,##0&quot;%&quot;;&quot;-&quot;#,##0&quot;%&quot;"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2A-CE29-4A3D-A133-B53D9B4C9BE0}"/>
                </c:ext>
              </c:extLst>
            </c:dLbl>
            <c:dLbl>
              <c:idx val="6"/>
              <c:layout>
                <c:manualLayout>
                  <c:x val="-1.1804384485666104E-2"/>
                  <c:y val="0"/>
                </c:manualLayout>
              </c:layout>
              <c:numFmt formatCode="#,##0&quot;%&quot;;&quot;-&quot;#,##0&quot;%&quot;"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2B-CE29-4A3D-A133-B53D9B4C9BE0}"/>
                </c:ext>
              </c:extLst>
            </c:dLbl>
            <c:dLbl>
              <c:idx val="7"/>
              <c:layout>
                <c:manualLayout>
                  <c:x val="-1.1944912872400225E-2"/>
                  <c:y val="0"/>
                </c:manualLayout>
              </c:layout>
              <c:numFmt formatCode="#,##0&quot;%&quot;;&quot;-&quot;#,##0&quot;%&quot;"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2C-CE29-4A3D-A133-B53D9B4C9BE0}"/>
                </c:ext>
              </c:extLst>
            </c:dLbl>
            <c:dLbl>
              <c:idx val="8"/>
              <c:layout>
                <c:manualLayout>
                  <c:x val="-1.1804384485666104E-2"/>
                  <c:y val="0"/>
                </c:manualLayout>
              </c:layout>
              <c:numFmt formatCode="#,##0&quot;%&quot;;&quot;-&quot;#,##0&quot;%&quot;"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2D-CE29-4A3D-A133-B53D9B4C9BE0}"/>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val>
            <c:numRef>
              <c:f>Sheet1!$A$6:$K$6</c:f>
              <c:numCache>
                <c:formatCode>General</c:formatCode>
                <c:ptCount val="11"/>
                <c:pt idx="0">
                  <c:v>0.51319945141369283</c:v>
                </c:pt>
                <c:pt idx="1">
                  <c:v>0.2629002440466266</c:v>
                </c:pt>
                <c:pt idx="2">
                  <c:v>9.039991794207447E-2</c:v>
                </c:pt>
                <c:pt idx="3">
                  <c:v>2.1332978812865999</c:v>
                </c:pt>
                <c:pt idx="5">
                  <c:v>4.3096000201209517</c:v>
                </c:pt>
                <c:pt idx="6">
                  <c:v>7.3804925879122907</c:v>
                </c:pt>
                <c:pt idx="7">
                  <c:v>7.1472928600208929</c:v>
                </c:pt>
                <c:pt idx="8">
                  <c:v>6.2548062590105253</c:v>
                </c:pt>
                <c:pt idx="10">
                  <c:v>1.7656000070732314</c:v>
                </c:pt>
              </c:numCache>
            </c:numRef>
          </c:val>
          <c:extLst>
            <c:ext xmlns:c16="http://schemas.microsoft.com/office/drawing/2014/chart" uri="{C3380CC4-5D6E-409C-BE32-E72D297353CC}">
              <c16:uniqueId val="{0000002E-CE29-4A3D-A133-B53D9B4C9BE0}"/>
            </c:ext>
          </c:extLst>
        </c:ser>
        <c:ser>
          <c:idx val="6"/>
          <c:order val="6"/>
          <c:spPr>
            <a:solidFill>
              <a:schemeClr val="accent1"/>
            </a:solidFill>
            <a:ln>
              <a:noFill/>
            </a:ln>
          </c:spPr>
          <c:invertIfNegative val="0"/>
          <c:dPt>
            <c:idx val="0"/>
            <c:invertIfNegative val="0"/>
            <c:bubble3D val="0"/>
            <c:spPr>
              <a:pattFill prst="ltUpDiag">
                <a:fgClr>
                  <a:schemeClr val="tx1"/>
                </a:fgClr>
                <a:bgClr>
                  <a:schemeClr val="bg1"/>
                </a:bgClr>
              </a:pattFill>
              <a:ln>
                <a:noFill/>
              </a:ln>
            </c:spPr>
            <c:extLst>
              <c:ext xmlns:c16="http://schemas.microsoft.com/office/drawing/2014/chart" uri="{C3380CC4-5D6E-409C-BE32-E72D297353CC}">
                <c16:uniqueId val="{0000002F-CE29-4A3D-A133-B53D9B4C9BE0}"/>
              </c:ext>
            </c:extLst>
          </c:dPt>
          <c:dPt>
            <c:idx val="1"/>
            <c:invertIfNegative val="0"/>
            <c:bubble3D val="0"/>
            <c:spPr>
              <a:pattFill prst="ltUpDiag">
                <a:fgClr>
                  <a:schemeClr val="tx1"/>
                </a:fgClr>
                <a:bgClr>
                  <a:schemeClr val="bg1"/>
                </a:bgClr>
              </a:pattFill>
              <a:ln>
                <a:noFill/>
              </a:ln>
            </c:spPr>
            <c:extLst>
              <c:ext xmlns:c16="http://schemas.microsoft.com/office/drawing/2014/chart" uri="{C3380CC4-5D6E-409C-BE32-E72D297353CC}">
                <c16:uniqueId val="{00000030-CE29-4A3D-A133-B53D9B4C9BE0}"/>
              </c:ext>
            </c:extLst>
          </c:dPt>
          <c:dPt>
            <c:idx val="3"/>
            <c:invertIfNegative val="0"/>
            <c:bubble3D val="0"/>
            <c:spPr>
              <a:pattFill prst="ltUpDiag">
                <a:fgClr>
                  <a:schemeClr val="tx1"/>
                </a:fgClr>
                <a:bgClr>
                  <a:schemeClr val="bg1"/>
                </a:bgClr>
              </a:pattFill>
              <a:ln>
                <a:noFill/>
              </a:ln>
            </c:spPr>
            <c:extLst>
              <c:ext xmlns:c16="http://schemas.microsoft.com/office/drawing/2014/chart" uri="{C3380CC4-5D6E-409C-BE32-E72D297353CC}">
                <c16:uniqueId val="{00000031-CE29-4A3D-A133-B53D9B4C9BE0}"/>
              </c:ext>
            </c:extLst>
          </c:dPt>
          <c:dLbls>
            <c:dLbl>
              <c:idx val="2"/>
              <c:layout>
                <c:manualLayout>
                  <c:x val="1.1944912872400225E-2"/>
                  <c:y val="-4.7505938242280285E-4"/>
                </c:manualLayout>
              </c:layout>
              <c:numFmt formatCode="#,##0&quot;%&quot;;&quot;-&quot;#,##0&quot;%&quot;" sourceLinked="0"/>
              <c:spPr>
                <a:noFill/>
                <a:ln>
                  <a:noFill/>
                </a:ln>
              </c:spPr>
              <c:txPr>
                <a:bodyPr wrap="none"/>
                <a:lstStyle/>
                <a:p>
                  <a:pPr>
                    <a:defRPr sz="10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32-CE29-4A3D-A133-B53D9B4C9BE0}"/>
                </c:ext>
              </c:extLst>
            </c:dLbl>
            <c:dLbl>
              <c:idx val="8"/>
              <c:layout>
                <c:manualLayout>
                  <c:x val="0"/>
                  <c:y val="0"/>
                </c:manualLayout>
              </c:layout>
              <c:numFmt formatCode="#,##0&quot;%&quot;;&quot;-&quot;#,##0&quot;%&quot;" sourceLinked="0"/>
              <c:spPr>
                <a:noFill/>
                <a:ln>
                  <a:noFill/>
                </a:ln>
              </c:spPr>
              <c:txPr>
                <a:bodyPr wrap="none"/>
                <a:lstStyle/>
                <a:p>
                  <a:pPr>
                    <a:defRPr sz="10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33-CE29-4A3D-A133-B53D9B4C9BE0}"/>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val>
            <c:numRef>
              <c:f>Sheet1!$A$7:$K$7</c:f>
              <c:numCache>
                <c:formatCode>General</c:formatCode>
                <c:ptCount val="11"/>
                <c:pt idx="0">
                  <c:v>37.913562140542979</c:v>
                </c:pt>
                <c:pt idx="1">
                  <c:v>30.735830758628346</c:v>
                </c:pt>
                <c:pt idx="2">
                  <c:v>5.7727942222479234</c:v>
                </c:pt>
                <c:pt idx="3">
                  <c:v>14.42038559311154</c:v>
                </c:pt>
                <c:pt idx="5">
                  <c:v>2.5896000144792319</c:v>
                </c:pt>
                <c:pt idx="6">
                  <c:v>2.5459974748142877</c:v>
                </c:pt>
                <c:pt idx="7">
                  <c:v>2.6047974034245858</c:v>
                </c:pt>
                <c:pt idx="8">
                  <c:v>12.739512731220371</c:v>
                </c:pt>
                <c:pt idx="10">
                  <c:v>2.6831999829886044</c:v>
                </c:pt>
              </c:numCache>
            </c:numRef>
          </c:val>
          <c:extLst>
            <c:ext xmlns:c16="http://schemas.microsoft.com/office/drawing/2014/chart" uri="{C3380CC4-5D6E-409C-BE32-E72D297353CC}">
              <c16:uniqueId val="{00000034-CE29-4A3D-A133-B53D9B4C9BE0}"/>
            </c:ext>
          </c:extLst>
        </c:ser>
        <c:ser>
          <c:idx val="7"/>
          <c:order val="7"/>
          <c:spPr>
            <a:pattFill prst="ltUpDiag">
              <a:fgClr>
                <a:schemeClr val="tx1"/>
              </a:fgClr>
              <a:bgClr>
                <a:schemeClr val="bg1"/>
              </a:bgClr>
            </a:pattFill>
            <a:ln>
              <a:noFill/>
            </a:ln>
          </c:spPr>
          <c:invertIfNegative val="0"/>
          <c:val>
            <c:numRef>
              <c:f>Sheet1!$A$8:$K$8</c:f>
              <c:numCache>
                <c:formatCode>General</c:formatCode>
                <c:ptCount val="11"/>
                <c:pt idx="2">
                  <c:v>13.524486497844368</c:v>
                </c:pt>
                <c:pt idx="5">
                  <c:v>21.931800015111612</c:v>
                </c:pt>
                <c:pt idx="6">
                  <c:v>13.228286788991872</c:v>
                </c:pt>
                <c:pt idx="7">
                  <c:v>14.405585584060409</c:v>
                </c:pt>
                <c:pt idx="8">
                  <c:v>15.732515747756448</c:v>
                </c:pt>
                <c:pt idx="10">
                  <c:v>9.8645999755151763</c:v>
                </c:pt>
              </c:numCache>
            </c:numRef>
          </c:val>
          <c:extLst>
            <c:ext xmlns:c16="http://schemas.microsoft.com/office/drawing/2014/chart" uri="{C3380CC4-5D6E-409C-BE32-E72D297353CC}">
              <c16:uniqueId val="{00000035-CE29-4A3D-A133-B53D9B4C9BE0}"/>
            </c:ext>
          </c:extLst>
        </c:ser>
        <c:dLbls>
          <c:showLegendKey val="0"/>
          <c:showVal val="0"/>
          <c:showCatName val="0"/>
          <c:showSerName val="0"/>
          <c:showPercent val="0"/>
          <c:showBubbleSize val="0"/>
        </c:dLbls>
        <c:gapWidth val="80"/>
        <c:overlap val="100"/>
        <c:axId val="405951935"/>
        <c:axId val="1"/>
      </c:barChart>
      <c:catAx>
        <c:axId val="405951935"/>
        <c:scaling>
          <c:orientation val="minMax"/>
        </c:scaling>
        <c:delete val="0"/>
        <c:axPos val="b"/>
        <c:majorGridlines>
          <c:spPr>
            <a:ln>
              <a:noFill/>
            </a:ln>
          </c:spPr>
        </c:majorGridlines>
        <c:majorTickMark val="none"/>
        <c:minorTickMark val="none"/>
        <c:tickLblPos val="none"/>
        <c:spPr>
          <a:ln w="9525" cmpd="sng" algn="ctr">
            <a:solidFill>
              <a:schemeClr val="tx1"/>
            </a:solidFill>
            <a:prstDash val="solid"/>
          </a:ln>
        </c:spPr>
        <c:crossAx val="1"/>
        <c:crosses val="min"/>
        <c:auto val="0"/>
        <c:lblAlgn val="ctr"/>
        <c:lblOffset val="100"/>
        <c:noMultiLvlLbl val="0"/>
      </c:catAx>
      <c:valAx>
        <c:axId val="1"/>
        <c:scaling>
          <c:orientation val="minMax"/>
          <c:max val="100"/>
          <c:min val="0"/>
        </c:scaling>
        <c:delete val="0"/>
        <c:axPos val="l"/>
        <c:majorGridlines>
          <c:spPr>
            <a:ln>
              <a:noFill/>
            </a:ln>
          </c:spPr>
        </c:majorGridlines>
        <c:numFmt formatCode="#,##0&quot;%&quot;;&quot;-&quot;#,##0&quot;%&quot;" sourceLinked="0"/>
        <c:majorTickMark val="out"/>
        <c:minorTickMark val="none"/>
        <c:tickLblPos val="nextTo"/>
        <c:spPr>
          <a:ln w="9525" cmpd="sng" algn="ctr">
            <a:solidFill>
              <a:schemeClr val="tx1"/>
            </a:solidFill>
            <a:prstDash val="solid"/>
          </a:ln>
        </c:spPr>
        <c:txPr>
          <a:bodyPr wrap="none"/>
          <a:lstStyle/>
          <a:p>
            <a:pPr>
              <a:defRPr sz="1000" kern="1200">
                <a:solidFill>
                  <a:schemeClr val="tx2"/>
                </a:solidFill>
                <a:latin typeface="+mn-lt"/>
                <a:ea typeface="+mn-ea"/>
                <a:cs typeface="+mn-cs"/>
              </a:defRPr>
            </a:pPr>
            <a:endParaRPr lang="en-US"/>
          </a:p>
        </c:txPr>
        <c:crossAx val="405951935"/>
        <c:crosses val="min"/>
        <c:crossBetween val="between"/>
        <c:majorUnit val="10"/>
      </c:valAx>
    </c:plotArea>
    <c:plotVisOnly val="0"/>
    <c:dispBlanksAs val="gap"/>
    <c:showDLblsOverMax val="1"/>
  </c:chart>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barChart>
        <c:barDir val="col"/>
        <c:grouping val="clustered"/>
        <c:varyColors val="0"/>
        <c:ser>
          <c:idx val="0"/>
          <c:order val="0"/>
          <c:tx>
            <c:strRef>
              <c:f>Sheet1!$B$1</c:f>
              <c:strCache>
                <c:ptCount val="1"/>
                <c:pt idx="0">
                  <c:v>Current floor</c:v>
                </c:pt>
              </c:strCache>
            </c:strRef>
          </c:tx>
          <c:spPr>
            <a:solidFill>
              <a:srgbClr val="89A2B0"/>
            </a:solidFill>
            <a:ln>
              <a:noFill/>
            </a:ln>
          </c:spPr>
          <c:invertIfNegative val="0"/>
          <c:dLbls>
            <c:txPr>
              <a:bodyPr rot="0" spcFirstLastPara="1" vertOverflow="ellipsis" wrap="square" anchor="ctr" anchorCtr="1"/>
              <a:lstStyle/>
              <a:p>
                <a:pPr>
                  <a:defRPr sz="1000" b="0">
                    <a:solidFill>
                      <a:srgbClr val="000000"/>
                    </a:solidFill>
                    <a:latin typeface="Arial"/>
                    <a:ea typeface="Arial"/>
                    <a:cs typeface="Arial"/>
                  </a:defRPr>
                </a:pPr>
                <a:endParaRPr lang="en-US"/>
              </a:p>
            </c:txPr>
            <c:dLblPos val="outEnd"/>
            <c:showLegendKey val="0"/>
            <c:showVal val="1"/>
            <c:showCatName val="0"/>
            <c:showSerName val="0"/>
            <c:showPercent val="0"/>
            <c:showBubbleSize val="0"/>
          </c:dLbls>
          <c:cat>
            <c:strRef>
              <c:f>Sheet1!$A$2:$A$5</c:f>
              <c:strCache>
                <c:ptCount val="4"/>
                <c:pt idx="0">
                  <c:v>Virginia</c:v>
                </c:pt>
                <c:pt idx="1">
                  <c:v>Columbia</c:v>
                </c:pt>
                <c:pt idx="2">
                  <c:v>DDG-51</c:v>
                </c:pt>
                <c:pt idx="3">
                  <c:v>Portfolio</c:v>
                </c:pt>
              </c:strCache>
            </c:strRef>
          </c:cat>
          <c:val>
            <c:numRef>
              <c:f>Sheet1!$B$2:$B$5</c:f>
              <c:numCache>
                <c:formatCode>0%</c:formatCode>
                <c:ptCount val="4"/>
                <c:pt idx="0">
                  <c:v>0.34</c:v>
                </c:pt>
                <c:pt idx="1">
                  <c:v>0.22</c:v>
                </c:pt>
                <c:pt idx="2">
                  <c:v>0.13</c:v>
                </c:pt>
                <c:pt idx="3">
                  <c:v>0.26</c:v>
                </c:pt>
              </c:numCache>
            </c:numRef>
          </c:val>
        </c:ser>
        <c:ser>
          <c:idx val="1"/>
          <c:order val="1"/>
          <c:tx>
            <c:strRef>
              <c:f>Sheet1!$C$1</c:f>
              <c:strCache>
                <c:ptCount val="1"/>
                <c:pt idx="0">
                  <c:v>Selected case</c:v>
                </c:pt>
              </c:strCache>
            </c:strRef>
          </c:tx>
          <c:spPr>
            <a:solidFill>
              <a:srgbClr val="486D82"/>
            </a:solidFill>
            <a:ln>
              <a:noFill/>
            </a:ln>
          </c:spPr>
          <c:invertIfNegative val="0"/>
          <c:dLbls>
            <c:txPr>
              <a:bodyPr rot="0" spcFirstLastPara="1" vertOverflow="ellipsis" wrap="square" anchor="ctr" anchorCtr="1"/>
              <a:lstStyle/>
              <a:p>
                <a:pPr>
                  <a:defRPr sz="1000" b="0">
                    <a:solidFill>
                      <a:srgbClr val="000000"/>
                    </a:solidFill>
                    <a:latin typeface="Arial"/>
                    <a:ea typeface="Arial"/>
                    <a:cs typeface="Arial"/>
                  </a:defRPr>
                </a:pPr>
                <a:endParaRPr lang="en-US"/>
              </a:p>
            </c:txPr>
            <c:dLblPos val="outEnd"/>
            <c:showLegendKey val="0"/>
            <c:showVal val="1"/>
            <c:showCatName val="0"/>
            <c:showSerName val="0"/>
            <c:showPercent val="0"/>
            <c:showBubbleSize val="0"/>
          </c:dLbls>
          <c:cat>
            <c:strRef>
              <c:f>Sheet1!$A$2:$A$5</c:f>
              <c:strCache>
                <c:ptCount val="4"/>
                <c:pt idx="0">
                  <c:v>Virginia</c:v>
                </c:pt>
                <c:pt idx="1">
                  <c:v>Columbia</c:v>
                </c:pt>
                <c:pt idx="2">
                  <c:v>DDG-51</c:v>
                </c:pt>
                <c:pt idx="3">
                  <c:v>Portfolio</c:v>
                </c:pt>
              </c:strCache>
            </c:strRef>
          </c:cat>
          <c:val>
            <c:numRef>
              <c:f>Sheet1!$C$2:$C$5</c:f>
              <c:numCache>
                <c:formatCode>0%</c:formatCode>
                <c:ptCount val="4"/>
                <c:pt idx="0">
                  <c:v>0.5</c:v>
                </c:pt>
                <c:pt idx="1">
                  <c:v>0.5</c:v>
                </c:pt>
                <c:pt idx="2">
                  <c:v>0.52</c:v>
                </c:pt>
                <c:pt idx="3">
                  <c:v>0.51</c:v>
                </c:pt>
              </c:numCache>
            </c:numRef>
          </c:val>
        </c:ser>
        <c:ser>
          <c:idx val="2"/>
          <c:order val="2"/>
          <c:tx>
            <c:strRef>
              <c:f>Sheet1!$D$1</c:f>
              <c:strCache>
                <c:ptCount val="1"/>
                <c:pt idx="0">
                  <c:v>Structural ceiling</c:v>
                </c:pt>
              </c:strCache>
            </c:strRef>
          </c:tx>
          <c:spPr>
            <a:solidFill>
              <a:srgbClr val="1D4D68"/>
            </a:solidFill>
            <a:ln>
              <a:noFill/>
            </a:ln>
          </c:spPr>
          <c:invertIfNegative val="0"/>
          <c:dLbls>
            <c:txPr>
              <a:bodyPr rot="0" spcFirstLastPara="1" vertOverflow="ellipsis" wrap="square" anchor="ctr" anchorCtr="1"/>
              <a:lstStyle/>
              <a:p>
                <a:pPr>
                  <a:defRPr sz="1000" b="0">
                    <a:solidFill>
                      <a:srgbClr val="000000"/>
                    </a:solidFill>
                    <a:latin typeface="Arial"/>
                    <a:ea typeface="Arial"/>
                    <a:cs typeface="Arial"/>
                  </a:defRPr>
                </a:pPr>
                <a:endParaRPr lang="en-US"/>
              </a:p>
            </c:txPr>
            <c:dLblPos val="outEnd"/>
            <c:showLegendKey val="0"/>
            <c:showVal val="1"/>
            <c:showCatName val="0"/>
            <c:showSerName val="0"/>
            <c:showPercent val="0"/>
            <c:showBubbleSize val="0"/>
          </c:dLbls>
          <c:cat>
            <c:strRef>
              <c:f>Sheet1!$A$2:$A$5</c:f>
              <c:strCache>
                <c:ptCount val="4"/>
                <c:pt idx="0">
                  <c:v>Virginia</c:v>
                </c:pt>
                <c:pt idx="1">
                  <c:v>Columbia</c:v>
                </c:pt>
                <c:pt idx="2">
                  <c:v>DDG-51</c:v>
                </c:pt>
                <c:pt idx="3">
                  <c:v>Portfolio</c:v>
                </c:pt>
              </c:strCache>
            </c:strRef>
          </c:cat>
          <c:val>
            <c:numRef>
              <c:f>Sheet1!$D$2:$D$5</c:f>
              <c:numCache>
                <c:formatCode>0%</c:formatCode>
                <c:ptCount val="4"/>
                <c:pt idx="0">
                  <c:v>0.75</c:v>
                </c:pt>
                <c:pt idx="1">
                  <c:v>0.75</c:v>
                </c:pt>
                <c:pt idx="2">
                  <c:v>0.8</c:v>
                </c:pt>
                <c:pt idx="3">
                  <c:v>0.76</c:v>
                </c:pt>
              </c:numCache>
            </c:numRef>
          </c:val>
        </c:ser>
        <c:gapWidth val="80"/>
        <c:overlap val="-27"/>
        <c:axId val="111111111"/>
        <c:axId val="222222222"/>
      </c:barChart>
      <c:catAx>
        <c:axId val="111111111"/>
        <c:scaling>
          <c:orientation val="minMax"/>
        </c:scaling>
        <c:delete val="0"/>
        <c:axPos val="b"/>
        <c:numFmt formatCode="General" sourceLinked="1"/>
        <c:majorTickMark val="out"/>
        <c:minorTickMark val="none"/>
        <c:tickLblPos val="nextTo"/>
        <c:spPr>
          <a:ln w="9525" cap="flat">
            <a:solidFill>
              <a:srgbClr val="162029"/>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1"/>
          <c:min val="0"/>
        </c:scaling>
        <c:delete val="0"/>
        <c:axPos val="l"/>
        <c:numFmt formatCode="0%" sourceLinked="0"/>
        <c:majorTickMark val="out"/>
        <c:minorTickMark val="none"/>
        <c:tickLblPos val="nextTo"/>
        <c:spPr>
          <a:ln w="9525" cap="flat">
            <a:solidFill>
              <a:srgbClr val="162029"/>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0.25"/>
      </c:valAx>
    </c:plotArea>
    <c:plotVisOnly val="1"/>
    <c:dispBlanksAs val="gap"/>
  </c:chart>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2.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04820" cy="462612"/>
          </a:xfrm>
          <a:prstGeom prst="rect">
            <a:avLst/>
          </a:prstGeom>
        </p:spPr>
        <p:txBody>
          <a:bodyPr vert="horz" lIns="92307" tIns="46153" rIns="92307" bIns="46153" rtlCol="0"/>
          <a:lstStyle>
            <a:lvl1pPr algn="l">
              <a:defRPr sz="1200"/>
            </a:lvl1pPr>
          </a:lstStyle>
          <a:p>
            <a:endParaRPr lang="en-US">
              <a:latin typeface="Arial" panose="020B0604020202020204" pitchFamily="34" charset="0"/>
            </a:endParaRPr>
          </a:p>
        </p:txBody>
      </p:sp>
      <p:sp>
        <p:nvSpPr>
          <p:cNvPr id="3" name="Date Placeholder 2"/>
          <p:cNvSpPr>
            <a:spLocks noGrp="1"/>
          </p:cNvSpPr>
          <p:nvPr>
            <p:ph type="dt" sz="quarter" idx="1"/>
          </p:nvPr>
        </p:nvSpPr>
        <p:spPr>
          <a:xfrm>
            <a:off x="3927776" y="0"/>
            <a:ext cx="3004820" cy="462612"/>
          </a:xfrm>
          <a:prstGeom prst="rect">
            <a:avLst/>
          </a:prstGeom>
        </p:spPr>
        <p:txBody>
          <a:bodyPr vert="horz" lIns="92307" tIns="46153" rIns="92307" bIns="46153" rtlCol="0"/>
          <a:lstStyle>
            <a:lvl1pPr algn="r">
              <a:defRPr sz="1200"/>
            </a:lvl1pPr>
          </a:lstStyle>
          <a:p>
            <a:fld id="{8ACBDEED-51C7-9D44-8B0E-E5493C8A1496}" type="datetimeFigureOut">
              <a:rPr lang="en-US">
                <a:latin typeface="Arial" panose="020B0604020202020204" pitchFamily="34" charset="0"/>
              </a:rPr>
              <a:t>5/15/2026</a:t>
            </a:fld>
            <a:endParaRPr lang="en-US">
              <a:latin typeface="Arial" panose="020B0604020202020204" pitchFamily="34" charset="0"/>
            </a:endParaRPr>
          </a:p>
        </p:txBody>
      </p:sp>
      <p:sp>
        <p:nvSpPr>
          <p:cNvPr id="4" name="Footer Placeholder 3"/>
          <p:cNvSpPr>
            <a:spLocks noGrp="1"/>
          </p:cNvSpPr>
          <p:nvPr>
            <p:ph type="ftr" sz="quarter" idx="2"/>
          </p:nvPr>
        </p:nvSpPr>
        <p:spPr>
          <a:xfrm>
            <a:off x="0" y="8757591"/>
            <a:ext cx="3004820" cy="462611"/>
          </a:xfrm>
          <a:prstGeom prst="rect">
            <a:avLst/>
          </a:prstGeom>
        </p:spPr>
        <p:txBody>
          <a:bodyPr vert="horz" lIns="92307" tIns="46153" rIns="92307" bIns="46153" rtlCol="0" anchor="b"/>
          <a:lstStyle>
            <a:lvl1pPr algn="l">
              <a:defRPr sz="1200"/>
            </a:lvl1pPr>
          </a:lstStyle>
          <a:p>
            <a:endParaRPr lang="en-US">
              <a:latin typeface="Arial" panose="020B0604020202020204" pitchFamily="34" charset="0"/>
            </a:endParaRPr>
          </a:p>
        </p:txBody>
      </p:sp>
      <p:sp>
        <p:nvSpPr>
          <p:cNvPr id="5" name="Slide Number Placeholder 4"/>
          <p:cNvSpPr>
            <a:spLocks noGrp="1"/>
          </p:cNvSpPr>
          <p:nvPr>
            <p:ph type="sldNum" sz="quarter" idx="3"/>
          </p:nvPr>
        </p:nvSpPr>
        <p:spPr>
          <a:xfrm>
            <a:off x="3927776" y="8757591"/>
            <a:ext cx="3004820" cy="462611"/>
          </a:xfrm>
          <a:prstGeom prst="rect">
            <a:avLst/>
          </a:prstGeom>
        </p:spPr>
        <p:txBody>
          <a:bodyPr vert="horz" lIns="92307" tIns="46153" rIns="92307" bIns="46153" rtlCol="0" anchor="b"/>
          <a:lstStyle>
            <a:lvl1pPr algn="r">
              <a:defRPr sz="1200"/>
            </a:lvl1pPr>
          </a:lstStyle>
          <a:p>
            <a:fld id="{89B20CC8-1D49-1F4A-B7DF-0C6E98397D09}" type="slidenum">
              <a:rPr>
                <a:latin typeface="Arial" panose="020B0604020202020204" pitchFamily="34" charset="0"/>
              </a:rPr>
              <a:t>‹#›</a:t>
            </a:fld>
            <a:endParaRPr lang="en-US">
              <a:latin typeface="Arial" panose="020B0604020202020204" pitchFamily="34" charset="0"/>
            </a:endParaRPr>
          </a:p>
        </p:txBody>
      </p:sp>
    </p:spTree>
    <p:extLst>
      <p:ext uri="{BB962C8B-B14F-4D97-AF65-F5344CB8AC3E}">
        <p14:creationId xmlns:p14="http://schemas.microsoft.com/office/powerpoint/2010/main" val="1360229431"/>
      </p:ext>
    </p:extLst>
  </p:cSld>
  <p:clrMap bg1="lt1" tx1="dk1" bg2="lt2" tx2="dk2" accent1="accent1" accent2="accent2" accent3="accent3" accent4="accent4" accent5="accent5" accent6="accent6" hlink="hlink" folHlink="folHlink"/>
</p:handoutMaster>
</file>

<file path=ppt/slideLayouts/_rels/slideLayout1.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ver 1">
    <p:bg>
      <p:bgPr>
        <a:solidFill>
          <a:schemeClr val="tx2"/>
        </a:solidFill>
        <a:effectLst/>
      </p:bgPr>
    </p:bg>
    <p:spTree>
      <p:nvGrpSpPr>
        <p:cNvPr id="1" name=""/>
        <p:cNvGrpSpPr/>
        <p:nvPr/>
      </p:nvGrpSpPr>
      <p:grpSpPr>
        <a:xfrm>
          <a:off x="0" y="0"/>
          <a:ext cx="0" cy="0"/>
          <a:chOff x="0" y="0"/>
          <a:chExt cx="0" cy="0"/>
        </a:xfrm>
      </p:grpSpPr>
      <p:sp>
        <p:nvSpPr>
          <p:cNvPr id="8"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p:cNvSpPr/>
          <p:nvPr userDrawn="1"/>
        </p:nvSpPr>
        <p:spPr>
          <a:xfrm>
            <a:off x="0" y="0"/>
            <a:ext cx="12192000"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itle 1"/>
          <p:cNvSpPr>
            <a:spLocks noGrp="1"/>
          </p:cNvSpPr>
          <p:nvPr>
            <p:ph type="title" hasCustomPrompt="1"/>
          </p:nvPr>
        </p:nvSpPr>
        <p:spPr>
          <a:xfrm>
            <a:off x="453080" y="5640670"/>
            <a:ext cx="7776391" cy="473423"/>
          </a:xfrm>
        </p:spPr>
        <p:txBody>
          <a:bodyPr anchor="t"/>
          <a:lstStyle>
            <a:lvl1pPr>
              <a:defRPr sz="1600">
                <a:solidFill>
                  <a:schemeClr val="bg2"/>
                </a:solidFill>
              </a:defRPr>
            </a:lvl1pPr>
          </a:lstStyle>
          <a:p>
            <a:r>
              <a:rPr lang="en-US"/>
              <a:t>Date (16 PT)</a:t>
            </a:r>
          </a:p>
        </p:txBody>
      </p:sp>
      <p:cxnSp>
        <p:nvCxnSpPr>
          <p:cNvPr id="12" name="Straight Connector 11"/>
          <p:cNvCxnSpPr/>
          <p:nvPr userDrawn="1"/>
        </p:nvCxnSpPr>
        <p:spPr>
          <a:xfrm>
            <a:off x="0" y="6400800"/>
            <a:ext cx="12192000" cy="0"/>
          </a:xfrm>
          <a:prstGeom prst="line">
            <a:avLst/>
          </a:prstGeom>
          <a:ln w="6350">
            <a:solidFill>
              <a:schemeClr val="tx2">
                <a:lumMod val="40000"/>
                <a:lumOff val="60000"/>
              </a:schemeClr>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userDrawn="1"/>
        </p:nvSpPr>
        <p:spPr>
          <a:xfrm>
            <a:off x="4220848" y="6521083"/>
            <a:ext cx="3750304"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accent4"/>
                </a:solidFill>
                <a:effectLst/>
                <a:uLnTx/>
                <a:uFillTx/>
                <a:latin typeface="Arial" panose="020B0604020202020204"/>
                <a:ea typeface="+mn-ea"/>
                <a:cs typeface="+mn-cs"/>
              </a:rPr>
              <a:t>SARONIC PROPRIETARY AND CONFIDENTIAL</a:t>
            </a:r>
          </a:p>
        </p:txBody>
      </p:sp>
      <p:sp>
        <p:nvSpPr>
          <p:cNvPr id="9" name="Rectangle 8"/>
          <p:cNvSpPr/>
          <p:nvPr userDrawn="1"/>
        </p:nvSpPr>
        <p:spPr>
          <a:xfrm>
            <a:off x="0" y="3429000"/>
            <a:ext cx="0" cy="1365069"/>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 Placeholder 26"/>
          <p:cNvSpPr>
            <a:spLocks noGrp="1"/>
          </p:cNvSpPr>
          <p:nvPr>
            <p:ph type="body" sz="quarter" idx="12" hasCustomPrompt="1"/>
          </p:nvPr>
        </p:nvSpPr>
        <p:spPr>
          <a:xfrm>
            <a:off x="453080" y="3260838"/>
            <a:ext cx="7776399" cy="2162129"/>
          </a:xfrm>
        </p:spPr>
        <p:txBody>
          <a:bodyPr anchor="b">
            <a:noAutofit/>
          </a:bodyPr>
          <a:lstStyle>
            <a:lvl1pPr marL="0" indent="0">
              <a:lnSpc>
                <a:spcPct val="100000"/>
              </a:lnSpc>
              <a:spcBef>
                <a:spcPts val="0"/>
              </a:spcBef>
              <a:buNone/>
              <a:defRPr sz="3600">
                <a:solidFill>
                  <a:schemeClr val="bg2"/>
                </a:solidFill>
              </a:defRPr>
            </a:lvl1pPr>
          </a:lstStyle>
          <a:p>
            <a:pPr lvl="0"/>
            <a:r>
              <a:rPr lang="en-US"/>
              <a:t>Title (36 PT)</a:t>
            </a:r>
          </a:p>
        </p:txBody>
      </p:sp>
      <p:grpSp>
        <p:nvGrpSpPr>
          <p:cNvPr id="4" name="Group 3"/>
          <p:cNvGrpSpPr/>
          <p:nvPr userDrawn="1"/>
        </p:nvGrpSpPr>
        <p:grpSpPr>
          <a:xfrm>
            <a:off x="453080" y="743907"/>
            <a:ext cx="11230920" cy="1637662"/>
            <a:chOff x="588922" y="596464"/>
            <a:chExt cx="10697007" cy="1559809"/>
          </a:xfrm>
        </p:grpSpPr>
        <p:pic>
          <p:nvPicPr>
            <p:cNvPr id="5" name="Graphic 4"/>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588922" y="596464"/>
              <a:ext cx="7799041" cy="1559809"/>
            </a:xfrm>
            <a:prstGeom prst="rect">
              <a:avLst/>
            </a:prstGeom>
          </p:spPr>
        </p:pic>
        <p:pic>
          <p:nvPicPr>
            <p:cNvPr id="6" name="Graphic 5"/>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980882" y="913377"/>
              <a:ext cx="2305047" cy="914399"/>
            </a:xfrm>
            <a:prstGeom prst="rect">
              <a:avLst/>
            </a:prstGeom>
          </p:spPr>
        </p:pic>
      </p:grpSp>
    </p:spTree>
    <p:extLst>
      <p:ext uri="{BB962C8B-B14F-4D97-AF65-F5344CB8AC3E}">
        <p14:creationId xmlns:p14="http://schemas.microsoft.com/office/powerpoint/2010/main" val="240712111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ection Divider">
    <p:bg>
      <p:bgPr>
        <a:solidFill>
          <a:schemeClr val="tx2"/>
        </a:solidFill>
        <a:effectLst/>
      </p:bgPr>
    </p:bg>
    <p:spTree>
      <p:nvGrpSpPr>
        <p:cNvPr id="1" name=""/>
        <p:cNvGrpSpPr/>
        <p:nvPr/>
      </p:nvGrpSpPr>
      <p:grpSpPr>
        <a:xfrm>
          <a:off x="0" y="0"/>
          <a:ext cx="0" cy="0"/>
          <a:chOff x="0" y="0"/>
          <a:chExt cx="0" cy="0"/>
        </a:xfrm>
      </p:grpSpPr>
      <p:sp>
        <p:nvSpPr>
          <p:cNvPr id="10"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p:cNvSpPr txBox="1"/>
          <p:nvPr userDrawn="1"/>
        </p:nvSpPr>
        <p:spPr>
          <a:xfrm>
            <a:off x="4220848" y="6521083"/>
            <a:ext cx="3750304"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accent4"/>
                </a:solidFill>
                <a:effectLst/>
                <a:uLnTx/>
                <a:uFillTx/>
                <a:latin typeface="Arial" panose="020B0604020202020204"/>
                <a:ea typeface="+mn-ea"/>
                <a:cs typeface="+mn-cs"/>
              </a:rPr>
              <a:t>SARONIC PROPRIETARY AND CONFIDENTIAL</a:t>
            </a:r>
          </a:p>
        </p:txBody>
      </p:sp>
      <p:sp>
        <p:nvSpPr>
          <p:cNvPr id="7" name="Text Placeholder 26"/>
          <p:cNvSpPr>
            <a:spLocks noGrp="1"/>
          </p:cNvSpPr>
          <p:nvPr>
            <p:ph type="body" sz="quarter" idx="11" hasCustomPrompt="1"/>
          </p:nvPr>
        </p:nvSpPr>
        <p:spPr>
          <a:xfrm>
            <a:off x="453082" y="2383743"/>
            <a:ext cx="9153537" cy="2105200"/>
          </a:xfrm>
        </p:spPr>
        <p:txBody>
          <a:bodyPr anchor="b">
            <a:noAutofit/>
          </a:bodyPr>
          <a:lstStyle>
            <a:lvl1pPr marL="0" indent="0">
              <a:lnSpc>
                <a:spcPct val="100000"/>
              </a:lnSpc>
              <a:spcBef>
                <a:spcPts val="0"/>
              </a:spcBef>
              <a:buNone/>
              <a:defRPr sz="3600">
                <a:solidFill>
                  <a:schemeClr val="bg2"/>
                </a:solidFill>
              </a:defRPr>
            </a:lvl1pPr>
          </a:lstStyle>
          <a:p>
            <a:pPr lvl="0"/>
            <a:r>
              <a:rPr lang="en-US"/>
              <a:t>Section Divider Title (36 PT)</a:t>
            </a:r>
          </a:p>
        </p:txBody>
      </p:sp>
      <p:sp>
        <p:nvSpPr>
          <p:cNvPr id="8" name="Text Placeholder 26"/>
          <p:cNvSpPr>
            <a:spLocks noGrp="1"/>
          </p:cNvSpPr>
          <p:nvPr>
            <p:ph type="body" sz="quarter" idx="12" hasCustomPrompt="1"/>
          </p:nvPr>
        </p:nvSpPr>
        <p:spPr>
          <a:xfrm>
            <a:off x="453082" y="4715093"/>
            <a:ext cx="9153537" cy="499503"/>
          </a:xfrm>
        </p:spPr>
        <p:txBody>
          <a:bodyPr anchor="t">
            <a:noAutofit/>
          </a:bodyPr>
          <a:lstStyle>
            <a:lvl1pPr marL="0" marR="0" indent="0" algn="l" defTabSz="914400" rtl="0" eaLnBrk="1" fontAlgn="auto" latinLnBrk="0" hangingPunct="1">
              <a:lnSpc>
                <a:spcPct val="100000"/>
              </a:lnSpc>
              <a:spcBef>
                <a:spcPts val="0"/>
              </a:spcBef>
              <a:spcAft>
                <a:spcPts val="0"/>
              </a:spcAft>
              <a:buClr>
                <a:schemeClr val="tx2"/>
              </a:buClr>
              <a:buSzPct val="120000"/>
              <a:buFont typeface="Arial" panose="020B0604020202020204" pitchFamily="34" charset="0"/>
              <a:buNone/>
              <a:tabLst/>
              <a:defRPr sz="1600">
                <a:solidFill>
                  <a:schemeClr val="bg2"/>
                </a:solidFill>
              </a:defRPr>
            </a:lvl1pPr>
          </a:lstStyle>
          <a:p>
            <a:pPr lvl="0"/>
            <a:r>
              <a:rPr lang="en-US"/>
              <a:t>Subsections / Headline Paragraph (16 PT)</a:t>
            </a:r>
          </a:p>
        </p:txBody>
      </p:sp>
      <p:pic>
        <p:nvPicPr>
          <p:cNvPr id="29" name="Graphic 28"/>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15439" y="6477927"/>
            <a:ext cx="226315" cy="301753"/>
          </a:xfrm>
          <a:prstGeom prst="rect">
            <a:avLst/>
          </a:prstGeom>
        </p:spPr>
      </p:pic>
      <p:sp>
        <p:nvSpPr>
          <p:cNvPr id="2" name="TextBox 1"/>
          <p:cNvSpPr txBox="1"/>
          <p:nvPr userDrawn="1"/>
        </p:nvSpPr>
        <p:spPr>
          <a:xfrm>
            <a:off x="11724460" y="6567249"/>
            <a:ext cx="467539" cy="123111"/>
          </a:xfrm>
          <a:prstGeom prst="rect">
            <a:avLst/>
          </a:prstGeom>
          <a:noFill/>
        </p:spPr>
        <p:txBody>
          <a:bodyPr wrap="square" lIns="0" tIns="0" rIns="0" bIns="0" rtlCol="0">
            <a:spAutoFit/>
          </a:bodyPr>
          <a:lstStyle/>
          <a:p>
            <a:pPr algn="ctr"/>
            <a:fld id="{F8FBCD80-1BA2-9C4B-8FD8-FBEEFF13001D}" type="slidenum">
              <a:rPr lang="en-US" sz="800" smtClean="0">
                <a:solidFill>
                  <a:schemeClr val="accent4"/>
                </a:solidFill>
              </a:rPr>
              <a:pPr algn="ctr"/>
              <a:t>‹#›</a:t>
            </a:fld>
            <a:endParaRPr lang="en-US" sz="800">
              <a:solidFill>
                <a:schemeClr val="accent4"/>
              </a:solidFill>
            </a:endParaRPr>
          </a:p>
        </p:txBody>
      </p:sp>
    </p:spTree>
    <p:extLst>
      <p:ext uri="{BB962C8B-B14F-4D97-AF65-F5344CB8AC3E}">
        <p14:creationId xmlns:p14="http://schemas.microsoft.com/office/powerpoint/2010/main" val="3669049297"/>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50% Block + Title">
    <p:spTree>
      <p:nvGrpSpPr>
        <p:cNvPr id="1" name=""/>
        <p:cNvGrpSpPr/>
        <p:nvPr/>
      </p:nvGrpSpPr>
      <p:grpSpPr>
        <a:xfrm>
          <a:off x="0" y="0"/>
          <a:ext cx="0" cy="0"/>
          <a:chOff x="0" y="0"/>
          <a:chExt cx="0" cy="0"/>
        </a:xfrm>
      </p:grpSpPr>
      <p:sp>
        <p:nvSpPr>
          <p:cNvPr id="8"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p:cNvSpPr/>
          <p:nvPr userDrawn="1"/>
        </p:nvSpPr>
        <p:spPr>
          <a:xfrm>
            <a:off x="0" y="0"/>
            <a:ext cx="6096000" cy="6400794"/>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hasCustomPrompt="1"/>
          </p:nvPr>
        </p:nvSpPr>
        <p:spPr>
          <a:xfrm>
            <a:off x="455838" y="566400"/>
            <a:ext cx="5181827" cy="566928"/>
          </a:xfrm>
        </p:spPr>
        <p:txBody>
          <a:bodyPr/>
          <a:lstStyle>
            <a:lvl1pPr>
              <a:defRPr>
                <a:solidFill>
                  <a:schemeClr val="bg2"/>
                </a:solidFill>
              </a:defRPr>
            </a:lvl1pPr>
          </a:lstStyle>
          <a:p>
            <a:r>
              <a:rPr lang="en-US"/>
              <a:t>Click to edit Title (20 PT)</a:t>
            </a:r>
          </a:p>
        </p:txBody>
      </p:sp>
      <p:sp>
        <p:nvSpPr>
          <p:cNvPr id="5" name="Text Placeholder 4"/>
          <p:cNvSpPr>
            <a:spLocks noGrp="1"/>
          </p:cNvSpPr>
          <p:nvPr>
            <p:ph type="body" sz="quarter" idx="10" hasCustomPrompt="1"/>
          </p:nvPr>
        </p:nvSpPr>
        <p:spPr>
          <a:xfrm>
            <a:off x="455460" y="263452"/>
            <a:ext cx="4874834" cy="153888"/>
          </a:xfrm>
          <a:prstGeom prst="rect">
            <a:avLst/>
          </a:prstGeom>
        </p:spPr>
        <p:txBody>
          <a:bodyPr wrap="square" lIns="0" tIns="0" rIns="0" bIns="0">
            <a:spAutoFit/>
          </a:bodyPr>
          <a:lstStyle>
            <a:lvl1pPr marL="0" indent="0">
              <a:buNone/>
              <a:defRPr sz="1000">
                <a:solidFill>
                  <a:schemeClr val="bg2"/>
                </a:solidFill>
              </a:defRPr>
            </a:lvl1pPr>
          </a:lstStyle>
          <a:p>
            <a:pPr lvl="0"/>
            <a:r>
              <a:rPr lang="en-US"/>
              <a:t>Category / Description (10 PT)</a:t>
            </a:r>
          </a:p>
        </p:txBody>
      </p:sp>
      <p:sp>
        <p:nvSpPr>
          <p:cNvPr id="3" name="Content Placeholder 5"/>
          <p:cNvSpPr>
            <a:spLocks noGrp="1"/>
          </p:cNvSpPr>
          <p:nvPr>
            <p:ph sz="quarter" idx="15" hasCustomPrompt="1"/>
          </p:nvPr>
        </p:nvSpPr>
        <p:spPr>
          <a:xfrm>
            <a:off x="6552217" y="1424682"/>
            <a:ext cx="5182583" cy="4712658"/>
          </a:xfrm>
        </p:spPr>
        <p:txBody>
          <a:bodyPr/>
          <a:lstStyle/>
          <a:p>
            <a:pPr lvl="0"/>
            <a:r>
              <a:rPr lang="en-US"/>
              <a:t>Click to edit Content (12 PT)</a:t>
            </a:r>
          </a:p>
          <a:p>
            <a:pPr lvl="1"/>
            <a:r>
              <a:rPr lang="en-US"/>
              <a:t>Second level</a:t>
            </a:r>
          </a:p>
          <a:p>
            <a:pPr lvl="2"/>
            <a:r>
              <a:rPr lang="en-US"/>
              <a:t>Third level</a:t>
            </a:r>
          </a:p>
          <a:p>
            <a:pPr lvl="3"/>
            <a:r>
              <a:rPr lang="en-US"/>
              <a:t>Fourth level</a:t>
            </a:r>
          </a:p>
          <a:p>
            <a:pPr lvl="4"/>
            <a:r>
              <a:rPr lang="en-US"/>
              <a:t>Fifth level</a:t>
            </a:r>
          </a:p>
        </p:txBody>
      </p:sp>
      <p:sp>
        <p:nvSpPr>
          <p:cNvPr id="6" name="Content Placeholder 5"/>
          <p:cNvSpPr>
            <a:spLocks noGrp="1"/>
          </p:cNvSpPr>
          <p:nvPr>
            <p:ph sz="quarter" idx="16" hasCustomPrompt="1"/>
          </p:nvPr>
        </p:nvSpPr>
        <p:spPr>
          <a:xfrm>
            <a:off x="455460" y="1424682"/>
            <a:ext cx="5181827" cy="4712657"/>
          </a:xfrm>
        </p:spPr>
        <p:txBody>
          <a:bodyPr/>
          <a:lstStyle>
            <a:lvl1pPr>
              <a:buClr>
                <a:schemeClr val="bg2"/>
              </a:buClr>
              <a:defRPr>
                <a:solidFill>
                  <a:schemeClr val="bg2"/>
                </a:solidFill>
              </a:defRPr>
            </a:lvl1pPr>
            <a:lvl2pPr>
              <a:buClr>
                <a:schemeClr val="bg2"/>
              </a:buClr>
              <a:defRPr>
                <a:solidFill>
                  <a:schemeClr val="bg2"/>
                </a:solidFill>
              </a:defRPr>
            </a:lvl2pPr>
            <a:lvl3pPr>
              <a:buClr>
                <a:schemeClr val="bg2"/>
              </a:buClr>
              <a:defRPr>
                <a:solidFill>
                  <a:schemeClr val="bg2"/>
                </a:solidFill>
              </a:defRPr>
            </a:lvl3pPr>
            <a:lvl4pPr>
              <a:buClr>
                <a:schemeClr val="bg2"/>
              </a:buClr>
              <a:defRPr>
                <a:solidFill>
                  <a:schemeClr val="bg2"/>
                </a:solidFill>
              </a:defRPr>
            </a:lvl4pPr>
            <a:lvl5pPr>
              <a:buClr>
                <a:schemeClr val="bg2"/>
              </a:buClr>
              <a:defRPr>
                <a:solidFill>
                  <a:schemeClr val="bg2"/>
                </a:solidFill>
              </a:defRPr>
            </a:lvl5pPr>
          </a:lstStyle>
          <a:p>
            <a:pPr lvl="0"/>
            <a:r>
              <a:rPr lang="en-US"/>
              <a:t>Click to edit Content (12 PT)</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25969631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Light Blank">
    <p:spTree>
      <p:nvGrpSpPr>
        <p:cNvPr id="1" name=""/>
        <p:cNvGrpSpPr/>
        <p:nvPr/>
      </p:nvGrpSpPr>
      <p:grpSpPr>
        <a:xfrm>
          <a:off x="0" y="0"/>
          <a:ext cx="0" cy="0"/>
          <a:chOff x="0" y="0"/>
          <a:chExt cx="0" cy="0"/>
        </a:xfrm>
      </p:grpSpPr>
      <p:sp>
        <p:nvSpPr>
          <p:cNvPr id="5"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 Placeholder 4"/>
          <p:cNvSpPr>
            <a:spLocks noGrp="1"/>
          </p:cNvSpPr>
          <p:nvPr>
            <p:ph type="body" sz="quarter" idx="10" hasCustomPrompt="1"/>
          </p:nvPr>
        </p:nvSpPr>
        <p:spPr>
          <a:xfrm>
            <a:off x="452701" y="263452"/>
            <a:ext cx="4874834" cy="153888"/>
          </a:xfrm>
          <a:prstGeom prst="rect">
            <a:avLst/>
          </a:prstGeom>
        </p:spPr>
        <p:txBody>
          <a:bodyPr wrap="square" lIns="0" tIns="0" rIns="0" bIns="0">
            <a:spAutoFit/>
          </a:bodyPr>
          <a:lstStyle>
            <a:lvl1pPr marL="0" indent="0">
              <a:buNone/>
              <a:defRPr sz="1000">
                <a:solidFill>
                  <a:schemeClr val="tx2"/>
                </a:solidFill>
              </a:defRPr>
            </a:lvl1pPr>
          </a:lstStyle>
          <a:p>
            <a:pPr lvl="0"/>
            <a:r>
              <a:rPr lang="en-US"/>
              <a:t>Category / Description (10 PT)</a:t>
            </a:r>
          </a:p>
        </p:txBody>
      </p:sp>
      <p:sp>
        <p:nvSpPr>
          <p:cNvPr id="2" name="Title 1"/>
          <p:cNvSpPr>
            <a:spLocks noGrp="1"/>
          </p:cNvSpPr>
          <p:nvPr>
            <p:ph type="title" hasCustomPrompt="1"/>
          </p:nvPr>
        </p:nvSpPr>
        <p:spPr>
          <a:xfrm>
            <a:off x="453079" y="566400"/>
            <a:ext cx="11282099" cy="566928"/>
          </a:xfrm>
        </p:spPr>
        <p:txBody>
          <a:bodyPr/>
          <a:lstStyle>
            <a:lvl1pPr>
              <a:defRPr>
                <a:solidFill>
                  <a:schemeClr val="tx1"/>
                </a:solidFill>
              </a:defRPr>
            </a:lvl1pPr>
          </a:lstStyle>
          <a:p>
            <a:r>
              <a:rPr lang="en-US"/>
              <a:t>Click to edit Title (20 PT)</a:t>
            </a:r>
          </a:p>
        </p:txBody>
      </p:sp>
    </p:spTree>
    <p:extLst>
      <p:ext uri="{BB962C8B-B14F-4D97-AF65-F5344CB8AC3E}">
        <p14:creationId xmlns:p14="http://schemas.microsoft.com/office/powerpoint/2010/main" val="366529818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8571252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Glossary">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ags" Target="../tags/tag1.xml"/><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2.svg"/><Relationship Id="rId5" Type="http://schemas.openxmlformats.org/officeDocument/2006/relationships/slideLayout" Target="../slideLayouts/slideLayout5.xml"/><Relationship Id="rId10" Type="http://schemas.openxmlformats.org/officeDocument/2006/relationships/image" Target="../media/image1.emf"/><Relationship Id="rId4" Type="http://schemas.openxmlformats.org/officeDocument/2006/relationships/slideLayout" Target="../slideLayouts/slideLayout4.xml"/><Relationship Id="rId9" Type="http://schemas.openxmlformats.org/officeDocument/2006/relationships/oleObject" Target="../embeddings/oleObject1.bin"/></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3" name="think-cell data - do not delete" hidden="1">
            <a:extLst>
              <a:ext uri="{FF2B5EF4-FFF2-40B4-BE49-F238E27FC236}">
                <a16:creationId xmlns:a16="http://schemas.microsoft.com/office/drawing/2014/main" id="{D5435E64-C67E-B7D2-F1D2-3FF5E4CADA9A}"/>
              </a:ext>
            </a:extLst>
          </p:cNvPr>
          <p:cNvGraphicFramePr>
            <a:graphicFrameLocks/>
          </p:cNvGraphicFramePr>
          <p:nvPr userDrawn="1">
            <p:custDataLst>
              <p:tags r:id="rId8"/>
            </p:custDataLst>
            <p:extLst>
              <p:ext uri="{D42A27DB-BD31-4B8C-83A1-F6EECF244321}">
                <p14:modId xmlns:p14="http://schemas.microsoft.com/office/powerpoint/2010/main" val="129009287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9" imgW="404" imgH="405" progId="TCLayout.ActiveDocument.1">
                  <p:embed/>
                </p:oleObj>
              </mc:Choice>
              <mc:Fallback>
                <p:oleObj name="think-cell Slide" r:id="rId9" imgW="404" imgH="405" progId="TCLayout.ActiveDocument.1">
                  <p:embed/>
                  <p:pic>
                    <p:nvPicPr>
                      <p:cNvPr id="0" name=""/>
                      <p:cNvPicPr/>
                      <p:nvPr/>
                    </p:nvPicPr>
                    <p:blipFill>
                      <a:blip r:embed="rId10"/>
                      <a:stretch>
                        <a:fillRect/>
                      </a:stretch>
                    </p:blipFill>
                    <p:spPr>
                      <a:xfrm>
                        <a:off x="1588" y="1588"/>
                        <a:ext cx="1588" cy="1588"/>
                      </a:xfrm>
                      <a:prstGeom prst="rect">
                        <a:avLst/>
                      </a:prstGeom>
                    </p:spPr>
                  </p:pic>
                </p:oleObj>
              </mc:Fallback>
            </mc:AlternateContent>
          </a:graphicData>
        </a:graphic>
      </p:graphicFrame>
      <p:sp>
        <p:nvSpPr>
          <p:cNvPr id="2" name="Title Placeholder 1"/>
          <p:cNvSpPr>
            <a:spLocks noGrp="1"/>
          </p:cNvSpPr>
          <p:nvPr>
            <p:ph type="title"/>
          </p:nvPr>
        </p:nvSpPr>
        <p:spPr>
          <a:xfrm>
            <a:off x="452702" y="566399"/>
            <a:ext cx="11282100" cy="566919"/>
          </a:xfrm>
          <a:prstGeom prst="rect">
            <a:avLst/>
          </a:prstGeom>
        </p:spPr>
        <p:txBody>
          <a:bodyPr vert="horz" wrap="square" lIns="0" tIns="0" rIns="0" bIns="0" rtlCol="0" anchor="t">
            <a:noAutofit/>
          </a:bodyPr>
          <a:lstStyle/>
          <a:p>
            <a:r>
              <a:rPr lang="en-US"/>
              <a:t>Click to edit Master Title (20 PT)</a:t>
            </a:r>
            <a:br>
              <a:rPr lang="en-US"/>
            </a:br>
            <a:br>
              <a:rPr lang="en-US"/>
            </a:br>
            <a:endParaRPr lang="en-US"/>
          </a:p>
        </p:txBody>
      </p:sp>
      <p:cxnSp>
        <p:nvCxnSpPr>
          <p:cNvPr id="10" name="Straight Connector 9"/>
          <p:cNvCxnSpPr/>
          <p:nvPr userDrawn="1"/>
        </p:nvCxnSpPr>
        <p:spPr>
          <a:xfrm>
            <a:off x="0" y="6400800"/>
            <a:ext cx="12192000" cy="0"/>
          </a:xfrm>
          <a:prstGeom prst="line">
            <a:avLst/>
          </a:prstGeom>
          <a:ln w="6350">
            <a:solidFill>
              <a:schemeClr val="tx2">
                <a:lumMod val="40000"/>
                <a:lumOff val="60000"/>
              </a:schemeClr>
            </a:solidFill>
          </a:ln>
        </p:spPr>
        <p:style>
          <a:lnRef idx="2">
            <a:schemeClr val="accent1"/>
          </a:lnRef>
          <a:fillRef idx="0">
            <a:schemeClr val="accent1"/>
          </a:fillRef>
          <a:effectRef idx="1">
            <a:schemeClr val="accent1"/>
          </a:effectRef>
          <a:fontRef idx="minor">
            <a:schemeClr val="tx1"/>
          </a:fontRef>
        </p:style>
      </p:cxnSp>
      <p:sp>
        <p:nvSpPr>
          <p:cNvPr id="26" name="Text Placeholder 25"/>
          <p:cNvSpPr>
            <a:spLocks noGrp="1"/>
          </p:cNvSpPr>
          <p:nvPr>
            <p:ph type="body" idx="1"/>
          </p:nvPr>
        </p:nvSpPr>
        <p:spPr>
          <a:xfrm>
            <a:off x="452701" y="1424682"/>
            <a:ext cx="11282099" cy="4712654"/>
          </a:xfrm>
          <a:prstGeom prst="rect">
            <a:avLst/>
          </a:prstGeom>
        </p:spPr>
        <p:txBody>
          <a:bodyPr vert="horz" lIns="0" tIns="0" rIns="0" bIns="0" rtlCol="0">
            <a:noAutofit/>
          </a:bodyPr>
          <a:lstStyle/>
          <a:p>
            <a:pPr lvl="0"/>
            <a:r>
              <a:rPr lang="en-US"/>
              <a:t>Click to edit Master text styles (12 PT)</a:t>
            </a:r>
          </a:p>
          <a:p>
            <a:pPr lvl="1"/>
            <a:r>
              <a:rPr lang="en-US"/>
              <a:t>Second level</a:t>
            </a:r>
          </a:p>
          <a:p>
            <a:pPr lvl="2"/>
            <a:r>
              <a:rPr lang="en-US"/>
              <a:t>Third level</a:t>
            </a:r>
          </a:p>
          <a:p>
            <a:pPr lvl="3"/>
            <a:r>
              <a:rPr lang="en-US"/>
              <a:t>Fourth level</a:t>
            </a:r>
          </a:p>
          <a:p>
            <a:pPr lvl="4"/>
            <a:r>
              <a:rPr lang="en-US"/>
              <a:t>Fifth level</a:t>
            </a:r>
          </a:p>
        </p:txBody>
      </p:sp>
      <p:sp>
        <p:nvSpPr>
          <p:cNvPr id="11" name="TextBox 10"/>
          <p:cNvSpPr txBox="1"/>
          <p:nvPr userDrawn="1"/>
        </p:nvSpPr>
        <p:spPr>
          <a:xfrm>
            <a:off x="4220848" y="6521083"/>
            <a:ext cx="3750304"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2"/>
                </a:solidFill>
                <a:effectLst/>
                <a:uLnTx/>
                <a:uFillTx/>
                <a:latin typeface="Arial" panose="020B0604020202020204"/>
                <a:ea typeface="+mn-ea"/>
                <a:cs typeface="+mn-cs"/>
              </a:rPr>
              <a:t>SARONIC PROPRIETARY AND CONFIDENTIAL</a:t>
            </a:r>
          </a:p>
        </p:txBody>
      </p:sp>
      <p:sp>
        <p:nvSpPr>
          <p:cNvPr id="12" name="TextBox 11"/>
          <p:cNvSpPr txBox="1"/>
          <p:nvPr userDrawn="1"/>
        </p:nvSpPr>
        <p:spPr>
          <a:xfrm>
            <a:off x="11724460" y="6567249"/>
            <a:ext cx="467539" cy="123111"/>
          </a:xfrm>
          <a:prstGeom prst="rect">
            <a:avLst/>
          </a:prstGeom>
          <a:noFill/>
        </p:spPr>
        <p:txBody>
          <a:bodyPr wrap="square" lIns="0" tIns="0" rIns="0" bIns="0" rtlCol="0">
            <a:spAutoFit/>
          </a:bodyPr>
          <a:lstStyle/>
          <a:p>
            <a:pPr algn="ctr"/>
            <a:fld id="{F8FBCD80-1BA2-9C4B-8FD8-FBEEFF13001D}" type="slidenum">
              <a:rPr lang="en-US" sz="800" smtClean="0">
                <a:solidFill>
                  <a:schemeClr val="tx2"/>
                </a:solidFill>
              </a:rPr>
              <a:pPr algn="ctr"/>
              <a:t>‹#›</a:t>
            </a:fld>
            <a:endParaRPr lang="en-US" sz="800">
              <a:solidFill>
                <a:schemeClr val="tx2"/>
              </a:solidFill>
            </a:endParaRPr>
          </a:p>
        </p:txBody>
      </p:sp>
      <p:cxnSp>
        <p:nvCxnSpPr>
          <p:cNvPr id="20" name="Straight Connector 19"/>
          <p:cNvCxnSpPr>
            <a:cxnSpLocks/>
          </p:cNvCxnSpPr>
          <p:nvPr userDrawn="1"/>
        </p:nvCxnSpPr>
        <p:spPr>
          <a:xfrm>
            <a:off x="457193" y="6400800"/>
            <a:ext cx="0" cy="457200"/>
          </a:xfrm>
          <a:prstGeom prst="line">
            <a:avLst/>
          </a:prstGeom>
          <a:ln w="6350">
            <a:solidFill>
              <a:schemeClr val="tx2">
                <a:lumMod val="40000"/>
                <a:lumOff val="60000"/>
              </a:schemeClr>
            </a:solidFill>
          </a:ln>
        </p:spPr>
        <p:style>
          <a:lnRef idx="2">
            <a:schemeClr val="accent1"/>
          </a:lnRef>
          <a:fillRef idx="0">
            <a:schemeClr val="accent1"/>
          </a:fillRef>
          <a:effectRef idx="1">
            <a:schemeClr val="accent1"/>
          </a:effectRef>
          <a:fontRef idx="minor">
            <a:schemeClr val="tx1"/>
          </a:fontRef>
        </p:style>
      </p:cxnSp>
      <p:cxnSp>
        <p:nvCxnSpPr>
          <p:cNvPr id="24" name="Straight Connector 23"/>
          <p:cNvCxnSpPr>
            <a:cxnSpLocks/>
          </p:cNvCxnSpPr>
          <p:nvPr userDrawn="1"/>
        </p:nvCxnSpPr>
        <p:spPr>
          <a:xfrm>
            <a:off x="11724461" y="6400800"/>
            <a:ext cx="0" cy="457200"/>
          </a:xfrm>
          <a:prstGeom prst="line">
            <a:avLst/>
          </a:prstGeom>
          <a:ln w="6350">
            <a:solidFill>
              <a:schemeClr val="tx2">
                <a:lumMod val="40000"/>
                <a:lumOff val="60000"/>
              </a:schemeClr>
            </a:solidFill>
          </a:ln>
        </p:spPr>
        <p:style>
          <a:lnRef idx="2">
            <a:schemeClr val="accent1"/>
          </a:lnRef>
          <a:fillRef idx="0">
            <a:schemeClr val="accent1"/>
          </a:fillRef>
          <a:effectRef idx="1">
            <a:schemeClr val="accent1"/>
          </a:effectRef>
          <a:fontRef idx="minor">
            <a:schemeClr val="tx1"/>
          </a:fontRef>
        </p:style>
      </p:cxnSp>
      <p:pic>
        <p:nvPicPr>
          <p:cNvPr id="29" name="Graphic 28"/>
          <p:cNvPicPr>
            <a:picLocks noChangeAspect="1"/>
          </p:cNvPicPr>
          <p:nvPr userDrawn="1"/>
        </p:nvPicPr>
        <p:blipFill>
          <a:blip>
            <a:extLst>
              <a:ext uri="{96DAC541-7B7A-43D3-8B79-37D633B846F1}">
                <asvg:svgBlip xmlns:asvg="http://schemas.microsoft.com/office/drawing/2016/SVG/main" r:embed="rId11"/>
              </a:ext>
            </a:extLst>
          </a:blip>
          <a:stretch>
            <a:fillRect/>
          </a:stretch>
        </p:blipFill>
        <p:spPr>
          <a:xfrm>
            <a:off x="115439" y="6477927"/>
            <a:ext cx="226315" cy="301753"/>
          </a:xfrm>
          <a:prstGeom prst="rect">
            <a:avLst/>
          </a:prstGeom>
        </p:spPr>
      </p:pic>
    </p:spTree>
    <p:extLst>
      <p:ext uri="{BB962C8B-B14F-4D97-AF65-F5344CB8AC3E}">
        <p14:creationId xmlns:p14="http://schemas.microsoft.com/office/powerpoint/2010/main" val="833979895"/>
      </p:ext>
    </p:extLst>
  </p:cSld>
  <p:clrMap bg1="lt1" tx1="dk1" bg2="lt2" tx2="dk2" accent1="accent1" accent2="accent2" accent3="accent3" accent4="accent4" accent5="accent5" accent6="accent6" hlink="hlink" folHlink="folHlink"/>
  <p:sldLayoutIdLst>
    <p:sldLayoutId id="2147483674" r:id="rId1"/>
    <p:sldLayoutId id="2147483654" r:id="rId2"/>
    <p:sldLayoutId id="2147483658" r:id="rId3"/>
    <p:sldLayoutId id="2147483661" r:id="rId4"/>
    <p:sldLayoutId id="2147483691" r:id="rId5"/>
    <p:sldLayoutId id="2147483696" r:id="rId6"/>
  </p:sldLayoutIdLst>
  <p:txStyles>
    <p:titleStyle>
      <a:lvl1pPr algn="l" defTabSz="914400" rtl="0" eaLnBrk="1" latinLnBrk="0" hangingPunct="1">
        <a:lnSpc>
          <a:spcPct val="100000"/>
        </a:lnSpc>
        <a:spcBef>
          <a:spcPct val="0"/>
        </a:spcBef>
        <a:buNone/>
        <a:defRPr sz="2000" kern="1200">
          <a:solidFill>
            <a:schemeClr val="tx1"/>
          </a:solidFill>
          <a:latin typeface="+mj-lt"/>
          <a:ea typeface="+mj-ea"/>
          <a:cs typeface="+mj-cs"/>
        </a:defRPr>
      </a:lvl1pPr>
    </p:titleStyle>
    <p:bodyStyle>
      <a:lvl1pPr marL="120650" indent="-120650" algn="l" defTabSz="914400" rtl="0" eaLnBrk="1" latinLnBrk="0" hangingPunct="1">
        <a:lnSpc>
          <a:spcPct val="100000"/>
        </a:lnSpc>
        <a:spcBef>
          <a:spcPts val="800"/>
        </a:spcBef>
        <a:buClr>
          <a:schemeClr val="tx2"/>
        </a:buClr>
        <a:buSzPct val="120000"/>
        <a:buFont typeface="Arial" panose="020B0604020202020204" pitchFamily="34" charset="0"/>
        <a:buChar char="•"/>
        <a:tabLst/>
        <a:defRPr sz="1200" kern="1200">
          <a:solidFill>
            <a:schemeClr val="tx2"/>
          </a:solidFill>
          <a:latin typeface="+mn-lt"/>
          <a:ea typeface="+mn-ea"/>
          <a:cs typeface="+mn-cs"/>
        </a:defRPr>
      </a:lvl1pPr>
      <a:lvl2pPr marL="233363" indent="-117475" algn="l" defTabSz="914400" rtl="0" eaLnBrk="1" latinLnBrk="0" hangingPunct="1">
        <a:lnSpc>
          <a:spcPct val="100000"/>
        </a:lnSpc>
        <a:spcBef>
          <a:spcPts val="800"/>
        </a:spcBef>
        <a:buClr>
          <a:schemeClr val="tx2"/>
        </a:buClr>
        <a:buSzPct val="120000"/>
        <a:buFont typeface="Arial" panose="020B0604020202020204" pitchFamily="34" charset="0"/>
        <a:buChar char="-"/>
        <a:tabLst/>
        <a:defRPr sz="1200" kern="1200">
          <a:solidFill>
            <a:schemeClr val="tx2"/>
          </a:solidFill>
          <a:latin typeface="+mn-lt"/>
          <a:ea typeface="+mn-ea"/>
          <a:cs typeface="+mn-cs"/>
        </a:defRPr>
      </a:lvl2pPr>
      <a:lvl3pPr marL="350838" indent="-117475" algn="l" defTabSz="914400" rtl="0" eaLnBrk="1" latinLnBrk="0" hangingPunct="1">
        <a:lnSpc>
          <a:spcPct val="100000"/>
        </a:lnSpc>
        <a:spcBef>
          <a:spcPts val="800"/>
        </a:spcBef>
        <a:buClr>
          <a:schemeClr val="tx2"/>
        </a:buClr>
        <a:buSzPct val="90000"/>
        <a:buFont typeface="Wingdings" pitchFamily="2" charset="2"/>
        <a:buChar char="§"/>
        <a:tabLst/>
        <a:defRPr sz="1200" kern="1200">
          <a:solidFill>
            <a:schemeClr val="tx2"/>
          </a:solidFill>
          <a:latin typeface="+mn-lt"/>
          <a:ea typeface="+mn-ea"/>
          <a:cs typeface="+mn-cs"/>
        </a:defRPr>
      </a:lvl3pPr>
      <a:lvl4pPr marL="463550" indent="-111125" algn="l" defTabSz="914400" rtl="0" eaLnBrk="1" latinLnBrk="0" hangingPunct="1">
        <a:lnSpc>
          <a:spcPct val="100000"/>
        </a:lnSpc>
        <a:spcBef>
          <a:spcPts val="800"/>
        </a:spcBef>
        <a:buSzPct val="90000"/>
        <a:buFont typeface="Wingdings" pitchFamily="2" charset="2"/>
        <a:buChar char="§"/>
        <a:tabLst/>
        <a:defRPr sz="1200" kern="1200">
          <a:solidFill>
            <a:schemeClr val="tx2"/>
          </a:solidFill>
          <a:latin typeface="+mn-lt"/>
          <a:ea typeface="+mn-ea"/>
          <a:cs typeface="+mn-cs"/>
        </a:defRPr>
      </a:lvl4pPr>
      <a:lvl5pPr marL="573088" indent="-109538" algn="l" defTabSz="914400" rtl="0" eaLnBrk="1" latinLnBrk="0" hangingPunct="1">
        <a:lnSpc>
          <a:spcPct val="100000"/>
        </a:lnSpc>
        <a:spcBef>
          <a:spcPts val="800"/>
        </a:spcBef>
        <a:buSzPct val="90000"/>
        <a:buFont typeface="Wingdings" pitchFamily="2" charset="2"/>
        <a:buChar char="§"/>
        <a:tabLst/>
        <a:defRPr sz="12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 Id="rId3" Type="http://schemas.openxmlformats.org/officeDocument/2006/relationships/chart" Target="../charts/char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50" name="StepRationaleLedger"/>
          <p:cNvGraphicFramePr>
            <a:graphicFrameLocks noGrp="1"/>
          </p:cNvGraphicFramePr>
          <p:nvPr/>
        </p:nvGraphicFramePr>
        <p:xfrm>
          <a:off x="7435441" y="1266825"/>
          <a:ext cx="4300000" cy="4875684"/>
        </p:xfrm>
        <a:graphic>
          <a:graphicData uri="http://schemas.openxmlformats.org/drawingml/2006/table">
            <a:tbl>
              <a:tblPr firstRow="1" firstCol="1">
                <a:tableStyleId>{2D5ABB26-0587-4C30-8999-92F81FD0307C}</a:tableStyleId>
              </a:tblPr>
              <a:tblGrid>
                <a:gridCol w="1281269"/>
                <a:gridCol w="3018731"/>
              </a:tblGrid>
              <a:tr h="0">
                <a:tc>
                  <a:txBody>
                    <a:bodyPr/>
                    <a:lstStyle/>
                    <a:p>
                      <a:pPr algn="l">
                        <a:lnSpc>
                          <a:spcPct val="115000"/>
                        </a:lnSpc>
                      </a:pPr>
                      <a:r>
                        <a:rPr lang="en-US" sz="900" b="1">
                          <a:solidFill>
                            <a:srgbClr val="000000"/>
                          </a:solidFill>
                          <a:latin typeface="Arial"/>
                          <a:ea typeface="Arial"/>
                          <a:cs typeface="Arial"/>
                        </a:rPr>
                        <a:t>Step</a:t>
                      </a:r>
                    </a:p>
                  </a:txBody>
                  <a:tcPr marL="45720" marR="45720" anchor="ctr">
                    <a:lnL>
                      <a:noFill/>
                    </a:lnL>
                    <a:lnR>
                      <a:noFill/>
                    </a:lnR>
                    <a:lnT>
                      <a:noFill/>
                    </a:lnT>
                    <a:lnB w="12700" cap="flat" cmpd="sng" algn="ctr">
                      <a:solidFill>
                        <a:srgbClr val="000000"/>
                      </a:solidFill>
                      <a:prstDash val="solid"/>
                      <a:round/>
                      <a:headEnd type="none" w="med" len="med"/>
                      <a:tailEnd type="none" w="med" len="med"/>
                    </a:lnB>
                    <a:noFill/>
                  </a:tcPr>
                </a:tc>
                <a:tc>
                  <a:txBody>
                    <a:bodyPr/>
                    <a:lstStyle/>
                    <a:p>
                      <a:pPr algn="l">
                        <a:lnSpc>
                          <a:spcPct val="115000"/>
                        </a:lnSpc>
                      </a:pPr>
                      <a:r>
                        <a:rPr lang="en-US" sz="900" b="1">
                          <a:solidFill>
                            <a:srgbClr val="000000"/>
                          </a:solidFill>
                          <a:latin typeface="Arial"/>
                          <a:ea typeface="Arial"/>
                          <a:cs typeface="Arial"/>
                        </a:rPr>
                        <a:t>Rationale</a:t>
                      </a:r>
                    </a:p>
                  </a:txBody>
                  <a:tcPr marL="45720" marR="45720" anchor="ctr">
                    <a:lnL>
                      <a:noFill/>
                    </a:lnL>
                    <a:lnR>
                      <a:noFill/>
                    </a:lnR>
                    <a:lnT>
                      <a:noFill/>
                    </a:lnT>
                    <a:lnB w="12700" cap="flat" cmpd="sng" algn="ctr">
                      <a:solidFill>
                        <a:srgbClr val="000000"/>
                      </a:solidFill>
                      <a:prstDash val="solid"/>
                      <a:round/>
                      <a:headEnd type="none" w="med" len="med"/>
                      <a:tailEnd type="none" w="med" len="med"/>
                    </a:lnB>
                    <a:noFill/>
                  </a:tcPr>
                </a:tc>
              </a:tr>
              <a:tr h="1097280">
                <a:tc>
                  <a:txBody>
                    <a:bodyPr/>
                    <a:lstStyle/>
                    <a:p>
                      <a:pPr algn="l">
                        <a:lnSpc>
                          <a:spcPct val="115000"/>
                        </a:lnSpc>
                      </a:pPr>
                      <a:r>
                        <a:rPr lang="en-US" sz="900" b="1">
                          <a:solidFill>
                            <a:srgbClr val="FFFFFF"/>
                          </a:solidFill>
                          <a:latin typeface="Arial"/>
                          <a:ea typeface="Arial"/>
                          <a:cs typeface="Arial"/>
                        </a:rPr>
                        <a:t>Total Ship Spend</a:t>
                      </a:r>
                    </a:p>
                  </a:txBody>
                  <a:tcPr marL="45720" marR="45720" anchor="ctr">
                    <a:lnL>
                      <a:noFill/>
                    </a:lnL>
                    <a:lnR>
                      <a:noFill/>
                    </a:lnR>
                    <a:lnT w="12700" cap="flat" cmpd="sng" algn="ctr">
                      <a:solidFill>
                        <a:srgbClr val="000000"/>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79838F"/>
                    </a:solidFill>
                  </a:tcPr>
                </a:tc>
                <a:tc>
                  <a:txBody>
                    <a:bodyPr/>
                    <a:lstStyle/>
                    <a:p>
                      <a:pPr marL="142875" indent="-142875" algn="l">
                        <a:lnSpc>
                          <a:spcPct val="100000"/>
                        </a:lnSpc>
                        <a:buFont typeface="Arial" panose="020B0604020202020204" pitchFamily="34" charset="0"/>
                        <a:buChar char="•"/>
                      </a:pPr>
                      <a:r>
                        <a:rPr lang="en-US" sz="900" b="1" u="sng">
                          <a:solidFill>
                            <a:srgbClr val="000000"/>
                          </a:solidFill>
                          <a:latin typeface="Arial"/>
                          <a:ea typeface="Arial"/>
                          <a:cs typeface="Arial"/>
                        </a:rPr>
                        <a:t>In-Year Spend:</a:t>
                      </a:r>
                      <a:r>
                        <a:rPr lang="en-US" sz="900">
                          <a:solidFill>
                            <a:srgbClr val="000000"/>
                          </a:solidFill>
                          <a:latin typeface="Arial"/>
                          <a:ea typeface="Arial"/>
                          <a:cs typeface="Arial"/>
                        </a:rPr>
                        <a:t> FY2022–FY2027 SCN end cost (P-5c discretionary); OBBBA adds two FY2026 DDG-51s ($5.4B) and a second FY2026 </a:t>
                      </a:r>
                      <a:r>
                        <a:rPr lang="en-US" sz="900" i="1">
                          <a:solidFill>
                            <a:srgbClr val="000000"/>
                          </a:solidFill>
                          <a:latin typeface="Arial"/>
                          <a:ea typeface="Arial"/>
                          <a:cs typeface="Arial"/>
                        </a:rPr>
                        <a:t>Virginia</a:t>
                      </a:r>
                      <a:r>
                        <a:rPr lang="en-US" sz="900">
                          <a:solidFill>
                            <a:srgbClr val="000000"/>
                          </a:solidFill>
                          <a:latin typeface="Arial"/>
                          <a:ea typeface="Arial"/>
                          <a:cs typeface="Arial"/>
                        </a:rPr>
                        <a:t> $4.6B)</a:t>
                      </a:r>
                    </a:p>
                    <a:p>
                      <a:pPr marL="142875" indent="-142875" algn="l">
                        <a:lnSpc>
                          <a:spcPct val="100000"/>
                        </a:lnSpc>
                        <a:buFont typeface="Arial" panose="020B0604020202020204" pitchFamily="34" charset="0"/>
                        <a:buChar char="•"/>
                      </a:pPr>
                      <a:r>
                        <a:rPr lang="en-US" sz="900" b="1" u="sng">
                          <a:solidFill>
                            <a:srgbClr val="000000"/>
                          </a:solidFill>
                          <a:latin typeface="Arial"/>
                          <a:ea typeface="Arial"/>
                          <a:cs typeface="Arial"/>
                        </a:rPr>
                        <a:t>Advanced Procurement / Long-Lead Time Materials:</a:t>
                      </a:r>
                      <a:r>
                        <a:rPr lang="en-US" sz="900" b="1" u="none">
                          <a:solidFill>
                            <a:srgbClr val="000000"/>
                          </a:solidFill>
                          <a:latin typeface="Arial"/>
                          <a:ea typeface="Arial"/>
                          <a:cs typeface="Arial"/>
                        </a:rPr>
                        <a:t> </a:t>
                      </a:r>
                      <a:r>
                        <a:rPr lang="en-US" sz="900">
                          <a:solidFill>
                            <a:srgbClr val="000000"/>
                          </a:solidFill>
                          <a:latin typeface="Arial"/>
                          <a:ea typeface="Arial"/>
                          <a:cs typeface="Arial"/>
                        </a:rPr>
                        <a:t>DDG-51 adds incremental FY2026 AP/LLTM ($1.8B); submarines add none (supplier long-lead is already inside Basic Construction)</a:t>
                      </a:r>
                    </a:p>
                  </a:txBody>
                  <a:tcPr marL="45720" marR="45720" anchor="ctr">
                    <a:lnL>
                      <a:noFill/>
                    </a:lnL>
                    <a:lnR>
                      <a:noFill/>
                    </a:lnR>
                    <a:lnT w="12700" cap="flat" cmpd="sng" algn="ctr">
                      <a:solidFill>
                        <a:srgbClr val="000000"/>
                      </a:solidFill>
                      <a:prstDash val="solid"/>
                      <a:round/>
                      <a:headEnd type="none" w="med" len="med"/>
                      <a:tailEnd type="none" w="med" len="med"/>
                    </a:lnT>
                    <a:lnB w="6350" cap="flat" cmpd="sng" algn="ctr">
                      <a:solidFill>
                        <a:srgbClr val="808080"/>
                      </a:solidFill>
                      <a:prstDash val="solid"/>
                      <a:round/>
                      <a:headEnd type="none" w="med" len="med"/>
                      <a:tailEnd type="none" w="med" len="med"/>
                    </a:lnB>
                    <a:noFill/>
                  </a:tcPr>
                </a:tc>
              </a:tr>
              <a:tr h="594360">
                <a:tc>
                  <a:txBody>
                    <a:bodyPr/>
                    <a:lstStyle/>
                    <a:p>
                      <a:pPr algn="l">
                        <a:lnSpc>
                          <a:spcPct val="115000"/>
                        </a:lnSpc>
                      </a:pPr>
                      <a:r>
                        <a:rPr lang="en-US" sz="900" b="1">
                          <a:solidFill>
                            <a:srgbClr val="000000"/>
                          </a:solidFill>
                          <a:latin typeface="Arial"/>
                          <a:ea typeface="Arial"/>
                          <a:cs typeface="Arial"/>
                        </a:rPr>
                        <a:t>Less: Government-Furnished Equipment</a:t>
                      </a:r>
                    </a:p>
                  </a:txBody>
                  <a:tcPr marL="45720" marR="45720" anchor="ctr">
                    <a:lnL>
                      <a:noFill/>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AFC2CC"/>
                    </a:solidFill>
                  </a:tcPr>
                </a:tc>
                <a:tc>
                  <a:txBody>
                    <a:bodyPr/>
                    <a:lstStyle/>
                    <a:p>
                      <a:pPr marL="142875" indent="-142875" algn="l">
                        <a:lnSpc>
                          <a:spcPct val="100000"/>
                        </a:lnSpc>
                        <a:buFont typeface="Arial" panose="020B0604020202020204" pitchFamily="34" charset="0"/>
                        <a:buChar char="•"/>
                      </a:pPr>
                      <a:r>
                        <a:rPr lang="en-US" sz="900">
                          <a:solidFill>
                            <a:srgbClr val="000000"/>
                          </a:solidFill>
                          <a:latin typeface="Arial"/>
                          <a:ea typeface="Arial"/>
                          <a:cs typeface="Arial"/>
                        </a:rPr>
                        <a:t>Removes GFE (propulsion, electronics, and ordnance) the Navy buys directly and furnished to Primes </a:t>
                      </a:r>
                    </a:p>
                    <a:p>
                      <a:pPr marL="142875" indent="-142875" algn="l">
                        <a:lnSpc>
                          <a:spcPct val="100000"/>
                        </a:lnSpc>
                        <a:buFont typeface="Arial" panose="020B0604020202020204" pitchFamily="34" charset="0"/>
                        <a:buChar char="•"/>
                      </a:pPr>
                      <a:r>
                        <a:rPr lang="en-US" sz="900">
                          <a:solidFill>
                            <a:srgbClr val="000000"/>
                          </a:solidFill>
                          <a:latin typeface="Arial"/>
                          <a:ea typeface="Arial"/>
                          <a:cs typeface="Arial"/>
                        </a:rPr>
                        <a:t>GFE is non-addressable to outsourced Basic Construction players</a:t>
                      </a:r>
                    </a:p>
                  </a:txBody>
                  <a:tcPr marL="45720" marR="45720" anchor="ctr">
                    <a:lnL>
                      <a:noFill/>
                    </a:lnL>
                    <a:lnR>
                      <a:noFill/>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noFill/>
                  </a:tcPr>
                </a:tc>
              </a:tr>
              <a:tr h="640080">
                <a:tc>
                  <a:txBody>
                    <a:bodyPr/>
                    <a:lstStyle/>
                    <a:p>
                      <a:pPr algn="l">
                        <a:lnSpc>
                          <a:spcPct val="115000"/>
                        </a:lnSpc>
                      </a:pPr>
                      <a:r>
                        <a:rPr lang="en-US" sz="900" b="1">
                          <a:solidFill>
                            <a:schemeClr val="bg1"/>
                          </a:solidFill>
                          <a:latin typeface="Arial"/>
                          <a:ea typeface="Arial"/>
                          <a:cs typeface="Arial"/>
                        </a:rPr>
                        <a:t>Less: Other non-BC</a:t>
                      </a:r>
                    </a:p>
                  </a:txBody>
                  <a:tcPr marL="45720" marR="45720" anchor="ctr">
                    <a:lnL>
                      <a:noFill/>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89A2B0"/>
                    </a:solidFill>
                  </a:tcPr>
                </a:tc>
                <a:tc>
                  <a:txBody>
                    <a:bodyPr/>
                    <a:lstStyle/>
                    <a:p>
                      <a:pPr marL="142875" indent="-142875" algn="l">
                        <a:lnSpc>
                          <a:spcPct val="100000"/>
                        </a:lnSpc>
                        <a:buFont typeface="Arial" panose="020B0604020202020204" pitchFamily="34" charset="0"/>
                        <a:buChar char="•"/>
                      </a:pPr>
                      <a:r>
                        <a:rPr lang="en-US" sz="900">
                          <a:solidFill>
                            <a:srgbClr val="000000"/>
                          </a:solidFill>
                          <a:latin typeface="Arial"/>
                          <a:ea typeface="Arial"/>
                          <a:cs typeface="Arial"/>
                        </a:rPr>
                        <a:t>Removes engineering and program costs (</a:t>
                      </a:r>
                      <a:r>
                        <a:rPr lang="en-US" sz="900">
                          <a:solidFill>
                            <a:srgbClr val="000000"/>
                          </a:solidFill>
                          <a:latin typeface="+mn-lt"/>
                          <a:ea typeface="Arial"/>
                          <a:cs typeface="Arial"/>
                        </a:rPr>
                        <a:t>e.g., plans, change orders, and other non-construction activities) </a:t>
                      </a:r>
                      <a:r>
                        <a:rPr lang="en-US" sz="900">
                          <a:solidFill>
                            <a:srgbClr val="000000"/>
                          </a:solidFill>
                          <a:latin typeface="Arial"/>
                          <a:ea typeface="Arial"/>
                          <a:cs typeface="Arial"/>
                        </a:rPr>
                        <a:t>as these generally conducted by Primes</a:t>
                      </a:r>
                    </a:p>
                  </a:txBody>
                  <a:tcPr marL="45720" marR="45720" anchor="ctr">
                    <a:lnL>
                      <a:noFill/>
                    </a:lnL>
                    <a:lnR>
                      <a:noFill/>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noFill/>
                  </a:tcPr>
                </a:tc>
              </a:tr>
              <a:tr h="254916">
                <a:tc>
                  <a:txBody>
                    <a:bodyPr/>
                    <a:lstStyle/>
                    <a:p>
                      <a:pPr algn="l">
                        <a:lnSpc>
                          <a:spcPct val="115000"/>
                        </a:lnSpc>
                      </a:pPr>
                      <a:r>
                        <a:rPr lang="en-US" sz="900" b="1">
                          <a:solidFill>
                            <a:srgbClr val="FFFFFF"/>
                          </a:solidFill>
                          <a:latin typeface="Arial"/>
                          <a:ea typeface="Arial"/>
                          <a:cs typeface="Arial"/>
                        </a:rPr>
                        <a:t>Basic Construction</a:t>
                      </a:r>
                    </a:p>
                  </a:txBody>
                  <a:tcPr marL="45720" marR="45720" anchor="ctr">
                    <a:lnL>
                      <a:noFill/>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79838F"/>
                    </a:solidFill>
                  </a:tcPr>
                </a:tc>
                <a:tc>
                  <a:txBody>
                    <a:bodyPr/>
                    <a:lstStyle/>
                    <a:p>
                      <a:pPr algn="l">
                        <a:lnSpc>
                          <a:spcPct val="100000"/>
                        </a:lnSpc>
                      </a:pPr>
                      <a:r>
                        <a:rPr lang="en-US" sz="900" b="0" i="1">
                          <a:solidFill>
                            <a:srgbClr val="000000"/>
                          </a:solidFill>
                          <a:latin typeface="Arial"/>
                          <a:ea typeface="Arial"/>
                          <a:cs typeface="Arial"/>
                        </a:rPr>
                        <a:t>Calculation</a:t>
                      </a:r>
                    </a:p>
                  </a:txBody>
                  <a:tcPr marL="45720" marR="45720" anchor="ctr">
                    <a:lnL>
                      <a:noFill/>
                    </a:lnL>
                    <a:lnR>
                      <a:noFill/>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noFill/>
                  </a:tcPr>
                </a:tc>
              </a:tr>
              <a:tr h="720188">
                <a:tc>
                  <a:txBody>
                    <a:bodyPr/>
                    <a:lstStyle/>
                    <a:p>
                      <a:pPr algn="l">
                        <a:lnSpc>
                          <a:spcPct val="115000"/>
                        </a:lnSpc>
                      </a:pPr>
                      <a:r>
                        <a:rPr lang="en-US" sz="900" b="1">
                          <a:solidFill>
                            <a:srgbClr val="FFFFFF"/>
                          </a:solidFill>
                          <a:latin typeface="Arial"/>
                          <a:ea typeface="Arial"/>
                          <a:cs typeface="Arial"/>
                        </a:rPr>
                        <a:t>Less: Prime BC</a:t>
                      </a:r>
                    </a:p>
                  </a:txBody>
                  <a:tcPr marL="45720" marR="45720" anchor="ctr">
                    <a:lnL>
                      <a:noFill/>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486D82"/>
                    </a:solidFill>
                  </a:tcPr>
                </a:tc>
                <a:tc>
                  <a:txBody>
                    <a:bodyPr/>
                    <a:lstStyle/>
                    <a:p>
                      <a:pPr marL="142875" indent="-142875" algn="l">
                        <a:lnSpc>
                          <a:spcPct val="115000"/>
                        </a:lnSpc>
                        <a:buFont typeface="Arial" panose="020B0604020202020204" pitchFamily="34" charset="0"/>
                        <a:buChar char="•"/>
                      </a:pPr>
                      <a:r>
                        <a:rPr lang="en-US" sz="900">
                          <a:solidFill>
                            <a:srgbClr val="000000"/>
                          </a:solidFill>
                          <a:latin typeface="+mn-lt"/>
                          <a:ea typeface="Arial"/>
                          <a:cs typeface="Arial"/>
                        </a:rPr>
                        <a:t>Removes construction the Primes perform in their own yards.</a:t>
                      </a:r>
                    </a:p>
                    <a:p>
                      <a:pPr marL="142875" indent="-142875" algn="l">
                        <a:lnSpc>
                          <a:spcPct val="115000"/>
                        </a:lnSpc>
                        <a:buFont typeface="Arial" panose="020B0604020202020204" pitchFamily="34" charset="0"/>
                        <a:buChar char="•"/>
                      </a:pPr>
                      <a:r>
                        <a:rPr lang="en-US" sz="900">
                          <a:solidFill>
                            <a:srgbClr val="000000"/>
                          </a:solidFill>
                          <a:latin typeface="+mn-lt"/>
                          <a:ea typeface="Arial"/>
                          <a:cs typeface="Arial"/>
                        </a:rPr>
                        <a:t>BC spend x the announced outside-yard share from DoD award place-of-performance data: ~25% DDG-51 (FY22 ships 22%), 34% </a:t>
                      </a:r>
                      <a:r>
                        <a:rPr lang="en-US" sz="900" i="1">
                          <a:solidFill>
                            <a:srgbClr val="000000"/>
                          </a:solidFill>
                          <a:latin typeface="+mn-lt"/>
                          <a:ea typeface="Arial"/>
                          <a:cs typeface="Arial"/>
                        </a:rPr>
                        <a:t>Virginia</a:t>
                      </a:r>
                      <a:r>
                        <a:rPr lang="en-US" sz="900">
                          <a:solidFill>
                            <a:srgbClr val="000000"/>
                          </a:solidFill>
                          <a:latin typeface="+mn-lt"/>
                          <a:ea typeface="Arial"/>
                          <a:cs typeface="Arial"/>
                        </a:rPr>
                        <a:t> / 22% </a:t>
                      </a:r>
                      <a:r>
                        <a:rPr lang="en-US" sz="900" i="1">
                          <a:solidFill>
                            <a:srgbClr val="000000"/>
                          </a:solidFill>
                          <a:latin typeface="+mn-lt"/>
                          <a:ea typeface="Arial"/>
                          <a:cs typeface="Arial"/>
                        </a:rPr>
                        <a:t>Columbia</a:t>
                      </a:r>
                      <a:r>
                        <a:rPr lang="en-US" sz="900">
                          <a:solidFill>
                            <a:srgbClr val="000000"/>
                          </a:solidFill>
                          <a:latin typeface="+mn-lt"/>
                          <a:ea typeface="Arial"/>
                          <a:cs typeface="Arial"/>
                        </a:rPr>
                        <a:t>.</a:t>
                      </a:r>
                    </a:p>
                  </a:txBody>
                  <a:tcPr marL="45720" marR="45720" anchor="ctr">
                    <a:lnL>
                      <a:noFill/>
                    </a:lnL>
                    <a:lnR>
                      <a:noFill/>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noFill/>
                  </a:tcPr>
                </a:tc>
              </a:tr>
              <a:tr h="650259">
                <a:tc>
                  <a:txBody>
                    <a:bodyPr/>
                    <a:lstStyle/>
                    <a:p>
                      <a:pPr algn="l">
                        <a:lnSpc>
                          <a:spcPct val="115000"/>
                        </a:lnSpc>
                      </a:pPr>
                      <a:r>
                        <a:rPr lang="en-US" sz="900" b="1">
                          <a:solidFill>
                            <a:srgbClr val="FFFFFF"/>
                          </a:solidFill>
                          <a:latin typeface="Arial"/>
                          <a:ea typeface="Arial"/>
                          <a:cs typeface="Arial"/>
                        </a:rPr>
                        <a:t>Less: Prime AP/LLTM</a:t>
                      </a:r>
                    </a:p>
                  </a:txBody>
                  <a:tcPr marL="45720" marR="45720" anchor="ctr">
                    <a:lnL>
                      <a:noFill/>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1D4D68"/>
                    </a:solidFill>
                  </a:tcPr>
                </a:tc>
                <a:tc>
                  <a:txBody>
                    <a:bodyPr/>
                    <a:lstStyle/>
                    <a:p>
                      <a:pPr marL="142875" indent="-142875" algn="l">
                        <a:lnSpc>
                          <a:spcPct val="115000"/>
                        </a:lnSpc>
                        <a:buFont typeface="Arial" panose="020B0604020202020204" pitchFamily="34" charset="0"/>
                        <a:buChar char="•"/>
                      </a:pPr>
                      <a:r>
                        <a:rPr lang="en-US" sz="900" b="1" u="sng">
                          <a:solidFill>
                            <a:srgbClr val="000000"/>
                          </a:solidFill>
                          <a:latin typeface="+mn-lt"/>
                          <a:ea typeface="Arial"/>
                          <a:cs typeface="Arial"/>
                        </a:rPr>
                        <a:t>DDG-51:</a:t>
                      </a:r>
                      <a:r>
                        <a:rPr lang="en-US" sz="900">
                          <a:solidFill>
                            <a:srgbClr val="000000"/>
                          </a:solidFill>
                          <a:latin typeface="+mn-lt"/>
                          <a:ea typeface="Arial"/>
                          <a:cs typeface="Arial"/>
                        </a:rPr>
                        <a:t> The P-10 EOQ base is vendor-purchased material, so Primes retain none — $0 removed; the full $1.0B flows to Outsourced BC.</a:t>
                      </a:r>
                    </a:p>
                    <a:p>
                      <a:pPr marL="142875" indent="-142875" algn="l">
                        <a:lnSpc>
                          <a:spcPct val="115000"/>
                        </a:lnSpc>
                        <a:buFont typeface="Arial" panose="020B0604020202020204" pitchFamily="34" charset="0"/>
                        <a:buChar char="•"/>
                      </a:pPr>
                      <a:r>
                        <a:rPr lang="en-US" sz="900" b="1" u="sng">
                          <a:solidFill>
                            <a:srgbClr val="000000"/>
                          </a:solidFill>
                          <a:latin typeface="+mn-lt"/>
                          <a:ea typeface="Arial"/>
                          <a:cs typeface="Arial"/>
                        </a:rPr>
                        <a:t>Submarines:</a:t>
                      </a:r>
                      <a:r>
                        <a:rPr lang="en-US" sz="900">
                          <a:solidFill>
                            <a:srgbClr val="000000"/>
                          </a:solidFill>
                          <a:latin typeface="+mn-lt"/>
                          <a:ea typeface="Arial"/>
                          <a:cs typeface="Arial"/>
                        </a:rPr>
                        <a:t> No AP/LLTM stream exists, so there is nothing to remove.</a:t>
                      </a:r>
                    </a:p>
                  </a:txBody>
                  <a:tcPr marL="45720" marR="45720" anchor="ctr">
                    <a:lnL>
                      <a:noFill/>
                    </a:lnL>
                    <a:lnR>
                      <a:noFill/>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noFill/>
                  </a:tcPr>
                </a:tc>
              </a:tr>
              <a:tr h="274320">
                <a:tc>
                  <a:txBody>
                    <a:bodyPr/>
                    <a:lstStyle/>
                    <a:p>
                      <a:pPr algn="l">
                        <a:lnSpc>
                          <a:spcPct val="115000"/>
                        </a:lnSpc>
                      </a:pPr>
                      <a:r>
                        <a:rPr lang="en-US" sz="900" b="1">
                          <a:solidFill>
                            <a:srgbClr val="FFFFFF"/>
                          </a:solidFill>
                          <a:latin typeface="Arial"/>
                          <a:ea typeface="Arial"/>
                          <a:cs typeface="Arial"/>
                        </a:rPr>
                        <a:t>Outsourced BC</a:t>
                      </a:r>
                    </a:p>
                  </a:txBody>
                  <a:tcPr marL="45720" marR="45720" anchor="ctr">
                    <a:lnL>
                      <a:noFill/>
                    </a:lnL>
                    <a:lnR>
                      <a:noFill/>
                    </a:lnR>
                    <a:lnT w="6350" cap="flat" cmpd="sng" algn="ctr">
                      <a:solidFill>
                        <a:schemeClr val="bg1"/>
                      </a:solidFill>
                      <a:prstDash val="solid"/>
                      <a:round/>
                      <a:headEnd type="none" w="med" len="med"/>
                      <a:tailEnd type="none" w="med" len="med"/>
                    </a:lnT>
                    <a:lnB>
                      <a:noFill/>
                    </a:lnB>
                    <a:solidFill>
                      <a:srgbClr val="162029"/>
                    </a:solidFill>
                  </a:tcPr>
                </a:tc>
                <a:tc>
                  <a:txBody>
                    <a:bodyPr/>
                    <a:lstStyle/>
                    <a:p>
                      <a:pPr algn="l">
                        <a:lnSpc>
                          <a:spcPct val="100000"/>
                        </a:lnSpc>
                      </a:pPr>
                      <a:r>
                        <a:rPr lang="en-US" sz="900" b="0" i="1">
                          <a:solidFill>
                            <a:srgbClr val="000000"/>
                          </a:solidFill>
                          <a:latin typeface="Arial"/>
                          <a:ea typeface="Arial"/>
                          <a:cs typeface="Arial"/>
                        </a:rPr>
                        <a:t>Calculation</a:t>
                      </a:r>
                    </a:p>
                  </a:txBody>
                  <a:tcPr marL="45720" marR="45720" anchor="ctr">
                    <a:lnL>
                      <a:noFill/>
                    </a:lnL>
                    <a:lnR>
                      <a:noFill/>
                    </a:lnR>
                    <a:lnT w="6350" cap="flat" cmpd="sng" algn="ctr">
                      <a:solidFill>
                        <a:srgbClr val="808080"/>
                      </a:solidFill>
                      <a:prstDash val="solid"/>
                      <a:round/>
                      <a:headEnd type="none" w="med" len="med"/>
                      <a:tailEnd type="none" w="med" len="med"/>
                    </a:lnT>
                    <a:lnB>
                      <a:noFill/>
                    </a:lnB>
                    <a:noFill/>
                  </a:tcPr>
                </a:tc>
              </a:tr>
            </a:tbl>
          </a:graphicData>
        </a:graphic>
      </p:graphicFrame>
      <p:graphicFrame>
        <p:nvGraphicFramePr>
          <p:cNvPr id="314" name="StepRationaleLedger"/>
          <p:cNvGraphicFramePr>
            <a:graphicFrameLocks noGrp="1"/>
          </p:cNvGraphicFramePr>
          <p:nvPr/>
        </p:nvGraphicFramePr>
        <p:xfrm>
          <a:off x="453079" y="1266825"/>
          <a:ext cx="6712362" cy="235712"/>
        </p:xfrm>
        <a:graphic>
          <a:graphicData uri="http://schemas.openxmlformats.org/drawingml/2006/table">
            <a:tbl>
              <a:tblPr firstRow="1" firstCol="1">
                <a:tableStyleId>{2D5ABB26-0587-4C30-8999-92F81FD0307C}</a:tableStyleId>
              </a:tblPr>
              <a:tblGrid>
                <a:gridCol w="6712362"/>
              </a:tblGrid>
              <a:tr h="0">
                <a:tc>
                  <a:txBody>
                    <a:bodyPr/>
                    <a:lstStyle/>
                    <a:p>
                      <a:pPr marL="0" marR="0" lvl="0" indent="0" algn="l" defTabSz="914400" rtl="0" eaLnBrk="1" fontAlgn="auto" latinLnBrk="0" hangingPunct="1">
                        <a:lnSpc>
                          <a:spcPct val="115000"/>
                        </a:lnSpc>
                        <a:spcBef>
                          <a:spcPts val="0"/>
                        </a:spcBef>
                        <a:spcAft>
                          <a:spcPts val="0"/>
                        </a:spcAft>
                        <a:buClrTx/>
                        <a:buSzTx/>
                        <a:buFontTx/>
                        <a:buNone/>
                        <a:tabLst/>
                        <a:defRPr/>
                      </a:pPr>
                      <a:r>
                        <a:rPr kumimoji="0" lang="en-US" sz="900" b="1" i="0" u="none" strike="noStrike" kern="1200" cap="none" spc="0" normalizeH="0" baseline="0" noProof="0">
                          <a:ln>
                            <a:noFill/>
                          </a:ln>
                          <a:solidFill>
                            <a:srgbClr val="000000"/>
                          </a:solidFill>
                          <a:effectLst/>
                          <a:uLnTx/>
                          <a:uFillTx/>
                          <a:latin typeface="Arial"/>
                          <a:ea typeface="Arial"/>
                          <a:cs typeface="Arial"/>
                        </a:rPr>
                        <a:t>Walk to Outsourced Basic Construction Spend ($B, cumulative FY22-FY27, FY26 $)</a:t>
                      </a:r>
                    </a:p>
                  </a:txBody>
                  <a:tcPr marL="45720" marR="45720" anchor="ctr">
                    <a:lnL>
                      <a:noFill/>
                    </a:lnL>
                    <a:lnR>
                      <a:noFill/>
                    </a:lnR>
                    <a:lnT>
                      <a:noFill/>
                    </a:lnT>
                    <a:lnB w="12700" cap="flat" cmpd="sng" algn="ctr">
                      <a:solidFill>
                        <a:srgbClr val="000000"/>
                      </a:solidFill>
                      <a:prstDash val="solid"/>
                      <a:round/>
                      <a:headEnd type="none" w="med" len="med"/>
                      <a:tailEnd type="none" w="med" len="med"/>
                    </a:lnB>
                    <a:noFill/>
                  </a:tcPr>
                </a:tc>
              </a:tr>
            </a:tbl>
          </a:graphicData>
        </a:graphic>
      </p:graphicFrame>
      <p:graphicFrame>
        <p:nvGraphicFramePr>
          <p:cNvPr id="371" name="Chart 70"/>
          <p:cNvGraphicFramePr/>
          <p:nvPr/>
        </p:nvGraphicFramePr>
        <p:xfrm>
          <a:off x="4214813" y="1809750"/>
          <a:ext cx="2746375" cy="43307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378" name="Chart 77"/>
          <p:cNvGraphicFramePr/>
          <p:nvPr/>
        </p:nvGraphicFramePr>
        <p:xfrm>
          <a:off x="1422400" y="1811338"/>
          <a:ext cx="2746375" cy="4330700"/>
        </p:xfrm>
        <a:graphic>
          <a:graphicData uri="http://schemas.openxmlformats.org/drawingml/2006/chart">
            <c:chart xmlns:c="http://schemas.openxmlformats.org/drawingml/2006/chart" xmlns:r="http://schemas.openxmlformats.org/officeDocument/2006/relationships" r:id="rId3"/>
          </a:graphicData>
        </a:graphic>
      </p:graphicFrame>
      <p:cxnSp>
        <p:nvCxnSpPr>
          <p:cNvPr id="317" name="Straight Connector 16"/>
          <p:cNvCxnSpPr/>
          <p:nvPr/>
        </p:nvCxnSpPr>
        <p:spPr bwMode="auto">
          <a:xfrm>
            <a:off x="6878638" y="2465388"/>
            <a:ext cx="0" cy="246063"/>
          </a:xfrm>
          <a:prstGeom prst="line">
            <a:avLst/>
          </a:prstGeom>
          <a:ln w="3175" cap="flat" cmpd="sng" algn="ctr">
            <a:solidFill>
              <a:schemeClr val="tx1"/>
            </a:solidFill>
            <a:prstDash val="lgDash"/>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325" name="Straight Connector 24"/>
          <p:cNvCxnSpPr/>
          <p:nvPr/>
        </p:nvCxnSpPr>
        <p:spPr bwMode="auto">
          <a:xfrm>
            <a:off x="6330950" y="3019425"/>
            <a:ext cx="0" cy="246063"/>
          </a:xfrm>
          <a:prstGeom prst="line">
            <a:avLst/>
          </a:prstGeom>
          <a:ln w="3175" cap="flat" cmpd="sng" algn="ctr">
            <a:solidFill>
              <a:schemeClr val="tx1"/>
            </a:solidFill>
            <a:prstDash val="lgDash"/>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326" name="Straight Connector 25"/>
          <p:cNvCxnSpPr/>
          <p:nvPr/>
        </p:nvCxnSpPr>
        <p:spPr bwMode="auto">
          <a:xfrm>
            <a:off x="6030913" y="3573463"/>
            <a:ext cx="0" cy="246063"/>
          </a:xfrm>
          <a:prstGeom prst="line">
            <a:avLst/>
          </a:prstGeom>
          <a:ln w="3175" cap="flat" cmpd="sng" algn="ctr">
            <a:solidFill>
              <a:schemeClr val="tx1"/>
            </a:solidFill>
            <a:prstDash val="lgDash"/>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341" name="Straight Connector 40"/>
          <p:cNvCxnSpPr/>
          <p:nvPr/>
        </p:nvCxnSpPr>
        <p:spPr bwMode="auto">
          <a:xfrm>
            <a:off x="6030913" y="4129088"/>
            <a:ext cx="0" cy="246063"/>
          </a:xfrm>
          <a:prstGeom prst="line">
            <a:avLst/>
          </a:prstGeom>
          <a:ln w="3175" cap="flat" cmpd="sng" algn="ctr">
            <a:solidFill>
              <a:schemeClr val="tx1"/>
            </a:solidFill>
            <a:prstDash val="lgDash"/>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343" name="Straight Connector 42"/>
          <p:cNvCxnSpPr/>
          <p:nvPr/>
        </p:nvCxnSpPr>
        <p:spPr bwMode="auto">
          <a:xfrm>
            <a:off x="4816475" y="4683125"/>
            <a:ext cx="0" cy="246063"/>
          </a:xfrm>
          <a:prstGeom prst="line">
            <a:avLst/>
          </a:prstGeom>
          <a:ln w="3175" cap="flat" cmpd="sng" algn="ctr">
            <a:solidFill>
              <a:schemeClr val="tx1"/>
            </a:solidFill>
            <a:prstDash val="lgDash"/>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344" name="Straight Connector 43"/>
          <p:cNvCxnSpPr/>
          <p:nvPr/>
        </p:nvCxnSpPr>
        <p:spPr bwMode="auto">
          <a:xfrm>
            <a:off x="4816475" y="5237163"/>
            <a:ext cx="0" cy="246063"/>
          </a:xfrm>
          <a:prstGeom prst="line">
            <a:avLst/>
          </a:prstGeom>
          <a:ln w="3175" cap="flat" cmpd="sng" algn="ctr">
            <a:solidFill>
              <a:schemeClr val="tx1"/>
            </a:solidFill>
            <a:prstDash val="lgDash"/>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sp>
        <p:nvSpPr>
          <p:cNvPr id="345" name="Rectangle 44"/>
          <p:cNvSpPr/>
          <p:nvPr/>
        </p:nvSpPr>
        <p:spPr bwMode="auto">
          <a:xfrm>
            <a:off x="4813300" y="4929188"/>
            <a:ext cx="6350" cy="307975"/>
          </a:xfrm>
          <a:prstGeom prst="rect">
            <a:avLst/>
          </a:prstGeom>
          <a:solidFill>
            <a:schemeClr val="accent1"/>
          </a:solidFill>
          <a:ln w="19050" cap="flat" cmpd="sng" algn="ctr">
            <a:noFill/>
            <a:prstDash val="solid"/>
            <a:miter lim="800000"/>
            <a:headEnd type="none" w="med" len="med"/>
            <a:tailEnd type="none" w="med" len="me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28" name="Straight Connector 27"/>
          <p:cNvCxnSpPr/>
          <p:nvPr/>
        </p:nvCxnSpPr>
        <p:spPr bwMode="auto">
          <a:xfrm>
            <a:off x="4086225" y="2466975"/>
            <a:ext cx="0" cy="246063"/>
          </a:xfrm>
          <a:prstGeom prst="line">
            <a:avLst/>
          </a:prstGeom>
          <a:ln w="3175" cap="flat" cmpd="sng" algn="ctr">
            <a:solidFill>
              <a:schemeClr val="tx1"/>
            </a:solidFill>
            <a:prstDash val="lgDash"/>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329" name="Straight Connector 28"/>
          <p:cNvCxnSpPr/>
          <p:nvPr/>
        </p:nvCxnSpPr>
        <p:spPr bwMode="auto">
          <a:xfrm>
            <a:off x="3209925" y="3021013"/>
            <a:ext cx="0" cy="246063"/>
          </a:xfrm>
          <a:prstGeom prst="line">
            <a:avLst/>
          </a:prstGeom>
          <a:ln w="3175" cap="flat" cmpd="sng" algn="ctr">
            <a:solidFill>
              <a:schemeClr val="tx1"/>
            </a:solidFill>
            <a:prstDash val="lgDash"/>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337" name="Straight Connector 36"/>
          <p:cNvCxnSpPr/>
          <p:nvPr/>
        </p:nvCxnSpPr>
        <p:spPr bwMode="auto">
          <a:xfrm>
            <a:off x="3054350" y="3575050"/>
            <a:ext cx="0" cy="246063"/>
          </a:xfrm>
          <a:prstGeom prst="line">
            <a:avLst/>
          </a:prstGeom>
          <a:ln w="3175" cap="flat" cmpd="sng" algn="ctr">
            <a:solidFill>
              <a:schemeClr val="tx1"/>
            </a:solidFill>
            <a:prstDash val="lgDash"/>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338" name="Straight Connector 37"/>
          <p:cNvCxnSpPr/>
          <p:nvPr/>
        </p:nvCxnSpPr>
        <p:spPr bwMode="auto">
          <a:xfrm>
            <a:off x="3054350" y="4130675"/>
            <a:ext cx="0" cy="246063"/>
          </a:xfrm>
          <a:prstGeom prst="line">
            <a:avLst/>
          </a:prstGeom>
          <a:ln w="3175" cap="flat" cmpd="sng" algn="ctr">
            <a:solidFill>
              <a:schemeClr val="tx1"/>
            </a:solidFill>
            <a:prstDash val="lgDash"/>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339" name="Straight Connector 38"/>
          <p:cNvCxnSpPr/>
          <p:nvPr/>
        </p:nvCxnSpPr>
        <p:spPr bwMode="auto">
          <a:xfrm>
            <a:off x="1944688" y="4684713"/>
            <a:ext cx="0" cy="246063"/>
          </a:xfrm>
          <a:prstGeom prst="line">
            <a:avLst/>
          </a:prstGeom>
          <a:ln w="3175" cap="flat" cmpd="sng" algn="ctr">
            <a:solidFill>
              <a:schemeClr val="tx1"/>
            </a:solidFill>
            <a:prstDash val="lgDash"/>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340" name="Straight Connector 39"/>
          <p:cNvCxnSpPr/>
          <p:nvPr/>
        </p:nvCxnSpPr>
        <p:spPr bwMode="auto">
          <a:xfrm>
            <a:off x="1944688" y="5238750"/>
            <a:ext cx="0" cy="246063"/>
          </a:xfrm>
          <a:prstGeom prst="line">
            <a:avLst/>
          </a:prstGeom>
          <a:ln w="3175" cap="flat" cmpd="sng" algn="ctr">
            <a:solidFill>
              <a:schemeClr val="tx1"/>
            </a:solidFill>
            <a:prstDash val="lgDash"/>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sp>
        <p:nvSpPr>
          <p:cNvPr id="349" name="Rectangle 48"/>
          <p:cNvSpPr/>
          <p:nvPr/>
        </p:nvSpPr>
        <p:spPr bwMode="auto">
          <a:xfrm>
            <a:off x="1941513" y="4930775"/>
            <a:ext cx="6350" cy="307975"/>
          </a:xfrm>
          <a:prstGeom prst="rect">
            <a:avLst/>
          </a:prstGeom>
          <a:solidFill>
            <a:schemeClr val="accent2"/>
          </a:solidFill>
          <a:ln w="19050" cap="flat" cmpd="sng" algn="ctr">
            <a:noFill/>
            <a:prstDash val="solid"/>
            <a:miter lim="800000"/>
            <a:headEnd type="none" w="med" len="med"/>
            <a:tailEnd type="none" w="med" len="me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6" name="Text Placeholder 25"/>
          <p:cNvSpPr>
            <a:spLocks/>
          </p:cNvSpPr>
          <p:nvPr/>
        </p:nvSpPr>
        <p:spPr bwMode="gray">
          <a:xfrm>
            <a:off x="3997325" y="2236788"/>
            <a:ext cx="104775" cy="152400"/>
          </a:xfrm>
          <a:prstGeom prst="rect">
            <a:avLst/>
          </a:prstGeom>
          <a:solidFill>
            <a:schemeClr val="bg1"/>
          </a:solidFill>
          <a:ln>
            <a:noFill/>
          </a:ln>
          <a:effectLst/>
        </p:spPr>
        <p:txBody>
          <a:bodyPr vert="horz" wrap="none" lIns="17463" tIns="0" rIns="17463" bIns="0" rtlCol="0" anchor="ctr">
            <a:noAutofit/>
          </a:bodyPr>
          <a:p>
            <a:pPr marL="0" lvl="0" indent="0" algn="ctr">
              <a:spcBef>
                <a:spcPct val="0"/>
              </a:spcBef>
              <a:spcAft>
                <a:spcPct val="0"/>
              </a:spcAft>
              <a:buNone/>
            </a:pPr>
            <a:r>
              <a:rPr lang="en-US" altLang="en-US" sz="1000" smtClean="0">
                <a:effectLst/>
              </a:rPr>
              <a:t>1</a:t>
            </a:r>
            <a:endParaRPr lang="en-US" sz="1000"/>
          </a:p>
        </p:txBody>
      </p:sp>
      <p:sp>
        <p:nvSpPr>
          <p:cNvPr id="302" name="Breadcrumb"/>
          <p:cNvSpPr>
            <a:spLocks noGrp="1"/>
          </p:cNvSpPr>
          <p:nvPr>
            <p:ph type="body" sz="quarter" idx="10"/>
          </p:nvPr>
        </p:nvSpPr>
        <p:spPr>
          <a:xfrm>
            <a:off x="453079" y="263452"/>
            <a:ext cx="11282362" cy="153888"/>
          </a:xfrm>
        </p:spPr>
        <p:txBody>
          <a:bodyPr/>
          <a:lstStyle/>
          <a:p>
            <a:r>
              <a:rPr lang="en-US" sz="1000" b="1" kern="1200">
                <a:solidFill>
                  <a:srgbClr val="44505C"/>
                </a:solidFill>
                <a:latin typeface="Arial"/>
                <a:ea typeface="Arial"/>
                <a:cs typeface="Arial"/>
              </a:rPr>
              <a:t>Executive Summary</a:t>
            </a:r>
            <a:r>
              <a:rPr lang="en-US" sz="1000" kern="1200">
                <a:solidFill>
                  <a:srgbClr val="44505C"/>
                </a:solidFill>
                <a:latin typeface="Arial"/>
                <a:ea typeface="Arial"/>
                <a:cs typeface="Arial"/>
              </a:rPr>
              <a:t> / Supplier TAM and SAM</a:t>
            </a:r>
          </a:p>
        </p:txBody>
      </p:sp>
      <p:sp>
        <p:nvSpPr>
          <p:cNvPr id="304" name="PrelimChip"/>
          <p:cNvSpPr txBox="1"/>
          <p:nvPr/>
        </p:nvSpPr>
        <p:spPr>
          <a:xfrm>
            <a:off x="10267829" y="111556"/>
            <a:ext cx="1467612" cy="290000"/>
          </a:xfrm>
          <a:prstGeom prst="rect">
            <a:avLst/>
          </a:prstGeom>
          <a:solidFill>
            <a:srgbClr val="FFFFCC"/>
          </a:solidFill>
          <a:ln w="19050">
            <a:solidFill>
              <a:srgbClr val="000000"/>
            </a:solidFill>
          </a:ln>
        </p:spPr>
        <p:txBody>
          <a:bodyPr wrap="square" lIns="45720" tIns="9144" rIns="45720" bIns="9144" anchor="ctr"/>
          <a:lstStyle/>
          <a:p>
            <a:pPr algn="ctr"/>
            <a:r>
              <a:rPr lang="en-US" sz="1200" b="1" kern="1200">
                <a:solidFill>
                  <a:srgbClr val="000000"/>
                </a:solidFill>
                <a:latin typeface="Arial"/>
                <a:ea typeface="Arial"/>
                <a:cs typeface="Arial"/>
              </a:rPr>
              <a:t>Preliminary</a:t>
            </a:r>
          </a:p>
        </p:txBody>
      </p:sp>
      <p:sp>
        <p:nvSpPr>
          <p:cNvPr id="303" name="Title"/>
          <p:cNvSpPr>
            <a:spLocks noGrp="1"/>
          </p:cNvSpPr>
          <p:nvPr>
            <p:ph type="title"/>
          </p:nvPr>
        </p:nvSpPr>
        <p:spPr>
          <a:xfrm>
            <a:off x="453079" y="554500"/>
            <a:ext cx="11282362" cy="640080"/>
          </a:xfrm>
        </p:spPr>
        <p:txBody>
          <a:bodyPr vert="horz" rIns="0"/>
          <a:lstStyle/>
          <a:p>
            <a:r>
              <a:rPr lang="en-US" sz="2000" kern="1200">
                <a:solidFill>
                  <a:srgbClr val="162029"/>
                </a:solidFill>
                <a:latin typeface="Arial"/>
                <a:ea typeface="Arial"/>
                <a:cs typeface="Arial"/>
              </a:rPr>
              <a:t>Outsourced Basic Construction | </a:t>
            </a:r>
            <a:r>
              <a:rPr lang="en-US">
                <a:solidFill>
                  <a:srgbClr val="162029"/>
                </a:solidFill>
                <a:ea typeface="Arial"/>
                <a:cs typeface="Arial"/>
              </a:rPr>
              <a:t>Across FY22-FY27, total ship spend narrows to an annualized ~$1.1B of outsourced work for DDG-51 and ~$3.0B for submarines.</a:t>
            </a:r>
            <a:endParaRPr lang="en-US" sz="2000" kern="1200">
              <a:solidFill>
                <a:srgbClr val="162029"/>
              </a:solidFill>
              <a:latin typeface="Arial"/>
              <a:ea typeface="Arial"/>
              <a:cs typeface="Arial"/>
            </a:endParaRPr>
          </a:p>
        </p:txBody>
      </p:sp>
      <p:sp>
        <p:nvSpPr>
          <p:cNvPr id="320" name="ProgramChip"/>
          <p:cNvSpPr txBox="1"/>
          <p:nvPr/>
        </p:nvSpPr>
        <p:spPr>
          <a:xfrm>
            <a:off x="2046799" y="1587500"/>
            <a:ext cx="1900000" cy="198347"/>
          </a:xfrm>
          <a:prstGeom prst="rect">
            <a:avLst/>
          </a:prstGeom>
          <a:noFill/>
          <a:ln w="12700">
            <a:solidFill>
              <a:srgbClr val="000000"/>
            </a:solidFill>
          </a:ln>
        </p:spPr>
        <p:txBody>
          <a:bodyPr wrap="square" lIns="0" tIns="0" rIns="0" bIns="0" anchor="ctr"/>
          <a:lstStyle/>
          <a:p>
            <a:pPr algn="ctr">
              <a:lnSpc>
                <a:spcPct val="115000"/>
              </a:lnSpc>
              <a:buNone/>
            </a:pPr>
            <a:r>
              <a:rPr lang="en-US" sz="900" b="1" i="1">
                <a:solidFill>
                  <a:srgbClr val="000000"/>
                </a:solidFill>
                <a:latin typeface="Arial"/>
                <a:ea typeface="Arial"/>
                <a:cs typeface="Arial"/>
              </a:rPr>
              <a:t>DDG-51</a:t>
            </a:r>
          </a:p>
        </p:txBody>
      </p:sp>
      <p:sp>
        <p:nvSpPr>
          <p:cNvPr id="321" name="ProgramChip"/>
          <p:cNvSpPr txBox="1"/>
          <p:nvPr/>
        </p:nvSpPr>
        <p:spPr>
          <a:xfrm>
            <a:off x="4952350" y="1587500"/>
            <a:ext cx="1900000" cy="198347"/>
          </a:xfrm>
          <a:prstGeom prst="rect">
            <a:avLst/>
          </a:prstGeom>
          <a:noFill/>
          <a:ln w="12700">
            <a:solidFill>
              <a:srgbClr val="000000"/>
            </a:solidFill>
          </a:ln>
        </p:spPr>
        <p:txBody>
          <a:bodyPr wrap="square" lIns="0" tIns="0" rIns="0" bIns="0" anchor="ctr"/>
          <a:lstStyle/>
          <a:p>
            <a:pPr algn="ctr">
              <a:lnSpc>
                <a:spcPct val="115000"/>
              </a:lnSpc>
              <a:buNone/>
            </a:pPr>
            <a:r>
              <a:rPr lang="en-US" sz="1000" b="1" i="1">
                <a:solidFill>
                  <a:srgbClr val="000000"/>
                </a:solidFill>
                <a:latin typeface="Arial"/>
                <a:ea typeface="Arial"/>
                <a:cs typeface="Arial"/>
              </a:rPr>
              <a:t>Virginia / Columbia-class</a:t>
            </a:r>
          </a:p>
        </p:txBody>
      </p:sp>
      <p:sp>
        <p:nvSpPr>
          <p:cNvPr id="322" name="StreamCaption"/>
          <p:cNvSpPr txBox="1"/>
          <p:nvPr/>
        </p:nvSpPr>
        <p:spPr>
          <a:xfrm>
            <a:off x="2571826" y="1836738"/>
            <a:ext cx="800000" cy="170000"/>
          </a:xfrm>
          <a:prstGeom prst="rect">
            <a:avLst/>
          </a:prstGeom>
          <a:noFill/>
          <a:ln>
            <a:noFill/>
          </a:ln>
        </p:spPr>
        <p:txBody>
          <a:bodyPr wrap="square" lIns="0" tIns="0" rIns="0" bIns="0" anchor="b"/>
          <a:lstStyle/>
          <a:p>
            <a:pPr algn="ctr">
              <a:lnSpc>
                <a:spcPct val="115000"/>
              </a:lnSpc>
              <a:buNone/>
            </a:pPr>
            <a:r>
              <a:rPr lang="en-US" sz="850" i="1">
                <a:solidFill>
                  <a:srgbClr val="000000"/>
                </a:solidFill>
                <a:latin typeface="Arial"/>
                <a:ea typeface="Arial"/>
                <a:cs typeface="Arial"/>
              </a:rPr>
              <a:t>In-Year</a:t>
            </a:r>
          </a:p>
        </p:txBody>
      </p:sp>
      <p:sp>
        <p:nvSpPr>
          <p:cNvPr id="324" name="StreamCaption"/>
          <p:cNvSpPr txBox="1"/>
          <p:nvPr/>
        </p:nvSpPr>
        <p:spPr>
          <a:xfrm>
            <a:off x="5439385" y="1836738"/>
            <a:ext cx="800000" cy="170000"/>
          </a:xfrm>
          <a:prstGeom prst="rect">
            <a:avLst/>
          </a:prstGeom>
          <a:noFill/>
          <a:ln>
            <a:noFill/>
          </a:ln>
        </p:spPr>
        <p:txBody>
          <a:bodyPr wrap="square" lIns="0" tIns="0" rIns="0" bIns="0" anchor="b"/>
          <a:lstStyle/>
          <a:p>
            <a:pPr algn="ctr">
              <a:lnSpc>
                <a:spcPct val="115000"/>
              </a:lnSpc>
              <a:buNone/>
            </a:pPr>
            <a:r>
              <a:rPr lang="en-US" sz="850" i="1">
                <a:solidFill>
                  <a:srgbClr val="000000"/>
                </a:solidFill>
                <a:latin typeface="Arial"/>
                <a:ea typeface="Arial"/>
                <a:cs typeface="Arial"/>
              </a:rPr>
              <a:t>In-Year</a:t>
            </a:r>
          </a:p>
        </p:txBody>
      </p:sp>
      <p:sp>
        <p:nvSpPr>
          <p:cNvPr id="305" name="Sources"/>
          <p:cNvSpPr txBox="1"/>
          <p:nvPr/>
        </p:nvSpPr>
        <p:spPr>
          <a:xfrm>
            <a:off x="453079" y="6122985"/>
            <a:ext cx="11282362" cy="316666"/>
          </a:xfrm>
          <a:prstGeom prst="rect">
            <a:avLst/>
          </a:prstGeom>
          <a:noFill/>
          <a:ln>
            <a:noFill/>
          </a:ln>
        </p:spPr>
        <p:txBody>
          <a:bodyPr wrap="square" lIns="91440" tIns="45720" rIns="91440" bIns="45720" anchor="t"/>
          <a:lstStyle/>
          <a:p>
            <a:r>
              <a:rPr lang="en-US" sz="800">
                <a:solidFill>
                  <a:srgbClr val="162029"/>
                </a:solidFill>
                <a:ea typeface="Arial"/>
                <a:cs typeface="Arial"/>
              </a:rPr>
              <a:t>Sources: Navy SCN P-5c / P-40 budget justification, FY22–FY27, and PB27 FYDP outyears (FY28–FY31); FY26, PL 119-21 Sec. 20002; PB27 SCN, Columbia P-10 Strategic Outsourcing narrative; OUSD(C) Green Book Procurement deflators; Navy Shipbuilding Plan; PB27 SCN Exhibit P-10, LI 2122 (AP/LLTM Ship Construction EOQ); DoD contract award announcements (announced place-of-performance)</a:t>
            </a:r>
          </a:p>
        </p:txBody>
      </p:sp>
      <p:sp>
        <p:nvSpPr>
          <p:cNvPr id="306" name="StreamCaption"/>
          <p:cNvSpPr txBox="1"/>
          <p:nvPr/>
        </p:nvSpPr>
        <p:spPr>
          <a:xfrm>
            <a:off x="3520283" y="1836738"/>
            <a:ext cx="800000" cy="170000"/>
          </a:xfrm>
          <a:prstGeom prst="rect">
            <a:avLst/>
          </a:prstGeom>
          <a:noFill/>
          <a:ln>
            <a:noFill/>
          </a:ln>
        </p:spPr>
        <p:txBody>
          <a:bodyPr wrap="square" lIns="0" tIns="0" rIns="0" bIns="0" anchor="b"/>
          <a:lstStyle/>
          <a:p>
            <a:pPr algn="ctr">
              <a:lnSpc>
                <a:spcPct val="115000"/>
              </a:lnSpc>
              <a:buNone/>
            </a:pPr>
            <a:r>
              <a:rPr lang="en-US" sz="850" i="1">
                <a:solidFill>
                  <a:srgbClr val="000000"/>
                </a:solidFill>
                <a:latin typeface="Arial"/>
                <a:ea typeface="Arial"/>
                <a:cs typeface="Arial"/>
              </a:rPr>
              <a:t>AP/LLTM</a:t>
            </a:r>
          </a:p>
        </p:txBody>
      </p:sp>
      <p:sp>
        <p:nvSpPr>
          <p:cNvPr id="307" name="AnnualizedCallout"/>
          <p:cNvSpPr txBox="1"/>
          <p:nvPr/>
        </p:nvSpPr>
        <p:spPr>
          <a:xfrm>
            <a:off x="2992410" y="5224463"/>
            <a:ext cx="1150000" cy="430000"/>
          </a:xfrm>
          <a:prstGeom prst="rect">
            <a:avLst/>
          </a:prstGeom>
          <a:solidFill>
            <a:srgbClr val="FFFFFF"/>
          </a:solidFill>
          <a:ln w="12700">
            <a:solidFill>
              <a:srgbClr val="000000"/>
            </a:solidFill>
          </a:ln>
        </p:spPr>
        <p:txBody>
          <a:bodyPr wrap="square" lIns="0" tIns="0" rIns="0" bIns="0" anchor="ctr"/>
          <a:lstStyle/>
          <a:p>
            <a:pPr algn="ctr">
              <a:lnSpc>
                <a:spcPct val="115000"/>
              </a:lnSpc>
              <a:spcAft>
                <a:spcPts val="20"/>
              </a:spcAft>
              <a:buNone/>
            </a:pPr>
            <a:r>
              <a:rPr lang="en-US" sz="1400" b="1">
                <a:solidFill>
                  <a:srgbClr val="000000"/>
                </a:solidFill>
                <a:latin typeface="Arial"/>
                <a:ea typeface="Arial"/>
                <a:cs typeface="Arial"/>
              </a:rPr>
              <a:t>~$1.1B</a:t>
            </a:r>
          </a:p>
          <a:p>
            <a:pPr algn="ctr">
              <a:lnSpc>
                <a:spcPct val="115000"/>
              </a:lnSpc>
              <a:buNone/>
            </a:pPr>
            <a:r>
              <a:rPr lang="en-US" sz="900" i="1">
                <a:solidFill>
                  <a:srgbClr val="000000"/>
                </a:solidFill>
                <a:latin typeface="Arial"/>
                <a:ea typeface="Arial"/>
                <a:cs typeface="Arial"/>
              </a:rPr>
              <a:t>annualized</a:t>
            </a:r>
          </a:p>
        </p:txBody>
      </p:sp>
      <p:sp>
        <p:nvSpPr>
          <p:cNvPr id="308" name="AnnualizedCallout"/>
          <p:cNvSpPr txBox="1"/>
          <p:nvPr/>
        </p:nvSpPr>
        <p:spPr>
          <a:xfrm>
            <a:off x="6093101" y="5224463"/>
            <a:ext cx="1150000" cy="430000"/>
          </a:xfrm>
          <a:prstGeom prst="rect">
            <a:avLst/>
          </a:prstGeom>
          <a:solidFill>
            <a:srgbClr val="FFFFFF"/>
          </a:solidFill>
          <a:ln w="12700">
            <a:solidFill>
              <a:srgbClr val="000000"/>
            </a:solidFill>
          </a:ln>
        </p:spPr>
        <p:txBody>
          <a:bodyPr wrap="square" lIns="0" tIns="0" rIns="0" bIns="0" anchor="ctr"/>
          <a:lstStyle/>
          <a:p>
            <a:pPr algn="ctr">
              <a:lnSpc>
                <a:spcPct val="115000"/>
              </a:lnSpc>
              <a:spcAft>
                <a:spcPts val="20"/>
              </a:spcAft>
              <a:buNone/>
            </a:pPr>
            <a:r>
              <a:rPr lang="en-US" sz="1400" b="1">
                <a:solidFill>
                  <a:srgbClr val="000000"/>
                </a:solidFill>
                <a:latin typeface="Arial"/>
                <a:ea typeface="Arial"/>
                <a:cs typeface="Arial"/>
              </a:rPr>
              <a:t>~$3.0B</a:t>
            </a:r>
          </a:p>
          <a:p>
            <a:pPr algn="ctr">
              <a:lnSpc>
                <a:spcPct val="115000"/>
              </a:lnSpc>
              <a:buNone/>
            </a:pPr>
            <a:r>
              <a:rPr lang="en-US" sz="900" i="1">
                <a:solidFill>
                  <a:srgbClr val="000000"/>
                </a:solidFill>
                <a:latin typeface="Arial"/>
                <a:ea typeface="Arial"/>
                <a:cs typeface="Arial"/>
              </a:rPr>
              <a:t>annualized</a:t>
            </a:r>
          </a:p>
        </p:txBody>
      </p:sp>
      <p:cxnSp>
        <p:nvCxnSpPr>
          <p:cNvPr id="309" name="Straight Connector 18"/>
          <p:cNvCxnSpPr>
            <a:cxnSpLocks/>
          </p:cNvCxnSpPr>
          <p:nvPr/>
        </p:nvCxnSpPr>
        <p:spPr>
          <a:xfrm flipV="1">
            <a:off x="4191795" y="2040000"/>
            <a:ext cx="0" cy="3845180"/>
          </a:xfrm>
          <a:prstGeom prst="line">
            <a:avLst/>
          </a:prstGeom>
          <a:ln w="6350">
            <a:solidFill>
              <a:srgbClr val="808080"/>
            </a:solidFill>
            <a:prstDash val="dash"/>
          </a:ln>
        </p:spPr>
        <p:style>
          <a:lnRef idx="2">
            <a:schemeClr val="accent1"/>
          </a:lnRef>
          <a:fillRef idx="0">
            <a:schemeClr val="accent1"/>
          </a:fillRef>
          <a:effectRef idx="1">
            <a:schemeClr val="accent1"/>
          </a:effectRef>
          <a:fontRef idx="minor">
            <a:schemeClr val="tx1"/>
          </a:fontRef>
        </p:style>
      </p:cxnSp>
      <p:sp>
        <p:nvSpPr>
          <p:cNvPr id="311" name="StepLabel"/>
          <p:cNvSpPr txBox="1"/>
          <p:nvPr/>
        </p:nvSpPr>
        <p:spPr>
          <a:xfrm>
            <a:off x="453079" y="2197100"/>
            <a:ext cx="1400000" cy="220000"/>
          </a:xfrm>
          <a:prstGeom prst="rect">
            <a:avLst/>
          </a:prstGeom>
          <a:noFill/>
          <a:ln>
            <a:noFill/>
          </a:ln>
        </p:spPr>
        <p:txBody>
          <a:bodyPr wrap="square" lIns="0" tIns="0" rIns="0" bIns="0" anchor="ctr"/>
          <a:lstStyle/>
          <a:p>
            <a:pPr algn="l">
              <a:lnSpc>
                <a:spcPct val="115000"/>
              </a:lnSpc>
              <a:buNone/>
            </a:pPr>
            <a:r>
              <a:rPr lang="en-US" sz="900">
                <a:solidFill>
                  <a:srgbClr val="000000"/>
                </a:solidFill>
                <a:latin typeface="Arial"/>
                <a:ea typeface="Arial"/>
                <a:cs typeface="Arial"/>
              </a:rPr>
              <a:t>Total Ship Spend</a:t>
            </a:r>
          </a:p>
        </p:txBody>
      </p:sp>
      <p:sp>
        <p:nvSpPr>
          <p:cNvPr id="312" name="StepLabel"/>
          <p:cNvSpPr txBox="1"/>
          <p:nvPr/>
        </p:nvSpPr>
        <p:spPr>
          <a:xfrm>
            <a:off x="453079" y="2752725"/>
            <a:ext cx="1400000" cy="220000"/>
          </a:xfrm>
          <a:prstGeom prst="rect">
            <a:avLst/>
          </a:prstGeom>
          <a:noFill/>
          <a:ln>
            <a:noFill/>
          </a:ln>
        </p:spPr>
        <p:txBody>
          <a:bodyPr wrap="square" lIns="0" tIns="0" rIns="0" bIns="0" anchor="ctr"/>
          <a:lstStyle/>
          <a:p>
            <a:pPr algn="l">
              <a:lnSpc>
                <a:spcPct val="115000"/>
              </a:lnSpc>
              <a:buNone/>
            </a:pPr>
            <a:r>
              <a:rPr lang="en-US" sz="900">
                <a:solidFill>
                  <a:srgbClr val="000000"/>
                </a:solidFill>
                <a:latin typeface="Arial"/>
                <a:ea typeface="Arial"/>
                <a:cs typeface="Arial"/>
              </a:rPr>
              <a:t>Less: GFE</a:t>
            </a:r>
          </a:p>
        </p:txBody>
      </p:sp>
      <p:sp>
        <p:nvSpPr>
          <p:cNvPr id="313" name="StepLabel"/>
          <p:cNvSpPr txBox="1"/>
          <p:nvPr/>
        </p:nvSpPr>
        <p:spPr>
          <a:xfrm>
            <a:off x="453079" y="3308350"/>
            <a:ext cx="1400000" cy="220000"/>
          </a:xfrm>
          <a:prstGeom prst="rect">
            <a:avLst/>
          </a:prstGeom>
          <a:noFill/>
          <a:ln>
            <a:noFill/>
          </a:ln>
        </p:spPr>
        <p:txBody>
          <a:bodyPr wrap="square" lIns="0" tIns="0" rIns="0" bIns="0" anchor="ctr"/>
          <a:lstStyle/>
          <a:p>
            <a:pPr algn="l">
              <a:lnSpc>
                <a:spcPct val="115000"/>
              </a:lnSpc>
              <a:buNone/>
            </a:pPr>
            <a:r>
              <a:rPr lang="en-US" sz="900">
                <a:solidFill>
                  <a:srgbClr val="000000"/>
                </a:solidFill>
                <a:latin typeface="Arial"/>
                <a:ea typeface="Arial"/>
                <a:cs typeface="Arial"/>
              </a:rPr>
              <a:t>Less: Other non-BC</a:t>
            </a:r>
          </a:p>
        </p:txBody>
      </p:sp>
      <p:sp>
        <p:nvSpPr>
          <p:cNvPr id="315" name="StepLabel"/>
          <p:cNvSpPr txBox="1"/>
          <p:nvPr/>
        </p:nvSpPr>
        <p:spPr>
          <a:xfrm>
            <a:off x="453079" y="3863975"/>
            <a:ext cx="1400000" cy="220000"/>
          </a:xfrm>
          <a:prstGeom prst="rect">
            <a:avLst/>
          </a:prstGeom>
          <a:noFill/>
          <a:ln>
            <a:noFill/>
          </a:ln>
        </p:spPr>
        <p:txBody>
          <a:bodyPr wrap="square" lIns="0" tIns="0" rIns="0" bIns="0" anchor="ctr"/>
          <a:lstStyle/>
          <a:p>
            <a:pPr algn="l">
              <a:lnSpc>
                <a:spcPct val="115000"/>
              </a:lnSpc>
              <a:buNone/>
            </a:pPr>
            <a:r>
              <a:rPr lang="en-US" sz="900">
                <a:solidFill>
                  <a:srgbClr val="000000"/>
                </a:solidFill>
                <a:latin typeface="Arial"/>
                <a:ea typeface="Arial"/>
                <a:cs typeface="Arial"/>
              </a:rPr>
              <a:t>Basic Construction</a:t>
            </a:r>
          </a:p>
        </p:txBody>
      </p:sp>
      <p:sp>
        <p:nvSpPr>
          <p:cNvPr id="318" name="StepLabel"/>
          <p:cNvSpPr txBox="1"/>
          <p:nvPr/>
        </p:nvSpPr>
        <p:spPr>
          <a:xfrm>
            <a:off x="453079" y="4421188"/>
            <a:ext cx="1400000" cy="220000"/>
          </a:xfrm>
          <a:prstGeom prst="rect">
            <a:avLst/>
          </a:prstGeom>
          <a:noFill/>
          <a:ln>
            <a:noFill/>
          </a:ln>
        </p:spPr>
        <p:txBody>
          <a:bodyPr wrap="square" lIns="0" tIns="0" rIns="0" bIns="0" anchor="ctr"/>
          <a:lstStyle/>
          <a:p>
            <a:pPr algn="l">
              <a:lnSpc>
                <a:spcPct val="115000"/>
              </a:lnSpc>
              <a:buNone/>
            </a:pPr>
            <a:r>
              <a:rPr lang="en-US" sz="900">
                <a:solidFill>
                  <a:srgbClr val="000000"/>
                </a:solidFill>
                <a:latin typeface="Arial"/>
                <a:ea typeface="Arial"/>
                <a:cs typeface="Arial"/>
              </a:rPr>
              <a:t>Less: Prime BC</a:t>
            </a:r>
          </a:p>
        </p:txBody>
      </p:sp>
      <p:sp>
        <p:nvSpPr>
          <p:cNvPr id="327" name="StepLabel"/>
          <p:cNvSpPr txBox="1"/>
          <p:nvPr/>
        </p:nvSpPr>
        <p:spPr>
          <a:xfrm>
            <a:off x="453079" y="4976813"/>
            <a:ext cx="1400000" cy="220000"/>
          </a:xfrm>
          <a:prstGeom prst="rect">
            <a:avLst/>
          </a:prstGeom>
          <a:noFill/>
          <a:ln>
            <a:noFill/>
          </a:ln>
        </p:spPr>
        <p:txBody>
          <a:bodyPr wrap="square" lIns="0" tIns="0" rIns="0" bIns="0" anchor="ctr"/>
          <a:lstStyle/>
          <a:p>
            <a:pPr algn="l">
              <a:lnSpc>
                <a:spcPct val="115000"/>
              </a:lnSpc>
              <a:buNone/>
            </a:pPr>
            <a:r>
              <a:rPr lang="en-US" sz="900">
                <a:solidFill>
                  <a:srgbClr val="000000"/>
                </a:solidFill>
                <a:latin typeface="Arial"/>
                <a:ea typeface="Arial"/>
                <a:cs typeface="Arial"/>
              </a:rPr>
              <a:t>Less: Prime</a:t>
            </a:r>
            <a:br>
              <a:rPr lang="en-US" sz="900">
                <a:solidFill>
                  <a:srgbClr val="000000"/>
                </a:solidFill>
                <a:latin typeface="Arial"/>
                <a:ea typeface="Arial"/>
                <a:cs typeface="Arial"/>
              </a:rPr>
            </a:br>
            <a:r>
              <a:rPr lang="en-US" sz="900">
                <a:solidFill>
                  <a:srgbClr val="000000"/>
                </a:solidFill>
                <a:latin typeface="Arial"/>
                <a:ea typeface="Arial"/>
                <a:cs typeface="Arial"/>
              </a:rPr>
              <a:t>AP/LLTM</a:t>
            </a:r>
          </a:p>
        </p:txBody>
      </p:sp>
      <p:sp>
        <p:nvSpPr>
          <p:cNvPr id="342" name="StepLabel"/>
          <p:cNvSpPr txBox="1"/>
          <p:nvPr/>
        </p:nvSpPr>
        <p:spPr>
          <a:xfrm>
            <a:off x="453079" y="5532438"/>
            <a:ext cx="1400000" cy="220000"/>
          </a:xfrm>
          <a:prstGeom prst="rect">
            <a:avLst/>
          </a:prstGeom>
          <a:noFill/>
          <a:ln>
            <a:noFill/>
          </a:ln>
        </p:spPr>
        <p:txBody>
          <a:bodyPr wrap="square" lIns="0" tIns="0" rIns="0" bIns="0" anchor="ctr"/>
          <a:lstStyle/>
          <a:p>
            <a:pPr algn="l">
              <a:lnSpc>
                <a:spcPct val="115000"/>
              </a:lnSpc>
              <a:buNone/>
            </a:pPr>
            <a:r>
              <a:rPr lang="en-US" sz="900">
                <a:solidFill>
                  <a:srgbClr val="000000"/>
                </a:solidFill>
                <a:latin typeface="Arial"/>
                <a:ea typeface="Arial"/>
                <a:cs typeface="Arial"/>
              </a:rPr>
              <a:t>Outsourced BC</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06" name="ClassifierLedger"/>
          <p:cNvGraphicFramePr>
            <a:graphicFrameLocks noGrp="1"/>
          </p:cNvGraphicFramePr>
          <p:nvPr/>
        </p:nvGraphicFramePr>
        <p:xfrm>
          <a:off x="7040880" y="1544832"/>
          <a:ext cx="4694238" cy="3416304"/>
        </p:xfrm>
        <a:graphic>
          <a:graphicData uri="http://schemas.openxmlformats.org/drawingml/2006/table">
            <a:tbl>
              <a:tblPr firstRow="1" firstCol="1">
                <a:tableStyleId>{2D5ABB26-0587-4C30-8999-92F81FD0307C}</a:tableStyleId>
              </a:tblPr>
              <a:tblGrid>
                <a:gridCol w="914400"/>
                <a:gridCol w="3779838"/>
              </a:tblGrid>
              <a:tr h="229088">
                <a:tc>
                  <a:txBody>
                    <a:bodyPr/>
                    <a:lstStyle/>
                    <a:p>
                      <a:pPr algn="l">
                        <a:lnSpc>
                          <a:spcPct val="115000"/>
                        </a:lnSpc>
                      </a:pPr>
                      <a:r>
                        <a:rPr lang="en-US" sz="1000" b="1">
                          <a:solidFill>
                            <a:srgbClr val="000000"/>
                          </a:solidFill>
                          <a:latin typeface="Arial"/>
                          <a:ea typeface="Arial"/>
                          <a:cs typeface="Arial"/>
                        </a:rPr>
                        <a:t>Stage</a:t>
                      </a:r>
                    </a:p>
                  </a:txBody>
                  <a:tcPr marL="45720" marR="45720" anchor="ctr">
                    <a:lnL>
                      <a:noFill/>
                    </a:lnL>
                    <a:lnR>
                      <a:noFill/>
                    </a:lnR>
                    <a:lnT>
                      <a:noFill/>
                    </a:lnT>
                    <a:lnB w="19050" cap="flat" cmpd="sng" algn="ctr">
                      <a:solidFill>
                        <a:srgbClr val="000000"/>
                      </a:solidFill>
                      <a:prstDash val="solid"/>
                    </a:lnB>
                    <a:noFill/>
                  </a:tcPr>
                </a:tc>
                <a:tc>
                  <a:txBody>
                    <a:bodyPr/>
                    <a:lstStyle/>
                    <a:p>
                      <a:pPr algn="l">
                        <a:lnSpc>
                          <a:spcPct val="115000"/>
                        </a:lnSpc>
                      </a:pPr>
                      <a:r>
                        <a:rPr lang="en-US" sz="1000" b="1">
                          <a:solidFill>
                            <a:srgbClr val="000000"/>
                          </a:solidFill>
                          <a:latin typeface="Arial"/>
                          <a:ea typeface="Arial"/>
                          <a:cs typeface="Arial"/>
                        </a:rPr>
                        <a:t>Rule applied</a:t>
                      </a:r>
                    </a:p>
                  </a:txBody>
                  <a:tcPr marL="45720" marR="45720" anchor="ctr">
                    <a:lnL>
                      <a:noFill/>
                    </a:lnL>
                    <a:lnR>
                      <a:noFill/>
                    </a:lnR>
                    <a:lnT>
                      <a:noFill/>
                    </a:lnT>
                    <a:lnB w="19050" cap="flat" cmpd="sng" algn="ctr">
                      <a:solidFill>
                        <a:srgbClr val="000000"/>
                      </a:solidFill>
                      <a:prstDash val="solid"/>
                    </a:lnB>
                    <a:noFill/>
                  </a:tcPr>
                </a:tc>
              </a:tr>
              <a:tr h="356625">
                <a:tc>
                  <a:txBody>
                    <a:bodyPr/>
                    <a:lstStyle/>
                    <a:p>
                      <a:pPr algn="l">
                        <a:lnSpc>
                          <a:spcPct val="115000"/>
                        </a:lnSpc>
                      </a:pPr>
                      <a:r>
                        <a:rPr lang="en-US" sz="1000" b="1">
                          <a:solidFill>
                            <a:srgbClr val="000000"/>
                          </a:solidFill>
                          <a:latin typeface="Arial"/>
                          <a:ea typeface="Arial"/>
                          <a:cs typeface="Arial"/>
                        </a:rPr>
                        <a:t>1. Award pull</a:t>
                      </a:r>
                    </a:p>
                  </a:txBody>
                  <a:tcPr marL="45720" marR="45720" anchor="ctr">
                    <a:lnL>
                      <a:noFill/>
                    </a:lnL>
                    <a:lnR>
                      <a:noFill/>
                    </a:lnR>
                    <a:lnT w="19050" cap="flat" cmpd="sng" algn="ctr">
                      <a:solidFill>
                        <a:srgbClr val="000000"/>
                      </a:solidFill>
                      <a:prstDash val="solid"/>
                      <a:round/>
                      <a:headEnd type="none" w="med" len="med"/>
                      <a:tailEnd type="none" w="med" len="med"/>
                    </a:lnT>
                    <a:lnB w="6350" cap="flat" cmpd="sng" algn="ctr">
                      <a:solidFill>
                        <a:srgbClr val="808080"/>
                      </a:solidFill>
                      <a:prstDash val="solid"/>
                      <a:round/>
                      <a:headEnd type="none" w="med" len="med"/>
                      <a:tailEnd type="none" w="med" len="med"/>
                    </a:lnB>
                    <a:noFill/>
                  </a:tcPr>
                </a:tc>
                <a:tc>
                  <a:txBody>
                    <a:bodyPr/>
                    <a:lstStyle/>
                    <a:p>
                      <a:pPr algn="l">
                        <a:lnSpc>
                          <a:spcPct val="115000"/>
                        </a:lnSpc>
                      </a:pPr>
                      <a:r>
                        <a:rPr lang="en-US" sz="1000" b="0">
                          <a:solidFill>
                            <a:srgbClr val="000000"/>
                          </a:solidFill>
                          <a:latin typeface="Arial"/>
                          <a:ea typeface="Arial"/>
                          <a:cs typeface="Arial"/>
                        </a:rPr>
                        <a:t>Pull FFATA/FSRS subawards; collect visible supplier evidence (mix, not TAM)</a:t>
                      </a:r>
                    </a:p>
                  </a:txBody>
                  <a:tcPr marL="45720" marR="45720" anchor="ctr">
                    <a:lnL>
                      <a:noFill/>
                    </a:lnL>
                    <a:lnR>
                      <a:noFill/>
                    </a:lnR>
                    <a:lnT w="19050" cap="flat" cmpd="sng" algn="ctr">
                      <a:solidFill>
                        <a:srgbClr val="000000"/>
                      </a:solidFill>
                      <a:prstDash val="solid"/>
                      <a:round/>
                      <a:headEnd type="none" w="med" len="med"/>
                      <a:tailEnd type="none" w="med" len="med"/>
                    </a:lnT>
                    <a:lnB w="6350" cap="flat" cmpd="sng" algn="ctr">
                      <a:solidFill>
                        <a:srgbClr val="808080"/>
                      </a:solidFill>
                      <a:prstDash val="solid"/>
                      <a:round/>
                      <a:headEnd type="none" w="med" len="med"/>
                      <a:tailEnd type="none" w="med" len="med"/>
                    </a:lnB>
                    <a:noFill/>
                  </a:tcPr>
                </a:tc>
              </a:tr>
              <a:tr h="356625">
                <a:tc>
                  <a:txBody>
                    <a:bodyPr/>
                    <a:lstStyle/>
                    <a:p>
                      <a:pPr algn="l">
                        <a:lnSpc>
                          <a:spcPct val="115000"/>
                        </a:lnSpc>
                      </a:pPr>
                      <a:r>
                        <a:rPr lang="en-US" sz="1000" b="1">
                          <a:solidFill>
                            <a:srgbClr val="000000"/>
                          </a:solidFill>
                          <a:latin typeface="Arial"/>
                          <a:ea typeface="Arial"/>
                          <a:cs typeface="Arial"/>
                        </a:rPr>
                        <a:t>2. PIID gate</a:t>
                      </a:r>
                    </a:p>
                  </a:txBody>
                  <a:tcPr marL="45720" marR="45720" anchor="ctr">
                    <a:lnL>
                      <a:noFill/>
                    </a:lnL>
                    <a:lnR>
                      <a:noFill/>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noFill/>
                  </a:tcPr>
                </a:tc>
                <a:tc>
                  <a:txBody>
                    <a:bodyPr/>
                    <a:lstStyle/>
                    <a:p>
                      <a:pPr algn="l">
                        <a:lnSpc>
                          <a:spcPct val="115000"/>
                        </a:lnSpc>
                      </a:pPr>
                      <a:r>
                        <a:rPr lang="en-US" sz="1000" b="0">
                          <a:solidFill>
                            <a:srgbClr val="000000"/>
                          </a:solidFill>
                          <a:latin typeface="Arial"/>
                          <a:ea typeface="Arial"/>
                          <a:cs typeface="Arial"/>
                        </a:rPr>
                        <a:t>Gate to yard construction PIIDs per program (BIW / Ingalls; GDEB); GFE chains drop out</a:t>
                      </a:r>
                    </a:p>
                  </a:txBody>
                  <a:tcPr marL="45720" marR="45720" anchor="ctr">
                    <a:lnL>
                      <a:noFill/>
                    </a:lnL>
                    <a:lnR>
                      <a:noFill/>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noFill/>
                  </a:tcPr>
                </a:tc>
              </a:tr>
              <a:tr h="356625">
                <a:tc>
                  <a:txBody>
                    <a:bodyPr/>
                    <a:lstStyle/>
                    <a:p>
                      <a:pPr algn="l">
                        <a:lnSpc>
                          <a:spcPct val="115000"/>
                        </a:lnSpc>
                      </a:pPr>
                      <a:r>
                        <a:rPr lang="en-US" sz="1000" b="1">
                          <a:solidFill>
                            <a:srgbClr val="000000"/>
                          </a:solidFill>
                          <a:latin typeface="Arial"/>
                          <a:ea typeface="Arial"/>
                          <a:cs typeface="Arial"/>
                        </a:rPr>
                        <a:t>3. Entity resolution</a:t>
                      </a:r>
                    </a:p>
                  </a:txBody>
                  <a:tcPr marL="45720" marR="45720" anchor="ctr">
                    <a:lnL>
                      <a:noFill/>
                    </a:lnL>
                    <a:lnR>
                      <a:noFill/>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noFill/>
                  </a:tcPr>
                </a:tc>
                <a:tc>
                  <a:txBody>
                    <a:bodyPr/>
                    <a:lstStyle/>
                    <a:p>
                      <a:pPr algn="l">
                        <a:lnSpc>
                          <a:spcPct val="115000"/>
                        </a:lnSpc>
                      </a:pPr>
                      <a:r>
                        <a:rPr lang="en-US" sz="1000" b="0">
                          <a:solidFill>
                            <a:srgbClr val="000000"/>
                          </a:solidFill>
                          <a:latin typeface="Arial"/>
                          <a:ea typeface="Arial"/>
                          <a:cs typeface="Arial"/>
                        </a:rPr>
                        <a:t>Resolve the operating entity paid (UEI), not the parent brand</a:t>
                      </a:r>
                    </a:p>
                  </a:txBody>
                  <a:tcPr marL="45720" marR="45720" anchor="ctr">
                    <a:lnL>
                      <a:noFill/>
                    </a:lnL>
                    <a:lnR>
                      <a:noFill/>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noFill/>
                  </a:tcPr>
                </a:tc>
              </a:tr>
              <a:tr h="356625">
                <a:tc>
                  <a:txBody>
                    <a:bodyPr/>
                    <a:lstStyle/>
                    <a:p>
                      <a:pPr algn="l">
                        <a:lnSpc>
                          <a:spcPct val="115000"/>
                        </a:lnSpc>
                      </a:pPr>
                      <a:r>
                        <a:rPr lang="en-US" sz="1000" b="1">
                          <a:solidFill>
                            <a:srgbClr val="000000"/>
                          </a:solidFill>
                          <a:latin typeface="Arial"/>
                          <a:ea typeface="Arial"/>
                          <a:cs typeface="Arial"/>
                        </a:rPr>
                        <a:t>4. Role filter</a:t>
                      </a:r>
                    </a:p>
                  </a:txBody>
                  <a:tcPr marL="45720" marR="45720" anchor="ctr">
                    <a:lnL>
                      <a:noFill/>
                    </a:lnL>
                    <a:lnR>
                      <a:noFill/>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noFill/>
                  </a:tcPr>
                </a:tc>
                <a:tc>
                  <a:txBody>
                    <a:bodyPr/>
                    <a:lstStyle/>
                    <a:p>
                      <a:pPr algn="l">
                        <a:lnSpc>
                          <a:spcPct val="115000"/>
                        </a:lnSpc>
                      </a:pPr>
                      <a:r>
                        <a:rPr lang="en-US" sz="1000" b="0">
                          <a:solidFill>
                            <a:srgbClr val="000000"/>
                          </a:solidFill>
                          <a:latin typeface="Arial"/>
                          <a:ea typeface="Arial"/>
                          <a:cs typeface="Arial"/>
                        </a:rPr>
                        <a:t>Drop non-supplier / non-component roles from the addressable base</a:t>
                      </a:r>
                    </a:p>
                  </a:txBody>
                  <a:tcPr marL="45720" marR="45720" anchor="ctr">
                    <a:lnL>
                      <a:noFill/>
                    </a:lnL>
                    <a:lnR>
                      <a:noFill/>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noFill/>
                  </a:tcPr>
                </a:tc>
              </a:tr>
              <a:tr h="356625">
                <a:tc>
                  <a:txBody>
                    <a:bodyPr/>
                    <a:lstStyle/>
                    <a:p>
                      <a:pPr algn="l">
                        <a:lnSpc>
                          <a:spcPct val="115000"/>
                        </a:lnSpc>
                      </a:pPr>
                      <a:r>
                        <a:rPr lang="en-US" sz="1000" b="1">
                          <a:solidFill>
                            <a:srgbClr val="000000"/>
                          </a:solidFill>
                          <a:latin typeface="Arial"/>
                          <a:ea typeface="Arial"/>
                          <a:cs typeface="Arial"/>
                        </a:rPr>
                        <a:t>5. Work-type assign</a:t>
                      </a:r>
                    </a:p>
                  </a:txBody>
                  <a:tcPr marL="45720" marR="45720" anchor="ctr">
                    <a:lnL>
                      <a:noFill/>
                    </a:lnL>
                    <a:lnR>
                      <a:noFill/>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noFill/>
                  </a:tcPr>
                </a:tc>
                <a:tc>
                  <a:txBody>
                    <a:bodyPr/>
                    <a:lstStyle/>
                    <a:p>
                      <a:pPr algn="l">
                        <a:lnSpc>
                          <a:spcPct val="115000"/>
                        </a:lnSpc>
                      </a:pPr>
                      <a:r>
                        <a:rPr lang="en-US" sz="1000" b="0">
                          <a:solidFill>
                            <a:srgbClr val="000000"/>
                          </a:solidFill>
                          <a:latin typeface="Arial"/>
                          <a:ea typeface="Arial"/>
                          <a:cs typeface="Arial"/>
                        </a:rPr>
                        <a:t>First clean match wins one work-type home (vendor registry, NAICS-4)</a:t>
                      </a:r>
                    </a:p>
                  </a:txBody>
                  <a:tcPr marL="45720" marR="45720" anchor="ctr">
                    <a:lnL>
                      <a:noFill/>
                    </a:lnL>
                    <a:lnR>
                      <a:noFill/>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noFill/>
                  </a:tcPr>
                </a:tc>
              </a:tr>
              <a:tr h="356625">
                <a:tc>
                  <a:txBody>
                    <a:bodyPr/>
                    <a:lstStyle/>
                    <a:p>
                      <a:pPr algn="l">
                        <a:lnSpc>
                          <a:spcPct val="115000"/>
                        </a:lnSpc>
                      </a:pPr>
                      <a:r>
                        <a:rPr lang="en-US" sz="1000" b="1">
                          <a:solidFill>
                            <a:srgbClr val="000000"/>
                          </a:solidFill>
                          <a:latin typeface="Arial"/>
                          <a:ea typeface="Arial"/>
                          <a:cs typeface="Arial"/>
                        </a:rPr>
                        <a:t>6. Residual discipline</a:t>
                      </a:r>
                    </a:p>
                  </a:txBody>
                  <a:tcPr marL="45720" marR="45720" anchor="ctr">
                    <a:lnL>
                      <a:noFill/>
                    </a:lnL>
                    <a:lnR>
                      <a:noFill/>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noFill/>
                  </a:tcPr>
                </a:tc>
                <a:tc>
                  <a:txBody>
                    <a:bodyPr/>
                    <a:lstStyle/>
                    <a:p>
                      <a:pPr algn="l">
                        <a:lnSpc>
                          <a:spcPct val="115000"/>
                        </a:lnSpc>
                      </a:pPr>
                      <a:r>
                        <a:rPr lang="en-US" sz="1000" b="0">
                          <a:solidFill>
                            <a:srgbClr val="000000"/>
                          </a:solidFill>
                          <a:latin typeface="Arial"/>
                          <a:ea typeface="Arial"/>
                          <a:cs typeface="Arial"/>
                        </a:rPr>
                        <a:t>Keep unresolved dollars in the addressable base; residual dilutes named shares</a:t>
                      </a:r>
                    </a:p>
                  </a:txBody>
                  <a:tcPr marL="45720" marR="45720" anchor="ctr">
                    <a:lnL>
                      <a:noFill/>
                    </a:lnL>
                    <a:lnR>
                      <a:noFill/>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noFill/>
                  </a:tcPr>
                </a:tc>
              </a:tr>
              <a:tr h="502987">
                <a:tc>
                  <a:txBody>
                    <a:bodyPr/>
                    <a:lstStyle/>
                    <a:p>
                      <a:pPr algn="l">
                        <a:lnSpc>
                          <a:spcPct val="115000"/>
                        </a:lnSpc>
                      </a:pPr>
                      <a:r>
                        <a:rPr lang="en-US" sz="1000" b="1">
                          <a:solidFill>
                            <a:srgbClr val="000000"/>
                          </a:solidFill>
                          <a:latin typeface="Arial"/>
                          <a:ea typeface="Arial"/>
                          <a:cs typeface="Arial"/>
                        </a:rPr>
                        <a:t>7. Share output</a:t>
                      </a:r>
                    </a:p>
                  </a:txBody>
                  <a:tcPr marL="45720" marR="45720" anchor="ctr">
                    <a:lnL>
                      <a:noFill/>
                    </a:lnL>
                    <a:lnR>
                      <a:noFill/>
                    </a:lnR>
                    <a:lnT w="6350" cap="flat" cmpd="sng" algn="ctr">
                      <a:solidFill>
                        <a:srgbClr val="808080"/>
                      </a:solidFill>
                      <a:prstDash val="solid"/>
                      <a:round/>
                      <a:headEnd type="none" w="med" len="med"/>
                      <a:tailEnd type="none" w="med" len="med"/>
                    </a:lnT>
                    <a:lnB>
                      <a:noFill/>
                    </a:lnB>
                    <a:noFill/>
                  </a:tcPr>
                </a:tc>
                <a:tc>
                  <a:txBody>
                    <a:bodyPr/>
                    <a:lstStyle/>
                    <a:p>
                      <a:pPr algn="l">
                        <a:lnSpc>
                          <a:spcPct val="115000"/>
                        </a:lnSpc>
                      </a:pPr>
                      <a:r>
                        <a:rPr lang="en-US" sz="1000" b="0">
                          <a:solidFill>
                            <a:srgbClr val="000000"/>
                          </a:solidFill>
                          <a:latin typeface="+mn-lt"/>
                          <a:ea typeface="Arial"/>
                          <a:cs typeface="Arial"/>
                        </a:rPr>
                        <a:t>Bucket dollars over the addressable base set the modeled work-type and residual shares, per class and per FY; FY26–27 share assumed at historical rate.</a:t>
                      </a:r>
                    </a:p>
                  </a:txBody>
                  <a:tcPr marL="45720" marR="45720" anchor="ctr">
                    <a:lnL>
                      <a:noFill/>
                    </a:lnL>
                    <a:lnR>
                      <a:noFill/>
                    </a:lnR>
                    <a:lnT w="6350" cap="flat" cmpd="sng" algn="ctr">
                      <a:solidFill>
                        <a:srgbClr val="808080"/>
                      </a:solidFill>
                      <a:prstDash val="solid"/>
                      <a:round/>
                      <a:headEnd type="none" w="med" len="med"/>
                      <a:tailEnd type="none" w="med" len="med"/>
                    </a:lnT>
                    <a:lnB>
                      <a:noFill/>
                    </a:lnB>
                    <a:noFill/>
                  </a:tcPr>
                </a:tc>
              </a:tr>
            </a:tbl>
          </a:graphicData>
        </a:graphic>
      </p:graphicFrame>
      <p:graphicFrame>
        <p:nvGraphicFramePr>
          <p:cNvPr id="353" name="StepRationaleLedger"/>
          <p:cNvGraphicFramePr>
            <a:graphicFrameLocks noGrp="1"/>
          </p:cNvGraphicFramePr>
          <p:nvPr/>
        </p:nvGraphicFramePr>
        <p:xfrm>
          <a:off x="453079" y="1266825"/>
          <a:ext cx="6373171" cy="251778"/>
        </p:xfrm>
        <a:graphic>
          <a:graphicData uri="http://schemas.openxmlformats.org/drawingml/2006/table">
            <a:tbl>
              <a:tblPr firstRow="1" firstCol="1">
                <a:tableStyleId>{2D5ABB26-0587-4C30-8999-92F81FD0307C}</a:tableStyleId>
              </a:tblPr>
              <a:tblGrid>
                <a:gridCol w="6373171"/>
              </a:tblGrid>
              <a:tr h="0">
                <a:tc>
                  <a:txBody>
                    <a:bodyPr/>
                    <a:lstStyle/>
                    <a:p>
                      <a:pPr>
                        <a:lnSpc>
                          <a:spcPct val="115000"/>
                        </a:lnSpc>
                        <a:buNone/>
                      </a:pPr>
                      <a:r>
                        <a:rPr lang="en-US" sz="1000" b="1">
                          <a:solidFill>
                            <a:srgbClr val="000000"/>
                          </a:solidFill>
                          <a:latin typeface="+mn-lt"/>
                          <a:ea typeface="Arial"/>
                          <a:cs typeface="Arial"/>
                        </a:rPr>
                        <a:t>Outsourced Basic Construction Spend by Work Type ($B, cumulative FY22–FY27, FY26 $)</a:t>
                      </a:r>
                    </a:p>
                  </a:txBody>
                  <a:tcPr marL="45720" marR="45720" anchor="ctr">
                    <a:lnL>
                      <a:noFill/>
                    </a:lnL>
                    <a:lnR>
                      <a:noFill/>
                    </a:lnR>
                    <a:lnT>
                      <a:noFill/>
                    </a:lnT>
                    <a:lnB w="12700" cap="flat" cmpd="sng" algn="ctr">
                      <a:solidFill>
                        <a:srgbClr val="000000"/>
                      </a:solidFill>
                      <a:prstDash val="solid"/>
                      <a:round/>
                      <a:headEnd type="none" w="med" len="med"/>
                      <a:tailEnd type="none" w="med" len="med"/>
                    </a:lnB>
                    <a:noFill/>
                  </a:tcPr>
                </a:tc>
              </a:tr>
            </a:tbl>
          </a:graphicData>
        </a:graphic>
      </p:graphicFrame>
      <p:graphicFrame>
        <p:nvGraphicFramePr>
          <p:cNvPr id="354" name="StepRationaleLedger"/>
          <p:cNvGraphicFramePr>
            <a:graphicFrameLocks noGrp="1"/>
          </p:cNvGraphicFramePr>
          <p:nvPr/>
        </p:nvGraphicFramePr>
        <p:xfrm>
          <a:off x="7040880" y="1266825"/>
          <a:ext cx="4694561" cy="251778"/>
        </p:xfrm>
        <a:graphic>
          <a:graphicData uri="http://schemas.openxmlformats.org/drawingml/2006/table">
            <a:tbl>
              <a:tblPr firstRow="1" firstCol="1">
                <a:tableStyleId>{2D5ABB26-0587-4C30-8999-92F81FD0307C}</a:tableStyleId>
              </a:tblPr>
              <a:tblGrid>
                <a:gridCol w="4694561"/>
              </a:tblGrid>
              <a:tr h="0">
                <a:tc>
                  <a:txBody>
                    <a:bodyPr/>
                    <a:lstStyle/>
                    <a:p>
                      <a:pPr>
                        <a:lnSpc>
                          <a:spcPct val="115000"/>
                        </a:lnSpc>
                        <a:buNone/>
                      </a:pPr>
                      <a:r>
                        <a:rPr lang="en-US" sz="1000" b="1">
                          <a:solidFill>
                            <a:srgbClr val="000000"/>
                          </a:solidFill>
                          <a:latin typeface="+mn-lt"/>
                          <a:ea typeface="Arial"/>
                          <a:cs typeface="Arial"/>
                        </a:rPr>
                        <a:t>Methodology</a:t>
                      </a:r>
                    </a:p>
                  </a:txBody>
                  <a:tcPr marL="45720" marR="45720" anchor="ctr">
                    <a:lnL>
                      <a:noFill/>
                    </a:lnL>
                    <a:lnR>
                      <a:noFill/>
                    </a:lnR>
                    <a:lnT>
                      <a:noFill/>
                    </a:lnT>
                    <a:lnB w="12700" cap="flat" cmpd="sng" algn="ctr">
                      <a:solidFill>
                        <a:srgbClr val="000000"/>
                      </a:solidFill>
                      <a:prstDash val="solid"/>
                      <a:round/>
                      <a:headEnd type="none" w="med" len="med"/>
                      <a:tailEnd type="none" w="med" len="med"/>
                    </a:lnB>
                    <a:noFill/>
                  </a:tcPr>
                </a:tc>
              </a:tr>
            </a:tbl>
          </a:graphicData>
        </a:graphic>
      </p:graphicFrame>
      <p:graphicFrame>
        <p:nvGraphicFramePr>
          <p:cNvPr id="352" name="Chart 51"/>
          <p:cNvGraphicFramePr/>
          <p:nvPr/>
        </p:nvGraphicFramePr>
        <p:xfrm>
          <a:off x="349250" y="1665288"/>
          <a:ext cx="4341813" cy="4376737"/>
        </p:xfrm>
        <a:graphic>
          <a:graphicData uri="http://schemas.openxmlformats.org/drawingml/2006/chart">
            <c:chart xmlns:c="http://schemas.openxmlformats.org/drawingml/2006/chart" xmlns:r="http://schemas.openxmlformats.org/officeDocument/2006/relationships" r:id="rId2"/>
          </a:graphicData>
        </a:graphic>
      </p:graphicFrame>
      <p:sp>
        <p:nvSpPr>
          <p:cNvPr id="302" name="Breadcrumb"/>
          <p:cNvSpPr>
            <a:spLocks noGrp="1"/>
          </p:cNvSpPr>
          <p:nvPr>
            <p:ph type="body" sz="quarter" idx="10"/>
          </p:nvPr>
        </p:nvSpPr>
        <p:spPr>
          <a:xfrm>
            <a:off x="453079" y="263452"/>
            <a:ext cx="11282362" cy="153888"/>
          </a:xfrm>
        </p:spPr>
        <p:txBody>
          <a:bodyPr/>
          <a:lstStyle/>
          <a:p>
            <a:r>
              <a:rPr lang="en-US" sz="1000" b="1" kern="1200">
                <a:solidFill>
                  <a:srgbClr val="44505C"/>
                </a:solidFill>
                <a:latin typeface="Arial"/>
                <a:ea typeface="Arial"/>
                <a:cs typeface="Arial"/>
              </a:rPr>
              <a:t>Executive Summary</a:t>
            </a:r>
            <a:r>
              <a:rPr lang="en-US" sz="1000" kern="1200">
                <a:solidFill>
                  <a:srgbClr val="44505C"/>
                </a:solidFill>
                <a:latin typeface="Arial"/>
                <a:ea typeface="Arial"/>
                <a:cs typeface="Arial"/>
              </a:rPr>
              <a:t> / Supplier TAM and SAM</a:t>
            </a:r>
          </a:p>
        </p:txBody>
      </p:sp>
      <p:sp>
        <p:nvSpPr>
          <p:cNvPr id="304" name="PrelimChip"/>
          <p:cNvSpPr txBox="1"/>
          <p:nvPr/>
        </p:nvSpPr>
        <p:spPr>
          <a:xfrm>
            <a:off x="10267829" y="111556"/>
            <a:ext cx="1467612" cy="290000"/>
          </a:xfrm>
          <a:prstGeom prst="rect">
            <a:avLst/>
          </a:prstGeom>
          <a:solidFill>
            <a:srgbClr val="FFFFCC"/>
          </a:solidFill>
          <a:ln w="19050">
            <a:solidFill>
              <a:srgbClr val="000000"/>
            </a:solidFill>
          </a:ln>
        </p:spPr>
        <p:txBody>
          <a:bodyPr wrap="square" lIns="45720" tIns="9144" rIns="45720" bIns="9144" anchor="ctr"/>
          <a:lstStyle/>
          <a:p>
            <a:pPr algn="ctr"/>
            <a:r>
              <a:rPr lang="en-US" sz="1200" b="1" kern="1200">
                <a:solidFill>
                  <a:srgbClr val="000000"/>
                </a:solidFill>
                <a:latin typeface="Arial"/>
                <a:ea typeface="Arial"/>
                <a:cs typeface="Arial"/>
              </a:rPr>
              <a:t>Preliminary</a:t>
            </a:r>
          </a:p>
        </p:txBody>
      </p:sp>
      <p:sp>
        <p:nvSpPr>
          <p:cNvPr id="303" name="Title"/>
          <p:cNvSpPr>
            <a:spLocks noGrp="1"/>
          </p:cNvSpPr>
          <p:nvPr>
            <p:ph type="title"/>
          </p:nvPr>
        </p:nvSpPr>
        <p:spPr>
          <a:xfrm>
            <a:off x="453079" y="554500"/>
            <a:ext cx="11282362" cy="640080"/>
          </a:xfrm>
        </p:spPr>
        <p:txBody>
          <a:bodyPr vert="horz" rIns="0"/>
          <a:lstStyle/>
          <a:p>
            <a:r>
              <a:rPr lang="en-US">
                <a:solidFill>
                  <a:srgbClr val="162029"/>
                </a:solidFill>
                <a:ea typeface="Arial"/>
                <a:cs typeface="Arial"/>
              </a:rPr>
              <a:t>Outsourced Spend by Work Type | Electrical power leads the ~$18.1B submarine pool; machining leads the ~$6.4B DDG-51 pool.</a:t>
            </a:r>
            <a:endParaRPr lang="en-US" sz="2000" kern="1200">
              <a:solidFill>
                <a:srgbClr val="162029"/>
              </a:solidFill>
              <a:latin typeface="Arial"/>
              <a:ea typeface="Arial"/>
              <a:cs typeface="Arial"/>
            </a:endParaRPr>
          </a:p>
        </p:txBody>
      </p:sp>
      <p:cxnSp>
        <p:nvCxnSpPr>
          <p:cNvPr id="341" name="Straight Connector 40"/>
          <p:cNvCxnSpPr>
            <a:cxnSpLocks/>
          </p:cNvCxnSpPr>
          <p:nvPr/>
        </p:nvCxnSpPr>
        <p:spPr bwMode="gray">
          <a:xfrm flipH="1" flipV="1">
            <a:off x="2947988" y="4759325"/>
            <a:ext cx="92075" cy="41275"/>
          </a:xfrm>
          <a:prstGeom prst="line">
            <a:avLst/>
          </a:prstGeom>
          <a:ln w="6350" cap="flat" cmpd="sng" algn="ctr">
            <a:solidFill>
              <a:schemeClr val="tx2"/>
            </a:solidFill>
            <a:prstDash val="solid"/>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340" name="Straight Connector 39"/>
          <p:cNvCxnSpPr>
            <a:cxnSpLocks/>
          </p:cNvCxnSpPr>
          <p:nvPr/>
        </p:nvCxnSpPr>
        <p:spPr bwMode="gray">
          <a:xfrm flipH="1">
            <a:off x="2947988" y="4648200"/>
            <a:ext cx="92075" cy="39688"/>
          </a:xfrm>
          <a:prstGeom prst="line">
            <a:avLst/>
          </a:prstGeom>
          <a:ln w="6350" cap="flat" cmpd="sng" algn="ctr">
            <a:solidFill>
              <a:schemeClr val="tx2"/>
            </a:solidFill>
            <a:prstDash val="solid"/>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sp>
        <p:nvSpPr>
          <p:cNvPr id="334" name="Text Placeholder 25"/>
          <p:cNvSpPr>
            <a:spLocks/>
          </p:cNvSpPr>
          <p:nvPr/>
        </p:nvSpPr>
        <p:spPr bwMode="gray">
          <a:xfrm>
            <a:off x="1263650" y="5326063"/>
            <a:ext cx="209550" cy="152400"/>
          </a:xfrm>
          <a:prstGeom prst="rect">
            <a:avLst/>
          </a:prstGeom>
          <a:solidFill>
            <a:schemeClr val="accent3"/>
          </a:solidFill>
          <a:ln>
            <a:noFill/>
          </a:ln>
          <a:effectLst/>
        </p:spPr>
        <p:txBody>
          <a:bodyPr vert="horz" wrap="none" lIns="17463" tIns="0" rIns="17463" bIns="0" rtlCol="0" anchor="ctr">
            <a:noAutofit/>
          </a:bodyPr>
          <a:p>
            <a:pPr marL="0" lvl="0" indent="0" algn="ctr">
              <a:spcBef>
                <a:spcPct val="0"/>
              </a:spcBef>
              <a:spcAft>
                <a:spcPct val="0"/>
              </a:spcAft>
              <a:buNone/>
            </a:pPr>
            <a:r>
              <a:rPr lang="en-US" altLang="en-US" sz="1000" smtClean="0">
                <a:solidFill>
                  <a:schemeClr val="bg1"/>
                </a:solidFill>
                <a:effectLst/>
              </a:rPr>
              <a:t>0.4</a:t>
            </a:r>
            <a:endParaRPr lang="en-US" sz="1000">
              <a:solidFill>
                <a:schemeClr val="bg1"/>
              </a:solidFill>
            </a:endParaRPr>
          </a:p>
        </p:txBody>
      </p:sp>
      <p:sp>
        <p:nvSpPr>
          <p:cNvPr id="343" name="Text Placeholder 25"/>
          <p:cNvSpPr>
            <a:spLocks/>
          </p:cNvSpPr>
          <p:nvPr/>
        </p:nvSpPr>
        <p:spPr bwMode="gray">
          <a:xfrm>
            <a:off x="1084263" y="4638675"/>
            <a:ext cx="209550" cy="152400"/>
          </a:xfrm>
          <a:prstGeom prst="rect">
            <a:avLst/>
          </a:prstGeom>
          <a:solidFill>
            <a:schemeClr val="accent5"/>
          </a:solidFill>
          <a:ln>
            <a:noFill/>
          </a:ln>
          <a:effectLst/>
        </p:spPr>
        <p:txBody>
          <a:bodyPr vert="horz" wrap="none" lIns="17463" tIns="0" rIns="17463" bIns="0" rtlCol="0" anchor="ctr">
            <a:noAutofit/>
          </a:bodyPr>
          <a:p>
            <a:pPr marL="0" lvl="0" indent="0" algn="ctr">
              <a:spcBef>
                <a:spcPct val="0"/>
              </a:spcBef>
              <a:spcAft>
                <a:spcPct val="0"/>
              </a:spcAft>
              <a:buNone/>
            </a:pPr>
            <a:r>
              <a:rPr lang="en-US" altLang="en-US" sz="1000" smtClean="0">
                <a:effectLst/>
              </a:rPr>
              <a:t>0.0</a:t>
            </a:r>
            <a:endParaRPr lang="en-US" sz="1000"/>
          </a:p>
        </p:txBody>
      </p:sp>
      <p:sp>
        <p:nvSpPr>
          <p:cNvPr id="335" name="Text Placeholder 25"/>
          <p:cNvSpPr>
            <a:spLocks/>
          </p:cNvSpPr>
          <p:nvPr/>
        </p:nvSpPr>
        <p:spPr bwMode="gray">
          <a:xfrm>
            <a:off x="1444625" y="4616450"/>
            <a:ext cx="209550" cy="152400"/>
          </a:xfrm>
          <a:prstGeom prst="rect">
            <a:avLst/>
          </a:prstGeom>
          <a:solidFill>
            <a:schemeClr val="accent6"/>
          </a:solidFill>
          <a:ln>
            <a:noFill/>
          </a:ln>
          <a:effectLst/>
        </p:spPr>
        <p:txBody>
          <a:bodyPr vert="horz" wrap="none" lIns="17463" tIns="0" rIns="17463" bIns="0" rtlCol="0" anchor="ctr">
            <a:noAutofit/>
          </a:bodyPr>
          <a:p>
            <a:pPr marL="0" lvl="0" indent="0" algn="ctr">
              <a:spcBef>
                <a:spcPct val="0"/>
              </a:spcBef>
              <a:spcAft>
                <a:spcPct val="0"/>
              </a:spcAft>
              <a:buNone/>
            </a:pPr>
            <a:r>
              <a:rPr lang="en-US" altLang="en-US" sz="1000" smtClean="0">
                <a:effectLst/>
              </a:rPr>
              <a:t>0.1</a:t>
            </a:r>
            <a:endParaRPr lang="en-US" sz="1000"/>
          </a:p>
        </p:txBody>
      </p:sp>
      <p:sp>
        <p:nvSpPr>
          <p:cNvPr id="318" name="Text Placeholder 25"/>
          <p:cNvSpPr>
            <a:spLocks/>
          </p:cNvSpPr>
          <p:nvPr/>
        </p:nvSpPr>
        <p:spPr bwMode="gray">
          <a:xfrm>
            <a:off x="1263650" y="4129088"/>
            <a:ext cx="209550" cy="152400"/>
          </a:xfrm>
          <a:prstGeom prst="rect">
            <a:avLst/>
          </a:prstGeom>
          <a:solidFill>
            <a:schemeClr val="bg1"/>
          </a:solidFill>
          <a:ln>
            <a:noFill/>
          </a:ln>
          <a:effectLst/>
        </p:spPr>
        <p:txBody>
          <a:bodyPr vert="horz" wrap="none" lIns="17463" tIns="0" rIns="17463" bIns="0" rtlCol="0" anchor="ctr">
            <a:noAutofit/>
          </a:bodyPr>
          <a:p>
            <a:pPr marL="0" lvl="0" indent="0" algn="ctr">
              <a:spcBef>
                <a:spcPct val="0"/>
              </a:spcBef>
              <a:spcAft>
                <a:spcPct val="0"/>
              </a:spcAft>
              <a:buNone/>
            </a:pPr>
            <a:r>
              <a:rPr lang="en-US" altLang="en-US" sz="1000" smtClean="0">
                <a:effectLst/>
              </a:rPr>
              <a:t>1.4</a:t>
            </a:r>
            <a:endParaRPr lang="en-US" sz="1000"/>
          </a:p>
        </p:txBody>
      </p:sp>
      <p:sp>
        <p:nvSpPr>
          <p:cNvPr id="308" name="Text Placeholder 25"/>
          <p:cNvSpPr>
            <a:spLocks/>
          </p:cNvSpPr>
          <p:nvPr/>
        </p:nvSpPr>
        <p:spPr bwMode="auto">
          <a:xfrm>
            <a:off x="1130300" y="5859463"/>
            <a:ext cx="477838" cy="152400"/>
          </a:xfrm>
          <a:prstGeom prst="rect">
            <a:avLst/>
          </a:prstGeom>
          <a:noFill/>
          <a:ln>
            <a:noFill/>
          </a:ln>
          <a:effectLst/>
        </p:spPr>
        <p:txBody>
          <a:bodyPr vert="horz" wrap="none" lIns="0" tIns="0" rIns="0" bIns="0" rtlCol="0">
            <a:noAutofit/>
          </a:bodyPr>
          <a:p>
            <a:pPr marL="0" lvl="0" indent="0" algn="ctr">
              <a:spcBef>
                <a:spcPct val="0"/>
              </a:spcBef>
              <a:spcAft>
                <a:spcPct val="0"/>
              </a:spcAft>
              <a:buNone/>
            </a:pPr>
            <a:r>
              <a:rPr lang="en-US" altLang="en-US" sz="1000" smtClean="0">
                <a:solidFill>
                  <a:srgbClr val="000000"/>
                </a:solidFill>
              </a:rPr>
              <a:t>DDG-51</a:t>
            </a:r>
            <a:endParaRPr lang="en-US" sz="1000">
              <a:solidFill>
                <a:srgbClr val="000000"/>
              </a:solidFill>
            </a:endParaRPr>
          </a:p>
        </p:txBody>
      </p:sp>
      <p:sp>
        <p:nvSpPr>
          <p:cNvPr id="336" name="Text Placeholder 25"/>
          <p:cNvSpPr>
            <a:spLocks/>
          </p:cNvSpPr>
          <p:nvPr/>
        </p:nvSpPr>
        <p:spPr bwMode="gray">
          <a:xfrm>
            <a:off x="2379663" y="4648200"/>
            <a:ext cx="209550" cy="152400"/>
          </a:xfrm>
          <a:prstGeom prst="rect">
            <a:avLst/>
          </a:prstGeom>
          <a:solidFill>
            <a:schemeClr val="accent6"/>
          </a:solidFill>
          <a:ln>
            <a:noFill/>
          </a:ln>
          <a:effectLst/>
        </p:spPr>
        <p:txBody>
          <a:bodyPr vert="horz" wrap="none" lIns="17463" tIns="0" rIns="17463" bIns="0" rtlCol="0" anchor="ctr">
            <a:noAutofit/>
          </a:bodyPr>
          <a:p>
            <a:pPr marL="0" lvl="0" indent="0" algn="ctr">
              <a:spcBef>
                <a:spcPct val="0"/>
              </a:spcBef>
              <a:spcAft>
                <a:spcPct val="0"/>
              </a:spcAft>
              <a:buNone/>
            </a:pPr>
            <a:r>
              <a:rPr lang="en-US" altLang="en-US" sz="1000" smtClean="0">
                <a:effectLst/>
              </a:rPr>
              <a:t>0.2</a:t>
            </a:r>
            <a:endParaRPr lang="en-US" sz="1000"/>
          </a:p>
        </p:txBody>
      </p:sp>
      <p:sp>
        <p:nvSpPr>
          <p:cNvPr id="319" name="Text Placeholder 25"/>
          <p:cNvSpPr>
            <a:spLocks/>
          </p:cNvSpPr>
          <p:nvPr/>
        </p:nvSpPr>
        <p:spPr bwMode="gray">
          <a:xfrm>
            <a:off x="2740025" y="4537075"/>
            <a:ext cx="209550" cy="152400"/>
          </a:xfrm>
          <a:prstGeom prst="rect">
            <a:avLst/>
          </a:prstGeom>
          <a:solidFill>
            <a:schemeClr val="bg1"/>
          </a:solidFill>
          <a:ln>
            <a:noFill/>
          </a:ln>
          <a:effectLst/>
        </p:spPr>
        <p:txBody>
          <a:bodyPr vert="horz" wrap="none" lIns="17463" tIns="0" rIns="17463" bIns="0" rtlCol="0" anchor="ctr">
            <a:noAutofit/>
          </a:bodyPr>
          <a:p>
            <a:pPr marL="0" lvl="0" indent="0" algn="ctr">
              <a:spcBef>
                <a:spcPct val="0"/>
              </a:spcBef>
              <a:spcAft>
                <a:spcPct val="0"/>
              </a:spcAft>
              <a:buNone/>
            </a:pPr>
            <a:r>
              <a:rPr lang="en-US" altLang="en-US" sz="1000" smtClean="0">
                <a:effectLst/>
              </a:rPr>
              <a:t>0.4</a:t>
            </a:r>
            <a:endParaRPr lang="en-US" sz="1000"/>
          </a:p>
        </p:txBody>
      </p:sp>
      <p:sp>
        <p:nvSpPr>
          <p:cNvPr id="309" name="Text Placeholder 25"/>
          <p:cNvSpPr>
            <a:spLocks/>
          </p:cNvSpPr>
          <p:nvPr/>
        </p:nvSpPr>
        <p:spPr bwMode="auto">
          <a:xfrm>
            <a:off x="2390775" y="5859463"/>
            <a:ext cx="547688" cy="152400"/>
          </a:xfrm>
          <a:prstGeom prst="rect">
            <a:avLst/>
          </a:prstGeom>
          <a:noFill/>
          <a:ln>
            <a:noFill/>
          </a:ln>
          <a:effectLst/>
        </p:spPr>
        <p:txBody>
          <a:bodyPr vert="horz" wrap="none" lIns="0" tIns="0" rIns="0" bIns="0" rtlCol="0">
            <a:noAutofit/>
          </a:bodyPr>
          <a:p>
            <a:pPr marL="0" lvl="0" indent="0" algn="ctr">
              <a:spcBef>
                <a:spcPct val="0"/>
              </a:spcBef>
              <a:spcAft>
                <a:spcPct val="0"/>
              </a:spcAft>
              <a:buNone/>
            </a:pPr>
            <a:r>
              <a:rPr lang="en-US" altLang="en-US" sz="1000" smtClean="0">
                <a:solidFill>
                  <a:srgbClr val="000000"/>
                </a:solidFill>
              </a:rPr>
              <a:t>Columbia</a:t>
            </a:r>
            <a:endParaRPr lang="en-US" sz="1000">
              <a:solidFill>
                <a:srgbClr val="000000"/>
              </a:solidFill>
            </a:endParaRPr>
          </a:p>
        </p:txBody>
      </p:sp>
      <p:sp>
        <p:nvSpPr>
          <p:cNvPr id="337" name="Text Placeholder 25"/>
          <p:cNvSpPr>
            <a:spLocks/>
          </p:cNvSpPr>
          <p:nvPr/>
        </p:nvSpPr>
        <p:spPr bwMode="gray">
          <a:xfrm>
            <a:off x="4037013" y="2528888"/>
            <a:ext cx="209550" cy="152400"/>
          </a:xfrm>
          <a:prstGeom prst="rect">
            <a:avLst/>
          </a:prstGeom>
          <a:solidFill>
            <a:schemeClr val="hlink"/>
          </a:solidFill>
          <a:ln>
            <a:noFill/>
          </a:ln>
          <a:effectLst/>
        </p:spPr>
        <p:txBody>
          <a:bodyPr vert="horz" wrap="none" lIns="17463" tIns="0" rIns="17463" bIns="0" rtlCol="0" anchor="ctr">
            <a:noAutofit/>
          </a:bodyPr>
          <a:p>
            <a:pPr marL="0" lvl="0" indent="0" algn="ctr">
              <a:spcBef>
                <a:spcPct val="0"/>
              </a:spcBef>
              <a:spcAft>
                <a:spcPct val="0"/>
              </a:spcAft>
              <a:buNone/>
            </a:pPr>
            <a:r>
              <a:rPr lang="en-US" altLang="en-US" sz="1000" smtClean="0">
                <a:solidFill>
                  <a:schemeClr val="bg1"/>
                </a:solidFill>
                <a:effectLst/>
              </a:rPr>
              <a:t>0.1</a:t>
            </a:r>
            <a:endParaRPr lang="en-US" sz="1000">
              <a:solidFill>
                <a:schemeClr val="bg1"/>
              </a:solidFill>
            </a:endParaRPr>
          </a:p>
        </p:txBody>
      </p:sp>
      <p:sp>
        <p:nvSpPr>
          <p:cNvPr id="332" name="Text Placeholder 25"/>
          <p:cNvSpPr>
            <a:spLocks/>
          </p:cNvSpPr>
          <p:nvPr/>
        </p:nvSpPr>
        <p:spPr bwMode="gray">
          <a:xfrm>
            <a:off x="3856038" y="2216150"/>
            <a:ext cx="209550" cy="152400"/>
          </a:xfrm>
          <a:prstGeom prst="rect">
            <a:avLst/>
          </a:prstGeom>
          <a:solidFill>
            <a:schemeClr val="bg1"/>
          </a:solidFill>
          <a:ln>
            <a:noFill/>
          </a:ln>
          <a:effectLst/>
        </p:spPr>
        <p:txBody>
          <a:bodyPr vert="horz" wrap="none" lIns="17463" tIns="0" rIns="17463" bIns="0" rtlCol="0" anchor="ctr">
            <a:noAutofit/>
          </a:bodyPr>
          <a:p>
            <a:pPr marL="0" lvl="0" indent="0" algn="ctr">
              <a:spcBef>
                <a:spcPct val="0"/>
              </a:spcBef>
              <a:spcAft>
                <a:spcPct val="0"/>
              </a:spcAft>
              <a:buNone/>
            </a:pPr>
            <a:r>
              <a:rPr lang="en-US" altLang="en-US" sz="1000" smtClean="0">
                <a:effectLst/>
              </a:rPr>
              <a:t>2.1</a:t>
            </a:r>
            <a:endParaRPr lang="en-US" sz="1000"/>
          </a:p>
        </p:txBody>
      </p:sp>
      <p:sp>
        <p:nvSpPr>
          <p:cNvPr id="317" name="Text Placeholder 25"/>
          <p:cNvSpPr>
            <a:spLocks/>
          </p:cNvSpPr>
          <p:nvPr/>
        </p:nvSpPr>
        <p:spPr bwMode="auto">
          <a:xfrm>
            <a:off x="3743325" y="5859463"/>
            <a:ext cx="434975" cy="152400"/>
          </a:xfrm>
          <a:prstGeom prst="rect">
            <a:avLst/>
          </a:prstGeom>
          <a:noFill/>
          <a:ln>
            <a:noFill/>
          </a:ln>
          <a:effectLst/>
        </p:spPr>
        <p:txBody>
          <a:bodyPr vert="horz" wrap="none" lIns="0" tIns="0" rIns="0" bIns="0" rtlCol="0">
            <a:noAutofit/>
          </a:bodyPr>
          <a:p>
            <a:pPr marL="0" lvl="0" indent="0" algn="ctr">
              <a:spcBef>
                <a:spcPct val="0"/>
              </a:spcBef>
              <a:spcAft>
                <a:spcPct val="0"/>
              </a:spcAft>
              <a:buNone/>
            </a:pPr>
            <a:r>
              <a:rPr lang="en-US" altLang="en-US" sz="1000" smtClean="0">
                <a:solidFill>
                  <a:srgbClr val="000000"/>
                </a:solidFill>
              </a:rPr>
              <a:t>Virginia</a:t>
            </a:r>
            <a:endParaRPr lang="en-US" sz="1000">
              <a:solidFill>
                <a:srgbClr val="000000"/>
              </a:solidFill>
            </a:endParaRPr>
          </a:p>
        </p:txBody>
      </p:sp>
      <p:sp>
        <p:nvSpPr>
          <p:cNvPr id="314" name="Text Placeholder 25"/>
          <p:cNvSpPr>
            <a:spLocks/>
          </p:cNvSpPr>
          <p:nvPr/>
        </p:nvSpPr>
        <p:spPr bwMode="gray">
          <a:xfrm>
            <a:off x="1263650" y="3838575"/>
            <a:ext cx="209550" cy="152400"/>
          </a:xfrm>
          <a:prstGeom prst="rect">
            <a:avLst/>
          </a:prstGeom>
          <a:noFill/>
          <a:ln>
            <a:noFill/>
          </a:ln>
          <a:effectLst/>
        </p:spPr>
        <p:txBody>
          <a:bodyPr vert="horz" wrap="none" lIns="17463" tIns="0" rIns="17463" bIns="0" rtlCol="0" anchor="b">
            <a:noAutofit/>
          </a:bodyPr>
          <a:p>
            <a:pPr marL="0" lvl="0" indent="0" algn="ctr">
              <a:spcBef>
                <a:spcPct val="0"/>
              </a:spcBef>
              <a:spcAft>
                <a:spcPct val="0"/>
              </a:spcAft>
              <a:buNone/>
            </a:pPr>
            <a:r>
              <a:rPr lang="en-US" altLang="en-US" sz="1000" smtClean="0"/>
              <a:t>6.4</a:t>
            </a:r>
            <a:endParaRPr lang="en-US" sz="1000"/>
          </a:p>
        </p:txBody>
      </p:sp>
      <p:sp>
        <p:nvSpPr>
          <p:cNvPr id="315" name="Text Placeholder 25"/>
          <p:cNvSpPr>
            <a:spLocks/>
          </p:cNvSpPr>
          <p:nvPr/>
        </p:nvSpPr>
        <p:spPr bwMode="gray">
          <a:xfrm>
            <a:off x="2559050" y="4375150"/>
            <a:ext cx="209550" cy="152400"/>
          </a:xfrm>
          <a:prstGeom prst="rect">
            <a:avLst/>
          </a:prstGeom>
          <a:noFill/>
          <a:ln>
            <a:noFill/>
          </a:ln>
          <a:effectLst/>
        </p:spPr>
        <p:txBody>
          <a:bodyPr vert="horz" wrap="none" lIns="17463" tIns="0" rIns="17463" bIns="0" rtlCol="0" anchor="b">
            <a:noAutofit/>
          </a:bodyPr>
          <a:p>
            <a:pPr marL="0" lvl="0" indent="0" algn="ctr">
              <a:spcBef>
                <a:spcPct val="0"/>
              </a:spcBef>
              <a:spcAft>
                <a:spcPct val="0"/>
              </a:spcAft>
              <a:buNone/>
            </a:pPr>
            <a:r>
              <a:rPr lang="en-US" altLang="en-US" sz="1000" smtClean="0"/>
              <a:t>4.5</a:t>
            </a:r>
            <a:endParaRPr lang="en-US" sz="1000"/>
          </a:p>
        </p:txBody>
      </p:sp>
      <p:sp>
        <p:nvSpPr>
          <p:cNvPr id="331" name="Text Placeholder 25"/>
          <p:cNvSpPr>
            <a:spLocks/>
          </p:cNvSpPr>
          <p:nvPr/>
        </p:nvSpPr>
        <p:spPr bwMode="gray">
          <a:xfrm>
            <a:off x="3821113" y="1817688"/>
            <a:ext cx="279400" cy="152400"/>
          </a:xfrm>
          <a:prstGeom prst="rect">
            <a:avLst/>
          </a:prstGeom>
          <a:noFill/>
          <a:ln>
            <a:noFill/>
          </a:ln>
          <a:effectLst/>
        </p:spPr>
        <p:txBody>
          <a:bodyPr vert="horz" wrap="none" lIns="17463" tIns="0" rIns="17463" bIns="0" rtlCol="0" anchor="b">
            <a:noAutofit/>
          </a:bodyPr>
          <a:p>
            <a:pPr marL="0" lvl="0" indent="0" algn="ctr">
              <a:spcBef>
                <a:spcPct val="0"/>
              </a:spcBef>
              <a:spcAft>
                <a:spcPct val="0"/>
              </a:spcAft>
              <a:buNone/>
            </a:pPr>
            <a:r>
              <a:rPr lang="en-US" altLang="en-US" sz="1000" smtClean="0"/>
              <a:t>13.6</a:t>
            </a:r>
            <a:endParaRPr lang="en-US" sz="1000"/>
          </a:p>
        </p:txBody>
      </p:sp>
      <p:sp>
        <p:nvSpPr>
          <p:cNvPr id="350" name="Text Placeholder 25"/>
          <p:cNvSpPr>
            <a:spLocks/>
          </p:cNvSpPr>
          <p:nvPr/>
        </p:nvSpPr>
        <p:spPr bwMode="gray">
          <a:xfrm>
            <a:off x="2740025" y="4708525"/>
            <a:ext cx="209550" cy="152400"/>
          </a:xfrm>
          <a:prstGeom prst="rect">
            <a:avLst/>
          </a:prstGeom>
          <a:solidFill>
            <a:schemeClr val="accent4"/>
          </a:solidFill>
          <a:ln>
            <a:noFill/>
          </a:ln>
          <a:effectLst/>
        </p:spPr>
        <p:txBody>
          <a:bodyPr vert="horz" wrap="none" lIns="17463" tIns="0" rIns="17463" bIns="0" rtlCol="0" anchor="ctr">
            <a:noAutofit/>
          </a:bodyPr>
          <a:p>
            <a:pPr marL="0" lvl="0" indent="0" algn="ctr">
              <a:spcBef>
                <a:spcPct val="0"/>
              </a:spcBef>
              <a:spcAft>
                <a:spcPct val="0"/>
              </a:spcAft>
              <a:buNone/>
            </a:pPr>
            <a:r>
              <a:rPr lang="en-US" altLang="en-US" sz="1000" smtClean="0">
                <a:solidFill>
                  <a:schemeClr val="bg1"/>
                </a:solidFill>
                <a:effectLst/>
              </a:rPr>
              <a:t>0.1</a:t>
            </a:r>
            <a:endParaRPr lang="en-US" sz="1000">
              <a:solidFill>
                <a:schemeClr val="bg1"/>
              </a:solidFill>
            </a:endParaRPr>
          </a:p>
        </p:txBody>
      </p:sp>
      <p:sp>
        <p:nvSpPr>
          <p:cNvPr id="346" name="Rectangle 45"/>
          <p:cNvSpPr/>
          <p:nvPr/>
        </p:nvSpPr>
        <p:spPr bwMode="auto">
          <a:xfrm>
            <a:off x="4659313" y="4202113"/>
            <a:ext cx="179388" cy="133350"/>
          </a:xfrm>
          <a:prstGeom prst="rect">
            <a:avLst/>
          </a:prstGeom>
          <a:pattFill prst="ltUpDiag">
            <a:fgClr>
              <a:schemeClr val="tx1"/>
            </a:fgClr>
            <a:bgClr>
              <a:schemeClr val="bg1"/>
            </a:bgClr>
          </a:pattFill>
          <a:ln w="19050" cap="flat" cmpd="sng" algn="ctr">
            <a:noFill/>
            <a:prstDash val="solid"/>
            <a:miter lim="800000"/>
            <a:headEnd type="none" w="med" len="med"/>
            <a:tailEnd type="none" w="med" len="me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9" name="Rectangle 28"/>
          <p:cNvSpPr/>
          <p:nvPr/>
        </p:nvSpPr>
        <p:spPr bwMode="auto">
          <a:xfrm>
            <a:off x="4659313" y="4405313"/>
            <a:ext cx="179388" cy="133350"/>
          </a:xfrm>
          <a:prstGeom prst="rect">
            <a:avLst/>
          </a:prstGeom>
          <a:solidFill>
            <a:schemeClr val="hlink"/>
          </a:solidFill>
          <a:ln w="19050" cap="flat" cmpd="sng" algn="ctr">
            <a:noFill/>
            <a:prstDash val="solid"/>
            <a:miter lim="800000"/>
            <a:headEnd type="none" w="med" len="med"/>
            <a:tailEnd type="none" w="med" len="me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8" name="Rectangle 27"/>
          <p:cNvSpPr/>
          <p:nvPr/>
        </p:nvSpPr>
        <p:spPr bwMode="auto">
          <a:xfrm>
            <a:off x="4659313" y="4608513"/>
            <a:ext cx="179388" cy="133350"/>
          </a:xfrm>
          <a:prstGeom prst="rect">
            <a:avLst/>
          </a:prstGeom>
          <a:solidFill>
            <a:schemeClr val="accent6"/>
          </a:solidFill>
          <a:ln w="19050" cap="flat" cmpd="sng" algn="ctr">
            <a:noFill/>
            <a:prstDash val="solid"/>
            <a:miter lim="800000"/>
            <a:headEnd type="none" w="med" len="med"/>
            <a:tailEnd type="none" w="med" len="me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7" name="Rectangle 26"/>
          <p:cNvSpPr/>
          <p:nvPr/>
        </p:nvSpPr>
        <p:spPr bwMode="auto">
          <a:xfrm>
            <a:off x="4659313" y="4811713"/>
            <a:ext cx="179388" cy="133350"/>
          </a:xfrm>
          <a:prstGeom prst="rect">
            <a:avLst/>
          </a:prstGeom>
          <a:solidFill>
            <a:schemeClr val="accent5"/>
          </a:solidFill>
          <a:ln w="19050" cap="flat" cmpd="sng" algn="ctr">
            <a:noFill/>
            <a:prstDash val="solid"/>
            <a:miter lim="800000"/>
            <a:headEnd type="none" w="med" len="med"/>
            <a:tailEnd type="none" w="med" len="me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6" name="Rectangle 25"/>
          <p:cNvSpPr/>
          <p:nvPr/>
        </p:nvSpPr>
        <p:spPr bwMode="auto">
          <a:xfrm>
            <a:off x="4659313" y="5014913"/>
            <a:ext cx="179388" cy="133350"/>
          </a:xfrm>
          <a:prstGeom prst="rect">
            <a:avLst/>
          </a:prstGeom>
          <a:solidFill>
            <a:schemeClr val="accent4"/>
          </a:solidFill>
          <a:ln w="19050" cap="flat" cmpd="sng" algn="ctr">
            <a:noFill/>
            <a:prstDash val="solid"/>
            <a:miter lim="800000"/>
            <a:headEnd type="none" w="med" len="med"/>
            <a:tailEnd type="none" w="med" len="me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5" name="Rectangle 24"/>
          <p:cNvSpPr/>
          <p:nvPr/>
        </p:nvSpPr>
        <p:spPr bwMode="auto">
          <a:xfrm>
            <a:off x="4659313" y="5218113"/>
            <a:ext cx="179388" cy="133350"/>
          </a:xfrm>
          <a:prstGeom prst="rect">
            <a:avLst/>
          </a:prstGeom>
          <a:solidFill>
            <a:schemeClr val="accent3"/>
          </a:solidFill>
          <a:ln w="19050" cap="flat" cmpd="sng" algn="ctr">
            <a:noFill/>
            <a:prstDash val="solid"/>
            <a:miter lim="800000"/>
            <a:headEnd type="none" w="med" len="med"/>
            <a:tailEnd type="none" w="med" len="me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4" name="Rectangle 23"/>
          <p:cNvSpPr/>
          <p:nvPr/>
        </p:nvSpPr>
        <p:spPr bwMode="auto">
          <a:xfrm>
            <a:off x="4659313" y="5421313"/>
            <a:ext cx="179388" cy="133350"/>
          </a:xfrm>
          <a:prstGeom prst="rect">
            <a:avLst/>
          </a:prstGeom>
          <a:solidFill>
            <a:schemeClr val="accent2"/>
          </a:solidFill>
          <a:ln w="19050" cap="flat" cmpd="sng" algn="ctr">
            <a:noFill/>
            <a:prstDash val="solid"/>
            <a:miter lim="800000"/>
            <a:headEnd type="none" w="med" len="med"/>
            <a:tailEnd type="none" w="med" len="me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3" name="Rectangle 22"/>
          <p:cNvSpPr/>
          <p:nvPr/>
        </p:nvSpPr>
        <p:spPr bwMode="auto">
          <a:xfrm>
            <a:off x="4659313" y="5624513"/>
            <a:ext cx="179388" cy="133350"/>
          </a:xfrm>
          <a:prstGeom prst="rect">
            <a:avLst/>
          </a:prstGeom>
          <a:solidFill>
            <a:schemeClr val="accent1"/>
          </a:solidFill>
          <a:ln w="19050" cap="flat" cmpd="sng" algn="ctr">
            <a:noFill/>
            <a:prstDash val="solid"/>
            <a:miter lim="800000"/>
            <a:headEnd type="none" w="med" len="med"/>
            <a:tailEnd type="none" w="med" len="me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8" name="Text Placeholder 25"/>
          <p:cNvSpPr>
            <a:spLocks/>
          </p:cNvSpPr>
          <p:nvPr/>
        </p:nvSpPr>
        <p:spPr bwMode="auto">
          <a:xfrm>
            <a:off x="4889500" y="4197350"/>
            <a:ext cx="1895475" cy="152400"/>
          </a:xfrm>
          <a:prstGeom prst="rect">
            <a:avLst/>
          </a:prstGeom>
          <a:noFill/>
          <a:ln>
            <a:noFill/>
          </a:ln>
          <a:effectLst/>
        </p:spPr>
        <p:txBody>
          <a:bodyPr vert="horz" wrap="none" lIns="0" tIns="0" rIns="0" bIns="0" rtlCol="0" anchor="ctr">
            <a:noAutofit/>
          </a:bodyPr>
          <a:p>
            <a:pPr marL="0" lvl="0" indent="0">
              <a:spcBef>
                <a:spcPct val="0"/>
              </a:spcBef>
              <a:spcAft>
                <a:spcPct val="0"/>
              </a:spcAft>
              <a:buNone/>
            </a:pPr>
            <a:r>
              <a:rPr lang="en-US" altLang="en-US" sz="1000" smtClean="0">
                <a:solidFill>
                  <a:srgbClr val="000000"/>
                </a:solidFill>
              </a:rPr>
              <a:t>Residual (incl. unassigned spend)</a:t>
            </a:r>
            <a:endParaRPr lang="en-US" sz="1000">
              <a:solidFill>
                <a:srgbClr val="000000"/>
              </a:solidFill>
            </a:endParaRPr>
          </a:p>
        </p:txBody>
      </p:sp>
      <p:sp>
        <p:nvSpPr>
          <p:cNvPr id="358" name="Text Placeholder 25"/>
          <p:cNvSpPr>
            <a:spLocks/>
          </p:cNvSpPr>
          <p:nvPr/>
        </p:nvSpPr>
        <p:spPr bwMode="auto">
          <a:xfrm>
            <a:off x="4889500" y="4400550"/>
            <a:ext cx="1200150" cy="152400"/>
          </a:xfrm>
          <a:prstGeom prst="rect">
            <a:avLst/>
          </a:prstGeom>
          <a:noFill/>
          <a:ln>
            <a:noFill/>
          </a:ln>
          <a:effectLst/>
        </p:spPr>
        <p:txBody>
          <a:bodyPr vert="horz" wrap="none" lIns="0" tIns="0" rIns="0" bIns="0" rtlCol="0" anchor="ctr">
            <a:noAutofit/>
          </a:bodyPr>
          <a:p>
            <a:pPr marL="0" lvl="0" indent="0">
              <a:spcBef>
                <a:spcPct val="0"/>
              </a:spcBef>
              <a:spcAft>
                <a:spcPct val="0"/>
              </a:spcAft>
              <a:buNone/>
            </a:pPr>
            <a:r>
              <a:rPr lang="en-US" altLang="en-US" sz="1000" smtClean="0">
                <a:solidFill>
                  <a:srgbClr val="000000"/>
                </a:solidFill>
              </a:rPr>
              <a:t>HVAC and ventilation</a:t>
            </a:r>
            <a:endParaRPr lang="en-US" sz="1000">
              <a:solidFill>
                <a:srgbClr val="000000"/>
              </a:solidFill>
            </a:endParaRPr>
          </a:p>
        </p:txBody>
      </p:sp>
      <p:sp>
        <p:nvSpPr>
          <p:cNvPr id="347" name="Text Placeholder 25"/>
          <p:cNvSpPr>
            <a:spLocks/>
          </p:cNvSpPr>
          <p:nvPr/>
        </p:nvSpPr>
        <p:spPr bwMode="auto">
          <a:xfrm>
            <a:off x="4889500" y="4603750"/>
            <a:ext cx="1220788" cy="152400"/>
          </a:xfrm>
          <a:prstGeom prst="rect">
            <a:avLst/>
          </a:prstGeom>
          <a:noFill/>
          <a:ln>
            <a:noFill/>
          </a:ln>
          <a:effectLst/>
        </p:spPr>
        <p:txBody>
          <a:bodyPr vert="horz" wrap="none" lIns="0" tIns="0" rIns="0" bIns="0" rtlCol="0" anchor="ctr">
            <a:noAutofit/>
          </a:bodyPr>
          <a:p>
            <a:pPr marL="0" lvl="0" indent="0">
              <a:spcBef>
                <a:spcPct val="0"/>
              </a:spcBef>
              <a:spcAft>
                <a:spcPct val="0"/>
              </a:spcAft>
              <a:buNone/>
            </a:pPr>
            <a:r>
              <a:rPr lang="en-US" altLang="en-US" sz="1000" smtClean="0">
                <a:solidFill>
                  <a:srgbClr val="000000"/>
                </a:solidFill>
              </a:rPr>
              <a:t>Castings and forgings</a:t>
            </a:r>
            <a:endParaRPr lang="en-US" sz="1000">
              <a:solidFill>
                <a:srgbClr val="000000"/>
              </a:solidFill>
            </a:endParaRPr>
          </a:p>
        </p:txBody>
      </p:sp>
      <p:sp>
        <p:nvSpPr>
          <p:cNvPr id="348" name="Text Placeholder 25"/>
          <p:cNvSpPr>
            <a:spLocks/>
          </p:cNvSpPr>
          <p:nvPr/>
        </p:nvSpPr>
        <p:spPr bwMode="auto">
          <a:xfrm>
            <a:off x="4889500" y="4806950"/>
            <a:ext cx="1311275" cy="152400"/>
          </a:xfrm>
          <a:prstGeom prst="rect">
            <a:avLst/>
          </a:prstGeom>
          <a:noFill/>
          <a:ln>
            <a:noFill/>
          </a:ln>
          <a:effectLst/>
        </p:spPr>
        <p:txBody>
          <a:bodyPr vert="horz" wrap="none" lIns="0" tIns="0" rIns="0" bIns="0" rtlCol="0" anchor="ctr">
            <a:noAutofit/>
          </a:bodyPr>
          <a:p>
            <a:pPr marL="0" lvl="0" indent="0">
              <a:spcBef>
                <a:spcPct val="0"/>
              </a:spcBef>
              <a:spcAft>
                <a:spcPct val="0"/>
              </a:spcAft>
              <a:buNone/>
            </a:pPr>
            <a:r>
              <a:rPr lang="en-US" altLang="en-US" sz="1000" smtClean="0">
                <a:solidFill>
                  <a:srgbClr val="000000"/>
                </a:solidFill>
              </a:rPr>
              <a:t>Coatings and insulation</a:t>
            </a:r>
            <a:endParaRPr lang="en-US" sz="1000">
              <a:solidFill>
                <a:srgbClr val="000000"/>
              </a:solidFill>
            </a:endParaRPr>
          </a:p>
        </p:txBody>
      </p:sp>
      <p:sp>
        <p:nvSpPr>
          <p:cNvPr id="377" name="Text Placeholder 25"/>
          <p:cNvSpPr>
            <a:spLocks/>
          </p:cNvSpPr>
          <p:nvPr/>
        </p:nvSpPr>
        <p:spPr bwMode="auto">
          <a:xfrm>
            <a:off x="4889500" y="5010150"/>
            <a:ext cx="576263" cy="152400"/>
          </a:xfrm>
          <a:prstGeom prst="rect">
            <a:avLst/>
          </a:prstGeom>
          <a:noFill/>
          <a:ln>
            <a:noFill/>
          </a:ln>
          <a:effectLst/>
        </p:spPr>
        <p:txBody>
          <a:bodyPr vert="horz" wrap="none" lIns="0" tIns="0" rIns="0" bIns="0" rtlCol="0" anchor="ctr">
            <a:noAutofit/>
          </a:bodyPr>
          <a:p>
            <a:pPr marL="0" lvl="0" indent="0">
              <a:spcBef>
                <a:spcPct val="0"/>
              </a:spcBef>
              <a:spcAft>
                <a:spcPct val="0"/>
              </a:spcAft>
              <a:buNone/>
            </a:pPr>
            <a:r>
              <a:rPr lang="en-US" altLang="en-US" sz="1000" smtClean="0">
                <a:solidFill>
                  <a:srgbClr val="000000"/>
                </a:solidFill>
              </a:rPr>
              <a:t>Machining</a:t>
            </a:r>
            <a:endParaRPr lang="en-US" sz="1000">
              <a:solidFill>
                <a:srgbClr val="000000"/>
              </a:solidFill>
            </a:endParaRPr>
          </a:p>
        </p:txBody>
      </p:sp>
      <p:sp>
        <p:nvSpPr>
          <p:cNvPr id="376" name="Text Placeholder 25"/>
          <p:cNvSpPr>
            <a:spLocks/>
          </p:cNvSpPr>
          <p:nvPr/>
        </p:nvSpPr>
        <p:spPr bwMode="auto">
          <a:xfrm>
            <a:off x="4889500" y="5213350"/>
            <a:ext cx="1936750" cy="152400"/>
          </a:xfrm>
          <a:prstGeom prst="rect">
            <a:avLst/>
          </a:prstGeom>
          <a:noFill/>
          <a:ln>
            <a:noFill/>
          </a:ln>
          <a:effectLst/>
        </p:spPr>
        <p:txBody>
          <a:bodyPr vert="horz" wrap="none" lIns="0" tIns="0" rIns="0" bIns="0" rtlCol="0" anchor="ctr">
            <a:noAutofit/>
          </a:bodyPr>
          <a:p>
            <a:pPr marL="0" lvl="0" indent="0">
              <a:spcBef>
                <a:spcPct val="0"/>
              </a:spcBef>
              <a:spcAft>
                <a:spcPct val="0"/>
              </a:spcAft>
              <a:buNone/>
            </a:pPr>
            <a:r>
              <a:rPr lang="en-US" altLang="en-US" sz="1000" smtClean="0">
                <a:solidFill>
                  <a:srgbClr val="000000"/>
                </a:solidFill>
              </a:rPr>
              <a:t>Structural fabrication and pre-outfit</a:t>
            </a:r>
            <a:endParaRPr lang="en-US" sz="1000">
              <a:solidFill>
                <a:srgbClr val="000000"/>
              </a:solidFill>
            </a:endParaRPr>
          </a:p>
        </p:txBody>
      </p:sp>
      <p:sp>
        <p:nvSpPr>
          <p:cNvPr id="359" name="Text Placeholder 25"/>
          <p:cNvSpPr>
            <a:spLocks/>
          </p:cNvSpPr>
          <p:nvPr/>
        </p:nvSpPr>
        <p:spPr bwMode="auto">
          <a:xfrm>
            <a:off x="4889500" y="5416550"/>
            <a:ext cx="1473200" cy="152400"/>
          </a:xfrm>
          <a:prstGeom prst="rect">
            <a:avLst/>
          </a:prstGeom>
          <a:noFill/>
          <a:ln>
            <a:noFill/>
          </a:ln>
          <a:effectLst/>
        </p:spPr>
        <p:txBody>
          <a:bodyPr vert="horz" wrap="none" lIns="0" tIns="0" rIns="0" bIns="0" rtlCol="0" anchor="ctr">
            <a:noAutofit/>
          </a:bodyPr>
          <a:p>
            <a:pPr marL="0" lvl="0" indent="0">
              <a:spcBef>
                <a:spcPct val="0"/>
              </a:spcBef>
              <a:spcAft>
                <a:spcPct val="0"/>
              </a:spcAft>
              <a:buNone/>
            </a:pPr>
            <a:r>
              <a:rPr lang="en-US" altLang="en-US" sz="1000" smtClean="0">
                <a:solidFill>
                  <a:srgbClr val="000000"/>
                </a:solidFill>
              </a:rPr>
              <a:t>Piping, valves, and pumps</a:t>
            </a:r>
            <a:endParaRPr lang="en-US" sz="1000">
              <a:solidFill>
                <a:srgbClr val="000000"/>
              </a:solidFill>
            </a:endParaRPr>
          </a:p>
        </p:txBody>
      </p:sp>
      <p:sp>
        <p:nvSpPr>
          <p:cNvPr id="349" name="Text Placeholder 25"/>
          <p:cNvSpPr>
            <a:spLocks/>
          </p:cNvSpPr>
          <p:nvPr/>
        </p:nvSpPr>
        <p:spPr bwMode="auto">
          <a:xfrm>
            <a:off x="4889500" y="5619750"/>
            <a:ext cx="1138238" cy="152400"/>
          </a:xfrm>
          <a:prstGeom prst="rect">
            <a:avLst/>
          </a:prstGeom>
          <a:noFill/>
          <a:ln>
            <a:noFill/>
          </a:ln>
          <a:effectLst/>
        </p:spPr>
        <p:txBody>
          <a:bodyPr vert="horz" wrap="none" lIns="0" tIns="0" rIns="0" bIns="0" rtlCol="0" anchor="ctr">
            <a:noAutofit/>
          </a:bodyPr>
          <a:p>
            <a:pPr marL="0" lvl="0" indent="0">
              <a:spcBef>
                <a:spcPct val="0"/>
              </a:spcBef>
              <a:spcAft>
                <a:spcPct val="0"/>
              </a:spcAft>
              <a:buNone/>
            </a:pPr>
            <a:r>
              <a:rPr lang="en-US" altLang="en-US" sz="1000" smtClean="0">
                <a:solidFill>
                  <a:srgbClr val="000000"/>
                </a:solidFill>
              </a:rPr>
              <a:t>Electrical and power</a:t>
            </a:r>
            <a:endParaRPr lang="en-US" sz="1000">
              <a:solidFill>
                <a:srgbClr val="000000"/>
              </a:solidFill>
            </a:endParaRPr>
          </a:p>
        </p:txBody>
      </p:sp>
      <p:sp>
        <p:nvSpPr>
          <p:cNvPr id="355" name="Sources"/>
          <p:cNvSpPr txBox="1"/>
          <p:nvPr/>
        </p:nvSpPr>
        <p:spPr>
          <a:xfrm>
            <a:off x="453079" y="6108308"/>
            <a:ext cx="11282362" cy="294714"/>
          </a:xfrm>
          <a:prstGeom prst="rect">
            <a:avLst/>
          </a:prstGeom>
          <a:noFill/>
          <a:ln>
            <a:noFill/>
          </a:ln>
        </p:spPr>
        <p:txBody>
          <a:bodyPr wrap="square" lIns="91440" tIns="45720" rIns="91440" bIns="45720" anchor="t"/>
          <a:lstStyle/>
          <a:p>
            <a:r>
              <a:rPr lang="en-US" sz="800" kern="1200">
                <a:solidFill>
                  <a:srgbClr val="162029"/>
                </a:solidFill>
                <a:latin typeface="Arial"/>
                <a:ea typeface="Arial"/>
                <a:cs typeface="Arial"/>
              </a:rPr>
              <a:t>Sources: Navy SCN P-5c / P-40 budget justification, FY22–FY27, and PB27 FYDP outyears (FY28–FY31); FY26, PL 119-21 Sec. 20002; PB27 SCN, Columbia P-10 Strategic Outsourcing narrative; OUSD(C) Green Book Procurement deflators; Navy Shipbuilding Plan; PB27 SCN Exhibit P-10, LI 2122 (AP/LLTM Ship Construction EOQ); FFATA/FSRS subaward records, yard-prime construction PIIDs, FY22–FY25 action years (work-type shares)</a:t>
            </a:r>
          </a:p>
        </p:txBody>
      </p:sp>
      <p:sp>
        <p:nvSpPr>
          <p:cNvPr id="339" name="MethodFindings"/>
          <p:cNvSpPr txBox="1"/>
          <p:nvPr/>
        </p:nvSpPr>
        <p:spPr>
          <a:xfrm>
            <a:off x="7040880" y="5022671"/>
            <a:ext cx="4694238" cy="1100000"/>
          </a:xfrm>
          <a:prstGeom prst="rect">
            <a:avLst/>
          </a:prstGeom>
          <a:solidFill>
            <a:srgbClr val="F2F2F2"/>
          </a:solidFill>
          <a:ln w="12700">
            <a:solidFill>
              <a:srgbClr val="000000"/>
            </a:solidFill>
          </a:ln>
        </p:spPr>
        <p:txBody>
          <a:bodyPr wrap="square" lIns="45720" tIns="54864" rIns="45720" bIns="54864" anchor="ctr"/>
          <a:lstStyle/>
          <a:p>
            <a:pPr algn="ctr">
              <a:lnSpc>
                <a:spcPct val="105000"/>
              </a:lnSpc>
              <a:spcAft>
                <a:spcPts val="600"/>
              </a:spcAft>
              <a:buNone/>
            </a:pPr>
            <a:r>
              <a:rPr lang="en-US" sz="1000" i="1">
                <a:solidFill>
                  <a:srgbClr val="000000"/>
                </a:solidFill>
                <a:latin typeface="Arial"/>
                <a:ea typeface="Arial"/>
                <a:cs typeface="Arial"/>
              </a:rPr>
              <a:t>Subaward dollars are reported against program-specific yard construction contracts (PIIDs) — block-level masters for Virginia and Columbia, per-yard multiyear blocks for DDG-51 — with program identity confirmed in FPDS and the SCN contract-data exhibits.</a:t>
            </a:r>
          </a:p>
          <a:p>
            <a:pPr algn="ctr">
              <a:lnSpc>
                <a:spcPct val="105000"/>
              </a:lnSpc>
              <a:spcAft>
                <a:spcPts val="90"/>
              </a:spcAft>
              <a:buNone/>
            </a:pPr>
            <a:r>
              <a:rPr lang="en-US" sz="1000" i="1">
                <a:solidFill>
                  <a:srgbClr val="000000"/>
                </a:solidFill>
                <a:latin typeface="Arial"/>
                <a:ea typeface="Arial"/>
                <a:cs typeface="Arial"/>
              </a:rPr>
              <a:t>Dollars book in full to the fiscal year the order is placed (the FFATA action date): order timing across the block, not per-hull spend or in-year payment.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52" name="BandCommentary"/>
          <p:cNvGraphicFramePr>
            <a:graphicFrameLocks noGrp="1"/>
          </p:cNvGraphicFramePr>
          <p:nvPr/>
        </p:nvGraphicFramePr>
        <p:xfrm>
          <a:off x="453078" y="4996171"/>
          <a:ext cx="11282361" cy="1420876"/>
        </p:xfrm>
        <a:graphic>
          <a:graphicData uri="http://schemas.openxmlformats.org/drawingml/2006/table">
            <a:tbl>
              <a:tblPr firstRow="1" firstCol="1">
                <a:tableStyleId>{2D5ABB26-0587-4C30-8999-92F81FD0307C}</a:tableStyleId>
              </a:tblPr>
              <a:tblGrid>
                <a:gridCol w="768899"/>
                <a:gridCol w="3945924"/>
                <a:gridCol w="6567538"/>
              </a:tblGrid>
              <a:tr h="613446">
                <a:tc>
                  <a:txBody>
                    <a:bodyPr/>
                    <a:lstStyle/>
                    <a:p>
                      <a:pPr algn="l">
                        <a:lnSpc>
                          <a:spcPct val="115000"/>
                        </a:lnSpc>
                      </a:pPr>
                      <a:r>
                        <a:rPr lang="en-US" sz="800" b="1">
                          <a:solidFill>
                            <a:srgbClr val="000000"/>
                          </a:solidFill>
                          <a:latin typeface="Arial"/>
                          <a:ea typeface="Arial"/>
                          <a:cs typeface="Arial"/>
                        </a:rPr>
                        <a:t>Submarines</a:t>
                      </a:r>
                    </a:p>
                  </a:txBody>
                  <a:tcPr marL="45720" marR="45720" anchor="ctr">
                    <a:lnL>
                      <a:noFill/>
                    </a:lnL>
                    <a:lnR>
                      <a:noFill/>
                    </a:lnR>
                    <a:lnT>
                      <a:noFill/>
                    </a:lnT>
                    <a:lnB w="9525" cap="flat" cmpd="sng" algn="ctr">
                      <a:solidFill>
                        <a:srgbClr val="000000"/>
                      </a:solidFill>
                      <a:prstDash val="solid"/>
                    </a:lnB>
                    <a:noFill/>
                  </a:tcPr>
                </a:tc>
                <a:tc>
                  <a:txBody>
                    <a:bodyPr/>
                    <a:lstStyle/>
                    <a:p>
                      <a:pPr algn="l">
                        <a:lnSpc>
                          <a:spcPct val="115000"/>
                        </a:lnSpc>
                      </a:pPr>
                      <a:r>
                        <a:rPr lang="en-US" sz="800" b="1" u="sng">
                          <a:solidFill>
                            <a:srgbClr val="000000"/>
                          </a:solidFill>
                          <a:latin typeface="Arial"/>
                          <a:ea typeface="Arial"/>
                          <a:cs typeface="Arial"/>
                        </a:rPr>
                        <a:t>Total Funding:</a:t>
                      </a:r>
                      <a:r>
                        <a:rPr lang="en-US" sz="800">
                          <a:solidFill>
                            <a:srgbClr val="000000"/>
                          </a:solidFill>
                          <a:latin typeface="Arial"/>
                          <a:ea typeface="Arial"/>
                          <a:cs typeface="Arial"/>
                        </a:rPr>
                        <a:t> </a:t>
                      </a:r>
                      <a:r>
                        <a:rPr lang="en-US" sz="800" i="1">
                          <a:solidFill>
                            <a:srgbClr val="000000"/>
                          </a:solidFill>
                          <a:latin typeface="Arial"/>
                          <a:ea typeface="Arial"/>
                          <a:cs typeface="Arial"/>
                        </a:rPr>
                        <a:t>Virginia</a:t>
                      </a:r>
                      <a:r>
                        <a:rPr lang="en-US" sz="800">
                          <a:solidFill>
                            <a:srgbClr val="000000"/>
                          </a:solidFill>
                          <a:latin typeface="Arial"/>
                          <a:ea typeface="Arial"/>
                          <a:cs typeface="Arial"/>
                        </a:rPr>
                        <a:t> funds annually (2/yr; 1x in FY25); </a:t>
                      </a:r>
                      <a:r>
                        <a:rPr lang="en-US" sz="800" i="1">
                          <a:solidFill>
                            <a:srgbClr val="000000"/>
                          </a:solidFill>
                          <a:latin typeface="Arial"/>
                          <a:ea typeface="Arial"/>
                          <a:cs typeface="Arial"/>
                        </a:rPr>
                        <a:t>Columbia</a:t>
                      </a:r>
                      <a:r>
                        <a:rPr lang="en-US" sz="800">
                          <a:solidFill>
                            <a:srgbClr val="000000"/>
                          </a:solidFill>
                          <a:latin typeface="Arial"/>
                          <a:ea typeface="Arial"/>
                          <a:cs typeface="Arial"/>
                        </a:rPr>
                        <a:t> funds biennially (FY24 in window)</a:t>
                      </a:r>
                    </a:p>
                    <a:p>
                      <a:pPr algn="l">
                        <a:lnSpc>
                          <a:spcPct val="115000"/>
                        </a:lnSpc>
                      </a:pPr>
                      <a:r>
                        <a:rPr lang="en-US" sz="800" b="1" u="sng">
                          <a:solidFill>
                            <a:srgbClr val="000000"/>
                          </a:solidFill>
                          <a:latin typeface="Arial"/>
                          <a:ea typeface="Arial"/>
                          <a:cs typeface="Arial"/>
                        </a:rPr>
                        <a:t>Outsourcing:</a:t>
                      </a:r>
                      <a:r>
                        <a:rPr lang="en-US" sz="800">
                          <a:solidFill>
                            <a:srgbClr val="000000"/>
                          </a:solidFill>
                          <a:latin typeface="Arial"/>
                          <a:ea typeface="Arial"/>
                          <a:cs typeface="Arial"/>
                        </a:rPr>
                        <a:t> </a:t>
                      </a:r>
                      <a:r>
                        <a:rPr lang="en-US" sz="800" i="1">
                          <a:solidFill>
                            <a:srgbClr val="000000"/>
                          </a:solidFill>
                          <a:latin typeface="Arial"/>
                          <a:ea typeface="Arial"/>
                          <a:cs typeface="Arial"/>
                        </a:rPr>
                        <a:t>Virginia</a:t>
                      </a:r>
                      <a:r>
                        <a:rPr lang="en-US" sz="800">
                          <a:solidFill>
                            <a:srgbClr val="000000"/>
                          </a:solidFill>
                          <a:latin typeface="Arial"/>
                          <a:ea typeface="Arial"/>
                          <a:cs typeface="Arial"/>
                        </a:rPr>
                        <a:t> outsourced ~19-27% per year (FY22-25 avg. ~24%); </a:t>
                      </a:r>
                      <a:r>
                        <a:rPr lang="en-US" sz="800" i="1">
                          <a:solidFill>
                            <a:srgbClr val="000000"/>
                          </a:solidFill>
                          <a:latin typeface="Arial"/>
                          <a:ea typeface="Arial"/>
                          <a:cs typeface="Arial"/>
                        </a:rPr>
                        <a:t>Columbia</a:t>
                      </a:r>
                      <a:r>
                        <a:rPr lang="en-US" sz="800">
                          <a:solidFill>
                            <a:srgbClr val="000000"/>
                          </a:solidFill>
                          <a:latin typeface="Arial"/>
                          <a:ea typeface="Arial"/>
                          <a:cs typeface="Arial"/>
                        </a:rPr>
                        <a:t> ~13% (FY24)</a:t>
                      </a:r>
                    </a:p>
                  </a:txBody>
                  <a:tcPr marL="45720" marR="45720" anchor="ctr">
                    <a:lnL>
                      <a:noFill/>
                    </a:lnL>
                    <a:lnR>
                      <a:noFill/>
                    </a:lnR>
                    <a:lnT>
                      <a:noFill/>
                    </a:lnT>
                    <a:lnB w="9525" cap="flat" cmpd="sng" algn="ctr">
                      <a:solidFill>
                        <a:srgbClr val="000000"/>
                      </a:solidFill>
                      <a:prstDash val="solid"/>
                    </a:lnB>
                    <a:noFill/>
                  </a:tcPr>
                </a:tc>
                <a:tc>
                  <a:txBody>
                    <a:bodyPr/>
                    <a:lstStyle/>
                    <a:p>
                      <a:pPr algn="l">
                        <a:lnSpc>
                          <a:spcPct val="115000"/>
                        </a:lnSpc>
                      </a:pPr>
                      <a:r>
                        <a:rPr lang="en-US" sz="800" b="1" u="sng">
                          <a:solidFill>
                            <a:srgbClr val="000000"/>
                          </a:solidFill>
                          <a:latin typeface="Arial"/>
                          <a:ea typeface="Arial"/>
                          <a:cs typeface="Arial"/>
                        </a:rPr>
                        <a:t>Total Funding:</a:t>
                      </a:r>
                      <a:r>
                        <a:rPr lang="en-US" sz="800">
                          <a:solidFill>
                            <a:srgbClr val="000000"/>
                          </a:solidFill>
                          <a:latin typeface="Arial"/>
                          <a:ea typeface="Arial"/>
                          <a:cs typeface="Arial"/>
                        </a:rPr>
                        <a:t> OBBBA adds $4.6B for a second </a:t>
                      </a:r>
                      <a:r>
                        <a:rPr lang="en-US" sz="800" i="1">
                          <a:solidFill>
                            <a:srgbClr val="000000"/>
                          </a:solidFill>
                          <a:latin typeface="Arial"/>
                          <a:ea typeface="Arial"/>
                          <a:cs typeface="Arial"/>
                        </a:rPr>
                        <a:t>Virginia</a:t>
                      </a:r>
                      <a:r>
                        <a:rPr lang="en-US" sz="800">
                          <a:solidFill>
                            <a:srgbClr val="000000"/>
                          </a:solidFill>
                          <a:latin typeface="Arial"/>
                          <a:ea typeface="Arial"/>
                          <a:cs typeface="Arial"/>
                        </a:rPr>
                        <a:t> in FY26 (Sec. 20002(16)); FYDP calls for 1x </a:t>
                      </a:r>
                      <a:r>
                        <a:rPr lang="en-US" sz="800" i="1">
                          <a:solidFill>
                            <a:srgbClr val="000000"/>
                          </a:solidFill>
                          <a:latin typeface="Arial"/>
                          <a:ea typeface="Arial"/>
                          <a:cs typeface="Arial"/>
                        </a:rPr>
                        <a:t>Columbia</a:t>
                      </a:r>
                      <a:r>
                        <a:rPr lang="en-US" sz="800">
                          <a:solidFill>
                            <a:srgbClr val="000000"/>
                          </a:solidFill>
                          <a:latin typeface="Arial"/>
                          <a:ea typeface="Arial"/>
                          <a:cs typeface="Arial"/>
                        </a:rPr>
                        <a:t> p.a. from FY26 and 2x </a:t>
                      </a:r>
                      <a:r>
                        <a:rPr lang="en-US" sz="800" i="1">
                          <a:solidFill>
                            <a:srgbClr val="000000"/>
                          </a:solidFill>
                          <a:latin typeface="Arial"/>
                          <a:ea typeface="Arial"/>
                          <a:cs typeface="Arial"/>
                        </a:rPr>
                        <a:t>Virginia</a:t>
                      </a:r>
                      <a:r>
                        <a:rPr lang="en-US" sz="800">
                          <a:solidFill>
                            <a:srgbClr val="000000"/>
                          </a:solidFill>
                          <a:latin typeface="Arial"/>
                          <a:ea typeface="Arial"/>
                          <a:cs typeface="Arial"/>
                        </a:rPr>
                        <a:t> p.a. from FY27</a:t>
                      </a:r>
                    </a:p>
                    <a:p>
                      <a:pPr algn="l">
                        <a:lnSpc>
                          <a:spcPct val="115000"/>
                        </a:lnSpc>
                      </a:pPr>
                      <a:r>
                        <a:rPr lang="en-US" sz="800" b="1" u="sng">
                          <a:solidFill>
                            <a:srgbClr val="000000"/>
                          </a:solidFill>
                          <a:latin typeface="Arial"/>
                          <a:ea typeface="Arial"/>
                          <a:cs typeface="Arial"/>
                        </a:rPr>
                        <a:t>Outsourcing:</a:t>
                      </a:r>
                      <a:r>
                        <a:rPr lang="en-US" sz="800">
                          <a:solidFill>
                            <a:srgbClr val="000000"/>
                          </a:solidFill>
                          <a:latin typeface="Arial"/>
                          <a:ea typeface="Arial"/>
                          <a:cs typeface="Arial"/>
                        </a:rPr>
                        <a:t> Lower bound reflects FY22–25 avg. rate; Upper bound assumes penetration grows ~1.8 ppts p.a. for </a:t>
                      </a:r>
                      <a:r>
                        <a:rPr lang="en-US" sz="800" i="1">
                          <a:solidFill>
                            <a:srgbClr val="000000"/>
                          </a:solidFill>
                          <a:latin typeface="Arial"/>
                          <a:ea typeface="Arial"/>
                          <a:cs typeface="Arial"/>
                        </a:rPr>
                        <a:t>Virginia</a:t>
                      </a:r>
                      <a:r>
                        <a:rPr lang="en-US" sz="800">
                          <a:solidFill>
                            <a:srgbClr val="000000"/>
                          </a:solidFill>
                          <a:latin typeface="Arial"/>
                          <a:ea typeface="Arial"/>
                          <a:cs typeface="Arial"/>
                        </a:rPr>
                        <a:t> and ~1.0 ppts p.a. for </a:t>
                      </a:r>
                      <a:r>
                        <a:rPr lang="en-US" sz="800" i="1">
                          <a:solidFill>
                            <a:srgbClr val="000000"/>
                          </a:solidFill>
                          <a:latin typeface="Arial"/>
                          <a:ea typeface="Arial"/>
                          <a:cs typeface="Arial"/>
                        </a:rPr>
                        <a:t>Columbia</a:t>
                      </a:r>
                      <a:r>
                        <a:rPr lang="en-US" sz="800">
                          <a:solidFill>
                            <a:srgbClr val="000000"/>
                          </a:solidFill>
                          <a:latin typeface="Arial"/>
                          <a:ea typeface="Arial"/>
                          <a:cs typeface="Arial"/>
                        </a:rPr>
                        <a:t> (~7% CAGR), towards ~31% (</a:t>
                      </a:r>
                      <a:r>
                        <a:rPr lang="en-US" sz="800" i="1">
                          <a:solidFill>
                            <a:srgbClr val="000000"/>
                          </a:solidFill>
                          <a:latin typeface="Arial"/>
                          <a:ea typeface="Arial"/>
                          <a:cs typeface="Arial"/>
                        </a:rPr>
                        <a:t>Virginia</a:t>
                      </a:r>
                      <a:r>
                        <a:rPr lang="en-US" sz="800">
                          <a:solidFill>
                            <a:srgbClr val="000000"/>
                          </a:solidFill>
                          <a:latin typeface="Arial"/>
                          <a:ea typeface="Arial"/>
                          <a:cs typeface="Arial"/>
                        </a:rPr>
                        <a:t>) / ~17% (</a:t>
                      </a:r>
                      <a:r>
                        <a:rPr lang="en-US" sz="800" i="1">
                          <a:solidFill>
                            <a:srgbClr val="000000"/>
                          </a:solidFill>
                          <a:latin typeface="Arial"/>
                          <a:ea typeface="Arial"/>
                          <a:cs typeface="Arial"/>
                        </a:rPr>
                        <a:t>Columbia</a:t>
                      </a:r>
                      <a:r>
                        <a:rPr lang="en-US" sz="800">
                          <a:solidFill>
                            <a:srgbClr val="000000"/>
                          </a:solidFill>
                          <a:latin typeface="Arial"/>
                          <a:ea typeface="Arial"/>
                          <a:cs typeface="Arial"/>
                        </a:rPr>
                        <a:t>) targets, driven by “strategically outsourcing workload to qualified suppliers” (PB27 SCN, Columbia P-10)</a:t>
                      </a:r>
                    </a:p>
                  </a:txBody>
                  <a:tcPr marL="45720" marR="45720" anchor="ctr">
                    <a:lnL>
                      <a:noFill/>
                    </a:lnL>
                    <a:lnR>
                      <a:noFill/>
                    </a:lnR>
                    <a:lnT>
                      <a:noFill/>
                    </a:lnT>
                    <a:lnB w="9525" cap="flat" cmpd="sng" algn="ctr">
                      <a:solidFill>
                        <a:srgbClr val="000000"/>
                      </a:solidFill>
                      <a:prstDash val="solid"/>
                    </a:lnB>
                    <a:noFill/>
                  </a:tcPr>
                </a:tc>
              </a:tr>
              <a:tr h="541600">
                <a:tc>
                  <a:txBody>
                    <a:bodyPr/>
                    <a:lstStyle/>
                    <a:p>
                      <a:pPr algn="l">
                        <a:lnSpc>
                          <a:spcPct val="115000"/>
                        </a:lnSpc>
                      </a:pPr>
                      <a:r>
                        <a:rPr lang="en-US" sz="800" b="1">
                          <a:solidFill>
                            <a:srgbClr val="000000"/>
                          </a:solidFill>
                          <a:latin typeface="Arial"/>
                          <a:ea typeface="Arial"/>
                          <a:cs typeface="Arial"/>
                        </a:rPr>
                        <a:t>DDG-51</a:t>
                      </a:r>
                    </a:p>
                  </a:txBody>
                  <a:tcPr marL="45720" marR="45720" anchor="ctr">
                    <a:lnL>
                      <a:noFill/>
                    </a:lnL>
                    <a:lnR>
                      <a:noFill/>
                    </a:lnR>
                    <a:lnT w="9525" cap="flat" cmpd="sng" algn="ctr">
                      <a:solidFill>
                        <a:srgbClr val="000000"/>
                      </a:solidFill>
                      <a:prstDash val="solid"/>
                      <a:round/>
                      <a:headEnd type="none" w="med" len="med"/>
                      <a:tailEnd type="none" w="med" len="med"/>
                    </a:lnT>
                    <a:lnB>
                      <a:noFill/>
                    </a:lnB>
                    <a:noFill/>
                  </a:tcPr>
                </a:tc>
                <a:tc>
                  <a:txBody>
                    <a:bodyPr/>
                    <a:lstStyle/>
                    <a:p>
                      <a:pPr algn="l">
                        <a:lnSpc>
                          <a:spcPct val="115000"/>
                        </a:lnSpc>
                      </a:pPr>
                      <a:r>
                        <a:rPr lang="en-US" sz="800" b="1" u="sng">
                          <a:solidFill>
                            <a:srgbClr val="000000"/>
                          </a:solidFill>
                          <a:latin typeface="Arial"/>
                          <a:ea typeface="Arial"/>
                          <a:cs typeface="Arial"/>
                        </a:rPr>
                        <a:t>Total Funding:</a:t>
                      </a:r>
                      <a:r>
                        <a:rPr lang="en-US" sz="800">
                          <a:solidFill>
                            <a:srgbClr val="000000"/>
                          </a:solidFill>
                          <a:latin typeface="Arial"/>
                          <a:ea typeface="Arial"/>
                          <a:cs typeface="Arial"/>
                        </a:rPr>
                        <a:t> Procuring at 2-3x per year</a:t>
                      </a:r>
                    </a:p>
                    <a:p>
                      <a:pPr algn="l">
                        <a:lnSpc>
                          <a:spcPct val="115000"/>
                        </a:lnSpc>
                      </a:pPr>
                      <a:r>
                        <a:rPr lang="en-US" sz="800" b="1" u="sng">
                          <a:solidFill>
                            <a:srgbClr val="000000"/>
                          </a:solidFill>
                          <a:latin typeface="Arial"/>
                          <a:ea typeface="Arial"/>
                          <a:cs typeface="Arial"/>
                        </a:rPr>
                        <a:t>Outsourcing:</a:t>
                      </a:r>
                      <a:r>
                        <a:rPr lang="en-US" sz="800">
                          <a:solidFill>
                            <a:srgbClr val="000000"/>
                          </a:solidFill>
                          <a:latin typeface="Arial"/>
                          <a:ea typeface="Arial"/>
                          <a:cs typeface="Arial"/>
                        </a:rPr>
                        <a:t> Outsourced 11-15% per year (FY22–25 avg. ~14%)</a:t>
                      </a:r>
                    </a:p>
                  </a:txBody>
                  <a:tcPr marL="45720" marR="45720" anchor="ctr">
                    <a:lnL>
                      <a:noFill/>
                    </a:lnL>
                    <a:lnR>
                      <a:noFill/>
                    </a:lnR>
                    <a:lnT w="9525" cap="flat" cmpd="sng" algn="ctr">
                      <a:solidFill>
                        <a:srgbClr val="000000"/>
                      </a:solidFill>
                      <a:prstDash val="solid"/>
                      <a:round/>
                      <a:headEnd type="none" w="med" len="med"/>
                      <a:tailEnd type="none" w="med" len="med"/>
                    </a:lnT>
                    <a:lnB>
                      <a:noFill/>
                    </a:lnB>
                    <a:noFill/>
                  </a:tcPr>
                </a:tc>
                <a:tc>
                  <a:txBody>
                    <a:bodyPr/>
                    <a:lstStyle/>
                    <a:p>
                      <a:pPr algn="l">
                        <a:lnSpc>
                          <a:spcPct val="115000"/>
                        </a:lnSpc>
                      </a:pPr>
                      <a:r>
                        <a:rPr lang="en-US" sz="800" b="1" u="sng">
                          <a:solidFill>
                            <a:srgbClr val="000000"/>
                          </a:solidFill>
                          <a:latin typeface="+mn-lt"/>
                          <a:ea typeface="Arial"/>
                          <a:cs typeface="Arial"/>
                        </a:rPr>
                        <a:t>Total Funding:</a:t>
                      </a:r>
                      <a:r>
                        <a:rPr lang="en-US" sz="800">
                          <a:solidFill>
                            <a:srgbClr val="000000"/>
                          </a:solidFill>
                          <a:latin typeface="+mn-lt"/>
                          <a:ea typeface="Arial"/>
                          <a:cs typeface="Arial"/>
                        </a:rPr>
                        <a:t> OBBBA adds $5.4B for two additional DDG-51s in FY26 (Sec. 20002(17)); FYDP calls for ~1.5-ship buys p.a. FY27-FY31</a:t>
                      </a:r>
                    </a:p>
                    <a:p>
                      <a:pPr algn="l">
                        <a:lnSpc>
                          <a:spcPct val="115000"/>
                        </a:lnSpc>
                      </a:pPr>
                      <a:r>
                        <a:rPr lang="en-US" sz="800" b="1" u="sng">
                          <a:solidFill>
                            <a:srgbClr val="000000"/>
                          </a:solidFill>
                          <a:latin typeface="+mn-lt"/>
                          <a:ea typeface="Arial"/>
                          <a:cs typeface="Arial"/>
                        </a:rPr>
                        <a:t>Outsourcing:</a:t>
                      </a:r>
                      <a:r>
                        <a:rPr lang="en-US" sz="800">
                          <a:solidFill>
                            <a:srgbClr val="000000"/>
                          </a:solidFill>
                          <a:latin typeface="+mn-lt"/>
                          <a:ea typeface="Arial"/>
                          <a:cs typeface="Arial"/>
                        </a:rPr>
                        <a:t> FY26 spike driven by OBBBA-related EOQ AP/LLTM (vendor-purchased LLTM bought ahead of the FY27-31 ramp flows almost entirely to suppliers); FY27–31 lower bound reflects FY22–25 avg. rate (i.e., reversion to mean); FY27-31 upper bound assumes ~1.1 ppts p.a. (~7% CAGR) towards a ~19% target using FY22-25 avg. as baseline, driven by stated intent to grow outsourced manhours ~30%</a:t>
                      </a:r>
                    </a:p>
                  </a:txBody>
                  <a:tcPr marL="45720" marR="45720" anchor="ctr">
                    <a:lnL>
                      <a:noFill/>
                    </a:lnL>
                    <a:lnR>
                      <a:noFill/>
                    </a:lnR>
                    <a:lnT w="9525" cap="flat" cmpd="sng" algn="ctr">
                      <a:solidFill>
                        <a:srgbClr val="000000"/>
                      </a:solidFill>
                      <a:prstDash val="solid"/>
                      <a:round/>
                      <a:headEnd type="none" w="med" len="med"/>
                      <a:tailEnd type="none" w="med" len="med"/>
                    </a:lnT>
                    <a:lnB>
                      <a:noFill/>
                    </a:lnB>
                    <a:noFill/>
                  </a:tcPr>
                </a:tc>
              </a:tr>
            </a:tbl>
          </a:graphicData>
        </a:graphic>
      </p:graphicFrame>
      <p:graphicFrame>
        <p:nvGraphicFramePr>
          <p:cNvPr id="337" name="Chart 36"/>
          <p:cNvGraphicFramePr/>
          <p:nvPr/>
        </p:nvGraphicFramePr>
        <p:xfrm>
          <a:off x="646113" y="1574800"/>
          <a:ext cx="11126787" cy="2470150"/>
        </p:xfrm>
        <a:graphic>
          <a:graphicData uri="http://schemas.openxmlformats.org/drawingml/2006/chart">
            <c:chart xmlns:c="http://schemas.openxmlformats.org/drawingml/2006/chart" xmlns:r="http://schemas.openxmlformats.org/officeDocument/2006/relationships" r:id="rId2"/>
          </a:graphicData>
        </a:graphic>
      </p:graphicFrame>
      <p:sp>
        <p:nvSpPr>
          <p:cNvPr id="302" name="Breadcrumb"/>
          <p:cNvSpPr>
            <a:spLocks noGrp="1"/>
          </p:cNvSpPr>
          <p:nvPr>
            <p:ph type="body" sz="quarter" idx="10"/>
          </p:nvPr>
        </p:nvSpPr>
        <p:spPr>
          <a:xfrm>
            <a:off x="453079" y="263452"/>
            <a:ext cx="11282362" cy="153888"/>
          </a:xfrm>
        </p:spPr>
        <p:txBody>
          <a:bodyPr/>
          <a:lstStyle/>
          <a:p>
            <a:r>
              <a:rPr lang="en-US" b="1">
                <a:solidFill>
                  <a:srgbClr val="44505C"/>
                </a:solidFill>
                <a:latin typeface="Arial"/>
                <a:ea typeface="Arial"/>
                <a:cs typeface="Arial"/>
              </a:rPr>
              <a:t>Executive Summary</a:t>
            </a:r>
            <a:r>
              <a:rPr lang="en-US" sz="1000" kern="1200">
                <a:solidFill>
                  <a:srgbClr val="44505C"/>
                </a:solidFill>
                <a:latin typeface="Arial"/>
                <a:ea typeface="Arial"/>
                <a:cs typeface="Arial"/>
              </a:rPr>
              <a:t> / Outsourced BC Annual TAM</a:t>
            </a:r>
          </a:p>
        </p:txBody>
      </p:sp>
      <p:sp>
        <p:nvSpPr>
          <p:cNvPr id="304" name="PrelimChip"/>
          <p:cNvSpPr txBox="1"/>
          <p:nvPr/>
        </p:nvSpPr>
        <p:spPr>
          <a:xfrm>
            <a:off x="10267829" y="111556"/>
            <a:ext cx="1467612" cy="290000"/>
          </a:xfrm>
          <a:prstGeom prst="rect">
            <a:avLst/>
          </a:prstGeom>
          <a:solidFill>
            <a:srgbClr val="FFFFCC"/>
          </a:solidFill>
          <a:ln w="19050">
            <a:solidFill>
              <a:srgbClr val="000000"/>
            </a:solidFill>
          </a:ln>
        </p:spPr>
        <p:txBody>
          <a:bodyPr wrap="square" lIns="45720" tIns="9144" rIns="45720" bIns="9144" anchor="ctr"/>
          <a:lstStyle/>
          <a:p>
            <a:pPr algn="ctr"/>
            <a:r>
              <a:rPr lang="en-US" sz="1200" b="1" kern="1200">
                <a:solidFill>
                  <a:srgbClr val="000000"/>
                </a:solidFill>
                <a:latin typeface="Arial"/>
                <a:ea typeface="Arial"/>
                <a:cs typeface="Arial"/>
              </a:rPr>
              <a:t>Preliminary</a:t>
            </a:r>
          </a:p>
        </p:txBody>
      </p:sp>
      <p:sp>
        <p:nvSpPr>
          <p:cNvPr id="303" name="Title"/>
          <p:cNvSpPr>
            <a:spLocks noGrp="1"/>
          </p:cNvSpPr>
          <p:nvPr>
            <p:ph type="title"/>
          </p:nvPr>
        </p:nvSpPr>
        <p:spPr>
          <a:xfrm>
            <a:off x="453079" y="554500"/>
            <a:ext cx="11282362" cy="640080"/>
          </a:xfrm>
        </p:spPr>
        <p:txBody>
          <a:bodyPr vert="horz" rIns="0"/>
          <a:lstStyle/>
          <a:p>
            <a:r>
              <a:rPr lang="en-US">
                <a:solidFill>
                  <a:srgbClr val="162029"/>
                </a:solidFill>
                <a:ea typeface="Arial"/>
                <a:cs typeface="Arial"/>
              </a:rPr>
              <a:t>Outsourced Basic Construction (Annual TAM) | After averaging ~$3.5B through FY2025, demand peaks at ~$5.5B in FY2024 and FY2026 and is expected to hold ~$4.3-5.7B a year through FY2031.</a:t>
            </a:r>
            <a:endParaRPr lang="en-US" sz="2000" kern="1200">
              <a:solidFill>
                <a:srgbClr val="162029"/>
              </a:solidFill>
              <a:latin typeface="Arial"/>
              <a:ea typeface="Arial"/>
              <a:cs typeface="Arial"/>
            </a:endParaRPr>
          </a:p>
        </p:txBody>
      </p:sp>
      <p:sp>
        <p:nvSpPr>
          <p:cNvPr id="1079" name="Text Placeholder 25"/>
          <p:cNvSpPr>
            <a:spLocks/>
          </p:cNvSpPr>
          <p:nvPr/>
        </p:nvSpPr>
        <p:spPr bwMode="auto">
          <a:xfrm>
            <a:off x="749300" y="1317625"/>
            <a:ext cx="2978150" cy="304800"/>
          </a:xfrm>
          <a:prstGeom prst="rect">
            <a:avLst/>
          </a:prstGeom>
          <a:noFill/>
          <a:ln>
            <a:noFill/>
          </a:ln>
          <a:effectLst/>
        </p:spPr>
        <p:txBody>
          <a:bodyPr vert="horz" wrap="none" lIns="0" tIns="0" rIns="0" bIns="0" rtlCol="0" anchor="b">
            <a:noAutofit/>
          </a:bodyPr>
          <a:p>
            <a:pPr marL="0" indent="0">
              <a:spcBef>
                <a:spcPct val="0"/>
              </a:spcBef>
              <a:spcAft>
                <a:spcPct val="0"/>
              </a:spcAft>
              <a:buNone/>
            </a:pPr>
            <a:r>
              <a:rPr lang="en-US" sz="1000" b="1">
                <a:solidFill>
                  <a:srgbClr val="000000"/>
                </a:solidFill>
              </a:rPr>
              <a:t>Outsourced Basic Construction TAM ($B, FY26 $)</a:t>
            </a:r>
            <a:endParaRPr lang="en-US" sz="1000" baseline="30000">
              <a:solidFill>
                <a:srgbClr val="000000"/>
              </a:solidFill>
            </a:endParaRPr>
          </a:p>
          <a:p>
            <a:pPr marL="0" lvl="0" indent="0">
              <a:spcBef>
                <a:spcPct val="0"/>
              </a:spcBef>
              <a:spcAft>
                <a:spcPct val="0"/>
              </a:spcAft>
              <a:buNone/>
            </a:pPr>
            <a:endParaRPr lang="en-US" sz="1000"/>
          </a:p>
        </p:txBody>
      </p:sp>
      <p:sp>
        <p:nvSpPr>
          <p:cNvPr id="362" name="Sources"/>
          <p:cNvSpPr txBox="1"/>
          <p:nvPr/>
        </p:nvSpPr>
        <p:spPr>
          <a:xfrm>
            <a:off x="453079" y="6380252"/>
            <a:ext cx="4630550" cy="467686"/>
          </a:xfrm>
          <a:prstGeom prst="rect">
            <a:avLst/>
          </a:prstGeom>
          <a:noFill/>
          <a:ln>
            <a:noFill/>
          </a:ln>
        </p:spPr>
        <p:txBody>
          <a:bodyPr wrap="square" lIns="91440" tIns="45720" rIns="91440" bIns="45720" anchor="t"/>
          <a:lstStyle/>
          <a:p>
            <a:r>
              <a:rPr lang="en-US" sz="800" kern="1200">
                <a:solidFill>
                  <a:srgbClr val="162029"/>
                </a:solidFill>
                <a:latin typeface="Arial"/>
                <a:ea typeface="Arial"/>
                <a:cs typeface="Arial"/>
              </a:rPr>
              <a:t>Sources: Navy SCN P-5c / P-40 budget justification, FY22–FY27, and PB27 FYDP outyears (FY28–FY31); FY26, PL 119-21 Sec. 20002; OUSD(C) Green Book Procurement deflators; Navy Shipbuilding Plan; HII FY24 Q3 / FY25 Q4 / FY26 Q1 earnings calls</a:t>
            </a:r>
          </a:p>
        </p:txBody>
      </p:sp>
      <p:sp>
        <p:nvSpPr>
          <p:cNvPr id="1509" name="ProgramChip"/>
          <p:cNvSpPr txBox="1"/>
          <p:nvPr/>
        </p:nvSpPr>
        <p:spPr>
          <a:xfrm>
            <a:off x="5144475" y="1697716"/>
            <a:ext cx="6668163" cy="3254425"/>
          </a:xfrm>
          <a:prstGeom prst="rect">
            <a:avLst/>
          </a:prstGeom>
          <a:noFill/>
          <a:ln w="12700">
            <a:solidFill>
              <a:srgbClr val="000000"/>
            </a:solidFill>
            <a:prstDash val="dash"/>
          </a:ln>
        </p:spPr>
        <p:txBody>
          <a:bodyPr wrap="square" lIns="0" tIns="0" rIns="0" bIns="0" anchor="t" anchorCtr="1"/>
          <a:lstStyle/>
          <a:p>
            <a:pPr algn="ctr">
              <a:lnSpc>
                <a:spcPct val="115000"/>
              </a:lnSpc>
              <a:buNone/>
            </a:pPr>
            <a:r>
              <a:rPr lang="en-US" sz="900" b="1" i="1">
                <a:solidFill>
                  <a:srgbClr val="000000"/>
                </a:solidFill>
                <a:latin typeface="Arial"/>
                <a:ea typeface="Arial"/>
                <a:cs typeface="Arial"/>
              </a:rPr>
              <a:t>Forecasted</a:t>
            </a:r>
          </a:p>
        </p:txBody>
      </p:sp>
      <p:cxnSp>
        <p:nvCxnSpPr>
          <p:cNvPr id="1234" name="Straight Connector 933"/>
          <p:cNvCxnSpPr/>
          <p:nvPr/>
        </p:nvCxnSpPr>
        <p:spPr bwMode="auto">
          <a:xfrm>
            <a:off x="11417300" y="2524125"/>
            <a:ext cx="273050" cy="0"/>
          </a:xfrm>
          <a:prstGeom prst="line">
            <a:avLst/>
          </a:prstGeom>
          <a:ln w="3175" cap="flat" cmpd="sng" algn="ctr">
            <a:solidFill>
              <a:schemeClr val="tx1"/>
            </a:solidFill>
            <a:prstDash val="lgDash"/>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235" name="Straight Connector 934"/>
          <p:cNvCxnSpPr/>
          <p:nvPr/>
        </p:nvCxnSpPr>
        <p:spPr bwMode="auto">
          <a:xfrm>
            <a:off x="11417300" y="3598863"/>
            <a:ext cx="273050" cy="0"/>
          </a:xfrm>
          <a:prstGeom prst="line">
            <a:avLst/>
          </a:prstGeom>
          <a:ln w="3175" cap="flat" cmpd="sng" algn="ctr">
            <a:solidFill>
              <a:schemeClr val="tx1"/>
            </a:solidFill>
            <a:prstDash val="lgDash"/>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249" name="Straight Connector 948"/>
          <p:cNvCxnSpPr/>
          <p:nvPr/>
        </p:nvCxnSpPr>
        <p:spPr bwMode="auto">
          <a:xfrm>
            <a:off x="11417300" y="3425825"/>
            <a:ext cx="0" cy="173038"/>
          </a:xfrm>
          <a:prstGeom prst="line">
            <a:avLst/>
          </a:prstGeom>
          <a:ln w="3175" cap="flat" cmpd="sng" algn="ctr">
            <a:solidFill>
              <a:schemeClr val="tx1"/>
            </a:solidFill>
            <a:prstDash val="lgDash"/>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236" name="Straight Connector 935"/>
          <p:cNvCxnSpPr/>
          <p:nvPr/>
        </p:nvCxnSpPr>
        <p:spPr bwMode="auto">
          <a:xfrm>
            <a:off x="11417300" y="2524125"/>
            <a:ext cx="0" cy="11113"/>
          </a:xfrm>
          <a:prstGeom prst="line">
            <a:avLst/>
          </a:prstGeom>
          <a:ln w="3175" cap="flat" cmpd="sng" algn="ctr">
            <a:solidFill>
              <a:schemeClr val="tx1"/>
            </a:solidFill>
            <a:prstDash val="lgDash"/>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237" name="Straight Connector 936"/>
          <p:cNvCxnSpPr/>
          <p:nvPr/>
        </p:nvCxnSpPr>
        <p:spPr bwMode="auto">
          <a:xfrm>
            <a:off x="11690350" y="2524125"/>
            <a:ext cx="0" cy="1074738"/>
          </a:xfrm>
          <a:prstGeom prst="line">
            <a:avLst/>
          </a:prstGeom>
          <a:ln w="3175" cap="flat" cmpd="sng" algn="ctr">
            <a:solidFill>
              <a:schemeClr val="tx1"/>
            </a:solidFill>
            <a:prstDash val="lgDash"/>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369" name="Straight Connector 1068"/>
          <p:cNvCxnSpPr/>
          <p:nvPr/>
        </p:nvCxnSpPr>
        <p:spPr bwMode="auto">
          <a:xfrm>
            <a:off x="11142663" y="2535238"/>
            <a:ext cx="274637" cy="0"/>
          </a:xfrm>
          <a:prstGeom prst="line">
            <a:avLst/>
          </a:prstGeom>
          <a:ln w="6350" cap="flat" cmpd="sng" algn="ctr">
            <a:solidFill>
              <a:schemeClr val="tx1"/>
            </a:solidFill>
            <a:prstDash val="lgDash"/>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370" name="Straight Connector 1069"/>
          <p:cNvCxnSpPr/>
          <p:nvPr/>
        </p:nvCxnSpPr>
        <p:spPr bwMode="auto">
          <a:xfrm>
            <a:off x="11142663" y="3425825"/>
            <a:ext cx="274637" cy="0"/>
          </a:xfrm>
          <a:prstGeom prst="line">
            <a:avLst/>
          </a:prstGeom>
          <a:ln w="6350" cap="flat" cmpd="sng" algn="ctr">
            <a:solidFill>
              <a:schemeClr val="tx1"/>
            </a:solidFill>
            <a:prstDash val="lgDash"/>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371" name="Straight Connector 1070"/>
          <p:cNvCxnSpPr/>
          <p:nvPr/>
        </p:nvCxnSpPr>
        <p:spPr bwMode="auto">
          <a:xfrm>
            <a:off x="11142663" y="2535238"/>
            <a:ext cx="0" cy="439738"/>
          </a:xfrm>
          <a:prstGeom prst="line">
            <a:avLst/>
          </a:prstGeom>
          <a:ln w="6350" cap="flat" cmpd="sng" algn="ctr">
            <a:solidFill>
              <a:schemeClr val="tx1"/>
            </a:solidFill>
            <a:prstDash val="lgDash"/>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372" name="Straight Connector 1071"/>
          <p:cNvCxnSpPr/>
          <p:nvPr/>
        </p:nvCxnSpPr>
        <p:spPr bwMode="auto">
          <a:xfrm>
            <a:off x="11417300" y="2535238"/>
            <a:ext cx="0" cy="890588"/>
          </a:xfrm>
          <a:prstGeom prst="line">
            <a:avLst/>
          </a:prstGeom>
          <a:ln w="6350" cap="flat" cmpd="sng" algn="ctr">
            <a:solidFill>
              <a:schemeClr val="tx1"/>
            </a:solidFill>
            <a:prstDash val="lgDash"/>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sp>
        <p:nvSpPr>
          <p:cNvPr id="1368" name="Rectangle 1067"/>
          <p:cNvSpPr/>
          <p:nvPr/>
        </p:nvSpPr>
        <p:spPr bwMode="auto">
          <a:xfrm>
            <a:off x="10869613" y="2974975"/>
            <a:ext cx="273050" cy="687388"/>
          </a:xfrm>
          <a:prstGeom prst="rect">
            <a:avLst/>
          </a:prstGeom>
          <a:noFill/>
          <a:ln w="12700" cap="flat" cmpd="sng" algn="ctr">
            <a:solidFill>
              <a:schemeClr val="tx1"/>
            </a:solidFill>
            <a:prstDash val="sysDot"/>
            <a:miter lim="800000"/>
            <a:headEnd type="none" w="med" len="med"/>
            <a:tailEnd type="none" w="med" len="me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30" name="Straight Connector 929"/>
          <p:cNvCxnSpPr/>
          <p:nvPr/>
        </p:nvCxnSpPr>
        <p:spPr bwMode="auto">
          <a:xfrm>
            <a:off x="10321925" y="2525713"/>
            <a:ext cx="273050" cy="0"/>
          </a:xfrm>
          <a:prstGeom prst="line">
            <a:avLst/>
          </a:prstGeom>
          <a:ln w="3175" cap="flat" cmpd="sng" algn="ctr">
            <a:solidFill>
              <a:schemeClr val="tx1"/>
            </a:solidFill>
            <a:prstDash val="lgDash"/>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231" name="Straight Connector 930"/>
          <p:cNvCxnSpPr/>
          <p:nvPr/>
        </p:nvCxnSpPr>
        <p:spPr bwMode="auto">
          <a:xfrm>
            <a:off x="10321925" y="3613150"/>
            <a:ext cx="273050" cy="0"/>
          </a:xfrm>
          <a:prstGeom prst="line">
            <a:avLst/>
          </a:prstGeom>
          <a:ln w="3175" cap="flat" cmpd="sng" algn="ctr">
            <a:solidFill>
              <a:schemeClr val="tx1"/>
            </a:solidFill>
            <a:prstDash val="lgDash"/>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232" name="Straight Connector 931"/>
          <p:cNvCxnSpPr/>
          <p:nvPr/>
        </p:nvCxnSpPr>
        <p:spPr bwMode="auto">
          <a:xfrm>
            <a:off x="10321925" y="2525713"/>
            <a:ext cx="0" cy="31750"/>
          </a:xfrm>
          <a:prstGeom prst="line">
            <a:avLst/>
          </a:prstGeom>
          <a:ln w="3175" cap="flat" cmpd="sng" algn="ctr">
            <a:solidFill>
              <a:schemeClr val="tx1"/>
            </a:solidFill>
            <a:prstDash val="lgDash"/>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248" name="Straight Connector 947"/>
          <p:cNvCxnSpPr/>
          <p:nvPr/>
        </p:nvCxnSpPr>
        <p:spPr bwMode="auto">
          <a:xfrm>
            <a:off x="10321925" y="3457575"/>
            <a:ext cx="0" cy="155575"/>
          </a:xfrm>
          <a:prstGeom prst="line">
            <a:avLst/>
          </a:prstGeom>
          <a:ln w="3175" cap="flat" cmpd="sng" algn="ctr">
            <a:solidFill>
              <a:schemeClr val="tx1"/>
            </a:solidFill>
            <a:prstDash val="lgDash"/>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233" name="Straight Connector 932"/>
          <p:cNvCxnSpPr/>
          <p:nvPr/>
        </p:nvCxnSpPr>
        <p:spPr bwMode="auto">
          <a:xfrm>
            <a:off x="10594975" y="2525713"/>
            <a:ext cx="0" cy="1087438"/>
          </a:xfrm>
          <a:prstGeom prst="line">
            <a:avLst/>
          </a:prstGeom>
          <a:ln w="3175" cap="flat" cmpd="sng" algn="ctr">
            <a:solidFill>
              <a:schemeClr val="tx1"/>
            </a:solidFill>
            <a:prstDash val="lgDash"/>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364" name="Straight Connector 1063"/>
          <p:cNvCxnSpPr/>
          <p:nvPr/>
        </p:nvCxnSpPr>
        <p:spPr bwMode="auto">
          <a:xfrm>
            <a:off x="10048875" y="2557463"/>
            <a:ext cx="273050" cy="0"/>
          </a:xfrm>
          <a:prstGeom prst="line">
            <a:avLst/>
          </a:prstGeom>
          <a:ln w="6350" cap="flat" cmpd="sng" algn="ctr">
            <a:solidFill>
              <a:schemeClr val="tx1"/>
            </a:solidFill>
            <a:prstDash val="lgDash"/>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366" name="Straight Connector 1065"/>
          <p:cNvCxnSpPr/>
          <p:nvPr/>
        </p:nvCxnSpPr>
        <p:spPr bwMode="auto">
          <a:xfrm>
            <a:off x="10048875" y="2557463"/>
            <a:ext cx="0" cy="442913"/>
          </a:xfrm>
          <a:prstGeom prst="line">
            <a:avLst/>
          </a:prstGeom>
          <a:ln w="6350" cap="flat" cmpd="sng" algn="ctr">
            <a:solidFill>
              <a:schemeClr val="tx1"/>
            </a:solidFill>
            <a:prstDash val="lgDash"/>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367" name="Straight Connector 1066"/>
          <p:cNvCxnSpPr/>
          <p:nvPr/>
        </p:nvCxnSpPr>
        <p:spPr bwMode="auto">
          <a:xfrm>
            <a:off x="10321925" y="2557463"/>
            <a:ext cx="0" cy="900113"/>
          </a:xfrm>
          <a:prstGeom prst="line">
            <a:avLst/>
          </a:prstGeom>
          <a:ln w="6350" cap="flat" cmpd="sng" algn="ctr">
            <a:solidFill>
              <a:schemeClr val="tx1"/>
            </a:solidFill>
            <a:prstDash val="lgDash"/>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365" name="Straight Connector 1064"/>
          <p:cNvCxnSpPr/>
          <p:nvPr/>
        </p:nvCxnSpPr>
        <p:spPr bwMode="auto">
          <a:xfrm>
            <a:off x="10048875" y="3457575"/>
            <a:ext cx="273050" cy="0"/>
          </a:xfrm>
          <a:prstGeom prst="line">
            <a:avLst/>
          </a:prstGeom>
          <a:ln w="6350" cap="flat" cmpd="sng" algn="ctr">
            <a:solidFill>
              <a:schemeClr val="tx1"/>
            </a:solidFill>
            <a:prstDash val="lgDash"/>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sp>
        <p:nvSpPr>
          <p:cNvPr id="1363" name="Rectangle 1062"/>
          <p:cNvSpPr/>
          <p:nvPr/>
        </p:nvSpPr>
        <p:spPr bwMode="auto">
          <a:xfrm>
            <a:off x="9774238" y="3000375"/>
            <a:ext cx="274637" cy="676275"/>
          </a:xfrm>
          <a:prstGeom prst="rect">
            <a:avLst/>
          </a:prstGeom>
          <a:noFill/>
          <a:ln w="12700" cap="flat" cmpd="sng" algn="ctr">
            <a:solidFill>
              <a:schemeClr val="tx1"/>
            </a:solidFill>
            <a:prstDash val="sysDot"/>
            <a:miter lim="800000"/>
            <a:headEnd type="none" w="med" len="med"/>
            <a:tailEnd type="none" w="med" len="me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27" name="Straight Connector 926"/>
          <p:cNvCxnSpPr/>
          <p:nvPr/>
        </p:nvCxnSpPr>
        <p:spPr bwMode="auto">
          <a:xfrm>
            <a:off x="9228138" y="2508250"/>
            <a:ext cx="273050" cy="0"/>
          </a:xfrm>
          <a:prstGeom prst="line">
            <a:avLst/>
          </a:prstGeom>
          <a:ln w="3175" cap="flat" cmpd="sng" algn="ctr">
            <a:solidFill>
              <a:schemeClr val="tx1"/>
            </a:solidFill>
            <a:prstDash val="lgDash"/>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228" name="Straight Connector 927"/>
          <p:cNvCxnSpPr/>
          <p:nvPr/>
        </p:nvCxnSpPr>
        <p:spPr bwMode="auto">
          <a:xfrm>
            <a:off x="9228138" y="3624263"/>
            <a:ext cx="273050" cy="0"/>
          </a:xfrm>
          <a:prstGeom prst="line">
            <a:avLst/>
          </a:prstGeom>
          <a:ln w="3175" cap="flat" cmpd="sng" algn="ctr">
            <a:solidFill>
              <a:schemeClr val="tx1"/>
            </a:solidFill>
            <a:prstDash val="lgDash"/>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247" name="Straight Connector 946"/>
          <p:cNvCxnSpPr/>
          <p:nvPr/>
        </p:nvCxnSpPr>
        <p:spPr bwMode="auto">
          <a:xfrm>
            <a:off x="9228138" y="3441700"/>
            <a:ext cx="0" cy="182563"/>
          </a:xfrm>
          <a:prstGeom prst="line">
            <a:avLst/>
          </a:prstGeom>
          <a:ln w="3175" cap="flat" cmpd="sng" algn="ctr">
            <a:solidFill>
              <a:schemeClr val="tx1"/>
            </a:solidFill>
            <a:prstDash val="lgDash"/>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229" name="Straight Connector 928"/>
          <p:cNvCxnSpPr/>
          <p:nvPr/>
        </p:nvCxnSpPr>
        <p:spPr bwMode="auto">
          <a:xfrm>
            <a:off x="9501188" y="2508250"/>
            <a:ext cx="0" cy="1116013"/>
          </a:xfrm>
          <a:prstGeom prst="line">
            <a:avLst/>
          </a:prstGeom>
          <a:ln w="3175" cap="flat" cmpd="sng" algn="ctr">
            <a:solidFill>
              <a:schemeClr val="tx1"/>
            </a:solidFill>
            <a:prstDash val="lgDash"/>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359" name="Straight Connector 1058"/>
          <p:cNvCxnSpPr/>
          <p:nvPr/>
        </p:nvCxnSpPr>
        <p:spPr bwMode="auto">
          <a:xfrm>
            <a:off x="8953500" y="2414588"/>
            <a:ext cx="274638" cy="0"/>
          </a:xfrm>
          <a:prstGeom prst="line">
            <a:avLst/>
          </a:prstGeom>
          <a:ln w="6350" cap="flat" cmpd="sng" algn="ctr">
            <a:solidFill>
              <a:schemeClr val="tx1"/>
            </a:solidFill>
            <a:prstDash val="lgDash"/>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360" name="Straight Connector 1059"/>
          <p:cNvCxnSpPr/>
          <p:nvPr/>
        </p:nvCxnSpPr>
        <p:spPr bwMode="auto">
          <a:xfrm>
            <a:off x="8953500" y="3441700"/>
            <a:ext cx="274638" cy="0"/>
          </a:xfrm>
          <a:prstGeom prst="line">
            <a:avLst/>
          </a:prstGeom>
          <a:ln w="6350" cap="flat" cmpd="sng" algn="ctr">
            <a:solidFill>
              <a:schemeClr val="tx1"/>
            </a:solidFill>
            <a:prstDash val="lgDash"/>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361" name="Straight Connector 1060"/>
          <p:cNvCxnSpPr/>
          <p:nvPr/>
        </p:nvCxnSpPr>
        <p:spPr bwMode="auto">
          <a:xfrm>
            <a:off x="8953500" y="2414588"/>
            <a:ext cx="0" cy="871538"/>
          </a:xfrm>
          <a:prstGeom prst="line">
            <a:avLst/>
          </a:prstGeom>
          <a:ln w="6350" cap="flat" cmpd="sng" algn="ctr">
            <a:solidFill>
              <a:schemeClr val="tx1"/>
            </a:solidFill>
            <a:prstDash val="lgDash"/>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362" name="Straight Connector 1061"/>
          <p:cNvCxnSpPr/>
          <p:nvPr/>
        </p:nvCxnSpPr>
        <p:spPr bwMode="auto">
          <a:xfrm>
            <a:off x="9228138" y="2414588"/>
            <a:ext cx="0" cy="1027113"/>
          </a:xfrm>
          <a:prstGeom prst="line">
            <a:avLst/>
          </a:prstGeom>
          <a:ln w="6350" cap="flat" cmpd="sng" algn="ctr">
            <a:solidFill>
              <a:schemeClr val="tx1"/>
            </a:solidFill>
            <a:prstDash val="lgDash"/>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sp>
        <p:nvSpPr>
          <p:cNvPr id="1358" name="Rectangle 1057"/>
          <p:cNvSpPr/>
          <p:nvPr/>
        </p:nvSpPr>
        <p:spPr bwMode="auto">
          <a:xfrm>
            <a:off x="8680450" y="3286125"/>
            <a:ext cx="273050" cy="446088"/>
          </a:xfrm>
          <a:prstGeom prst="rect">
            <a:avLst/>
          </a:prstGeom>
          <a:noFill/>
          <a:ln w="12700" cap="flat" cmpd="sng" algn="ctr">
            <a:solidFill>
              <a:schemeClr val="tx1"/>
            </a:solidFill>
            <a:prstDash val="sysDot"/>
            <a:miter lim="800000"/>
            <a:headEnd type="none" w="med" len="med"/>
            <a:tailEnd type="none" w="med" len="me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26" name="Straight Connector 925"/>
          <p:cNvCxnSpPr/>
          <p:nvPr/>
        </p:nvCxnSpPr>
        <p:spPr bwMode="auto">
          <a:xfrm>
            <a:off x="8405813" y="2509838"/>
            <a:ext cx="0" cy="1127125"/>
          </a:xfrm>
          <a:prstGeom prst="line">
            <a:avLst/>
          </a:prstGeom>
          <a:ln w="3175" cap="flat" cmpd="sng" algn="ctr">
            <a:solidFill>
              <a:schemeClr val="tx1"/>
            </a:solidFill>
            <a:prstDash val="lgDash"/>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246" name="Straight Connector 945"/>
          <p:cNvCxnSpPr/>
          <p:nvPr/>
        </p:nvCxnSpPr>
        <p:spPr bwMode="auto">
          <a:xfrm>
            <a:off x="8132763" y="3452813"/>
            <a:ext cx="0" cy="184150"/>
          </a:xfrm>
          <a:prstGeom prst="line">
            <a:avLst/>
          </a:prstGeom>
          <a:ln w="3175" cap="flat" cmpd="sng" algn="ctr">
            <a:solidFill>
              <a:schemeClr val="tx1"/>
            </a:solidFill>
            <a:prstDash val="lgDash"/>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225" name="Straight Connector 924"/>
          <p:cNvCxnSpPr/>
          <p:nvPr/>
        </p:nvCxnSpPr>
        <p:spPr bwMode="auto">
          <a:xfrm>
            <a:off x="8132763" y="3636963"/>
            <a:ext cx="273050" cy="0"/>
          </a:xfrm>
          <a:prstGeom prst="line">
            <a:avLst/>
          </a:prstGeom>
          <a:ln w="3175" cap="flat" cmpd="sng" algn="ctr">
            <a:solidFill>
              <a:schemeClr val="tx1"/>
            </a:solidFill>
            <a:prstDash val="lgDash"/>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224" name="Straight Connector 923"/>
          <p:cNvCxnSpPr/>
          <p:nvPr/>
        </p:nvCxnSpPr>
        <p:spPr bwMode="auto">
          <a:xfrm>
            <a:off x="8132763" y="2509838"/>
            <a:ext cx="273050" cy="0"/>
          </a:xfrm>
          <a:prstGeom prst="line">
            <a:avLst/>
          </a:prstGeom>
          <a:ln w="3175" cap="flat" cmpd="sng" algn="ctr">
            <a:solidFill>
              <a:schemeClr val="tx1"/>
            </a:solidFill>
            <a:prstDash val="lgDash"/>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357" name="Straight Connector 1056"/>
          <p:cNvCxnSpPr/>
          <p:nvPr/>
        </p:nvCxnSpPr>
        <p:spPr bwMode="auto">
          <a:xfrm>
            <a:off x="8132763" y="2360613"/>
            <a:ext cx="0" cy="1092200"/>
          </a:xfrm>
          <a:prstGeom prst="line">
            <a:avLst/>
          </a:prstGeom>
          <a:ln w="6350" cap="flat" cmpd="sng" algn="ctr">
            <a:solidFill>
              <a:schemeClr val="tx1"/>
            </a:solidFill>
            <a:prstDash val="lgDash"/>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356" name="Straight Connector 1055"/>
          <p:cNvCxnSpPr/>
          <p:nvPr/>
        </p:nvCxnSpPr>
        <p:spPr bwMode="auto">
          <a:xfrm>
            <a:off x="7859713" y="2360613"/>
            <a:ext cx="0" cy="938213"/>
          </a:xfrm>
          <a:prstGeom prst="line">
            <a:avLst/>
          </a:prstGeom>
          <a:ln w="6350" cap="flat" cmpd="sng" algn="ctr">
            <a:solidFill>
              <a:schemeClr val="tx1"/>
            </a:solidFill>
            <a:prstDash val="lgDash"/>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355" name="Straight Connector 1054"/>
          <p:cNvCxnSpPr/>
          <p:nvPr/>
        </p:nvCxnSpPr>
        <p:spPr bwMode="auto">
          <a:xfrm>
            <a:off x="7859713" y="3452813"/>
            <a:ext cx="273050" cy="0"/>
          </a:xfrm>
          <a:prstGeom prst="line">
            <a:avLst/>
          </a:prstGeom>
          <a:ln w="6350" cap="flat" cmpd="sng" algn="ctr">
            <a:solidFill>
              <a:schemeClr val="tx1"/>
            </a:solidFill>
            <a:prstDash val="lgDash"/>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354" name="Straight Connector 1053"/>
          <p:cNvCxnSpPr/>
          <p:nvPr/>
        </p:nvCxnSpPr>
        <p:spPr bwMode="auto">
          <a:xfrm>
            <a:off x="7859713" y="2360613"/>
            <a:ext cx="273050" cy="0"/>
          </a:xfrm>
          <a:prstGeom prst="line">
            <a:avLst/>
          </a:prstGeom>
          <a:ln w="6350" cap="flat" cmpd="sng" algn="ctr">
            <a:solidFill>
              <a:schemeClr val="tx1"/>
            </a:solidFill>
            <a:prstDash val="lgDash"/>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sp>
        <p:nvSpPr>
          <p:cNvPr id="1353" name="Rectangle 1052"/>
          <p:cNvSpPr/>
          <p:nvPr/>
        </p:nvSpPr>
        <p:spPr bwMode="auto">
          <a:xfrm>
            <a:off x="7585075" y="3298825"/>
            <a:ext cx="274638" cy="441325"/>
          </a:xfrm>
          <a:prstGeom prst="rect">
            <a:avLst/>
          </a:prstGeom>
          <a:noFill/>
          <a:ln w="12700" cap="flat" cmpd="sng" algn="ctr">
            <a:solidFill>
              <a:schemeClr val="tx1"/>
            </a:solidFill>
            <a:prstDash val="sysDot"/>
            <a:miter lim="800000"/>
            <a:headEnd type="none" w="med" len="med"/>
            <a:tailEnd type="none" w="med" len="me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22" name="Straight Connector 921"/>
          <p:cNvCxnSpPr/>
          <p:nvPr/>
        </p:nvCxnSpPr>
        <p:spPr bwMode="auto">
          <a:xfrm>
            <a:off x="7037388" y="3621088"/>
            <a:ext cx="274637" cy="0"/>
          </a:xfrm>
          <a:prstGeom prst="line">
            <a:avLst/>
          </a:prstGeom>
          <a:ln w="3175" cap="flat" cmpd="sng" algn="ctr">
            <a:solidFill>
              <a:schemeClr val="tx1"/>
            </a:solidFill>
            <a:prstDash val="lgDash"/>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243" name="Straight Connector 942"/>
          <p:cNvCxnSpPr/>
          <p:nvPr/>
        </p:nvCxnSpPr>
        <p:spPr bwMode="auto">
          <a:xfrm>
            <a:off x="7037388" y="3421063"/>
            <a:ext cx="0" cy="200025"/>
          </a:xfrm>
          <a:prstGeom prst="line">
            <a:avLst/>
          </a:prstGeom>
          <a:ln w="3175" cap="flat" cmpd="sng" algn="ctr">
            <a:solidFill>
              <a:schemeClr val="tx1"/>
            </a:solidFill>
            <a:prstDash val="lgDash"/>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223" name="Straight Connector 922"/>
          <p:cNvCxnSpPr/>
          <p:nvPr/>
        </p:nvCxnSpPr>
        <p:spPr bwMode="auto">
          <a:xfrm>
            <a:off x="7312025" y="2436813"/>
            <a:ext cx="0" cy="1184275"/>
          </a:xfrm>
          <a:prstGeom prst="line">
            <a:avLst/>
          </a:prstGeom>
          <a:ln w="3175" cap="flat" cmpd="sng" algn="ctr">
            <a:solidFill>
              <a:schemeClr val="tx1"/>
            </a:solidFill>
            <a:prstDash val="lgDash"/>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221" name="Straight Connector 920"/>
          <p:cNvCxnSpPr/>
          <p:nvPr/>
        </p:nvCxnSpPr>
        <p:spPr bwMode="auto">
          <a:xfrm>
            <a:off x="7037388" y="2436813"/>
            <a:ext cx="274637" cy="0"/>
          </a:xfrm>
          <a:prstGeom prst="line">
            <a:avLst/>
          </a:prstGeom>
          <a:ln w="3175" cap="flat" cmpd="sng" algn="ctr">
            <a:solidFill>
              <a:schemeClr val="tx1"/>
            </a:solidFill>
            <a:prstDash val="lgDash"/>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352" name="Straight Connector 1051"/>
          <p:cNvCxnSpPr/>
          <p:nvPr/>
        </p:nvCxnSpPr>
        <p:spPr bwMode="auto">
          <a:xfrm>
            <a:off x="7037388" y="2311400"/>
            <a:ext cx="0" cy="1109663"/>
          </a:xfrm>
          <a:prstGeom prst="line">
            <a:avLst/>
          </a:prstGeom>
          <a:ln w="6350" cap="flat" cmpd="sng" algn="ctr">
            <a:solidFill>
              <a:schemeClr val="tx1"/>
            </a:solidFill>
            <a:prstDash val="lgDash"/>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351" name="Straight Connector 1050"/>
          <p:cNvCxnSpPr/>
          <p:nvPr/>
        </p:nvCxnSpPr>
        <p:spPr bwMode="auto">
          <a:xfrm>
            <a:off x="6764338" y="2311400"/>
            <a:ext cx="0" cy="946150"/>
          </a:xfrm>
          <a:prstGeom prst="line">
            <a:avLst/>
          </a:prstGeom>
          <a:ln w="6350" cap="flat" cmpd="sng" algn="ctr">
            <a:solidFill>
              <a:schemeClr val="tx1"/>
            </a:solidFill>
            <a:prstDash val="lgDash"/>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350" name="Straight Connector 1049"/>
          <p:cNvCxnSpPr/>
          <p:nvPr/>
        </p:nvCxnSpPr>
        <p:spPr bwMode="auto">
          <a:xfrm>
            <a:off x="6764338" y="3421063"/>
            <a:ext cx="273050" cy="0"/>
          </a:xfrm>
          <a:prstGeom prst="line">
            <a:avLst/>
          </a:prstGeom>
          <a:ln w="6350" cap="flat" cmpd="sng" algn="ctr">
            <a:solidFill>
              <a:schemeClr val="tx1"/>
            </a:solidFill>
            <a:prstDash val="lgDash"/>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349" name="Straight Connector 1048"/>
          <p:cNvCxnSpPr/>
          <p:nvPr/>
        </p:nvCxnSpPr>
        <p:spPr bwMode="auto">
          <a:xfrm>
            <a:off x="6764338" y="2311400"/>
            <a:ext cx="273050" cy="0"/>
          </a:xfrm>
          <a:prstGeom prst="line">
            <a:avLst/>
          </a:prstGeom>
          <a:ln w="6350" cap="flat" cmpd="sng" algn="ctr">
            <a:solidFill>
              <a:schemeClr val="tx1"/>
            </a:solidFill>
            <a:prstDash val="lgDash"/>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sp>
        <p:nvSpPr>
          <p:cNvPr id="1348" name="Rectangle 1047"/>
          <p:cNvSpPr/>
          <p:nvPr/>
        </p:nvSpPr>
        <p:spPr bwMode="auto">
          <a:xfrm>
            <a:off x="6491288" y="3257550"/>
            <a:ext cx="273050" cy="471488"/>
          </a:xfrm>
          <a:prstGeom prst="rect">
            <a:avLst/>
          </a:prstGeom>
          <a:noFill/>
          <a:ln w="12700" cap="flat" cmpd="sng" algn="ctr">
            <a:solidFill>
              <a:schemeClr val="tx1"/>
            </a:solidFill>
            <a:prstDash val="sysDot"/>
            <a:miter lim="800000"/>
            <a:headEnd type="none" w="med" len="med"/>
            <a:tailEnd type="none" w="med" len="me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20" name="Straight Connector 919"/>
          <p:cNvCxnSpPr/>
          <p:nvPr/>
        </p:nvCxnSpPr>
        <p:spPr bwMode="auto">
          <a:xfrm>
            <a:off x="6216650" y="2373313"/>
            <a:ext cx="0" cy="1233488"/>
          </a:xfrm>
          <a:prstGeom prst="line">
            <a:avLst/>
          </a:prstGeom>
          <a:ln w="3175" cap="flat" cmpd="sng" algn="ctr">
            <a:solidFill>
              <a:schemeClr val="tx1"/>
            </a:solidFill>
            <a:prstDash val="lgDash"/>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242" name="Straight Connector 941"/>
          <p:cNvCxnSpPr/>
          <p:nvPr/>
        </p:nvCxnSpPr>
        <p:spPr bwMode="auto">
          <a:xfrm>
            <a:off x="5943600" y="3552825"/>
            <a:ext cx="0" cy="53975"/>
          </a:xfrm>
          <a:prstGeom prst="line">
            <a:avLst/>
          </a:prstGeom>
          <a:ln w="3175" cap="flat" cmpd="sng" algn="ctr">
            <a:solidFill>
              <a:schemeClr val="tx1"/>
            </a:solidFill>
            <a:prstDash val="lgDash"/>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219" name="Straight Connector 918"/>
          <p:cNvCxnSpPr/>
          <p:nvPr/>
        </p:nvCxnSpPr>
        <p:spPr bwMode="auto">
          <a:xfrm>
            <a:off x="5943600" y="2373313"/>
            <a:ext cx="0" cy="101600"/>
          </a:xfrm>
          <a:prstGeom prst="line">
            <a:avLst/>
          </a:prstGeom>
          <a:ln w="3175" cap="flat" cmpd="sng" algn="ctr">
            <a:solidFill>
              <a:schemeClr val="tx1"/>
            </a:solidFill>
            <a:prstDash val="lgDash"/>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218" name="Straight Connector 917"/>
          <p:cNvCxnSpPr/>
          <p:nvPr/>
        </p:nvCxnSpPr>
        <p:spPr bwMode="auto">
          <a:xfrm>
            <a:off x="5943600" y="3606800"/>
            <a:ext cx="273050" cy="0"/>
          </a:xfrm>
          <a:prstGeom prst="line">
            <a:avLst/>
          </a:prstGeom>
          <a:ln w="3175" cap="flat" cmpd="sng" algn="ctr">
            <a:solidFill>
              <a:schemeClr val="tx1"/>
            </a:solidFill>
            <a:prstDash val="lgDash"/>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217" name="Straight Connector 916"/>
          <p:cNvCxnSpPr/>
          <p:nvPr/>
        </p:nvCxnSpPr>
        <p:spPr bwMode="auto">
          <a:xfrm>
            <a:off x="5943600" y="2373313"/>
            <a:ext cx="273050" cy="0"/>
          </a:xfrm>
          <a:prstGeom prst="line">
            <a:avLst/>
          </a:prstGeom>
          <a:ln w="3175" cap="flat" cmpd="sng" algn="ctr">
            <a:solidFill>
              <a:schemeClr val="tx1"/>
            </a:solidFill>
            <a:prstDash val="lgDash"/>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344" name="Straight Connector 1043"/>
          <p:cNvCxnSpPr/>
          <p:nvPr/>
        </p:nvCxnSpPr>
        <p:spPr bwMode="auto">
          <a:xfrm>
            <a:off x="5670550" y="2474913"/>
            <a:ext cx="273050" cy="0"/>
          </a:xfrm>
          <a:prstGeom prst="line">
            <a:avLst/>
          </a:prstGeom>
          <a:ln w="6350" cap="flat" cmpd="sng" algn="ctr">
            <a:solidFill>
              <a:schemeClr val="tx1"/>
            </a:solidFill>
            <a:prstDash val="lgDash"/>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345" name="Straight Connector 1044"/>
          <p:cNvCxnSpPr/>
          <p:nvPr/>
        </p:nvCxnSpPr>
        <p:spPr bwMode="auto">
          <a:xfrm>
            <a:off x="5670550" y="3552825"/>
            <a:ext cx="273050" cy="0"/>
          </a:xfrm>
          <a:prstGeom prst="line">
            <a:avLst/>
          </a:prstGeom>
          <a:ln w="6350" cap="flat" cmpd="sng" algn="ctr">
            <a:solidFill>
              <a:schemeClr val="tx1"/>
            </a:solidFill>
            <a:prstDash val="lgDash"/>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347" name="Straight Connector 1046"/>
          <p:cNvCxnSpPr/>
          <p:nvPr/>
        </p:nvCxnSpPr>
        <p:spPr bwMode="auto">
          <a:xfrm>
            <a:off x="5943600" y="2474913"/>
            <a:ext cx="0" cy="1077913"/>
          </a:xfrm>
          <a:prstGeom prst="line">
            <a:avLst/>
          </a:prstGeom>
          <a:ln w="6350" cap="flat" cmpd="sng" algn="ctr">
            <a:solidFill>
              <a:schemeClr val="tx1"/>
            </a:solidFill>
            <a:prstDash val="lgDash"/>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346" name="Straight Connector 1045"/>
          <p:cNvCxnSpPr/>
          <p:nvPr/>
        </p:nvCxnSpPr>
        <p:spPr bwMode="auto">
          <a:xfrm>
            <a:off x="5670550" y="2474913"/>
            <a:ext cx="0" cy="576263"/>
          </a:xfrm>
          <a:prstGeom prst="line">
            <a:avLst/>
          </a:prstGeom>
          <a:ln w="6350" cap="flat" cmpd="sng" algn="ctr">
            <a:solidFill>
              <a:schemeClr val="tx1"/>
            </a:solidFill>
            <a:prstDash val="lgDash"/>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sp>
        <p:nvSpPr>
          <p:cNvPr id="1314" name="Rectangle 1013"/>
          <p:cNvSpPr/>
          <p:nvPr/>
        </p:nvSpPr>
        <p:spPr bwMode="auto">
          <a:xfrm>
            <a:off x="5395913" y="3051175"/>
            <a:ext cx="274637" cy="508000"/>
          </a:xfrm>
          <a:prstGeom prst="rect">
            <a:avLst/>
          </a:prstGeom>
          <a:noFill/>
          <a:ln w="12700" cap="flat" cmpd="sng" algn="ctr">
            <a:solidFill>
              <a:schemeClr val="tx1"/>
            </a:solidFill>
            <a:prstDash val="sysDot"/>
            <a:miter lim="800000"/>
            <a:headEnd type="none" w="med" len="med"/>
            <a:tailEnd type="none" w="med" len="me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311" name="Straight Connector 1010"/>
          <p:cNvCxnSpPr/>
          <p:nvPr/>
        </p:nvCxnSpPr>
        <p:spPr bwMode="auto">
          <a:xfrm>
            <a:off x="4575175" y="3570288"/>
            <a:ext cx="273050" cy="0"/>
          </a:xfrm>
          <a:prstGeom prst="line">
            <a:avLst/>
          </a:prstGeom>
          <a:ln w="6350" cap="flat" cmpd="sng" algn="ctr">
            <a:solidFill>
              <a:schemeClr val="tx1"/>
            </a:solidFill>
            <a:prstDash val="lgDash"/>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312" name="Straight Connector 1011"/>
          <p:cNvCxnSpPr/>
          <p:nvPr/>
        </p:nvCxnSpPr>
        <p:spPr bwMode="auto">
          <a:xfrm>
            <a:off x="4575175" y="2514600"/>
            <a:ext cx="0" cy="225425"/>
          </a:xfrm>
          <a:prstGeom prst="line">
            <a:avLst/>
          </a:prstGeom>
          <a:ln w="6350" cap="flat" cmpd="sng" algn="ctr">
            <a:solidFill>
              <a:schemeClr val="tx1"/>
            </a:solidFill>
            <a:prstDash val="lgDash"/>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313" name="Straight Connector 1012"/>
          <p:cNvCxnSpPr/>
          <p:nvPr/>
        </p:nvCxnSpPr>
        <p:spPr bwMode="auto">
          <a:xfrm>
            <a:off x="4848225" y="2514600"/>
            <a:ext cx="0" cy="1055688"/>
          </a:xfrm>
          <a:prstGeom prst="line">
            <a:avLst/>
          </a:prstGeom>
          <a:ln w="6350" cap="flat" cmpd="sng" algn="ctr">
            <a:solidFill>
              <a:schemeClr val="tx1"/>
            </a:solidFill>
            <a:prstDash val="lgDash"/>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310" name="Straight Connector 1009"/>
          <p:cNvCxnSpPr/>
          <p:nvPr/>
        </p:nvCxnSpPr>
        <p:spPr bwMode="auto">
          <a:xfrm>
            <a:off x="4575175" y="2514600"/>
            <a:ext cx="273050" cy="0"/>
          </a:xfrm>
          <a:prstGeom prst="line">
            <a:avLst/>
          </a:prstGeom>
          <a:ln w="6350" cap="flat" cmpd="sng" algn="ctr">
            <a:solidFill>
              <a:schemeClr val="tx1"/>
            </a:solidFill>
            <a:prstDash val="lgDash"/>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sp>
        <p:nvSpPr>
          <p:cNvPr id="1309" name="Rectangle 1008"/>
          <p:cNvSpPr/>
          <p:nvPr/>
        </p:nvSpPr>
        <p:spPr bwMode="auto">
          <a:xfrm>
            <a:off x="4302125" y="2740025"/>
            <a:ext cx="273050" cy="912813"/>
          </a:xfrm>
          <a:prstGeom prst="rect">
            <a:avLst/>
          </a:prstGeom>
          <a:noFill/>
          <a:ln w="12700" cap="flat" cmpd="sng" algn="ctr">
            <a:solidFill>
              <a:schemeClr val="tx1"/>
            </a:solidFill>
            <a:prstDash val="sysDot"/>
            <a:miter lim="800000"/>
            <a:headEnd type="none" w="med" len="med"/>
            <a:tailEnd type="none" w="med" len="me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14" name="Straight Connector 913"/>
          <p:cNvCxnSpPr/>
          <p:nvPr/>
        </p:nvCxnSpPr>
        <p:spPr bwMode="auto">
          <a:xfrm>
            <a:off x="3754438" y="2322513"/>
            <a:ext cx="273050" cy="0"/>
          </a:xfrm>
          <a:prstGeom prst="line">
            <a:avLst/>
          </a:prstGeom>
          <a:ln w="3175" cap="flat" cmpd="sng" algn="ctr">
            <a:solidFill>
              <a:schemeClr val="tx1"/>
            </a:solidFill>
            <a:prstDash val="lgDash"/>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215" name="Straight Connector 914"/>
          <p:cNvCxnSpPr/>
          <p:nvPr/>
        </p:nvCxnSpPr>
        <p:spPr bwMode="auto">
          <a:xfrm>
            <a:off x="3754438" y="3624263"/>
            <a:ext cx="273050" cy="0"/>
          </a:xfrm>
          <a:prstGeom prst="line">
            <a:avLst/>
          </a:prstGeom>
          <a:ln w="3175" cap="flat" cmpd="sng" algn="ctr">
            <a:solidFill>
              <a:schemeClr val="tx1"/>
            </a:solidFill>
            <a:prstDash val="lgDash"/>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241" name="Straight Connector 940"/>
          <p:cNvCxnSpPr/>
          <p:nvPr/>
        </p:nvCxnSpPr>
        <p:spPr bwMode="auto">
          <a:xfrm>
            <a:off x="3754438" y="3387725"/>
            <a:ext cx="0" cy="236538"/>
          </a:xfrm>
          <a:prstGeom prst="line">
            <a:avLst/>
          </a:prstGeom>
          <a:ln w="3175" cap="flat" cmpd="sng" algn="ctr">
            <a:solidFill>
              <a:schemeClr val="tx1"/>
            </a:solidFill>
            <a:prstDash val="lgDash"/>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216" name="Straight Connector 915"/>
          <p:cNvCxnSpPr/>
          <p:nvPr/>
        </p:nvCxnSpPr>
        <p:spPr bwMode="auto">
          <a:xfrm>
            <a:off x="4027488" y="2322513"/>
            <a:ext cx="0" cy="1301750"/>
          </a:xfrm>
          <a:prstGeom prst="line">
            <a:avLst/>
          </a:prstGeom>
          <a:ln w="3175" cap="flat" cmpd="sng" algn="ctr">
            <a:solidFill>
              <a:schemeClr val="tx1"/>
            </a:solidFill>
            <a:prstDash val="lgDash"/>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295" name="Straight Connector 994"/>
          <p:cNvCxnSpPr/>
          <p:nvPr/>
        </p:nvCxnSpPr>
        <p:spPr bwMode="auto">
          <a:xfrm>
            <a:off x="3479800" y="2227263"/>
            <a:ext cx="274638" cy="0"/>
          </a:xfrm>
          <a:prstGeom prst="line">
            <a:avLst/>
          </a:prstGeom>
          <a:ln w="6350" cap="flat" cmpd="sng" algn="ctr">
            <a:solidFill>
              <a:schemeClr val="tx1"/>
            </a:solidFill>
            <a:prstDash val="lgDash"/>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300" name="Straight Connector 999"/>
          <p:cNvCxnSpPr/>
          <p:nvPr/>
        </p:nvCxnSpPr>
        <p:spPr bwMode="auto">
          <a:xfrm>
            <a:off x="3479800" y="2227263"/>
            <a:ext cx="0" cy="823913"/>
          </a:xfrm>
          <a:prstGeom prst="line">
            <a:avLst/>
          </a:prstGeom>
          <a:ln w="6350" cap="flat" cmpd="sng" algn="ctr">
            <a:solidFill>
              <a:schemeClr val="tx1"/>
            </a:solidFill>
            <a:prstDash val="lgDash"/>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304" name="Straight Connector 1003"/>
          <p:cNvCxnSpPr/>
          <p:nvPr/>
        </p:nvCxnSpPr>
        <p:spPr bwMode="auto">
          <a:xfrm>
            <a:off x="3754438" y="2227263"/>
            <a:ext cx="0" cy="1160463"/>
          </a:xfrm>
          <a:prstGeom prst="line">
            <a:avLst/>
          </a:prstGeom>
          <a:ln w="6350" cap="flat" cmpd="sng" algn="ctr">
            <a:solidFill>
              <a:schemeClr val="tx1"/>
            </a:solidFill>
            <a:prstDash val="lgDash"/>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299" name="Straight Connector 998"/>
          <p:cNvCxnSpPr/>
          <p:nvPr/>
        </p:nvCxnSpPr>
        <p:spPr bwMode="auto">
          <a:xfrm>
            <a:off x="3479800" y="3387725"/>
            <a:ext cx="274638" cy="0"/>
          </a:xfrm>
          <a:prstGeom prst="line">
            <a:avLst/>
          </a:prstGeom>
          <a:ln w="6350" cap="flat" cmpd="sng" algn="ctr">
            <a:solidFill>
              <a:schemeClr val="tx1"/>
            </a:solidFill>
            <a:prstDash val="lgDash"/>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sp>
        <p:nvSpPr>
          <p:cNvPr id="1294" name="Rectangle 993"/>
          <p:cNvSpPr/>
          <p:nvPr/>
        </p:nvSpPr>
        <p:spPr bwMode="auto">
          <a:xfrm>
            <a:off x="3206750" y="3051175"/>
            <a:ext cx="273050" cy="650875"/>
          </a:xfrm>
          <a:prstGeom prst="rect">
            <a:avLst/>
          </a:prstGeom>
          <a:noFill/>
          <a:ln w="12700" cap="flat" cmpd="sng" algn="ctr">
            <a:solidFill>
              <a:schemeClr val="tx1"/>
            </a:solidFill>
            <a:prstDash val="sysDot"/>
            <a:miter lim="800000"/>
            <a:headEnd type="none" w="med" len="med"/>
            <a:tailEnd type="none" w="med" len="me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64" name="Straight Connector 963"/>
          <p:cNvCxnSpPr/>
          <p:nvPr/>
        </p:nvCxnSpPr>
        <p:spPr bwMode="auto">
          <a:xfrm>
            <a:off x="2659063" y="2774950"/>
            <a:ext cx="0" cy="795338"/>
          </a:xfrm>
          <a:prstGeom prst="line">
            <a:avLst/>
          </a:prstGeom>
          <a:ln w="6350" cap="flat" cmpd="sng" algn="ctr">
            <a:solidFill>
              <a:schemeClr val="tx1"/>
            </a:solidFill>
            <a:prstDash val="lgDash"/>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263" name="Straight Connector 962"/>
          <p:cNvCxnSpPr/>
          <p:nvPr/>
        </p:nvCxnSpPr>
        <p:spPr bwMode="auto">
          <a:xfrm>
            <a:off x="2386013" y="3570288"/>
            <a:ext cx="273050" cy="0"/>
          </a:xfrm>
          <a:prstGeom prst="line">
            <a:avLst/>
          </a:prstGeom>
          <a:ln w="6350" cap="flat" cmpd="sng" algn="ctr">
            <a:solidFill>
              <a:schemeClr val="tx1"/>
            </a:solidFill>
            <a:prstDash val="lgDash"/>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262" name="Straight Connector 961"/>
          <p:cNvCxnSpPr/>
          <p:nvPr/>
        </p:nvCxnSpPr>
        <p:spPr bwMode="auto">
          <a:xfrm>
            <a:off x="2386013" y="2774950"/>
            <a:ext cx="273050" cy="0"/>
          </a:xfrm>
          <a:prstGeom prst="line">
            <a:avLst/>
          </a:prstGeom>
          <a:ln w="6350" cap="flat" cmpd="sng" algn="ctr">
            <a:solidFill>
              <a:schemeClr val="tx1"/>
            </a:solidFill>
            <a:prstDash val="lgDash"/>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sp>
        <p:nvSpPr>
          <p:cNvPr id="1261" name="Rectangle 960"/>
          <p:cNvSpPr/>
          <p:nvPr/>
        </p:nvSpPr>
        <p:spPr bwMode="auto">
          <a:xfrm>
            <a:off x="2112963" y="2674938"/>
            <a:ext cx="273050" cy="977900"/>
          </a:xfrm>
          <a:prstGeom prst="rect">
            <a:avLst/>
          </a:prstGeom>
          <a:noFill/>
          <a:ln w="12700" cap="flat" cmpd="sng" algn="ctr">
            <a:solidFill>
              <a:schemeClr val="tx1"/>
            </a:solidFill>
            <a:prstDash val="sysDot"/>
            <a:miter lim="800000"/>
            <a:headEnd type="none" w="med" len="med"/>
            <a:tailEnd type="none" w="med" len="me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54" name="Straight Connector 953"/>
          <p:cNvCxnSpPr/>
          <p:nvPr/>
        </p:nvCxnSpPr>
        <p:spPr bwMode="auto">
          <a:xfrm>
            <a:off x="1290638" y="2795588"/>
            <a:ext cx="274637" cy="0"/>
          </a:xfrm>
          <a:prstGeom prst="line">
            <a:avLst/>
          </a:prstGeom>
          <a:ln w="6350" cap="flat" cmpd="sng" algn="ctr">
            <a:solidFill>
              <a:schemeClr val="tx1"/>
            </a:solidFill>
            <a:prstDash val="lgDash"/>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255" name="Straight Connector 954"/>
          <p:cNvCxnSpPr/>
          <p:nvPr/>
        </p:nvCxnSpPr>
        <p:spPr bwMode="auto">
          <a:xfrm>
            <a:off x="1290638" y="3579813"/>
            <a:ext cx="274637" cy="0"/>
          </a:xfrm>
          <a:prstGeom prst="line">
            <a:avLst/>
          </a:prstGeom>
          <a:ln w="6350" cap="flat" cmpd="sng" algn="ctr">
            <a:solidFill>
              <a:schemeClr val="tx1"/>
            </a:solidFill>
            <a:prstDash val="lgDash"/>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258" name="Straight Connector 957"/>
          <p:cNvCxnSpPr/>
          <p:nvPr/>
        </p:nvCxnSpPr>
        <p:spPr bwMode="auto">
          <a:xfrm>
            <a:off x="1290638" y="2795588"/>
            <a:ext cx="0" cy="420688"/>
          </a:xfrm>
          <a:prstGeom prst="line">
            <a:avLst/>
          </a:prstGeom>
          <a:ln w="6350" cap="flat" cmpd="sng" algn="ctr">
            <a:solidFill>
              <a:schemeClr val="tx1"/>
            </a:solidFill>
            <a:prstDash val="lgDash"/>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260" name="Straight Connector 959"/>
          <p:cNvCxnSpPr/>
          <p:nvPr/>
        </p:nvCxnSpPr>
        <p:spPr bwMode="auto">
          <a:xfrm>
            <a:off x="1565275" y="2795588"/>
            <a:ext cx="0" cy="784225"/>
          </a:xfrm>
          <a:prstGeom prst="line">
            <a:avLst/>
          </a:prstGeom>
          <a:ln w="6350" cap="flat" cmpd="sng" algn="ctr">
            <a:solidFill>
              <a:schemeClr val="tx1"/>
            </a:solidFill>
            <a:prstDash val="lgDash"/>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sp>
        <p:nvSpPr>
          <p:cNvPr id="1252" name="Rectangle 951"/>
          <p:cNvSpPr/>
          <p:nvPr/>
        </p:nvSpPr>
        <p:spPr bwMode="auto">
          <a:xfrm>
            <a:off x="1017588" y="3216275"/>
            <a:ext cx="273050" cy="539750"/>
          </a:xfrm>
          <a:prstGeom prst="rect">
            <a:avLst/>
          </a:prstGeom>
          <a:noFill/>
          <a:ln w="12700" cap="flat" cmpd="sng" algn="ctr">
            <a:solidFill>
              <a:schemeClr val="tx1"/>
            </a:solidFill>
            <a:prstDash val="sysDot"/>
            <a:miter lim="800000"/>
            <a:headEnd type="none" w="med" len="med"/>
            <a:tailEnd type="none" w="med" len="me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06" name="Text Placeholder 25"/>
          <p:cNvSpPr>
            <a:spLocks/>
          </p:cNvSpPr>
          <p:nvPr/>
        </p:nvSpPr>
        <p:spPr bwMode="auto">
          <a:xfrm>
            <a:off x="1200150" y="3906838"/>
            <a:ext cx="454025" cy="152400"/>
          </a:xfrm>
          <a:prstGeom prst="rect">
            <a:avLst/>
          </a:prstGeom>
          <a:noFill/>
          <a:ln>
            <a:noFill/>
          </a:ln>
          <a:effectLst/>
        </p:spPr>
        <p:txBody>
          <a:bodyPr vert="horz" wrap="none" lIns="0" tIns="0" rIns="0" bIns="0" rtlCol="0">
            <a:noAutofit/>
          </a:bodyPr>
          <a:p>
            <a:pPr marL="0" lvl="0" indent="0" algn="ctr">
              <a:spcBef>
                <a:spcPct val="0"/>
              </a:spcBef>
              <a:spcAft>
                <a:spcPct val="0"/>
              </a:spcAft>
              <a:buNone/>
            </a:pPr>
            <a:r>
              <a:rPr lang="en-US" altLang="en-US" sz="1000" smtClean="0">
                <a:solidFill>
                  <a:srgbClr val="000000"/>
                </a:solidFill>
              </a:rPr>
              <a:t>FY2022</a:t>
            </a:r>
            <a:endParaRPr lang="en-US" sz="1000">
              <a:solidFill>
                <a:srgbClr val="000000"/>
              </a:solidFill>
            </a:endParaRPr>
          </a:p>
        </p:txBody>
      </p:sp>
      <p:sp>
        <p:nvSpPr>
          <p:cNvPr id="1059" name="Text Placeholder 25"/>
          <p:cNvSpPr>
            <a:spLocks/>
          </p:cNvSpPr>
          <p:nvPr/>
        </p:nvSpPr>
        <p:spPr bwMode="auto">
          <a:xfrm>
            <a:off x="2295525" y="3906838"/>
            <a:ext cx="454025" cy="152400"/>
          </a:xfrm>
          <a:prstGeom prst="rect">
            <a:avLst/>
          </a:prstGeom>
          <a:noFill/>
          <a:ln>
            <a:noFill/>
          </a:ln>
          <a:effectLst/>
        </p:spPr>
        <p:txBody>
          <a:bodyPr vert="horz" wrap="none" lIns="0" tIns="0" rIns="0" bIns="0" rtlCol="0">
            <a:noAutofit/>
          </a:bodyPr>
          <a:p>
            <a:pPr marL="0" lvl="0" indent="0" algn="ctr">
              <a:spcBef>
                <a:spcPct val="0"/>
              </a:spcBef>
              <a:spcAft>
                <a:spcPct val="0"/>
              </a:spcAft>
              <a:buNone/>
            </a:pPr>
            <a:r>
              <a:rPr lang="en-US" altLang="en-US" sz="1000" smtClean="0">
                <a:solidFill>
                  <a:srgbClr val="000000"/>
                </a:solidFill>
              </a:rPr>
              <a:t>FY2023</a:t>
            </a:r>
            <a:endParaRPr lang="en-US" sz="1000">
              <a:solidFill>
                <a:srgbClr val="000000"/>
              </a:solidFill>
            </a:endParaRPr>
          </a:p>
        </p:txBody>
      </p:sp>
      <p:sp>
        <p:nvSpPr>
          <p:cNvPr id="1107" name="Text Placeholder 25"/>
          <p:cNvSpPr>
            <a:spLocks/>
          </p:cNvSpPr>
          <p:nvPr/>
        </p:nvSpPr>
        <p:spPr bwMode="auto">
          <a:xfrm>
            <a:off x="5580063" y="3906838"/>
            <a:ext cx="454025" cy="152400"/>
          </a:xfrm>
          <a:prstGeom prst="rect">
            <a:avLst/>
          </a:prstGeom>
          <a:noFill/>
          <a:ln>
            <a:noFill/>
          </a:ln>
          <a:effectLst/>
        </p:spPr>
        <p:txBody>
          <a:bodyPr vert="horz" wrap="none" lIns="0" tIns="0" rIns="0" bIns="0" rtlCol="0">
            <a:noAutofit/>
          </a:bodyPr>
          <a:p>
            <a:pPr marL="0" lvl="0" indent="0" algn="ctr">
              <a:spcBef>
                <a:spcPct val="0"/>
              </a:spcBef>
              <a:spcAft>
                <a:spcPct val="0"/>
              </a:spcAft>
              <a:buNone/>
            </a:pPr>
            <a:r>
              <a:rPr lang="en-US" altLang="en-US" sz="1000" smtClean="0">
                <a:solidFill>
                  <a:srgbClr val="000000"/>
                </a:solidFill>
              </a:rPr>
              <a:t>FY2026</a:t>
            </a:r>
            <a:endParaRPr lang="en-US" sz="1000">
              <a:solidFill>
                <a:srgbClr val="000000"/>
              </a:solidFill>
            </a:endParaRPr>
          </a:p>
        </p:txBody>
      </p:sp>
      <p:sp>
        <p:nvSpPr>
          <p:cNvPr id="1073" name="Text Placeholder 25"/>
          <p:cNvSpPr>
            <a:spLocks/>
          </p:cNvSpPr>
          <p:nvPr/>
        </p:nvSpPr>
        <p:spPr bwMode="auto">
          <a:xfrm>
            <a:off x="4484688" y="3906838"/>
            <a:ext cx="454025" cy="152400"/>
          </a:xfrm>
          <a:prstGeom prst="rect">
            <a:avLst/>
          </a:prstGeom>
          <a:noFill/>
          <a:ln>
            <a:noFill/>
          </a:ln>
          <a:effectLst/>
        </p:spPr>
        <p:txBody>
          <a:bodyPr vert="horz" wrap="none" lIns="0" tIns="0" rIns="0" bIns="0" rtlCol="0">
            <a:noAutofit/>
          </a:bodyPr>
          <a:p>
            <a:pPr marL="0" lvl="0" indent="0" algn="ctr">
              <a:spcBef>
                <a:spcPct val="0"/>
              </a:spcBef>
              <a:spcAft>
                <a:spcPct val="0"/>
              </a:spcAft>
              <a:buNone/>
            </a:pPr>
            <a:r>
              <a:rPr lang="en-US" altLang="en-US" sz="1000" smtClean="0">
                <a:solidFill>
                  <a:srgbClr val="000000"/>
                </a:solidFill>
              </a:rPr>
              <a:t>FY2025</a:t>
            </a:r>
            <a:endParaRPr lang="en-US" sz="1000">
              <a:solidFill>
                <a:srgbClr val="000000"/>
              </a:solidFill>
            </a:endParaRPr>
          </a:p>
        </p:txBody>
      </p:sp>
      <p:sp>
        <p:nvSpPr>
          <p:cNvPr id="1111" name="Text Placeholder 25"/>
          <p:cNvSpPr>
            <a:spLocks/>
          </p:cNvSpPr>
          <p:nvPr/>
        </p:nvSpPr>
        <p:spPr bwMode="auto">
          <a:xfrm>
            <a:off x="9958388" y="3906838"/>
            <a:ext cx="454025" cy="152400"/>
          </a:xfrm>
          <a:prstGeom prst="rect">
            <a:avLst/>
          </a:prstGeom>
          <a:noFill/>
          <a:ln>
            <a:noFill/>
          </a:ln>
          <a:effectLst/>
        </p:spPr>
        <p:txBody>
          <a:bodyPr vert="horz" wrap="none" lIns="0" tIns="0" rIns="0" bIns="0" rtlCol="0">
            <a:noAutofit/>
          </a:bodyPr>
          <a:p>
            <a:pPr marL="0" lvl="0" indent="0" algn="ctr">
              <a:spcBef>
                <a:spcPct val="0"/>
              </a:spcBef>
              <a:spcAft>
                <a:spcPct val="0"/>
              </a:spcAft>
              <a:buNone/>
            </a:pPr>
            <a:r>
              <a:rPr lang="en-US" altLang="en-US" sz="1000" smtClean="0">
                <a:solidFill>
                  <a:srgbClr val="000000"/>
                </a:solidFill>
              </a:rPr>
              <a:t>FY2030</a:t>
            </a:r>
            <a:endParaRPr lang="en-US" sz="1000">
              <a:solidFill>
                <a:srgbClr val="000000"/>
              </a:solidFill>
            </a:endParaRPr>
          </a:p>
        </p:txBody>
      </p:sp>
      <p:sp>
        <p:nvSpPr>
          <p:cNvPr id="1112" name="Text Placeholder 25"/>
          <p:cNvSpPr>
            <a:spLocks/>
          </p:cNvSpPr>
          <p:nvPr/>
        </p:nvSpPr>
        <p:spPr bwMode="auto">
          <a:xfrm>
            <a:off x="11052175" y="3906838"/>
            <a:ext cx="454025" cy="152400"/>
          </a:xfrm>
          <a:prstGeom prst="rect">
            <a:avLst/>
          </a:prstGeom>
          <a:noFill/>
          <a:ln>
            <a:noFill/>
          </a:ln>
          <a:effectLst/>
        </p:spPr>
        <p:txBody>
          <a:bodyPr vert="horz" wrap="none" lIns="0" tIns="0" rIns="0" bIns="0" rtlCol="0">
            <a:noAutofit/>
          </a:bodyPr>
          <a:p>
            <a:pPr marL="0" lvl="0" indent="0" algn="ctr">
              <a:spcBef>
                <a:spcPct val="0"/>
              </a:spcBef>
              <a:spcAft>
                <a:spcPct val="0"/>
              </a:spcAft>
              <a:buNone/>
            </a:pPr>
            <a:r>
              <a:rPr lang="en-US" altLang="en-US" sz="1000" smtClean="0">
                <a:solidFill>
                  <a:srgbClr val="000000"/>
                </a:solidFill>
              </a:rPr>
              <a:t>FY2031</a:t>
            </a:r>
            <a:endParaRPr lang="en-US" sz="1000">
              <a:solidFill>
                <a:srgbClr val="000000"/>
              </a:solidFill>
            </a:endParaRPr>
          </a:p>
        </p:txBody>
      </p:sp>
      <p:sp>
        <p:nvSpPr>
          <p:cNvPr id="1110" name="Text Placeholder 25"/>
          <p:cNvSpPr>
            <a:spLocks/>
          </p:cNvSpPr>
          <p:nvPr/>
        </p:nvSpPr>
        <p:spPr bwMode="auto">
          <a:xfrm>
            <a:off x="8863013" y="3906838"/>
            <a:ext cx="454025" cy="152400"/>
          </a:xfrm>
          <a:prstGeom prst="rect">
            <a:avLst/>
          </a:prstGeom>
          <a:noFill/>
          <a:ln>
            <a:noFill/>
          </a:ln>
          <a:effectLst/>
        </p:spPr>
        <p:txBody>
          <a:bodyPr vert="horz" wrap="none" lIns="0" tIns="0" rIns="0" bIns="0" rtlCol="0">
            <a:noAutofit/>
          </a:bodyPr>
          <a:p>
            <a:pPr marL="0" lvl="0" indent="0" algn="ctr">
              <a:spcBef>
                <a:spcPct val="0"/>
              </a:spcBef>
              <a:spcAft>
                <a:spcPct val="0"/>
              </a:spcAft>
              <a:buNone/>
            </a:pPr>
            <a:r>
              <a:rPr lang="en-US" altLang="en-US" sz="1000" smtClean="0">
                <a:solidFill>
                  <a:srgbClr val="000000"/>
                </a:solidFill>
              </a:rPr>
              <a:t>FY2029</a:t>
            </a:r>
            <a:endParaRPr lang="en-US" sz="1000">
              <a:solidFill>
                <a:srgbClr val="000000"/>
              </a:solidFill>
            </a:endParaRPr>
          </a:p>
        </p:txBody>
      </p:sp>
      <p:sp>
        <p:nvSpPr>
          <p:cNvPr id="1108" name="Text Placeholder 25"/>
          <p:cNvSpPr>
            <a:spLocks/>
          </p:cNvSpPr>
          <p:nvPr/>
        </p:nvSpPr>
        <p:spPr bwMode="auto">
          <a:xfrm>
            <a:off x="6673850" y="3906838"/>
            <a:ext cx="454025" cy="152400"/>
          </a:xfrm>
          <a:prstGeom prst="rect">
            <a:avLst/>
          </a:prstGeom>
          <a:noFill/>
          <a:ln>
            <a:noFill/>
          </a:ln>
          <a:effectLst/>
        </p:spPr>
        <p:txBody>
          <a:bodyPr vert="horz" wrap="none" lIns="0" tIns="0" rIns="0" bIns="0" rtlCol="0">
            <a:noAutofit/>
          </a:bodyPr>
          <a:p>
            <a:pPr marL="0" lvl="0" indent="0" algn="ctr">
              <a:spcBef>
                <a:spcPct val="0"/>
              </a:spcBef>
              <a:spcAft>
                <a:spcPct val="0"/>
              </a:spcAft>
              <a:buNone/>
            </a:pPr>
            <a:r>
              <a:rPr lang="en-US" altLang="en-US" sz="1000" smtClean="0">
                <a:solidFill>
                  <a:srgbClr val="000000"/>
                </a:solidFill>
              </a:rPr>
              <a:t>FY2027</a:t>
            </a:r>
            <a:endParaRPr lang="en-US" sz="1000">
              <a:solidFill>
                <a:srgbClr val="000000"/>
              </a:solidFill>
            </a:endParaRPr>
          </a:p>
        </p:txBody>
      </p:sp>
      <p:sp>
        <p:nvSpPr>
          <p:cNvPr id="1109" name="Text Placeholder 25"/>
          <p:cNvSpPr>
            <a:spLocks/>
          </p:cNvSpPr>
          <p:nvPr/>
        </p:nvSpPr>
        <p:spPr bwMode="auto">
          <a:xfrm>
            <a:off x="7769225" y="3906838"/>
            <a:ext cx="454025" cy="152400"/>
          </a:xfrm>
          <a:prstGeom prst="rect">
            <a:avLst/>
          </a:prstGeom>
          <a:noFill/>
          <a:ln>
            <a:noFill/>
          </a:ln>
          <a:effectLst/>
        </p:spPr>
        <p:txBody>
          <a:bodyPr vert="horz" wrap="none" lIns="0" tIns="0" rIns="0" bIns="0" rtlCol="0">
            <a:noAutofit/>
          </a:bodyPr>
          <a:p>
            <a:pPr marL="0" lvl="0" indent="0" algn="ctr">
              <a:spcBef>
                <a:spcPct val="0"/>
              </a:spcBef>
              <a:spcAft>
                <a:spcPct val="0"/>
              </a:spcAft>
              <a:buNone/>
            </a:pPr>
            <a:r>
              <a:rPr lang="en-US" altLang="en-US" sz="1000" smtClean="0">
                <a:solidFill>
                  <a:srgbClr val="000000"/>
                </a:solidFill>
              </a:rPr>
              <a:t>FY2028</a:t>
            </a:r>
            <a:endParaRPr lang="en-US" sz="1000">
              <a:solidFill>
                <a:srgbClr val="000000"/>
              </a:solidFill>
            </a:endParaRPr>
          </a:p>
        </p:txBody>
      </p:sp>
      <p:sp>
        <p:nvSpPr>
          <p:cNvPr id="1064" name="Text Placeholder 25"/>
          <p:cNvSpPr>
            <a:spLocks/>
          </p:cNvSpPr>
          <p:nvPr/>
        </p:nvSpPr>
        <p:spPr bwMode="auto">
          <a:xfrm>
            <a:off x="3389313" y="3906838"/>
            <a:ext cx="454025" cy="152400"/>
          </a:xfrm>
          <a:prstGeom prst="rect">
            <a:avLst/>
          </a:prstGeom>
          <a:noFill/>
          <a:ln>
            <a:noFill/>
          </a:ln>
          <a:effectLst/>
        </p:spPr>
        <p:txBody>
          <a:bodyPr vert="horz" wrap="none" lIns="0" tIns="0" rIns="0" bIns="0" rtlCol="0">
            <a:noAutofit/>
          </a:bodyPr>
          <a:p>
            <a:pPr marL="0" lvl="0" indent="0" algn="ctr">
              <a:spcBef>
                <a:spcPct val="0"/>
              </a:spcBef>
              <a:spcAft>
                <a:spcPct val="0"/>
              </a:spcAft>
              <a:buNone/>
            </a:pPr>
            <a:r>
              <a:rPr lang="en-US" altLang="en-US" sz="1000" smtClean="0">
                <a:solidFill>
                  <a:srgbClr val="000000"/>
                </a:solidFill>
              </a:rPr>
              <a:t>FY2024</a:t>
            </a:r>
            <a:endParaRPr lang="en-US" sz="1000">
              <a:solidFill>
                <a:srgbClr val="000000"/>
              </a:solidFill>
            </a:endParaRPr>
          </a:p>
        </p:txBody>
      </p:sp>
      <p:sp>
        <p:nvSpPr>
          <p:cNvPr id="310" name="Text Placeholder 25"/>
          <p:cNvSpPr>
            <a:spLocks/>
          </p:cNvSpPr>
          <p:nvPr/>
        </p:nvSpPr>
        <p:spPr bwMode="gray">
          <a:xfrm>
            <a:off x="1049338" y="3711575"/>
            <a:ext cx="209550" cy="152400"/>
          </a:xfrm>
          <a:prstGeom prst="rect">
            <a:avLst/>
          </a:prstGeom>
          <a:solidFill>
            <a:schemeClr val="accent4"/>
          </a:solidFill>
          <a:ln>
            <a:noFill/>
          </a:ln>
          <a:effectLst/>
        </p:spPr>
        <p:txBody>
          <a:bodyPr vert="horz" wrap="none" lIns="17463" tIns="0" rIns="17463" bIns="0" rtlCol="0" anchor="ctr">
            <a:noAutofit/>
          </a:bodyPr>
          <a:p>
            <a:pPr marL="0" lvl="0" indent="0" algn="ctr">
              <a:spcBef>
                <a:spcPct val="0"/>
              </a:spcBef>
              <a:spcAft>
                <a:spcPct val="0"/>
              </a:spcAft>
              <a:buNone/>
            </a:pPr>
            <a:r>
              <a:rPr lang="en-US" altLang="en-US" sz="1000" smtClean="0">
                <a:solidFill>
                  <a:schemeClr val="bg1"/>
                </a:solidFill>
                <a:effectLst/>
              </a:rPr>
              <a:t>0.5</a:t>
            </a:r>
            <a:endParaRPr lang="en-US" sz="1000">
              <a:solidFill>
                <a:schemeClr val="bg1"/>
              </a:solidFill>
            </a:endParaRPr>
          </a:p>
        </p:txBody>
      </p:sp>
      <p:sp>
        <p:nvSpPr>
          <p:cNvPr id="315" name="Text Placeholder 25"/>
          <p:cNvSpPr>
            <a:spLocks/>
          </p:cNvSpPr>
          <p:nvPr/>
        </p:nvSpPr>
        <p:spPr bwMode="gray">
          <a:xfrm>
            <a:off x="8712200" y="3698875"/>
            <a:ext cx="209550" cy="152400"/>
          </a:xfrm>
          <a:prstGeom prst="rect">
            <a:avLst/>
          </a:prstGeom>
          <a:solidFill>
            <a:srgbClr val="BEBEBE"/>
          </a:solidFill>
          <a:ln>
            <a:noFill/>
          </a:ln>
          <a:effectLst/>
        </p:spPr>
        <p:txBody>
          <a:bodyPr vert="horz" wrap="none" lIns="17463" tIns="0" rIns="17463" bIns="0" rtlCol="0" anchor="ctr">
            <a:noAutofit/>
          </a:bodyPr>
          <a:p>
            <a:pPr marL="0" lvl="0" indent="0" algn="ctr">
              <a:spcBef>
                <a:spcPct val="0"/>
              </a:spcBef>
              <a:spcAft>
                <a:spcPct val="0"/>
              </a:spcAft>
              <a:buNone/>
            </a:pPr>
            <a:r>
              <a:rPr lang="en-US" altLang="en-US" sz="1000" smtClean="0">
                <a:effectLst/>
              </a:rPr>
              <a:t>0.6</a:t>
            </a:r>
            <a:endParaRPr lang="en-US" sz="1000"/>
          </a:p>
        </p:txBody>
      </p:sp>
      <p:sp>
        <p:nvSpPr>
          <p:cNvPr id="313" name="Text Placeholder 25"/>
          <p:cNvSpPr>
            <a:spLocks/>
          </p:cNvSpPr>
          <p:nvPr/>
        </p:nvSpPr>
        <p:spPr bwMode="gray">
          <a:xfrm>
            <a:off x="6523038" y="3697288"/>
            <a:ext cx="209550" cy="152400"/>
          </a:xfrm>
          <a:prstGeom prst="rect">
            <a:avLst/>
          </a:prstGeom>
          <a:solidFill>
            <a:schemeClr val="accent4"/>
          </a:solidFill>
          <a:ln>
            <a:noFill/>
          </a:ln>
          <a:effectLst/>
        </p:spPr>
        <p:txBody>
          <a:bodyPr vert="horz" wrap="none" lIns="17463" tIns="0" rIns="17463" bIns="0" rtlCol="0" anchor="ctr">
            <a:noAutofit/>
          </a:bodyPr>
          <a:p>
            <a:pPr marL="0" lvl="0" indent="0" algn="ctr">
              <a:spcBef>
                <a:spcPct val="0"/>
              </a:spcBef>
              <a:spcAft>
                <a:spcPct val="0"/>
              </a:spcAft>
              <a:buNone/>
            </a:pPr>
            <a:r>
              <a:rPr lang="en-US" altLang="en-US" sz="1000" smtClean="0">
                <a:solidFill>
                  <a:schemeClr val="bg1"/>
                </a:solidFill>
                <a:effectLst/>
              </a:rPr>
              <a:t>0.7</a:t>
            </a:r>
            <a:endParaRPr lang="en-US" sz="1000">
              <a:solidFill>
                <a:schemeClr val="bg1"/>
              </a:solidFill>
            </a:endParaRPr>
          </a:p>
        </p:txBody>
      </p:sp>
      <p:sp>
        <p:nvSpPr>
          <p:cNvPr id="314" name="Text Placeholder 25"/>
          <p:cNvSpPr>
            <a:spLocks/>
          </p:cNvSpPr>
          <p:nvPr/>
        </p:nvSpPr>
        <p:spPr bwMode="gray">
          <a:xfrm>
            <a:off x="7616825" y="3703638"/>
            <a:ext cx="209550" cy="152400"/>
          </a:xfrm>
          <a:prstGeom prst="rect">
            <a:avLst/>
          </a:prstGeom>
          <a:solidFill>
            <a:srgbClr val="BEBEBE"/>
          </a:solidFill>
          <a:ln>
            <a:noFill/>
          </a:ln>
          <a:effectLst/>
        </p:spPr>
        <p:txBody>
          <a:bodyPr vert="horz" wrap="none" lIns="17463" tIns="0" rIns="17463" bIns="0" rtlCol="0" anchor="ctr">
            <a:noAutofit/>
          </a:bodyPr>
          <a:p>
            <a:pPr marL="0" lvl="0" indent="0" algn="ctr">
              <a:spcBef>
                <a:spcPct val="0"/>
              </a:spcBef>
              <a:spcAft>
                <a:spcPct val="0"/>
              </a:spcAft>
              <a:buNone/>
            </a:pPr>
            <a:r>
              <a:rPr lang="en-US" altLang="en-US" sz="1000" smtClean="0">
                <a:effectLst/>
              </a:rPr>
              <a:t>0.6</a:t>
            </a:r>
            <a:endParaRPr lang="en-US" sz="1000"/>
          </a:p>
        </p:txBody>
      </p:sp>
      <p:sp>
        <p:nvSpPr>
          <p:cNvPr id="1077" name="Text Placeholder 25"/>
          <p:cNvSpPr>
            <a:spLocks/>
          </p:cNvSpPr>
          <p:nvPr/>
        </p:nvSpPr>
        <p:spPr bwMode="gray">
          <a:xfrm>
            <a:off x="1049338" y="3038475"/>
            <a:ext cx="209550" cy="152400"/>
          </a:xfrm>
          <a:prstGeom prst="rect">
            <a:avLst/>
          </a:prstGeom>
          <a:noFill/>
          <a:ln>
            <a:noFill/>
          </a:ln>
          <a:effectLst/>
        </p:spPr>
        <p:txBody>
          <a:bodyPr vert="horz" wrap="none" lIns="17463" tIns="0" rIns="17463" bIns="0" rtlCol="0" anchor="b">
            <a:noAutofit/>
          </a:bodyPr>
          <a:p>
            <a:pPr marL="0" lvl="0" indent="0" algn="ctr">
              <a:spcBef>
                <a:spcPct val="0"/>
              </a:spcBef>
              <a:spcAft>
                <a:spcPct val="0"/>
              </a:spcAft>
              <a:buNone/>
            </a:pPr>
            <a:r>
              <a:rPr lang="en-US" altLang="en-US" sz="1000" smtClean="0">
                <a:solidFill>
                  <a:srgbClr val="000000"/>
                </a:solidFill>
              </a:rPr>
              <a:t>4.5</a:t>
            </a:r>
            <a:endParaRPr lang="en-US" sz="1000">
              <a:solidFill>
                <a:srgbClr val="000000"/>
              </a:solidFill>
            </a:endParaRPr>
          </a:p>
        </p:txBody>
      </p:sp>
      <p:sp>
        <p:nvSpPr>
          <p:cNvPr id="1078" name="Text Placeholder 25"/>
          <p:cNvSpPr>
            <a:spLocks/>
          </p:cNvSpPr>
          <p:nvPr/>
        </p:nvSpPr>
        <p:spPr bwMode="gray">
          <a:xfrm>
            <a:off x="1322388" y="2617788"/>
            <a:ext cx="209550" cy="152400"/>
          </a:xfrm>
          <a:prstGeom prst="rect">
            <a:avLst/>
          </a:prstGeom>
          <a:noFill/>
          <a:ln>
            <a:noFill/>
          </a:ln>
          <a:effectLst/>
        </p:spPr>
        <p:txBody>
          <a:bodyPr vert="horz" wrap="none" lIns="17463" tIns="0" rIns="17463" bIns="0" rtlCol="0" anchor="b">
            <a:noAutofit/>
          </a:bodyPr>
          <a:p>
            <a:pPr marL="0" lvl="0" indent="0" algn="ctr">
              <a:spcBef>
                <a:spcPct val="0"/>
              </a:spcBef>
              <a:spcAft>
                <a:spcPct val="0"/>
              </a:spcAft>
              <a:buNone/>
            </a:pPr>
            <a:r>
              <a:rPr lang="en-US" altLang="en-US" sz="1000" smtClean="0">
                <a:solidFill>
                  <a:srgbClr val="000000"/>
                </a:solidFill>
              </a:rPr>
              <a:t>7.6</a:t>
            </a:r>
            <a:endParaRPr lang="en-US" sz="1000">
              <a:solidFill>
                <a:srgbClr val="000000"/>
              </a:solidFill>
            </a:endParaRPr>
          </a:p>
        </p:txBody>
      </p:sp>
      <p:sp>
        <p:nvSpPr>
          <p:cNvPr id="1080" name="Text Placeholder 25"/>
          <p:cNvSpPr>
            <a:spLocks/>
          </p:cNvSpPr>
          <p:nvPr/>
        </p:nvSpPr>
        <p:spPr bwMode="gray">
          <a:xfrm>
            <a:off x="2144713" y="2497138"/>
            <a:ext cx="209550" cy="152400"/>
          </a:xfrm>
          <a:prstGeom prst="rect">
            <a:avLst/>
          </a:prstGeom>
          <a:noFill/>
          <a:ln>
            <a:noFill/>
          </a:ln>
          <a:effectLst/>
        </p:spPr>
        <p:txBody>
          <a:bodyPr vert="horz" wrap="none" lIns="17463" tIns="0" rIns="17463" bIns="0" rtlCol="0" anchor="b">
            <a:noAutofit/>
          </a:bodyPr>
          <a:p>
            <a:pPr marL="0" lvl="0" indent="0" algn="ctr">
              <a:spcBef>
                <a:spcPct val="0"/>
              </a:spcBef>
              <a:spcAft>
                <a:spcPct val="0"/>
              </a:spcAft>
              <a:buNone/>
            </a:pPr>
            <a:r>
              <a:rPr lang="en-US" altLang="en-US" sz="1000" smtClean="0">
                <a:solidFill>
                  <a:srgbClr val="000000"/>
                </a:solidFill>
              </a:rPr>
              <a:t>8.5</a:t>
            </a:r>
            <a:endParaRPr lang="en-US" sz="1000">
              <a:solidFill>
                <a:srgbClr val="000000"/>
              </a:solidFill>
            </a:endParaRPr>
          </a:p>
        </p:txBody>
      </p:sp>
      <p:sp>
        <p:nvSpPr>
          <p:cNvPr id="1081" name="Text Placeholder 25"/>
          <p:cNvSpPr>
            <a:spLocks/>
          </p:cNvSpPr>
          <p:nvPr/>
        </p:nvSpPr>
        <p:spPr bwMode="gray">
          <a:xfrm>
            <a:off x="2417763" y="2597150"/>
            <a:ext cx="209550" cy="152400"/>
          </a:xfrm>
          <a:prstGeom prst="rect">
            <a:avLst/>
          </a:prstGeom>
          <a:noFill/>
          <a:ln>
            <a:noFill/>
          </a:ln>
          <a:effectLst/>
        </p:spPr>
        <p:txBody>
          <a:bodyPr vert="horz" wrap="none" lIns="17463" tIns="0" rIns="17463" bIns="0" rtlCol="0" anchor="b">
            <a:noAutofit/>
          </a:bodyPr>
          <a:p>
            <a:pPr marL="0" lvl="0" indent="0" algn="ctr">
              <a:spcBef>
                <a:spcPct val="0"/>
              </a:spcBef>
              <a:spcAft>
                <a:spcPct val="0"/>
              </a:spcAft>
              <a:buNone/>
            </a:pPr>
            <a:r>
              <a:rPr lang="en-US" altLang="en-US" sz="1000" smtClean="0">
                <a:solidFill>
                  <a:srgbClr val="000000"/>
                </a:solidFill>
              </a:rPr>
              <a:t>7.8</a:t>
            </a:r>
            <a:endParaRPr lang="en-US" sz="1000">
              <a:solidFill>
                <a:srgbClr val="000000"/>
              </a:solidFill>
            </a:endParaRPr>
          </a:p>
        </p:txBody>
      </p:sp>
      <p:sp>
        <p:nvSpPr>
          <p:cNvPr id="1083" name="Text Placeholder 25"/>
          <p:cNvSpPr>
            <a:spLocks/>
          </p:cNvSpPr>
          <p:nvPr/>
        </p:nvSpPr>
        <p:spPr bwMode="gray">
          <a:xfrm>
            <a:off x="3238500" y="2873375"/>
            <a:ext cx="209550" cy="152400"/>
          </a:xfrm>
          <a:prstGeom prst="rect">
            <a:avLst/>
          </a:prstGeom>
          <a:noFill/>
          <a:ln>
            <a:noFill/>
          </a:ln>
          <a:effectLst/>
        </p:spPr>
        <p:txBody>
          <a:bodyPr vert="horz" wrap="none" lIns="17463" tIns="0" rIns="17463" bIns="0" rtlCol="0" anchor="b">
            <a:noAutofit/>
          </a:bodyPr>
          <a:p>
            <a:pPr marL="0" lvl="0" indent="0" algn="ctr">
              <a:spcBef>
                <a:spcPct val="0"/>
              </a:spcBef>
              <a:spcAft>
                <a:spcPct val="0"/>
              </a:spcAft>
              <a:buNone/>
            </a:pPr>
            <a:r>
              <a:rPr lang="en-US" altLang="en-US" sz="1000" smtClean="0">
                <a:solidFill>
                  <a:srgbClr val="000000"/>
                </a:solidFill>
              </a:rPr>
              <a:t>5.7</a:t>
            </a:r>
            <a:endParaRPr lang="en-US" sz="1000">
              <a:solidFill>
                <a:srgbClr val="000000"/>
              </a:solidFill>
            </a:endParaRPr>
          </a:p>
        </p:txBody>
      </p:sp>
      <p:sp>
        <p:nvSpPr>
          <p:cNvPr id="1089" name="Text Placeholder 25"/>
          <p:cNvSpPr>
            <a:spLocks/>
          </p:cNvSpPr>
          <p:nvPr/>
        </p:nvSpPr>
        <p:spPr bwMode="gray">
          <a:xfrm>
            <a:off x="3476625" y="2049463"/>
            <a:ext cx="279400" cy="152400"/>
          </a:xfrm>
          <a:prstGeom prst="rect">
            <a:avLst/>
          </a:prstGeom>
          <a:noFill/>
          <a:ln>
            <a:noFill/>
          </a:ln>
          <a:effectLst/>
        </p:spPr>
        <p:txBody>
          <a:bodyPr vert="horz" wrap="none" lIns="17463" tIns="0" rIns="17463" bIns="0" rtlCol="0" anchor="b">
            <a:noAutofit/>
          </a:bodyPr>
          <a:p>
            <a:pPr marL="0" lvl="0" indent="0" algn="ctr">
              <a:spcBef>
                <a:spcPct val="0"/>
              </a:spcBef>
              <a:spcAft>
                <a:spcPct val="0"/>
              </a:spcAft>
              <a:buNone/>
            </a:pPr>
            <a:r>
              <a:rPr lang="en-US" altLang="en-US" sz="1000" smtClean="0">
                <a:solidFill>
                  <a:srgbClr val="000000"/>
                </a:solidFill>
              </a:rPr>
              <a:t>11.8</a:t>
            </a:r>
            <a:endParaRPr lang="en-US" sz="1000">
              <a:solidFill>
                <a:srgbClr val="000000"/>
              </a:solidFill>
            </a:endParaRPr>
          </a:p>
        </p:txBody>
      </p:sp>
      <p:sp>
        <p:nvSpPr>
          <p:cNvPr id="1085" name="Text Placeholder 25"/>
          <p:cNvSpPr>
            <a:spLocks/>
          </p:cNvSpPr>
          <p:nvPr/>
        </p:nvSpPr>
        <p:spPr bwMode="gray">
          <a:xfrm>
            <a:off x="3751263" y="2144713"/>
            <a:ext cx="279400" cy="152400"/>
          </a:xfrm>
          <a:prstGeom prst="rect">
            <a:avLst/>
          </a:prstGeom>
          <a:noFill/>
          <a:ln>
            <a:noFill/>
          </a:ln>
          <a:effectLst/>
        </p:spPr>
        <p:txBody>
          <a:bodyPr vert="horz" wrap="none" lIns="17463" tIns="0" rIns="17463" bIns="0" rtlCol="0" anchor="b">
            <a:noAutofit/>
          </a:bodyPr>
          <a:p>
            <a:pPr marL="0" lvl="0" indent="0" algn="ctr">
              <a:spcBef>
                <a:spcPct val="0"/>
              </a:spcBef>
              <a:spcAft>
                <a:spcPct val="0"/>
              </a:spcAft>
              <a:buNone/>
            </a:pPr>
            <a:r>
              <a:rPr lang="en-US" altLang="en-US" sz="1000" smtClean="0">
                <a:solidFill>
                  <a:srgbClr val="000000"/>
                </a:solidFill>
              </a:rPr>
              <a:t>11.1</a:t>
            </a:r>
            <a:endParaRPr lang="en-US" sz="1000">
              <a:solidFill>
                <a:srgbClr val="000000"/>
              </a:solidFill>
            </a:endParaRPr>
          </a:p>
        </p:txBody>
      </p:sp>
      <p:sp>
        <p:nvSpPr>
          <p:cNvPr id="1086" name="Text Placeholder 25"/>
          <p:cNvSpPr>
            <a:spLocks/>
          </p:cNvSpPr>
          <p:nvPr/>
        </p:nvSpPr>
        <p:spPr bwMode="gray">
          <a:xfrm>
            <a:off x="4333875" y="2562225"/>
            <a:ext cx="209550" cy="152400"/>
          </a:xfrm>
          <a:prstGeom prst="rect">
            <a:avLst/>
          </a:prstGeom>
          <a:noFill/>
          <a:ln>
            <a:noFill/>
          </a:ln>
          <a:effectLst/>
        </p:spPr>
        <p:txBody>
          <a:bodyPr vert="horz" wrap="none" lIns="17463" tIns="0" rIns="17463" bIns="0" rtlCol="0" anchor="b">
            <a:noAutofit/>
          </a:bodyPr>
          <a:p>
            <a:pPr marL="0" lvl="0" indent="0" algn="ctr">
              <a:spcBef>
                <a:spcPct val="0"/>
              </a:spcBef>
              <a:spcAft>
                <a:spcPct val="0"/>
              </a:spcAft>
              <a:buNone/>
            </a:pPr>
            <a:r>
              <a:rPr lang="en-US" altLang="en-US" sz="1000" smtClean="0">
                <a:solidFill>
                  <a:srgbClr val="000000"/>
                </a:solidFill>
              </a:rPr>
              <a:t>8.0</a:t>
            </a:r>
            <a:endParaRPr lang="en-US" sz="1000">
              <a:solidFill>
                <a:srgbClr val="000000"/>
              </a:solidFill>
            </a:endParaRPr>
          </a:p>
        </p:txBody>
      </p:sp>
      <p:sp>
        <p:nvSpPr>
          <p:cNvPr id="1087" name="Text Placeholder 25"/>
          <p:cNvSpPr>
            <a:spLocks/>
          </p:cNvSpPr>
          <p:nvPr/>
        </p:nvSpPr>
        <p:spPr bwMode="gray">
          <a:xfrm>
            <a:off x="4606925" y="2336800"/>
            <a:ext cx="209550" cy="152400"/>
          </a:xfrm>
          <a:prstGeom prst="rect">
            <a:avLst/>
          </a:prstGeom>
          <a:noFill/>
          <a:ln>
            <a:noFill/>
          </a:ln>
          <a:effectLst/>
        </p:spPr>
        <p:txBody>
          <a:bodyPr vert="horz" wrap="none" lIns="17463" tIns="0" rIns="17463" bIns="0" rtlCol="0" anchor="b">
            <a:noAutofit/>
          </a:bodyPr>
          <a:p>
            <a:pPr marL="0" lvl="0" indent="0" algn="ctr">
              <a:spcBef>
                <a:spcPct val="0"/>
              </a:spcBef>
              <a:spcAft>
                <a:spcPct val="0"/>
              </a:spcAft>
              <a:buNone/>
            </a:pPr>
            <a:r>
              <a:rPr lang="en-US" altLang="en-US" sz="1000" smtClean="0">
                <a:solidFill>
                  <a:srgbClr val="000000"/>
                </a:solidFill>
              </a:rPr>
              <a:t>9.7</a:t>
            </a:r>
            <a:endParaRPr lang="en-US" sz="1000">
              <a:solidFill>
                <a:srgbClr val="000000"/>
              </a:solidFill>
            </a:endParaRPr>
          </a:p>
        </p:txBody>
      </p:sp>
      <p:sp>
        <p:nvSpPr>
          <p:cNvPr id="1121" name="Text Placeholder 25"/>
          <p:cNvSpPr>
            <a:spLocks/>
          </p:cNvSpPr>
          <p:nvPr/>
        </p:nvSpPr>
        <p:spPr bwMode="gray">
          <a:xfrm>
            <a:off x="5427663" y="2873375"/>
            <a:ext cx="209550" cy="152400"/>
          </a:xfrm>
          <a:prstGeom prst="rect">
            <a:avLst/>
          </a:prstGeom>
          <a:noFill/>
          <a:ln>
            <a:noFill/>
          </a:ln>
          <a:effectLst/>
        </p:spPr>
        <p:txBody>
          <a:bodyPr vert="horz" wrap="none" lIns="17463" tIns="0" rIns="17463" bIns="0" rtlCol="0" anchor="b">
            <a:noAutofit/>
          </a:bodyPr>
          <a:p>
            <a:pPr marL="0" lvl="0" indent="0" algn="ctr">
              <a:spcBef>
                <a:spcPct val="0"/>
              </a:spcBef>
              <a:spcAft>
                <a:spcPct val="0"/>
              </a:spcAft>
              <a:buNone/>
            </a:pPr>
            <a:r>
              <a:rPr lang="en-US" altLang="en-US" sz="1000" smtClean="0">
                <a:solidFill>
                  <a:srgbClr val="000000"/>
                </a:solidFill>
              </a:rPr>
              <a:t>5.7</a:t>
            </a:r>
            <a:endParaRPr lang="en-US" sz="1000">
              <a:solidFill>
                <a:srgbClr val="000000"/>
              </a:solidFill>
            </a:endParaRPr>
          </a:p>
        </p:txBody>
      </p:sp>
      <p:sp>
        <p:nvSpPr>
          <p:cNvPr id="1123" name="Text Placeholder 25"/>
          <p:cNvSpPr>
            <a:spLocks/>
          </p:cNvSpPr>
          <p:nvPr/>
        </p:nvSpPr>
        <p:spPr bwMode="gray">
          <a:xfrm>
            <a:off x="5667375" y="2297113"/>
            <a:ext cx="279400" cy="152400"/>
          </a:xfrm>
          <a:prstGeom prst="rect">
            <a:avLst/>
          </a:prstGeom>
          <a:noFill/>
          <a:ln>
            <a:noFill/>
          </a:ln>
          <a:effectLst/>
        </p:spPr>
        <p:txBody>
          <a:bodyPr vert="horz" wrap="none" lIns="17463" tIns="0" rIns="17463" bIns="0" rtlCol="0" anchor="b">
            <a:noAutofit/>
          </a:bodyPr>
          <a:p>
            <a:pPr marL="0" lvl="0" indent="0" algn="ctr">
              <a:spcBef>
                <a:spcPct val="0"/>
              </a:spcBef>
              <a:spcAft>
                <a:spcPct val="0"/>
              </a:spcAft>
              <a:buNone/>
            </a:pPr>
            <a:r>
              <a:rPr lang="en-US" altLang="en-US" sz="1000" smtClean="0">
                <a:solidFill>
                  <a:srgbClr val="000000"/>
                </a:solidFill>
              </a:rPr>
              <a:t>10.0</a:t>
            </a:r>
            <a:endParaRPr lang="en-US" sz="1000">
              <a:solidFill>
                <a:srgbClr val="000000"/>
              </a:solidFill>
            </a:endParaRPr>
          </a:p>
        </p:txBody>
      </p:sp>
      <p:sp>
        <p:nvSpPr>
          <p:cNvPr id="1125" name="Text Placeholder 25"/>
          <p:cNvSpPr>
            <a:spLocks/>
          </p:cNvSpPr>
          <p:nvPr/>
        </p:nvSpPr>
        <p:spPr bwMode="gray">
          <a:xfrm>
            <a:off x="5940425" y="2195513"/>
            <a:ext cx="279400" cy="152400"/>
          </a:xfrm>
          <a:prstGeom prst="rect">
            <a:avLst/>
          </a:prstGeom>
          <a:noFill/>
          <a:ln>
            <a:noFill/>
          </a:ln>
          <a:effectLst/>
        </p:spPr>
        <p:txBody>
          <a:bodyPr vert="horz" wrap="none" lIns="17463" tIns="0" rIns="17463" bIns="0" rtlCol="0" anchor="b">
            <a:noAutofit/>
          </a:bodyPr>
          <a:p>
            <a:pPr marL="0" lvl="0" indent="0" algn="ctr">
              <a:spcBef>
                <a:spcPct val="0"/>
              </a:spcBef>
              <a:spcAft>
                <a:spcPct val="0"/>
              </a:spcAft>
              <a:buNone/>
            </a:pPr>
            <a:r>
              <a:rPr lang="en-US" altLang="en-US" sz="1000" smtClean="0">
                <a:solidFill>
                  <a:srgbClr val="000000"/>
                </a:solidFill>
              </a:rPr>
              <a:t>10.7</a:t>
            </a:r>
            <a:endParaRPr lang="en-US" sz="1000">
              <a:solidFill>
                <a:srgbClr val="000000"/>
              </a:solidFill>
            </a:endParaRPr>
          </a:p>
        </p:txBody>
      </p:sp>
      <p:sp>
        <p:nvSpPr>
          <p:cNvPr id="1128" name="Text Placeholder 25"/>
          <p:cNvSpPr>
            <a:spLocks/>
          </p:cNvSpPr>
          <p:nvPr/>
        </p:nvSpPr>
        <p:spPr bwMode="gray">
          <a:xfrm>
            <a:off x="6523038" y="3079750"/>
            <a:ext cx="209550" cy="152400"/>
          </a:xfrm>
          <a:prstGeom prst="rect">
            <a:avLst/>
          </a:prstGeom>
          <a:noFill/>
          <a:ln>
            <a:noFill/>
          </a:ln>
          <a:effectLst/>
        </p:spPr>
        <p:txBody>
          <a:bodyPr vert="horz" wrap="none" lIns="17463" tIns="0" rIns="17463" bIns="0" rtlCol="0" anchor="b">
            <a:noAutofit/>
          </a:bodyPr>
          <a:p>
            <a:pPr marL="0" lvl="0" indent="0" algn="ctr">
              <a:spcBef>
                <a:spcPct val="0"/>
              </a:spcBef>
              <a:spcAft>
                <a:spcPct val="0"/>
              </a:spcAft>
              <a:buNone/>
            </a:pPr>
            <a:r>
              <a:rPr lang="en-US" altLang="en-US" sz="1000" smtClean="0">
                <a:solidFill>
                  <a:srgbClr val="000000"/>
                </a:solidFill>
              </a:rPr>
              <a:t>4.2</a:t>
            </a:r>
            <a:endParaRPr lang="en-US" sz="1000">
              <a:solidFill>
                <a:srgbClr val="000000"/>
              </a:solidFill>
            </a:endParaRPr>
          </a:p>
        </p:txBody>
      </p:sp>
      <p:sp>
        <p:nvSpPr>
          <p:cNvPr id="1132" name="Text Placeholder 25"/>
          <p:cNvSpPr>
            <a:spLocks/>
          </p:cNvSpPr>
          <p:nvPr/>
        </p:nvSpPr>
        <p:spPr bwMode="gray">
          <a:xfrm>
            <a:off x="7034213" y="2259013"/>
            <a:ext cx="279400" cy="152400"/>
          </a:xfrm>
          <a:prstGeom prst="rect">
            <a:avLst/>
          </a:prstGeom>
          <a:noFill/>
          <a:ln>
            <a:noFill/>
          </a:ln>
          <a:effectLst/>
        </p:spPr>
        <p:txBody>
          <a:bodyPr vert="horz" wrap="none" lIns="17463" tIns="0" rIns="17463" bIns="0" rtlCol="0" anchor="b">
            <a:noAutofit/>
          </a:bodyPr>
          <a:p>
            <a:pPr marL="0" lvl="0" indent="0" algn="ctr">
              <a:spcBef>
                <a:spcPct val="0"/>
              </a:spcBef>
              <a:spcAft>
                <a:spcPct val="0"/>
              </a:spcAft>
              <a:buNone/>
            </a:pPr>
            <a:r>
              <a:rPr lang="en-US" altLang="en-US" sz="1000" smtClean="0">
                <a:solidFill>
                  <a:srgbClr val="000000"/>
                </a:solidFill>
              </a:rPr>
              <a:t>10.3</a:t>
            </a:r>
            <a:endParaRPr lang="en-US" sz="1000">
              <a:solidFill>
                <a:srgbClr val="000000"/>
              </a:solidFill>
            </a:endParaRPr>
          </a:p>
        </p:txBody>
      </p:sp>
      <p:sp>
        <p:nvSpPr>
          <p:cNvPr id="1135" name="Text Placeholder 25"/>
          <p:cNvSpPr>
            <a:spLocks/>
          </p:cNvSpPr>
          <p:nvPr/>
        </p:nvSpPr>
        <p:spPr bwMode="gray">
          <a:xfrm>
            <a:off x="7616825" y="3121025"/>
            <a:ext cx="209550" cy="152400"/>
          </a:xfrm>
          <a:prstGeom prst="rect">
            <a:avLst/>
          </a:prstGeom>
          <a:noFill/>
          <a:ln>
            <a:noFill/>
          </a:ln>
          <a:effectLst/>
        </p:spPr>
        <p:txBody>
          <a:bodyPr vert="horz" wrap="none" lIns="17463" tIns="0" rIns="17463" bIns="0" rtlCol="0" anchor="b">
            <a:noAutofit/>
          </a:bodyPr>
          <a:p>
            <a:pPr marL="0" lvl="0" indent="0" algn="ctr">
              <a:spcBef>
                <a:spcPct val="0"/>
              </a:spcBef>
              <a:spcAft>
                <a:spcPct val="0"/>
              </a:spcAft>
              <a:buNone/>
            </a:pPr>
            <a:r>
              <a:rPr lang="en-US" altLang="en-US" sz="1000" smtClean="0">
                <a:solidFill>
                  <a:srgbClr val="000000"/>
                </a:solidFill>
              </a:rPr>
              <a:t>3.9</a:t>
            </a:r>
            <a:endParaRPr lang="en-US" sz="1000">
              <a:solidFill>
                <a:srgbClr val="000000"/>
              </a:solidFill>
            </a:endParaRPr>
          </a:p>
        </p:txBody>
      </p:sp>
      <p:sp>
        <p:nvSpPr>
          <p:cNvPr id="1137" name="Text Placeholder 25"/>
          <p:cNvSpPr>
            <a:spLocks/>
          </p:cNvSpPr>
          <p:nvPr/>
        </p:nvSpPr>
        <p:spPr bwMode="gray">
          <a:xfrm>
            <a:off x="7856538" y="2182813"/>
            <a:ext cx="279400" cy="152400"/>
          </a:xfrm>
          <a:prstGeom prst="rect">
            <a:avLst/>
          </a:prstGeom>
          <a:noFill/>
          <a:ln>
            <a:noFill/>
          </a:ln>
          <a:effectLst/>
        </p:spPr>
        <p:txBody>
          <a:bodyPr vert="horz" wrap="none" lIns="17463" tIns="0" rIns="17463" bIns="0" rtlCol="0" anchor="b">
            <a:noAutofit/>
          </a:bodyPr>
          <a:p>
            <a:pPr marL="0" lvl="0" indent="0" algn="ctr">
              <a:spcBef>
                <a:spcPct val="0"/>
              </a:spcBef>
              <a:spcAft>
                <a:spcPct val="0"/>
              </a:spcAft>
              <a:buNone/>
            </a:pPr>
            <a:r>
              <a:rPr lang="en-US" altLang="en-US" sz="1000" smtClean="0">
                <a:solidFill>
                  <a:srgbClr val="000000"/>
                </a:solidFill>
              </a:rPr>
              <a:t>10.8</a:t>
            </a:r>
            <a:endParaRPr lang="en-US" sz="1000">
              <a:solidFill>
                <a:srgbClr val="000000"/>
              </a:solidFill>
            </a:endParaRPr>
          </a:p>
        </p:txBody>
      </p:sp>
      <p:sp>
        <p:nvSpPr>
          <p:cNvPr id="1140" name="Text Placeholder 25"/>
          <p:cNvSpPr>
            <a:spLocks/>
          </p:cNvSpPr>
          <p:nvPr/>
        </p:nvSpPr>
        <p:spPr bwMode="gray">
          <a:xfrm>
            <a:off x="8164513" y="2332038"/>
            <a:ext cx="209550" cy="152400"/>
          </a:xfrm>
          <a:prstGeom prst="rect">
            <a:avLst/>
          </a:prstGeom>
          <a:noFill/>
          <a:ln>
            <a:noFill/>
          </a:ln>
          <a:effectLst/>
        </p:spPr>
        <p:txBody>
          <a:bodyPr vert="horz" wrap="none" lIns="17463" tIns="0" rIns="17463" bIns="0" rtlCol="0" anchor="b">
            <a:noAutofit/>
          </a:bodyPr>
          <a:p>
            <a:pPr marL="0" lvl="0" indent="0" algn="ctr">
              <a:spcBef>
                <a:spcPct val="0"/>
              </a:spcBef>
              <a:spcAft>
                <a:spcPct val="0"/>
              </a:spcAft>
              <a:buNone/>
            </a:pPr>
            <a:r>
              <a:rPr lang="en-US" altLang="en-US" sz="1000" smtClean="0">
                <a:solidFill>
                  <a:srgbClr val="000000"/>
                </a:solidFill>
              </a:rPr>
              <a:t>9.7</a:t>
            </a:r>
            <a:endParaRPr lang="en-US" sz="1000">
              <a:solidFill>
                <a:srgbClr val="000000"/>
              </a:solidFill>
            </a:endParaRPr>
          </a:p>
        </p:txBody>
      </p:sp>
      <p:sp>
        <p:nvSpPr>
          <p:cNvPr id="1143" name="Text Placeholder 25"/>
          <p:cNvSpPr>
            <a:spLocks/>
          </p:cNvSpPr>
          <p:nvPr/>
        </p:nvSpPr>
        <p:spPr bwMode="gray">
          <a:xfrm>
            <a:off x="8712200" y="3108325"/>
            <a:ext cx="209550" cy="152400"/>
          </a:xfrm>
          <a:prstGeom prst="rect">
            <a:avLst/>
          </a:prstGeom>
          <a:noFill/>
          <a:ln>
            <a:noFill/>
          </a:ln>
          <a:effectLst/>
        </p:spPr>
        <p:txBody>
          <a:bodyPr vert="horz" wrap="none" lIns="17463" tIns="0" rIns="17463" bIns="0" rtlCol="0" anchor="b">
            <a:noAutofit/>
          </a:bodyPr>
          <a:p>
            <a:pPr marL="0" lvl="0" indent="0" algn="ctr">
              <a:spcBef>
                <a:spcPct val="0"/>
              </a:spcBef>
              <a:spcAft>
                <a:spcPct val="0"/>
              </a:spcAft>
              <a:buNone/>
            </a:pPr>
            <a:r>
              <a:rPr lang="en-US" altLang="en-US" sz="1000" smtClean="0">
                <a:solidFill>
                  <a:srgbClr val="000000"/>
                </a:solidFill>
              </a:rPr>
              <a:t>4.0</a:t>
            </a:r>
            <a:endParaRPr lang="en-US" sz="1000">
              <a:solidFill>
                <a:srgbClr val="000000"/>
              </a:solidFill>
            </a:endParaRPr>
          </a:p>
        </p:txBody>
      </p:sp>
      <p:sp>
        <p:nvSpPr>
          <p:cNvPr id="1145" name="Text Placeholder 25"/>
          <p:cNvSpPr>
            <a:spLocks/>
          </p:cNvSpPr>
          <p:nvPr/>
        </p:nvSpPr>
        <p:spPr bwMode="gray">
          <a:xfrm>
            <a:off x="8950325" y="2236788"/>
            <a:ext cx="279400" cy="152400"/>
          </a:xfrm>
          <a:prstGeom prst="rect">
            <a:avLst/>
          </a:prstGeom>
          <a:noFill/>
          <a:ln>
            <a:noFill/>
          </a:ln>
          <a:effectLst/>
        </p:spPr>
        <p:txBody>
          <a:bodyPr vert="horz" wrap="none" lIns="17463" tIns="0" rIns="17463" bIns="0" rtlCol="0" anchor="b">
            <a:noAutofit/>
          </a:bodyPr>
          <a:p>
            <a:pPr marL="0" lvl="0" indent="0" algn="ctr">
              <a:spcBef>
                <a:spcPct val="0"/>
              </a:spcBef>
              <a:spcAft>
                <a:spcPct val="0"/>
              </a:spcAft>
              <a:buNone/>
            </a:pPr>
            <a:r>
              <a:rPr lang="en-US" altLang="en-US" sz="1000" smtClean="0">
                <a:solidFill>
                  <a:srgbClr val="000000"/>
                </a:solidFill>
              </a:rPr>
              <a:t>10.4</a:t>
            </a:r>
            <a:endParaRPr lang="en-US" sz="1000">
              <a:solidFill>
                <a:srgbClr val="000000"/>
              </a:solidFill>
            </a:endParaRPr>
          </a:p>
        </p:txBody>
      </p:sp>
      <p:sp>
        <p:nvSpPr>
          <p:cNvPr id="1148" name="Text Placeholder 25"/>
          <p:cNvSpPr>
            <a:spLocks/>
          </p:cNvSpPr>
          <p:nvPr/>
        </p:nvSpPr>
        <p:spPr bwMode="gray">
          <a:xfrm>
            <a:off x="9259888" y="2330450"/>
            <a:ext cx="209550" cy="152400"/>
          </a:xfrm>
          <a:prstGeom prst="rect">
            <a:avLst/>
          </a:prstGeom>
          <a:noFill/>
          <a:ln>
            <a:noFill/>
          </a:ln>
          <a:effectLst/>
        </p:spPr>
        <p:txBody>
          <a:bodyPr vert="horz" wrap="none" lIns="17463" tIns="0" rIns="17463" bIns="0" rtlCol="0" anchor="b">
            <a:noAutofit/>
          </a:bodyPr>
          <a:p>
            <a:pPr marL="0" lvl="0" indent="0" algn="ctr">
              <a:spcBef>
                <a:spcPct val="0"/>
              </a:spcBef>
              <a:spcAft>
                <a:spcPct val="0"/>
              </a:spcAft>
              <a:buNone/>
            </a:pPr>
            <a:r>
              <a:rPr lang="en-US" altLang="en-US" sz="1000" smtClean="0">
                <a:solidFill>
                  <a:srgbClr val="000000"/>
                </a:solidFill>
              </a:rPr>
              <a:t>9.7</a:t>
            </a:r>
            <a:endParaRPr lang="en-US" sz="1000">
              <a:solidFill>
                <a:srgbClr val="000000"/>
              </a:solidFill>
            </a:endParaRPr>
          </a:p>
        </p:txBody>
      </p:sp>
      <p:sp>
        <p:nvSpPr>
          <p:cNvPr id="1151" name="Text Placeholder 25"/>
          <p:cNvSpPr>
            <a:spLocks/>
          </p:cNvSpPr>
          <p:nvPr/>
        </p:nvSpPr>
        <p:spPr bwMode="gray">
          <a:xfrm>
            <a:off x="9805988" y="2822575"/>
            <a:ext cx="209550" cy="152400"/>
          </a:xfrm>
          <a:prstGeom prst="rect">
            <a:avLst/>
          </a:prstGeom>
          <a:noFill/>
          <a:ln>
            <a:noFill/>
          </a:ln>
          <a:effectLst/>
        </p:spPr>
        <p:txBody>
          <a:bodyPr vert="horz" wrap="none" lIns="17463" tIns="0" rIns="17463" bIns="0" rtlCol="0" anchor="b">
            <a:noAutofit/>
          </a:bodyPr>
          <a:p>
            <a:pPr marL="0" lvl="0" indent="0" algn="ctr">
              <a:spcBef>
                <a:spcPct val="0"/>
              </a:spcBef>
              <a:spcAft>
                <a:spcPct val="0"/>
              </a:spcAft>
              <a:buNone/>
            </a:pPr>
            <a:r>
              <a:rPr lang="en-US" altLang="en-US" sz="1000" smtClean="0">
                <a:solidFill>
                  <a:srgbClr val="000000"/>
                </a:solidFill>
              </a:rPr>
              <a:t>6.1</a:t>
            </a:r>
            <a:endParaRPr lang="en-US" sz="1000">
              <a:solidFill>
                <a:srgbClr val="000000"/>
              </a:solidFill>
            </a:endParaRPr>
          </a:p>
        </p:txBody>
      </p:sp>
      <p:sp>
        <p:nvSpPr>
          <p:cNvPr id="1153" name="Text Placeholder 25"/>
          <p:cNvSpPr>
            <a:spLocks/>
          </p:cNvSpPr>
          <p:nvPr/>
        </p:nvSpPr>
        <p:spPr bwMode="gray">
          <a:xfrm>
            <a:off x="10080625" y="2379663"/>
            <a:ext cx="209550" cy="152400"/>
          </a:xfrm>
          <a:prstGeom prst="rect">
            <a:avLst/>
          </a:prstGeom>
          <a:noFill/>
          <a:ln>
            <a:noFill/>
          </a:ln>
          <a:effectLst/>
        </p:spPr>
        <p:txBody>
          <a:bodyPr vert="horz" wrap="none" lIns="17463" tIns="0" rIns="17463" bIns="0" rtlCol="0" anchor="b">
            <a:noAutofit/>
          </a:bodyPr>
          <a:p>
            <a:pPr marL="0" lvl="0" indent="0" algn="ctr">
              <a:spcBef>
                <a:spcPct val="0"/>
              </a:spcBef>
              <a:spcAft>
                <a:spcPct val="0"/>
              </a:spcAft>
              <a:buNone/>
            </a:pPr>
            <a:r>
              <a:rPr lang="en-US" altLang="en-US" sz="1000" smtClean="0">
                <a:solidFill>
                  <a:srgbClr val="000000"/>
                </a:solidFill>
              </a:rPr>
              <a:t>9.4</a:t>
            </a:r>
            <a:endParaRPr lang="en-US" sz="1000">
              <a:solidFill>
                <a:srgbClr val="000000"/>
              </a:solidFill>
            </a:endParaRPr>
          </a:p>
        </p:txBody>
      </p:sp>
      <p:sp>
        <p:nvSpPr>
          <p:cNvPr id="1156" name="Text Placeholder 25"/>
          <p:cNvSpPr>
            <a:spLocks/>
          </p:cNvSpPr>
          <p:nvPr/>
        </p:nvSpPr>
        <p:spPr bwMode="gray">
          <a:xfrm>
            <a:off x="10353675" y="2347913"/>
            <a:ext cx="209550" cy="152400"/>
          </a:xfrm>
          <a:prstGeom prst="rect">
            <a:avLst/>
          </a:prstGeom>
          <a:noFill/>
          <a:ln>
            <a:noFill/>
          </a:ln>
          <a:effectLst/>
        </p:spPr>
        <p:txBody>
          <a:bodyPr vert="horz" wrap="none" lIns="17463" tIns="0" rIns="17463" bIns="0" rtlCol="0" anchor="b">
            <a:noAutofit/>
          </a:bodyPr>
          <a:p>
            <a:pPr marL="0" lvl="0" indent="0" algn="ctr">
              <a:spcBef>
                <a:spcPct val="0"/>
              </a:spcBef>
              <a:spcAft>
                <a:spcPct val="0"/>
              </a:spcAft>
              <a:buNone/>
            </a:pPr>
            <a:r>
              <a:rPr lang="en-US" altLang="en-US" sz="1000" smtClean="0">
                <a:solidFill>
                  <a:srgbClr val="000000"/>
                </a:solidFill>
              </a:rPr>
              <a:t>9.6</a:t>
            </a:r>
            <a:endParaRPr lang="en-US" sz="1000">
              <a:solidFill>
                <a:srgbClr val="000000"/>
              </a:solidFill>
            </a:endParaRPr>
          </a:p>
        </p:txBody>
      </p:sp>
      <p:sp>
        <p:nvSpPr>
          <p:cNvPr id="1159" name="Text Placeholder 25"/>
          <p:cNvSpPr>
            <a:spLocks/>
          </p:cNvSpPr>
          <p:nvPr/>
        </p:nvSpPr>
        <p:spPr bwMode="gray">
          <a:xfrm>
            <a:off x="10901363" y="2797175"/>
            <a:ext cx="209550" cy="152400"/>
          </a:xfrm>
          <a:prstGeom prst="rect">
            <a:avLst/>
          </a:prstGeom>
          <a:noFill/>
          <a:ln>
            <a:noFill/>
          </a:ln>
          <a:effectLst/>
        </p:spPr>
        <p:txBody>
          <a:bodyPr vert="horz" wrap="none" lIns="17463" tIns="0" rIns="17463" bIns="0" rtlCol="0" anchor="b">
            <a:noAutofit/>
          </a:bodyPr>
          <a:p>
            <a:pPr marL="0" lvl="0" indent="0" algn="ctr">
              <a:spcBef>
                <a:spcPct val="0"/>
              </a:spcBef>
              <a:spcAft>
                <a:spcPct val="0"/>
              </a:spcAft>
              <a:buNone/>
            </a:pPr>
            <a:r>
              <a:rPr lang="en-US" altLang="en-US" sz="1000" smtClean="0">
                <a:solidFill>
                  <a:srgbClr val="000000"/>
                </a:solidFill>
              </a:rPr>
              <a:t>6.3</a:t>
            </a:r>
            <a:endParaRPr lang="en-US" sz="1000">
              <a:solidFill>
                <a:srgbClr val="000000"/>
              </a:solidFill>
            </a:endParaRPr>
          </a:p>
        </p:txBody>
      </p:sp>
      <p:sp>
        <p:nvSpPr>
          <p:cNvPr id="1161" name="Text Placeholder 25"/>
          <p:cNvSpPr>
            <a:spLocks/>
          </p:cNvSpPr>
          <p:nvPr/>
        </p:nvSpPr>
        <p:spPr bwMode="gray">
          <a:xfrm>
            <a:off x="11174413" y="2357438"/>
            <a:ext cx="209550" cy="152400"/>
          </a:xfrm>
          <a:prstGeom prst="rect">
            <a:avLst/>
          </a:prstGeom>
          <a:noFill/>
          <a:ln>
            <a:noFill/>
          </a:ln>
          <a:effectLst/>
        </p:spPr>
        <p:txBody>
          <a:bodyPr vert="horz" wrap="none" lIns="17463" tIns="0" rIns="17463" bIns="0" rtlCol="0" anchor="b">
            <a:noAutofit/>
          </a:bodyPr>
          <a:p>
            <a:pPr marL="0" lvl="0" indent="0" algn="ctr">
              <a:spcBef>
                <a:spcPct val="0"/>
              </a:spcBef>
              <a:spcAft>
                <a:spcPct val="0"/>
              </a:spcAft>
              <a:buNone/>
            </a:pPr>
            <a:r>
              <a:rPr lang="en-US" altLang="en-US" sz="1000" smtClean="0">
                <a:solidFill>
                  <a:srgbClr val="000000"/>
                </a:solidFill>
              </a:rPr>
              <a:t>9.5</a:t>
            </a:r>
            <a:endParaRPr lang="en-US" sz="1000">
              <a:solidFill>
                <a:srgbClr val="000000"/>
              </a:solidFill>
            </a:endParaRPr>
          </a:p>
        </p:txBody>
      </p:sp>
      <p:sp>
        <p:nvSpPr>
          <p:cNvPr id="1525" name="Text Placeholder 25"/>
          <p:cNvSpPr>
            <a:spLocks/>
          </p:cNvSpPr>
          <p:nvPr/>
        </p:nvSpPr>
        <p:spPr bwMode="gray">
          <a:xfrm>
            <a:off x="11449050" y="2346325"/>
            <a:ext cx="209550" cy="152400"/>
          </a:xfrm>
          <a:prstGeom prst="rect">
            <a:avLst/>
          </a:prstGeom>
          <a:noFill/>
          <a:ln>
            <a:noFill/>
          </a:ln>
          <a:effectLst/>
        </p:spPr>
        <p:txBody>
          <a:bodyPr vert="horz" wrap="none" lIns="17463" tIns="0" rIns="17463" bIns="0" rtlCol="0" anchor="b">
            <a:noAutofit/>
          </a:bodyPr>
          <a:p>
            <a:pPr marL="0" lvl="0" indent="0" algn="ctr">
              <a:spcBef>
                <a:spcPct val="0"/>
              </a:spcBef>
              <a:spcAft>
                <a:spcPct val="0"/>
              </a:spcAft>
              <a:buNone/>
            </a:pPr>
            <a:r>
              <a:rPr lang="en-US" altLang="en-US" sz="1000" smtClean="0">
                <a:solidFill>
                  <a:srgbClr val="000000"/>
                </a:solidFill>
              </a:rPr>
              <a:t>9.6</a:t>
            </a:r>
            <a:endParaRPr lang="en-US" sz="1000">
              <a:solidFill>
                <a:srgbClr val="000000"/>
              </a:solidFill>
            </a:endParaRPr>
          </a:p>
        </p:txBody>
      </p:sp>
      <p:sp>
        <p:nvSpPr>
          <p:cNvPr id="335" name="Text Placeholder 25"/>
          <p:cNvSpPr>
            <a:spLocks/>
          </p:cNvSpPr>
          <p:nvPr/>
        </p:nvSpPr>
        <p:spPr bwMode="gray">
          <a:xfrm>
            <a:off x="3238500" y="3684588"/>
            <a:ext cx="209550" cy="152400"/>
          </a:xfrm>
          <a:prstGeom prst="rect">
            <a:avLst/>
          </a:prstGeom>
          <a:solidFill>
            <a:schemeClr val="accent4"/>
          </a:solidFill>
          <a:ln>
            <a:noFill/>
          </a:ln>
          <a:effectLst/>
        </p:spPr>
        <p:txBody>
          <a:bodyPr vert="horz" wrap="none" lIns="17463" tIns="0" rIns="17463" bIns="0" rtlCol="0" anchor="ctr">
            <a:noAutofit/>
          </a:bodyPr>
          <a:p>
            <a:pPr marL="0" lvl="0" indent="0" algn="ctr">
              <a:spcBef>
                <a:spcPct val="0"/>
              </a:spcBef>
              <a:spcAft>
                <a:spcPct val="0"/>
              </a:spcAft>
              <a:buNone/>
            </a:pPr>
            <a:r>
              <a:rPr lang="en-US" altLang="en-US" sz="1000" smtClean="0">
                <a:solidFill>
                  <a:schemeClr val="bg1"/>
                </a:solidFill>
                <a:effectLst/>
              </a:rPr>
              <a:t>0.9</a:t>
            </a:r>
            <a:endParaRPr lang="en-US" sz="1000">
              <a:solidFill>
                <a:schemeClr val="bg1"/>
              </a:solidFill>
            </a:endParaRPr>
          </a:p>
        </p:txBody>
      </p:sp>
      <p:sp>
        <p:nvSpPr>
          <p:cNvPr id="1130" name="Text Placeholder 25"/>
          <p:cNvSpPr>
            <a:spLocks/>
          </p:cNvSpPr>
          <p:nvPr/>
        </p:nvSpPr>
        <p:spPr bwMode="gray">
          <a:xfrm>
            <a:off x="6761163" y="2133600"/>
            <a:ext cx="279400" cy="152400"/>
          </a:xfrm>
          <a:prstGeom prst="rect">
            <a:avLst/>
          </a:prstGeom>
          <a:noFill/>
          <a:ln>
            <a:noFill/>
          </a:ln>
          <a:effectLst/>
        </p:spPr>
        <p:txBody>
          <a:bodyPr vert="horz" wrap="none" lIns="17463" tIns="0" rIns="17463" bIns="0" rtlCol="0" anchor="b">
            <a:noAutofit/>
          </a:bodyPr>
          <a:p>
            <a:pPr marL="0" lvl="0" indent="0" algn="ctr">
              <a:spcBef>
                <a:spcPct val="0"/>
              </a:spcBef>
              <a:spcAft>
                <a:spcPct val="0"/>
              </a:spcAft>
              <a:buNone/>
            </a:pPr>
            <a:r>
              <a:rPr lang="en-US" altLang="en-US" sz="1000" smtClean="0">
                <a:solidFill>
                  <a:srgbClr val="000000"/>
                </a:solidFill>
              </a:rPr>
              <a:t>11.2</a:t>
            </a:r>
            <a:endParaRPr lang="en-US" sz="1000">
              <a:solidFill>
                <a:srgbClr val="000000"/>
              </a:solidFill>
            </a:endParaRPr>
          </a:p>
        </p:txBody>
      </p:sp>
      <p:sp>
        <p:nvSpPr>
          <p:cNvPr id="339" name="PenOval"/>
          <p:cNvSpPr txBox="1"/>
          <p:nvPr/>
        </p:nvSpPr>
        <p:spPr>
          <a:xfrm>
            <a:off x="1165285" y="1796488"/>
            <a:ext cx="520000" cy="175000"/>
          </a:xfrm>
          <a:prstGeom prst="ellipse">
            <a:avLst/>
          </a:prstGeom>
          <a:solidFill>
            <a:srgbClr val="FFFFFF"/>
          </a:solidFill>
          <a:ln w="12700">
            <a:solidFill>
              <a:srgbClr val="000000"/>
            </a:solidFill>
          </a:ln>
        </p:spPr>
        <p:txBody>
          <a:bodyPr wrap="square" lIns="0" tIns="0" rIns="0" bIns="0" anchor="ctr"/>
          <a:lstStyle/>
          <a:p>
            <a:pPr algn="ctr">
              <a:lnSpc>
                <a:spcPct val="115000"/>
              </a:lnSpc>
              <a:buNone/>
            </a:pPr>
            <a:r>
              <a:rPr lang="en-US" sz="850" i="1">
                <a:solidFill>
                  <a:srgbClr val="000000"/>
                </a:solidFill>
                <a:latin typeface="Arial"/>
                <a:ea typeface="Arial"/>
                <a:cs typeface="Arial"/>
              </a:rPr>
              <a:t>$2.3B</a:t>
            </a:r>
          </a:p>
        </p:txBody>
      </p:sp>
      <p:sp>
        <p:nvSpPr>
          <p:cNvPr id="340" name="PenOval"/>
          <p:cNvSpPr txBox="1"/>
          <p:nvPr/>
        </p:nvSpPr>
        <p:spPr>
          <a:xfrm>
            <a:off x="2258806" y="1806320"/>
            <a:ext cx="520000" cy="175000"/>
          </a:xfrm>
          <a:prstGeom prst="ellipse">
            <a:avLst/>
          </a:prstGeom>
          <a:solidFill>
            <a:srgbClr val="FFFFFF"/>
          </a:solidFill>
          <a:ln w="12700">
            <a:solidFill>
              <a:srgbClr val="000000"/>
            </a:solidFill>
          </a:ln>
        </p:spPr>
        <p:txBody>
          <a:bodyPr wrap="square" lIns="0" tIns="0" rIns="0" bIns="0" anchor="ctr"/>
          <a:lstStyle/>
          <a:p>
            <a:pPr algn="ctr">
              <a:lnSpc>
                <a:spcPct val="115000"/>
              </a:lnSpc>
              <a:buNone/>
            </a:pPr>
            <a:r>
              <a:rPr lang="en-US" sz="850" i="1">
                <a:solidFill>
                  <a:srgbClr val="000000"/>
                </a:solidFill>
                <a:latin typeface="Arial"/>
                <a:ea typeface="Arial"/>
                <a:cs typeface="Arial"/>
              </a:rPr>
              <a:t>$3.1B</a:t>
            </a:r>
          </a:p>
        </p:txBody>
      </p:sp>
      <p:sp>
        <p:nvSpPr>
          <p:cNvPr id="341" name="PenOval"/>
          <p:cNvSpPr txBox="1"/>
          <p:nvPr/>
        </p:nvSpPr>
        <p:spPr>
          <a:xfrm>
            <a:off x="3352327" y="1796488"/>
            <a:ext cx="520000" cy="175000"/>
          </a:xfrm>
          <a:prstGeom prst="ellipse">
            <a:avLst/>
          </a:prstGeom>
          <a:solidFill>
            <a:srgbClr val="FFFFFF"/>
          </a:solidFill>
          <a:ln w="12700">
            <a:solidFill>
              <a:srgbClr val="000000"/>
            </a:solidFill>
          </a:ln>
        </p:spPr>
        <p:txBody>
          <a:bodyPr wrap="square" lIns="0" tIns="0" rIns="0" bIns="0" anchor="ctr"/>
          <a:lstStyle/>
          <a:p>
            <a:pPr algn="ctr">
              <a:lnSpc>
                <a:spcPct val="115000"/>
              </a:lnSpc>
              <a:buNone/>
            </a:pPr>
            <a:r>
              <a:rPr lang="en-US" sz="850" i="1">
                <a:solidFill>
                  <a:srgbClr val="000000"/>
                </a:solidFill>
                <a:latin typeface="Arial"/>
                <a:ea typeface="Arial"/>
                <a:cs typeface="Arial"/>
              </a:rPr>
              <a:t>$5.5B</a:t>
            </a:r>
          </a:p>
        </p:txBody>
      </p:sp>
      <p:sp>
        <p:nvSpPr>
          <p:cNvPr id="342" name="PenOval"/>
          <p:cNvSpPr txBox="1"/>
          <p:nvPr/>
        </p:nvSpPr>
        <p:spPr>
          <a:xfrm>
            <a:off x="4434912" y="1782200"/>
            <a:ext cx="520000" cy="175000"/>
          </a:xfrm>
          <a:prstGeom prst="ellipse">
            <a:avLst/>
          </a:prstGeom>
          <a:solidFill>
            <a:srgbClr val="FFFFFF"/>
          </a:solidFill>
          <a:ln w="12700">
            <a:solidFill>
              <a:srgbClr val="000000"/>
            </a:solidFill>
          </a:ln>
        </p:spPr>
        <p:txBody>
          <a:bodyPr wrap="square" lIns="0" tIns="0" rIns="0" bIns="0" anchor="ctr"/>
          <a:lstStyle/>
          <a:p>
            <a:pPr algn="ctr">
              <a:lnSpc>
                <a:spcPct val="115000"/>
              </a:lnSpc>
              <a:buNone/>
            </a:pPr>
            <a:r>
              <a:rPr lang="en-US" sz="850" i="1">
                <a:solidFill>
                  <a:srgbClr val="000000"/>
                </a:solidFill>
                <a:latin typeface="Arial"/>
                <a:ea typeface="Arial"/>
                <a:cs typeface="Arial"/>
              </a:rPr>
              <a:t>$3.1B</a:t>
            </a:r>
          </a:p>
        </p:txBody>
      </p:sp>
      <p:sp>
        <p:nvSpPr>
          <p:cNvPr id="1090" name="Rectangle 789"/>
          <p:cNvSpPr/>
          <p:nvPr/>
        </p:nvSpPr>
        <p:spPr bwMode="auto">
          <a:xfrm>
            <a:off x="7127875" y="1184275"/>
            <a:ext cx="142875" cy="106363"/>
          </a:xfrm>
          <a:prstGeom prst="rect">
            <a:avLst/>
          </a:prstGeom>
          <a:solidFill>
            <a:schemeClr val="accent2"/>
          </a:solidFill>
          <a:ln w="19050" cap="flat" cmpd="sng" algn="ctr">
            <a:noFill/>
            <a:prstDash val="solid"/>
            <a:miter lim="800000"/>
            <a:headEnd type="none" w="med" len="med"/>
            <a:tailEnd type="none" w="med" len="me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1" name="Rectangle 790"/>
          <p:cNvSpPr/>
          <p:nvPr/>
        </p:nvSpPr>
        <p:spPr bwMode="auto">
          <a:xfrm>
            <a:off x="7127875" y="1357313"/>
            <a:ext cx="142875" cy="106363"/>
          </a:xfrm>
          <a:prstGeom prst="rect">
            <a:avLst/>
          </a:prstGeom>
          <a:solidFill>
            <a:srgbClr val="000000"/>
          </a:solidFill>
          <a:ln w="6350" cap="flat" cmpd="sng" algn="ctr">
            <a:noFill/>
            <a:prstDash val="lgDash"/>
            <a:miter lim="800000"/>
            <a:headEnd type="none" w="med" len="med"/>
            <a:tailEnd type="none" w="med" len="me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2" name="Rectangle 791"/>
          <p:cNvSpPr/>
          <p:nvPr/>
        </p:nvSpPr>
        <p:spPr bwMode="auto">
          <a:xfrm>
            <a:off x="7127875" y="1530350"/>
            <a:ext cx="142875" cy="106363"/>
          </a:xfrm>
          <a:prstGeom prst="rect">
            <a:avLst/>
          </a:prstGeom>
          <a:noFill/>
          <a:ln w="3175" cap="flat" cmpd="sng" algn="ctr">
            <a:solidFill>
              <a:schemeClr val="tx1"/>
            </a:solidFill>
            <a:prstDash val="lgDash"/>
            <a:miter lim="800000"/>
            <a:headEnd type="none" w="med" len="med"/>
            <a:tailEnd type="none" w="med" len="me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3" name="Rectangle 792"/>
          <p:cNvSpPr/>
          <p:nvPr/>
        </p:nvSpPr>
        <p:spPr bwMode="auto">
          <a:xfrm>
            <a:off x="8648700" y="1184275"/>
            <a:ext cx="142875" cy="106363"/>
          </a:xfrm>
          <a:prstGeom prst="rect">
            <a:avLst/>
          </a:prstGeom>
          <a:solidFill>
            <a:schemeClr val="accent3"/>
          </a:solidFill>
          <a:ln w="6350" cap="flat" cmpd="sng" algn="ctr">
            <a:noFill/>
            <a:prstDash val="sysDot"/>
            <a:miter lim="800000"/>
            <a:headEnd type="none" w="med" len="med"/>
            <a:tailEnd type="none" w="med" len="me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4" name="Rectangle 793"/>
          <p:cNvSpPr/>
          <p:nvPr/>
        </p:nvSpPr>
        <p:spPr bwMode="auto">
          <a:xfrm>
            <a:off x="8648700" y="1357313"/>
            <a:ext cx="142875" cy="106363"/>
          </a:xfrm>
          <a:prstGeom prst="rect">
            <a:avLst/>
          </a:prstGeom>
          <a:solidFill>
            <a:srgbClr val="A1A1A1"/>
          </a:solidFill>
          <a:ln w="19050" cap="flat" cmpd="sng" algn="ctr">
            <a:noFill/>
            <a:prstDash val="solid"/>
            <a:miter lim="800000"/>
            <a:headEnd type="none" w="med" len="med"/>
            <a:tailEnd type="none" w="med" len="me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5" name="Rectangle 794"/>
          <p:cNvSpPr/>
          <p:nvPr/>
        </p:nvSpPr>
        <p:spPr bwMode="auto">
          <a:xfrm>
            <a:off x="8648700" y="1530350"/>
            <a:ext cx="142875" cy="106363"/>
          </a:xfrm>
          <a:prstGeom prst="rect">
            <a:avLst/>
          </a:prstGeom>
          <a:noFill/>
          <a:ln w="6350" cap="flat" cmpd="sng" algn="ctr">
            <a:solidFill>
              <a:schemeClr val="tx1"/>
            </a:solidFill>
            <a:prstDash val="lgDash"/>
            <a:miter lim="800000"/>
            <a:headEnd type="none" w="med" len="med"/>
            <a:tailEnd type="none" w="med" len="me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6" name="Rectangle 795"/>
          <p:cNvSpPr/>
          <p:nvPr/>
        </p:nvSpPr>
        <p:spPr bwMode="auto">
          <a:xfrm>
            <a:off x="10079038" y="1184275"/>
            <a:ext cx="142875" cy="106363"/>
          </a:xfrm>
          <a:prstGeom prst="rect">
            <a:avLst/>
          </a:prstGeom>
          <a:solidFill>
            <a:schemeClr val="accent4"/>
          </a:solidFill>
          <a:ln w="19050" cap="flat" cmpd="sng" algn="ctr">
            <a:noFill/>
            <a:prstDash val="solid"/>
            <a:miter lim="800000"/>
            <a:headEnd type="none" w="med" len="med"/>
            <a:tailEnd type="none" w="med" len="me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7" name="Rectangle 896"/>
          <p:cNvSpPr/>
          <p:nvPr/>
        </p:nvSpPr>
        <p:spPr bwMode="auto">
          <a:xfrm>
            <a:off x="10079038" y="1357313"/>
            <a:ext cx="142875" cy="106363"/>
          </a:xfrm>
          <a:prstGeom prst="rect">
            <a:avLst/>
          </a:prstGeom>
          <a:solidFill>
            <a:srgbClr val="BEBEBE"/>
          </a:solidFill>
          <a:ln w="19050" cap="flat" cmpd="sng" algn="ctr">
            <a:noFill/>
            <a:prstDash val="solid"/>
            <a:miter lim="800000"/>
            <a:headEnd type="none" w="med" len="med"/>
            <a:tailEnd type="none" w="med" len="me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8" name="Rectangle 897"/>
          <p:cNvSpPr/>
          <p:nvPr/>
        </p:nvSpPr>
        <p:spPr bwMode="auto">
          <a:xfrm>
            <a:off x="10079038" y="1530350"/>
            <a:ext cx="142875" cy="106363"/>
          </a:xfrm>
          <a:prstGeom prst="rect">
            <a:avLst/>
          </a:prstGeom>
          <a:noFill/>
          <a:ln w="12700" cap="flat" cmpd="sng" algn="ctr">
            <a:solidFill>
              <a:schemeClr val="tx1"/>
            </a:solidFill>
            <a:prstDash val="sysDot"/>
            <a:miter lim="800000"/>
            <a:headEnd type="none" w="med" len="med"/>
            <a:tailEnd type="none" w="med" len="me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7" name="Text Placeholder 25"/>
          <p:cNvSpPr>
            <a:spLocks/>
          </p:cNvSpPr>
          <p:nvPr/>
        </p:nvSpPr>
        <p:spPr bwMode="auto">
          <a:xfrm>
            <a:off x="7321550" y="1179513"/>
            <a:ext cx="965200" cy="122238"/>
          </a:xfrm>
          <a:prstGeom prst="rect">
            <a:avLst/>
          </a:prstGeom>
          <a:noFill/>
          <a:ln>
            <a:noFill/>
          </a:ln>
          <a:effectLst/>
        </p:spPr>
        <p:txBody>
          <a:bodyPr vert="horz" wrap="none" lIns="0" tIns="0" rIns="0" bIns="0" rtlCol="0" anchor="ctr">
            <a:noAutofit/>
          </a:bodyPr>
          <a:p>
            <a:pPr marL="0" lvl="0" indent="0">
              <a:spcBef>
                <a:spcPct val="0"/>
              </a:spcBef>
              <a:spcAft>
                <a:spcPct val="0"/>
              </a:spcAft>
              <a:buNone/>
            </a:pPr>
            <a:r>
              <a:rPr lang="en-US" altLang="en-US" sz="800" smtClean="0">
                <a:solidFill>
                  <a:srgbClr val="000000"/>
                </a:solidFill>
              </a:rPr>
              <a:t>Columbia outsourced</a:t>
            </a:r>
            <a:endParaRPr lang="en-US" sz="800">
              <a:solidFill>
                <a:srgbClr val="000000"/>
              </a:solidFill>
            </a:endParaRPr>
          </a:p>
        </p:txBody>
      </p:sp>
      <p:sp>
        <p:nvSpPr>
          <p:cNvPr id="1098" name="Text Placeholder 25"/>
          <p:cNvSpPr>
            <a:spLocks/>
          </p:cNvSpPr>
          <p:nvPr/>
        </p:nvSpPr>
        <p:spPr bwMode="auto">
          <a:xfrm>
            <a:off x="7321550" y="1352550"/>
            <a:ext cx="1225550" cy="122238"/>
          </a:xfrm>
          <a:prstGeom prst="rect">
            <a:avLst/>
          </a:prstGeom>
          <a:noFill/>
          <a:ln>
            <a:noFill/>
          </a:ln>
          <a:effectLst/>
        </p:spPr>
        <p:txBody>
          <a:bodyPr vert="horz" wrap="none" lIns="0" tIns="0" rIns="0" bIns="0" rtlCol="0" anchor="ctr">
            <a:noAutofit/>
          </a:bodyPr>
          <a:p>
            <a:pPr marL="0" lvl="0" indent="0">
              <a:spcBef>
                <a:spcPct val="0"/>
              </a:spcBef>
              <a:spcAft>
                <a:spcPct val="0"/>
              </a:spcAft>
              <a:buNone/>
            </a:pPr>
            <a:r>
              <a:rPr lang="en-US" altLang="en-US" sz="800" smtClean="0">
                <a:solidFill>
                  <a:srgbClr val="000000"/>
                </a:solidFill>
              </a:rPr>
              <a:t>Columbia outsourced (est.)</a:t>
            </a:r>
            <a:endParaRPr lang="en-US" sz="800">
              <a:solidFill>
                <a:srgbClr val="000000"/>
              </a:solidFill>
            </a:endParaRPr>
          </a:p>
        </p:txBody>
      </p:sp>
      <p:sp>
        <p:nvSpPr>
          <p:cNvPr id="1099" name="Text Placeholder 25"/>
          <p:cNvSpPr>
            <a:spLocks/>
          </p:cNvSpPr>
          <p:nvPr/>
        </p:nvSpPr>
        <p:spPr bwMode="auto">
          <a:xfrm>
            <a:off x="7321550" y="1525588"/>
            <a:ext cx="1136650" cy="122238"/>
          </a:xfrm>
          <a:prstGeom prst="rect">
            <a:avLst/>
          </a:prstGeom>
          <a:noFill/>
          <a:ln>
            <a:noFill/>
          </a:ln>
          <a:effectLst/>
        </p:spPr>
        <p:txBody>
          <a:bodyPr vert="horz" wrap="none" lIns="0" tIns="0" rIns="0" bIns="0" rtlCol="0" anchor="ctr">
            <a:noAutofit/>
          </a:bodyPr>
          <a:p>
            <a:pPr marL="0" lvl="0" indent="0">
              <a:spcBef>
                <a:spcPct val="0"/>
              </a:spcBef>
              <a:spcAft>
                <a:spcPct val="0"/>
              </a:spcAft>
              <a:buNone/>
            </a:pPr>
            <a:r>
              <a:rPr lang="en-US" altLang="en-US" sz="800" smtClean="0">
                <a:solidFill>
                  <a:srgbClr val="000000"/>
                </a:solidFill>
              </a:rPr>
              <a:t>Columbia retained spend</a:t>
            </a:r>
            <a:endParaRPr lang="en-US" sz="800">
              <a:solidFill>
                <a:srgbClr val="000000"/>
              </a:solidFill>
            </a:endParaRPr>
          </a:p>
        </p:txBody>
      </p:sp>
      <p:sp>
        <p:nvSpPr>
          <p:cNvPr id="1100" name="Text Placeholder 25"/>
          <p:cNvSpPr>
            <a:spLocks/>
          </p:cNvSpPr>
          <p:nvPr/>
        </p:nvSpPr>
        <p:spPr bwMode="auto">
          <a:xfrm>
            <a:off x="8842375" y="1179513"/>
            <a:ext cx="874713" cy="122238"/>
          </a:xfrm>
          <a:prstGeom prst="rect">
            <a:avLst/>
          </a:prstGeom>
          <a:noFill/>
          <a:ln>
            <a:noFill/>
          </a:ln>
          <a:effectLst/>
        </p:spPr>
        <p:txBody>
          <a:bodyPr vert="horz" wrap="none" lIns="0" tIns="0" rIns="0" bIns="0" rtlCol="0" anchor="ctr">
            <a:noAutofit/>
          </a:bodyPr>
          <a:p>
            <a:pPr marL="0" lvl="0" indent="0">
              <a:spcBef>
                <a:spcPct val="0"/>
              </a:spcBef>
              <a:spcAft>
                <a:spcPct val="0"/>
              </a:spcAft>
              <a:buNone/>
            </a:pPr>
            <a:r>
              <a:rPr lang="en-US" altLang="en-US" sz="800" smtClean="0">
                <a:solidFill>
                  <a:srgbClr val="000000"/>
                </a:solidFill>
              </a:rPr>
              <a:t>Virginia outsourced</a:t>
            </a:r>
            <a:endParaRPr lang="en-US" sz="800">
              <a:solidFill>
                <a:srgbClr val="000000"/>
              </a:solidFill>
            </a:endParaRPr>
          </a:p>
        </p:txBody>
      </p:sp>
      <p:sp>
        <p:nvSpPr>
          <p:cNvPr id="1101" name="Text Placeholder 25"/>
          <p:cNvSpPr>
            <a:spLocks/>
          </p:cNvSpPr>
          <p:nvPr/>
        </p:nvSpPr>
        <p:spPr bwMode="auto">
          <a:xfrm>
            <a:off x="8842375" y="1352550"/>
            <a:ext cx="1135063" cy="122238"/>
          </a:xfrm>
          <a:prstGeom prst="rect">
            <a:avLst/>
          </a:prstGeom>
          <a:noFill/>
          <a:ln>
            <a:noFill/>
          </a:ln>
          <a:effectLst/>
        </p:spPr>
        <p:txBody>
          <a:bodyPr vert="horz" wrap="none" lIns="0" tIns="0" rIns="0" bIns="0" rtlCol="0" anchor="ctr">
            <a:noAutofit/>
          </a:bodyPr>
          <a:p>
            <a:pPr marL="0" lvl="0" indent="0">
              <a:spcBef>
                <a:spcPct val="0"/>
              </a:spcBef>
              <a:spcAft>
                <a:spcPct val="0"/>
              </a:spcAft>
              <a:buNone/>
            </a:pPr>
            <a:r>
              <a:rPr lang="en-US" altLang="en-US" sz="800" smtClean="0">
                <a:solidFill>
                  <a:srgbClr val="000000"/>
                </a:solidFill>
              </a:rPr>
              <a:t>Virginia outsourced (est.)</a:t>
            </a:r>
            <a:endParaRPr lang="en-US" sz="800">
              <a:solidFill>
                <a:srgbClr val="000000"/>
              </a:solidFill>
            </a:endParaRPr>
          </a:p>
        </p:txBody>
      </p:sp>
      <p:sp>
        <p:nvSpPr>
          <p:cNvPr id="1102" name="Text Placeholder 25"/>
          <p:cNvSpPr>
            <a:spLocks/>
          </p:cNvSpPr>
          <p:nvPr/>
        </p:nvSpPr>
        <p:spPr bwMode="auto">
          <a:xfrm>
            <a:off x="8842375" y="1525588"/>
            <a:ext cx="1046163" cy="122238"/>
          </a:xfrm>
          <a:prstGeom prst="rect">
            <a:avLst/>
          </a:prstGeom>
          <a:noFill/>
          <a:ln>
            <a:noFill/>
          </a:ln>
          <a:effectLst/>
        </p:spPr>
        <p:txBody>
          <a:bodyPr vert="horz" wrap="none" lIns="0" tIns="0" rIns="0" bIns="0" rtlCol="0" anchor="ctr">
            <a:noAutofit/>
          </a:bodyPr>
          <a:p>
            <a:pPr marL="0" lvl="0" indent="0">
              <a:spcBef>
                <a:spcPct val="0"/>
              </a:spcBef>
              <a:spcAft>
                <a:spcPct val="0"/>
              </a:spcAft>
              <a:buNone/>
            </a:pPr>
            <a:r>
              <a:rPr lang="en-US" altLang="en-US" sz="800" smtClean="0">
                <a:solidFill>
                  <a:srgbClr val="000000"/>
                </a:solidFill>
              </a:rPr>
              <a:t>Virginia retained spend</a:t>
            </a:r>
            <a:endParaRPr lang="en-US" sz="800">
              <a:solidFill>
                <a:srgbClr val="000000"/>
              </a:solidFill>
            </a:endParaRPr>
          </a:p>
        </p:txBody>
      </p:sp>
      <p:sp>
        <p:nvSpPr>
          <p:cNvPr id="1103" name="Text Placeholder 25"/>
          <p:cNvSpPr>
            <a:spLocks/>
          </p:cNvSpPr>
          <p:nvPr/>
        </p:nvSpPr>
        <p:spPr bwMode="auto">
          <a:xfrm>
            <a:off x="10272713" y="1179513"/>
            <a:ext cx="908050" cy="122238"/>
          </a:xfrm>
          <a:prstGeom prst="rect">
            <a:avLst/>
          </a:prstGeom>
          <a:noFill/>
          <a:ln>
            <a:noFill/>
          </a:ln>
          <a:effectLst/>
        </p:spPr>
        <p:txBody>
          <a:bodyPr vert="horz" wrap="none" lIns="0" tIns="0" rIns="0" bIns="0" rtlCol="0" anchor="ctr">
            <a:noAutofit/>
          </a:bodyPr>
          <a:p>
            <a:pPr marL="0" lvl="0" indent="0">
              <a:spcBef>
                <a:spcPct val="0"/>
              </a:spcBef>
              <a:spcAft>
                <a:spcPct val="0"/>
              </a:spcAft>
              <a:buNone/>
            </a:pPr>
            <a:r>
              <a:rPr lang="en-US" altLang="en-US" sz="800" smtClean="0">
                <a:solidFill>
                  <a:srgbClr val="000000"/>
                </a:solidFill>
              </a:rPr>
              <a:t>DDG-51 outsourced</a:t>
            </a:r>
            <a:endParaRPr lang="en-US" sz="800">
              <a:solidFill>
                <a:srgbClr val="000000"/>
              </a:solidFill>
            </a:endParaRPr>
          </a:p>
        </p:txBody>
      </p:sp>
      <p:sp>
        <p:nvSpPr>
          <p:cNvPr id="1113" name="Text Placeholder 25"/>
          <p:cNvSpPr>
            <a:spLocks/>
          </p:cNvSpPr>
          <p:nvPr/>
        </p:nvSpPr>
        <p:spPr bwMode="auto">
          <a:xfrm>
            <a:off x="10272713" y="1352550"/>
            <a:ext cx="1168400" cy="122238"/>
          </a:xfrm>
          <a:prstGeom prst="rect">
            <a:avLst/>
          </a:prstGeom>
          <a:noFill/>
          <a:ln>
            <a:noFill/>
          </a:ln>
          <a:effectLst/>
        </p:spPr>
        <p:txBody>
          <a:bodyPr vert="horz" wrap="none" lIns="0" tIns="0" rIns="0" bIns="0" rtlCol="0" anchor="ctr">
            <a:noAutofit/>
          </a:bodyPr>
          <a:p>
            <a:pPr marL="0" lvl="0" indent="0">
              <a:spcBef>
                <a:spcPct val="0"/>
              </a:spcBef>
              <a:spcAft>
                <a:spcPct val="0"/>
              </a:spcAft>
              <a:buNone/>
            </a:pPr>
            <a:r>
              <a:rPr lang="en-US" altLang="en-US" sz="800" smtClean="0">
                <a:solidFill>
                  <a:srgbClr val="000000"/>
                </a:solidFill>
              </a:rPr>
              <a:t>DDG-51 outsourced (est.)</a:t>
            </a:r>
            <a:endParaRPr lang="en-US" sz="800">
              <a:solidFill>
                <a:srgbClr val="000000"/>
              </a:solidFill>
            </a:endParaRPr>
          </a:p>
        </p:txBody>
      </p:sp>
      <p:sp>
        <p:nvSpPr>
          <p:cNvPr id="1114" name="Text Placeholder 25"/>
          <p:cNvSpPr>
            <a:spLocks/>
          </p:cNvSpPr>
          <p:nvPr/>
        </p:nvSpPr>
        <p:spPr bwMode="auto">
          <a:xfrm>
            <a:off x="10272713" y="1525588"/>
            <a:ext cx="1079500" cy="122238"/>
          </a:xfrm>
          <a:prstGeom prst="rect">
            <a:avLst/>
          </a:prstGeom>
          <a:noFill/>
          <a:ln>
            <a:noFill/>
          </a:ln>
          <a:effectLst/>
        </p:spPr>
        <p:txBody>
          <a:bodyPr vert="horz" wrap="none" lIns="0" tIns="0" rIns="0" bIns="0" rtlCol="0" anchor="ctr">
            <a:noAutofit/>
          </a:bodyPr>
          <a:p>
            <a:pPr marL="0" lvl="0" indent="0">
              <a:spcBef>
                <a:spcPct val="0"/>
              </a:spcBef>
              <a:spcAft>
                <a:spcPct val="0"/>
              </a:spcAft>
              <a:buNone/>
            </a:pPr>
            <a:r>
              <a:rPr lang="en-US" altLang="en-US" sz="800" smtClean="0">
                <a:solidFill>
                  <a:srgbClr val="000000"/>
                </a:solidFill>
              </a:rPr>
              <a:t>DDG-51 retained spend</a:t>
            </a:r>
            <a:endParaRPr lang="en-US" sz="800">
              <a:solidFill>
                <a:srgbClr val="000000"/>
              </a:solidFill>
            </a:endParaRPr>
          </a:p>
        </p:txBody>
      </p:sp>
      <p:sp>
        <p:nvSpPr>
          <p:cNvPr id="9001" name="StripHeader"/>
          <p:cNvSpPr txBox="1"/>
          <p:nvPr/>
        </p:nvSpPr>
        <p:spPr>
          <a:xfrm>
            <a:off x="149796" y="3691687"/>
            <a:ext cx="251637" cy="1322801"/>
          </a:xfrm>
          <a:prstGeom prst="rect">
            <a:avLst/>
          </a:prstGeom>
          <a:noFill/>
          <a:ln>
            <a:noFill/>
          </a:ln>
        </p:spPr>
        <p:txBody>
          <a:bodyPr vert="vert270" wrap="square" lIns="0" tIns="0" rIns="0" bIns="0" anchor="t" anchorCtr="0"/>
          <a:lstStyle/>
          <a:p>
            <a:pPr algn="l">
              <a:lnSpc>
                <a:spcPct val="115000"/>
              </a:lnSpc>
              <a:buNone/>
            </a:pPr>
            <a:r>
              <a:rPr lang="en-US" sz="800" b="1" i="1">
                <a:solidFill>
                  <a:srgbClr val="000000"/>
                </a:solidFill>
                <a:latin typeface="Arial"/>
                <a:ea typeface="Arial"/>
                <a:cs typeface="Arial"/>
              </a:rPr>
              <a:t>Outsourced penetration %</a:t>
            </a:r>
          </a:p>
        </p:txBody>
      </p:sp>
      <p:sp>
        <p:nvSpPr>
          <p:cNvPr id="9002" name="StripLabel"/>
          <p:cNvSpPr txBox="1"/>
          <p:nvPr/>
        </p:nvSpPr>
        <p:spPr>
          <a:xfrm>
            <a:off x="9737" y="4095505"/>
            <a:ext cx="976921" cy="220000"/>
          </a:xfrm>
          <a:prstGeom prst="rect">
            <a:avLst/>
          </a:prstGeom>
          <a:noFill/>
          <a:ln>
            <a:noFill/>
          </a:ln>
        </p:spPr>
        <p:txBody>
          <a:bodyPr wrap="square" lIns="0" tIns="0" rIns="0" bIns="0" anchor="ctr"/>
          <a:lstStyle/>
          <a:p>
            <a:pPr algn="r">
              <a:lnSpc>
                <a:spcPct val="115000"/>
              </a:lnSpc>
              <a:buNone/>
            </a:pPr>
            <a:r>
              <a:rPr lang="en-US" sz="800" b="1" i="1">
                <a:solidFill>
                  <a:srgbClr val="000000"/>
                </a:solidFill>
                <a:latin typeface="Arial"/>
                <a:ea typeface="Arial"/>
                <a:cs typeface="Arial"/>
              </a:rPr>
              <a:t>DDG-51 %</a:t>
            </a:r>
          </a:p>
        </p:txBody>
      </p:sp>
      <p:sp>
        <p:nvSpPr>
          <p:cNvPr id="9003" name="PenPillRange"/>
          <p:cNvSpPr txBox="1"/>
          <p:nvPr/>
        </p:nvSpPr>
        <p:spPr>
          <a:xfrm>
            <a:off x="6512891" y="4118005"/>
            <a:ext cx="5104156" cy="175000"/>
          </a:xfrm>
          <a:prstGeom prst="roundRect">
            <a:avLst>
              <a:gd name="adj" fmla="val 50000"/>
            </a:avLst>
          </a:prstGeom>
          <a:solidFill>
            <a:srgbClr val="FFFFFF"/>
          </a:solidFill>
          <a:ln w="12700">
            <a:solidFill>
              <a:srgbClr val="000000"/>
            </a:solidFill>
          </a:ln>
        </p:spPr>
        <p:txBody>
          <a:bodyPr wrap="square" lIns="0" tIns="0" rIns="0" bIns="0" anchor="ctr"/>
          <a:lstStyle/>
          <a:p>
            <a:pPr algn="ctr">
              <a:lnSpc>
                <a:spcPct val="115000"/>
              </a:lnSpc>
              <a:buNone/>
            </a:pPr>
            <a:r>
              <a:rPr lang="en-US" sz="850" i="1">
                <a:solidFill>
                  <a:srgbClr val="000000"/>
                </a:solidFill>
                <a:latin typeface="Arial"/>
                <a:ea typeface="Arial"/>
                <a:cs typeface="Arial"/>
              </a:rPr>
              <a:t>14–19% (assumed)</a:t>
            </a:r>
          </a:p>
        </p:txBody>
      </p:sp>
      <p:sp>
        <p:nvSpPr>
          <p:cNvPr id="9004" name="PenOval"/>
          <p:cNvSpPr txBox="1"/>
          <p:nvPr/>
        </p:nvSpPr>
        <p:spPr>
          <a:xfrm>
            <a:off x="1165285" y="4118005"/>
            <a:ext cx="520000" cy="175000"/>
          </a:xfrm>
          <a:prstGeom prst="ellipse">
            <a:avLst/>
          </a:prstGeom>
          <a:solidFill>
            <a:srgbClr val="FFFFFF"/>
          </a:solidFill>
          <a:ln w="12700">
            <a:solidFill>
              <a:srgbClr val="000000"/>
            </a:solidFill>
          </a:ln>
        </p:spPr>
        <p:txBody>
          <a:bodyPr wrap="square" lIns="0" tIns="0" rIns="0" bIns="0" anchor="ctr"/>
          <a:lstStyle/>
          <a:p>
            <a:pPr algn="ctr">
              <a:lnSpc>
                <a:spcPct val="115000"/>
              </a:lnSpc>
              <a:buNone/>
            </a:pPr>
            <a:r>
              <a:rPr lang="en-US" sz="850" i="1">
                <a:solidFill>
                  <a:srgbClr val="000000"/>
                </a:solidFill>
                <a:latin typeface="Arial"/>
                <a:ea typeface="Arial"/>
                <a:cs typeface="Arial"/>
              </a:rPr>
              <a:t>11%</a:t>
            </a:r>
          </a:p>
        </p:txBody>
      </p:sp>
      <p:sp>
        <p:nvSpPr>
          <p:cNvPr id="9005" name="PenOval"/>
          <p:cNvSpPr txBox="1"/>
          <p:nvPr/>
        </p:nvSpPr>
        <p:spPr>
          <a:xfrm>
            <a:off x="2258806" y="4118005"/>
            <a:ext cx="520000" cy="175000"/>
          </a:xfrm>
          <a:prstGeom prst="ellipse">
            <a:avLst/>
          </a:prstGeom>
          <a:solidFill>
            <a:srgbClr val="FFFFFF"/>
          </a:solidFill>
          <a:ln w="12700">
            <a:solidFill>
              <a:srgbClr val="000000"/>
            </a:solidFill>
          </a:ln>
        </p:spPr>
        <p:txBody>
          <a:bodyPr wrap="square" lIns="0" tIns="0" rIns="0" bIns="0" anchor="ctr"/>
          <a:lstStyle/>
          <a:p>
            <a:pPr algn="ctr">
              <a:lnSpc>
                <a:spcPct val="115000"/>
              </a:lnSpc>
              <a:buNone/>
            </a:pPr>
            <a:r>
              <a:rPr lang="en-US" sz="850" i="1">
                <a:solidFill>
                  <a:srgbClr val="000000"/>
                </a:solidFill>
                <a:latin typeface="Arial"/>
                <a:ea typeface="Arial"/>
                <a:cs typeface="Arial"/>
              </a:rPr>
              <a:t>15%</a:t>
            </a:r>
          </a:p>
        </p:txBody>
      </p:sp>
      <p:sp>
        <p:nvSpPr>
          <p:cNvPr id="9006" name="PenOval"/>
          <p:cNvSpPr txBox="1"/>
          <p:nvPr/>
        </p:nvSpPr>
        <p:spPr>
          <a:xfrm>
            <a:off x="3352327" y="4118005"/>
            <a:ext cx="520000" cy="175000"/>
          </a:xfrm>
          <a:prstGeom prst="ellipse">
            <a:avLst/>
          </a:prstGeom>
          <a:solidFill>
            <a:srgbClr val="FFFFFF"/>
          </a:solidFill>
          <a:ln w="12700">
            <a:solidFill>
              <a:srgbClr val="000000"/>
            </a:solidFill>
          </a:ln>
        </p:spPr>
        <p:txBody>
          <a:bodyPr wrap="square" lIns="0" tIns="0" rIns="0" bIns="0" anchor="ctr"/>
          <a:lstStyle/>
          <a:p>
            <a:pPr algn="ctr">
              <a:lnSpc>
                <a:spcPct val="115000"/>
              </a:lnSpc>
              <a:buNone/>
            </a:pPr>
            <a:r>
              <a:rPr lang="en-US" sz="850" i="1">
                <a:solidFill>
                  <a:srgbClr val="000000"/>
                </a:solidFill>
                <a:latin typeface="Arial"/>
                <a:ea typeface="Arial"/>
                <a:cs typeface="Arial"/>
              </a:rPr>
              <a:t>15%</a:t>
            </a:r>
          </a:p>
        </p:txBody>
      </p:sp>
      <p:sp>
        <p:nvSpPr>
          <p:cNvPr id="9007" name="PenOval"/>
          <p:cNvSpPr txBox="1"/>
          <p:nvPr/>
        </p:nvSpPr>
        <p:spPr>
          <a:xfrm>
            <a:off x="4434912" y="4118005"/>
            <a:ext cx="520000" cy="175000"/>
          </a:xfrm>
          <a:prstGeom prst="ellipse">
            <a:avLst/>
          </a:prstGeom>
          <a:solidFill>
            <a:srgbClr val="FFFFFF"/>
          </a:solidFill>
          <a:ln w="12700">
            <a:solidFill>
              <a:srgbClr val="000000"/>
            </a:solidFill>
          </a:ln>
        </p:spPr>
        <p:txBody>
          <a:bodyPr wrap="square" lIns="0" tIns="0" rIns="0" bIns="0" anchor="ctr"/>
          <a:lstStyle/>
          <a:p>
            <a:pPr algn="ctr">
              <a:lnSpc>
                <a:spcPct val="115000"/>
              </a:lnSpc>
              <a:buNone/>
            </a:pPr>
            <a:r>
              <a:rPr lang="en-US" sz="850" i="1">
                <a:solidFill>
                  <a:srgbClr val="000000"/>
                </a:solidFill>
                <a:latin typeface="Arial"/>
                <a:ea typeface="Arial"/>
                <a:cs typeface="Arial"/>
              </a:rPr>
              <a:t>15%</a:t>
            </a:r>
          </a:p>
        </p:txBody>
      </p:sp>
      <p:sp>
        <p:nvSpPr>
          <p:cNvPr id="9008" name="PenOval"/>
          <p:cNvSpPr txBox="1"/>
          <p:nvPr/>
        </p:nvSpPr>
        <p:spPr>
          <a:xfrm>
            <a:off x="5539370" y="4118005"/>
            <a:ext cx="520000" cy="175000"/>
          </a:xfrm>
          <a:prstGeom prst="ellipse">
            <a:avLst/>
          </a:prstGeom>
          <a:solidFill>
            <a:srgbClr val="FFFFFF"/>
          </a:solidFill>
          <a:ln w="12700">
            <a:solidFill>
              <a:srgbClr val="000000"/>
            </a:solidFill>
          </a:ln>
        </p:spPr>
        <p:txBody>
          <a:bodyPr wrap="square" lIns="0" tIns="0" rIns="0" bIns="0" anchor="ctr"/>
          <a:lstStyle/>
          <a:p>
            <a:pPr algn="ctr">
              <a:lnSpc>
                <a:spcPct val="115000"/>
              </a:lnSpc>
              <a:buNone/>
            </a:pPr>
            <a:r>
              <a:rPr lang="en-US" sz="850" i="1">
                <a:solidFill>
                  <a:srgbClr val="000000"/>
                </a:solidFill>
                <a:latin typeface="Arial"/>
                <a:ea typeface="Arial"/>
                <a:cs typeface="Arial"/>
              </a:rPr>
              <a:t>34%</a:t>
            </a:r>
          </a:p>
        </p:txBody>
      </p:sp>
      <p:sp>
        <p:nvSpPr>
          <p:cNvPr id="9009" name="StripLabel"/>
          <p:cNvSpPr txBox="1"/>
          <p:nvPr/>
        </p:nvSpPr>
        <p:spPr>
          <a:xfrm>
            <a:off x="9737" y="4330505"/>
            <a:ext cx="976921" cy="220000"/>
          </a:xfrm>
          <a:prstGeom prst="rect">
            <a:avLst/>
          </a:prstGeom>
          <a:noFill/>
          <a:ln>
            <a:noFill/>
          </a:ln>
        </p:spPr>
        <p:txBody>
          <a:bodyPr wrap="square" lIns="0" tIns="0" rIns="0" bIns="0" anchor="ctr"/>
          <a:lstStyle/>
          <a:p>
            <a:pPr algn="r">
              <a:lnSpc>
                <a:spcPct val="115000"/>
              </a:lnSpc>
              <a:buNone/>
            </a:pPr>
            <a:r>
              <a:rPr lang="en-US" sz="800" b="1" i="1">
                <a:solidFill>
                  <a:srgbClr val="000000"/>
                </a:solidFill>
                <a:latin typeface="Arial"/>
                <a:ea typeface="Arial"/>
                <a:cs typeface="Arial"/>
              </a:rPr>
              <a:t>Virginia %</a:t>
            </a:r>
          </a:p>
        </p:txBody>
      </p:sp>
      <p:sp>
        <p:nvSpPr>
          <p:cNvPr id="9010" name="PenPillRange"/>
          <p:cNvSpPr txBox="1"/>
          <p:nvPr/>
        </p:nvSpPr>
        <p:spPr>
          <a:xfrm>
            <a:off x="6512891" y="4353005"/>
            <a:ext cx="5104156" cy="175000"/>
          </a:xfrm>
          <a:prstGeom prst="roundRect">
            <a:avLst>
              <a:gd name="adj" fmla="val 50000"/>
            </a:avLst>
          </a:prstGeom>
          <a:solidFill>
            <a:srgbClr val="FFFFFF"/>
          </a:solidFill>
          <a:ln w="12700">
            <a:solidFill>
              <a:srgbClr val="000000"/>
            </a:solidFill>
          </a:ln>
        </p:spPr>
        <p:txBody>
          <a:bodyPr wrap="square" lIns="0" tIns="0" rIns="0" bIns="0" anchor="ctr"/>
          <a:lstStyle/>
          <a:p>
            <a:pPr algn="ctr">
              <a:lnSpc>
                <a:spcPct val="115000"/>
              </a:lnSpc>
              <a:buNone/>
            </a:pPr>
            <a:r>
              <a:rPr lang="en-US" sz="850" i="1">
                <a:solidFill>
                  <a:srgbClr val="000000"/>
                </a:solidFill>
                <a:latin typeface="Arial"/>
                <a:ea typeface="Arial"/>
                <a:cs typeface="Arial"/>
              </a:rPr>
              <a:t>24–31% (assumed)</a:t>
            </a:r>
          </a:p>
        </p:txBody>
      </p:sp>
      <p:sp>
        <p:nvSpPr>
          <p:cNvPr id="9011" name="PenOval"/>
          <p:cNvSpPr txBox="1"/>
          <p:nvPr/>
        </p:nvSpPr>
        <p:spPr>
          <a:xfrm>
            <a:off x="1165285" y="4353005"/>
            <a:ext cx="520000" cy="175000"/>
          </a:xfrm>
          <a:prstGeom prst="ellipse">
            <a:avLst/>
          </a:prstGeom>
          <a:solidFill>
            <a:srgbClr val="FFFFFF"/>
          </a:solidFill>
          <a:ln w="12700">
            <a:solidFill>
              <a:srgbClr val="000000"/>
            </a:solidFill>
          </a:ln>
        </p:spPr>
        <p:txBody>
          <a:bodyPr wrap="square" lIns="0" tIns="0" rIns="0" bIns="0" anchor="ctr"/>
          <a:lstStyle/>
          <a:p>
            <a:pPr algn="ctr">
              <a:lnSpc>
                <a:spcPct val="115000"/>
              </a:lnSpc>
              <a:buNone/>
            </a:pPr>
            <a:r>
              <a:rPr lang="en-US" sz="850" i="1">
                <a:solidFill>
                  <a:srgbClr val="000000"/>
                </a:solidFill>
                <a:latin typeface="Arial"/>
                <a:ea typeface="Arial"/>
                <a:cs typeface="Arial"/>
              </a:rPr>
              <a:t>23%</a:t>
            </a:r>
          </a:p>
        </p:txBody>
      </p:sp>
      <p:sp>
        <p:nvSpPr>
          <p:cNvPr id="9012" name="PenOval"/>
          <p:cNvSpPr txBox="1"/>
          <p:nvPr/>
        </p:nvSpPr>
        <p:spPr>
          <a:xfrm>
            <a:off x="2258806" y="4353005"/>
            <a:ext cx="520000" cy="175000"/>
          </a:xfrm>
          <a:prstGeom prst="ellipse">
            <a:avLst/>
          </a:prstGeom>
          <a:solidFill>
            <a:srgbClr val="FFFFFF"/>
          </a:solidFill>
          <a:ln w="12700">
            <a:solidFill>
              <a:srgbClr val="000000"/>
            </a:solidFill>
          </a:ln>
        </p:spPr>
        <p:txBody>
          <a:bodyPr wrap="square" lIns="0" tIns="0" rIns="0" bIns="0" anchor="ctr"/>
          <a:lstStyle/>
          <a:p>
            <a:pPr algn="ctr">
              <a:lnSpc>
                <a:spcPct val="115000"/>
              </a:lnSpc>
              <a:buNone/>
            </a:pPr>
            <a:r>
              <a:rPr lang="en-US" sz="850" i="1">
                <a:solidFill>
                  <a:srgbClr val="000000"/>
                </a:solidFill>
                <a:latin typeface="Arial"/>
                <a:ea typeface="Arial"/>
                <a:cs typeface="Arial"/>
              </a:rPr>
              <a:t>24%</a:t>
            </a:r>
          </a:p>
        </p:txBody>
      </p:sp>
      <p:sp>
        <p:nvSpPr>
          <p:cNvPr id="9013" name="PenOval"/>
          <p:cNvSpPr txBox="1"/>
          <p:nvPr/>
        </p:nvSpPr>
        <p:spPr>
          <a:xfrm>
            <a:off x="3352327" y="4353005"/>
            <a:ext cx="520000" cy="175000"/>
          </a:xfrm>
          <a:prstGeom prst="ellipse">
            <a:avLst/>
          </a:prstGeom>
          <a:solidFill>
            <a:srgbClr val="FFFFFF"/>
          </a:solidFill>
          <a:ln w="12700">
            <a:solidFill>
              <a:srgbClr val="000000"/>
            </a:solidFill>
          </a:ln>
        </p:spPr>
        <p:txBody>
          <a:bodyPr wrap="square" lIns="0" tIns="0" rIns="0" bIns="0" anchor="ctr"/>
          <a:lstStyle/>
          <a:p>
            <a:pPr algn="ctr">
              <a:lnSpc>
                <a:spcPct val="115000"/>
              </a:lnSpc>
              <a:buNone/>
            </a:pPr>
            <a:r>
              <a:rPr lang="en-US" sz="850" i="1">
                <a:solidFill>
                  <a:srgbClr val="000000"/>
                </a:solidFill>
                <a:latin typeface="Arial"/>
                <a:ea typeface="Arial"/>
                <a:cs typeface="Arial"/>
              </a:rPr>
              <a:t>27%</a:t>
            </a:r>
          </a:p>
        </p:txBody>
      </p:sp>
      <p:sp>
        <p:nvSpPr>
          <p:cNvPr id="9014" name="PenOval"/>
          <p:cNvSpPr txBox="1"/>
          <p:nvPr/>
        </p:nvSpPr>
        <p:spPr>
          <a:xfrm>
            <a:off x="4445849" y="4353005"/>
            <a:ext cx="520000" cy="175000"/>
          </a:xfrm>
          <a:prstGeom prst="ellipse">
            <a:avLst/>
          </a:prstGeom>
          <a:solidFill>
            <a:srgbClr val="FFFFFF"/>
          </a:solidFill>
          <a:ln w="12700">
            <a:solidFill>
              <a:srgbClr val="000000"/>
            </a:solidFill>
          </a:ln>
        </p:spPr>
        <p:txBody>
          <a:bodyPr wrap="square" lIns="0" tIns="0" rIns="0" bIns="0" anchor="ctr"/>
          <a:lstStyle/>
          <a:p>
            <a:pPr algn="ctr">
              <a:lnSpc>
                <a:spcPct val="115000"/>
              </a:lnSpc>
              <a:buNone/>
            </a:pPr>
            <a:r>
              <a:rPr lang="en-US" sz="850" i="1">
                <a:solidFill>
                  <a:srgbClr val="000000"/>
                </a:solidFill>
                <a:latin typeface="Arial"/>
                <a:ea typeface="Arial"/>
                <a:cs typeface="Arial"/>
              </a:rPr>
              <a:t>19%</a:t>
            </a:r>
          </a:p>
        </p:txBody>
      </p:sp>
      <p:sp>
        <p:nvSpPr>
          <p:cNvPr id="9015" name="PenOval"/>
          <p:cNvSpPr txBox="1"/>
          <p:nvPr/>
        </p:nvSpPr>
        <p:spPr>
          <a:xfrm>
            <a:off x="5539370" y="4353005"/>
            <a:ext cx="520000" cy="175000"/>
          </a:xfrm>
          <a:prstGeom prst="ellipse">
            <a:avLst/>
          </a:prstGeom>
          <a:solidFill>
            <a:srgbClr val="FFFFFF"/>
          </a:solidFill>
          <a:ln w="12700">
            <a:solidFill>
              <a:srgbClr val="000000"/>
            </a:solidFill>
          </a:ln>
        </p:spPr>
        <p:txBody>
          <a:bodyPr wrap="square" lIns="0" tIns="0" rIns="0" bIns="0" anchor="ctr"/>
          <a:lstStyle/>
          <a:p>
            <a:pPr algn="ctr">
              <a:lnSpc>
                <a:spcPct val="115000"/>
              </a:lnSpc>
              <a:buNone/>
            </a:pPr>
            <a:r>
              <a:rPr lang="en-US" sz="850" i="1">
                <a:solidFill>
                  <a:srgbClr val="000000"/>
                </a:solidFill>
                <a:latin typeface="Arial"/>
                <a:ea typeface="Arial"/>
                <a:cs typeface="Arial"/>
              </a:rPr>
              <a:t>20%</a:t>
            </a:r>
          </a:p>
        </p:txBody>
      </p:sp>
      <p:sp>
        <p:nvSpPr>
          <p:cNvPr id="9016" name="StripLabel"/>
          <p:cNvSpPr txBox="1"/>
          <p:nvPr/>
        </p:nvSpPr>
        <p:spPr>
          <a:xfrm>
            <a:off x="9737" y="4565505"/>
            <a:ext cx="976921" cy="220000"/>
          </a:xfrm>
          <a:prstGeom prst="rect">
            <a:avLst/>
          </a:prstGeom>
          <a:noFill/>
          <a:ln>
            <a:noFill/>
          </a:ln>
        </p:spPr>
        <p:txBody>
          <a:bodyPr wrap="square" lIns="0" tIns="0" rIns="0" bIns="0" anchor="ctr"/>
          <a:lstStyle/>
          <a:p>
            <a:pPr algn="r">
              <a:lnSpc>
                <a:spcPct val="115000"/>
              </a:lnSpc>
              <a:buNone/>
            </a:pPr>
            <a:r>
              <a:rPr lang="en-US" sz="800" b="1" i="1">
                <a:solidFill>
                  <a:srgbClr val="000000"/>
                </a:solidFill>
                <a:latin typeface="Arial"/>
                <a:ea typeface="Arial"/>
                <a:cs typeface="Arial"/>
              </a:rPr>
              <a:t>Columbia %</a:t>
            </a:r>
          </a:p>
        </p:txBody>
      </p:sp>
      <p:sp>
        <p:nvSpPr>
          <p:cNvPr id="9017" name="PenPillRange"/>
          <p:cNvSpPr txBox="1"/>
          <p:nvPr/>
        </p:nvSpPr>
        <p:spPr>
          <a:xfrm>
            <a:off x="6512891" y="4588005"/>
            <a:ext cx="5104156" cy="175000"/>
          </a:xfrm>
          <a:prstGeom prst="roundRect">
            <a:avLst>
              <a:gd name="adj" fmla="val 50000"/>
            </a:avLst>
          </a:prstGeom>
          <a:solidFill>
            <a:srgbClr val="FFFFFF"/>
          </a:solidFill>
          <a:ln w="12700">
            <a:solidFill>
              <a:srgbClr val="000000"/>
            </a:solidFill>
          </a:ln>
        </p:spPr>
        <p:txBody>
          <a:bodyPr wrap="square" lIns="0" tIns="0" rIns="0" bIns="0" anchor="ctr"/>
          <a:lstStyle/>
          <a:p>
            <a:pPr algn="ctr">
              <a:lnSpc>
                <a:spcPct val="115000"/>
              </a:lnSpc>
              <a:buNone/>
            </a:pPr>
            <a:r>
              <a:rPr lang="en-US" sz="850" i="1">
                <a:solidFill>
                  <a:srgbClr val="000000"/>
                </a:solidFill>
                <a:latin typeface="Arial"/>
                <a:ea typeface="Arial"/>
                <a:cs typeface="Arial"/>
              </a:rPr>
              <a:t>13–17% (assumed)</a:t>
            </a:r>
          </a:p>
        </p:txBody>
      </p:sp>
      <p:sp>
        <p:nvSpPr>
          <p:cNvPr id="9018" name="PenOval"/>
          <p:cNvSpPr txBox="1"/>
          <p:nvPr/>
        </p:nvSpPr>
        <p:spPr>
          <a:xfrm>
            <a:off x="1165285" y="4588005"/>
            <a:ext cx="520000" cy="175000"/>
          </a:xfrm>
          <a:prstGeom prst="ellipse">
            <a:avLst/>
          </a:prstGeom>
          <a:solidFill>
            <a:srgbClr val="FFFFFF"/>
          </a:solidFill>
          <a:ln w="12700">
            <a:solidFill>
              <a:srgbClr val="000000"/>
            </a:solidFill>
          </a:ln>
        </p:spPr>
        <p:txBody>
          <a:bodyPr wrap="square" lIns="0" tIns="0" rIns="0" bIns="0" anchor="ctr"/>
          <a:lstStyle/>
          <a:p>
            <a:pPr algn="ctr">
              <a:lnSpc>
                <a:spcPct val="115000"/>
              </a:lnSpc>
              <a:buNone/>
            </a:pPr>
            <a:r>
              <a:rPr lang="en-US" sz="850" i="1">
                <a:solidFill>
                  <a:srgbClr val="000000"/>
                </a:solidFill>
                <a:latin typeface="Arial"/>
                <a:ea typeface="Arial"/>
                <a:cs typeface="Arial"/>
              </a:rPr>
              <a:t>n/a</a:t>
            </a:r>
          </a:p>
        </p:txBody>
      </p:sp>
      <p:sp>
        <p:nvSpPr>
          <p:cNvPr id="9019" name="PenOval"/>
          <p:cNvSpPr txBox="1"/>
          <p:nvPr/>
        </p:nvSpPr>
        <p:spPr>
          <a:xfrm>
            <a:off x="2258806" y="4588005"/>
            <a:ext cx="520000" cy="175000"/>
          </a:xfrm>
          <a:prstGeom prst="ellipse">
            <a:avLst/>
          </a:prstGeom>
          <a:solidFill>
            <a:srgbClr val="FFFFFF"/>
          </a:solidFill>
          <a:ln w="12700">
            <a:solidFill>
              <a:srgbClr val="000000"/>
            </a:solidFill>
          </a:ln>
        </p:spPr>
        <p:txBody>
          <a:bodyPr wrap="square" lIns="0" tIns="0" rIns="0" bIns="0" anchor="ctr"/>
          <a:lstStyle/>
          <a:p>
            <a:pPr algn="ctr">
              <a:lnSpc>
                <a:spcPct val="115000"/>
              </a:lnSpc>
              <a:buNone/>
            </a:pPr>
            <a:r>
              <a:rPr lang="en-US" sz="850" i="1">
                <a:solidFill>
                  <a:srgbClr val="000000"/>
                </a:solidFill>
                <a:latin typeface="Arial"/>
                <a:ea typeface="Arial"/>
                <a:cs typeface="Arial"/>
              </a:rPr>
              <a:t>n/a</a:t>
            </a:r>
          </a:p>
        </p:txBody>
      </p:sp>
      <p:sp>
        <p:nvSpPr>
          <p:cNvPr id="9020" name="PenOval"/>
          <p:cNvSpPr txBox="1"/>
          <p:nvPr/>
        </p:nvSpPr>
        <p:spPr>
          <a:xfrm>
            <a:off x="3352327" y="4588005"/>
            <a:ext cx="520000" cy="175000"/>
          </a:xfrm>
          <a:prstGeom prst="ellipse">
            <a:avLst/>
          </a:prstGeom>
          <a:solidFill>
            <a:srgbClr val="FFFFFF"/>
          </a:solidFill>
          <a:ln w="12700">
            <a:solidFill>
              <a:srgbClr val="000000"/>
            </a:solidFill>
          </a:ln>
        </p:spPr>
        <p:txBody>
          <a:bodyPr wrap="square" lIns="0" tIns="0" rIns="0" bIns="0" anchor="ctr"/>
          <a:lstStyle/>
          <a:p>
            <a:pPr algn="ctr">
              <a:lnSpc>
                <a:spcPct val="115000"/>
              </a:lnSpc>
              <a:buNone/>
            </a:pPr>
            <a:r>
              <a:rPr lang="en-US" sz="850" i="1">
                <a:solidFill>
                  <a:srgbClr val="000000"/>
                </a:solidFill>
                <a:latin typeface="Arial"/>
                <a:ea typeface="Arial"/>
                <a:cs typeface="Arial"/>
              </a:rPr>
              <a:t>13%</a:t>
            </a:r>
          </a:p>
        </p:txBody>
      </p:sp>
      <p:sp>
        <p:nvSpPr>
          <p:cNvPr id="9021" name="PenOval"/>
          <p:cNvSpPr txBox="1"/>
          <p:nvPr/>
        </p:nvSpPr>
        <p:spPr>
          <a:xfrm>
            <a:off x="4445849" y="4588005"/>
            <a:ext cx="520000" cy="175000"/>
          </a:xfrm>
          <a:prstGeom prst="ellipse">
            <a:avLst/>
          </a:prstGeom>
          <a:solidFill>
            <a:srgbClr val="FFFFFF"/>
          </a:solidFill>
          <a:ln w="12700">
            <a:solidFill>
              <a:srgbClr val="000000"/>
            </a:solidFill>
          </a:ln>
        </p:spPr>
        <p:txBody>
          <a:bodyPr wrap="square" lIns="0" tIns="0" rIns="0" bIns="0" anchor="ctr"/>
          <a:lstStyle/>
          <a:p>
            <a:pPr algn="ctr">
              <a:lnSpc>
                <a:spcPct val="115000"/>
              </a:lnSpc>
              <a:buNone/>
            </a:pPr>
            <a:r>
              <a:rPr lang="en-US" sz="850" i="1">
                <a:solidFill>
                  <a:srgbClr val="000000"/>
                </a:solidFill>
                <a:latin typeface="Arial"/>
                <a:ea typeface="Arial"/>
                <a:cs typeface="Arial"/>
              </a:rPr>
              <a:t>n/a</a:t>
            </a:r>
          </a:p>
        </p:txBody>
      </p:sp>
      <p:sp>
        <p:nvSpPr>
          <p:cNvPr id="9022" name="PenOval"/>
          <p:cNvSpPr txBox="1"/>
          <p:nvPr/>
        </p:nvSpPr>
        <p:spPr>
          <a:xfrm>
            <a:off x="5539370" y="4588005"/>
            <a:ext cx="520000" cy="175000"/>
          </a:xfrm>
          <a:prstGeom prst="ellipse">
            <a:avLst/>
          </a:prstGeom>
          <a:solidFill>
            <a:srgbClr val="FFFFFF"/>
          </a:solidFill>
          <a:ln w="12700">
            <a:solidFill>
              <a:srgbClr val="000000"/>
            </a:solidFill>
          </a:ln>
        </p:spPr>
        <p:txBody>
          <a:bodyPr wrap="square" lIns="0" tIns="0" rIns="0" bIns="0" anchor="ctr"/>
          <a:lstStyle/>
          <a:p>
            <a:pPr algn="ctr">
              <a:lnSpc>
                <a:spcPct val="115000"/>
              </a:lnSpc>
              <a:buNone/>
            </a:pPr>
            <a:r>
              <a:rPr lang="en-US" sz="850" i="1">
                <a:solidFill>
                  <a:srgbClr val="000000"/>
                </a:solidFill>
                <a:latin typeface="Arial"/>
                <a:ea typeface="Arial"/>
                <a:cs typeface="Arial"/>
              </a:rPr>
              <a:t>15%</a:t>
            </a:r>
          </a:p>
        </p:txBody>
      </p:sp>
      <p:sp>
        <p:nvSpPr>
          <p:cNvPr id="9023" name="ColumbiaNote"/>
          <p:cNvSpPr txBox="1"/>
          <p:nvPr/>
        </p:nvSpPr>
        <p:spPr>
          <a:xfrm>
            <a:off x="406859" y="4830373"/>
            <a:ext cx="4480560" cy="120000"/>
          </a:xfrm>
          <a:prstGeom prst="rect">
            <a:avLst/>
          </a:prstGeom>
          <a:noFill/>
          <a:ln>
            <a:noFill/>
          </a:ln>
        </p:spPr>
        <p:txBody>
          <a:bodyPr wrap="square" lIns="0" tIns="0" rIns="0" bIns="0" anchor="ctr"/>
          <a:lstStyle/>
          <a:p>
            <a:pPr algn="l">
              <a:lnSpc>
                <a:spcPct val="115000"/>
              </a:lnSpc>
              <a:buNone/>
            </a:pPr>
            <a:r>
              <a:rPr lang="en-US" sz="800" i="1">
                <a:solidFill>
                  <a:srgbClr val="000000"/>
                </a:solidFill>
                <a:latin typeface="Arial"/>
                <a:ea typeface="Arial"/>
                <a:cs typeface="Arial"/>
              </a:rPr>
              <a:t>Note: Columbia had no hull authorized in FY22/23/25 (hull costs shown in year of authorization)</a:t>
            </a:r>
          </a:p>
        </p:txBody>
      </p:sp>
      <p:sp>
        <p:nvSpPr>
          <p:cNvPr id="9024" name="ForecastNoteStrip"/>
          <p:cNvSpPr txBox="1"/>
          <p:nvPr/>
        </p:nvSpPr>
        <p:spPr>
          <a:xfrm>
            <a:off x="4965793" y="4800172"/>
            <a:ext cx="2800000" cy="120000"/>
          </a:xfrm>
          <a:prstGeom prst="rect">
            <a:avLst/>
          </a:prstGeom>
          <a:noFill/>
          <a:ln>
            <a:noFill/>
          </a:ln>
        </p:spPr>
        <p:txBody>
          <a:bodyPr wrap="square" lIns="0" tIns="0" rIns="0" bIns="0" anchor="ctr"/>
          <a:lstStyle/>
          <a:p>
            <a:pPr algn="ctr">
              <a:lnSpc>
                <a:spcPct val="115000"/>
              </a:lnSpc>
              <a:buNone/>
            </a:pPr>
            <a:r>
              <a:rPr lang="en-US" sz="800" i="1">
                <a:solidFill>
                  <a:srgbClr val="000000"/>
                </a:solidFill>
                <a:latin typeface="Arial"/>
                <a:ea typeface="Arial"/>
                <a:cs typeface="Arial"/>
              </a:rPr>
              <a:t>FY26/FY27 budgets known, penetration assumed.</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2" name="Breadcrumb"/>
          <p:cNvSpPr>
            <a:spLocks noGrp="1"/>
          </p:cNvSpPr>
          <p:nvPr>
            <p:ph type="body" sz="quarter" idx="10"/>
          </p:nvPr>
        </p:nvSpPr>
        <p:spPr>
          <a:xfrm>
            <a:off x="453079" y="263452"/>
            <a:ext cx="11282362" cy="153888"/>
          </a:xfrm>
        </p:spPr>
        <p:txBody>
          <a:bodyPr/>
          <a:lstStyle/>
          <a:p>
            <a:r>
              <a:rPr lang="en-US" sz="1000" b="1" kern="1200">
                <a:solidFill>
                  <a:srgbClr val="44505C"/>
                </a:solidFill>
                <a:latin typeface="Arial"/>
                <a:ea typeface="Arial"/>
                <a:cs typeface="Arial"/>
              </a:rPr>
              <a:t>Executive Summary</a:t>
            </a:r>
            <a:r>
              <a:rPr lang="en-US" sz="1000" kern="1200">
                <a:solidFill>
                  <a:srgbClr val="44505C"/>
                </a:solidFill>
                <a:latin typeface="Arial"/>
                <a:ea typeface="Arial"/>
                <a:cs typeface="Arial"/>
              </a:rPr>
              <a:t> / Supplier TAM and SAM</a:t>
            </a:r>
          </a:p>
        </p:txBody>
      </p:sp>
      <p:sp>
        <p:nvSpPr>
          <p:cNvPr id="304" name="PrelimChip"/>
          <p:cNvSpPr txBox="1"/>
          <p:nvPr/>
        </p:nvSpPr>
        <p:spPr>
          <a:xfrm>
            <a:off x="10267829" y="111556"/>
            <a:ext cx="1467612" cy="290000"/>
          </a:xfrm>
          <a:prstGeom prst="rect">
            <a:avLst/>
          </a:prstGeom>
          <a:solidFill>
            <a:srgbClr val="FFFFCC"/>
          </a:solidFill>
          <a:ln w="19050">
            <a:solidFill>
              <a:srgbClr val="000000"/>
            </a:solidFill>
          </a:ln>
        </p:spPr>
        <p:txBody>
          <a:bodyPr wrap="square" lIns="45720" tIns="9144" rIns="45720" bIns="9144" anchor="ctr"/>
          <a:lstStyle/>
          <a:p>
            <a:pPr algn="ctr"/>
            <a:r>
              <a:rPr lang="en-US" sz="1200" b="1" kern="1200">
                <a:solidFill>
                  <a:srgbClr val="000000"/>
                </a:solidFill>
                <a:latin typeface="Arial"/>
                <a:ea typeface="Arial"/>
                <a:cs typeface="Arial"/>
              </a:rPr>
              <a:t>Preliminary</a:t>
            </a:r>
          </a:p>
        </p:txBody>
      </p:sp>
      <p:sp>
        <p:nvSpPr>
          <p:cNvPr id="303" name="Title"/>
          <p:cNvSpPr>
            <a:spLocks noGrp="1"/>
          </p:cNvSpPr>
          <p:nvPr>
            <p:ph type="title"/>
          </p:nvPr>
        </p:nvSpPr>
        <p:spPr>
          <a:xfrm>
            <a:off x="453079" y="554500"/>
            <a:ext cx="11282362" cy="640080"/>
          </a:xfrm>
        </p:spPr>
        <p:txBody>
          <a:bodyPr vert="horz" rIns="0"/>
          <a:lstStyle/>
          <a:p>
            <a:r>
              <a:rPr lang="en-US">
                <a:solidFill>
                  <a:srgbClr val="162029"/>
                </a:solidFill>
                <a:ea typeface="Arial"/>
                <a:cs typeface="Arial"/>
              </a:rPr>
              <a:t>Penetration Rate Outlook | …</a:t>
            </a:r>
            <a:endParaRPr lang="en-US" sz="2000" kern="1200">
              <a:solidFill>
                <a:srgbClr val="162029"/>
              </a:solidFill>
              <a:latin typeface="Arial"/>
              <a:ea typeface="Arial"/>
              <a:cs typeface="Arial"/>
            </a:endParaRPr>
          </a:p>
        </p:txBody>
      </p:sp>
      <p:sp>
        <p:nvSpPr>
          <p:cNvPr id="355" name="Sources"/>
          <p:cNvSpPr txBox="1"/>
          <p:nvPr/>
        </p:nvSpPr>
        <p:spPr>
          <a:xfrm>
            <a:off x="453079" y="6085448"/>
            <a:ext cx="11282362" cy="540000"/>
          </a:xfrm>
          <a:prstGeom prst="rect">
            <a:avLst/>
          </a:prstGeom>
          <a:noFill/>
          <a:ln>
            <a:noFill/>
          </a:ln>
        </p:spPr>
        <p:txBody>
          <a:bodyPr wrap="square" lIns="91440" tIns="45720" rIns="91440" bIns="45720" anchor="t"/>
          <a:lstStyle/>
          <a:p>
            <a:r>
              <a:rPr lang="en-US" sz="800" kern="1200">
                <a:solidFill>
                  <a:srgbClr val="162029"/>
                </a:solidFill>
                <a:latin typeface="Arial"/>
                <a:ea typeface="Arial"/>
                <a:cs typeface="Arial"/>
              </a:rPr>
              <a:t>Sources: Navy SCN P-5c / P-40 budget justification, FY22–FY27, and PB27 FYDP outyears (FY28–FY31); FY26, PL 119-21 Sec. 20002; PB27 SCN, Columbia P-10 Strategic Outsourcing narrative; OUSD(C) Green Book Procurement deflators; Navy Shipbuilding Plan; PB27 SCN Exhibit P-10, LI 2122 (AP/LLTM Ship Construction EOQ); FFATA/FSRS subaward records, yard-prime construction PIIDs, FY22–FY25 action years (work-type shares)</a:t>
            </a:r>
          </a:p>
        </p:txBody>
      </p:sp>
      <p:sp>
        <p:nvSpPr>
          <p:cNvPr id="333" name="PrelimChip"/>
          <p:cNvSpPr txBox="1"/>
          <p:nvPr/>
        </p:nvSpPr>
        <p:spPr>
          <a:xfrm>
            <a:off x="176981" y="1111045"/>
            <a:ext cx="11808542" cy="5279923"/>
          </a:xfrm>
          <a:prstGeom prst="rect">
            <a:avLst/>
          </a:prstGeom>
          <a:solidFill>
            <a:srgbClr val="D9D9D9"/>
          </a:solidFill>
          <a:ln w="19050">
            <a:solidFill>
              <a:srgbClr val="000000"/>
            </a:solidFill>
          </a:ln>
        </p:spPr>
        <p:txBody>
          <a:bodyPr wrap="square" lIns="45720" tIns="9144" rIns="45720" bIns="9144" anchor="ctr"/>
          <a:lstStyle/>
          <a:p>
            <a:pPr algn="ctr"/>
            <a:r>
              <a:rPr lang="en-US" sz="1600" b="1" i="1" kern="1200">
                <a:solidFill>
                  <a:srgbClr val="000000"/>
                </a:solidFill>
                <a:latin typeface="Arial"/>
                <a:ea typeface="Arial"/>
                <a:cs typeface="Arial"/>
              </a:rPr>
              <a:t>Placeholder – Line chart (LHS 2/3) + Commentary (RHS 1/3) </a:t>
            </a:r>
            <a:br>
              <a:rPr lang="en-US" sz="1600" b="1" i="1" kern="1200">
                <a:solidFill>
                  <a:srgbClr val="000000"/>
                </a:solidFill>
                <a:latin typeface="Arial"/>
                <a:ea typeface="Arial"/>
                <a:cs typeface="Arial"/>
              </a:rPr>
            </a:br>
            <a:r>
              <a:rPr lang="en-US" sz="1600" b="1" i="1" kern="1200">
                <a:solidFill>
                  <a:srgbClr val="000000"/>
                </a:solidFill>
                <a:latin typeface="Arial"/>
                <a:ea typeface="Arial"/>
                <a:cs typeface="Arial"/>
              </a:rPr>
              <a:t>X-axis: </a:t>
            </a:r>
          </a:p>
          <a:p>
            <a:pPr algn="ctr"/>
            <a:r>
              <a:rPr lang="en-US" sz="1600" b="1" i="1">
                <a:solidFill>
                  <a:srgbClr val="000000"/>
                </a:solidFill>
                <a:latin typeface="Arial"/>
                <a:ea typeface="Arial"/>
                <a:cs typeface="Arial"/>
              </a:rPr>
              <a:t>Y-axis: </a:t>
            </a:r>
            <a:r>
              <a:rPr lang="en-US" sz="1600" b="1" i="1" kern="1200">
                <a:solidFill>
                  <a:srgbClr val="000000"/>
                </a:solidFill>
                <a:latin typeface="Arial"/>
                <a:ea typeface="Arial"/>
                <a:cs typeface="Arial"/>
              </a:rPr>
              <a:t>FY22 – FY31</a:t>
            </a:r>
          </a:p>
          <a:p>
            <a:pPr algn="ctr"/>
            <a:r>
              <a:rPr lang="en-US" sz="1600" b="1" i="1">
                <a:solidFill>
                  <a:srgbClr val="000000"/>
                </a:solidFill>
                <a:latin typeface="Arial"/>
                <a:ea typeface="Arial"/>
                <a:cs typeface="Arial"/>
              </a:rPr>
              <a:t>Lines: </a:t>
            </a:r>
            <a:r>
              <a:rPr lang="en-US" sz="1600" b="1" i="1">
                <a:solidFill>
                  <a:srgbClr val="000000"/>
                </a:solidFill>
                <a:ea typeface="Arial"/>
                <a:cs typeface="Arial"/>
              </a:rPr>
              <a:t>DDG, Virginia, Columbia pen rate (delineate historical with solid lines and forecast with dashed lines)</a:t>
            </a:r>
          </a:p>
          <a:p>
            <a:pPr algn="ctr"/>
            <a:r>
              <a:rPr lang="en-US" sz="1600" b="1" i="1">
                <a:solidFill>
                  <a:srgbClr val="000000"/>
                </a:solidFill>
                <a:ea typeface="Arial"/>
                <a:cs typeface="Arial"/>
              </a:rPr>
              <a:t>Overlay: Penetration “ceiling” as lines for each platform</a:t>
            </a:r>
          </a:p>
          <a:p>
            <a:pPr algn="ctr"/>
            <a:r>
              <a:rPr lang="en-US" sz="1600" b="1" i="1">
                <a:solidFill>
                  <a:srgbClr val="000000"/>
                </a:solidFill>
                <a:ea typeface="Arial"/>
                <a:cs typeface="Arial"/>
              </a:rPr>
              <a:t>Commentary: Explanation of curve shape + ceilings</a:t>
            </a:r>
          </a:p>
          <a:p>
            <a:pPr algn="ctr"/>
            <a:endParaRPr lang="en-US" sz="1600" b="1" i="1">
              <a:solidFill>
                <a:srgbClr val="000000"/>
              </a:solidFill>
              <a:ea typeface="Arial"/>
              <a:cs typeface="Arial"/>
            </a:endParaRPr>
          </a:p>
          <a:p>
            <a:pPr algn="ctr"/>
            <a:r>
              <a:rPr lang="en-US" sz="1600" b="1" i="1">
                <a:solidFill>
                  <a:srgbClr val="000000"/>
                </a:solidFill>
                <a:ea typeface="Arial"/>
                <a:cs typeface="Arial"/>
              </a:rPr>
              <a:t>To understand how the Navy thinks about “outsourcing” – defined as hours or $ or combination?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43" name="Chart 542"/>
          <p:cNvGraphicFramePr/>
          <p:nvPr/>
        </p:nvGraphicFramePr>
        <p:xfrm>
          <a:off x="349250" y="2216150"/>
          <a:ext cx="11296650" cy="3341688"/>
        </p:xfrm>
        <a:graphic>
          <a:graphicData uri="http://schemas.openxmlformats.org/drawingml/2006/chart">
            <c:chart xmlns:c="http://schemas.openxmlformats.org/drawingml/2006/chart" xmlns:r="http://schemas.openxmlformats.org/officeDocument/2006/relationships" r:id="rId2"/>
          </a:graphicData>
        </a:graphic>
      </p:graphicFrame>
      <p:sp>
        <p:nvSpPr>
          <p:cNvPr id="302" name="Breadcrumb"/>
          <p:cNvSpPr>
            <a:spLocks noGrp="1"/>
          </p:cNvSpPr>
          <p:nvPr>
            <p:ph type="body" sz="quarter" idx="10"/>
          </p:nvPr>
        </p:nvSpPr>
        <p:spPr>
          <a:xfrm>
            <a:off x="453079" y="263452"/>
            <a:ext cx="11282362" cy="153888"/>
          </a:xfrm>
        </p:spPr>
        <p:txBody>
          <a:bodyPr/>
          <a:lstStyle/>
          <a:p>
            <a:r>
              <a:rPr lang="en-US" b="1">
                <a:solidFill>
                  <a:srgbClr val="44505C"/>
                </a:solidFill>
                <a:latin typeface="Arial"/>
                <a:ea typeface="Arial"/>
                <a:cs typeface="Arial"/>
              </a:rPr>
              <a:t>Executive Summary</a:t>
            </a:r>
            <a:r>
              <a:rPr lang="en-US" sz="1000" kern="1200">
                <a:solidFill>
                  <a:srgbClr val="44505C"/>
                </a:solidFill>
                <a:latin typeface="Arial"/>
                <a:ea typeface="Arial"/>
                <a:cs typeface="Arial"/>
              </a:rPr>
              <a:t> / Outsourced BC Annual TAM</a:t>
            </a:r>
          </a:p>
        </p:txBody>
      </p:sp>
      <p:sp>
        <p:nvSpPr>
          <p:cNvPr id="304" name="PrelimChip"/>
          <p:cNvSpPr txBox="1"/>
          <p:nvPr/>
        </p:nvSpPr>
        <p:spPr>
          <a:xfrm>
            <a:off x="10267829" y="111556"/>
            <a:ext cx="1467612" cy="290000"/>
          </a:xfrm>
          <a:prstGeom prst="rect">
            <a:avLst/>
          </a:prstGeom>
          <a:solidFill>
            <a:srgbClr val="FFFFCC"/>
          </a:solidFill>
          <a:ln w="19050">
            <a:solidFill>
              <a:srgbClr val="000000"/>
            </a:solidFill>
          </a:ln>
        </p:spPr>
        <p:txBody>
          <a:bodyPr wrap="square" lIns="45720" tIns="9144" rIns="45720" bIns="9144" anchor="ctr"/>
          <a:lstStyle/>
          <a:p>
            <a:pPr algn="ctr"/>
            <a:r>
              <a:rPr lang="en-US" sz="1200" b="1" kern="1200">
                <a:solidFill>
                  <a:srgbClr val="000000"/>
                </a:solidFill>
                <a:latin typeface="Arial"/>
                <a:ea typeface="Arial"/>
                <a:cs typeface="Arial"/>
              </a:rPr>
              <a:t>Preliminary</a:t>
            </a:r>
          </a:p>
        </p:txBody>
      </p:sp>
      <p:sp>
        <p:nvSpPr>
          <p:cNvPr id="303" name="Title"/>
          <p:cNvSpPr>
            <a:spLocks noGrp="1"/>
          </p:cNvSpPr>
          <p:nvPr>
            <p:ph type="title"/>
          </p:nvPr>
        </p:nvSpPr>
        <p:spPr>
          <a:xfrm>
            <a:off x="453079" y="554500"/>
            <a:ext cx="11282362" cy="640080"/>
          </a:xfrm>
        </p:spPr>
        <p:txBody>
          <a:bodyPr vert="horz" rIns="0"/>
          <a:lstStyle/>
          <a:p>
            <a:r>
              <a:rPr lang="en-US" dirty="0">
                <a:solidFill>
                  <a:srgbClr val="162029"/>
                </a:solidFill>
                <a:ea typeface="Arial"/>
                <a:cs typeface="Arial"/>
              </a:rPr>
              <a:t>Outsourced Basic Construction Spend by Work Type | Machining anchors a third or more of DDG-51 demand every year, while the submarine lead rotates among structural, electrical, and piping work with award timing.</a:t>
            </a:r>
            <a:endParaRPr lang="en-US" sz="2000" kern="1200" dirty="0">
              <a:solidFill>
                <a:srgbClr val="162029"/>
              </a:solidFill>
              <a:latin typeface="Arial"/>
              <a:ea typeface="Arial"/>
              <a:cs typeface="Arial"/>
            </a:endParaRPr>
          </a:p>
        </p:txBody>
      </p:sp>
      <p:cxnSp>
        <p:nvCxnSpPr>
          <p:cNvPr id="802" name="Straight Connector 501"/>
          <p:cNvCxnSpPr>
            <a:cxnSpLocks/>
          </p:cNvCxnSpPr>
          <p:nvPr/>
        </p:nvCxnSpPr>
        <p:spPr bwMode="gray">
          <a:xfrm flipH="1">
            <a:off x="11279188" y="2871788"/>
            <a:ext cx="84138" cy="0"/>
          </a:xfrm>
          <a:prstGeom prst="line">
            <a:avLst/>
          </a:prstGeom>
          <a:ln w="6350" cap="flat" cmpd="sng" algn="ctr">
            <a:solidFill>
              <a:schemeClr val="tx2"/>
            </a:solidFill>
            <a:prstDash val="solid"/>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sp>
        <p:nvSpPr>
          <p:cNvPr id="676" name="Text Placeholder 25"/>
          <p:cNvSpPr>
            <a:spLocks/>
          </p:cNvSpPr>
          <p:nvPr/>
        </p:nvSpPr>
        <p:spPr bwMode="auto">
          <a:xfrm>
            <a:off x="2128838" y="5422900"/>
            <a:ext cx="454025" cy="152400"/>
          </a:xfrm>
          <a:prstGeom prst="rect">
            <a:avLst/>
          </a:prstGeom>
          <a:noFill/>
          <a:ln>
            <a:noFill/>
          </a:ln>
          <a:effectLst/>
        </p:spPr>
        <p:txBody>
          <a:bodyPr vert="horz" wrap="none" lIns="0" tIns="0" rIns="0" bIns="0" rtlCol="0">
            <a:noAutofit/>
          </a:bodyPr>
          <a:p>
            <a:pPr marL="0" lvl="0" indent="0" algn="ctr">
              <a:spcBef>
                <a:spcPct val="0"/>
              </a:spcBef>
              <a:spcAft>
                <a:spcPct val="0"/>
              </a:spcAft>
              <a:buNone/>
            </a:pPr>
            <a:r>
              <a:rPr lang="en-US" altLang="en-US" sz="1000" smtClean="0"/>
              <a:t>FY2023</a:t>
            </a:r>
            <a:endParaRPr lang="en-US" sz="1000" dirty="0"/>
          </a:p>
        </p:txBody>
      </p:sp>
      <p:sp>
        <p:nvSpPr>
          <p:cNvPr id="677" name="Text Placeholder 25"/>
          <p:cNvSpPr>
            <a:spLocks/>
          </p:cNvSpPr>
          <p:nvPr/>
        </p:nvSpPr>
        <p:spPr bwMode="auto">
          <a:xfrm>
            <a:off x="3097213" y="5422900"/>
            <a:ext cx="454025" cy="152400"/>
          </a:xfrm>
          <a:prstGeom prst="rect">
            <a:avLst/>
          </a:prstGeom>
          <a:noFill/>
          <a:ln>
            <a:noFill/>
          </a:ln>
          <a:effectLst/>
        </p:spPr>
        <p:txBody>
          <a:bodyPr vert="horz" wrap="none" lIns="0" tIns="0" rIns="0" bIns="0" rtlCol="0">
            <a:noAutofit/>
          </a:bodyPr>
          <a:p>
            <a:pPr marL="0" lvl="0" indent="0" algn="ctr">
              <a:spcBef>
                <a:spcPct val="0"/>
              </a:spcBef>
              <a:spcAft>
                <a:spcPct val="0"/>
              </a:spcAft>
              <a:buNone/>
            </a:pPr>
            <a:r>
              <a:rPr lang="en-US" altLang="en-US" sz="1000" smtClean="0"/>
              <a:t>FY2024</a:t>
            </a:r>
            <a:endParaRPr lang="en-US" sz="1000" dirty="0"/>
          </a:p>
        </p:txBody>
      </p:sp>
      <p:sp>
        <p:nvSpPr>
          <p:cNvPr id="682" name="Text Placeholder 25"/>
          <p:cNvSpPr>
            <a:spLocks/>
          </p:cNvSpPr>
          <p:nvPr/>
        </p:nvSpPr>
        <p:spPr bwMode="gray">
          <a:xfrm>
            <a:off x="1281113" y="2263775"/>
            <a:ext cx="209550" cy="152400"/>
          </a:xfrm>
          <a:prstGeom prst="rect">
            <a:avLst/>
          </a:prstGeom>
          <a:noFill/>
          <a:ln>
            <a:noFill/>
          </a:ln>
          <a:effectLst/>
        </p:spPr>
        <p:txBody>
          <a:bodyPr vert="horz" wrap="none" lIns="17463" tIns="0" rIns="17463" bIns="0" rtlCol="0" anchor="b">
            <a:noAutofit/>
          </a:bodyPr>
          <a:p>
            <a:pPr marL="0" lvl="0" indent="0" algn="ctr">
              <a:spcBef>
                <a:spcPct val="0"/>
              </a:spcBef>
              <a:spcAft>
                <a:spcPct val="0"/>
              </a:spcAft>
              <a:buNone/>
            </a:pPr>
            <a:r>
              <a:rPr lang="en-US" altLang="en-US" sz="1000" smtClean="0"/>
              <a:t>0.5</a:t>
            </a:r>
            <a:endParaRPr lang="en-US" sz="1000" dirty="0"/>
          </a:p>
        </p:txBody>
      </p:sp>
      <p:sp>
        <p:nvSpPr>
          <p:cNvPr id="684" name="Text Placeholder 25"/>
          <p:cNvSpPr>
            <a:spLocks/>
          </p:cNvSpPr>
          <p:nvPr/>
        </p:nvSpPr>
        <p:spPr bwMode="gray">
          <a:xfrm>
            <a:off x="2251075" y="2263775"/>
            <a:ext cx="209550" cy="152400"/>
          </a:xfrm>
          <a:prstGeom prst="rect">
            <a:avLst/>
          </a:prstGeom>
          <a:noFill/>
          <a:ln>
            <a:noFill/>
          </a:ln>
          <a:effectLst/>
        </p:spPr>
        <p:txBody>
          <a:bodyPr vert="horz" wrap="none" lIns="17463" tIns="0" rIns="17463" bIns="0" rtlCol="0" anchor="b">
            <a:noAutofit/>
          </a:bodyPr>
          <a:p>
            <a:pPr marL="0" lvl="0" indent="0" algn="ctr">
              <a:spcBef>
                <a:spcPct val="0"/>
              </a:spcBef>
              <a:spcAft>
                <a:spcPct val="0"/>
              </a:spcAft>
              <a:buNone/>
            </a:pPr>
            <a:r>
              <a:rPr lang="en-US" altLang="en-US" sz="1000" smtClean="0"/>
              <a:t>1.2</a:t>
            </a:r>
            <a:endParaRPr lang="en-US" sz="1000" dirty="0"/>
          </a:p>
        </p:txBody>
      </p:sp>
      <p:sp>
        <p:nvSpPr>
          <p:cNvPr id="685" name="Text Placeholder 25"/>
          <p:cNvSpPr>
            <a:spLocks/>
          </p:cNvSpPr>
          <p:nvPr/>
        </p:nvSpPr>
        <p:spPr bwMode="gray">
          <a:xfrm>
            <a:off x="3219450" y="2263775"/>
            <a:ext cx="209550" cy="152400"/>
          </a:xfrm>
          <a:prstGeom prst="rect">
            <a:avLst/>
          </a:prstGeom>
          <a:noFill/>
          <a:ln>
            <a:noFill/>
          </a:ln>
          <a:effectLst/>
        </p:spPr>
        <p:txBody>
          <a:bodyPr vert="horz" wrap="none" lIns="17463" tIns="0" rIns="17463" bIns="0" rtlCol="0" anchor="b">
            <a:noAutofit/>
          </a:bodyPr>
          <a:p>
            <a:pPr marL="0" lvl="0" indent="0" algn="ctr">
              <a:spcBef>
                <a:spcPct val="0"/>
              </a:spcBef>
              <a:spcAft>
                <a:spcPct val="0"/>
              </a:spcAft>
              <a:buNone/>
            </a:pPr>
            <a:r>
              <a:rPr lang="en-US" altLang="en-US" sz="1000" smtClean="0"/>
              <a:t>0.9</a:t>
            </a:r>
            <a:endParaRPr lang="en-US" sz="1000" dirty="0"/>
          </a:p>
        </p:txBody>
      </p:sp>
      <p:sp>
        <p:nvSpPr>
          <p:cNvPr id="688" name="Text Placeholder 25"/>
          <p:cNvSpPr>
            <a:spLocks/>
          </p:cNvSpPr>
          <p:nvPr/>
        </p:nvSpPr>
        <p:spPr bwMode="auto">
          <a:xfrm>
            <a:off x="4067175" y="5422900"/>
            <a:ext cx="454025" cy="152400"/>
          </a:xfrm>
          <a:prstGeom prst="rect">
            <a:avLst/>
          </a:prstGeom>
          <a:noFill/>
          <a:ln>
            <a:noFill/>
          </a:ln>
          <a:effectLst/>
        </p:spPr>
        <p:txBody>
          <a:bodyPr vert="horz" wrap="none" lIns="0" tIns="0" rIns="0" bIns="0" rtlCol="0">
            <a:noAutofit/>
          </a:bodyPr>
          <a:p>
            <a:pPr marL="0" lvl="0" indent="0" algn="ctr">
              <a:spcBef>
                <a:spcPct val="0"/>
              </a:spcBef>
              <a:spcAft>
                <a:spcPct val="0"/>
              </a:spcAft>
              <a:buNone/>
            </a:pPr>
            <a:r>
              <a:rPr lang="en-US" altLang="en-US" sz="1000" smtClean="0"/>
              <a:t>FY2025</a:t>
            </a:r>
            <a:endParaRPr lang="en-US" sz="1000" dirty="0"/>
          </a:p>
        </p:txBody>
      </p:sp>
      <p:sp>
        <p:nvSpPr>
          <p:cNvPr id="689" name="Text Placeholder 25"/>
          <p:cNvSpPr>
            <a:spLocks/>
          </p:cNvSpPr>
          <p:nvPr/>
        </p:nvSpPr>
        <p:spPr bwMode="auto">
          <a:xfrm>
            <a:off x="6005513" y="5422900"/>
            <a:ext cx="454025" cy="152400"/>
          </a:xfrm>
          <a:prstGeom prst="rect">
            <a:avLst/>
          </a:prstGeom>
          <a:noFill/>
          <a:ln>
            <a:noFill/>
          </a:ln>
          <a:effectLst/>
        </p:spPr>
        <p:txBody>
          <a:bodyPr vert="horz" wrap="none" lIns="0" tIns="0" rIns="0" bIns="0" rtlCol="0">
            <a:noAutofit/>
          </a:bodyPr>
          <a:p>
            <a:pPr marL="0" lvl="0" indent="0" algn="ctr">
              <a:spcBef>
                <a:spcPct val="0"/>
              </a:spcBef>
              <a:spcAft>
                <a:spcPct val="0"/>
              </a:spcAft>
              <a:buNone/>
            </a:pPr>
            <a:r>
              <a:rPr lang="en-US" altLang="en-US" sz="1000" smtClean="0"/>
              <a:t>FY2022</a:t>
            </a:r>
            <a:endParaRPr lang="en-US" sz="1000" dirty="0"/>
          </a:p>
        </p:txBody>
      </p:sp>
      <p:sp>
        <p:nvSpPr>
          <p:cNvPr id="690" name="Text Placeholder 25"/>
          <p:cNvSpPr>
            <a:spLocks/>
          </p:cNvSpPr>
          <p:nvPr/>
        </p:nvSpPr>
        <p:spPr bwMode="auto">
          <a:xfrm>
            <a:off x="6973888" y="5422900"/>
            <a:ext cx="454025" cy="152400"/>
          </a:xfrm>
          <a:prstGeom prst="rect">
            <a:avLst/>
          </a:prstGeom>
          <a:noFill/>
          <a:ln>
            <a:noFill/>
          </a:ln>
          <a:effectLst/>
        </p:spPr>
        <p:txBody>
          <a:bodyPr vert="horz" wrap="none" lIns="0" tIns="0" rIns="0" bIns="0" rtlCol="0">
            <a:noAutofit/>
          </a:bodyPr>
          <a:p>
            <a:pPr marL="0" lvl="0" indent="0" algn="ctr">
              <a:spcBef>
                <a:spcPct val="0"/>
              </a:spcBef>
              <a:spcAft>
                <a:spcPct val="0"/>
              </a:spcAft>
              <a:buNone/>
            </a:pPr>
            <a:r>
              <a:rPr lang="en-US" altLang="en-US" sz="1000" smtClean="0"/>
              <a:t>FY2023</a:t>
            </a:r>
            <a:endParaRPr lang="en-US" sz="1000" dirty="0"/>
          </a:p>
        </p:txBody>
      </p:sp>
      <p:sp>
        <p:nvSpPr>
          <p:cNvPr id="691" name="Text Placeholder 25"/>
          <p:cNvSpPr>
            <a:spLocks/>
          </p:cNvSpPr>
          <p:nvPr/>
        </p:nvSpPr>
        <p:spPr bwMode="auto">
          <a:xfrm>
            <a:off x="7943850" y="5422900"/>
            <a:ext cx="454025" cy="152400"/>
          </a:xfrm>
          <a:prstGeom prst="rect">
            <a:avLst/>
          </a:prstGeom>
          <a:noFill/>
          <a:ln>
            <a:noFill/>
          </a:ln>
          <a:effectLst/>
        </p:spPr>
        <p:txBody>
          <a:bodyPr vert="horz" wrap="none" lIns="0" tIns="0" rIns="0" bIns="0" rtlCol="0">
            <a:noAutofit/>
          </a:bodyPr>
          <a:p>
            <a:pPr marL="0" lvl="0" indent="0" algn="ctr">
              <a:spcBef>
                <a:spcPct val="0"/>
              </a:spcBef>
              <a:spcAft>
                <a:spcPct val="0"/>
              </a:spcAft>
              <a:buNone/>
            </a:pPr>
            <a:r>
              <a:rPr lang="en-US" altLang="en-US" sz="1000" smtClean="0"/>
              <a:t>FY2024</a:t>
            </a:r>
            <a:endParaRPr lang="en-US" sz="1000" dirty="0"/>
          </a:p>
        </p:txBody>
      </p:sp>
      <p:sp>
        <p:nvSpPr>
          <p:cNvPr id="692" name="Text Placeholder 25"/>
          <p:cNvSpPr>
            <a:spLocks/>
          </p:cNvSpPr>
          <p:nvPr/>
        </p:nvSpPr>
        <p:spPr bwMode="auto">
          <a:xfrm>
            <a:off x="8912225" y="5422900"/>
            <a:ext cx="454025" cy="152400"/>
          </a:xfrm>
          <a:prstGeom prst="rect">
            <a:avLst/>
          </a:prstGeom>
          <a:noFill/>
          <a:ln>
            <a:noFill/>
          </a:ln>
          <a:effectLst/>
        </p:spPr>
        <p:txBody>
          <a:bodyPr vert="horz" wrap="none" lIns="0" tIns="0" rIns="0" bIns="0" rtlCol="0">
            <a:noAutofit/>
          </a:bodyPr>
          <a:p>
            <a:pPr marL="0" lvl="0" indent="0" algn="ctr">
              <a:spcBef>
                <a:spcPct val="0"/>
              </a:spcBef>
              <a:spcAft>
                <a:spcPct val="0"/>
              </a:spcAft>
              <a:buNone/>
            </a:pPr>
            <a:r>
              <a:rPr lang="en-US" altLang="en-US" sz="1000" smtClean="0"/>
              <a:t>FY2025</a:t>
            </a:r>
            <a:endParaRPr lang="en-US" sz="1000" dirty="0"/>
          </a:p>
        </p:txBody>
      </p:sp>
      <p:sp>
        <p:nvSpPr>
          <p:cNvPr id="693" name="Text Placeholder 25"/>
          <p:cNvSpPr>
            <a:spLocks/>
          </p:cNvSpPr>
          <p:nvPr/>
        </p:nvSpPr>
        <p:spPr bwMode="auto">
          <a:xfrm>
            <a:off x="10850563" y="5422900"/>
            <a:ext cx="454025" cy="152400"/>
          </a:xfrm>
          <a:prstGeom prst="rect">
            <a:avLst/>
          </a:prstGeom>
          <a:noFill/>
          <a:ln>
            <a:noFill/>
          </a:ln>
          <a:effectLst/>
        </p:spPr>
        <p:txBody>
          <a:bodyPr vert="horz" wrap="none" lIns="0" tIns="0" rIns="0" bIns="0" rtlCol="0">
            <a:noAutofit/>
          </a:bodyPr>
          <a:p>
            <a:pPr marL="0" lvl="0" indent="0" algn="ctr">
              <a:spcBef>
                <a:spcPct val="0"/>
              </a:spcBef>
              <a:spcAft>
                <a:spcPct val="0"/>
              </a:spcAft>
              <a:buNone/>
            </a:pPr>
            <a:r>
              <a:rPr lang="en-US" altLang="en-US" sz="1000" smtClean="0"/>
              <a:t>FY2024</a:t>
            </a:r>
            <a:endParaRPr lang="en-US" sz="1000" dirty="0"/>
          </a:p>
        </p:txBody>
      </p:sp>
      <p:sp>
        <p:nvSpPr>
          <p:cNvPr id="699" name="Text Placeholder 25"/>
          <p:cNvSpPr>
            <a:spLocks/>
          </p:cNvSpPr>
          <p:nvPr/>
        </p:nvSpPr>
        <p:spPr bwMode="gray">
          <a:xfrm>
            <a:off x="4189413" y="2263775"/>
            <a:ext cx="209550" cy="152400"/>
          </a:xfrm>
          <a:prstGeom prst="rect">
            <a:avLst/>
          </a:prstGeom>
          <a:noFill/>
          <a:ln>
            <a:noFill/>
          </a:ln>
          <a:effectLst/>
        </p:spPr>
        <p:txBody>
          <a:bodyPr vert="horz" wrap="none" lIns="17463" tIns="0" rIns="17463" bIns="0" rtlCol="0" anchor="b">
            <a:noAutofit/>
          </a:bodyPr>
          <a:p>
            <a:pPr marL="0" lvl="0" indent="0" algn="ctr">
              <a:spcBef>
                <a:spcPct val="0"/>
              </a:spcBef>
              <a:spcAft>
                <a:spcPct val="0"/>
              </a:spcAft>
              <a:buNone/>
            </a:pPr>
            <a:r>
              <a:rPr lang="en-US" altLang="en-US" sz="1000" smtClean="0"/>
              <a:t>1.2</a:t>
            </a:r>
            <a:endParaRPr lang="en-US" sz="1000" dirty="0"/>
          </a:p>
        </p:txBody>
      </p:sp>
      <p:sp>
        <p:nvSpPr>
          <p:cNvPr id="700" name="Text Placeholder 25"/>
          <p:cNvSpPr>
            <a:spLocks/>
          </p:cNvSpPr>
          <p:nvPr/>
        </p:nvSpPr>
        <p:spPr bwMode="gray">
          <a:xfrm>
            <a:off x="6127750" y="2263775"/>
            <a:ext cx="209550" cy="152400"/>
          </a:xfrm>
          <a:prstGeom prst="rect">
            <a:avLst/>
          </a:prstGeom>
          <a:noFill/>
          <a:ln>
            <a:noFill/>
          </a:ln>
          <a:effectLst/>
        </p:spPr>
        <p:txBody>
          <a:bodyPr vert="horz" wrap="none" lIns="17463" tIns="0" rIns="17463" bIns="0" rtlCol="0" anchor="b">
            <a:noAutofit/>
          </a:bodyPr>
          <a:p>
            <a:pPr marL="0" lvl="0" indent="0" algn="ctr">
              <a:spcBef>
                <a:spcPct val="0"/>
              </a:spcBef>
              <a:spcAft>
                <a:spcPct val="0"/>
              </a:spcAft>
              <a:buNone/>
            </a:pPr>
            <a:r>
              <a:rPr lang="en-US" altLang="en-US" sz="1000" smtClean="0"/>
              <a:t>1.8</a:t>
            </a:r>
            <a:endParaRPr lang="en-US" sz="1000" dirty="0"/>
          </a:p>
        </p:txBody>
      </p:sp>
      <p:sp>
        <p:nvSpPr>
          <p:cNvPr id="701" name="Text Placeholder 25"/>
          <p:cNvSpPr>
            <a:spLocks/>
          </p:cNvSpPr>
          <p:nvPr/>
        </p:nvSpPr>
        <p:spPr bwMode="gray">
          <a:xfrm>
            <a:off x="7096125" y="2263775"/>
            <a:ext cx="209550" cy="152400"/>
          </a:xfrm>
          <a:prstGeom prst="rect">
            <a:avLst/>
          </a:prstGeom>
          <a:noFill/>
          <a:ln>
            <a:noFill/>
          </a:ln>
          <a:effectLst/>
        </p:spPr>
        <p:txBody>
          <a:bodyPr vert="horz" wrap="none" lIns="17463" tIns="0" rIns="17463" bIns="0" rtlCol="0" anchor="b">
            <a:noAutofit/>
          </a:bodyPr>
          <a:p>
            <a:pPr marL="0" lvl="0" indent="0" algn="ctr">
              <a:spcBef>
                <a:spcPct val="0"/>
              </a:spcBef>
              <a:spcAft>
                <a:spcPct val="0"/>
              </a:spcAft>
              <a:buNone/>
            </a:pPr>
            <a:r>
              <a:rPr lang="en-US" altLang="en-US" sz="1000" smtClean="0"/>
              <a:t>1.9</a:t>
            </a:r>
            <a:endParaRPr lang="en-US" sz="1000" dirty="0"/>
          </a:p>
        </p:txBody>
      </p:sp>
      <p:sp>
        <p:nvSpPr>
          <p:cNvPr id="702" name="Text Placeholder 25"/>
          <p:cNvSpPr>
            <a:spLocks/>
          </p:cNvSpPr>
          <p:nvPr/>
        </p:nvSpPr>
        <p:spPr bwMode="gray">
          <a:xfrm>
            <a:off x="8066088" y="2263775"/>
            <a:ext cx="209550" cy="152400"/>
          </a:xfrm>
          <a:prstGeom prst="rect">
            <a:avLst/>
          </a:prstGeom>
          <a:noFill/>
          <a:ln>
            <a:noFill/>
          </a:ln>
          <a:effectLst/>
        </p:spPr>
        <p:txBody>
          <a:bodyPr vert="horz" wrap="none" lIns="17463" tIns="0" rIns="17463" bIns="0" rtlCol="0" anchor="b">
            <a:noAutofit/>
          </a:bodyPr>
          <a:p>
            <a:pPr marL="0" lvl="0" indent="0" algn="ctr">
              <a:spcBef>
                <a:spcPct val="0"/>
              </a:spcBef>
              <a:spcAft>
                <a:spcPct val="0"/>
              </a:spcAft>
              <a:buNone/>
            </a:pPr>
            <a:r>
              <a:rPr lang="en-US" altLang="en-US" sz="1000" smtClean="0"/>
              <a:t>3.2</a:t>
            </a:r>
            <a:endParaRPr lang="en-US" sz="1000" dirty="0"/>
          </a:p>
        </p:txBody>
      </p:sp>
      <p:sp>
        <p:nvSpPr>
          <p:cNvPr id="703" name="Text Placeholder 25"/>
          <p:cNvSpPr>
            <a:spLocks/>
          </p:cNvSpPr>
          <p:nvPr/>
        </p:nvSpPr>
        <p:spPr bwMode="gray">
          <a:xfrm>
            <a:off x="9034463" y="2263775"/>
            <a:ext cx="209550" cy="152400"/>
          </a:xfrm>
          <a:prstGeom prst="rect">
            <a:avLst/>
          </a:prstGeom>
          <a:noFill/>
          <a:ln>
            <a:noFill/>
          </a:ln>
          <a:effectLst/>
        </p:spPr>
        <p:txBody>
          <a:bodyPr vert="horz" wrap="none" lIns="17463" tIns="0" rIns="17463" bIns="0" rtlCol="0" anchor="b">
            <a:noAutofit/>
          </a:bodyPr>
          <a:p>
            <a:pPr marL="0" lvl="0" indent="0" algn="ctr">
              <a:spcBef>
                <a:spcPct val="0"/>
              </a:spcBef>
              <a:spcAft>
                <a:spcPct val="0"/>
              </a:spcAft>
              <a:buNone/>
            </a:pPr>
            <a:r>
              <a:rPr lang="en-US" altLang="en-US" sz="1000" smtClean="0"/>
              <a:t>1.8</a:t>
            </a:r>
            <a:endParaRPr lang="en-US" sz="1000" dirty="0"/>
          </a:p>
        </p:txBody>
      </p:sp>
      <p:sp>
        <p:nvSpPr>
          <p:cNvPr id="704" name="Text Placeholder 25"/>
          <p:cNvSpPr>
            <a:spLocks/>
          </p:cNvSpPr>
          <p:nvPr/>
        </p:nvSpPr>
        <p:spPr bwMode="gray">
          <a:xfrm>
            <a:off x="10972800" y="2263775"/>
            <a:ext cx="209550" cy="152400"/>
          </a:xfrm>
          <a:prstGeom prst="rect">
            <a:avLst/>
          </a:prstGeom>
          <a:noFill/>
          <a:ln>
            <a:noFill/>
          </a:ln>
          <a:effectLst/>
        </p:spPr>
        <p:txBody>
          <a:bodyPr vert="horz" wrap="none" lIns="17463" tIns="0" rIns="17463" bIns="0" rtlCol="0" anchor="b">
            <a:noAutofit/>
          </a:bodyPr>
          <a:p>
            <a:pPr marL="0" lvl="0" indent="0" algn="ctr">
              <a:spcBef>
                <a:spcPct val="0"/>
              </a:spcBef>
              <a:spcAft>
                <a:spcPct val="0"/>
              </a:spcAft>
              <a:buNone/>
            </a:pPr>
            <a:r>
              <a:rPr lang="en-US" altLang="en-US" sz="1000" smtClean="0"/>
              <a:t>1.5</a:t>
            </a:r>
            <a:endParaRPr lang="en-US" sz="1000" dirty="0"/>
          </a:p>
        </p:txBody>
      </p:sp>
      <p:sp>
        <p:nvSpPr>
          <p:cNvPr id="785" name="Text Placeholder 25"/>
          <p:cNvSpPr>
            <a:spLocks/>
          </p:cNvSpPr>
          <p:nvPr/>
        </p:nvSpPr>
        <p:spPr bwMode="gray">
          <a:xfrm>
            <a:off x="1243013" y="2913063"/>
            <a:ext cx="287338" cy="152400"/>
          </a:xfrm>
          <a:prstGeom prst="rect">
            <a:avLst/>
          </a:prstGeom>
          <a:solidFill>
            <a:schemeClr val="bg1"/>
          </a:solidFill>
          <a:ln>
            <a:noFill/>
          </a:ln>
          <a:effectLst/>
        </p:spPr>
        <p:txBody>
          <a:bodyPr vert="horz" wrap="none" lIns="17463" tIns="0" rIns="17463" bIns="0" rtlCol="0" anchor="ctr">
            <a:noAutofit/>
          </a:bodyPr>
          <a:p>
            <a:pPr marL="0" lvl="0" indent="0" algn="ctr">
              <a:spcBef>
                <a:spcPct val="0"/>
              </a:spcBef>
              <a:spcAft>
                <a:spcPct val="0"/>
              </a:spcAft>
              <a:buNone/>
            </a:pPr>
            <a:r>
              <a:rPr lang="en-US" altLang="en-US" sz="1000" smtClean="0">
                <a:effectLst/>
              </a:rPr>
              <a:t>38%</a:t>
            </a:r>
            <a:endParaRPr lang="en-US" sz="1000" dirty="0"/>
          </a:p>
        </p:txBody>
      </p:sp>
      <p:sp>
        <p:nvSpPr>
          <p:cNvPr id="787" name="Text Placeholder 25"/>
          <p:cNvSpPr>
            <a:spLocks/>
          </p:cNvSpPr>
          <p:nvPr/>
        </p:nvSpPr>
        <p:spPr bwMode="gray">
          <a:xfrm>
            <a:off x="2212975" y="2809875"/>
            <a:ext cx="287338" cy="152400"/>
          </a:xfrm>
          <a:prstGeom prst="rect">
            <a:avLst/>
          </a:prstGeom>
          <a:solidFill>
            <a:schemeClr val="bg1"/>
          </a:solidFill>
          <a:ln>
            <a:noFill/>
          </a:ln>
          <a:effectLst/>
        </p:spPr>
        <p:txBody>
          <a:bodyPr vert="horz" wrap="none" lIns="17463" tIns="0" rIns="17463" bIns="0" rtlCol="0" anchor="ctr">
            <a:noAutofit/>
          </a:bodyPr>
          <a:p>
            <a:pPr marL="0" lvl="0" indent="0" algn="ctr">
              <a:spcBef>
                <a:spcPct val="0"/>
              </a:spcBef>
              <a:spcAft>
                <a:spcPct val="0"/>
              </a:spcAft>
              <a:buNone/>
            </a:pPr>
            <a:r>
              <a:rPr lang="en-US" altLang="en-US" sz="1000" smtClean="0">
                <a:effectLst/>
              </a:rPr>
              <a:t>31%</a:t>
            </a:r>
            <a:endParaRPr lang="en-US" sz="1000" dirty="0"/>
          </a:p>
        </p:txBody>
      </p:sp>
      <p:sp>
        <p:nvSpPr>
          <p:cNvPr id="788" name="Text Placeholder 25"/>
          <p:cNvSpPr>
            <a:spLocks/>
          </p:cNvSpPr>
          <p:nvPr/>
        </p:nvSpPr>
        <p:spPr bwMode="gray">
          <a:xfrm>
            <a:off x="3181350" y="2560638"/>
            <a:ext cx="287338" cy="152400"/>
          </a:xfrm>
          <a:prstGeom prst="rect">
            <a:avLst/>
          </a:prstGeom>
          <a:solidFill>
            <a:schemeClr val="bg1"/>
          </a:solidFill>
          <a:ln>
            <a:noFill/>
          </a:ln>
          <a:effectLst/>
        </p:spPr>
        <p:txBody>
          <a:bodyPr vert="horz" wrap="none" lIns="17463" tIns="0" rIns="17463" bIns="0" rtlCol="0" anchor="ctr">
            <a:noAutofit/>
          </a:bodyPr>
          <a:p>
            <a:pPr marL="0" lvl="0" indent="0" algn="ctr">
              <a:spcBef>
                <a:spcPct val="0"/>
              </a:spcBef>
              <a:spcAft>
                <a:spcPct val="0"/>
              </a:spcAft>
              <a:buNone/>
            </a:pPr>
            <a:r>
              <a:rPr lang="en-US" altLang="en-US" sz="1000" smtClean="0">
                <a:effectLst/>
              </a:rPr>
              <a:t>14%</a:t>
            </a:r>
            <a:endParaRPr lang="en-US" sz="1000" dirty="0"/>
          </a:p>
        </p:txBody>
      </p:sp>
      <p:sp>
        <p:nvSpPr>
          <p:cNvPr id="789" name="Text Placeholder 25"/>
          <p:cNvSpPr>
            <a:spLocks/>
          </p:cNvSpPr>
          <p:nvPr/>
        </p:nvSpPr>
        <p:spPr bwMode="gray">
          <a:xfrm>
            <a:off x="4151313" y="2573338"/>
            <a:ext cx="287338" cy="152400"/>
          </a:xfrm>
          <a:prstGeom prst="rect">
            <a:avLst/>
          </a:prstGeom>
          <a:solidFill>
            <a:schemeClr val="bg1"/>
          </a:solidFill>
          <a:ln>
            <a:noFill/>
          </a:ln>
          <a:effectLst/>
        </p:spPr>
        <p:txBody>
          <a:bodyPr vert="horz" wrap="none" lIns="17463" tIns="0" rIns="17463" bIns="0" rtlCol="0" anchor="ctr">
            <a:noAutofit/>
          </a:bodyPr>
          <a:p>
            <a:pPr marL="0" lvl="0" indent="0" algn="ctr">
              <a:spcBef>
                <a:spcPct val="0"/>
              </a:spcBef>
              <a:spcAft>
                <a:spcPct val="0"/>
              </a:spcAft>
              <a:buNone/>
            </a:pPr>
            <a:r>
              <a:rPr lang="en-US" altLang="en-US" sz="1000" smtClean="0">
                <a:effectLst/>
              </a:rPr>
              <a:t>14%</a:t>
            </a:r>
            <a:endParaRPr lang="en-US" sz="1000" dirty="0"/>
          </a:p>
        </p:txBody>
      </p:sp>
      <p:sp>
        <p:nvSpPr>
          <p:cNvPr id="721" name="Text Placeholder 25"/>
          <p:cNvSpPr>
            <a:spLocks/>
          </p:cNvSpPr>
          <p:nvPr/>
        </p:nvSpPr>
        <p:spPr bwMode="gray">
          <a:xfrm>
            <a:off x="10836275" y="2857500"/>
            <a:ext cx="217488" cy="152400"/>
          </a:xfrm>
          <a:prstGeom prst="rect">
            <a:avLst/>
          </a:prstGeom>
          <a:solidFill>
            <a:schemeClr val="accent4"/>
          </a:solidFill>
          <a:ln>
            <a:noFill/>
          </a:ln>
          <a:effectLst/>
        </p:spPr>
        <p:txBody>
          <a:bodyPr vert="horz" wrap="none" lIns="17463" tIns="0" rIns="17463" bIns="0" rtlCol="0" anchor="ctr">
            <a:noAutofit/>
          </a:bodyPr>
          <a:p>
            <a:pPr marL="0" lvl="0" indent="0" algn="ctr">
              <a:spcBef>
                <a:spcPct val="0"/>
              </a:spcBef>
              <a:spcAft>
                <a:spcPct val="0"/>
              </a:spcAft>
              <a:buNone/>
            </a:pPr>
            <a:r>
              <a:rPr lang="en-US" altLang="en-US" sz="1000" smtClean="0">
                <a:solidFill>
                  <a:schemeClr val="bg1"/>
                </a:solidFill>
                <a:effectLst/>
              </a:rPr>
              <a:t>3%</a:t>
            </a:r>
            <a:endParaRPr lang="en-US" sz="1000" dirty="0">
              <a:solidFill>
                <a:schemeClr val="bg1"/>
              </a:solidFill>
            </a:endParaRPr>
          </a:p>
        </p:txBody>
      </p:sp>
      <p:sp>
        <p:nvSpPr>
          <p:cNvPr id="791" name="Text Placeholder 25"/>
          <p:cNvSpPr>
            <a:spLocks/>
          </p:cNvSpPr>
          <p:nvPr/>
        </p:nvSpPr>
        <p:spPr bwMode="gray">
          <a:xfrm>
            <a:off x="7058025" y="2555875"/>
            <a:ext cx="287338" cy="152400"/>
          </a:xfrm>
          <a:prstGeom prst="rect">
            <a:avLst/>
          </a:prstGeom>
          <a:solidFill>
            <a:schemeClr val="bg1"/>
          </a:solidFill>
          <a:ln>
            <a:noFill/>
          </a:ln>
          <a:effectLst/>
        </p:spPr>
        <p:txBody>
          <a:bodyPr vert="horz" wrap="none" lIns="17463" tIns="0" rIns="17463" bIns="0" rtlCol="0" anchor="ctr">
            <a:noAutofit/>
          </a:bodyPr>
          <a:p>
            <a:pPr marL="0" lvl="0" indent="0" algn="ctr">
              <a:spcBef>
                <a:spcPct val="0"/>
              </a:spcBef>
              <a:spcAft>
                <a:spcPct val="0"/>
              </a:spcAft>
              <a:buNone/>
            </a:pPr>
            <a:r>
              <a:rPr lang="en-US" altLang="en-US" sz="1000" smtClean="0">
                <a:effectLst/>
              </a:rPr>
              <a:t>13%</a:t>
            </a:r>
            <a:endParaRPr lang="en-US" sz="1000" dirty="0"/>
          </a:p>
        </p:txBody>
      </p:sp>
      <p:sp>
        <p:nvSpPr>
          <p:cNvPr id="792" name="Text Placeholder 25"/>
          <p:cNvSpPr>
            <a:spLocks/>
          </p:cNvSpPr>
          <p:nvPr/>
        </p:nvSpPr>
        <p:spPr bwMode="gray">
          <a:xfrm>
            <a:off x="8027988" y="2573338"/>
            <a:ext cx="287338" cy="152400"/>
          </a:xfrm>
          <a:prstGeom prst="rect">
            <a:avLst/>
          </a:prstGeom>
          <a:solidFill>
            <a:schemeClr val="bg1"/>
          </a:solidFill>
          <a:ln>
            <a:noFill/>
          </a:ln>
          <a:effectLst/>
        </p:spPr>
        <p:txBody>
          <a:bodyPr vert="horz" wrap="none" lIns="17463" tIns="0" rIns="17463" bIns="0" rtlCol="0" anchor="ctr">
            <a:noAutofit/>
          </a:bodyPr>
          <a:p>
            <a:pPr marL="0" lvl="0" indent="0" algn="ctr">
              <a:spcBef>
                <a:spcPct val="0"/>
              </a:spcBef>
              <a:spcAft>
                <a:spcPct val="0"/>
              </a:spcAft>
              <a:buNone/>
            </a:pPr>
            <a:r>
              <a:rPr lang="en-US" altLang="en-US" sz="1000" smtClean="0">
                <a:effectLst/>
              </a:rPr>
              <a:t>14%</a:t>
            </a:r>
            <a:endParaRPr lang="en-US" sz="1000" dirty="0"/>
          </a:p>
        </p:txBody>
      </p:sp>
      <p:sp>
        <p:nvSpPr>
          <p:cNvPr id="793" name="Text Placeholder 25"/>
          <p:cNvSpPr>
            <a:spLocks/>
          </p:cNvSpPr>
          <p:nvPr/>
        </p:nvSpPr>
        <p:spPr bwMode="gray">
          <a:xfrm>
            <a:off x="8996363" y="2592388"/>
            <a:ext cx="287338" cy="152400"/>
          </a:xfrm>
          <a:prstGeom prst="rect">
            <a:avLst/>
          </a:prstGeom>
          <a:solidFill>
            <a:schemeClr val="bg1"/>
          </a:solidFill>
          <a:ln>
            <a:noFill/>
          </a:ln>
          <a:effectLst/>
        </p:spPr>
        <p:txBody>
          <a:bodyPr vert="horz" wrap="none" lIns="17463" tIns="0" rIns="17463" bIns="0" rtlCol="0" anchor="ctr">
            <a:noAutofit/>
          </a:bodyPr>
          <a:p>
            <a:pPr marL="0" lvl="0" indent="0" algn="ctr">
              <a:spcBef>
                <a:spcPct val="0"/>
              </a:spcBef>
              <a:spcAft>
                <a:spcPct val="0"/>
              </a:spcAft>
              <a:buNone/>
            </a:pPr>
            <a:r>
              <a:rPr lang="en-US" altLang="en-US" sz="1000" smtClean="0">
                <a:effectLst/>
              </a:rPr>
              <a:t>16%</a:t>
            </a:r>
            <a:endParaRPr lang="en-US" sz="1000" dirty="0"/>
          </a:p>
        </p:txBody>
      </p:sp>
      <p:sp>
        <p:nvSpPr>
          <p:cNvPr id="794" name="Text Placeholder 25"/>
          <p:cNvSpPr>
            <a:spLocks/>
          </p:cNvSpPr>
          <p:nvPr/>
        </p:nvSpPr>
        <p:spPr bwMode="gray">
          <a:xfrm>
            <a:off x="10934700" y="2508250"/>
            <a:ext cx="287338" cy="152400"/>
          </a:xfrm>
          <a:prstGeom prst="rect">
            <a:avLst/>
          </a:prstGeom>
          <a:solidFill>
            <a:schemeClr val="bg1"/>
          </a:solidFill>
          <a:ln>
            <a:noFill/>
          </a:ln>
          <a:effectLst/>
        </p:spPr>
        <p:txBody>
          <a:bodyPr vert="horz" wrap="none" lIns="17463" tIns="0" rIns="17463" bIns="0" rtlCol="0" anchor="ctr">
            <a:noAutofit/>
          </a:bodyPr>
          <a:p>
            <a:pPr marL="0" lvl="0" indent="0" algn="ctr">
              <a:spcBef>
                <a:spcPct val="0"/>
              </a:spcBef>
              <a:spcAft>
                <a:spcPct val="0"/>
              </a:spcAft>
              <a:buNone/>
            </a:pPr>
            <a:r>
              <a:rPr lang="en-US" altLang="en-US" sz="1000" smtClean="0">
                <a:effectLst/>
              </a:rPr>
              <a:t>10%</a:t>
            </a:r>
            <a:endParaRPr lang="en-US" sz="1000" dirty="0"/>
          </a:p>
        </p:txBody>
      </p:sp>
      <p:sp>
        <p:nvSpPr>
          <p:cNvPr id="790" name="Text Placeholder 25"/>
          <p:cNvSpPr>
            <a:spLocks/>
          </p:cNvSpPr>
          <p:nvPr/>
        </p:nvSpPr>
        <p:spPr bwMode="gray">
          <a:xfrm>
            <a:off x="6089650" y="2681288"/>
            <a:ext cx="287338" cy="152400"/>
          </a:xfrm>
          <a:prstGeom prst="rect">
            <a:avLst/>
          </a:prstGeom>
          <a:solidFill>
            <a:schemeClr val="bg1"/>
          </a:solidFill>
          <a:ln>
            <a:noFill/>
          </a:ln>
          <a:effectLst/>
        </p:spPr>
        <p:txBody>
          <a:bodyPr vert="horz" wrap="none" lIns="17463" tIns="0" rIns="17463" bIns="0" rtlCol="0" anchor="ctr">
            <a:noAutofit/>
          </a:bodyPr>
          <a:p>
            <a:pPr marL="0" lvl="0" indent="0" algn="ctr">
              <a:spcBef>
                <a:spcPct val="0"/>
              </a:spcBef>
              <a:spcAft>
                <a:spcPct val="0"/>
              </a:spcAft>
              <a:buNone/>
            </a:pPr>
            <a:r>
              <a:rPr lang="en-US" altLang="en-US" sz="1000" smtClean="0">
                <a:effectLst/>
              </a:rPr>
              <a:t>22%</a:t>
            </a:r>
            <a:endParaRPr lang="en-US" sz="1000" dirty="0"/>
          </a:p>
        </p:txBody>
      </p:sp>
      <p:sp>
        <p:nvSpPr>
          <p:cNvPr id="806" name="Text Placeholder 25"/>
          <p:cNvSpPr>
            <a:spLocks/>
          </p:cNvSpPr>
          <p:nvPr/>
        </p:nvSpPr>
        <p:spPr bwMode="gray">
          <a:xfrm>
            <a:off x="2247900" y="3257550"/>
            <a:ext cx="217488" cy="152400"/>
          </a:xfrm>
          <a:prstGeom prst="rect">
            <a:avLst/>
          </a:prstGeom>
          <a:solidFill>
            <a:schemeClr val="accent6"/>
          </a:solidFill>
          <a:ln>
            <a:noFill/>
          </a:ln>
          <a:effectLst/>
        </p:spPr>
        <p:txBody>
          <a:bodyPr vert="horz" wrap="none" lIns="17463" tIns="0" rIns="17463" bIns="0" rtlCol="0" anchor="ctr">
            <a:noAutofit/>
          </a:bodyPr>
          <a:p>
            <a:pPr marL="0" lvl="0" indent="0" algn="ctr">
              <a:spcBef>
                <a:spcPct val="0"/>
              </a:spcBef>
              <a:spcAft>
                <a:spcPct val="0"/>
              </a:spcAft>
              <a:buNone/>
            </a:pPr>
            <a:r>
              <a:rPr lang="en-US" altLang="en-US" sz="1000" smtClean="0">
                <a:effectLst/>
              </a:rPr>
              <a:t>0%</a:t>
            </a:r>
            <a:endParaRPr lang="en-US" sz="1000" dirty="0"/>
          </a:p>
        </p:txBody>
      </p:sp>
      <p:sp>
        <p:nvSpPr>
          <p:cNvPr id="807" name="Text Placeholder 25"/>
          <p:cNvSpPr>
            <a:spLocks/>
          </p:cNvSpPr>
          <p:nvPr/>
        </p:nvSpPr>
        <p:spPr bwMode="gray">
          <a:xfrm>
            <a:off x="4186238" y="2813050"/>
            <a:ext cx="217488" cy="152400"/>
          </a:xfrm>
          <a:prstGeom prst="rect">
            <a:avLst/>
          </a:prstGeom>
          <a:solidFill>
            <a:schemeClr val="accent1"/>
          </a:solidFill>
          <a:ln>
            <a:noFill/>
          </a:ln>
          <a:effectLst/>
        </p:spPr>
        <p:txBody>
          <a:bodyPr vert="horz" wrap="none" lIns="17463" tIns="0" rIns="17463" bIns="0" rtlCol="0" anchor="ctr">
            <a:noAutofit/>
          </a:bodyPr>
          <a:p>
            <a:pPr marL="0" lvl="0" indent="0" algn="ctr">
              <a:spcBef>
                <a:spcPct val="0"/>
              </a:spcBef>
              <a:spcAft>
                <a:spcPct val="0"/>
              </a:spcAft>
              <a:buNone/>
            </a:pPr>
            <a:r>
              <a:rPr lang="en-US" altLang="en-US" sz="1000" smtClean="0">
                <a:solidFill>
                  <a:schemeClr val="bg1"/>
                </a:solidFill>
                <a:effectLst/>
              </a:rPr>
              <a:t>2%</a:t>
            </a:r>
            <a:endParaRPr lang="en-US" sz="1000" dirty="0">
              <a:solidFill>
                <a:schemeClr val="bg1"/>
              </a:solidFill>
            </a:endParaRPr>
          </a:p>
        </p:txBody>
      </p:sp>
      <p:sp>
        <p:nvSpPr>
          <p:cNvPr id="808" name="Text Placeholder 25"/>
          <p:cNvSpPr>
            <a:spLocks/>
          </p:cNvSpPr>
          <p:nvPr/>
        </p:nvSpPr>
        <p:spPr bwMode="gray">
          <a:xfrm>
            <a:off x="9031288" y="5227638"/>
            <a:ext cx="217488" cy="152400"/>
          </a:xfrm>
          <a:prstGeom prst="rect">
            <a:avLst/>
          </a:prstGeom>
          <a:solidFill>
            <a:schemeClr val="accent1"/>
          </a:solidFill>
          <a:ln>
            <a:noFill/>
          </a:ln>
          <a:effectLst/>
        </p:spPr>
        <p:txBody>
          <a:bodyPr vert="horz" wrap="none" lIns="17463" tIns="0" rIns="17463" bIns="0" rtlCol="0" anchor="ctr">
            <a:noAutofit/>
          </a:bodyPr>
          <a:p>
            <a:pPr marL="0" lvl="0" indent="0" algn="ctr">
              <a:spcBef>
                <a:spcPct val="0"/>
              </a:spcBef>
              <a:spcAft>
                <a:spcPct val="0"/>
              </a:spcAft>
              <a:buNone/>
            </a:pPr>
            <a:r>
              <a:rPr lang="en-US" altLang="en-US" sz="1000" smtClean="0">
                <a:solidFill>
                  <a:schemeClr val="bg1"/>
                </a:solidFill>
                <a:effectLst/>
              </a:rPr>
              <a:t>2%</a:t>
            </a:r>
            <a:endParaRPr lang="en-US" sz="1000" dirty="0">
              <a:solidFill>
                <a:schemeClr val="bg1"/>
              </a:solidFill>
            </a:endParaRPr>
          </a:p>
        </p:txBody>
      </p:sp>
      <p:sp>
        <p:nvSpPr>
          <p:cNvPr id="814" name="Text Placeholder 25"/>
          <p:cNvSpPr>
            <a:spLocks/>
          </p:cNvSpPr>
          <p:nvPr/>
        </p:nvSpPr>
        <p:spPr bwMode="gray">
          <a:xfrm>
            <a:off x="6259513" y="3036888"/>
            <a:ext cx="217488" cy="152400"/>
          </a:xfrm>
          <a:prstGeom prst="rect">
            <a:avLst/>
          </a:prstGeom>
          <a:solidFill>
            <a:schemeClr val="accent1"/>
          </a:solidFill>
          <a:ln>
            <a:noFill/>
          </a:ln>
          <a:effectLst/>
        </p:spPr>
        <p:txBody>
          <a:bodyPr vert="horz" wrap="none" lIns="17463" tIns="0" rIns="17463" bIns="0" rtlCol="0" anchor="ctr">
            <a:noAutofit/>
          </a:bodyPr>
          <a:p>
            <a:pPr marL="0" lvl="0" indent="0" algn="ctr">
              <a:spcBef>
                <a:spcPct val="0"/>
              </a:spcBef>
              <a:spcAft>
                <a:spcPct val="0"/>
              </a:spcAft>
              <a:buNone/>
            </a:pPr>
            <a:r>
              <a:rPr lang="en-US" altLang="en-US" sz="1000" smtClean="0">
                <a:solidFill>
                  <a:schemeClr val="bg1"/>
                </a:solidFill>
                <a:effectLst/>
              </a:rPr>
              <a:t>3%</a:t>
            </a:r>
            <a:endParaRPr lang="en-US" sz="1000" dirty="0">
              <a:solidFill>
                <a:schemeClr val="bg1"/>
              </a:solidFill>
            </a:endParaRPr>
          </a:p>
        </p:txBody>
      </p:sp>
      <p:sp>
        <p:nvSpPr>
          <p:cNvPr id="815" name="Text Placeholder 25"/>
          <p:cNvSpPr>
            <a:spLocks/>
          </p:cNvSpPr>
          <p:nvPr/>
        </p:nvSpPr>
        <p:spPr bwMode="gray">
          <a:xfrm>
            <a:off x="6959600" y="3094038"/>
            <a:ext cx="217488" cy="152400"/>
          </a:xfrm>
          <a:prstGeom prst="rect">
            <a:avLst/>
          </a:prstGeom>
          <a:solidFill>
            <a:schemeClr val="accent4"/>
          </a:solidFill>
          <a:ln>
            <a:noFill/>
          </a:ln>
          <a:effectLst/>
        </p:spPr>
        <p:txBody>
          <a:bodyPr vert="horz" wrap="none" lIns="17463" tIns="0" rIns="17463" bIns="0" rtlCol="0" anchor="ctr">
            <a:noAutofit/>
          </a:bodyPr>
          <a:p>
            <a:pPr marL="0" lvl="0" indent="0" algn="ctr">
              <a:spcBef>
                <a:spcPct val="0"/>
              </a:spcBef>
              <a:spcAft>
                <a:spcPct val="0"/>
              </a:spcAft>
              <a:buNone/>
            </a:pPr>
            <a:r>
              <a:rPr lang="en-US" altLang="en-US" sz="1000" smtClean="0">
                <a:solidFill>
                  <a:schemeClr val="bg1"/>
                </a:solidFill>
                <a:effectLst/>
              </a:rPr>
              <a:t>1%</a:t>
            </a:r>
            <a:endParaRPr lang="en-US" sz="1000" dirty="0">
              <a:solidFill>
                <a:schemeClr val="bg1"/>
              </a:solidFill>
            </a:endParaRPr>
          </a:p>
        </p:txBody>
      </p:sp>
      <p:sp>
        <p:nvSpPr>
          <p:cNvPr id="816" name="Text Placeholder 25"/>
          <p:cNvSpPr>
            <a:spLocks/>
          </p:cNvSpPr>
          <p:nvPr/>
        </p:nvSpPr>
        <p:spPr bwMode="gray">
          <a:xfrm>
            <a:off x="7227888" y="3059113"/>
            <a:ext cx="217488" cy="152400"/>
          </a:xfrm>
          <a:prstGeom prst="rect">
            <a:avLst/>
          </a:prstGeom>
          <a:solidFill>
            <a:schemeClr val="accent5"/>
          </a:solidFill>
          <a:ln>
            <a:noFill/>
          </a:ln>
          <a:effectLst/>
        </p:spPr>
        <p:txBody>
          <a:bodyPr vert="horz" wrap="none" lIns="17463" tIns="0" rIns="17463" bIns="0" rtlCol="0" anchor="ctr">
            <a:noAutofit/>
          </a:bodyPr>
          <a:p>
            <a:pPr marL="0" lvl="0" indent="0" algn="ctr">
              <a:spcBef>
                <a:spcPct val="0"/>
              </a:spcBef>
              <a:spcAft>
                <a:spcPct val="0"/>
              </a:spcAft>
              <a:buNone/>
            </a:pPr>
            <a:r>
              <a:rPr lang="en-US" altLang="en-US" sz="1000" smtClean="0">
                <a:effectLst/>
              </a:rPr>
              <a:t>2%</a:t>
            </a:r>
            <a:endParaRPr lang="en-US" sz="1000" dirty="0"/>
          </a:p>
        </p:txBody>
      </p:sp>
      <p:sp>
        <p:nvSpPr>
          <p:cNvPr id="817" name="Text Placeholder 25"/>
          <p:cNvSpPr>
            <a:spLocks/>
          </p:cNvSpPr>
          <p:nvPr/>
        </p:nvSpPr>
        <p:spPr bwMode="gray">
          <a:xfrm>
            <a:off x="7092950" y="2784475"/>
            <a:ext cx="217488" cy="152400"/>
          </a:xfrm>
          <a:prstGeom prst="rect">
            <a:avLst/>
          </a:prstGeom>
          <a:solidFill>
            <a:schemeClr val="accent1"/>
          </a:solidFill>
          <a:ln>
            <a:noFill/>
          </a:ln>
          <a:effectLst/>
        </p:spPr>
        <p:txBody>
          <a:bodyPr vert="horz" wrap="none" lIns="17463" tIns="0" rIns="17463" bIns="0" rtlCol="0" anchor="ctr">
            <a:noAutofit/>
          </a:bodyPr>
          <a:p>
            <a:pPr marL="0" lvl="0" indent="0" algn="ctr">
              <a:spcBef>
                <a:spcPct val="0"/>
              </a:spcBef>
              <a:spcAft>
                <a:spcPct val="0"/>
              </a:spcAft>
              <a:buNone/>
            </a:pPr>
            <a:r>
              <a:rPr lang="en-US" altLang="en-US" sz="1000" smtClean="0">
                <a:solidFill>
                  <a:schemeClr val="bg1"/>
                </a:solidFill>
                <a:effectLst/>
              </a:rPr>
              <a:t>3%</a:t>
            </a:r>
            <a:endParaRPr lang="en-US" sz="1000" dirty="0">
              <a:solidFill>
                <a:schemeClr val="bg1"/>
              </a:solidFill>
            </a:endParaRPr>
          </a:p>
        </p:txBody>
      </p:sp>
      <p:sp>
        <p:nvSpPr>
          <p:cNvPr id="674" name="Text Placeholder 25"/>
          <p:cNvSpPr>
            <a:spLocks/>
          </p:cNvSpPr>
          <p:nvPr/>
        </p:nvSpPr>
        <p:spPr bwMode="auto">
          <a:xfrm>
            <a:off x="1158875" y="5422900"/>
            <a:ext cx="454025" cy="152400"/>
          </a:xfrm>
          <a:prstGeom prst="rect">
            <a:avLst/>
          </a:prstGeom>
          <a:noFill/>
          <a:ln>
            <a:noFill/>
          </a:ln>
          <a:effectLst/>
        </p:spPr>
        <p:txBody>
          <a:bodyPr vert="horz" wrap="none" lIns="0" tIns="0" rIns="0" bIns="0" rtlCol="0">
            <a:noAutofit/>
          </a:bodyPr>
          <a:p>
            <a:pPr marL="0" lvl="0" indent="0" algn="ctr">
              <a:spcBef>
                <a:spcPct val="0"/>
              </a:spcBef>
              <a:spcAft>
                <a:spcPct val="0"/>
              </a:spcAft>
              <a:buNone/>
            </a:pPr>
            <a:r>
              <a:rPr lang="en-US" altLang="en-US" sz="1000" smtClean="0"/>
              <a:t>FY2022</a:t>
            </a:r>
            <a:endParaRPr lang="en-US" sz="1000" dirty="0"/>
          </a:p>
        </p:txBody>
      </p:sp>
      <p:sp>
        <p:nvSpPr>
          <p:cNvPr id="819" name="Text Placeholder 25"/>
          <p:cNvSpPr>
            <a:spLocks/>
          </p:cNvSpPr>
          <p:nvPr/>
        </p:nvSpPr>
        <p:spPr bwMode="gray">
          <a:xfrm>
            <a:off x="8062913" y="2819400"/>
            <a:ext cx="217488" cy="152400"/>
          </a:xfrm>
          <a:prstGeom prst="rect">
            <a:avLst/>
          </a:prstGeom>
          <a:solidFill>
            <a:schemeClr val="accent1"/>
          </a:solidFill>
          <a:ln>
            <a:noFill/>
          </a:ln>
          <a:effectLst/>
        </p:spPr>
        <p:txBody>
          <a:bodyPr vert="horz" wrap="none" lIns="17463" tIns="0" rIns="17463" bIns="0" rtlCol="0" anchor="ctr">
            <a:noAutofit/>
          </a:bodyPr>
          <a:p>
            <a:pPr marL="0" lvl="0" indent="0" algn="ctr">
              <a:spcBef>
                <a:spcPct val="0"/>
              </a:spcBef>
              <a:spcAft>
                <a:spcPct val="0"/>
              </a:spcAft>
              <a:buNone/>
            </a:pPr>
            <a:r>
              <a:rPr lang="en-US" altLang="en-US" sz="1000" smtClean="0">
                <a:solidFill>
                  <a:schemeClr val="bg1"/>
                </a:solidFill>
                <a:effectLst/>
              </a:rPr>
              <a:t>3%</a:t>
            </a:r>
            <a:endParaRPr lang="en-US" sz="1000" dirty="0">
              <a:solidFill>
                <a:schemeClr val="bg1"/>
              </a:solidFill>
            </a:endParaRPr>
          </a:p>
        </p:txBody>
      </p:sp>
      <p:sp>
        <p:nvSpPr>
          <p:cNvPr id="820" name="Text Placeholder 25"/>
          <p:cNvSpPr>
            <a:spLocks/>
          </p:cNvSpPr>
          <p:nvPr/>
        </p:nvSpPr>
        <p:spPr bwMode="gray">
          <a:xfrm>
            <a:off x="9166225" y="3381375"/>
            <a:ext cx="217488" cy="152400"/>
          </a:xfrm>
          <a:prstGeom prst="rect">
            <a:avLst/>
          </a:prstGeom>
          <a:solidFill>
            <a:schemeClr val="accent5"/>
          </a:solidFill>
          <a:ln>
            <a:noFill/>
          </a:ln>
          <a:effectLst/>
        </p:spPr>
        <p:txBody>
          <a:bodyPr vert="horz" wrap="none" lIns="17463" tIns="0" rIns="17463" bIns="0" rtlCol="0" anchor="ctr">
            <a:noAutofit/>
          </a:bodyPr>
          <a:p>
            <a:pPr marL="0" lvl="0" indent="0" algn="ctr">
              <a:spcBef>
                <a:spcPct val="0"/>
              </a:spcBef>
              <a:spcAft>
                <a:spcPct val="0"/>
              </a:spcAft>
              <a:buNone/>
            </a:pPr>
            <a:r>
              <a:rPr lang="en-US" altLang="en-US" sz="1000" smtClean="0">
                <a:effectLst/>
              </a:rPr>
              <a:t>1%</a:t>
            </a:r>
            <a:endParaRPr lang="en-US" sz="1000" dirty="0"/>
          </a:p>
        </p:txBody>
      </p:sp>
      <p:sp>
        <p:nvSpPr>
          <p:cNvPr id="821" name="Text Placeholder 25"/>
          <p:cNvSpPr>
            <a:spLocks/>
          </p:cNvSpPr>
          <p:nvPr/>
        </p:nvSpPr>
        <p:spPr bwMode="gray">
          <a:xfrm>
            <a:off x="11104563" y="2752725"/>
            <a:ext cx="217488" cy="152400"/>
          </a:xfrm>
          <a:prstGeom prst="rect">
            <a:avLst/>
          </a:prstGeom>
          <a:solidFill>
            <a:schemeClr val="accent6"/>
          </a:solidFill>
          <a:ln>
            <a:noFill/>
          </a:ln>
          <a:effectLst/>
        </p:spPr>
        <p:txBody>
          <a:bodyPr vert="horz" wrap="none" lIns="17463" tIns="0" rIns="17463" bIns="0" rtlCol="0" anchor="ctr">
            <a:noAutofit/>
          </a:bodyPr>
          <a:p>
            <a:pPr marL="0" lvl="0" indent="0" algn="ctr">
              <a:spcBef>
                <a:spcPct val="0"/>
              </a:spcBef>
              <a:spcAft>
                <a:spcPct val="0"/>
              </a:spcAft>
              <a:buNone/>
            </a:pPr>
            <a:r>
              <a:rPr lang="en-US" altLang="en-US" sz="1000" smtClean="0">
                <a:effectLst/>
              </a:rPr>
              <a:t>2%</a:t>
            </a:r>
            <a:endParaRPr lang="en-US" sz="1000" dirty="0"/>
          </a:p>
        </p:txBody>
      </p:sp>
      <p:sp>
        <p:nvSpPr>
          <p:cNvPr id="825" name="Text Placeholder 25"/>
          <p:cNvSpPr>
            <a:spLocks/>
          </p:cNvSpPr>
          <p:nvPr/>
        </p:nvSpPr>
        <p:spPr bwMode="gray">
          <a:xfrm>
            <a:off x="1277938" y="3468688"/>
            <a:ext cx="217488" cy="152400"/>
          </a:xfrm>
          <a:prstGeom prst="rect">
            <a:avLst/>
          </a:prstGeom>
          <a:solidFill>
            <a:schemeClr val="accent6"/>
          </a:solidFill>
          <a:ln>
            <a:noFill/>
          </a:ln>
          <a:effectLst/>
        </p:spPr>
        <p:txBody>
          <a:bodyPr vert="horz" wrap="none" lIns="17463" tIns="0" rIns="17463" bIns="0" rtlCol="0" anchor="ctr">
            <a:noAutofit/>
          </a:bodyPr>
          <a:p>
            <a:pPr marL="0" lvl="0" indent="0" algn="ctr">
              <a:spcBef>
                <a:spcPct val="0"/>
              </a:spcBef>
              <a:spcAft>
                <a:spcPct val="0"/>
              </a:spcAft>
              <a:buNone/>
            </a:pPr>
            <a:r>
              <a:rPr lang="en-US" altLang="en-US" sz="1000" smtClean="0">
                <a:effectLst/>
              </a:rPr>
              <a:t>1%</a:t>
            </a:r>
            <a:endParaRPr lang="en-US" sz="1000" dirty="0"/>
          </a:p>
        </p:txBody>
      </p:sp>
      <p:sp>
        <p:nvSpPr>
          <p:cNvPr id="818" name="Text Placeholder 25"/>
          <p:cNvSpPr>
            <a:spLocks/>
          </p:cNvSpPr>
          <p:nvPr/>
        </p:nvSpPr>
        <p:spPr bwMode="gray">
          <a:xfrm>
            <a:off x="8197850" y="3063875"/>
            <a:ext cx="217488" cy="152400"/>
          </a:xfrm>
          <a:prstGeom prst="rect">
            <a:avLst/>
          </a:prstGeom>
          <a:solidFill>
            <a:schemeClr val="accent5"/>
          </a:solidFill>
          <a:ln>
            <a:noFill/>
          </a:ln>
          <a:effectLst/>
        </p:spPr>
        <p:txBody>
          <a:bodyPr vert="horz" wrap="none" lIns="17463" tIns="0" rIns="17463" bIns="0" rtlCol="0" anchor="ctr">
            <a:noAutofit/>
          </a:bodyPr>
          <a:p>
            <a:pPr marL="0" lvl="0" indent="0" algn="ctr">
              <a:spcBef>
                <a:spcPct val="0"/>
              </a:spcBef>
              <a:spcAft>
                <a:spcPct val="0"/>
              </a:spcAft>
              <a:buNone/>
            </a:pPr>
            <a:r>
              <a:rPr lang="en-US" altLang="en-US" sz="1000" smtClean="0">
                <a:effectLst/>
              </a:rPr>
              <a:t>0%</a:t>
            </a:r>
            <a:endParaRPr lang="en-US" sz="1000" dirty="0"/>
          </a:p>
        </p:txBody>
      </p:sp>
      <p:sp>
        <p:nvSpPr>
          <p:cNvPr id="827" name="Text Placeholder 25"/>
          <p:cNvSpPr>
            <a:spLocks/>
          </p:cNvSpPr>
          <p:nvPr/>
        </p:nvSpPr>
        <p:spPr bwMode="gray">
          <a:xfrm>
            <a:off x="6259513" y="3201988"/>
            <a:ext cx="217488" cy="152400"/>
          </a:xfrm>
          <a:prstGeom prst="rect">
            <a:avLst/>
          </a:prstGeom>
          <a:solidFill>
            <a:schemeClr val="accent5"/>
          </a:solidFill>
          <a:ln>
            <a:noFill/>
          </a:ln>
          <a:effectLst/>
        </p:spPr>
        <p:txBody>
          <a:bodyPr vert="horz" wrap="none" lIns="17463" tIns="0" rIns="17463" bIns="0" rtlCol="0" anchor="ctr">
            <a:noAutofit/>
          </a:bodyPr>
          <a:p>
            <a:pPr marL="0" lvl="0" indent="0" algn="ctr">
              <a:spcBef>
                <a:spcPct val="0"/>
              </a:spcBef>
              <a:spcAft>
                <a:spcPct val="0"/>
              </a:spcAft>
              <a:buNone/>
            </a:pPr>
            <a:r>
              <a:rPr lang="en-US" altLang="en-US" sz="1000" smtClean="0">
                <a:effectLst/>
              </a:rPr>
              <a:t>0%</a:t>
            </a:r>
            <a:endParaRPr lang="en-US" sz="1000" dirty="0"/>
          </a:p>
        </p:txBody>
      </p:sp>
      <p:sp>
        <p:nvSpPr>
          <p:cNvPr id="828" name="Text Placeholder 25"/>
          <p:cNvSpPr>
            <a:spLocks/>
          </p:cNvSpPr>
          <p:nvPr/>
        </p:nvSpPr>
        <p:spPr bwMode="gray">
          <a:xfrm>
            <a:off x="10836275" y="2689225"/>
            <a:ext cx="217488" cy="152400"/>
          </a:xfrm>
          <a:prstGeom prst="rect">
            <a:avLst/>
          </a:prstGeom>
          <a:solidFill>
            <a:schemeClr val="accent1"/>
          </a:solidFill>
          <a:ln>
            <a:noFill/>
          </a:ln>
          <a:effectLst/>
        </p:spPr>
        <p:txBody>
          <a:bodyPr vert="horz" wrap="none" lIns="17463" tIns="0" rIns="17463" bIns="0" rtlCol="0" anchor="ctr">
            <a:noAutofit/>
          </a:bodyPr>
          <a:p>
            <a:pPr marL="0" lvl="0" indent="0" algn="ctr">
              <a:spcBef>
                <a:spcPct val="0"/>
              </a:spcBef>
              <a:spcAft>
                <a:spcPct val="0"/>
              </a:spcAft>
              <a:buNone/>
            </a:pPr>
            <a:r>
              <a:rPr lang="en-US" altLang="en-US" sz="1000" smtClean="0">
                <a:solidFill>
                  <a:schemeClr val="bg1"/>
                </a:solidFill>
                <a:effectLst/>
              </a:rPr>
              <a:t>3%</a:t>
            </a:r>
            <a:endParaRPr lang="en-US" sz="1000" dirty="0">
              <a:solidFill>
                <a:schemeClr val="bg1"/>
              </a:solidFill>
            </a:endParaRPr>
          </a:p>
        </p:txBody>
      </p:sp>
      <p:sp>
        <p:nvSpPr>
          <p:cNvPr id="838" name="Text Placeholder 25"/>
          <p:cNvSpPr>
            <a:spLocks/>
          </p:cNvSpPr>
          <p:nvPr/>
        </p:nvSpPr>
        <p:spPr bwMode="gray">
          <a:xfrm>
            <a:off x="1277938" y="4730750"/>
            <a:ext cx="217488" cy="152400"/>
          </a:xfrm>
          <a:prstGeom prst="rect">
            <a:avLst/>
          </a:prstGeom>
          <a:solidFill>
            <a:schemeClr val="accent3"/>
          </a:solidFill>
          <a:ln>
            <a:noFill/>
          </a:ln>
          <a:effectLst/>
        </p:spPr>
        <p:txBody>
          <a:bodyPr vert="horz" wrap="none" lIns="17463" tIns="0" rIns="17463" bIns="0" rtlCol="0" anchor="ctr">
            <a:noAutofit/>
          </a:bodyPr>
          <a:p>
            <a:pPr marL="0" lvl="0" indent="0" algn="ctr">
              <a:spcBef>
                <a:spcPct val="0"/>
              </a:spcBef>
              <a:spcAft>
                <a:spcPct val="0"/>
              </a:spcAft>
              <a:buNone/>
            </a:pPr>
            <a:r>
              <a:rPr lang="en-US" altLang="en-US" sz="1000" smtClean="0">
                <a:solidFill>
                  <a:schemeClr val="bg1"/>
                </a:solidFill>
                <a:effectLst/>
              </a:rPr>
              <a:t>4%</a:t>
            </a:r>
            <a:endParaRPr lang="en-US" sz="1000" dirty="0">
              <a:solidFill>
                <a:schemeClr val="bg1"/>
              </a:solidFill>
            </a:endParaRPr>
          </a:p>
        </p:txBody>
      </p:sp>
      <p:sp>
        <p:nvSpPr>
          <p:cNvPr id="839" name="Text Placeholder 25"/>
          <p:cNvSpPr>
            <a:spLocks/>
          </p:cNvSpPr>
          <p:nvPr/>
        </p:nvSpPr>
        <p:spPr bwMode="gray">
          <a:xfrm>
            <a:off x="2247900" y="4867275"/>
            <a:ext cx="217488" cy="152400"/>
          </a:xfrm>
          <a:prstGeom prst="rect">
            <a:avLst/>
          </a:prstGeom>
          <a:solidFill>
            <a:schemeClr val="accent3"/>
          </a:solidFill>
          <a:ln>
            <a:noFill/>
          </a:ln>
          <a:effectLst/>
        </p:spPr>
        <p:txBody>
          <a:bodyPr vert="horz" wrap="none" lIns="17463" tIns="0" rIns="17463" bIns="0" rtlCol="0" anchor="ctr">
            <a:noAutofit/>
          </a:bodyPr>
          <a:p>
            <a:pPr marL="0" lvl="0" indent="0" algn="ctr">
              <a:spcBef>
                <a:spcPct val="0"/>
              </a:spcBef>
              <a:spcAft>
                <a:spcPct val="0"/>
              </a:spcAft>
              <a:buNone/>
            </a:pPr>
            <a:r>
              <a:rPr lang="en-US" altLang="en-US" sz="1000" smtClean="0">
                <a:solidFill>
                  <a:schemeClr val="bg1"/>
                </a:solidFill>
                <a:effectLst/>
              </a:rPr>
              <a:t>4%</a:t>
            </a:r>
            <a:endParaRPr lang="en-US" sz="1000" dirty="0">
              <a:solidFill>
                <a:schemeClr val="bg1"/>
              </a:solidFill>
            </a:endParaRPr>
          </a:p>
        </p:txBody>
      </p:sp>
      <p:sp>
        <p:nvSpPr>
          <p:cNvPr id="826" name="Text Placeholder 25"/>
          <p:cNvSpPr>
            <a:spLocks/>
          </p:cNvSpPr>
          <p:nvPr/>
        </p:nvSpPr>
        <p:spPr bwMode="gray">
          <a:xfrm>
            <a:off x="3082925" y="2924175"/>
            <a:ext cx="217488" cy="152400"/>
          </a:xfrm>
          <a:prstGeom prst="rect">
            <a:avLst/>
          </a:prstGeom>
          <a:solidFill>
            <a:schemeClr val="accent6"/>
          </a:solidFill>
          <a:ln>
            <a:noFill/>
          </a:ln>
          <a:effectLst/>
        </p:spPr>
        <p:txBody>
          <a:bodyPr vert="horz" wrap="none" lIns="17463" tIns="0" rIns="17463" bIns="0" rtlCol="0" anchor="ctr">
            <a:noAutofit/>
          </a:bodyPr>
          <a:p>
            <a:pPr marL="0" lvl="0" indent="0" algn="ctr">
              <a:spcBef>
                <a:spcPct val="0"/>
              </a:spcBef>
              <a:spcAft>
                <a:spcPct val="0"/>
              </a:spcAft>
              <a:buNone/>
            </a:pPr>
            <a:r>
              <a:rPr lang="en-US" altLang="en-US" sz="1000" smtClean="0">
                <a:effectLst/>
              </a:rPr>
              <a:t>0%</a:t>
            </a:r>
            <a:endParaRPr lang="en-US" sz="1000" dirty="0"/>
          </a:p>
        </p:txBody>
      </p:sp>
      <p:sp>
        <p:nvSpPr>
          <p:cNvPr id="742" name="Rectangle 441"/>
          <p:cNvSpPr/>
          <p:nvPr/>
        </p:nvSpPr>
        <p:spPr bwMode="auto">
          <a:xfrm>
            <a:off x="6550025" y="1500188"/>
            <a:ext cx="179388" cy="133350"/>
          </a:xfrm>
          <a:prstGeom prst="rect">
            <a:avLst/>
          </a:prstGeom>
          <a:solidFill>
            <a:schemeClr val="accent1"/>
          </a:solidFill>
          <a:ln w="19050" cap="flat" cmpd="sng" algn="ctr">
            <a:noFill/>
            <a:prstDash val="solid"/>
            <a:miter lim="800000"/>
            <a:headEnd type="none" w="med" len="med"/>
            <a:tailEnd type="none" w="med" len="me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3" name="Rectangle 442"/>
          <p:cNvSpPr/>
          <p:nvPr/>
        </p:nvSpPr>
        <p:spPr bwMode="auto">
          <a:xfrm>
            <a:off x="6550025" y="1703388"/>
            <a:ext cx="179388" cy="133350"/>
          </a:xfrm>
          <a:prstGeom prst="rect">
            <a:avLst/>
          </a:prstGeom>
          <a:solidFill>
            <a:schemeClr val="accent2"/>
          </a:solidFill>
          <a:ln w="19050" cap="flat" cmpd="sng" algn="ctr">
            <a:noFill/>
            <a:prstDash val="solid"/>
            <a:miter lim="800000"/>
            <a:headEnd type="none" w="med" len="med"/>
            <a:tailEnd type="none" w="med" len="me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4" name="Rectangle 443"/>
          <p:cNvSpPr/>
          <p:nvPr/>
        </p:nvSpPr>
        <p:spPr bwMode="auto">
          <a:xfrm>
            <a:off x="6550025" y="1906588"/>
            <a:ext cx="179388" cy="133350"/>
          </a:xfrm>
          <a:prstGeom prst="rect">
            <a:avLst/>
          </a:prstGeom>
          <a:solidFill>
            <a:schemeClr val="accent3"/>
          </a:solidFill>
          <a:ln w="19050" cap="flat" cmpd="sng" algn="ctr">
            <a:noFill/>
            <a:prstDash val="solid"/>
            <a:miter lim="800000"/>
            <a:headEnd type="none" w="med" len="med"/>
            <a:tailEnd type="none" w="med" len="me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5" name="Rectangle 444"/>
          <p:cNvSpPr/>
          <p:nvPr/>
        </p:nvSpPr>
        <p:spPr bwMode="auto">
          <a:xfrm>
            <a:off x="8818563" y="1500188"/>
            <a:ext cx="179388" cy="133350"/>
          </a:xfrm>
          <a:prstGeom prst="rect">
            <a:avLst/>
          </a:prstGeom>
          <a:solidFill>
            <a:schemeClr val="accent4"/>
          </a:solidFill>
          <a:ln w="19050" cap="flat" cmpd="sng" algn="ctr">
            <a:noFill/>
            <a:prstDash val="solid"/>
            <a:miter lim="800000"/>
            <a:headEnd type="none" w="med" len="med"/>
            <a:tailEnd type="none" w="med" len="me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6" name="Rectangle 445"/>
          <p:cNvSpPr/>
          <p:nvPr/>
        </p:nvSpPr>
        <p:spPr bwMode="auto">
          <a:xfrm>
            <a:off x="8818563" y="1906588"/>
            <a:ext cx="179388" cy="133350"/>
          </a:xfrm>
          <a:prstGeom prst="rect">
            <a:avLst/>
          </a:prstGeom>
          <a:solidFill>
            <a:schemeClr val="accent6"/>
          </a:solidFill>
          <a:ln w="19050" cap="flat" cmpd="sng" algn="ctr">
            <a:noFill/>
            <a:prstDash val="solid"/>
            <a:miter lim="800000"/>
            <a:headEnd type="none" w="med" len="med"/>
            <a:tailEnd type="none" w="med" len="me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7" name="Rectangle 446"/>
          <p:cNvSpPr/>
          <p:nvPr/>
        </p:nvSpPr>
        <p:spPr bwMode="auto">
          <a:xfrm>
            <a:off x="10461625" y="1500188"/>
            <a:ext cx="179388" cy="133350"/>
          </a:xfrm>
          <a:prstGeom prst="rect">
            <a:avLst/>
          </a:prstGeom>
          <a:solidFill>
            <a:schemeClr val="accent1"/>
          </a:solidFill>
          <a:ln w="19050" cap="flat" cmpd="sng" algn="ctr">
            <a:noFill/>
            <a:prstDash val="solid"/>
            <a:miter lim="800000"/>
            <a:headEnd type="none" w="med" len="med"/>
            <a:tailEnd type="none" w="med" len="me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9" name="Rectangle 448"/>
          <p:cNvSpPr/>
          <p:nvPr/>
        </p:nvSpPr>
        <p:spPr bwMode="auto">
          <a:xfrm>
            <a:off x="10461625" y="1703388"/>
            <a:ext cx="179388" cy="133350"/>
          </a:xfrm>
          <a:prstGeom prst="rect">
            <a:avLst/>
          </a:prstGeom>
          <a:pattFill prst="ltUpDiag">
            <a:fgClr>
              <a:schemeClr val="tx1"/>
            </a:fgClr>
            <a:bgClr>
              <a:schemeClr val="bg1"/>
            </a:bgClr>
          </a:pattFill>
          <a:ln w="19050" cap="flat" cmpd="sng" algn="ctr">
            <a:noFill/>
            <a:prstDash val="solid"/>
            <a:miter lim="800000"/>
            <a:headEnd type="none" w="med" len="med"/>
            <a:tailEnd type="none" w="med" len="me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4" name="Rectangle 503"/>
          <p:cNvSpPr/>
          <p:nvPr/>
        </p:nvSpPr>
        <p:spPr bwMode="auto">
          <a:xfrm>
            <a:off x="8818563" y="1703388"/>
            <a:ext cx="179388" cy="133350"/>
          </a:xfrm>
          <a:prstGeom prst="rect">
            <a:avLst/>
          </a:prstGeom>
          <a:solidFill>
            <a:schemeClr val="accent5"/>
          </a:solidFill>
          <a:ln w="19050" cap="flat" cmpd="sng" algn="ctr">
            <a:noFill/>
            <a:prstDash val="solid"/>
            <a:miter lim="800000"/>
            <a:headEnd type="none" w="med" len="med"/>
            <a:tailEnd type="none" w="med" len="me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6" name="Text Placeholder 25"/>
          <p:cNvSpPr>
            <a:spLocks/>
          </p:cNvSpPr>
          <p:nvPr/>
        </p:nvSpPr>
        <p:spPr bwMode="auto">
          <a:xfrm>
            <a:off x="10691813" y="1495425"/>
            <a:ext cx="1220788" cy="152400"/>
          </a:xfrm>
          <a:prstGeom prst="rect">
            <a:avLst/>
          </a:prstGeom>
          <a:noFill/>
          <a:ln>
            <a:noFill/>
          </a:ln>
          <a:effectLst/>
        </p:spPr>
        <p:txBody>
          <a:bodyPr vert="horz" wrap="none" lIns="0" tIns="0" rIns="0" bIns="0" rtlCol="0" anchor="ctr">
            <a:noAutofit/>
          </a:bodyPr>
          <a:p>
            <a:pPr marL="0" lvl="0" indent="0">
              <a:spcBef>
                <a:spcPct val="0"/>
              </a:spcBef>
              <a:spcAft>
                <a:spcPct val="0"/>
              </a:spcAft>
              <a:buNone/>
            </a:pPr>
            <a:r>
              <a:rPr lang="en-US" altLang="en-US" sz="1000" smtClean="0"/>
              <a:t>Castings and forgings</a:t>
            </a:r>
            <a:endParaRPr lang="en-US" sz="1000" dirty="0"/>
          </a:p>
        </p:txBody>
      </p:sp>
      <p:sp>
        <p:nvSpPr>
          <p:cNvPr id="678" name="Text Placeholder 25"/>
          <p:cNvSpPr>
            <a:spLocks/>
          </p:cNvSpPr>
          <p:nvPr/>
        </p:nvSpPr>
        <p:spPr bwMode="auto">
          <a:xfrm>
            <a:off x="6780213" y="1495425"/>
            <a:ext cx="1138238" cy="152400"/>
          </a:xfrm>
          <a:prstGeom prst="rect">
            <a:avLst/>
          </a:prstGeom>
          <a:noFill/>
          <a:ln>
            <a:noFill/>
          </a:ln>
          <a:effectLst/>
        </p:spPr>
        <p:txBody>
          <a:bodyPr vert="horz" wrap="none" lIns="0" tIns="0" rIns="0" bIns="0" rtlCol="0" anchor="ctr">
            <a:noAutofit/>
          </a:bodyPr>
          <a:p>
            <a:pPr marL="0" lvl="0" indent="0">
              <a:spcBef>
                <a:spcPct val="0"/>
              </a:spcBef>
              <a:spcAft>
                <a:spcPct val="0"/>
              </a:spcAft>
              <a:buNone/>
            </a:pPr>
            <a:r>
              <a:rPr lang="en-US" altLang="en-US" sz="1000" smtClean="0"/>
              <a:t>Electrical and power</a:t>
            </a:r>
            <a:endParaRPr lang="en-US" sz="1000" dirty="0"/>
          </a:p>
        </p:txBody>
      </p:sp>
      <p:sp>
        <p:nvSpPr>
          <p:cNvPr id="679" name="Text Placeholder 25"/>
          <p:cNvSpPr>
            <a:spLocks/>
          </p:cNvSpPr>
          <p:nvPr/>
        </p:nvSpPr>
        <p:spPr bwMode="auto">
          <a:xfrm>
            <a:off x="6780213" y="1698625"/>
            <a:ext cx="1473200" cy="152400"/>
          </a:xfrm>
          <a:prstGeom prst="rect">
            <a:avLst/>
          </a:prstGeom>
          <a:noFill/>
          <a:ln>
            <a:noFill/>
          </a:ln>
          <a:effectLst/>
        </p:spPr>
        <p:txBody>
          <a:bodyPr vert="horz" wrap="none" lIns="0" tIns="0" rIns="0" bIns="0" rtlCol="0" anchor="ctr">
            <a:noAutofit/>
          </a:bodyPr>
          <a:p>
            <a:pPr marL="0" lvl="0" indent="0">
              <a:spcBef>
                <a:spcPct val="0"/>
              </a:spcBef>
              <a:spcAft>
                <a:spcPct val="0"/>
              </a:spcAft>
              <a:buNone/>
            </a:pPr>
            <a:r>
              <a:rPr lang="en-US" altLang="en-US" sz="1000" smtClean="0"/>
              <a:t>Piping, valves, and pumps</a:t>
            </a:r>
            <a:endParaRPr lang="en-US" sz="1000" dirty="0"/>
          </a:p>
        </p:txBody>
      </p:sp>
      <p:sp>
        <p:nvSpPr>
          <p:cNvPr id="680" name="Text Placeholder 25"/>
          <p:cNvSpPr>
            <a:spLocks/>
          </p:cNvSpPr>
          <p:nvPr/>
        </p:nvSpPr>
        <p:spPr bwMode="auto">
          <a:xfrm>
            <a:off x="6780213" y="1901825"/>
            <a:ext cx="1936750" cy="152400"/>
          </a:xfrm>
          <a:prstGeom prst="rect">
            <a:avLst/>
          </a:prstGeom>
          <a:noFill/>
          <a:ln>
            <a:noFill/>
          </a:ln>
          <a:effectLst/>
        </p:spPr>
        <p:txBody>
          <a:bodyPr vert="horz" wrap="none" lIns="0" tIns="0" rIns="0" bIns="0" rtlCol="0" anchor="ctr">
            <a:noAutofit/>
          </a:bodyPr>
          <a:p>
            <a:pPr marL="0" lvl="0" indent="0">
              <a:spcBef>
                <a:spcPct val="0"/>
              </a:spcBef>
              <a:spcAft>
                <a:spcPct val="0"/>
              </a:spcAft>
              <a:buNone/>
            </a:pPr>
            <a:r>
              <a:rPr lang="en-US" altLang="en-US" sz="1000" smtClean="0"/>
              <a:t>Structural fabrication and pre-outfit</a:t>
            </a:r>
            <a:endParaRPr lang="en-US" sz="1000" dirty="0"/>
          </a:p>
        </p:txBody>
      </p:sp>
      <p:sp>
        <p:nvSpPr>
          <p:cNvPr id="694" name="Text Placeholder 25"/>
          <p:cNvSpPr>
            <a:spLocks/>
          </p:cNvSpPr>
          <p:nvPr/>
        </p:nvSpPr>
        <p:spPr bwMode="auto">
          <a:xfrm>
            <a:off x="9048750" y="1495425"/>
            <a:ext cx="576263" cy="152400"/>
          </a:xfrm>
          <a:prstGeom prst="rect">
            <a:avLst/>
          </a:prstGeom>
          <a:noFill/>
          <a:ln>
            <a:noFill/>
          </a:ln>
          <a:effectLst/>
        </p:spPr>
        <p:txBody>
          <a:bodyPr vert="horz" wrap="none" lIns="0" tIns="0" rIns="0" bIns="0" rtlCol="0" anchor="ctr">
            <a:noAutofit/>
          </a:bodyPr>
          <a:p>
            <a:pPr marL="0" lvl="0" indent="0">
              <a:spcBef>
                <a:spcPct val="0"/>
              </a:spcBef>
              <a:spcAft>
                <a:spcPct val="0"/>
              </a:spcAft>
              <a:buNone/>
            </a:pPr>
            <a:r>
              <a:rPr lang="en-US" altLang="en-US" sz="1000" smtClean="0"/>
              <a:t>Machining</a:t>
            </a:r>
            <a:endParaRPr lang="en-US" sz="1000" dirty="0"/>
          </a:p>
        </p:txBody>
      </p:sp>
      <p:sp>
        <p:nvSpPr>
          <p:cNvPr id="695" name="Text Placeholder 25"/>
          <p:cNvSpPr>
            <a:spLocks/>
          </p:cNvSpPr>
          <p:nvPr/>
        </p:nvSpPr>
        <p:spPr bwMode="auto">
          <a:xfrm>
            <a:off x="9048750" y="1901825"/>
            <a:ext cx="1311275" cy="152400"/>
          </a:xfrm>
          <a:prstGeom prst="rect">
            <a:avLst/>
          </a:prstGeom>
          <a:noFill/>
          <a:ln>
            <a:noFill/>
          </a:ln>
          <a:effectLst/>
        </p:spPr>
        <p:txBody>
          <a:bodyPr vert="horz" wrap="none" lIns="0" tIns="0" rIns="0" bIns="0" rtlCol="0" anchor="ctr">
            <a:noAutofit/>
          </a:bodyPr>
          <a:p>
            <a:pPr marL="0" lvl="0" indent="0">
              <a:spcBef>
                <a:spcPct val="0"/>
              </a:spcBef>
              <a:spcAft>
                <a:spcPct val="0"/>
              </a:spcAft>
              <a:buNone/>
            </a:pPr>
            <a:r>
              <a:rPr lang="en-US" altLang="en-US" sz="1000" smtClean="0"/>
              <a:t>Coatings and insulation</a:t>
            </a:r>
            <a:endParaRPr lang="en-US" sz="1000" dirty="0"/>
          </a:p>
        </p:txBody>
      </p:sp>
      <p:sp>
        <p:nvSpPr>
          <p:cNvPr id="698" name="Text Placeholder 25"/>
          <p:cNvSpPr>
            <a:spLocks/>
          </p:cNvSpPr>
          <p:nvPr/>
        </p:nvSpPr>
        <p:spPr bwMode="auto">
          <a:xfrm>
            <a:off x="10691813" y="1698625"/>
            <a:ext cx="492125" cy="152400"/>
          </a:xfrm>
          <a:prstGeom prst="rect">
            <a:avLst/>
          </a:prstGeom>
          <a:noFill/>
          <a:ln>
            <a:noFill/>
          </a:ln>
          <a:effectLst/>
        </p:spPr>
        <p:txBody>
          <a:bodyPr vert="horz" wrap="none" lIns="0" tIns="0" rIns="0" bIns="0" rtlCol="0" anchor="ctr">
            <a:noAutofit/>
          </a:bodyPr>
          <a:p>
            <a:pPr marL="0" lvl="0" indent="0">
              <a:spcBef>
                <a:spcPct val="0"/>
              </a:spcBef>
              <a:spcAft>
                <a:spcPct val="0"/>
              </a:spcAft>
              <a:buNone/>
            </a:pPr>
            <a:r>
              <a:rPr lang="en-US" altLang="en-US" sz="1000" smtClean="0"/>
              <a:t>Residual</a:t>
            </a:r>
            <a:endParaRPr lang="en-US" sz="1000" dirty="0"/>
          </a:p>
        </p:txBody>
      </p:sp>
      <p:sp>
        <p:nvSpPr>
          <p:cNvPr id="796" name="Text Placeholder 25"/>
          <p:cNvSpPr>
            <a:spLocks/>
          </p:cNvSpPr>
          <p:nvPr/>
        </p:nvSpPr>
        <p:spPr bwMode="auto">
          <a:xfrm>
            <a:off x="9048750" y="1698625"/>
            <a:ext cx="1200150" cy="152400"/>
          </a:xfrm>
          <a:prstGeom prst="rect">
            <a:avLst/>
          </a:prstGeom>
          <a:noFill/>
          <a:ln>
            <a:noFill/>
          </a:ln>
          <a:effectLst/>
        </p:spPr>
        <p:txBody>
          <a:bodyPr vert="horz" wrap="none" lIns="0" tIns="0" rIns="0" bIns="0" rtlCol="0" anchor="ctr">
            <a:noAutofit/>
          </a:bodyPr>
          <a:p>
            <a:pPr marL="0" lvl="0" indent="0">
              <a:spcBef>
                <a:spcPct val="0"/>
              </a:spcBef>
              <a:spcAft>
                <a:spcPct val="0"/>
              </a:spcAft>
              <a:buNone/>
            </a:pPr>
            <a:r>
              <a:rPr lang="en-US" altLang="en-US" sz="1000" smtClean="0"/>
              <a:t>HVAC and ventilation</a:t>
            </a:r>
            <a:endParaRPr lang="en-US" sz="1000" dirty="0"/>
          </a:p>
        </p:txBody>
      </p:sp>
      <p:sp>
        <p:nvSpPr>
          <p:cNvPr id="776" name="ProgramChip"/>
          <p:cNvSpPr txBox="1"/>
          <p:nvPr/>
        </p:nvSpPr>
        <p:spPr>
          <a:xfrm>
            <a:off x="1812810" y="5701502"/>
            <a:ext cx="1900000" cy="198347"/>
          </a:xfrm>
          <a:prstGeom prst="rect">
            <a:avLst/>
          </a:prstGeom>
          <a:noFill/>
          <a:ln w="12700">
            <a:noFill/>
          </a:ln>
        </p:spPr>
        <p:txBody>
          <a:bodyPr wrap="square" lIns="0" tIns="0" rIns="0" bIns="0" anchor="ctr"/>
          <a:lstStyle/>
          <a:p>
            <a:pPr algn="ctr">
              <a:lnSpc>
                <a:spcPct val="115000"/>
              </a:lnSpc>
              <a:buNone/>
            </a:pPr>
            <a:r>
              <a:rPr lang="en-US" sz="1200" i="1" dirty="0">
                <a:solidFill>
                  <a:srgbClr val="000000"/>
                </a:solidFill>
                <a:latin typeface="Arial"/>
                <a:ea typeface="Arial"/>
                <a:cs typeface="Arial"/>
              </a:rPr>
              <a:t>DDG-51</a:t>
            </a:r>
          </a:p>
        </p:txBody>
      </p:sp>
      <p:sp>
        <p:nvSpPr>
          <p:cNvPr id="777" name="ProgramChip"/>
          <p:cNvSpPr txBox="1"/>
          <p:nvPr/>
        </p:nvSpPr>
        <p:spPr>
          <a:xfrm>
            <a:off x="6852444" y="5701502"/>
            <a:ext cx="1900000" cy="198347"/>
          </a:xfrm>
          <a:prstGeom prst="rect">
            <a:avLst/>
          </a:prstGeom>
          <a:noFill/>
          <a:ln w="12700">
            <a:noFill/>
          </a:ln>
        </p:spPr>
        <p:txBody>
          <a:bodyPr wrap="square" lIns="0" tIns="0" rIns="0" bIns="0" anchor="ctr"/>
          <a:lstStyle/>
          <a:p>
            <a:pPr algn="ctr">
              <a:lnSpc>
                <a:spcPct val="115000"/>
              </a:lnSpc>
              <a:buNone/>
            </a:pPr>
            <a:r>
              <a:rPr lang="en-US" sz="1200" i="1" dirty="0">
                <a:solidFill>
                  <a:srgbClr val="000000"/>
                </a:solidFill>
                <a:latin typeface="Arial"/>
                <a:ea typeface="Arial"/>
                <a:cs typeface="Arial"/>
              </a:rPr>
              <a:t>Virginia</a:t>
            </a:r>
            <a:r>
              <a:rPr lang="en-US" sz="1200" dirty="0">
                <a:solidFill>
                  <a:srgbClr val="000000"/>
                </a:solidFill>
                <a:latin typeface="Arial"/>
                <a:ea typeface="Arial"/>
                <a:cs typeface="Arial"/>
              </a:rPr>
              <a:t>-class</a:t>
            </a:r>
            <a:endParaRPr lang="en-US" sz="1200" i="1" dirty="0">
              <a:solidFill>
                <a:srgbClr val="000000"/>
              </a:solidFill>
              <a:latin typeface="Arial"/>
              <a:ea typeface="Arial"/>
              <a:cs typeface="Arial"/>
            </a:endParaRPr>
          </a:p>
        </p:txBody>
      </p:sp>
      <p:sp>
        <p:nvSpPr>
          <p:cNvPr id="778" name="ProgramChip"/>
          <p:cNvSpPr txBox="1"/>
          <p:nvPr/>
        </p:nvSpPr>
        <p:spPr>
          <a:xfrm>
            <a:off x="10136307" y="5701502"/>
            <a:ext cx="1900000" cy="198347"/>
          </a:xfrm>
          <a:prstGeom prst="rect">
            <a:avLst/>
          </a:prstGeom>
          <a:noFill/>
          <a:ln w="12700">
            <a:noFill/>
          </a:ln>
        </p:spPr>
        <p:txBody>
          <a:bodyPr wrap="square" lIns="0" tIns="0" rIns="0" bIns="0" anchor="ctr"/>
          <a:lstStyle/>
          <a:p>
            <a:pPr algn="ctr">
              <a:lnSpc>
                <a:spcPct val="115000"/>
              </a:lnSpc>
              <a:buNone/>
            </a:pPr>
            <a:r>
              <a:rPr lang="en-US" sz="1200" i="1" dirty="0">
                <a:solidFill>
                  <a:srgbClr val="000000"/>
                </a:solidFill>
                <a:latin typeface="Arial"/>
                <a:ea typeface="Arial"/>
                <a:cs typeface="Arial"/>
              </a:rPr>
              <a:t>Columbia</a:t>
            </a:r>
            <a:r>
              <a:rPr lang="en-US" sz="1200" dirty="0">
                <a:solidFill>
                  <a:srgbClr val="000000"/>
                </a:solidFill>
                <a:latin typeface="Arial"/>
                <a:ea typeface="Arial"/>
                <a:cs typeface="Arial"/>
              </a:rPr>
              <a:t>-class</a:t>
            </a:r>
            <a:endParaRPr lang="en-US" sz="1200" i="1" dirty="0">
              <a:solidFill>
                <a:srgbClr val="000000"/>
              </a:solidFill>
              <a:latin typeface="Arial"/>
              <a:ea typeface="Arial"/>
              <a:cs typeface="Arial"/>
            </a:endParaRPr>
          </a:p>
        </p:txBody>
      </p:sp>
      <p:sp>
        <p:nvSpPr>
          <p:cNvPr id="841" name="ExhibitHeader"/>
          <p:cNvSpPr txBox="1"/>
          <p:nvPr/>
        </p:nvSpPr>
        <p:spPr>
          <a:xfrm>
            <a:off x="453079" y="1789769"/>
            <a:ext cx="5674671" cy="205719"/>
          </a:xfrm>
          <a:prstGeom prst="rect">
            <a:avLst/>
          </a:prstGeom>
          <a:noFill/>
          <a:ln>
            <a:noFill/>
          </a:ln>
        </p:spPr>
        <p:txBody>
          <a:bodyPr wrap="square" lIns="0" tIns="0" rIns="0" bIns="0" anchor="b"/>
          <a:lstStyle/>
          <a:p>
            <a:pPr>
              <a:lnSpc>
                <a:spcPct val="115000"/>
              </a:lnSpc>
              <a:buNone/>
            </a:pPr>
            <a:r>
              <a:rPr lang="en-US" sz="1000" b="1" dirty="0">
                <a:solidFill>
                  <a:srgbClr val="000000"/>
                </a:solidFill>
                <a:latin typeface="Arial"/>
                <a:ea typeface="Arial"/>
                <a:cs typeface="Arial"/>
              </a:rPr>
              <a:t>Outsourced Basic Construction TAM by Work Type ($B per year, FY22-FY25, FY26 $)</a:t>
            </a:r>
          </a:p>
        </p:txBody>
      </p:sp>
      <p:sp>
        <p:nvSpPr>
          <p:cNvPr id="844" name="Sources"/>
          <p:cNvSpPr txBox="1"/>
          <p:nvPr/>
        </p:nvSpPr>
        <p:spPr>
          <a:xfrm>
            <a:off x="453079" y="6082401"/>
            <a:ext cx="11282362" cy="400950"/>
          </a:xfrm>
          <a:prstGeom prst="rect">
            <a:avLst/>
          </a:prstGeom>
          <a:noFill/>
          <a:ln>
            <a:noFill/>
          </a:ln>
        </p:spPr>
        <p:txBody>
          <a:bodyPr wrap="square" lIns="91440" tIns="45720" rIns="91440" bIns="45720" anchor="t"/>
          <a:lstStyle/>
          <a:p>
            <a:r>
              <a:rPr lang="en-US" sz="800" kern="1200" dirty="0">
                <a:solidFill>
                  <a:srgbClr val="162029"/>
                </a:solidFill>
                <a:latin typeface="Arial"/>
                <a:ea typeface="Arial"/>
                <a:cs typeface="Arial"/>
              </a:rPr>
              <a:t>Sources: Navy SCN P-5c / P-40 budget justification, FY22–FY27, and PB27 FYDP outyears (FY28–FY31); FY26, PL 119-21 Sec. 20002; PB27 SCN, Columbia P-10 Strategic Outsourcing narrative; OUSD(C) Green Book Procurement deflators; Navy Shipbuilding Plan; PB27 SCN Exhibit P-10, LI 2122 (AP/LLTM Ship Construction EOQ); FFATA/FSRS subaward records, yard-prime construction PIIDs, FY22–FY25 action years (work-type shares)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13" name="Table 12"/>
          <p:cNvGraphicFramePr>
            <a:graphicFrameLocks noGrp="1"/>
          </p:cNvGraphicFramePr>
          <p:nvPr/>
        </p:nvGraphicFramePr>
        <p:xfrm>
          <a:off x="452818" y="1496364"/>
          <a:ext cx="11315609" cy="3686288"/>
        </p:xfrm>
        <a:graphic>
          <a:graphicData uri="http://schemas.openxmlformats.org/drawingml/2006/table">
            <a:tbl>
              <a:tblPr firstRow="1" bandRow="1">
                <a:tableStyleId>{2D5ABB26-0587-4C30-8999-92F81FD0307C}</a:tableStyleId>
              </a:tblPr>
              <a:tblGrid>
                <a:gridCol w="1046044"/>
                <a:gridCol w="1155037"/>
                <a:gridCol w="1310325"/>
                <a:gridCol w="2173146"/>
                <a:gridCol w="1877019"/>
                <a:gridCol w="1877019"/>
                <a:gridCol w="1877019"/>
              </a:tblGrid>
              <a:tr h="265140">
                <a:tc>
                  <a:txBody>
                    <a:bodyPr/>
                    <a:lstStyle/>
                    <a:p>
                      <a:pPr algn="ctr"/>
                      <a:r>
                        <a:rPr lang="en-US" sz="1200" b="1"/>
                        <a:t>Platform</a:t>
                      </a:r>
                    </a:p>
                  </a:txBody>
                  <a:tcPr>
                    <a:lnT w="6350" cap="flat" cmpd="sng" algn="ctr">
                      <a:noFill/>
                      <a:prstDash val="solid"/>
                      <a:round/>
                      <a:headEnd type="none" w="med" len="med"/>
                      <a:tailEnd type="none" w="med" len="med"/>
                    </a:lnT>
                  </a:tcPr>
                </a:tc>
                <a:tc>
                  <a:txBody>
                    <a:bodyPr/>
                    <a:lstStyle/>
                    <a:p>
                      <a:pPr algn="ctr"/>
                      <a:r>
                        <a:rPr lang="en-US" sz="1200" b="1"/>
                        <a:t>Contract</a:t>
                      </a:r>
                    </a:p>
                  </a:txBody>
                  <a:tcPr>
                    <a:lnT w="6350" cap="flat" cmpd="sng" algn="ctr">
                      <a:noFill/>
                      <a:prstDash val="solid"/>
                      <a:round/>
                      <a:headEnd type="none" w="med" len="med"/>
                      <a:tailEnd type="none" w="med" len="med"/>
                    </a:lnT>
                  </a:tcPr>
                </a:tc>
                <a:tc>
                  <a:txBody>
                    <a:bodyPr/>
                    <a:lstStyle/>
                    <a:p>
                      <a:pPr algn="ctr"/>
                      <a:r>
                        <a:rPr lang="en-US" sz="1200" b="1"/>
                        <a:t>Amount</a:t>
                      </a:r>
                    </a:p>
                  </a:txBody>
                  <a:tcPr>
                    <a:lnT w="6350" cap="flat" cmpd="sng" algn="ctr">
                      <a:noFill/>
                      <a:prstDash val="solid"/>
                      <a:round/>
                      <a:headEnd type="none" w="med" len="med"/>
                      <a:tailEnd type="none" w="med" len="med"/>
                    </a:lnT>
                  </a:tcPr>
                </a:tc>
                <a:tc>
                  <a:txBody>
                    <a:bodyPr/>
                    <a:lstStyle/>
                    <a:p>
                      <a:pPr algn="ctr"/>
                      <a:r>
                        <a:rPr lang="en-US" sz="1200" b="1"/>
                        <a:t>Details</a:t>
                      </a:r>
                    </a:p>
                  </a:txBody>
                  <a:tcPr>
                    <a:lnT w="6350" cap="flat" cmpd="sng" algn="ctr">
                      <a:noFill/>
                      <a:prstDash val="solid"/>
                      <a:round/>
                      <a:headEnd type="none" w="med" len="med"/>
                      <a:tailEnd type="none" w="med" len="med"/>
                    </a:lnT>
                  </a:tcPr>
                </a:tc>
                <a:tc>
                  <a:txBody>
                    <a:bodyPr/>
                    <a:lstStyle/>
                    <a:p>
                      <a:pPr algn="ctr">
                        <a:defRPr sz="1000"/>
                      </a:pPr>
                      <a:r>
                        <a:rPr lang="en-US" sz="1200" b="1" u="none">
                          <a:solidFill>
                            <a:srgbClr val="000000"/>
                          </a:solidFill>
                          <a:latin typeface="+mj-lt"/>
                          <a:ea typeface="Inter" panose="02000503000000020004" pitchFamily="2" charset="0"/>
                        </a:rPr>
                        <a:t>Recompete Date</a:t>
                      </a:r>
                      <a:endParaRPr lang="en-US" sz="1200" b="0" u="none">
                        <a:solidFill>
                          <a:srgbClr val="000000"/>
                        </a:solidFill>
                        <a:latin typeface="+mj-lt"/>
                        <a:ea typeface="Inter" panose="02000503000000020004" pitchFamily="2" charset="0"/>
                      </a:endParaRPr>
                    </a:p>
                  </a:txBody>
                  <a:tcPr marL="45720" marR="45720" anchor="b">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spcBef>
                          <a:spcPts val="150"/>
                        </a:spcBef>
                        <a:spcAft>
                          <a:spcPts val="150"/>
                        </a:spcAft>
                      </a:pPr>
                      <a:r>
                        <a:rPr lang="en-US" sz="1200" b="1" u="none">
                          <a:solidFill>
                            <a:srgbClr val="000000"/>
                          </a:solidFill>
                          <a:latin typeface="+mj-lt"/>
                        </a:rPr>
                        <a:t>Current Player</a:t>
                      </a:r>
                      <a:endParaRPr lang="en-US" sz="1200" b="0" i="1" u="none">
                        <a:solidFill>
                          <a:srgbClr val="000000"/>
                        </a:solidFill>
                        <a:latin typeface="+mj-lt"/>
                      </a:endParaRPr>
                    </a:p>
                  </a:txBody>
                  <a:tcPr marL="45720" marR="4572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000"/>
                      </a:pPr>
                      <a:r>
                        <a:rPr lang="en-US" sz="1200" b="1" u="none">
                          <a:solidFill>
                            <a:srgbClr val="000000"/>
                          </a:solidFill>
                          <a:latin typeface="+mj-lt"/>
                        </a:rPr>
                        <a:t>Budget Alignment</a:t>
                      </a:r>
                      <a:endParaRPr lang="en-US" sz="1200" b="0" u="none">
                        <a:solidFill>
                          <a:srgbClr val="000000"/>
                        </a:solidFill>
                        <a:latin typeface="+mj-lt"/>
                      </a:endParaRPr>
                    </a:p>
                  </a:txBody>
                  <a:tcPr marL="45720" marR="4572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tcPr>
                </a:tc>
              </a:tr>
              <a:tr h="426496">
                <a:tc rowSpan="4">
                  <a:txBody>
                    <a:bodyPr/>
                    <a:lstStyle/>
                    <a:p>
                      <a:pPr marL="0" marR="0" lvl="0" indent="0" algn="l" defTabSz="914400" rtl="0" eaLnBrk="1" fontAlgn="auto" latinLnBrk="0" hangingPunct="1">
                        <a:lnSpc>
                          <a:spcPct val="100000"/>
                        </a:lnSpc>
                        <a:spcBef>
                          <a:spcPts val="0"/>
                        </a:spcBef>
                        <a:spcAft>
                          <a:spcPts val="0"/>
                        </a:spcAft>
                        <a:buClrTx/>
                        <a:buSzTx/>
                        <a:buFontTx/>
                        <a:buNone/>
                        <a:tabLst/>
                        <a:defRPr sz="1000"/>
                      </a:pPr>
                      <a:r>
                        <a:rPr kumimoji="0" lang="en-US" sz="1200" b="1" i="0" u="none" strike="noStrike" kern="1200" cap="none" spc="0" normalizeH="0" baseline="0" noProof="0">
                          <a:ln>
                            <a:noFill/>
                          </a:ln>
                          <a:solidFill>
                            <a:srgbClr val="000000"/>
                          </a:solidFill>
                          <a:effectLst/>
                          <a:uLnTx/>
                          <a:uFillTx/>
                          <a:latin typeface="Arial" panose="020B0604020202020204"/>
                          <a:ea typeface="Inter" panose="02000503000000020004" pitchFamily="2" charset="0"/>
                          <a:cs typeface="+mn-cs"/>
                        </a:rPr>
                        <a:t>Platform 1</a:t>
                      </a:r>
                    </a:p>
                  </a:txBody>
                  <a:tcPr marL="45720" marR="45720">
                    <a:lnL w="12700" cap="flat" cmpd="sng" algn="ctr">
                      <a:noFill/>
                      <a:prstDash val="solid"/>
                      <a:round/>
                      <a:headEnd type="none" w="med" len="med"/>
                      <a:tailEnd type="none" w="med" len="med"/>
                    </a:lnL>
                    <a:lnB w="6350" cap="flat" cmpd="sng" algn="ctr">
                      <a:solidFill>
                        <a:srgbClr val="808080"/>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sz="1000"/>
                      </a:pPr>
                      <a:r>
                        <a:rPr kumimoji="0" lang="en-US" sz="1200" b="1" i="0" u="none" strike="noStrike" kern="1200" cap="none" spc="0" normalizeH="0" baseline="0" noProof="0">
                          <a:ln>
                            <a:noFill/>
                          </a:ln>
                          <a:solidFill>
                            <a:srgbClr val="000000"/>
                          </a:solidFill>
                          <a:effectLst/>
                          <a:uLnTx/>
                          <a:uFillTx/>
                          <a:latin typeface="Arial" panose="020B0604020202020204"/>
                          <a:ea typeface="Inter" panose="02000503000000020004" pitchFamily="2" charset="0"/>
                          <a:cs typeface="+mn-cs"/>
                        </a:rPr>
                        <a:t>Contract 1</a:t>
                      </a:r>
                    </a:p>
                  </a:txBody>
                  <a:tcPr marL="45720" marR="45720">
                    <a:lnB w="6350" cap="flat" cmpd="sng" algn="ctr">
                      <a:solidFill>
                        <a:srgbClr val="80808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000"/>
                      </a:pPr>
                      <a:r>
                        <a:rPr kumimoji="0" lang="en-US" sz="1200" b="0" i="0" u="none" strike="noStrike" kern="1200" cap="none" spc="0" normalizeH="0" baseline="0" noProof="0">
                          <a:ln>
                            <a:noFill/>
                          </a:ln>
                          <a:solidFill>
                            <a:srgbClr val="000000"/>
                          </a:solidFill>
                          <a:effectLst/>
                          <a:uLnTx/>
                          <a:uFillTx/>
                          <a:latin typeface="Arial" panose="020B0604020202020204"/>
                          <a:ea typeface="Inter" panose="02000503000000020004" pitchFamily="2" charset="0"/>
                          <a:cs typeface="+mn-cs"/>
                        </a:rPr>
                        <a:t>$###M</a:t>
                      </a:r>
                    </a:p>
                  </a:txBody>
                  <a:tcPr marL="45720" marR="45720">
                    <a:lnB w="6350" cap="flat" cmpd="sng" algn="ctr">
                      <a:solidFill>
                        <a:srgbClr val="808080"/>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sz="1000"/>
                      </a:pPr>
                      <a:r>
                        <a:rPr kumimoji="0" lang="en-US" sz="1200" b="0" i="1" u="none" strike="noStrike" kern="1200" cap="none" spc="0" normalizeH="0" baseline="0" noProof="0">
                          <a:ln>
                            <a:noFill/>
                          </a:ln>
                          <a:solidFill>
                            <a:srgbClr val="000000"/>
                          </a:solidFill>
                          <a:effectLst/>
                          <a:uLnTx/>
                          <a:uFillTx/>
                          <a:latin typeface="Arial" panose="020B0604020202020204"/>
                          <a:ea typeface="Inter" panose="02000503000000020004" pitchFamily="2" charset="0"/>
                          <a:cs typeface="+mn-cs"/>
                        </a:rPr>
                        <a:t>…</a:t>
                      </a:r>
                    </a:p>
                  </a:txBody>
                  <a:tcPr marL="45720" marR="45720">
                    <a:lnB w="6350" cap="flat" cmpd="sng" algn="ctr">
                      <a:solidFill>
                        <a:srgbClr val="80808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000"/>
                      </a:pPr>
                      <a:r>
                        <a:rPr kumimoji="0" lang="en-US" sz="1200" b="0" i="1" u="none" strike="noStrike" kern="1200" cap="none" spc="0" normalizeH="0" baseline="0" noProof="0">
                          <a:ln>
                            <a:noFill/>
                          </a:ln>
                          <a:solidFill>
                            <a:srgbClr val="000000"/>
                          </a:solidFill>
                          <a:effectLst/>
                          <a:uLnTx/>
                          <a:uFillTx/>
                          <a:latin typeface="Arial" panose="020B0604020202020204"/>
                          <a:ea typeface="Inter" panose="02000503000000020004" pitchFamily="2" charset="0"/>
                          <a:cs typeface="+mn-cs"/>
                        </a:rPr>
                        <a:t> ## / ## / 202#</a:t>
                      </a:r>
                    </a:p>
                  </a:txBody>
                  <a:tcPr marL="45720" marR="45720">
                    <a:lnR w="6350" cap="flat" cmpd="sng" algn="ctr">
                      <a:no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808080"/>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spcBef>
                          <a:spcPts val="150"/>
                        </a:spcBef>
                        <a:spcAft>
                          <a:spcPts val="150"/>
                        </a:spcAft>
                      </a:pPr>
                      <a:r>
                        <a:rPr lang="en-US" sz="1200" b="0" i="1">
                          <a:solidFill>
                            <a:srgbClr val="000000"/>
                          </a:solidFill>
                          <a:latin typeface="+mj-lt"/>
                        </a:rPr>
                        <a:t>Player A</a:t>
                      </a:r>
                    </a:p>
                  </a:txBody>
                  <a:tcPr marL="45720" marR="45720">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808080"/>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000"/>
                      </a:pPr>
                      <a:r>
                        <a:rPr kumimoji="0" lang="en-US" sz="1200" b="0" i="1" u="none" strike="noStrike" kern="1200" cap="none" spc="0" normalizeH="0" baseline="0" noProof="0">
                          <a:ln>
                            <a:noFill/>
                          </a:ln>
                          <a:solidFill>
                            <a:schemeClr val="bg1"/>
                          </a:solidFill>
                          <a:effectLst/>
                          <a:uLnTx/>
                          <a:uFillTx/>
                          <a:latin typeface="Arial" panose="020B0604020202020204"/>
                          <a:ea typeface="+mn-ea"/>
                          <a:cs typeface="+mn-cs"/>
                        </a:rPr>
                        <a:t>Description</a:t>
                      </a:r>
                    </a:p>
                  </a:txBody>
                  <a:tcPr marL="45720" marR="45720">
                    <a:lnL w="6350" cap="flat" cmpd="sng" algn="ctr">
                      <a:no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B8A57"/>
                    </a:solidFill>
                  </a:tcPr>
                </a:tc>
              </a:tr>
              <a:tr h="426496">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sz="1000"/>
                      </a:pPr>
                      <a:endParaRPr kumimoji="0" lang="en-US" sz="1200" b="1" i="0" u="none" strike="noStrike" kern="1200" cap="none" spc="0" normalizeH="0" baseline="0" noProof="0">
                        <a:ln>
                          <a:noFill/>
                        </a:ln>
                        <a:solidFill>
                          <a:srgbClr val="000000"/>
                        </a:solidFill>
                        <a:effectLst/>
                        <a:uLnTx/>
                        <a:uFillTx/>
                        <a:latin typeface="Arial" panose="020B0604020202020204"/>
                        <a:ea typeface="Inter" panose="02000503000000020004" pitchFamily="2" charset="0"/>
                        <a:cs typeface="+mn-cs"/>
                      </a:endParaRPr>
                    </a:p>
                  </a:txBody>
                  <a:tcPr marL="45720" marR="45720" anchor="ctr">
                    <a:lnL w="12700" cap="flat" cmpd="sng" algn="ctr">
                      <a:noFill/>
                      <a:prstDash val="solid"/>
                      <a:round/>
                      <a:headEnd type="none" w="med" len="med"/>
                      <a:tailEnd type="none" w="med" len="med"/>
                    </a:lnL>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sz="1000"/>
                      </a:pPr>
                      <a:r>
                        <a:rPr kumimoji="0" lang="en-US" sz="1200" b="1" i="0" u="none" strike="noStrike" kern="1200" cap="none" spc="0" normalizeH="0" baseline="0" noProof="0">
                          <a:ln>
                            <a:noFill/>
                          </a:ln>
                          <a:solidFill>
                            <a:srgbClr val="000000"/>
                          </a:solidFill>
                          <a:effectLst/>
                          <a:uLnTx/>
                          <a:uFillTx/>
                          <a:latin typeface="Arial" panose="020B0604020202020204"/>
                          <a:ea typeface="Inter" panose="02000503000000020004" pitchFamily="2" charset="0"/>
                          <a:cs typeface="+mn-cs"/>
                        </a:rPr>
                        <a:t>Contract 2</a:t>
                      </a:r>
                    </a:p>
                  </a:txBody>
                  <a:tcPr marL="45720" marR="45720">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000"/>
                      </a:pPr>
                      <a:r>
                        <a:rPr kumimoji="0" lang="en-US" sz="1200" b="0" i="0" u="none" strike="noStrike" kern="1200" cap="none" spc="0" normalizeH="0" baseline="0" noProof="0">
                          <a:ln>
                            <a:noFill/>
                          </a:ln>
                          <a:solidFill>
                            <a:srgbClr val="000000"/>
                          </a:solidFill>
                          <a:effectLst/>
                          <a:uLnTx/>
                          <a:uFillTx/>
                          <a:latin typeface="Arial" panose="020B0604020202020204"/>
                          <a:ea typeface="Inter" panose="02000503000000020004" pitchFamily="2" charset="0"/>
                          <a:cs typeface="+mn-cs"/>
                        </a:rPr>
                        <a:t>$###M</a:t>
                      </a:r>
                    </a:p>
                  </a:txBody>
                  <a:tcPr marL="45720" marR="45720">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sz="1000"/>
                      </a:pPr>
                      <a:r>
                        <a:rPr kumimoji="0" lang="en-US" sz="1200" b="0" i="1" u="none" strike="noStrike" kern="1200" cap="none" spc="0" normalizeH="0" baseline="0" noProof="0">
                          <a:ln>
                            <a:noFill/>
                          </a:ln>
                          <a:solidFill>
                            <a:srgbClr val="000000"/>
                          </a:solidFill>
                          <a:effectLst/>
                          <a:uLnTx/>
                          <a:uFillTx/>
                          <a:latin typeface="Arial" panose="020B0604020202020204"/>
                          <a:ea typeface="Inter" panose="02000503000000020004" pitchFamily="2" charset="0"/>
                          <a:cs typeface="+mn-cs"/>
                        </a:rPr>
                        <a:t>…</a:t>
                      </a:r>
                    </a:p>
                  </a:txBody>
                  <a:tcPr marL="45720" marR="45720">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000"/>
                      </a:pPr>
                      <a:r>
                        <a:rPr kumimoji="0" lang="en-US" sz="1200" b="0" i="1" u="none" strike="noStrike" kern="1200" cap="none" spc="0" normalizeH="0" baseline="0" noProof="0">
                          <a:ln>
                            <a:noFill/>
                          </a:ln>
                          <a:solidFill>
                            <a:srgbClr val="000000"/>
                          </a:solidFill>
                          <a:effectLst/>
                          <a:uLnTx/>
                          <a:uFillTx/>
                          <a:latin typeface="Arial" panose="020B0604020202020204"/>
                          <a:ea typeface="Inter" panose="02000503000000020004" pitchFamily="2" charset="0"/>
                          <a:cs typeface="+mn-cs"/>
                        </a:rPr>
                        <a:t> ## / ## / 202#</a:t>
                      </a:r>
                    </a:p>
                  </a:txBody>
                  <a:tcPr marL="45720" marR="45720">
                    <a:lnR w="6350" cap="flat" cmpd="sng" algn="ctr">
                      <a:no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spcBef>
                          <a:spcPts val="150"/>
                        </a:spcBef>
                        <a:spcAft>
                          <a:spcPts val="150"/>
                        </a:spcAft>
                      </a:pPr>
                      <a:r>
                        <a:rPr lang="en-US" sz="1200" b="0" i="1">
                          <a:solidFill>
                            <a:srgbClr val="000000"/>
                          </a:solidFill>
                          <a:latin typeface="+mj-lt"/>
                        </a:rPr>
                        <a:t>Player B</a:t>
                      </a:r>
                    </a:p>
                  </a:txBody>
                  <a:tcPr marL="45720" marR="4572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000"/>
                      </a:pPr>
                      <a:r>
                        <a:rPr kumimoji="0" lang="en-US" sz="1200" b="0" i="1" u="none" strike="noStrike" kern="1200" cap="none" spc="0" normalizeH="0" baseline="0" noProof="0">
                          <a:ln>
                            <a:noFill/>
                          </a:ln>
                          <a:solidFill>
                            <a:srgbClr val="000000"/>
                          </a:solidFill>
                          <a:effectLst/>
                          <a:uLnTx/>
                          <a:uFillTx/>
                          <a:latin typeface="Arial" panose="020B0604020202020204"/>
                          <a:ea typeface="+mn-ea"/>
                          <a:cs typeface="+mn-cs"/>
                        </a:rPr>
                        <a:t>Description</a:t>
                      </a:r>
                    </a:p>
                  </a:txBody>
                  <a:tcPr marL="45720" marR="45720">
                    <a:lnL w="6350" cap="flat" cmpd="sng" algn="ctr">
                      <a:no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BFBFBF"/>
                    </a:solidFill>
                  </a:tcPr>
                </a:tc>
              </a:tr>
              <a:tr h="426496">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sz="1000"/>
                      </a:pPr>
                      <a:endParaRPr kumimoji="0" lang="en-US" sz="1200" b="1" i="0" u="none" strike="noStrike" kern="1200" cap="none" spc="0" normalizeH="0" baseline="0" noProof="0">
                        <a:ln>
                          <a:noFill/>
                        </a:ln>
                        <a:solidFill>
                          <a:srgbClr val="000000"/>
                        </a:solidFill>
                        <a:effectLst/>
                        <a:uLnTx/>
                        <a:uFillTx/>
                        <a:latin typeface="Arial" panose="020B0604020202020204"/>
                        <a:ea typeface="Inter" panose="02000503000000020004" pitchFamily="2" charset="0"/>
                        <a:cs typeface="+mn-cs"/>
                      </a:endParaRPr>
                    </a:p>
                  </a:txBody>
                  <a:tcPr marL="45720" marR="45720" anchor="ctr">
                    <a:lnL w="12700" cap="flat" cmpd="sng" algn="ctr">
                      <a:noFill/>
                      <a:prstDash val="solid"/>
                      <a:round/>
                      <a:headEnd type="none" w="med" len="med"/>
                      <a:tailEnd type="none" w="med" len="med"/>
                    </a:lnL>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sz="1000"/>
                      </a:pPr>
                      <a:r>
                        <a:rPr kumimoji="0" lang="en-US" sz="1200" b="1" i="0" u="none" strike="noStrike" kern="1200" cap="none" spc="0" normalizeH="0" baseline="0" noProof="0">
                          <a:ln>
                            <a:noFill/>
                          </a:ln>
                          <a:solidFill>
                            <a:srgbClr val="000000"/>
                          </a:solidFill>
                          <a:effectLst/>
                          <a:uLnTx/>
                          <a:uFillTx/>
                          <a:latin typeface="Arial" panose="020B0604020202020204"/>
                          <a:ea typeface="Inter" panose="02000503000000020004" pitchFamily="2" charset="0"/>
                          <a:cs typeface="+mn-cs"/>
                        </a:rPr>
                        <a:t>Contract 3</a:t>
                      </a:r>
                    </a:p>
                  </a:txBody>
                  <a:tcPr marL="45720" marR="45720">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000"/>
                      </a:pPr>
                      <a:r>
                        <a:rPr kumimoji="0" lang="en-US" sz="1200" b="0" i="0" u="none" strike="noStrike" kern="1200" cap="none" spc="0" normalizeH="0" baseline="0" noProof="0">
                          <a:ln>
                            <a:noFill/>
                          </a:ln>
                          <a:solidFill>
                            <a:srgbClr val="000000"/>
                          </a:solidFill>
                          <a:effectLst/>
                          <a:uLnTx/>
                          <a:uFillTx/>
                          <a:latin typeface="Arial" panose="020B0604020202020204"/>
                          <a:ea typeface="Inter" panose="02000503000000020004" pitchFamily="2" charset="0"/>
                          <a:cs typeface="+mn-cs"/>
                        </a:rPr>
                        <a:t>$###M</a:t>
                      </a:r>
                    </a:p>
                  </a:txBody>
                  <a:tcPr marL="45720" marR="45720">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sz="1000"/>
                      </a:pPr>
                      <a:r>
                        <a:rPr kumimoji="0" lang="en-US" sz="1200" b="0" i="1" u="none" strike="noStrike" kern="1200" cap="none" spc="0" normalizeH="0" baseline="0" noProof="0">
                          <a:ln>
                            <a:noFill/>
                          </a:ln>
                          <a:solidFill>
                            <a:srgbClr val="000000"/>
                          </a:solidFill>
                          <a:effectLst/>
                          <a:uLnTx/>
                          <a:uFillTx/>
                          <a:latin typeface="Arial" panose="020B0604020202020204"/>
                          <a:ea typeface="Inter" panose="02000503000000020004" pitchFamily="2" charset="0"/>
                          <a:cs typeface="+mn-cs"/>
                        </a:rPr>
                        <a:t>…</a:t>
                      </a:r>
                    </a:p>
                  </a:txBody>
                  <a:tcPr marL="45720" marR="45720">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000"/>
                      </a:pPr>
                      <a:r>
                        <a:rPr kumimoji="0" lang="en-US" sz="1200" b="0" i="1" u="none" strike="noStrike" kern="1200" cap="none" spc="0" normalizeH="0" baseline="0" noProof="0">
                          <a:ln>
                            <a:noFill/>
                          </a:ln>
                          <a:solidFill>
                            <a:srgbClr val="000000"/>
                          </a:solidFill>
                          <a:effectLst/>
                          <a:uLnTx/>
                          <a:uFillTx/>
                          <a:latin typeface="Arial" panose="020B0604020202020204"/>
                          <a:ea typeface="Inter" panose="02000503000000020004" pitchFamily="2" charset="0"/>
                          <a:cs typeface="+mn-cs"/>
                        </a:rPr>
                        <a:t> ## / ## / 202#</a:t>
                      </a:r>
                    </a:p>
                  </a:txBody>
                  <a:tcPr marL="45720" marR="45720">
                    <a:lnR w="6350" cap="flat" cmpd="sng" algn="ctr">
                      <a:no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spcBef>
                          <a:spcPts val="150"/>
                        </a:spcBef>
                        <a:spcAft>
                          <a:spcPts val="150"/>
                        </a:spcAft>
                      </a:pPr>
                      <a:r>
                        <a:rPr lang="en-US" sz="1200" b="0" i="1">
                          <a:solidFill>
                            <a:srgbClr val="000000"/>
                          </a:solidFill>
                          <a:latin typeface="+mj-lt"/>
                        </a:rPr>
                        <a:t>Player C</a:t>
                      </a:r>
                    </a:p>
                  </a:txBody>
                  <a:tcPr marL="45720" marR="4572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000"/>
                      </a:pPr>
                      <a:r>
                        <a:rPr kumimoji="0" lang="en-US" sz="1200" b="0" i="1" u="none" strike="noStrike" kern="1200" cap="none" spc="0" normalizeH="0" baseline="0" noProof="0">
                          <a:ln>
                            <a:noFill/>
                          </a:ln>
                          <a:solidFill>
                            <a:schemeClr val="bg1"/>
                          </a:solidFill>
                          <a:effectLst/>
                          <a:uLnTx/>
                          <a:uFillTx/>
                          <a:latin typeface="Arial" panose="020B0604020202020204"/>
                          <a:ea typeface="+mn-ea"/>
                          <a:cs typeface="+mn-cs"/>
                        </a:rPr>
                        <a:t>Description</a:t>
                      </a:r>
                    </a:p>
                  </a:txBody>
                  <a:tcPr marL="45720" marR="45720">
                    <a:lnL w="6350" cap="flat" cmpd="sng" algn="ctr">
                      <a:no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A33124"/>
                    </a:solidFill>
                  </a:tcPr>
                </a:tc>
              </a:tr>
              <a:tr h="426496">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sz="1000"/>
                      </a:pPr>
                      <a:endParaRPr kumimoji="0" lang="en-US" sz="1200" b="1" i="0" u="none" strike="noStrike" kern="1200" cap="none" spc="0" normalizeH="0" baseline="0" noProof="0">
                        <a:ln>
                          <a:noFill/>
                        </a:ln>
                        <a:solidFill>
                          <a:srgbClr val="000000"/>
                        </a:solidFill>
                        <a:effectLst/>
                        <a:uLnTx/>
                        <a:uFillTx/>
                        <a:latin typeface="Arial" panose="020B0604020202020204"/>
                        <a:ea typeface="Inter" panose="02000503000000020004" pitchFamily="2" charset="0"/>
                        <a:cs typeface="+mn-cs"/>
                      </a:endParaRPr>
                    </a:p>
                  </a:txBody>
                  <a:tcPr marL="45720" marR="45720">
                    <a:lnL w="12700" cap="flat" cmpd="sng" algn="ctr">
                      <a:noFill/>
                      <a:prstDash val="solid"/>
                      <a:round/>
                      <a:headEnd type="none" w="med" len="med"/>
                      <a:tailEnd type="none" w="med" len="med"/>
                    </a:lnL>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sz="1000"/>
                      </a:pPr>
                      <a:r>
                        <a:rPr kumimoji="0" lang="en-US" sz="1200" b="1" i="0" u="none" strike="noStrike" kern="1200" cap="none" spc="0" normalizeH="0" baseline="0" noProof="0">
                          <a:ln>
                            <a:noFill/>
                          </a:ln>
                          <a:solidFill>
                            <a:srgbClr val="000000"/>
                          </a:solidFill>
                          <a:effectLst/>
                          <a:uLnTx/>
                          <a:uFillTx/>
                          <a:latin typeface="Arial" panose="020B0604020202020204"/>
                          <a:ea typeface="Inter" panose="02000503000000020004" pitchFamily="2" charset="0"/>
                          <a:cs typeface="+mn-cs"/>
                        </a:rPr>
                        <a:t>Contract 4</a:t>
                      </a:r>
                    </a:p>
                  </a:txBody>
                  <a:tcPr marL="45720" marR="45720">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000"/>
                      </a:pPr>
                      <a:r>
                        <a:rPr kumimoji="0" lang="en-US" sz="1200" b="0" i="0" u="none" strike="noStrike" kern="1200" cap="none" spc="0" normalizeH="0" baseline="0" noProof="0">
                          <a:ln>
                            <a:noFill/>
                          </a:ln>
                          <a:solidFill>
                            <a:srgbClr val="000000"/>
                          </a:solidFill>
                          <a:effectLst/>
                          <a:uLnTx/>
                          <a:uFillTx/>
                          <a:latin typeface="Arial" panose="020B0604020202020204"/>
                          <a:ea typeface="Inter" panose="02000503000000020004" pitchFamily="2" charset="0"/>
                          <a:cs typeface="+mn-cs"/>
                        </a:rPr>
                        <a:t>$###M</a:t>
                      </a:r>
                    </a:p>
                  </a:txBody>
                  <a:tcPr marL="45720" marR="45720">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sz="1000"/>
                      </a:pPr>
                      <a:r>
                        <a:rPr kumimoji="0" lang="en-US" sz="1200" b="0" i="1" u="none" strike="noStrike" kern="1200" cap="none" spc="0" normalizeH="0" baseline="0" noProof="0">
                          <a:ln>
                            <a:noFill/>
                          </a:ln>
                          <a:solidFill>
                            <a:srgbClr val="000000"/>
                          </a:solidFill>
                          <a:effectLst/>
                          <a:uLnTx/>
                          <a:uFillTx/>
                          <a:latin typeface="Arial" panose="020B0604020202020204"/>
                          <a:ea typeface="Inter" panose="02000503000000020004" pitchFamily="2" charset="0"/>
                          <a:cs typeface="+mn-cs"/>
                        </a:rPr>
                        <a:t>…</a:t>
                      </a:r>
                    </a:p>
                  </a:txBody>
                  <a:tcPr marL="45720" marR="45720">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000"/>
                      </a:pPr>
                      <a:r>
                        <a:rPr kumimoji="0" lang="en-US" sz="1200" b="0" i="1" u="none" strike="noStrike" kern="1200" cap="none" spc="0" normalizeH="0" baseline="0" noProof="0">
                          <a:ln>
                            <a:noFill/>
                          </a:ln>
                          <a:solidFill>
                            <a:srgbClr val="000000"/>
                          </a:solidFill>
                          <a:effectLst/>
                          <a:uLnTx/>
                          <a:uFillTx/>
                          <a:latin typeface="Arial" panose="020B0604020202020204"/>
                          <a:ea typeface="Inter" panose="02000503000000020004" pitchFamily="2" charset="0"/>
                          <a:cs typeface="+mn-cs"/>
                        </a:rPr>
                        <a:t> ## / ## / 202#</a:t>
                      </a:r>
                    </a:p>
                  </a:txBody>
                  <a:tcPr marL="45720" marR="45720">
                    <a:lnR w="6350" cap="flat" cmpd="sng" algn="ctr">
                      <a:no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spcBef>
                          <a:spcPts val="150"/>
                        </a:spcBef>
                        <a:spcAft>
                          <a:spcPts val="150"/>
                        </a:spcAft>
                      </a:pPr>
                      <a:r>
                        <a:rPr lang="en-US" sz="1200" b="0" i="1">
                          <a:solidFill>
                            <a:srgbClr val="000000"/>
                          </a:solidFill>
                          <a:latin typeface="+mj-lt"/>
                        </a:rPr>
                        <a:t>Player D</a:t>
                      </a:r>
                    </a:p>
                  </a:txBody>
                  <a:tcPr marL="45720" marR="4572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000"/>
                      </a:pPr>
                      <a:r>
                        <a:rPr kumimoji="0" lang="en-US" sz="1200" b="0" i="1" u="none" strike="noStrike" kern="1200" cap="none" spc="0" normalizeH="0" baseline="0" noProof="0">
                          <a:ln>
                            <a:noFill/>
                          </a:ln>
                          <a:solidFill>
                            <a:schemeClr val="bg1"/>
                          </a:solidFill>
                          <a:effectLst/>
                          <a:uLnTx/>
                          <a:uFillTx/>
                          <a:latin typeface="Arial" panose="020B0604020202020204"/>
                          <a:ea typeface="+mn-ea"/>
                          <a:cs typeface="+mn-cs"/>
                        </a:rPr>
                        <a:t>Description</a:t>
                      </a:r>
                    </a:p>
                  </a:txBody>
                  <a:tcPr marL="45720" marR="45720">
                    <a:lnL w="6350" cap="flat" cmpd="sng" algn="ctr">
                      <a:no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A33124"/>
                    </a:solidFill>
                  </a:tcPr>
                </a:tc>
              </a:tr>
              <a:tr h="426496">
                <a:tc rowSpan="4">
                  <a:txBody>
                    <a:bodyPr/>
                    <a:lstStyle/>
                    <a:p>
                      <a:pPr marL="0" marR="0" lvl="0" indent="0" algn="l" defTabSz="914400" rtl="0" eaLnBrk="1" fontAlgn="auto" latinLnBrk="0" hangingPunct="1">
                        <a:lnSpc>
                          <a:spcPct val="100000"/>
                        </a:lnSpc>
                        <a:spcBef>
                          <a:spcPts val="0"/>
                        </a:spcBef>
                        <a:spcAft>
                          <a:spcPts val="0"/>
                        </a:spcAft>
                        <a:buClrTx/>
                        <a:buSzTx/>
                        <a:buFontTx/>
                        <a:buNone/>
                        <a:tabLst/>
                        <a:defRPr sz="1000"/>
                      </a:pPr>
                      <a:r>
                        <a:rPr kumimoji="0" lang="en-US" sz="1200" b="1" i="0" u="none" strike="noStrike" kern="1200" cap="none" spc="0" normalizeH="0" baseline="0" noProof="0">
                          <a:ln>
                            <a:noFill/>
                          </a:ln>
                          <a:solidFill>
                            <a:srgbClr val="000000"/>
                          </a:solidFill>
                          <a:effectLst/>
                          <a:uLnTx/>
                          <a:uFillTx/>
                          <a:latin typeface="Arial" panose="020B0604020202020204"/>
                          <a:ea typeface="Inter" panose="02000503000000020004" pitchFamily="2" charset="0"/>
                          <a:cs typeface="+mn-cs"/>
                        </a:rPr>
                        <a:t>Platform 2</a:t>
                      </a:r>
                    </a:p>
                  </a:txBody>
                  <a:tcPr marL="45720" marR="45720">
                    <a:lnL w="12700" cap="flat" cmpd="sng" algn="ctr">
                      <a:noFill/>
                      <a:prstDash val="solid"/>
                      <a:round/>
                      <a:headEnd type="none" w="med" len="med"/>
                      <a:tailEnd type="none" w="med" len="med"/>
                    </a:lnL>
                    <a:lnT w="6350" cap="flat" cmpd="sng" algn="ctr">
                      <a:solidFill>
                        <a:srgbClr val="808080"/>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sz="1000"/>
                      </a:pPr>
                      <a:r>
                        <a:rPr kumimoji="0" lang="en-US" sz="1200" b="1" i="0" u="none" strike="noStrike" kern="1200" cap="none" spc="0" normalizeH="0" baseline="0" noProof="0">
                          <a:ln>
                            <a:noFill/>
                          </a:ln>
                          <a:solidFill>
                            <a:srgbClr val="000000"/>
                          </a:solidFill>
                          <a:effectLst/>
                          <a:uLnTx/>
                          <a:uFillTx/>
                          <a:latin typeface="Arial" panose="020B0604020202020204"/>
                          <a:ea typeface="Inter" panose="02000503000000020004" pitchFamily="2" charset="0"/>
                          <a:cs typeface="+mn-cs"/>
                        </a:rPr>
                        <a:t>Contract 1</a:t>
                      </a:r>
                    </a:p>
                  </a:txBody>
                  <a:tcPr marL="45720" marR="45720">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000"/>
                      </a:pPr>
                      <a:r>
                        <a:rPr kumimoji="0" lang="en-US" sz="1200" b="0" i="0" u="none" strike="noStrike" kern="1200" cap="none" spc="0" normalizeH="0" baseline="0" noProof="0">
                          <a:ln>
                            <a:noFill/>
                          </a:ln>
                          <a:solidFill>
                            <a:srgbClr val="000000"/>
                          </a:solidFill>
                          <a:effectLst/>
                          <a:uLnTx/>
                          <a:uFillTx/>
                          <a:latin typeface="Arial" panose="020B0604020202020204"/>
                          <a:ea typeface="Inter" panose="02000503000000020004" pitchFamily="2" charset="0"/>
                          <a:cs typeface="+mn-cs"/>
                        </a:rPr>
                        <a:t>$###M</a:t>
                      </a:r>
                    </a:p>
                  </a:txBody>
                  <a:tcPr marL="45720" marR="45720">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sz="1000"/>
                      </a:pPr>
                      <a:r>
                        <a:rPr kumimoji="0" lang="en-US" sz="1200" b="0" i="1" u="none" strike="noStrike" kern="1200" cap="none" spc="0" normalizeH="0" baseline="0" noProof="0">
                          <a:ln>
                            <a:noFill/>
                          </a:ln>
                          <a:solidFill>
                            <a:srgbClr val="000000"/>
                          </a:solidFill>
                          <a:effectLst/>
                          <a:uLnTx/>
                          <a:uFillTx/>
                          <a:latin typeface="Arial" panose="020B0604020202020204"/>
                          <a:ea typeface="Inter" panose="02000503000000020004" pitchFamily="2" charset="0"/>
                          <a:cs typeface="+mn-cs"/>
                        </a:rPr>
                        <a:t>…</a:t>
                      </a:r>
                    </a:p>
                  </a:txBody>
                  <a:tcPr marL="45720" marR="45720">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000"/>
                      </a:pPr>
                      <a:r>
                        <a:rPr kumimoji="0" lang="en-US" sz="1200" b="0" i="1" u="none" strike="noStrike" kern="1200" cap="none" spc="0" normalizeH="0" baseline="0" noProof="0">
                          <a:ln>
                            <a:noFill/>
                          </a:ln>
                          <a:solidFill>
                            <a:srgbClr val="000000"/>
                          </a:solidFill>
                          <a:effectLst/>
                          <a:uLnTx/>
                          <a:uFillTx/>
                          <a:latin typeface="Arial" panose="020B0604020202020204"/>
                          <a:ea typeface="Inter" panose="02000503000000020004" pitchFamily="2" charset="0"/>
                          <a:cs typeface="+mn-cs"/>
                        </a:rPr>
                        <a:t> ## / ## / 202#</a:t>
                      </a:r>
                    </a:p>
                  </a:txBody>
                  <a:tcPr marL="45720" marR="45720">
                    <a:lnR w="6350" cap="flat" cmpd="sng" algn="ctr">
                      <a:no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spcBef>
                          <a:spcPts val="150"/>
                        </a:spcBef>
                        <a:spcAft>
                          <a:spcPts val="150"/>
                        </a:spcAft>
                      </a:pPr>
                      <a:r>
                        <a:rPr lang="en-US" sz="1200" b="0" i="1">
                          <a:solidFill>
                            <a:srgbClr val="000000"/>
                          </a:solidFill>
                          <a:latin typeface="+mj-lt"/>
                        </a:rPr>
                        <a:t>Player E</a:t>
                      </a:r>
                    </a:p>
                  </a:txBody>
                  <a:tcPr marL="45720" marR="4572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000"/>
                      </a:pPr>
                      <a:r>
                        <a:rPr kumimoji="0" lang="en-US" sz="1200" b="0" i="1" u="none" strike="noStrike" kern="1200" cap="none" spc="0" normalizeH="0" baseline="0" noProof="0">
                          <a:ln>
                            <a:noFill/>
                          </a:ln>
                          <a:solidFill>
                            <a:schemeClr val="bg1"/>
                          </a:solidFill>
                          <a:effectLst/>
                          <a:uLnTx/>
                          <a:uFillTx/>
                          <a:latin typeface="Arial" panose="020B0604020202020204"/>
                          <a:ea typeface="+mn-ea"/>
                          <a:cs typeface="+mn-cs"/>
                        </a:rPr>
                        <a:t>Description</a:t>
                      </a:r>
                    </a:p>
                  </a:txBody>
                  <a:tcPr marL="45720" marR="45720">
                    <a:lnL w="6350" cap="flat" cmpd="sng" algn="ctr">
                      <a:no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B8A57"/>
                    </a:solidFill>
                  </a:tcPr>
                </a:tc>
              </a:tr>
              <a:tr h="426496">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sz="1000"/>
                      </a:pPr>
                      <a:endParaRPr kumimoji="0" lang="en-US" sz="1200" b="1" i="0" u="none" strike="noStrike" kern="1200" cap="none" spc="0" normalizeH="0" baseline="0" noProof="0">
                        <a:ln>
                          <a:noFill/>
                        </a:ln>
                        <a:solidFill>
                          <a:srgbClr val="000000"/>
                        </a:solidFill>
                        <a:effectLst/>
                        <a:uLnTx/>
                        <a:uFillTx/>
                        <a:latin typeface="Arial" panose="020B0604020202020204"/>
                        <a:ea typeface="Inter" panose="02000503000000020004" pitchFamily="2" charset="0"/>
                        <a:cs typeface="+mn-cs"/>
                      </a:endParaRPr>
                    </a:p>
                  </a:txBody>
                  <a:tcPr marL="45720" marR="45720" anchor="ctr">
                    <a:lnL w="12700" cap="flat" cmpd="sng" algn="ctr">
                      <a:noFill/>
                      <a:prstDash val="solid"/>
                      <a:round/>
                      <a:headEnd type="none" w="med" len="med"/>
                      <a:tailEnd type="none" w="med" len="med"/>
                    </a:lnL>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sz="1000"/>
                      </a:pPr>
                      <a:r>
                        <a:rPr kumimoji="0" lang="en-US" sz="1200" b="1" i="0" u="none" strike="noStrike" kern="1200" cap="none" spc="0" normalizeH="0" baseline="0" noProof="0">
                          <a:ln>
                            <a:noFill/>
                          </a:ln>
                          <a:solidFill>
                            <a:srgbClr val="000000"/>
                          </a:solidFill>
                          <a:effectLst/>
                          <a:uLnTx/>
                          <a:uFillTx/>
                          <a:latin typeface="Arial" panose="020B0604020202020204"/>
                          <a:ea typeface="Inter" panose="02000503000000020004" pitchFamily="2" charset="0"/>
                          <a:cs typeface="+mn-cs"/>
                        </a:rPr>
                        <a:t>Contract 2</a:t>
                      </a:r>
                    </a:p>
                  </a:txBody>
                  <a:tcPr marL="45720" marR="45720">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000"/>
                      </a:pPr>
                      <a:r>
                        <a:rPr kumimoji="0" lang="en-US" sz="1200" b="0" i="0" u="none" strike="noStrike" kern="1200" cap="none" spc="0" normalizeH="0" baseline="0" noProof="0">
                          <a:ln>
                            <a:noFill/>
                          </a:ln>
                          <a:solidFill>
                            <a:srgbClr val="000000"/>
                          </a:solidFill>
                          <a:effectLst/>
                          <a:uLnTx/>
                          <a:uFillTx/>
                          <a:latin typeface="Arial" panose="020B0604020202020204"/>
                          <a:ea typeface="Inter" panose="02000503000000020004" pitchFamily="2" charset="0"/>
                          <a:cs typeface="+mn-cs"/>
                        </a:rPr>
                        <a:t>$###M</a:t>
                      </a:r>
                    </a:p>
                  </a:txBody>
                  <a:tcPr marL="45720" marR="45720">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sz="1000"/>
                      </a:pPr>
                      <a:r>
                        <a:rPr kumimoji="0" lang="en-US" sz="1200" b="0" i="1" u="none" strike="noStrike" kern="1200" cap="none" spc="0" normalizeH="0" baseline="0" noProof="0">
                          <a:ln>
                            <a:noFill/>
                          </a:ln>
                          <a:solidFill>
                            <a:srgbClr val="000000"/>
                          </a:solidFill>
                          <a:effectLst/>
                          <a:uLnTx/>
                          <a:uFillTx/>
                          <a:latin typeface="Arial" panose="020B0604020202020204"/>
                          <a:ea typeface="Inter" panose="02000503000000020004" pitchFamily="2" charset="0"/>
                          <a:cs typeface="+mn-cs"/>
                        </a:rPr>
                        <a:t>…</a:t>
                      </a:r>
                    </a:p>
                  </a:txBody>
                  <a:tcPr marL="45720" marR="45720">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000"/>
                      </a:pPr>
                      <a:r>
                        <a:rPr kumimoji="0" lang="en-US" sz="1200" b="0" i="1" u="none" strike="noStrike" kern="1200" cap="none" spc="0" normalizeH="0" baseline="0" noProof="0">
                          <a:ln>
                            <a:noFill/>
                          </a:ln>
                          <a:solidFill>
                            <a:srgbClr val="000000"/>
                          </a:solidFill>
                          <a:effectLst/>
                          <a:uLnTx/>
                          <a:uFillTx/>
                          <a:latin typeface="Arial" panose="020B0604020202020204"/>
                          <a:ea typeface="Inter" panose="02000503000000020004" pitchFamily="2" charset="0"/>
                          <a:cs typeface="+mn-cs"/>
                        </a:rPr>
                        <a:t> ## / ## / 202#</a:t>
                      </a:r>
                    </a:p>
                  </a:txBody>
                  <a:tcPr marL="45720" marR="45720">
                    <a:lnR w="6350" cap="flat" cmpd="sng" algn="ctr">
                      <a:no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spcBef>
                          <a:spcPts val="150"/>
                        </a:spcBef>
                        <a:spcAft>
                          <a:spcPts val="150"/>
                        </a:spcAft>
                      </a:pPr>
                      <a:r>
                        <a:rPr lang="en-US" sz="1200" b="0" i="1">
                          <a:solidFill>
                            <a:srgbClr val="000000"/>
                          </a:solidFill>
                          <a:latin typeface="+mj-lt"/>
                        </a:rPr>
                        <a:t>Player F</a:t>
                      </a:r>
                    </a:p>
                  </a:txBody>
                  <a:tcPr marL="45720" marR="4572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000"/>
                      </a:pPr>
                      <a:r>
                        <a:rPr kumimoji="0" lang="en-US" sz="1200" b="0" i="1" u="none" strike="noStrike" kern="1200" cap="none" spc="0" normalizeH="0" baseline="0" noProof="0">
                          <a:ln>
                            <a:noFill/>
                          </a:ln>
                          <a:solidFill>
                            <a:schemeClr val="bg1"/>
                          </a:solidFill>
                          <a:effectLst/>
                          <a:uLnTx/>
                          <a:uFillTx/>
                          <a:latin typeface="Arial" panose="020B0604020202020204"/>
                          <a:ea typeface="+mn-ea"/>
                          <a:cs typeface="+mn-cs"/>
                        </a:rPr>
                        <a:t>Description</a:t>
                      </a:r>
                    </a:p>
                  </a:txBody>
                  <a:tcPr marL="45720" marR="45720">
                    <a:lnL w="6350" cap="flat" cmpd="sng" algn="ctr">
                      <a:no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B8A57"/>
                    </a:solidFill>
                  </a:tcPr>
                </a:tc>
              </a:tr>
              <a:tr h="426496">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sz="1000"/>
                      </a:pPr>
                      <a:endParaRPr kumimoji="0" lang="en-US" sz="1200" b="1" i="0" u="none" strike="noStrike" kern="1200" cap="none" spc="0" normalizeH="0" baseline="0" noProof="0">
                        <a:ln>
                          <a:noFill/>
                        </a:ln>
                        <a:solidFill>
                          <a:srgbClr val="000000"/>
                        </a:solidFill>
                        <a:effectLst/>
                        <a:uLnTx/>
                        <a:uFillTx/>
                        <a:latin typeface="Arial" panose="020B0604020202020204"/>
                        <a:ea typeface="Inter" panose="02000503000000020004" pitchFamily="2" charset="0"/>
                        <a:cs typeface="+mn-cs"/>
                      </a:endParaRPr>
                    </a:p>
                  </a:txBody>
                  <a:tcPr marL="45720" marR="45720" anchor="ctr">
                    <a:lnL w="12700" cap="flat" cmpd="sng" algn="ctr">
                      <a:noFill/>
                      <a:prstDash val="solid"/>
                      <a:round/>
                      <a:headEnd type="none" w="med" len="med"/>
                      <a:tailEnd type="none" w="med" len="med"/>
                    </a:lnL>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sz="1000"/>
                      </a:pPr>
                      <a:r>
                        <a:rPr kumimoji="0" lang="en-US" sz="1200" b="1" i="0" u="none" strike="noStrike" kern="1200" cap="none" spc="0" normalizeH="0" baseline="0" noProof="0">
                          <a:ln>
                            <a:noFill/>
                          </a:ln>
                          <a:solidFill>
                            <a:srgbClr val="000000"/>
                          </a:solidFill>
                          <a:effectLst/>
                          <a:uLnTx/>
                          <a:uFillTx/>
                          <a:latin typeface="Arial" panose="020B0604020202020204"/>
                          <a:ea typeface="Inter" panose="02000503000000020004" pitchFamily="2" charset="0"/>
                          <a:cs typeface="+mn-cs"/>
                        </a:rPr>
                        <a:t>Contract 3</a:t>
                      </a:r>
                    </a:p>
                  </a:txBody>
                  <a:tcPr marL="45720" marR="45720">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000"/>
                      </a:pPr>
                      <a:r>
                        <a:rPr kumimoji="0" lang="en-US" sz="1200" b="0" i="0" u="none" strike="noStrike" kern="1200" cap="none" spc="0" normalizeH="0" baseline="0" noProof="0">
                          <a:ln>
                            <a:noFill/>
                          </a:ln>
                          <a:solidFill>
                            <a:srgbClr val="000000"/>
                          </a:solidFill>
                          <a:effectLst/>
                          <a:uLnTx/>
                          <a:uFillTx/>
                          <a:latin typeface="Arial" panose="020B0604020202020204"/>
                          <a:ea typeface="Inter" panose="02000503000000020004" pitchFamily="2" charset="0"/>
                          <a:cs typeface="+mn-cs"/>
                        </a:rPr>
                        <a:t>$###M</a:t>
                      </a:r>
                    </a:p>
                  </a:txBody>
                  <a:tcPr marL="45720" marR="45720">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sz="1000"/>
                      </a:pPr>
                      <a:r>
                        <a:rPr kumimoji="0" lang="en-US" sz="1200" b="0" i="1" u="none" strike="noStrike" kern="1200" cap="none" spc="0" normalizeH="0" baseline="0" noProof="0">
                          <a:ln>
                            <a:noFill/>
                          </a:ln>
                          <a:solidFill>
                            <a:srgbClr val="000000"/>
                          </a:solidFill>
                          <a:effectLst/>
                          <a:uLnTx/>
                          <a:uFillTx/>
                          <a:latin typeface="Arial" panose="020B0604020202020204"/>
                          <a:ea typeface="Inter" panose="02000503000000020004" pitchFamily="2" charset="0"/>
                          <a:cs typeface="+mn-cs"/>
                        </a:rPr>
                        <a:t>…</a:t>
                      </a:r>
                    </a:p>
                  </a:txBody>
                  <a:tcPr marL="45720" marR="45720">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000"/>
                      </a:pPr>
                      <a:r>
                        <a:rPr kumimoji="0" lang="en-US" sz="1200" b="0" i="1" u="none" strike="noStrike" kern="1200" cap="none" spc="0" normalizeH="0" baseline="0" noProof="0">
                          <a:ln>
                            <a:noFill/>
                          </a:ln>
                          <a:solidFill>
                            <a:srgbClr val="000000"/>
                          </a:solidFill>
                          <a:effectLst/>
                          <a:uLnTx/>
                          <a:uFillTx/>
                          <a:latin typeface="Arial" panose="020B0604020202020204"/>
                          <a:ea typeface="Inter" panose="02000503000000020004" pitchFamily="2" charset="0"/>
                          <a:cs typeface="+mn-cs"/>
                        </a:rPr>
                        <a:t> ## / ## / 202#</a:t>
                      </a:r>
                    </a:p>
                  </a:txBody>
                  <a:tcPr marL="45720" marR="45720">
                    <a:lnR w="6350" cap="flat" cmpd="sng" algn="ctr">
                      <a:no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spcBef>
                          <a:spcPts val="150"/>
                        </a:spcBef>
                        <a:spcAft>
                          <a:spcPts val="150"/>
                        </a:spcAft>
                      </a:pPr>
                      <a:r>
                        <a:rPr lang="en-US" sz="1200" b="0" i="1">
                          <a:solidFill>
                            <a:srgbClr val="000000"/>
                          </a:solidFill>
                          <a:latin typeface="+mj-lt"/>
                        </a:rPr>
                        <a:t>Player G</a:t>
                      </a:r>
                    </a:p>
                  </a:txBody>
                  <a:tcPr marL="45720" marR="4572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000"/>
                      </a:pPr>
                      <a:r>
                        <a:rPr kumimoji="0" lang="en-US" sz="1200" b="0" i="1" u="none" strike="noStrike" kern="1200" cap="none" spc="0" normalizeH="0" baseline="0" noProof="0">
                          <a:ln>
                            <a:noFill/>
                          </a:ln>
                          <a:solidFill>
                            <a:srgbClr val="000000"/>
                          </a:solidFill>
                          <a:effectLst/>
                          <a:uLnTx/>
                          <a:uFillTx/>
                          <a:latin typeface="Arial" panose="020B0604020202020204"/>
                          <a:ea typeface="+mn-ea"/>
                          <a:cs typeface="+mn-cs"/>
                        </a:rPr>
                        <a:t>Description</a:t>
                      </a:r>
                    </a:p>
                  </a:txBody>
                  <a:tcPr marL="45720" marR="45720">
                    <a:lnL w="6350" cap="flat" cmpd="sng" algn="ctr">
                      <a:no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BFBFBF"/>
                    </a:solidFill>
                  </a:tcPr>
                </a:tc>
              </a:tr>
              <a:tr h="426496">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sz="1000"/>
                      </a:pPr>
                      <a:endParaRPr kumimoji="0" lang="en-US" sz="1200" b="1" i="0" u="none" strike="noStrike" kern="1200" cap="none" spc="0" normalizeH="0" baseline="0" noProof="0">
                        <a:ln>
                          <a:noFill/>
                        </a:ln>
                        <a:solidFill>
                          <a:srgbClr val="000000"/>
                        </a:solidFill>
                        <a:effectLst/>
                        <a:uLnTx/>
                        <a:uFillTx/>
                        <a:latin typeface="Arial" panose="020B0604020202020204"/>
                        <a:ea typeface="Inter" panose="02000503000000020004" pitchFamily="2" charset="0"/>
                        <a:cs typeface="+mn-cs"/>
                      </a:endParaRPr>
                    </a:p>
                  </a:txBody>
                  <a:tcPr marL="45720" marR="45720">
                    <a:lnL w="12700" cap="flat" cmpd="sng" algn="ctr">
                      <a:noFill/>
                      <a:prstDash val="solid"/>
                      <a:round/>
                      <a:headEnd type="none" w="med" len="med"/>
                      <a:tailEnd type="none" w="med" len="med"/>
                    </a:lnL>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sz="1000"/>
                      </a:pPr>
                      <a:r>
                        <a:rPr kumimoji="0" lang="en-US" sz="1200" b="1" i="0" u="none" strike="noStrike" kern="1200" cap="none" spc="0" normalizeH="0" baseline="0" noProof="0">
                          <a:ln>
                            <a:noFill/>
                          </a:ln>
                          <a:solidFill>
                            <a:srgbClr val="000000"/>
                          </a:solidFill>
                          <a:effectLst/>
                          <a:uLnTx/>
                          <a:uFillTx/>
                          <a:latin typeface="Arial" panose="020B0604020202020204"/>
                          <a:ea typeface="Inter" panose="02000503000000020004" pitchFamily="2" charset="0"/>
                          <a:cs typeface="+mn-cs"/>
                        </a:rPr>
                        <a:t>Contract 4</a:t>
                      </a:r>
                    </a:p>
                  </a:txBody>
                  <a:tcPr marL="45720" marR="45720">
                    <a:lnT w="6350" cap="flat" cmpd="sng" algn="ctr">
                      <a:solidFill>
                        <a:srgbClr val="808080"/>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000"/>
                      </a:pPr>
                      <a:r>
                        <a:rPr kumimoji="0" lang="en-US" sz="1200" b="0" i="0" u="none" strike="noStrike" kern="1200" cap="none" spc="0" normalizeH="0" baseline="0" noProof="0">
                          <a:ln>
                            <a:noFill/>
                          </a:ln>
                          <a:solidFill>
                            <a:srgbClr val="000000"/>
                          </a:solidFill>
                          <a:effectLst/>
                          <a:uLnTx/>
                          <a:uFillTx/>
                          <a:latin typeface="Arial" panose="020B0604020202020204"/>
                          <a:ea typeface="Inter" panose="02000503000000020004" pitchFamily="2" charset="0"/>
                          <a:cs typeface="+mn-cs"/>
                        </a:rPr>
                        <a:t>$###M</a:t>
                      </a:r>
                    </a:p>
                  </a:txBody>
                  <a:tcPr marL="45720" marR="45720">
                    <a:lnT w="6350" cap="flat" cmpd="sng" algn="ctr">
                      <a:solidFill>
                        <a:srgbClr val="808080"/>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sz="1000"/>
                      </a:pPr>
                      <a:r>
                        <a:rPr kumimoji="0" lang="en-US" sz="1200" b="0" i="1" u="none" strike="noStrike" kern="1200" cap="none" spc="0" normalizeH="0" baseline="0" noProof="0">
                          <a:ln>
                            <a:noFill/>
                          </a:ln>
                          <a:solidFill>
                            <a:srgbClr val="000000"/>
                          </a:solidFill>
                          <a:effectLst/>
                          <a:uLnTx/>
                          <a:uFillTx/>
                          <a:latin typeface="Arial" panose="020B0604020202020204"/>
                          <a:ea typeface="Inter" panose="02000503000000020004" pitchFamily="2" charset="0"/>
                          <a:cs typeface="+mn-cs"/>
                        </a:rPr>
                        <a:t>…</a:t>
                      </a:r>
                    </a:p>
                  </a:txBody>
                  <a:tcPr marL="45720" marR="45720">
                    <a:lnT w="6350" cap="flat" cmpd="sng" algn="ctr">
                      <a:solidFill>
                        <a:srgbClr val="808080"/>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000"/>
                      </a:pPr>
                      <a:r>
                        <a:rPr kumimoji="0" lang="en-US" sz="1200" b="0" i="1" u="none" strike="noStrike" kern="1200" cap="none" spc="0" normalizeH="0" baseline="0" noProof="0">
                          <a:ln>
                            <a:noFill/>
                          </a:ln>
                          <a:solidFill>
                            <a:srgbClr val="000000"/>
                          </a:solidFill>
                          <a:effectLst/>
                          <a:uLnTx/>
                          <a:uFillTx/>
                          <a:latin typeface="Arial" panose="020B0604020202020204"/>
                          <a:ea typeface="Inter" panose="02000503000000020004" pitchFamily="2" charset="0"/>
                          <a:cs typeface="+mn-cs"/>
                        </a:rPr>
                        <a:t> ## / ## / 202#</a:t>
                      </a:r>
                    </a:p>
                  </a:txBody>
                  <a:tcPr marL="45720" marR="45720">
                    <a:lnR w="6350" cap="flat" cmpd="sng" algn="ctr">
                      <a:noFill/>
                      <a:prstDash val="solid"/>
                      <a:round/>
                      <a:headEnd type="none" w="med" len="med"/>
                      <a:tailEnd type="none" w="med" len="med"/>
                    </a:lnR>
                    <a:lnT w="6350" cap="flat" cmpd="sng" algn="ctr">
                      <a:solidFill>
                        <a:srgbClr val="808080"/>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spcBef>
                          <a:spcPts val="150"/>
                        </a:spcBef>
                        <a:spcAft>
                          <a:spcPts val="150"/>
                        </a:spcAft>
                      </a:pPr>
                      <a:r>
                        <a:rPr lang="en-US" sz="1200" b="0" i="1">
                          <a:solidFill>
                            <a:srgbClr val="000000"/>
                          </a:solidFill>
                          <a:latin typeface="+mj-lt"/>
                        </a:rPr>
                        <a:t>Player H</a:t>
                      </a:r>
                    </a:p>
                  </a:txBody>
                  <a:tcPr marL="45720" marR="4572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808080"/>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000"/>
                      </a:pPr>
                      <a:r>
                        <a:rPr kumimoji="0" lang="en-US" sz="1200" b="0" i="1" u="none" strike="noStrike" kern="1200" cap="none" spc="0" normalizeH="0" baseline="0" noProof="0">
                          <a:ln>
                            <a:noFill/>
                          </a:ln>
                          <a:solidFill>
                            <a:srgbClr val="000000"/>
                          </a:solidFill>
                          <a:effectLst/>
                          <a:uLnTx/>
                          <a:uFillTx/>
                          <a:latin typeface="Arial" panose="020B0604020202020204"/>
                          <a:ea typeface="+mn-ea"/>
                          <a:cs typeface="+mn-cs"/>
                        </a:rPr>
                        <a:t>Description</a:t>
                      </a:r>
                    </a:p>
                  </a:txBody>
                  <a:tcPr marL="45720" marR="45720">
                    <a:lnL w="6350" cap="flat" cmpd="sng" algn="ctr">
                      <a:no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BFBFBF"/>
                    </a:solidFill>
                  </a:tcPr>
                </a:tc>
              </a:tr>
            </a:tbl>
          </a:graphicData>
        </a:graphic>
      </p:graphicFrame>
      <p:sp>
        <p:nvSpPr>
          <p:cNvPr id="305" name="Text 2"/>
          <p:cNvSpPr/>
          <p:nvPr/>
        </p:nvSpPr>
        <p:spPr>
          <a:xfrm>
            <a:off x="7955280" y="1203152"/>
            <a:ext cx="944880" cy="164880"/>
          </a:xfrm>
          <a:prstGeom prst="rect">
            <a:avLst/>
          </a:prstGeom>
          <a:noFill/>
          <a:ln/>
        </p:spPr>
        <p:txBody>
          <a:bodyPr wrap="square" lIns="0" tIns="0" rIns="0" bIns="0" rtlCol="0" anchor="ctr"/>
          <a:lstStyle/>
          <a:p>
            <a:r>
              <a:rPr lang="en-US" sz="800" i="1">
                <a:solidFill>
                  <a:srgbClr val="000000"/>
                </a:solidFill>
                <a:latin typeface="+mj-lt"/>
                <a:ea typeface="Calibri" pitchFamily="34" charset="-122"/>
                <a:cs typeface="Calibri" pitchFamily="34" charset="-120"/>
              </a:rPr>
              <a:t>Budget outlook:	</a:t>
            </a:r>
            <a:endParaRPr lang="en-US" sz="800" i="1">
              <a:solidFill>
                <a:srgbClr val="000000"/>
              </a:solidFill>
              <a:latin typeface="+mj-lt"/>
            </a:endParaRPr>
          </a:p>
        </p:txBody>
      </p:sp>
      <p:sp>
        <p:nvSpPr>
          <p:cNvPr id="306" name="Shape 3"/>
          <p:cNvSpPr/>
          <p:nvPr/>
        </p:nvSpPr>
        <p:spPr>
          <a:xfrm>
            <a:off x="8927592" y="1203152"/>
            <a:ext cx="539496" cy="164880"/>
          </a:xfrm>
          <a:prstGeom prst="rect">
            <a:avLst/>
          </a:prstGeom>
          <a:solidFill>
            <a:srgbClr val="1B8A57"/>
          </a:solidFill>
          <a:ln/>
        </p:spPr>
        <p:txBody>
          <a:bodyPr/>
          <a:lstStyle/>
          <a:p>
            <a:endParaRPr lang="en-US" sz="800">
              <a:latin typeface="+mj-lt"/>
            </a:endParaRPr>
          </a:p>
        </p:txBody>
      </p:sp>
      <p:sp>
        <p:nvSpPr>
          <p:cNvPr id="307" name="Text 4"/>
          <p:cNvSpPr/>
          <p:nvPr/>
        </p:nvSpPr>
        <p:spPr>
          <a:xfrm>
            <a:off x="8927592" y="1203152"/>
            <a:ext cx="539496" cy="164880"/>
          </a:xfrm>
          <a:prstGeom prst="rect">
            <a:avLst/>
          </a:prstGeom>
          <a:noFill/>
          <a:ln/>
        </p:spPr>
        <p:txBody>
          <a:bodyPr wrap="square" lIns="0" tIns="0" rIns="0" bIns="0" rtlCol="0" anchor="ctr"/>
          <a:lstStyle/>
          <a:p>
            <a:pPr algn="ctr"/>
            <a:r>
              <a:rPr lang="en-US" sz="800" b="1">
                <a:solidFill>
                  <a:srgbClr val="FFFFFF"/>
                </a:solidFill>
                <a:latin typeface="+mj-lt"/>
                <a:ea typeface="Calibri" pitchFamily="34" charset="-122"/>
                <a:cs typeface="Calibri" pitchFamily="34" charset="-120"/>
              </a:rPr>
              <a:t>≤6</a:t>
            </a:r>
            <a:endParaRPr lang="en-US" sz="800">
              <a:latin typeface="+mj-lt"/>
            </a:endParaRPr>
          </a:p>
        </p:txBody>
      </p:sp>
      <p:sp>
        <p:nvSpPr>
          <p:cNvPr id="308" name="Shape 3"/>
          <p:cNvSpPr/>
          <p:nvPr/>
        </p:nvSpPr>
        <p:spPr>
          <a:xfrm>
            <a:off x="10854027" y="1203152"/>
            <a:ext cx="914400" cy="164880"/>
          </a:xfrm>
          <a:prstGeom prst="rect">
            <a:avLst/>
          </a:prstGeom>
          <a:solidFill>
            <a:srgbClr val="1B8A57"/>
          </a:solidFill>
          <a:ln/>
        </p:spPr>
        <p:txBody>
          <a:bodyPr anchor="ctr"/>
          <a:lstStyle/>
          <a:p>
            <a:pPr algn="ctr"/>
            <a:r>
              <a:rPr lang="en-US" sz="800" b="1">
                <a:solidFill>
                  <a:schemeClr val="bg1"/>
                </a:solidFill>
                <a:latin typeface="+mj-lt"/>
              </a:rPr>
              <a:t>Favorable</a:t>
            </a:r>
          </a:p>
        </p:txBody>
      </p:sp>
      <p:sp>
        <p:nvSpPr>
          <p:cNvPr id="309" name="Text 4"/>
          <p:cNvSpPr/>
          <p:nvPr/>
        </p:nvSpPr>
        <p:spPr>
          <a:xfrm>
            <a:off x="8927592" y="1203152"/>
            <a:ext cx="539496" cy="164880"/>
          </a:xfrm>
          <a:prstGeom prst="rect">
            <a:avLst/>
          </a:prstGeom>
          <a:noFill/>
          <a:ln/>
        </p:spPr>
        <p:txBody>
          <a:bodyPr wrap="square" lIns="0" tIns="0" rIns="0" bIns="0" rtlCol="0" anchor="ctr"/>
          <a:lstStyle/>
          <a:p>
            <a:pPr algn="ctr"/>
            <a:r>
              <a:rPr lang="en-US" sz="800" b="1">
                <a:solidFill>
                  <a:srgbClr val="FFFFFF"/>
                </a:solidFill>
                <a:latin typeface="+mj-lt"/>
                <a:ea typeface="Calibri" pitchFamily="34" charset="-122"/>
                <a:cs typeface="Calibri" pitchFamily="34" charset="-120"/>
              </a:rPr>
              <a:t>≤6</a:t>
            </a:r>
            <a:endParaRPr lang="en-US" sz="800">
              <a:latin typeface="+mj-lt"/>
            </a:endParaRPr>
          </a:p>
        </p:txBody>
      </p:sp>
      <p:sp>
        <p:nvSpPr>
          <p:cNvPr id="310" name="Shape 7"/>
          <p:cNvSpPr/>
          <p:nvPr/>
        </p:nvSpPr>
        <p:spPr>
          <a:xfrm>
            <a:off x="10061448" y="1203152"/>
            <a:ext cx="539496" cy="164880"/>
          </a:xfrm>
          <a:prstGeom prst="rect">
            <a:avLst/>
          </a:prstGeom>
          <a:solidFill>
            <a:srgbClr val="BA7517"/>
          </a:solidFill>
          <a:ln/>
        </p:spPr>
        <p:txBody>
          <a:bodyPr/>
          <a:lstStyle/>
          <a:p>
            <a:endParaRPr lang="en-US" sz="800">
              <a:latin typeface="+mj-lt"/>
            </a:endParaRPr>
          </a:p>
        </p:txBody>
      </p:sp>
      <p:sp>
        <p:nvSpPr>
          <p:cNvPr id="311" name="Text 8"/>
          <p:cNvSpPr/>
          <p:nvPr/>
        </p:nvSpPr>
        <p:spPr>
          <a:xfrm>
            <a:off x="9890809" y="1203152"/>
            <a:ext cx="914400" cy="164880"/>
          </a:xfrm>
          <a:prstGeom prst="rect">
            <a:avLst/>
          </a:prstGeom>
          <a:solidFill>
            <a:srgbClr val="BFBFBF"/>
          </a:solidFill>
          <a:ln/>
        </p:spPr>
        <p:txBody>
          <a:bodyPr wrap="square" lIns="0" tIns="0" rIns="0" bIns="0" rtlCol="0" anchor="ctr"/>
          <a:lstStyle/>
          <a:p>
            <a:pPr algn="ctr"/>
            <a:r>
              <a:rPr lang="en-US" sz="800" b="1">
                <a:solidFill>
                  <a:srgbClr val="FFFFFF"/>
                </a:solidFill>
                <a:latin typeface="+mj-lt"/>
                <a:ea typeface="Calibri" pitchFamily="34" charset="-122"/>
                <a:cs typeface="Calibri" pitchFamily="34" charset="-120"/>
              </a:rPr>
              <a:t>Unknown</a:t>
            </a:r>
            <a:endParaRPr lang="en-US" sz="800">
              <a:latin typeface="+mj-lt"/>
            </a:endParaRPr>
          </a:p>
        </p:txBody>
      </p:sp>
      <p:sp>
        <p:nvSpPr>
          <p:cNvPr id="312" name="Text 12"/>
          <p:cNvSpPr/>
          <p:nvPr/>
        </p:nvSpPr>
        <p:spPr>
          <a:xfrm>
            <a:off x="8927592" y="1203152"/>
            <a:ext cx="914400" cy="164880"/>
          </a:xfrm>
          <a:prstGeom prst="rect">
            <a:avLst/>
          </a:prstGeom>
          <a:solidFill>
            <a:srgbClr val="A33124"/>
          </a:solidFill>
          <a:ln/>
        </p:spPr>
        <p:txBody>
          <a:bodyPr wrap="square" lIns="0" tIns="0" rIns="0" bIns="0" rtlCol="0" anchor="ctr"/>
          <a:lstStyle/>
          <a:p>
            <a:pPr algn="ctr"/>
            <a:r>
              <a:rPr lang="en-US" sz="800" b="1">
                <a:solidFill>
                  <a:srgbClr val="FFFFFF"/>
                </a:solidFill>
                <a:latin typeface="+mj-lt"/>
                <a:ea typeface="Calibri" pitchFamily="34" charset="-122"/>
                <a:cs typeface="Calibri" pitchFamily="34" charset="-120"/>
              </a:rPr>
              <a:t>Unfavorable</a:t>
            </a:r>
            <a:endParaRPr lang="en-US" sz="800">
              <a:latin typeface="+mj-lt"/>
            </a:endParaRPr>
          </a:p>
        </p:txBody>
      </p:sp>
      <p:sp>
        <p:nvSpPr>
          <p:cNvPr id="302" name="Breadcrumb"/>
          <p:cNvSpPr>
            <a:spLocks noGrp="1"/>
          </p:cNvSpPr>
          <p:nvPr>
            <p:ph type="body" sz="quarter" idx="10"/>
          </p:nvPr>
        </p:nvSpPr>
        <p:spPr>
          <a:xfrm>
            <a:off x="453079" y="263452"/>
            <a:ext cx="11282362" cy="153888"/>
          </a:xfrm>
        </p:spPr>
        <p:txBody>
          <a:bodyPr/>
          <a:lstStyle/>
          <a:p>
            <a:r>
              <a:rPr lang="en-US" sz="1000" b="1" kern="1200">
                <a:solidFill>
                  <a:srgbClr val="44505C"/>
                </a:solidFill>
                <a:latin typeface="Arial"/>
                <a:ea typeface="Arial"/>
                <a:cs typeface="Arial"/>
              </a:rPr>
              <a:t>Executive Summary</a:t>
            </a:r>
            <a:r>
              <a:rPr lang="en-US" sz="1000" kern="1200">
                <a:solidFill>
                  <a:srgbClr val="44505C"/>
                </a:solidFill>
                <a:latin typeface="Arial"/>
                <a:ea typeface="Arial"/>
                <a:cs typeface="Arial"/>
              </a:rPr>
              <a:t> / Supplier TAM and SAM</a:t>
            </a:r>
          </a:p>
        </p:txBody>
      </p:sp>
      <p:sp>
        <p:nvSpPr>
          <p:cNvPr id="304" name="PrelimChip"/>
          <p:cNvSpPr txBox="1"/>
          <p:nvPr/>
        </p:nvSpPr>
        <p:spPr>
          <a:xfrm>
            <a:off x="10267829" y="111556"/>
            <a:ext cx="1467612" cy="290000"/>
          </a:xfrm>
          <a:prstGeom prst="rect">
            <a:avLst/>
          </a:prstGeom>
          <a:solidFill>
            <a:srgbClr val="FFFFCC"/>
          </a:solidFill>
          <a:ln w="19050">
            <a:solidFill>
              <a:srgbClr val="000000"/>
            </a:solidFill>
          </a:ln>
        </p:spPr>
        <p:txBody>
          <a:bodyPr wrap="square" lIns="45720" tIns="9144" rIns="45720" bIns="9144" anchor="ctr"/>
          <a:lstStyle/>
          <a:p>
            <a:pPr algn="ctr"/>
            <a:r>
              <a:rPr lang="en-US" sz="1200" b="1" kern="1200">
                <a:solidFill>
                  <a:srgbClr val="000000"/>
                </a:solidFill>
                <a:latin typeface="Arial"/>
                <a:ea typeface="Arial"/>
                <a:cs typeface="Arial"/>
              </a:rPr>
              <a:t>Preliminary</a:t>
            </a:r>
          </a:p>
        </p:txBody>
      </p:sp>
      <p:sp>
        <p:nvSpPr>
          <p:cNvPr id="303" name="Title"/>
          <p:cNvSpPr>
            <a:spLocks noGrp="1"/>
          </p:cNvSpPr>
          <p:nvPr>
            <p:ph type="title"/>
          </p:nvPr>
        </p:nvSpPr>
        <p:spPr>
          <a:xfrm>
            <a:off x="453080" y="554500"/>
            <a:ext cx="11282362" cy="640080"/>
          </a:xfrm>
        </p:spPr>
        <p:txBody>
          <a:bodyPr vert="horz" rIns="0"/>
          <a:lstStyle/>
          <a:p>
            <a:r>
              <a:rPr lang="en-US">
                <a:solidFill>
                  <a:srgbClr val="162029"/>
                </a:solidFill>
                <a:ea typeface="Arial"/>
                <a:cs typeface="Arial"/>
              </a:rPr>
              <a:t>Contracts Outlook | …</a:t>
            </a:r>
            <a:endParaRPr lang="en-US" sz="2000" kern="1200">
              <a:solidFill>
                <a:srgbClr val="162029"/>
              </a:solidFill>
              <a:latin typeface="Arial"/>
              <a:ea typeface="Arial"/>
              <a:cs typeface="Arial"/>
            </a:endParaRPr>
          </a:p>
        </p:txBody>
      </p:sp>
      <p:sp>
        <p:nvSpPr>
          <p:cNvPr id="355" name="Sources"/>
          <p:cNvSpPr txBox="1"/>
          <p:nvPr/>
        </p:nvSpPr>
        <p:spPr>
          <a:xfrm>
            <a:off x="453079" y="6085448"/>
            <a:ext cx="11282362" cy="540000"/>
          </a:xfrm>
          <a:prstGeom prst="rect">
            <a:avLst/>
          </a:prstGeom>
          <a:noFill/>
          <a:ln>
            <a:noFill/>
          </a:ln>
        </p:spPr>
        <p:txBody>
          <a:bodyPr wrap="square" lIns="91440" tIns="45720" rIns="91440" bIns="45720" anchor="t"/>
          <a:lstStyle/>
          <a:p>
            <a:r>
              <a:rPr lang="en-US" sz="800" kern="1200">
                <a:solidFill>
                  <a:srgbClr val="162029"/>
                </a:solidFill>
                <a:latin typeface="Arial"/>
                <a:ea typeface="Arial"/>
                <a:cs typeface="Arial"/>
              </a:rPr>
              <a:t>Sources: Navy SCN P-5c / P-40 budget justification, FY22–FY27, and PB27 FYDP outyears (FY28–FY31); FY26, PL 119-21 Sec. 20002; PB27 SCN, Columbia P-10 Strategic Outsourcing narrative; OUSD(C) Green Book Procurement deflators; Navy Shipbuilding Plan; PB27 SCN Exhibit P-10, LI 2122 (AP/LLTM Ship Construction EOQ); FFATA/FSRS subaward records, yard-prime construction PIIDs, FY22–FY25 action years (work-type shares)</a:t>
            </a:r>
          </a:p>
        </p:txBody>
      </p:sp>
      <p:sp>
        <p:nvSpPr>
          <p:cNvPr id="322" name="PrelimChip"/>
          <p:cNvSpPr txBox="1"/>
          <p:nvPr/>
        </p:nvSpPr>
        <p:spPr>
          <a:xfrm>
            <a:off x="176981" y="1111045"/>
            <a:ext cx="11808542" cy="5279923"/>
          </a:xfrm>
          <a:prstGeom prst="rect">
            <a:avLst/>
          </a:prstGeom>
          <a:solidFill>
            <a:srgbClr val="D9D9D9"/>
          </a:solidFill>
          <a:ln w="19050">
            <a:solidFill>
              <a:srgbClr val="000000"/>
            </a:solidFill>
          </a:ln>
        </p:spPr>
        <p:txBody>
          <a:bodyPr wrap="square" lIns="45720" tIns="9144" rIns="45720" bIns="9144" anchor="ctr"/>
          <a:lstStyle/>
          <a:p>
            <a:pPr algn="ctr"/>
            <a:r>
              <a:rPr lang="en-US" sz="1600" b="1" i="1" kern="1200">
                <a:solidFill>
                  <a:srgbClr val="000000"/>
                </a:solidFill>
                <a:latin typeface="Arial"/>
                <a:ea typeface="Arial"/>
                <a:cs typeface="Arial"/>
              </a:rPr>
              <a:t>Placeholder – Table</a:t>
            </a:r>
          </a:p>
          <a:p>
            <a:pPr algn="ctr"/>
            <a:r>
              <a:rPr lang="en-US" sz="1600" b="1" i="1">
                <a:solidFill>
                  <a:srgbClr val="000000"/>
                </a:solidFill>
                <a:latin typeface="Arial"/>
                <a:ea typeface="Arial"/>
                <a:cs typeface="Arial"/>
              </a:rPr>
              <a:t>Rows: Specific Contracts</a:t>
            </a:r>
            <a:br>
              <a:rPr lang="en-US" sz="1600" b="1" i="1">
                <a:solidFill>
                  <a:srgbClr val="000000"/>
                </a:solidFill>
                <a:latin typeface="Arial"/>
                <a:ea typeface="Arial"/>
                <a:cs typeface="Arial"/>
              </a:rPr>
            </a:br>
            <a:r>
              <a:rPr lang="en-US" sz="1600" b="1" i="1">
                <a:solidFill>
                  <a:srgbClr val="000000"/>
                </a:solidFill>
                <a:latin typeface="Arial"/>
                <a:ea typeface="Arial"/>
                <a:cs typeface="Arial"/>
              </a:rPr>
              <a:t>Columns: Contract, amount, recompete date, current awardee, budget alignment</a:t>
            </a:r>
            <a:br>
              <a:rPr lang="en-US" sz="1600" b="1" i="1">
                <a:solidFill>
                  <a:srgbClr val="000000"/>
                </a:solidFill>
                <a:latin typeface="Arial"/>
                <a:ea typeface="Arial"/>
                <a:cs typeface="Arial"/>
              </a:rPr>
            </a:br>
            <a:r>
              <a:rPr lang="en-US" sz="1600" b="1" i="1">
                <a:solidFill>
                  <a:srgbClr val="000000"/>
                </a:solidFill>
                <a:latin typeface="Arial"/>
                <a:ea typeface="Arial"/>
                <a:cs typeface="Arial"/>
              </a:rPr>
              <a:t>Organized by platform</a:t>
            </a:r>
            <a:endParaRPr lang="en-US" sz="1600" b="1" i="1">
              <a:solidFill>
                <a:srgbClr val="000000"/>
              </a:solidFill>
              <a:ea typeface="Arial"/>
              <a:cs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Executive Summary</a:t>
            </a:r>
            <a:r>
              <a:rPr lang="en-US" sz="1000" kern="1200" dirty="0">
                <a:solidFill>
                  <a:srgbClr val="44505C"/>
                </a:solidFill>
                <a:latin typeface="Arial"/>
                <a:ea typeface="Arial"/>
                <a:cs typeface="Arial"/>
              </a:rPr>
              <a:t> / Supplier TAM and SAM</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Outsourcing Ceiling | Built from two published numbers, the ceiling reaches ~75% of Basic Construction, ~3x the place-of-performance floor.</a:t>
            </a:r>
          </a:p>
        </p:txBody>
      </p:sp>
      <p:sp>
        <p:nvSpPr>
          <p:cNvPr id="10" name="Framer"/>
          <p:cNvSpPr txBox="1"/>
          <p:nvPr/>
        </p:nvSpPr>
        <p:spPr>
          <a:xfrm>
            <a:off x="453079" y="1390000"/>
            <a:ext cx="11282362" cy="300000"/>
          </a:xfrm>
          <a:prstGeom prst="rect">
            <a:avLst/>
          </a:prstGeom>
          <a:noFill/>
          <a:ln>
            <a:noFill/>
          </a:ln>
        </p:spPr>
        <p:txBody>
          <a:bodyPr wrap="square" anchor="ctr" lIns="0" tIns="0" rIns="0" bIns="0"/>
          <a:lstStyle/>
          <a:p>
            <a:pPr>
              <a:lnSpc>
                <a:spcPct val="115000"/>
              </a:lnSpc>
              <a:buNone/>
            </a:pPr>
            <a:r>
              <a:rPr lang="en-US" sz="900" b="1" dirty="0">
                <a:solidFill>
                  <a:srgbClr val="000000"/>
                </a:solidFill>
                <a:latin typeface="Arial"/>
                <a:ea typeface="Arial"/>
                <a:cs typeface="Arial"/>
              </a:rPr>
              <a:t>The clean split is not published, and the place-of-performance share is only a floor, </a:t>
            </a:r>
            <a:r>
              <a:rPr lang="en-US" sz="900" dirty="0">
                <a:solidFill>
                  <a:srgbClr val="000000"/>
                </a:solidFill>
                <a:latin typeface="Arial"/>
                <a:ea typeface="Arial"/>
                <a:cs typeface="Arial"/>
              </a:rPr>
              <a:t>so the ceiling is built from two sourced numbers, not read off a budget line.</a:t>
            </a:r>
          </a:p>
        </p:txBody>
      </p:sp>
      <p:sp>
        <p:nvSpPr>
          <p:cNvPr id="20" name="InputH"/>
          <p:cNvSpPr txBox="1"/>
          <p:nvPr/>
        </p:nvSpPr>
        <p:spPr>
          <a:xfrm>
            <a:off x="453079" y="1790000"/>
            <a:ext cx="2600000" cy="630000"/>
          </a:xfrm>
          <a:prstGeom prst="rect">
            <a:avLst/>
          </a:prstGeom>
          <a:solidFill>
            <a:srgbClr val="E2E9EF"/>
          </a:solidFill>
          <a:ln w="12700">
            <a:solidFill>
              <a:srgbClr val="000000"/>
            </a:solidFill>
          </a:ln>
        </p:spPr>
        <p:txBody>
          <a:bodyPr wrap="square" anchor="ctr" lIns="114300" tIns="76200" rIns="114300" bIns="76200"/>
          <a:lstStyle/>
          <a:p>
            <a:pPr>
              <a:lnSpc>
                <a:spcPct val="115000"/>
              </a:lnSpc>
              <a:spcAft>
                <a:spcPts val="120"/>
              </a:spcAft>
              <a:buNone/>
            </a:pPr>
            <a:r>
              <a:rPr lang="en-US" sz="1200" b="1" dirty="0">
                <a:solidFill>
                  <a:srgbClr val="000000"/>
                </a:solidFill>
                <a:latin typeface="Arial"/>
                <a:ea typeface="Arial"/>
                <a:cs typeface="Arial"/>
              </a:rPr>
              <a:t>h ~50%</a:t>
            </a:r>
          </a:p>
          <a:p>
            <a:pPr>
              <a:lnSpc>
                <a:spcPct val="115000"/>
              </a:lnSpc>
              <a:spcAft>
                <a:spcPts val="120"/>
              </a:spcAft>
              <a:buNone/>
            </a:pPr>
            <a:r>
              <a:rPr lang="en-US" sz="850" dirty="0">
                <a:solidFill>
                  <a:srgbClr val="000000"/>
                </a:solidFill>
                <a:latin typeface="Arial"/>
                <a:ea typeface="Arial"/>
                <a:cs typeface="Arial"/>
              </a:rPr>
              <a:t>Build hours that can leave the yard</a:t>
            </a:r>
          </a:p>
          <a:p>
            <a:pPr>
              <a:lnSpc>
                <a:spcPct val="115000"/>
              </a:lnSpc>
              <a:buNone/>
            </a:pPr>
            <a:r>
              <a:rPr lang="en-US" sz="800" i="1" dirty="0">
                <a:solidFill>
                  <a:srgbClr val="000000"/>
                </a:solidFill>
                <a:latin typeface="Arial"/>
                <a:ea typeface="Arial"/>
                <a:cs typeface="Arial"/>
              </a:rPr>
              <a:t>Navy submarine program executive, 2022</a:t>
            </a:r>
          </a:p>
        </p:txBody>
      </p:sp>
      <p:sp>
        <p:nvSpPr>
          <p:cNvPr id="21" name="InputL"/>
          <p:cNvSpPr txBox="1"/>
          <p:nvPr/>
        </p:nvSpPr>
        <p:spPr>
          <a:xfrm>
            <a:off x="453079" y="2520000"/>
            <a:ext cx="2600000" cy="630000"/>
          </a:xfrm>
          <a:prstGeom prst="rect">
            <a:avLst/>
          </a:prstGeom>
          <a:solidFill>
            <a:srgbClr val="E2E9EF"/>
          </a:solidFill>
          <a:ln w="12700">
            <a:solidFill>
              <a:srgbClr val="000000"/>
            </a:solidFill>
          </a:ln>
        </p:spPr>
        <p:txBody>
          <a:bodyPr wrap="square" anchor="ctr" lIns="114300" tIns="76200" rIns="114300" bIns="76200"/>
          <a:lstStyle/>
          <a:p>
            <a:pPr>
              <a:lnSpc>
                <a:spcPct val="115000"/>
              </a:lnSpc>
              <a:spcAft>
                <a:spcPts val="120"/>
              </a:spcAft>
              <a:buNone/>
            </a:pPr>
            <a:r>
              <a:rPr lang="en-US" sz="1200" b="1" dirty="0">
                <a:solidFill>
                  <a:srgbClr val="000000"/>
                </a:solidFill>
                <a:latin typeface="Arial"/>
                <a:ea typeface="Arial"/>
                <a:cs typeface="Arial"/>
              </a:rPr>
              <a:t>L ~50% / 45%</a:t>
            </a:r>
          </a:p>
          <a:p>
            <a:pPr>
              <a:lnSpc>
                <a:spcPct val="115000"/>
              </a:lnSpc>
              <a:spcAft>
                <a:spcPts val="120"/>
              </a:spcAft>
              <a:buNone/>
            </a:pPr>
            <a:r>
              <a:rPr lang="en-US" sz="850" dirty="0">
                <a:solidFill>
                  <a:srgbClr val="000000"/>
                </a:solidFill>
                <a:latin typeface="Arial"/>
                <a:ea typeface="Arial"/>
                <a:cs typeface="Arial"/>
              </a:rPr>
              <a:t>Labor share of Basic Construction</a:t>
            </a:r>
          </a:p>
          <a:p>
            <a:pPr>
              <a:lnSpc>
                <a:spcPct val="115000"/>
              </a:lnSpc>
              <a:buNone/>
            </a:pPr>
            <a:r>
              <a:rPr lang="en-US" sz="800" i="1" dirty="0">
                <a:solidFill>
                  <a:srgbClr val="000000"/>
                </a:solidFill>
                <a:latin typeface="Arial"/>
                <a:ea typeface="Arial"/>
                <a:cs typeface="Arial"/>
              </a:rPr>
              <a:t>CRS testimony 2025, cost index 2024</a:t>
            </a:r>
          </a:p>
        </p:txBody>
      </p:sp>
      <p:sp>
        <p:nvSpPr>
          <p:cNvPr id="30" name="Engine"/>
          <p:cNvSpPr txBox="1"/>
          <p:nvPr/>
        </p:nvSpPr>
        <p:spPr>
          <a:xfrm>
            <a:off x="3573079" y="1790000"/>
            <a:ext cx="2900000" cy="1360000"/>
          </a:xfrm>
          <a:prstGeom prst="rect">
            <a:avLst/>
          </a:prstGeom>
          <a:solidFill>
            <a:srgbClr val="E2E9EF"/>
          </a:solidFill>
          <a:ln w="12700">
            <a:solidFill>
              <a:srgbClr val="000000"/>
            </a:solidFill>
          </a:ln>
        </p:spPr>
        <p:txBody>
          <a:bodyPr wrap="square" anchor="ctr" lIns="114300" tIns="76200" rIns="114300" bIns="76200"/>
          <a:lstStyle/>
          <a:p>
            <a:pPr>
              <a:lnSpc>
                <a:spcPct val="115000"/>
              </a:lnSpc>
              <a:spcAft>
                <a:spcPts val="200"/>
              </a:spcAft>
              <a:buNone/>
            </a:pPr>
            <a:r>
              <a:rPr lang="en-US" sz="1200" b="1" dirty="0">
                <a:solidFill>
                  <a:srgbClr val="000000"/>
                </a:solidFill>
                <a:latin typeface="Arial"/>
                <a:ea typeface="Arial"/>
                <a:cs typeface="Arial"/>
              </a:rPr>
              <a:t>THE MODEL</a:t>
            </a:r>
          </a:p>
          <a:p>
            <a:pPr>
              <a:lnSpc>
                <a:spcPct val="115000"/>
              </a:lnSpc>
              <a:spcAft>
                <a:spcPts val="80"/>
              </a:spcAft>
              <a:buNone/>
            </a:pPr>
            <a:r>
              <a:rPr lang="en-US" sz="1000" b="1" dirty="0">
                <a:solidFill>
                  <a:srgbClr val="000000"/>
                </a:solidFill>
                <a:latin typeface="Arial"/>
                <a:ea typeface="Arial"/>
                <a:cs typeface="Arial"/>
              </a:rPr>
              <a:t>core = L (1 − h)</a:t>
            </a:r>
          </a:p>
          <a:p>
            <a:pPr>
              <a:lnSpc>
                <a:spcPct val="115000"/>
              </a:lnSpc>
              <a:spcAft>
                <a:spcPts val="200"/>
              </a:spcAft>
              <a:buNone/>
            </a:pPr>
            <a:r>
              <a:rPr lang="en-US" sz="850" i="1" dirty="0">
                <a:solidFill>
                  <a:srgbClr val="000000"/>
                </a:solidFill>
                <a:latin typeface="Arial"/>
                <a:ea typeface="Arial"/>
                <a:cs typeface="Arial"/>
              </a:rPr>
              <a:t>The labor that must stay: assembly, integration, test</a:t>
            </a:r>
          </a:p>
          <a:p>
            <a:pPr>
              <a:lnSpc>
                <a:spcPct val="115000"/>
              </a:lnSpc>
              <a:spcAft>
                <a:spcPts val="200"/>
              </a:spcAft>
              <a:buNone/>
            </a:pPr>
            <a:r>
              <a:rPr lang="en-US" sz="1000" b="1" dirty="0">
                <a:solidFill>
                  <a:srgbClr val="000000"/>
                </a:solidFill>
                <a:latin typeface="Arial"/>
                <a:ea typeface="Arial"/>
                <a:cs typeface="Arial"/>
              </a:rPr>
              <a:t>ceiling = 1 − core</a:t>
            </a:r>
          </a:p>
          <a:p>
            <a:pPr>
              <a:lnSpc>
                <a:spcPct val="115000"/>
              </a:lnSpc>
              <a:buNone/>
            </a:pPr>
            <a:r>
              <a:rPr lang="en-US" sz="850" b="1" dirty="0">
                <a:solidFill>
                  <a:srgbClr val="000000"/>
                </a:solidFill>
                <a:latin typeface="Arial"/>
                <a:ea typeface="Arial"/>
                <a:cs typeface="Arial"/>
              </a:rPr>
              <a:t>Dial p </a:t>
            </a:r>
            <a:r>
              <a:rPr lang="en-US" sz="850" i="1" dirty="0">
                <a:solidFill>
                  <a:srgbClr val="000000"/>
                </a:solidFill>
                <a:latin typeface="Arial"/>
                <a:ea typeface="Arial"/>
                <a:cs typeface="Arial"/>
              </a:rPr>
              <a:t>= the share of a package's material that travels out with the work</a:t>
            </a:r>
          </a:p>
        </p:txBody>
      </p:sp>
      <p:cxnSp>
        <p:nvCxnSpPr>
          <p:cNvPr id="50" name="InHtoEngine"/>
          <p:cNvCxnSpPr/>
          <p:nvPr/>
        </p:nvCxnSpPr>
        <p:spPr>
          <a:xfrm>
            <a:off x="3053079" y="2105000"/>
            <a:ext cx="520000" cy="365000"/>
          </a:xfrm>
          <a:prstGeom prst="bentConnector3">
            <a:avLst/>
          </a:prstGeom>
          <a:ln w="6350">
            <a:solidFill>
              <a:srgbClr val="000000"/>
            </a:solidFill>
            <a:tailEnd type="triangle" w="med" len="med"/>
          </a:ln>
        </p:spPr>
      </p:cxnSp>
      <p:cxnSp>
        <p:nvCxnSpPr>
          <p:cNvPr id="51" name="InLtoEngine"/>
          <p:cNvCxnSpPr/>
          <p:nvPr/>
        </p:nvCxnSpPr>
        <p:spPr>
          <a:xfrm flipV="1">
            <a:off x="3053079" y="2470000"/>
            <a:ext cx="520000" cy="365000"/>
          </a:xfrm>
          <a:prstGeom prst="bentConnector3">
            <a:avLst/>
          </a:prstGeom>
          <a:ln w="6350">
            <a:solidFill>
              <a:srgbClr val="000000"/>
            </a:solidFill>
            <a:tailEnd type="triangle" w="med" len="med"/>
          </a:ln>
        </p:spPr>
      </p:cxnSp>
      <p:cxnSp>
        <p:nvCxnSpPr>
          <p:cNvPr id="52" name="EngineToReads"/>
          <p:cNvCxnSpPr/>
          <p:nvPr/>
        </p:nvCxnSpPr>
        <p:spPr>
          <a:xfrm>
            <a:off x="6473079" y="2470000"/>
            <a:ext cx="520000" cy="0"/>
          </a:xfrm>
          <a:prstGeom prst="line">
            <a:avLst/>
          </a:prstGeom>
          <a:ln w="6350">
            <a:solidFill>
              <a:srgbClr val="000000"/>
            </a:solidFill>
            <a:tailEnd type="triangle" w="med" len="med"/>
          </a:ln>
        </p:spPr>
      </p:cxnSp>
      <p:sp>
        <p:nvSpPr>
          <p:cNvPr id="60" name="DialNote"/>
          <p:cNvSpPr txBox="1"/>
          <p:nvPr/>
        </p:nvSpPr>
        <p:spPr>
          <a:xfrm>
            <a:off x="6473079" y="2170000"/>
            <a:ext cx="520000" cy="260000"/>
          </a:xfrm>
          <a:prstGeom prst="rect">
            <a:avLst/>
          </a:prstGeom>
          <a:noFill/>
          <a:ln>
            <a:noFill/>
          </a:ln>
        </p:spPr>
        <p:txBody>
          <a:bodyPr wrap="square" anchor="b" lIns="0" tIns="0" rIns="0" bIns="0"/>
          <a:lstStyle/>
          <a:p>
            <a:pPr algn="ctr">
              <a:lnSpc>
                <a:spcPct val="115000"/>
              </a:lnSpc>
              <a:buNone/>
            </a:pPr>
            <a:r>
              <a:rPr lang="en-US" sz="850" i="1" dirty="0">
                <a:solidFill>
                  <a:srgbClr val="000000"/>
                </a:solidFill>
                <a:latin typeface="Arial"/>
                <a:ea typeface="Arial"/>
                <a:cs typeface="Arial"/>
              </a:rPr>
              <a:t>Dial p</a:t>
            </a:r>
          </a:p>
        </p:txBody>
      </p:sp>
      <p:sp>
        <p:nvSpPr>
          <p:cNvPr id="40" name="Read1"/>
          <p:cNvSpPr txBox="1"/>
          <p:nvPr/>
        </p:nvSpPr>
        <p:spPr>
          <a:xfrm>
            <a:off x="6993079" y="2040000"/>
            <a:ext cx="1500787" cy="860000"/>
          </a:xfrm>
          <a:prstGeom prst="rect">
            <a:avLst/>
          </a:prstGeom>
          <a:solidFill>
            <a:srgbClr val="E2E9EF"/>
          </a:solidFill>
          <a:ln w="12700">
            <a:solidFill>
              <a:srgbClr val="000000"/>
            </a:solidFill>
          </a:ln>
        </p:spPr>
        <p:txBody>
          <a:bodyPr wrap="square" anchor="ctr" lIns="114300" tIns="76200" rIns="114300" bIns="76200"/>
          <a:lstStyle/>
          <a:p>
            <a:pPr algn="ctr">
              <a:lnSpc>
                <a:spcPct val="115000"/>
              </a:lnSpc>
              <a:spcAft>
                <a:spcPts val="160"/>
              </a:spcAft>
              <a:buNone/>
            </a:pPr>
            <a:r>
              <a:rPr lang="en-US" sz="900" b="1" dirty="0">
                <a:solidFill>
                  <a:srgbClr val="000000"/>
                </a:solidFill>
                <a:latin typeface="Arial"/>
                <a:ea typeface="Arial"/>
                <a:cs typeface="Arial"/>
              </a:rPr>
              <a:t>p = 0</a:t>
            </a:r>
          </a:p>
          <a:p>
            <a:pPr algn="ctr">
              <a:lnSpc>
                <a:spcPct val="115000"/>
              </a:lnSpc>
              <a:spcAft>
                <a:spcPts val="160"/>
              </a:spcAft>
              <a:buNone/>
            </a:pPr>
            <a:r>
              <a:rPr lang="en-US" sz="1800" b="1" dirty="0">
                <a:solidFill>
                  <a:srgbClr val="000000"/>
                </a:solidFill>
                <a:latin typeface="Arial"/>
                <a:ea typeface="Arial"/>
                <a:cs typeface="Arial"/>
              </a:rPr>
              <a:t>~25%</a:t>
            </a:r>
          </a:p>
          <a:p>
            <a:pPr algn="ctr">
              <a:lnSpc>
                <a:spcPct val="115000"/>
              </a:lnSpc>
              <a:buNone/>
            </a:pPr>
            <a:r>
              <a:rPr lang="en-US" sz="850" i="1" dirty="0">
                <a:solidFill>
                  <a:srgbClr val="000000"/>
                </a:solidFill>
                <a:latin typeface="Arial"/>
                <a:ea typeface="Arial"/>
                <a:cs typeface="Arial"/>
              </a:rPr>
              <a:t>Labor-only</a:t>
            </a:r>
          </a:p>
        </p:txBody>
      </p:sp>
      <p:sp>
        <p:nvSpPr>
          <p:cNvPr id="41" name="Read2"/>
          <p:cNvSpPr txBox="1"/>
          <p:nvPr/>
        </p:nvSpPr>
        <p:spPr>
          <a:xfrm>
            <a:off x="8613866" y="2040000"/>
            <a:ext cx="1500787" cy="860000"/>
          </a:xfrm>
          <a:prstGeom prst="rect">
            <a:avLst/>
          </a:prstGeom>
          <a:solidFill>
            <a:srgbClr val="6E91B1"/>
          </a:solidFill>
          <a:ln w="12700">
            <a:solidFill>
              <a:srgbClr val="000000"/>
            </a:solidFill>
          </a:ln>
        </p:spPr>
        <p:txBody>
          <a:bodyPr wrap="square" anchor="ctr" lIns="114300" tIns="76200" rIns="114300" bIns="76200"/>
          <a:lstStyle/>
          <a:p>
            <a:pPr algn="ctr">
              <a:lnSpc>
                <a:spcPct val="115000"/>
              </a:lnSpc>
              <a:spcAft>
                <a:spcPts val="160"/>
              </a:spcAft>
              <a:buNone/>
            </a:pPr>
            <a:r>
              <a:rPr lang="en-US" sz="900" b="1" dirty="0">
                <a:solidFill>
                  <a:srgbClr val="FFFFFF"/>
                </a:solidFill>
                <a:latin typeface="Arial"/>
                <a:ea typeface="Arial"/>
                <a:cs typeface="Arial"/>
              </a:rPr>
              <a:t>p ≈ 50%</a:t>
            </a:r>
          </a:p>
          <a:p>
            <a:pPr algn="ctr">
              <a:lnSpc>
                <a:spcPct val="115000"/>
              </a:lnSpc>
              <a:spcAft>
                <a:spcPts val="160"/>
              </a:spcAft>
              <a:buNone/>
            </a:pPr>
            <a:r>
              <a:rPr lang="en-US" sz="1800" b="1" dirty="0">
                <a:solidFill>
                  <a:srgbClr val="FFFFFF"/>
                </a:solidFill>
                <a:latin typeface="Arial"/>
                <a:ea typeface="Arial"/>
                <a:cs typeface="Arial"/>
              </a:rPr>
              <a:t>~50%</a:t>
            </a:r>
          </a:p>
          <a:p>
            <a:pPr algn="ctr">
              <a:lnSpc>
                <a:spcPct val="115000"/>
              </a:lnSpc>
              <a:buNone/>
            </a:pPr>
            <a:r>
              <a:rPr lang="en-US" sz="850" i="1" dirty="0">
                <a:solidFill>
                  <a:srgbClr val="FFFFFF"/>
                </a:solidFill>
                <a:latin typeface="Arial"/>
                <a:ea typeface="Arial"/>
                <a:cs typeface="Arial"/>
              </a:rPr>
              <a:t>Working case</a:t>
            </a:r>
          </a:p>
        </p:txBody>
      </p:sp>
      <p:sp>
        <p:nvSpPr>
          <p:cNvPr id="42" name="Read3"/>
          <p:cNvSpPr txBox="1"/>
          <p:nvPr/>
        </p:nvSpPr>
        <p:spPr>
          <a:xfrm>
            <a:off x="10234653" y="2040000"/>
            <a:ext cx="1500787" cy="860000"/>
          </a:xfrm>
          <a:prstGeom prst="rect">
            <a:avLst/>
          </a:prstGeom>
          <a:solidFill>
            <a:srgbClr val="263746"/>
          </a:solidFill>
          <a:ln w="19050">
            <a:solidFill>
              <a:srgbClr val="000000"/>
            </a:solidFill>
          </a:ln>
        </p:spPr>
        <p:txBody>
          <a:bodyPr wrap="square" anchor="ctr" lIns="114300" tIns="76200" rIns="114300" bIns="76200"/>
          <a:lstStyle/>
          <a:p>
            <a:pPr algn="ctr">
              <a:lnSpc>
                <a:spcPct val="115000"/>
              </a:lnSpc>
              <a:spcAft>
                <a:spcPts val="160"/>
              </a:spcAft>
              <a:buNone/>
            </a:pPr>
            <a:r>
              <a:rPr lang="en-US" sz="900" b="1" dirty="0">
                <a:solidFill>
                  <a:srgbClr val="FFFFFF"/>
                </a:solidFill>
                <a:latin typeface="Arial"/>
                <a:ea typeface="Arial"/>
                <a:cs typeface="Arial"/>
              </a:rPr>
              <a:t>p = 100%</a:t>
            </a:r>
          </a:p>
          <a:p>
            <a:pPr algn="ctr">
              <a:lnSpc>
                <a:spcPct val="115000"/>
              </a:lnSpc>
              <a:spcAft>
                <a:spcPts val="160"/>
              </a:spcAft>
              <a:buNone/>
            </a:pPr>
            <a:r>
              <a:rPr lang="en-US" sz="2400" b="1" dirty="0">
                <a:solidFill>
                  <a:srgbClr val="FFFFFF"/>
                </a:solidFill>
                <a:latin typeface="Arial"/>
                <a:ea typeface="Arial"/>
                <a:cs typeface="Arial"/>
              </a:rPr>
              <a:t>~75%</a:t>
            </a:r>
          </a:p>
          <a:p>
            <a:pPr algn="ctr">
              <a:lnSpc>
                <a:spcPct val="115000"/>
              </a:lnSpc>
              <a:buNone/>
            </a:pPr>
            <a:r>
              <a:rPr lang="en-US" sz="850" i="1" dirty="0">
                <a:solidFill>
                  <a:srgbClr val="FFFFFF"/>
                </a:solidFill>
                <a:latin typeface="Arial"/>
                <a:ea typeface="Arial"/>
                <a:cs typeface="Arial"/>
              </a:rPr>
              <a:t>Ceiling</a:t>
            </a:r>
          </a:p>
        </p:txBody>
      </p:sp>
      <p:sp>
        <p:nvSpPr>
          <p:cNvPr id="70" name="TableCaption"/>
          <p:cNvSpPr txBox="1"/>
          <p:nvPr/>
        </p:nvSpPr>
        <p:spPr>
          <a:xfrm>
            <a:off x="453079" y="3320000"/>
            <a:ext cx="11282362" cy="250000"/>
          </a:xfrm>
          <a:prstGeom prst="rect">
            <a:avLst/>
          </a:prstGeom>
          <a:noFill/>
          <a:ln>
            <a:noFill/>
          </a:ln>
        </p:spPr>
        <p:txBody>
          <a:bodyPr wrap="square" anchor="b" lIns="0" tIns="0" rIns="0" bIns="0"/>
          <a:lstStyle/>
          <a:p>
            <a:pPr>
              <a:lnSpc>
                <a:spcPct val="115000"/>
              </a:lnSpc>
              <a:buNone/>
            </a:pPr>
            <a:r>
              <a:rPr lang="en-US" sz="1000" b="1" dirty="0">
                <a:solidFill>
                  <a:srgbClr val="000000"/>
                </a:solidFill>
                <a:latin typeface="Arial"/>
                <a:ea typeface="Arial"/>
                <a:cs typeface="Arial"/>
              </a:rPr>
              <a:t>By program: </a:t>
            </a:r>
            <a:r>
              <a:rPr lang="en-US" sz="1000" dirty="0">
                <a:solidFill>
                  <a:srgbClr val="000000"/>
                </a:solidFill>
                <a:latin typeface="Arial"/>
                <a:ea typeface="Arial"/>
                <a:cs typeface="Arial"/>
              </a:rPr>
              <a:t>core, selected case, and ceiling, as a share of Basic Construction</a:t>
            </a:r>
          </a:p>
        </p:txBody>
      </p:sp>
      <p:graphicFrame>
        <p:nvGraphicFramePr>
          <p:cNvPr id="80" name="CeilingByProgram"/>
          <p:cNvGraphicFramePr>
            <a:graphicFrameLocks noGrp="1"/>
          </p:cNvGraphicFramePr>
          <p:nvPr/>
        </p:nvGraphicFramePr>
        <p:xfrm>
          <a:off x="453079" y="3640000"/>
          <a:ext cx="11282362" cy="1371600"/>
        </p:xfrm>
        <a:graphic>
          <a:graphicData uri="http://schemas.openxmlformats.org/drawingml/2006/table">
            <a:tbl>
              <a:tblPr firstRow="1" firstCol="1" bandRow="0">
                <a:tableStyleId>{2D5ABB26-0587-4C30-8999-92F81FD0307C}</a:tableStyleId>
              </a:tblPr>
              <a:tblGrid>
                <a:gridCol w="1900000"/>
                <a:gridCol w="2200000"/>
                <a:gridCol w="2300000"/>
                <a:gridCol w="2300000"/>
                <a:gridCol w="2582362"/>
              </a:tblGrid>
              <a:tr h="274320">
                <a:tc>
                  <a:txBody>
                    <a:bodyPr anchor="ctr"/>
                    <a:lstStyle/>
                    <a:p>
                      <a:pPr algn="l">
                        <a:lnSpc>
                          <a:spcPct val="115000"/>
                        </a:lnSpc>
                      </a:pPr>
                      <a:r>
                        <a:rPr lang="en-US" sz="1000" b="1" dirty="0">
                          <a:solidFill>
                            <a:srgbClr val="000000"/>
                          </a:solidFill>
                          <a:latin typeface="Arial"/>
                          <a:ea typeface="Arial"/>
                          <a:cs typeface="Arial"/>
                        </a:rPr>
                        <a:t>Program</a:t>
                      </a:r>
                    </a:p>
                  </a:txBody>
                  <a:tcPr marL="45720" marR="45720" marT="45720" marB="45720" anchor="ctr">
                    <a:lnL>
                      <a:noFill/>
                    </a:lnL>
                    <a:lnR>
                      <a:noFill/>
                    </a:lnR>
                    <a:lnT>
                      <a:noFill/>
                    </a:lnT>
                    <a:lnB w="19050" cap="flat" cmpd="sng" algn="ctr">
                      <a:solidFill>
                        <a:srgbClr val="000000"/>
                      </a:solidFill>
                      <a:prstDash val="solid"/>
                    </a:lnB>
                    <a:noFill/>
                  </a:tcPr>
                </a:tc>
                <a:tc>
                  <a:txBody>
                    <a:bodyPr anchor="ctr"/>
                    <a:lstStyle/>
                    <a:p>
                      <a:pPr algn="ctr">
                        <a:lnSpc>
                          <a:spcPct val="115000"/>
                        </a:lnSpc>
                      </a:pPr>
                      <a:r>
                        <a:rPr lang="en-US" sz="1000" b="1" dirty="0">
                          <a:solidFill>
                            <a:srgbClr val="000000"/>
                          </a:solidFill>
                          <a:latin typeface="Arial"/>
                          <a:ea typeface="Arial"/>
                          <a:cs typeface="Arial"/>
                        </a:rPr>
                        <a:t>Must stay (core)</a:t>
                      </a:r>
                    </a:p>
                  </a:txBody>
                  <a:tcPr marL="45720" marR="45720" marT="45720" marB="45720" anchor="ctr">
                    <a:lnL>
                      <a:noFill/>
                    </a:lnL>
                    <a:lnR>
                      <a:noFill/>
                    </a:lnR>
                    <a:lnT>
                      <a:noFill/>
                    </a:lnT>
                    <a:lnB w="19050" cap="flat" cmpd="sng" algn="ctr">
                      <a:solidFill>
                        <a:srgbClr val="000000"/>
                      </a:solidFill>
                      <a:prstDash val="solid"/>
                    </a:lnB>
                    <a:noFill/>
                  </a:tcPr>
                </a:tc>
                <a:tc>
                  <a:txBody>
                    <a:bodyPr anchor="ctr"/>
                    <a:lstStyle/>
                    <a:p>
                      <a:pPr algn="ctr">
                        <a:lnSpc>
                          <a:spcPct val="115000"/>
                        </a:lnSpc>
                      </a:pPr>
                      <a:r>
                        <a:rPr lang="en-US" sz="1000" b="1" dirty="0">
                          <a:solidFill>
                            <a:srgbClr val="000000"/>
                          </a:solidFill>
                          <a:latin typeface="Arial"/>
                          <a:ea typeface="Arial"/>
                          <a:cs typeface="Arial"/>
                        </a:rPr>
                        <a:t>Selected (p ≈ 50%)</a:t>
                      </a:r>
                    </a:p>
                  </a:txBody>
                  <a:tcPr marL="45720" marR="45720" marT="45720" marB="45720" anchor="ctr">
                    <a:lnL>
                      <a:noFill/>
                    </a:lnL>
                    <a:lnR>
                      <a:noFill/>
                    </a:lnR>
                    <a:lnT>
                      <a:noFill/>
                    </a:lnT>
                    <a:lnB w="19050" cap="flat" cmpd="sng" algn="ctr">
                      <a:solidFill>
                        <a:srgbClr val="000000"/>
                      </a:solidFill>
                      <a:prstDash val="solid"/>
                    </a:lnB>
                    <a:noFill/>
                  </a:tcPr>
                </a:tc>
                <a:tc>
                  <a:txBody>
                    <a:bodyPr anchor="ctr"/>
                    <a:lstStyle/>
                    <a:p>
                      <a:pPr algn="ctr">
                        <a:lnSpc>
                          <a:spcPct val="115000"/>
                        </a:lnSpc>
                      </a:pPr>
                      <a:r>
                        <a:rPr lang="en-US" sz="1000" b="1" dirty="0">
                          <a:solidFill>
                            <a:srgbClr val="000000"/>
                          </a:solidFill>
                          <a:latin typeface="Arial"/>
                          <a:ea typeface="Arial"/>
                          <a:cs typeface="Arial"/>
                        </a:rPr>
                        <a:t>Ceiling (p = 100%)</a:t>
                      </a:r>
                    </a:p>
                  </a:txBody>
                  <a:tcPr marL="45720" marR="45720" marT="45720" marB="45720" anchor="ctr">
                    <a:lnL>
                      <a:noFill/>
                    </a:lnL>
                    <a:lnR>
                      <a:noFill/>
                    </a:lnR>
                    <a:lnT>
                      <a:noFill/>
                    </a:lnT>
                    <a:lnB w="19050" cap="flat" cmpd="sng" algn="ctr">
                      <a:solidFill>
                        <a:srgbClr val="000000"/>
                      </a:solidFill>
                      <a:prstDash val="solid"/>
                    </a:lnB>
                    <a:noFill/>
                  </a:tcPr>
                </a:tc>
                <a:tc>
                  <a:txBody>
                    <a:bodyPr anchor="ctr"/>
                    <a:lstStyle/>
                    <a:p>
                      <a:pPr algn="ctr">
                        <a:lnSpc>
                          <a:spcPct val="115000"/>
                        </a:lnSpc>
                      </a:pPr>
                      <a:r>
                        <a:rPr lang="en-US" sz="1000" b="1" dirty="0">
                          <a:solidFill>
                            <a:srgbClr val="000000"/>
                          </a:solidFill>
                          <a:latin typeface="Arial"/>
                          <a:ea typeface="Arial"/>
                          <a:cs typeface="Arial"/>
                        </a:rPr>
                        <a:t>vs. floor</a:t>
                      </a:r>
                    </a:p>
                  </a:txBody>
                  <a:tcPr marL="45720" marR="45720" marT="45720" marB="45720" anchor="ctr">
                    <a:lnL>
                      <a:noFill/>
                    </a:lnL>
                    <a:lnR>
                      <a:noFill/>
                    </a:lnR>
                    <a:lnT>
                      <a:noFill/>
                    </a:lnT>
                    <a:lnB w="19050" cap="flat" cmpd="sng" algn="ctr">
                      <a:solidFill>
                        <a:srgbClr val="000000"/>
                      </a:solidFill>
                      <a:prstDash val="solid"/>
                    </a:lnB>
                    <a:noFill/>
                  </a:tcPr>
                </a:tc>
              </a:tr>
              <a:tr h="274320">
                <a:tc>
                  <a:txBody>
                    <a:bodyPr anchor="ctr"/>
                    <a:lstStyle/>
                    <a:p>
                      <a:pPr algn="l">
                        <a:lnSpc>
                          <a:spcPct val="115000"/>
                        </a:lnSpc>
                      </a:pPr>
                      <a:r>
                        <a:rPr lang="en-US" sz="1000" b="1" dirty="0">
                          <a:solidFill>
                            <a:srgbClr val="000000"/>
                          </a:solidFill>
                          <a:latin typeface="Arial"/>
                          <a:ea typeface="Arial"/>
                          <a:cs typeface="Arial"/>
                        </a:rPr>
                        <a:t>Virginia</a:t>
                      </a:r>
                    </a:p>
                  </a:txBody>
                  <a:tcPr marL="45720" marR="45720" marT="45720" marB="45720" anchor="ctr">
                    <a:lnL>
                      <a:noFill/>
                    </a:lnL>
                    <a:lnR>
                      <a:noFill/>
                    </a:lnR>
                    <a:lnT>
                      <a:noFill/>
                    </a:lnT>
                    <a:lnB w="6350" cap="flat" cmpd="sng" algn="ctr">
                      <a:solidFill>
                        <a:srgbClr val="646464"/>
                      </a:solidFill>
                      <a:prstDash val="solid"/>
                    </a:lnB>
                    <a:noFill/>
                  </a:tcPr>
                </a:tc>
                <a:tc>
                  <a:txBody>
                    <a:bodyPr anchor="ctr"/>
                    <a:lstStyle/>
                    <a:p>
                      <a:pPr algn="ctr">
                        <a:lnSpc>
                          <a:spcPct val="115000"/>
                        </a:lnSpc>
                      </a:pPr>
                      <a:r>
                        <a:rPr lang="en-US" sz="1000" b="0" dirty="0">
                          <a:solidFill>
                            <a:srgbClr val="000000"/>
                          </a:solidFill>
                          <a:latin typeface="Arial"/>
                          <a:ea typeface="Arial"/>
                          <a:cs typeface="Arial"/>
                        </a:rPr>
                        <a:t>25%</a:t>
                      </a:r>
                    </a:p>
                  </a:txBody>
                  <a:tcPr marL="45720" marR="45720" marT="45720" marB="45720" anchor="ctr">
                    <a:lnL>
                      <a:noFill/>
                    </a:lnL>
                    <a:lnR>
                      <a:noFill/>
                    </a:lnR>
                    <a:lnT>
                      <a:noFill/>
                    </a:lnT>
                    <a:lnB w="6350" cap="flat" cmpd="sng" algn="ctr">
                      <a:solidFill>
                        <a:srgbClr val="646464"/>
                      </a:solidFill>
                      <a:prstDash val="solid"/>
                    </a:lnB>
                    <a:noFill/>
                  </a:tcPr>
                </a:tc>
                <a:tc>
                  <a:txBody>
                    <a:bodyPr anchor="ctr"/>
                    <a:lstStyle/>
                    <a:p>
                      <a:pPr algn="ctr">
                        <a:lnSpc>
                          <a:spcPct val="115000"/>
                        </a:lnSpc>
                      </a:pPr>
                      <a:r>
                        <a:rPr lang="en-US" sz="1000" b="0" dirty="0">
                          <a:solidFill>
                            <a:srgbClr val="000000"/>
                          </a:solidFill>
                          <a:latin typeface="Arial"/>
                          <a:ea typeface="Arial"/>
                          <a:cs typeface="Arial"/>
                        </a:rPr>
                        <a:t>50%</a:t>
                      </a:r>
                    </a:p>
                  </a:txBody>
                  <a:tcPr marL="45720" marR="45720" marT="45720" marB="45720" anchor="ctr">
                    <a:lnL>
                      <a:noFill/>
                    </a:lnL>
                    <a:lnR>
                      <a:noFill/>
                    </a:lnR>
                    <a:lnT>
                      <a:noFill/>
                    </a:lnT>
                    <a:lnB w="6350" cap="flat" cmpd="sng" algn="ctr">
                      <a:solidFill>
                        <a:srgbClr val="646464"/>
                      </a:solidFill>
                      <a:prstDash val="solid"/>
                    </a:lnB>
                    <a:noFill/>
                  </a:tcPr>
                </a:tc>
                <a:tc>
                  <a:txBody>
                    <a:bodyPr anchor="ctr"/>
                    <a:lstStyle/>
                    <a:p>
                      <a:pPr algn="ctr">
                        <a:lnSpc>
                          <a:spcPct val="115000"/>
                        </a:lnSpc>
                      </a:pPr>
                      <a:r>
                        <a:rPr lang="en-US" sz="1000" b="0" dirty="0">
                          <a:solidFill>
                            <a:srgbClr val="000000"/>
                          </a:solidFill>
                          <a:latin typeface="Arial"/>
                          <a:ea typeface="Arial"/>
                          <a:cs typeface="Arial"/>
                        </a:rPr>
                        <a:t>75%</a:t>
                      </a:r>
                    </a:p>
                  </a:txBody>
                  <a:tcPr marL="45720" marR="45720" marT="45720" marB="45720" anchor="ctr">
                    <a:lnL>
                      <a:noFill/>
                    </a:lnL>
                    <a:lnR>
                      <a:noFill/>
                    </a:lnR>
                    <a:lnT>
                      <a:noFill/>
                    </a:lnT>
                    <a:lnB w="6350" cap="flat" cmpd="sng" algn="ctr">
                      <a:solidFill>
                        <a:srgbClr val="646464"/>
                      </a:solidFill>
                      <a:prstDash val="solid"/>
                    </a:lnB>
                    <a:noFill/>
                  </a:tcPr>
                </a:tc>
                <a:tc>
                  <a:txBody>
                    <a:bodyPr anchor="ctr"/>
                    <a:lstStyle/>
                    <a:p>
                      <a:pPr algn="ctr">
                        <a:lnSpc>
                          <a:spcPct val="115000"/>
                        </a:lnSpc>
                      </a:pPr>
                      <a:r>
                        <a:rPr lang="en-US" sz="1000" b="0" dirty="0">
                          <a:solidFill>
                            <a:srgbClr val="000000"/>
                          </a:solidFill>
                          <a:latin typeface="Arial"/>
                          <a:ea typeface="Arial"/>
                          <a:cs typeface="Arial"/>
                        </a:rPr>
                        <a:t>~2.2x</a:t>
                      </a:r>
                    </a:p>
                  </a:txBody>
                  <a:tcPr marL="45720" marR="45720" marT="45720" marB="45720" anchor="ctr">
                    <a:lnL>
                      <a:noFill/>
                    </a:lnL>
                    <a:lnR>
                      <a:noFill/>
                    </a:lnR>
                    <a:lnT>
                      <a:noFill/>
                    </a:lnT>
                    <a:lnB w="6350" cap="flat" cmpd="sng" algn="ctr">
                      <a:solidFill>
                        <a:srgbClr val="646464"/>
                      </a:solidFill>
                      <a:prstDash val="solid"/>
                    </a:lnB>
                    <a:noFill/>
                  </a:tcPr>
                </a:tc>
              </a:tr>
              <a:tr h="274320">
                <a:tc>
                  <a:txBody>
                    <a:bodyPr anchor="ctr"/>
                    <a:lstStyle/>
                    <a:p>
                      <a:pPr algn="l">
                        <a:lnSpc>
                          <a:spcPct val="115000"/>
                        </a:lnSpc>
                      </a:pPr>
                      <a:r>
                        <a:rPr lang="en-US" sz="1000" b="1" dirty="0">
                          <a:solidFill>
                            <a:srgbClr val="000000"/>
                          </a:solidFill>
                          <a:latin typeface="Arial"/>
                          <a:ea typeface="Arial"/>
                          <a:cs typeface="Arial"/>
                        </a:rPr>
                        <a:t>Columbia</a:t>
                      </a:r>
                    </a:p>
                  </a:txBody>
                  <a:tcPr marL="45720" marR="45720" marT="45720" marB="45720" anchor="ctr">
                    <a:lnL>
                      <a:noFill/>
                    </a:lnL>
                    <a:lnR>
                      <a:noFill/>
                    </a:lnR>
                    <a:lnT>
                      <a:noFill/>
                    </a:lnT>
                    <a:lnB w="6350" cap="flat" cmpd="sng" algn="ctr">
                      <a:solidFill>
                        <a:srgbClr val="646464"/>
                      </a:solidFill>
                      <a:prstDash val="solid"/>
                    </a:lnB>
                    <a:noFill/>
                  </a:tcPr>
                </a:tc>
                <a:tc>
                  <a:txBody>
                    <a:bodyPr anchor="ctr"/>
                    <a:lstStyle/>
                    <a:p>
                      <a:pPr algn="ctr">
                        <a:lnSpc>
                          <a:spcPct val="115000"/>
                        </a:lnSpc>
                      </a:pPr>
                      <a:r>
                        <a:rPr lang="en-US" sz="1000" b="0" dirty="0">
                          <a:solidFill>
                            <a:srgbClr val="000000"/>
                          </a:solidFill>
                          <a:latin typeface="Arial"/>
                          <a:ea typeface="Arial"/>
                          <a:cs typeface="Arial"/>
                        </a:rPr>
                        <a:t>25%</a:t>
                      </a:r>
                    </a:p>
                  </a:txBody>
                  <a:tcPr marL="45720" marR="45720" marT="45720" marB="45720" anchor="ctr">
                    <a:lnL>
                      <a:noFill/>
                    </a:lnL>
                    <a:lnR>
                      <a:noFill/>
                    </a:lnR>
                    <a:lnT>
                      <a:noFill/>
                    </a:lnT>
                    <a:lnB w="6350" cap="flat" cmpd="sng" algn="ctr">
                      <a:solidFill>
                        <a:srgbClr val="646464"/>
                      </a:solidFill>
                      <a:prstDash val="solid"/>
                    </a:lnB>
                    <a:noFill/>
                  </a:tcPr>
                </a:tc>
                <a:tc>
                  <a:txBody>
                    <a:bodyPr anchor="ctr"/>
                    <a:lstStyle/>
                    <a:p>
                      <a:pPr algn="ctr">
                        <a:lnSpc>
                          <a:spcPct val="115000"/>
                        </a:lnSpc>
                      </a:pPr>
                      <a:r>
                        <a:rPr lang="en-US" sz="1000" b="0" dirty="0">
                          <a:solidFill>
                            <a:srgbClr val="000000"/>
                          </a:solidFill>
                          <a:latin typeface="Arial"/>
                          <a:ea typeface="Arial"/>
                          <a:cs typeface="Arial"/>
                        </a:rPr>
                        <a:t>50%</a:t>
                      </a:r>
                    </a:p>
                  </a:txBody>
                  <a:tcPr marL="45720" marR="45720" marT="45720" marB="45720" anchor="ctr">
                    <a:lnL>
                      <a:noFill/>
                    </a:lnL>
                    <a:lnR>
                      <a:noFill/>
                    </a:lnR>
                    <a:lnT>
                      <a:noFill/>
                    </a:lnT>
                    <a:lnB w="6350" cap="flat" cmpd="sng" algn="ctr">
                      <a:solidFill>
                        <a:srgbClr val="646464"/>
                      </a:solidFill>
                      <a:prstDash val="solid"/>
                    </a:lnB>
                    <a:noFill/>
                  </a:tcPr>
                </a:tc>
                <a:tc>
                  <a:txBody>
                    <a:bodyPr anchor="ctr"/>
                    <a:lstStyle/>
                    <a:p>
                      <a:pPr algn="ctr">
                        <a:lnSpc>
                          <a:spcPct val="115000"/>
                        </a:lnSpc>
                      </a:pPr>
                      <a:r>
                        <a:rPr lang="en-US" sz="1000" b="0" dirty="0">
                          <a:solidFill>
                            <a:srgbClr val="000000"/>
                          </a:solidFill>
                          <a:latin typeface="Arial"/>
                          <a:ea typeface="Arial"/>
                          <a:cs typeface="Arial"/>
                        </a:rPr>
                        <a:t>75%</a:t>
                      </a:r>
                    </a:p>
                  </a:txBody>
                  <a:tcPr marL="45720" marR="45720" marT="45720" marB="45720" anchor="ctr">
                    <a:lnL>
                      <a:noFill/>
                    </a:lnL>
                    <a:lnR>
                      <a:noFill/>
                    </a:lnR>
                    <a:lnT>
                      <a:noFill/>
                    </a:lnT>
                    <a:lnB w="6350" cap="flat" cmpd="sng" algn="ctr">
                      <a:solidFill>
                        <a:srgbClr val="646464"/>
                      </a:solidFill>
                      <a:prstDash val="solid"/>
                    </a:lnB>
                    <a:noFill/>
                  </a:tcPr>
                </a:tc>
                <a:tc>
                  <a:txBody>
                    <a:bodyPr anchor="ctr"/>
                    <a:lstStyle/>
                    <a:p>
                      <a:pPr algn="ctr">
                        <a:lnSpc>
                          <a:spcPct val="115000"/>
                        </a:lnSpc>
                      </a:pPr>
                      <a:r>
                        <a:rPr lang="en-US" sz="1000" b="0" dirty="0">
                          <a:solidFill>
                            <a:srgbClr val="000000"/>
                          </a:solidFill>
                          <a:latin typeface="Arial"/>
                          <a:ea typeface="Arial"/>
                          <a:cs typeface="Arial"/>
                        </a:rPr>
                        <a:t>~3.4x</a:t>
                      </a:r>
                    </a:p>
                  </a:txBody>
                  <a:tcPr marL="45720" marR="45720" marT="45720" marB="45720" anchor="ctr">
                    <a:lnL>
                      <a:noFill/>
                    </a:lnL>
                    <a:lnR>
                      <a:noFill/>
                    </a:lnR>
                    <a:lnT>
                      <a:noFill/>
                    </a:lnT>
                    <a:lnB w="6350" cap="flat" cmpd="sng" algn="ctr">
                      <a:solidFill>
                        <a:srgbClr val="646464"/>
                      </a:solidFill>
                      <a:prstDash val="solid"/>
                    </a:lnB>
                    <a:noFill/>
                  </a:tcPr>
                </a:tc>
              </a:tr>
              <a:tr h="274320">
                <a:tc>
                  <a:txBody>
                    <a:bodyPr anchor="ctr"/>
                    <a:lstStyle/>
                    <a:p>
                      <a:pPr algn="l">
                        <a:lnSpc>
                          <a:spcPct val="115000"/>
                        </a:lnSpc>
                      </a:pPr>
                      <a:r>
                        <a:rPr lang="en-US" sz="1000" b="1" dirty="0">
                          <a:solidFill>
                            <a:srgbClr val="000000"/>
                          </a:solidFill>
                          <a:latin typeface="Arial"/>
                          <a:ea typeface="Arial"/>
                          <a:cs typeface="Arial"/>
                        </a:rPr>
                        <a:t>DDG-51</a:t>
                      </a:r>
                    </a:p>
                  </a:txBody>
                  <a:tcPr marL="45720" marR="45720" marT="45720" marB="45720" anchor="ctr">
                    <a:lnL>
                      <a:noFill/>
                    </a:lnL>
                    <a:lnR>
                      <a:noFill/>
                    </a:lnR>
                    <a:lnT>
                      <a:noFill/>
                    </a:lnT>
                    <a:lnB w="12700" cap="flat" cmpd="sng" algn="ctr">
                      <a:solidFill>
                        <a:srgbClr val="000000"/>
                      </a:solidFill>
                      <a:prstDash val="solid"/>
                    </a:lnB>
                    <a:noFill/>
                  </a:tcPr>
                </a:tc>
                <a:tc>
                  <a:txBody>
                    <a:bodyPr anchor="ctr"/>
                    <a:lstStyle/>
                    <a:p>
                      <a:pPr algn="ctr">
                        <a:lnSpc>
                          <a:spcPct val="115000"/>
                        </a:lnSpc>
                      </a:pPr>
                      <a:r>
                        <a:rPr lang="en-US" sz="1000" b="0" dirty="0">
                          <a:solidFill>
                            <a:srgbClr val="000000"/>
                          </a:solidFill>
                          <a:latin typeface="Arial"/>
                          <a:ea typeface="Arial"/>
                          <a:cs typeface="Arial"/>
                        </a:rPr>
                        <a:t>20%</a:t>
                      </a:r>
                    </a:p>
                  </a:txBody>
                  <a:tcPr marL="45720" marR="45720" marT="45720" marB="45720" anchor="ctr">
                    <a:lnL>
                      <a:noFill/>
                    </a:lnL>
                    <a:lnR>
                      <a:noFill/>
                    </a:lnR>
                    <a:lnT>
                      <a:noFill/>
                    </a:lnT>
                    <a:lnB w="12700" cap="flat" cmpd="sng" algn="ctr">
                      <a:solidFill>
                        <a:srgbClr val="000000"/>
                      </a:solidFill>
                      <a:prstDash val="solid"/>
                    </a:lnB>
                    <a:noFill/>
                  </a:tcPr>
                </a:tc>
                <a:tc>
                  <a:txBody>
                    <a:bodyPr anchor="ctr"/>
                    <a:lstStyle/>
                    <a:p>
                      <a:pPr algn="ctr">
                        <a:lnSpc>
                          <a:spcPct val="115000"/>
                        </a:lnSpc>
                      </a:pPr>
                      <a:r>
                        <a:rPr lang="en-US" sz="1000" b="0" dirty="0">
                          <a:solidFill>
                            <a:srgbClr val="000000"/>
                          </a:solidFill>
                          <a:latin typeface="Arial"/>
                          <a:ea typeface="Arial"/>
                          <a:cs typeface="Arial"/>
                        </a:rPr>
                        <a:t>52%</a:t>
                      </a:r>
                    </a:p>
                  </a:txBody>
                  <a:tcPr marL="45720" marR="45720" marT="45720" marB="45720" anchor="ctr">
                    <a:lnL>
                      <a:noFill/>
                    </a:lnL>
                    <a:lnR>
                      <a:noFill/>
                    </a:lnR>
                    <a:lnT>
                      <a:noFill/>
                    </a:lnT>
                    <a:lnB w="12700" cap="flat" cmpd="sng" algn="ctr">
                      <a:solidFill>
                        <a:srgbClr val="000000"/>
                      </a:solidFill>
                      <a:prstDash val="solid"/>
                    </a:lnB>
                    <a:noFill/>
                  </a:tcPr>
                </a:tc>
                <a:tc>
                  <a:txBody>
                    <a:bodyPr anchor="ctr"/>
                    <a:lstStyle/>
                    <a:p>
                      <a:pPr algn="ctr">
                        <a:lnSpc>
                          <a:spcPct val="115000"/>
                        </a:lnSpc>
                      </a:pPr>
                      <a:r>
                        <a:rPr lang="en-US" sz="1000" b="0" dirty="0">
                          <a:solidFill>
                            <a:srgbClr val="000000"/>
                          </a:solidFill>
                          <a:latin typeface="Arial"/>
                          <a:ea typeface="Arial"/>
                          <a:cs typeface="Arial"/>
                        </a:rPr>
                        <a:t>80%</a:t>
                      </a:r>
                    </a:p>
                  </a:txBody>
                  <a:tcPr marL="45720" marR="45720" marT="45720" marB="45720" anchor="ctr">
                    <a:lnL>
                      <a:noFill/>
                    </a:lnL>
                    <a:lnR>
                      <a:noFill/>
                    </a:lnR>
                    <a:lnT>
                      <a:noFill/>
                    </a:lnT>
                    <a:lnB w="12700" cap="flat" cmpd="sng" algn="ctr">
                      <a:solidFill>
                        <a:srgbClr val="000000"/>
                      </a:solidFill>
                      <a:prstDash val="solid"/>
                    </a:lnB>
                    <a:noFill/>
                  </a:tcPr>
                </a:tc>
                <a:tc>
                  <a:txBody>
                    <a:bodyPr anchor="ctr"/>
                    <a:lstStyle/>
                    <a:p>
                      <a:pPr algn="ctr">
                        <a:lnSpc>
                          <a:spcPct val="115000"/>
                        </a:lnSpc>
                      </a:pPr>
                      <a:r>
                        <a:rPr lang="en-US" sz="1000" b="0" dirty="0">
                          <a:solidFill>
                            <a:srgbClr val="000000"/>
                          </a:solidFill>
                          <a:latin typeface="Arial"/>
                          <a:ea typeface="Arial"/>
                          <a:cs typeface="Arial"/>
                        </a:rPr>
                        <a:t>~6.1x</a:t>
                      </a:r>
                    </a:p>
                  </a:txBody>
                  <a:tcPr marL="45720" marR="45720" marT="45720" marB="45720" anchor="ctr">
                    <a:lnL>
                      <a:noFill/>
                    </a:lnL>
                    <a:lnR>
                      <a:noFill/>
                    </a:lnR>
                    <a:lnT>
                      <a:noFill/>
                    </a:lnT>
                    <a:lnB w="12700" cap="flat" cmpd="sng" algn="ctr">
                      <a:solidFill>
                        <a:srgbClr val="000000"/>
                      </a:solidFill>
                      <a:prstDash val="solid"/>
                    </a:lnB>
                    <a:noFill/>
                  </a:tcPr>
                </a:tc>
              </a:tr>
              <a:tr h="274320">
                <a:tc>
                  <a:txBody>
                    <a:bodyPr anchor="ctr"/>
                    <a:lstStyle/>
                    <a:p>
                      <a:pPr algn="l">
                        <a:lnSpc>
                          <a:spcPct val="115000"/>
                        </a:lnSpc>
                      </a:pPr>
                      <a:r>
                        <a:rPr lang="en-US" sz="1000" b="1" dirty="0">
                          <a:solidFill>
                            <a:srgbClr val="000000"/>
                          </a:solidFill>
                          <a:latin typeface="Arial"/>
                          <a:ea typeface="Arial"/>
                          <a:cs typeface="Arial"/>
                        </a:rPr>
                        <a:t>Portfolio</a:t>
                      </a:r>
                    </a:p>
                  </a:txBody>
                  <a:tcPr marL="45720" marR="45720" marT="45720" marB="45720" anchor="ctr">
                    <a:lnL>
                      <a:noFill/>
                    </a:lnL>
                    <a:lnR>
                      <a:noFill/>
                    </a:lnR>
                    <a:lnT>
                      <a:noFill/>
                    </a:lnT>
                    <a:lnB>
                      <a:noFill/>
                    </a:lnB>
                    <a:solidFill>
                      <a:srgbClr val="F2F2F2"/>
                    </a:solidFill>
                  </a:tcPr>
                </a:tc>
                <a:tc>
                  <a:txBody>
                    <a:bodyPr anchor="ctr"/>
                    <a:lstStyle/>
                    <a:p>
                      <a:pPr algn="ctr">
                        <a:lnSpc>
                          <a:spcPct val="115000"/>
                        </a:lnSpc>
                      </a:pPr>
                      <a:r>
                        <a:rPr lang="en-US" sz="1000" b="1" dirty="0">
                          <a:solidFill>
                            <a:srgbClr val="000000"/>
                          </a:solidFill>
                          <a:latin typeface="Arial"/>
                          <a:ea typeface="Arial"/>
                          <a:cs typeface="Arial"/>
                        </a:rPr>
                        <a:t>24%</a:t>
                      </a:r>
                    </a:p>
                  </a:txBody>
                  <a:tcPr marL="45720" marR="45720" marT="45720" marB="45720" anchor="ctr">
                    <a:lnL>
                      <a:noFill/>
                    </a:lnL>
                    <a:lnR>
                      <a:noFill/>
                    </a:lnR>
                    <a:lnT>
                      <a:noFill/>
                    </a:lnT>
                    <a:lnB>
                      <a:noFill/>
                    </a:lnB>
                    <a:solidFill>
                      <a:srgbClr val="F2F2F2"/>
                    </a:solidFill>
                  </a:tcPr>
                </a:tc>
                <a:tc>
                  <a:txBody>
                    <a:bodyPr anchor="ctr"/>
                    <a:lstStyle/>
                    <a:p>
                      <a:pPr algn="ctr">
                        <a:lnSpc>
                          <a:spcPct val="115000"/>
                        </a:lnSpc>
                      </a:pPr>
                      <a:r>
                        <a:rPr lang="en-US" sz="1000" b="1" dirty="0">
                          <a:solidFill>
                            <a:srgbClr val="000000"/>
                          </a:solidFill>
                          <a:latin typeface="Arial"/>
                          <a:ea typeface="Arial"/>
                          <a:cs typeface="Arial"/>
                        </a:rPr>
                        <a:t>51%</a:t>
                      </a:r>
                    </a:p>
                  </a:txBody>
                  <a:tcPr marL="45720" marR="45720" marT="45720" marB="45720" anchor="ctr">
                    <a:lnL>
                      <a:noFill/>
                    </a:lnL>
                    <a:lnR>
                      <a:noFill/>
                    </a:lnR>
                    <a:lnT>
                      <a:noFill/>
                    </a:lnT>
                    <a:lnB>
                      <a:noFill/>
                    </a:lnB>
                    <a:solidFill>
                      <a:srgbClr val="F2F2F2"/>
                    </a:solidFill>
                  </a:tcPr>
                </a:tc>
                <a:tc>
                  <a:txBody>
                    <a:bodyPr anchor="ctr"/>
                    <a:lstStyle/>
                    <a:p>
                      <a:pPr algn="ctr">
                        <a:lnSpc>
                          <a:spcPct val="115000"/>
                        </a:lnSpc>
                      </a:pPr>
                      <a:r>
                        <a:rPr lang="en-US" sz="1000" b="1" dirty="0">
                          <a:solidFill>
                            <a:srgbClr val="000000"/>
                          </a:solidFill>
                          <a:latin typeface="Arial"/>
                          <a:ea typeface="Arial"/>
                          <a:cs typeface="Arial"/>
                        </a:rPr>
                        <a:t>76%</a:t>
                      </a:r>
                    </a:p>
                  </a:txBody>
                  <a:tcPr marL="45720" marR="45720" marT="45720" marB="45720" anchor="ctr">
                    <a:lnL>
                      <a:noFill/>
                    </a:lnL>
                    <a:lnR>
                      <a:noFill/>
                    </a:lnR>
                    <a:lnT>
                      <a:noFill/>
                    </a:lnT>
                    <a:lnB>
                      <a:noFill/>
                    </a:lnB>
                    <a:solidFill>
                      <a:srgbClr val="F2F2F2"/>
                    </a:solidFill>
                  </a:tcPr>
                </a:tc>
                <a:tc>
                  <a:txBody>
                    <a:bodyPr anchor="ctr"/>
                    <a:lstStyle/>
                    <a:p>
                      <a:pPr algn="ctr">
                        <a:lnSpc>
                          <a:spcPct val="115000"/>
                        </a:lnSpc>
                      </a:pPr>
                      <a:r>
                        <a:rPr lang="en-US" sz="1000" b="1" dirty="0">
                          <a:solidFill>
                            <a:srgbClr val="000000"/>
                          </a:solidFill>
                          <a:latin typeface="Arial"/>
                          <a:ea typeface="Arial"/>
                          <a:cs typeface="Arial"/>
                        </a:rPr>
                        <a:t>~3.0x</a:t>
                      </a:r>
                    </a:p>
                  </a:txBody>
                  <a:tcPr marL="45720" marR="45720" marT="45720" marB="45720" anchor="ctr">
                    <a:lnL>
                      <a:noFill/>
                    </a:lnL>
                    <a:lnR>
                      <a:noFill/>
                    </a:lnR>
                    <a:lnT>
                      <a:noFill/>
                    </a:lnT>
                    <a:lnB>
                      <a:noFill/>
                    </a:lnB>
                    <a:solidFill>
                      <a:srgbClr val="F2F2F2"/>
                    </a:solidFill>
                  </a:tcPr>
                </a:tc>
              </a:tr>
            </a:tbl>
          </a:graphicData>
        </a:graphic>
      </p:graphicFrame>
      <p:sp>
        <p:nvSpPr>
          <p:cNvPr id="90" name="Guardrail"/>
          <p:cNvSpPr txBox="1"/>
          <p:nvPr/>
        </p:nvSpPr>
        <p:spPr>
          <a:xfrm>
            <a:off x="453079" y="5121600"/>
            <a:ext cx="11282362" cy="360000"/>
          </a:xfrm>
          <a:prstGeom prst="rect">
            <a:avLst/>
          </a:prstGeom>
          <a:noFill/>
          <a:ln>
            <a:noFill/>
          </a:ln>
        </p:spPr>
        <p:txBody>
          <a:bodyPr wrap="square" anchor="t" lIns="0" tIns="0" rIns="0" bIns="0"/>
          <a:lstStyle/>
          <a:p>
            <a:pPr>
              <a:lnSpc>
                <a:spcPct val="115000"/>
              </a:lnSpc>
              <a:buNone/>
            </a:pPr>
            <a:r>
              <a:rPr lang="en-US" sz="800" b="1" i="1" dirty="0">
                <a:solidFill>
                  <a:srgbClr val="000000"/>
                </a:solidFill>
                <a:latin typeface="Arial"/>
                <a:ea typeface="Arial"/>
                <a:cs typeface="Arial"/>
              </a:rPr>
              <a:t>Read with care: </a:t>
            </a:r>
            <a:r>
              <a:rPr lang="en-US" sz="800" i="1" dirty="0">
                <a:solidFill>
                  <a:srgbClr val="000000"/>
                </a:solidFill>
                <a:latin typeface="Arial"/>
                <a:ea typeface="Arial"/>
                <a:cs typeface="Arial"/>
              </a:rPr>
              <a:t>the ceiling is the upper bound, the p ≈ 50% case is the working number; the destroyer inputs are analyst judgment; the shares, not the dollars, are the answer.</a:t>
            </a:r>
          </a:p>
        </p:txBody>
      </p:sp>
      <p:sp>
        <p:nvSpPr>
          <p:cNvPr id="9999" name="Sources"/>
          <p:cNvSpPr txBox="1"/>
          <p:nvPr/>
        </p:nvSpPr>
        <p:spPr>
          <a:xfrm>
            <a:off x="453079" y="6085448"/>
            <a:ext cx="11282362" cy="540000"/>
          </a:xfrm>
          <a:prstGeom prst="rect">
            <a:avLst/>
          </a:prstGeom>
          <a:noFill/>
          <a:ln>
            <a:noFill/>
          </a:ln>
        </p:spPr>
        <p:txBody>
          <a:bodyPr wrap="square" anchor="t" lIns="91440" tIns="45720" rIns="91440" bIns="45720"/>
          <a:lstStyle/>
          <a:p>
            <a:r>
              <a:rPr lang="en-US" sz="800" kern="1200" dirty="0">
                <a:solidFill>
                  <a:srgbClr val="162029"/>
                </a:solidFill>
                <a:latin typeface="Arial"/>
                <a:ea typeface="Arial"/>
                <a:cs typeface="Arial"/>
              </a:rPr>
              <a:t>Sources: Defense News, "Defense firms outsource sub, carrier construction amid labor woes" (M. Eckstein, Oct 2022); O'Rourke (CRS), State of U.S. Shipbuilding, House Armed Services Committee testimony (Mar 2025), cross-checked against the CBO Shipbuilding Composite Index (Apr 2024); DoD FMR 7000.14-R Vol 2B Ch 4, Exhibit P-5 ship cost element categories (Nov 2017); DoD contract award announcements (announced place-of-performance): Virginia Block V (2019), Columbia Build I (2020), DDG-51 FY23–27 multiyear (2023)</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Executive Summary</a:t>
            </a:r>
            <a:r>
              <a:rPr lang="en-US" sz="1000" kern="1200" dirty="0">
                <a:solidFill>
                  <a:srgbClr val="44505C"/>
                </a:solidFill>
                <a:latin typeface="Arial"/>
                <a:ea typeface="Arial"/>
                <a:cs typeface="Arial"/>
              </a:rPr>
              <a:t> / Supplier TAM and SAM</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Outsourcing Ceiling Methodology | The ceiling is built from the must-stay core, not read from a budget line.</a:t>
            </a:r>
          </a:p>
        </p:txBody>
      </p:sp>
      <p:sp>
        <p:nvSpPr>
          <p:cNvPr id="20" name="Box1"/>
          <p:cNvSpPr txBox="1"/>
          <p:nvPr/>
        </p:nvSpPr>
        <p:spPr>
          <a:xfrm>
            <a:off x="453079" y="1460000"/>
            <a:ext cx="1260000" cy="1220000"/>
          </a:xfrm>
          <a:prstGeom prst="rect">
            <a:avLst/>
          </a:prstGeom>
          <a:solidFill>
            <a:srgbClr val="E2E9EF"/>
          </a:solidFill>
          <a:ln w="12700">
            <a:solidFill>
              <a:srgbClr val="000000"/>
            </a:solidFill>
          </a:ln>
        </p:spPr>
        <p:txBody>
          <a:bodyPr wrap="square" anchor="t" lIns="114300" tIns="76200" rIns="114300" bIns="76200"/>
          <a:lstStyle/>
          <a:p>
            <a:pPr>
              <a:lnSpc>
                <a:spcPct val="115000"/>
              </a:lnSpc>
              <a:spcAft>
                <a:spcPts val="80"/>
              </a:spcAft>
              <a:buNone/>
            </a:pPr>
            <a:r>
              <a:rPr lang="en-US" sz="900" b="1" dirty="0">
                <a:solidFill>
                  <a:srgbClr val="000000"/>
                </a:solidFill>
                <a:latin typeface="Arial"/>
                <a:ea typeface="Arial"/>
                <a:cs typeface="Arial"/>
              </a:rPr>
              <a:t>1.  </a:t>
            </a:r>
            <a:r>
              <a:rPr lang="en-US" sz="900" b="1" dirty="0">
                <a:solidFill>
                  <a:srgbClr val="000000"/>
                </a:solidFill>
                <a:latin typeface="Arial"/>
                <a:ea typeface="Arial"/>
                <a:cs typeface="Arial"/>
              </a:rPr>
              <a:t>Define addressable base</a:t>
            </a:r>
          </a:p>
          <a:p>
            <a:pPr>
              <a:lnSpc>
                <a:spcPct val="115000"/>
              </a:lnSpc>
              <a:spcAft>
                <a:spcPts val="60"/>
              </a:spcAft>
              <a:buNone/>
            </a:pPr>
            <a:r>
              <a:rPr lang="en-US" sz="850" dirty="0">
                <a:solidFill>
                  <a:srgbClr val="000000"/>
                </a:solidFill>
                <a:latin typeface="Arial"/>
                <a:ea typeface="Arial"/>
                <a:cs typeface="Arial"/>
              </a:rPr>
              <a:t>Basic Construction, FY22–27 P-5c</a:t>
            </a:r>
          </a:p>
          <a:p>
            <a:pPr>
              <a:lnSpc>
                <a:spcPct val="115000"/>
              </a:lnSpc>
              <a:spcAft>
                <a:spcPts val="60"/>
              </a:spcAft>
              <a:buNone/>
            </a:pPr>
            <a:r>
              <a:rPr lang="en-US" sz="850" dirty="0">
                <a:solidFill>
                  <a:srgbClr val="000000"/>
                </a:solidFill>
                <a:latin typeface="Arial"/>
                <a:ea typeface="Arial"/>
                <a:cs typeface="Arial"/>
              </a:rPr>
              <a:t>Excludes GFE and non-BC ship cost</a:t>
            </a:r>
          </a:p>
        </p:txBody>
      </p:sp>
      <p:sp>
        <p:nvSpPr>
          <p:cNvPr id="21" name="Box2"/>
          <p:cNvSpPr txBox="1"/>
          <p:nvPr/>
        </p:nvSpPr>
        <p:spPr>
          <a:xfrm>
            <a:off x="2013079" y="1460000"/>
            <a:ext cx="1260000" cy="1220000"/>
          </a:xfrm>
          <a:prstGeom prst="rect">
            <a:avLst/>
          </a:prstGeom>
          <a:solidFill>
            <a:srgbClr val="B6C8D8"/>
          </a:solidFill>
          <a:ln w="12700">
            <a:solidFill>
              <a:srgbClr val="000000"/>
            </a:solidFill>
          </a:ln>
        </p:spPr>
        <p:txBody>
          <a:bodyPr wrap="square" anchor="t" lIns="114300" tIns="76200" rIns="114300" bIns="76200"/>
          <a:lstStyle/>
          <a:p>
            <a:pPr>
              <a:lnSpc>
                <a:spcPct val="115000"/>
              </a:lnSpc>
              <a:spcAft>
                <a:spcPts val="80"/>
              </a:spcAft>
              <a:buNone/>
            </a:pPr>
            <a:r>
              <a:rPr lang="en-US" sz="900" b="1" dirty="0">
                <a:solidFill>
                  <a:srgbClr val="000000"/>
                </a:solidFill>
                <a:latin typeface="Arial"/>
                <a:ea typeface="Arial"/>
                <a:cs typeface="Arial"/>
              </a:rPr>
              <a:t>2.  </a:t>
            </a:r>
            <a:r>
              <a:rPr lang="en-US" sz="900" b="1" dirty="0">
                <a:solidFill>
                  <a:srgbClr val="000000"/>
                </a:solidFill>
                <a:latin typeface="Arial"/>
                <a:ea typeface="Arial"/>
                <a:cs typeface="Arial"/>
              </a:rPr>
              <a:t>Set labor mechanics</a:t>
            </a:r>
          </a:p>
          <a:p>
            <a:pPr>
              <a:lnSpc>
                <a:spcPct val="115000"/>
              </a:lnSpc>
              <a:spcAft>
                <a:spcPts val="60"/>
              </a:spcAft>
              <a:buNone/>
            </a:pPr>
            <a:r>
              <a:rPr lang="en-US" sz="850" dirty="0">
                <a:solidFill>
                  <a:srgbClr val="000000"/>
                </a:solidFill>
                <a:latin typeface="Arial"/>
                <a:ea typeface="Arial"/>
                <a:cs typeface="Arial"/>
              </a:rPr>
              <a:t>h = movable labor-hour share</a:t>
            </a:r>
          </a:p>
          <a:p>
            <a:pPr>
              <a:lnSpc>
                <a:spcPct val="115000"/>
              </a:lnSpc>
              <a:spcAft>
                <a:spcPts val="60"/>
              </a:spcAft>
              <a:buNone/>
            </a:pPr>
            <a:r>
              <a:rPr lang="en-US" sz="850" dirty="0">
                <a:solidFill>
                  <a:srgbClr val="000000"/>
                </a:solidFill>
                <a:latin typeface="Arial"/>
                <a:ea typeface="Arial"/>
                <a:cs typeface="Arial"/>
              </a:rPr>
              <a:t>L = labor share of BC</a:t>
            </a:r>
          </a:p>
        </p:txBody>
      </p:sp>
      <p:sp>
        <p:nvSpPr>
          <p:cNvPr id="22" name="Box3"/>
          <p:cNvSpPr txBox="1"/>
          <p:nvPr/>
        </p:nvSpPr>
        <p:spPr>
          <a:xfrm>
            <a:off x="3573079" y="1460000"/>
            <a:ext cx="1260000" cy="1220000"/>
          </a:xfrm>
          <a:prstGeom prst="rect">
            <a:avLst/>
          </a:prstGeom>
          <a:solidFill>
            <a:srgbClr val="3D5972"/>
          </a:solidFill>
          <a:ln w="12700">
            <a:solidFill>
              <a:srgbClr val="000000"/>
            </a:solidFill>
          </a:ln>
        </p:spPr>
        <p:txBody>
          <a:bodyPr wrap="square" anchor="t" lIns="114300" tIns="76200" rIns="114300" bIns="76200"/>
          <a:lstStyle/>
          <a:p>
            <a:pPr>
              <a:lnSpc>
                <a:spcPct val="115000"/>
              </a:lnSpc>
              <a:spcAft>
                <a:spcPts val="80"/>
              </a:spcAft>
              <a:buNone/>
            </a:pPr>
            <a:r>
              <a:rPr lang="en-US" sz="900" b="1" dirty="0">
                <a:solidFill>
                  <a:srgbClr val="FFFFFF"/>
                </a:solidFill>
                <a:latin typeface="Arial"/>
                <a:ea typeface="Arial"/>
                <a:cs typeface="Arial"/>
              </a:rPr>
              <a:t>3.  </a:t>
            </a:r>
            <a:r>
              <a:rPr lang="en-US" sz="900" b="1" dirty="0">
                <a:solidFill>
                  <a:srgbClr val="FFFFFF"/>
                </a:solidFill>
                <a:latin typeface="Arial"/>
                <a:ea typeface="Arial"/>
                <a:cs typeface="Arial"/>
              </a:rPr>
              <a:t>Isolate must-stay core</a:t>
            </a:r>
          </a:p>
          <a:p>
            <a:pPr>
              <a:lnSpc>
                <a:spcPct val="115000"/>
              </a:lnSpc>
              <a:spcAft>
                <a:spcPts val="60"/>
              </a:spcAft>
              <a:buNone/>
            </a:pPr>
            <a:r>
              <a:rPr lang="en-US" sz="850" dirty="0">
                <a:solidFill>
                  <a:srgbClr val="FFFFFF"/>
                </a:solidFill>
                <a:latin typeface="Arial"/>
                <a:ea typeface="Arial"/>
                <a:cs typeface="Arial"/>
              </a:rPr>
              <a:t>Core = L × (1 − h)</a:t>
            </a:r>
          </a:p>
          <a:p>
            <a:pPr>
              <a:lnSpc>
                <a:spcPct val="115000"/>
              </a:lnSpc>
              <a:spcAft>
                <a:spcPts val="60"/>
              </a:spcAft>
              <a:buNone/>
            </a:pPr>
            <a:r>
              <a:rPr lang="en-US" sz="850" dirty="0">
                <a:solidFill>
                  <a:srgbClr val="FFFFFF"/>
                </a:solidFill>
                <a:latin typeface="Arial"/>
                <a:ea typeface="Arial"/>
                <a:cs typeface="Arial"/>
              </a:rPr>
              <a:t>Final assembly, integration, test</a:t>
            </a:r>
          </a:p>
        </p:txBody>
      </p:sp>
      <p:sp>
        <p:nvSpPr>
          <p:cNvPr id="23" name="Box4"/>
          <p:cNvSpPr txBox="1"/>
          <p:nvPr/>
        </p:nvSpPr>
        <p:spPr>
          <a:xfrm>
            <a:off x="5133079" y="1460000"/>
            <a:ext cx="1260000" cy="1220000"/>
          </a:xfrm>
          <a:prstGeom prst="rect">
            <a:avLst/>
          </a:prstGeom>
          <a:solidFill>
            <a:srgbClr val="263746"/>
          </a:solidFill>
          <a:ln w="12700">
            <a:solidFill>
              <a:srgbClr val="000000"/>
            </a:solidFill>
          </a:ln>
        </p:spPr>
        <p:txBody>
          <a:bodyPr wrap="square" anchor="t" lIns="114300" tIns="76200" rIns="114300" bIns="76200"/>
          <a:lstStyle/>
          <a:p>
            <a:pPr>
              <a:lnSpc>
                <a:spcPct val="115000"/>
              </a:lnSpc>
              <a:spcAft>
                <a:spcPts val="80"/>
              </a:spcAft>
              <a:buNone/>
            </a:pPr>
            <a:r>
              <a:rPr lang="en-US" sz="900" b="1" dirty="0">
                <a:solidFill>
                  <a:srgbClr val="FFFFFF"/>
                </a:solidFill>
                <a:latin typeface="Arial"/>
                <a:ea typeface="Arial"/>
                <a:cs typeface="Arial"/>
              </a:rPr>
              <a:t>4.  </a:t>
            </a:r>
            <a:r>
              <a:rPr lang="en-US" sz="900" b="1" dirty="0">
                <a:solidFill>
                  <a:srgbClr val="FFFFFF"/>
                </a:solidFill>
                <a:latin typeface="Arial"/>
                <a:ea typeface="Arial"/>
                <a:cs typeface="Arial"/>
              </a:rPr>
              <a:t>Convert core into ceiling</a:t>
            </a:r>
          </a:p>
          <a:p>
            <a:pPr>
              <a:lnSpc>
                <a:spcPct val="115000"/>
              </a:lnSpc>
              <a:spcAft>
                <a:spcPts val="60"/>
              </a:spcAft>
              <a:buNone/>
            </a:pPr>
            <a:r>
              <a:rPr lang="en-US" sz="850" dirty="0">
                <a:solidFill>
                  <a:srgbClr val="FFFFFF"/>
                </a:solidFill>
                <a:latin typeface="Arial"/>
                <a:ea typeface="Arial"/>
                <a:cs typeface="Arial"/>
              </a:rPr>
              <a:t>Ceiling = 1 − core</a:t>
            </a:r>
          </a:p>
          <a:p>
            <a:pPr>
              <a:lnSpc>
                <a:spcPct val="115000"/>
              </a:lnSpc>
              <a:spcAft>
                <a:spcPts val="60"/>
              </a:spcAft>
              <a:buNone/>
            </a:pPr>
            <a:r>
              <a:rPr lang="en-US" sz="850" dirty="0">
                <a:solidFill>
                  <a:srgbClr val="FFFFFF"/>
                </a:solidFill>
                <a:latin typeface="Arial"/>
                <a:ea typeface="Arial"/>
                <a:cs typeface="Arial"/>
              </a:rPr>
              <a:t>p=100% material-inclusive upper bound</a:t>
            </a:r>
          </a:p>
        </p:txBody>
      </p:sp>
      <p:sp>
        <p:nvSpPr>
          <p:cNvPr id="24" name="Box5"/>
          <p:cNvSpPr txBox="1"/>
          <p:nvPr/>
        </p:nvSpPr>
        <p:spPr>
          <a:xfrm>
            <a:off x="6693079" y="1460000"/>
            <a:ext cx="1260000" cy="1220000"/>
          </a:xfrm>
          <a:prstGeom prst="rect">
            <a:avLst/>
          </a:prstGeom>
          <a:solidFill>
            <a:srgbClr val="B6C8D8"/>
          </a:solidFill>
          <a:ln w="12700">
            <a:solidFill>
              <a:srgbClr val="000000"/>
            </a:solidFill>
          </a:ln>
        </p:spPr>
        <p:txBody>
          <a:bodyPr wrap="square" anchor="t" lIns="114300" tIns="76200" rIns="114300" bIns="76200"/>
          <a:lstStyle/>
          <a:p>
            <a:pPr>
              <a:lnSpc>
                <a:spcPct val="115000"/>
              </a:lnSpc>
              <a:spcAft>
                <a:spcPts val="80"/>
              </a:spcAft>
              <a:buNone/>
            </a:pPr>
            <a:r>
              <a:rPr lang="en-US" sz="900" b="1" dirty="0">
                <a:solidFill>
                  <a:srgbClr val="000000"/>
                </a:solidFill>
                <a:latin typeface="Arial"/>
                <a:ea typeface="Arial"/>
                <a:cs typeface="Arial"/>
              </a:rPr>
              <a:t>5.  </a:t>
            </a:r>
            <a:r>
              <a:rPr lang="en-US" sz="900" b="1" dirty="0">
                <a:solidFill>
                  <a:srgbClr val="000000"/>
                </a:solidFill>
                <a:latin typeface="Arial"/>
                <a:ea typeface="Arial"/>
                <a:cs typeface="Arial"/>
              </a:rPr>
              <a:t>Compare with floor</a:t>
            </a:r>
          </a:p>
          <a:p>
            <a:pPr>
              <a:lnSpc>
                <a:spcPct val="115000"/>
              </a:lnSpc>
              <a:spcAft>
                <a:spcPts val="60"/>
              </a:spcAft>
              <a:buNone/>
            </a:pPr>
            <a:r>
              <a:rPr lang="en-US" sz="850" dirty="0">
                <a:solidFill>
                  <a:srgbClr val="000000"/>
                </a:solidFill>
                <a:latin typeface="Arial"/>
                <a:ea typeface="Arial"/>
                <a:cs typeface="Arial"/>
              </a:rPr>
              <a:t>Current POP is the floor</a:t>
            </a:r>
          </a:p>
          <a:p>
            <a:pPr>
              <a:lnSpc>
                <a:spcPct val="115000"/>
              </a:lnSpc>
              <a:spcAft>
                <a:spcPts val="60"/>
              </a:spcAft>
              <a:buNone/>
            </a:pPr>
            <a:r>
              <a:rPr lang="en-US" sz="850" dirty="0">
                <a:solidFill>
                  <a:srgbClr val="000000"/>
                </a:solidFill>
                <a:latin typeface="Arial"/>
                <a:ea typeface="Arial"/>
                <a:cs typeface="Arial"/>
              </a:rPr>
              <a:t>Headroom = ceiling / current</a:t>
            </a:r>
          </a:p>
        </p:txBody>
      </p:sp>
      <p:cxnSp>
        <p:nvCxnSpPr>
          <p:cNvPr id="30" name="Step1to2"/>
          <p:cNvCxnSpPr/>
          <p:nvPr/>
        </p:nvCxnSpPr>
        <p:spPr>
          <a:xfrm>
            <a:off x="1713079" y="2070000"/>
            <a:ext cx="300000" cy="0"/>
          </a:xfrm>
          <a:prstGeom prst="line">
            <a:avLst/>
          </a:prstGeom>
          <a:ln w="6350">
            <a:solidFill>
              <a:srgbClr val="000000"/>
            </a:solidFill>
            <a:tailEnd type="triangle" w="med" len="med"/>
          </a:ln>
        </p:spPr>
      </p:cxnSp>
      <p:cxnSp>
        <p:nvCxnSpPr>
          <p:cNvPr id="31" name="Step2to3"/>
          <p:cNvCxnSpPr/>
          <p:nvPr/>
        </p:nvCxnSpPr>
        <p:spPr>
          <a:xfrm>
            <a:off x="3273079" y="2070000"/>
            <a:ext cx="300000" cy="0"/>
          </a:xfrm>
          <a:prstGeom prst="line">
            <a:avLst/>
          </a:prstGeom>
          <a:ln w="6350">
            <a:solidFill>
              <a:srgbClr val="000000"/>
            </a:solidFill>
            <a:tailEnd type="triangle" w="med" len="med"/>
          </a:ln>
        </p:spPr>
      </p:cxnSp>
      <p:cxnSp>
        <p:nvCxnSpPr>
          <p:cNvPr id="32" name="Step3to4"/>
          <p:cNvCxnSpPr/>
          <p:nvPr/>
        </p:nvCxnSpPr>
        <p:spPr>
          <a:xfrm>
            <a:off x="4833079" y="2070000"/>
            <a:ext cx="300000" cy="0"/>
          </a:xfrm>
          <a:prstGeom prst="line">
            <a:avLst/>
          </a:prstGeom>
          <a:ln w="6350">
            <a:solidFill>
              <a:srgbClr val="000000"/>
            </a:solidFill>
            <a:tailEnd type="triangle" w="med" len="med"/>
          </a:ln>
        </p:spPr>
      </p:cxnSp>
      <p:cxnSp>
        <p:nvCxnSpPr>
          <p:cNvPr id="33" name="Step4to5"/>
          <p:cNvCxnSpPr/>
          <p:nvPr/>
        </p:nvCxnSpPr>
        <p:spPr>
          <a:xfrm>
            <a:off x="6393079" y="2070000"/>
            <a:ext cx="300000" cy="0"/>
          </a:xfrm>
          <a:prstGeom prst="line">
            <a:avLst/>
          </a:prstGeom>
          <a:ln w="6350">
            <a:solidFill>
              <a:srgbClr val="000000"/>
            </a:solidFill>
            <a:tailEnd type="triangle" w="med" len="med"/>
          </a:ln>
        </p:spPr>
      </p:cxnSp>
      <p:sp>
        <p:nvSpPr>
          <p:cNvPr id="40" name="Bridge"/>
          <p:cNvSpPr txBox="1"/>
          <p:nvPr/>
        </p:nvSpPr>
        <p:spPr>
          <a:xfrm>
            <a:off x="3573079" y="2750000"/>
            <a:ext cx="2820000" cy="440000"/>
          </a:xfrm>
          <a:prstGeom prst="rect">
            <a:avLst/>
          </a:prstGeom>
          <a:solidFill>
            <a:srgbClr val="F2F2F2"/>
          </a:solidFill>
          <a:ln>
            <a:noFill/>
          </a:ln>
        </p:spPr>
        <p:txBody>
          <a:bodyPr wrap="square" anchor="ctr" lIns="114300" tIns="40000" rIns="114300" bIns="40000"/>
          <a:lstStyle/>
          <a:p>
            <a:pPr algn="ctr">
              <a:lnSpc>
                <a:spcPct val="115000"/>
              </a:lnSpc>
              <a:spcAft>
                <a:spcPts val="50"/>
              </a:spcAft>
              <a:buNone/>
            </a:pPr>
            <a:r>
              <a:rPr lang="en-US" sz="850" b="1" i="1" dirty="0">
                <a:solidFill>
                  <a:srgbClr val="000000"/>
                </a:solidFill>
                <a:latin typeface="Arial"/>
                <a:ea typeface="Arial"/>
                <a:cs typeface="Arial"/>
              </a:rPr>
              <a:t>Hours-to-dollars bridge</a:t>
            </a:r>
          </a:p>
          <a:p>
            <a:pPr algn="ctr">
              <a:lnSpc>
                <a:spcPct val="115000"/>
              </a:lnSpc>
              <a:buNone/>
            </a:pPr>
            <a:r>
              <a:rPr lang="en-US" sz="850" i="1" dirty="0">
                <a:solidFill>
                  <a:srgbClr val="000000"/>
                </a:solidFill>
                <a:latin typeface="Arial"/>
                <a:ea typeface="Arial"/>
                <a:cs typeface="Arial"/>
              </a:rPr>
              <a:t>p=0 labor-only  ·  p=50% selected case  ·  p=100% structural ceiling</a:t>
            </a:r>
          </a:p>
        </p:txBody>
      </p:sp>
      <p:graphicFrame>
        <p:nvGraphicFramePr>
          <p:cNvPr id="50" name="MethodLedger"/>
          <p:cNvGraphicFramePr>
            <a:graphicFrameLocks noGrp="1"/>
          </p:cNvGraphicFramePr>
          <p:nvPr/>
        </p:nvGraphicFramePr>
        <p:xfrm>
          <a:off x="453079" y="3310000"/>
          <a:ext cx="7500000" cy="1371600"/>
        </p:xfrm>
        <a:graphic>
          <a:graphicData uri="http://schemas.openxmlformats.org/drawingml/2006/table">
            <a:tbl>
              <a:tblPr firstRow="1" firstCol="1" bandRow="0">
                <a:tableStyleId>{2D5ABB26-0587-4C30-8999-92F81FD0307C}</a:tableStyleId>
              </a:tblPr>
              <a:tblGrid>
                <a:gridCol w="1150000"/>
                <a:gridCol w="3000000"/>
                <a:gridCol w="3350000"/>
              </a:tblGrid>
              <a:tr h="274320">
                <a:tc>
                  <a:txBody>
                    <a:bodyPr anchor="ctr"/>
                    <a:lstStyle/>
                    <a:p>
                      <a:pPr algn="ctr">
                        <a:lnSpc>
                          <a:spcPct val="115000"/>
                        </a:lnSpc>
                      </a:pPr>
                      <a:r>
                        <a:rPr lang="en-US" sz="900" b="1" dirty="0">
                          <a:solidFill>
                            <a:srgbClr val="000000"/>
                          </a:solidFill>
                          <a:latin typeface="Arial"/>
                          <a:ea typeface="Arial"/>
                          <a:cs typeface="Arial"/>
                        </a:rPr>
                        <a:t>Lever</a:t>
                      </a:r>
                    </a:p>
                  </a:txBody>
                  <a:tcPr marL="45720" marR="45720" marT="45720" marB="45720" anchor="ctr">
                    <a:lnL>
                      <a:noFill/>
                    </a:lnL>
                    <a:lnR>
                      <a:noFill/>
                    </a:lnR>
                    <a:lnT>
                      <a:noFill/>
                    </a:lnT>
                    <a:lnB w="19050" cap="flat" cmpd="sng" algn="ctr">
                      <a:solidFill>
                        <a:srgbClr val="000000"/>
                      </a:solidFill>
                      <a:prstDash val="solid"/>
                    </a:lnB>
                    <a:noFill/>
                  </a:tcPr>
                </a:tc>
                <a:tc>
                  <a:txBody>
                    <a:bodyPr anchor="ctr"/>
                    <a:lstStyle/>
                    <a:p>
                      <a:pPr algn="l">
                        <a:lnSpc>
                          <a:spcPct val="115000"/>
                        </a:lnSpc>
                      </a:pPr>
                      <a:r>
                        <a:rPr lang="en-US" sz="900" b="1" dirty="0">
                          <a:solidFill>
                            <a:srgbClr val="000000"/>
                          </a:solidFill>
                          <a:latin typeface="Arial"/>
                          <a:ea typeface="Arial"/>
                          <a:cs typeface="Arial"/>
                        </a:rPr>
                        <a:t>Workbook treatment</a:t>
                      </a:r>
                    </a:p>
                  </a:txBody>
                  <a:tcPr marL="45720" marR="45720" marT="45720" marB="45720" anchor="ctr">
                    <a:lnL>
                      <a:noFill/>
                    </a:lnL>
                    <a:lnR>
                      <a:noFill/>
                    </a:lnR>
                    <a:lnT>
                      <a:noFill/>
                    </a:lnT>
                    <a:lnB w="19050" cap="flat" cmpd="sng" algn="ctr">
                      <a:solidFill>
                        <a:srgbClr val="000000"/>
                      </a:solidFill>
                      <a:prstDash val="solid"/>
                    </a:lnB>
                    <a:noFill/>
                  </a:tcPr>
                </a:tc>
                <a:tc>
                  <a:txBody>
                    <a:bodyPr anchor="ctr"/>
                    <a:lstStyle/>
                    <a:p>
                      <a:pPr algn="l">
                        <a:lnSpc>
                          <a:spcPct val="115000"/>
                        </a:lnSpc>
                      </a:pPr>
                      <a:r>
                        <a:rPr lang="en-US" sz="900" b="1" dirty="0">
                          <a:solidFill>
                            <a:srgbClr val="000000"/>
                          </a:solidFill>
                          <a:latin typeface="Arial"/>
                          <a:ea typeface="Arial"/>
                          <a:cs typeface="Arial"/>
                        </a:rPr>
                        <a:t>Deck wording</a:t>
                      </a:r>
                    </a:p>
                  </a:txBody>
                  <a:tcPr marL="45720" marR="45720" marT="45720" marB="45720" anchor="ctr">
                    <a:lnL>
                      <a:noFill/>
                    </a:lnL>
                    <a:lnR>
                      <a:noFill/>
                    </a:lnR>
                    <a:lnT>
                      <a:noFill/>
                    </a:lnT>
                    <a:lnB w="19050" cap="flat" cmpd="sng" algn="ctr">
                      <a:solidFill>
                        <a:srgbClr val="000000"/>
                      </a:solidFill>
                      <a:prstDash val="solid"/>
                    </a:lnB>
                    <a:noFill/>
                  </a:tcPr>
                </a:tc>
              </a:tr>
              <a:tr h="274320">
                <a:tc>
                  <a:txBody>
                    <a:bodyPr anchor="ctr"/>
                    <a:lstStyle/>
                    <a:p>
                      <a:pPr algn="ctr">
                        <a:lnSpc>
                          <a:spcPct val="115000"/>
                        </a:lnSpc>
                      </a:pPr>
                      <a:r>
                        <a:rPr lang="en-US" sz="900" b="1" dirty="0">
                          <a:solidFill>
                            <a:srgbClr val="000000"/>
                          </a:solidFill>
                          <a:latin typeface="Arial"/>
                          <a:ea typeface="Arial"/>
                          <a:cs typeface="Arial"/>
                        </a:rPr>
                        <a:t>h</a:t>
                      </a:r>
                    </a:p>
                  </a:txBody>
                  <a:tcPr marL="45720" marR="45720" marT="45720" marB="45720" anchor="ctr">
                    <a:lnL>
                      <a:noFill/>
                    </a:lnL>
                    <a:lnR>
                      <a:noFill/>
                    </a:lnR>
                    <a:lnT>
                      <a:noFill/>
                    </a:lnT>
                    <a:lnB w="6350" cap="flat" cmpd="sng" algn="ctr">
                      <a:solidFill>
                        <a:srgbClr val="646464"/>
                      </a:solidFill>
                      <a:prstDash val="solid"/>
                    </a:lnB>
                    <a:noFill/>
                  </a:tcPr>
                </a:tc>
                <a:tc>
                  <a:txBody>
                    <a:bodyPr anchor="ctr"/>
                    <a:lstStyle/>
                    <a:p>
                      <a:pPr algn="l">
                        <a:lnSpc>
                          <a:spcPct val="115000"/>
                        </a:lnSpc>
                      </a:pPr>
                      <a:r>
                        <a:rPr lang="en-US" sz="900" b="0" dirty="0">
                          <a:solidFill>
                            <a:srgbClr val="000000"/>
                          </a:solidFill>
                          <a:latin typeface="Arial"/>
                          <a:ea typeface="Arial"/>
                          <a:cs typeface="Arial"/>
                        </a:rPr>
                        <a:t>Sourced for submarines; DDG-51 assumption</a:t>
                      </a:r>
                    </a:p>
                  </a:txBody>
                  <a:tcPr marL="45720" marR="45720" marT="45720" marB="45720" anchor="ctr">
                    <a:lnL>
                      <a:noFill/>
                    </a:lnL>
                    <a:lnR>
                      <a:noFill/>
                    </a:lnR>
                    <a:lnT>
                      <a:noFill/>
                    </a:lnT>
                    <a:lnB w="6350" cap="flat" cmpd="sng" algn="ctr">
                      <a:solidFill>
                        <a:srgbClr val="646464"/>
                      </a:solidFill>
                      <a:prstDash val="solid"/>
                    </a:lnB>
                    <a:noFill/>
                  </a:tcPr>
                </a:tc>
                <a:tc>
                  <a:txBody>
                    <a:bodyPr anchor="ctr"/>
                    <a:lstStyle/>
                    <a:p>
                      <a:pPr algn="l">
                        <a:lnSpc>
                          <a:spcPct val="115000"/>
                        </a:lnSpc>
                      </a:pPr>
                      <a:r>
                        <a:rPr lang="en-US" sz="900" b="0" dirty="0">
                          <a:solidFill>
                            <a:srgbClr val="000000"/>
                          </a:solidFill>
                          <a:latin typeface="Arial"/>
                          <a:ea typeface="Arial"/>
                          <a:cs typeface="Arial"/>
                        </a:rPr>
                        <a:t>Movable labor-hour share</a:t>
                      </a:r>
                    </a:p>
                  </a:txBody>
                  <a:tcPr marL="45720" marR="45720" marT="45720" marB="45720" anchor="ctr">
                    <a:lnL>
                      <a:noFill/>
                    </a:lnL>
                    <a:lnR>
                      <a:noFill/>
                    </a:lnR>
                    <a:lnT>
                      <a:noFill/>
                    </a:lnT>
                    <a:lnB w="6350" cap="flat" cmpd="sng" algn="ctr">
                      <a:solidFill>
                        <a:srgbClr val="646464"/>
                      </a:solidFill>
                      <a:prstDash val="solid"/>
                    </a:lnB>
                    <a:noFill/>
                  </a:tcPr>
                </a:tc>
              </a:tr>
              <a:tr h="274320">
                <a:tc>
                  <a:txBody>
                    <a:bodyPr anchor="ctr"/>
                    <a:lstStyle/>
                    <a:p>
                      <a:pPr algn="ctr">
                        <a:lnSpc>
                          <a:spcPct val="115000"/>
                        </a:lnSpc>
                      </a:pPr>
                      <a:r>
                        <a:rPr lang="en-US" sz="900" b="1" dirty="0">
                          <a:solidFill>
                            <a:srgbClr val="000000"/>
                          </a:solidFill>
                          <a:latin typeface="Arial"/>
                          <a:ea typeface="Arial"/>
                          <a:cs typeface="Arial"/>
                        </a:rPr>
                        <a:t>L</a:t>
                      </a:r>
                    </a:p>
                  </a:txBody>
                  <a:tcPr marL="45720" marR="45720" marT="45720" marB="45720" anchor="ctr">
                    <a:lnL>
                      <a:noFill/>
                    </a:lnL>
                    <a:lnR>
                      <a:noFill/>
                    </a:lnR>
                    <a:lnT>
                      <a:noFill/>
                    </a:lnT>
                    <a:lnB w="6350" cap="flat" cmpd="sng" algn="ctr">
                      <a:solidFill>
                        <a:srgbClr val="646464"/>
                      </a:solidFill>
                      <a:prstDash val="solid"/>
                    </a:lnB>
                    <a:noFill/>
                  </a:tcPr>
                </a:tc>
                <a:tc>
                  <a:txBody>
                    <a:bodyPr anchor="ctr"/>
                    <a:lstStyle/>
                    <a:p>
                      <a:pPr algn="l">
                        <a:lnSpc>
                          <a:spcPct val="115000"/>
                        </a:lnSpc>
                      </a:pPr>
                      <a:r>
                        <a:rPr lang="en-US" sz="900" b="0" dirty="0">
                          <a:solidFill>
                            <a:srgbClr val="000000"/>
                          </a:solidFill>
                          <a:latin typeface="Arial"/>
                          <a:ea typeface="Arial"/>
                          <a:cs typeface="Arial"/>
                        </a:rPr>
                        <a:t>Sourced total-cost anchor, rebased to BC</a:t>
                      </a:r>
                    </a:p>
                  </a:txBody>
                  <a:tcPr marL="45720" marR="45720" marT="45720" marB="45720" anchor="ctr">
                    <a:lnL>
                      <a:noFill/>
                    </a:lnL>
                    <a:lnR>
                      <a:noFill/>
                    </a:lnR>
                    <a:lnT>
                      <a:noFill/>
                    </a:lnT>
                    <a:lnB w="6350" cap="flat" cmpd="sng" algn="ctr">
                      <a:solidFill>
                        <a:srgbClr val="646464"/>
                      </a:solidFill>
                      <a:prstDash val="solid"/>
                    </a:lnB>
                    <a:noFill/>
                  </a:tcPr>
                </a:tc>
                <a:tc>
                  <a:txBody>
                    <a:bodyPr anchor="ctr"/>
                    <a:lstStyle/>
                    <a:p>
                      <a:pPr algn="l">
                        <a:lnSpc>
                          <a:spcPct val="115000"/>
                        </a:lnSpc>
                      </a:pPr>
                      <a:r>
                        <a:rPr lang="en-US" sz="900" b="0" dirty="0">
                          <a:solidFill>
                            <a:srgbClr val="000000"/>
                          </a:solidFill>
                          <a:latin typeface="Arial"/>
                          <a:ea typeface="Arial"/>
                          <a:cs typeface="Arial"/>
                        </a:rPr>
                        <a:t>Labor share of Basic Construction</a:t>
                      </a:r>
                    </a:p>
                  </a:txBody>
                  <a:tcPr marL="45720" marR="45720" marT="45720" marB="45720" anchor="ctr">
                    <a:lnL>
                      <a:noFill/>
                    </a:lnL>
                    <a:lnR>
                      <a:noFill/>
                    </a:lnR>
                    <a:lnT>
                      <a:noFill/>
                    </a:lnT>
                    <a:lnB w="6350" cap="flat" cmpd="sng" algn="ctr">
                      <a:solidFill>
                        <a:srgbClr val="646464"/>
                      </a:solidFill>
                      <a:prstDash val="solid"/>
                    </a:lnB>
                    <a:noFill/>
                  </a:tcPr>
                </a:tc>
              </a:tr>
              <a:tr h="274320">
                <a:tc>
                  <a:txBody>
                    <a:bodyPr anchor="ctr"/>
                    <a:lstStyle/>
                    <a:p>
                      <a:pPr algn="ctr">
                        <a:lnSpc>
                          <a:spcPct val="115000"/>
                        </a:lnSpc>
                      </a:pPr>
                      <a:r>
                        <a:rPr lang="en-US" sz="900" b="1" dirty="0">
                          <a:solidFill>
                            <a:srgbClr val="000000"/>
                          </a:solidFill>
                          <a:latin typeface="Arial"/>
                          <a:ea typeface="Arial"/>
                          <a:cs typeface="Arial"/>
                        </a:rPr>
                        <a:t>p</a:t>
                      </a:r>
                    </a:p>
                  </a:txBody>
                  <a:tcPr marL="45720" marR="45720" marT="45720" marB="45720" anchor="ctr">
                    <a:lnL>
                      <a:noFill/>
                    </a:lnL>
                    <a:lnR>
                      <a:noFill/>
                    </a:lnR>
                    <a:lnT>
                      <a:noFill/>
                    </a:lnT>
                    <a:lnB w="6350" cap="flat" cmpd="sng" algn="ctr">
                      <a:solidFill>
                        <a:srgbClr val="646464"/>
                      </a:solidFill>
                      <a:prstDash val="solid"/>
                    </a:lnB>
                    <a:noFill/>
                  </a:tcPr>
                </a:tc>
                <a:tc>
                  <a:txBody>
                    <a:bodyPr anchor="ctr"/>
                    <a:lstStyle/>
                    <a:p>
                      <a:pPr algn="l">
                        <a:lnSpc>
                          <a:spcPct val="115000"/>
                        </a:lnSpc>
                      </a:pPr>
                      <a:r>
                        <a:rPr lang="en-US" sz="900" b="0" dirty="0">
                          <a:solidFill>
                            <a:srgbClr val="000000"/>
                          </a:solidFill>
                          <a:latin typeface="Arial"/>
                          <a:ea typeface="Arial"/>
                          <a:cs typeface="Arial"/>
                        </a:rPr>
                        <a:t>Scenario input</a:t>
                      </a:r>
                    </a:p>
                  </a:txBody>
                  <a:tcPr marL="45720" marR="45720" marT="45720" marB="45720" anchor="ctr">
                    <a:lnL>
                      <a:noFill/>
                    </a:lnL>
                    <a:lnR>
                      <a:noFill/>
                    </a:lnR>
                    <a:lnT>
                      <a:noFill/>
                    </a:lnT>
                    <a:lnB w="6350" cap="flat" cmpd="sng" algn="ctr">
                      <a:solidFill>
                        <a:srgbClr val="646464"/>
                      </a:solidFill>
                      <a:prstDash val="solid"/>
                    </a:lnB>
                    <a:noFill/>
                  </a:tcPr>
                </a:tc>
                <a:tc>
                  <a:txBody>
                    <a:bodyPr anchor="ctr"/>
                    <a:lstStyle/>
                    <a:p>
                      <a:pPr algn="l">
                        <a:lnSpc>
                          <a:spcPct val="115000"/>
                        </a:lnSpc>
                      </a:pPr>
                      <a:r>
                        <a:rPr lang="en-US" sz="900" b="0" dirty="0">
                          <a:solidFill>
                            <a:srgbClr val="000000"/>
                          </a:solidFill>
                          <a:latin typeface="Arial"/>
                          <a:ea typeface="Arial"/>
                          <a:cs typeface="Arial"/>
                        </a:rPr>
                        <a:t>Material pass-through dial</a:t>
                      </a:r>
                    </a:p>
                  </a:txBody>
                  <a:tcPr marL="45720" marR="45720" marT="45720" marB="45720" anchor="ctr">
                    <a:lnL>
                      <a:noFill/>
                    </a:lnL>
                    <a:lnR>
                      <a:noFill/>
                    </a:lnR>
                    <a:lnT>
                      <a:noFill/>
                    </a:lnT>
                    <a:lnB w="6350" cap="flat" cmpd="sng" algn="ctr">
                      <a:solidFill>
                        <a:srgbClr val="646464"/>
                      </a:solidFill>
                      <a:prstDash val="solid"/>
                    </a:lnB>
                    <a:noFill/>
                  </a:tcPr>
                </a:tc>
              </a:tr>
              <a:tr h="274320">
                <a:tc>
                  <a:txBody>
                    <a:bodyPr anchor="ctr"/>
                    <a:lstStyle/>
                    <a:p>
                      <a:pPr algn="ctr">
                        <a:lnSpc>
                          <a:spcPct val="115000"/>
                        </a:lnSpc>
                      </a:pPr>
                      <a:r>
                        <a:rPr lang="en-US" sz="900" b="1" dirty="0">
                          <a:solidFill>
                            <a:srgbClr val="000000"/>
                          </a:solidFill>
                          <a:latin typeface="Arial"/>
                          <a:ea typeface="Arial"/>
                          <a:cs typeface="Arial"/>
                        </a:rPr>
                        <a:t>POP</a:t>
                      </a:r>
                    </a:p>
                  </a:txBody>
                  <a:tcPr marL="45720" marR="45720" marT="45720" marB="45720" anchor="ctr">
                    <a:lnL>
                      <a:noFill/>
                    </a:lnL>
                    <a:lnR>
                      <a:noFill/>
                    </a:lnR>
                    <a:lnT>
                      <a:noFill/>
                    </a:lnT>
                    <a:lnB>
                      <a:noFill/>
                    </a:lnB>
                    <a:noFill/>
                  </a:tcPr>
                </a:tc>
                <a:tc>
                  <a:txBody>
                    <a:bodyPr anchor="ctr"/>
                    <a:lstStyle/>
                    <a:p>
                      <a:pPr algn="l">
                        <a:lnSpc>
                          <a:spcPct val="115000"/>
                        </a:lnSpc>
                      </a:pPr>
                      <a:r>
                        <a:rPr lang="en-US" sz="900" b="0" dirty="0">
                          <a:solidFill>
                            <a:srgbClr val="000000"/>
                          </a:solidFill>
                          <a:latin typeface="Arial"/>
                          <a:ea typeface="Arial"/>
                          <a:cs typeface="Arial"/>
                        </a:rPr>
                        <a:t>Sourced / derived current state</a:t>
                      </a:r>
                    </a:p>
                  </a:txBody>
                  <a:tcPr marL="45720" marR="45720" marT="45720" marB="45720" anchor="ctr">
                    <a:lnL>
                      <a:noFill/>
                    </a:lnL>
                    <a:lnR>
                      <a:noFill/>
                    </a:lnR>
                    <a:lnT>
                      <a:noFill/>
                    </a:lnT>
                    <a:lnB>
                      <a:noFill/>
                    </a:lnB>
                    <a:noFill/>
                  </a:tcPr>
                </a:tc>
                <a:tc>
                  <a:txBody>
                    <a:bodyPr anchor="ctr"/>
                    <a:lstStyle/>
                    <a:p>
                      <a:pPr algn="l">
                        <a:lnSpc>
                          <a:spcPct val="115000"/>
                        </a:lnSpc>
                      </a:pPr>
                      <a:r>
                        <a:rPr lang="en-US" sz="900" b="0" dirty="0">
                          <a:solidFill>
                            <a:srgbClr val="000000"/>
                          </a:solidFill>
                          <a:latin typeface="Arial"/>
                          <a:ea typeface="Arial"/>
                          <a:cs typeface="Arial"/>
                        </a:rPr>
                        <a:t>Current floor, not ceiling</a:t>
                      </a:r>
                    </a:p>
                  </a:txBody>
                  <a:tcPr marL="45720" marR="45720" marT="45720" marB="45720" anchor="ctr">
                    <a:lnL>
                      <a:noFill/>
                    </a:lnL>
                    <a:lnR>
                      <a:noFill/>
                    </a:lnR>
                    <a:lnT>
                      <a:noFill/>
                    </a:lnT>
                    <a:lnB>
                      <a:noFill/>
                    </a:lnB>
                    <a:noFill/>
                  </a:tcPr>
                </a:tc>
              </a:tr>
            </a:tbl>
          </a:graphicData>
        </a:graphic>
      </p:graphicFrame>
      <p:sp>
        <p:nvSpPr>
          <p:cNvPr id="60" name="Chip1"/>
          <p:cNvSpPr txBox="1"/>
          <p:nvPr/>
        </p:nvSpPr>
        <p:spPr>
          <a:xfrm>
            <a:off x="453079" y="4791600"/>
            <a:ext cx="2400000" cy="320000"/>
          </a:xfrm>
          <a:prstGeom prst="rect">
            <a:avLst/>
          </a:prstGeom>
          <a:solidFill>
            <a:srgbClr val="F2F2F2"/>
          </a:solidFill>
          <a:ln w="12700">
            <a:solidFill>
              <a:srgbClr val="000000"/>
            </a:solidFill>
          </a:ln>
        </p:spPr>
        <p:txBody>
          <a:bodyPr wrap="square" anchor="ctr" lIns="45720" tIns="9144" rIns="45720" bIns="9144"/>
          <a:lstStyle/>
          <a:p>
            <a:pPr algn="ctr">
              <a:lnSpc>
                <a:spcPct val="115000"/>
              </a:lnSpc>
              <a:buNone/>
            </a:pPr>
            <a:r>
              <a:rPr lang="en-US" sz="900" dirty="0">
                <a:solidFill>
                  <a:srgbClr val="000000"/>
                </a:solidFill>
                <a:latin typeface="Arial"/>
                <a:ea typeface="Arial"/>
                <a:cs typeface="Arial"/>
              </a:rPr>
              <a:t>Upper bound, not working case</a:t>
            </a:r>
          </a:p>
        </p:txBody>
      </p:sp>
      <p:sp>
        <p:nvSpPr>
          <p:cNvPr id="61" name="Chip2"/>
          <p:cNvSpPr txBox="1"/>
          <p:nvPr/>
        </p:nvSpPr>
        <p:spPr>
          <a:xfrm>
            <a:off x="3003079" y="4791600"/>
            <a:ext cx="2400000" cy="320000"/>
          </a:xfrm>
          <a:prstGeom prst="rect">
            <a:avLst/>
          </a:prstGeom>
          <a:solidFill>
            <a:srgbClr val="F2F2F2"/>
          </a:solidFill>
          <a:ln w="12700">
            <a:solidFill>
              <a:srgbClr val="000000"/>
            </a:solidFill>
          </a:ln>
        </p:spPr>
        <p:txBody>
          <a:bodyPr wrap="square" anchor="ctr" lIns="45720" tIns="9144" rIns="45720" bIns="9144"/>
          <a:lstStyle/>
          <a:p>
            <a:pPr algn="ctr">
              <a:lnSpc>
                <a:spcPct val="115000"/>
              </a:lnSpc>
              <a:buNone/>
            </a:pPr>
            <a:r>
              <a:rPr lang="en-US" sz="900" dirty="0">
                <a:solidFill>
                  <a:srgbClr val="000000"/>
                </a:solidFill>
                <a:latin typeface="Arial"/>
                <a:ea typeface="Arial"/>
                <a:cs typeface="Arial"/>
              </a:rPr>
              <a:t>DDG-51 h/L are assumptions</a:t>
            </a:r>
          </a:p>
        </p:txBody>
      </p:sp>
      <p:sp>
        <p:nvSpPr>
          <p:cNvPr id="62" name="Chip3"/>
          <p:cNvSpPr txBox="1"/>
          <p:nvPr/>
        </p:nvSpPr>
        <p:spPr>
          <a:xfrm>
            <a:off x="5553079" y="4791600"/>
            <a:ext cx="2400000" cy="320000"/>
          </a:xfrm>
          <a:prstGeom prst="rect">
            <a:avLst/>
          </a:prstGeom>
          <a:solidFill>
            <a:srgbClr val="F2F2F2"/>
          </a:solidFill>
          <a:ln w="12700">
            <a:solidFill>
              <a:srgbClr val="000000"/>
            </a:solidFill>
          </a:ln>
        </p:spPr>
        <p:txBody>
          <a:bodyPr wrap="square" anchor="ctr" lIns="45720" tIns="9144" rIns="45720" bIns="9144"/>
          <a:lstStyle/>
          <a:p>
            <a:pPr algn="ctr">
              <a:lnSpc>
                <a:spcPct val="115000"/>
              </a:lnSpc>
              <a:buNone/>
            </a:pPr>
            <a:r>
              <a:rPr lang="en-US" sz="900" dirty="0">
                <a:solidFill>
                  <a:srgbClr val="000000"/>
                </a:solidFill>
                <a:latin typeface="Arial"/>
                <a:ea typeface="Arial"/>
                <a:cs typeface="Arial"/>
              </a:rPr>
              <a:t>Shares are the answer; $ show magnitude</a:t>
            </a:r>
          </a:p>
        </p:txBody>
      </p:sp>
      <p:sp>
        <p:nvSpPr>
          <p:cNvPr id="70" name="Rail1"/>
          <p:cNvSpPr txBox="1"/>
          <p:nvPr/>
        </p:nvSpPr>
        <p:spPr>
          <a:xfrm>
            <a:off x="8133079" y="1460000"/>
            <a:ext cx="3602362" cy="1450000"/>
          </a:xfrm>
          <a:prstGeom prst="rect">
            <a:avLst/>
          </a:prstGeom>
          <a:noFill/>
          <a:ln>
            <a:noFill/>
          </a:ln>
        </p:spPr>
        <p:txBody>
          <a:bodyPr wrap="square" anchor="t" lIns="0" tIns="0" rIns="0" bIns="0"/>
          <a:lstStyle/>
          <a:p>
            <a:pPr>
              <a:lnSpc>
                <a:spcPct val="115000"/>
              </a:lnSpc>
              <a:buNone/>
            </a:pPr>
            <a:r>
              <a:rPr lang="en-US" sz="1000" b="1" dirty="0">
                <a:solidFill>
                  <a:srgbClr val="000000"/>
                </a:solidFill>
                <a:latin typeface="Arial"/>
                <a:ea typeface="Arial"/>
                <a:cs typeface="Arial"/>
              </a:rPr>
              <a:t>The denominator choice is the defensibility move. </a:t>
            </a:r>
            <a:r>
              <a:rPr lang="en-US" sz="950" dirty="0">
                <a:solidFill>
                  <a:srgbClr val="000000"/>
                </a:solidFill>
                <a:latin typeface="Arial"/>
                <a:ea typeface="Arial"/>
                <a:cs typeface="Arial"/>
              </a:rPr>
              <a:t>Basic Construction isolates the work the prime yard can make or buy. GFE and total ship cost stay outside the addressable base, so the model does not treat combat systems, reactor content, or other government-furnished items as outsourcing opportunity.</a:t>
            </a:r>
          </a:p>
        </p:txBody>
      </p:sp>
      <p:sp>
        <p:nvSpPr>
          <p:cNvPr id="71" name="Rail2"/>
          <p:cNvSpPr txBox="1"/>
          <p:nvPr/>
        </p:nvSpPr>
        <p:spPr>
          <a:xfrm>
            <a:off x="8133079" y="2980000"/>
            <a:ext cx="3602362" cy="1100000"/>
          </a:xfrm>
          <a:prstGeom prst="rect">
            <a:avLst/>
          </a:prstGeom>
          <a:noFill/>
          <a:ln>
            <a:noFill/>
          </a:ln>
        </p:spPr>
        <p:txBody>
          <a:bodyPr wrap="square" anchor="t" lIns="0" tIns="0" rIns="0" bIns="0"/>
          <a:lstStyle/>
          <a:p>
            <a:pPr>
              <a:lnSpc>
                <a:spcPct val="115000"/>
              </a:lnSpc>
              <a:buNone/>
            </a:pPr>
            <a:r>
              <a:rPr lang="en-US" sz="1000" b="1" dirty="0">
                <a:solidFill>
                  <a:srgbClr val="000000"/>
                </a:solidFill>
                <a:latin typeface="Arial"/>
                <a:ea typeface="Arial"/>
                <a:cs typeface="Arial"/>
              </a:rPr>
              <a:t>The model estimates a ceiling, not a forecast. </a:t>
            </a:r>
            <a:r>
              <a:rPr lang="en-US" sz="950" dirty="0">
                <a:solidFill>
                  <a:srgbClr val="000000"/>
                </a:solidFill>
                <a:latin typeface="Arial"/>
                <a:ea typeface="Arial"/>
                <a:cs typeface="Arial"/>
              </a:rPr>
              <a:t>Current POP is the starting floor. The structural ceiling is the p=100% upper bound; the selected p=50% case is the more conservative working read.</a:t>
            </a:r>
          </a:p>
        </p:txBody>
      </p:sp>
      <p:sp>
        <p:nvSpPr>
          <p:cNvPr id="72" name="Rail3"/>
          <p:cNvSpPr txBox="1"/>
          <p:nvPr/>
        </p:nvSpPr>
        <p:spPr>
          <a:xfrm>
            <a:off x="8133079" y="4180000"/>
            <a:ext cx="3602362" cy="1700000"/>
          </a:xfrm>
          <a:prstGeom prst="rect">
            <a:avLst/>
          </a:prstGeom>
          <a:noFill/>
          <a:ln>
            <a:noFill/>
          </a:ln>
        </p:spPr>
        <p:txBody>
          <a:bodyPr wrap="square" anchor="t" lIns="0" tIns="0" rIns="0" bIns="0"/>
          <a:lstStyle/>
          <a:p>
            <a:pPr>
              <a:lnSpc>
                <a:spcPct val="115000"/>
              </a:lnSpc>
              <a:buNone/>
            </a:pPr>
            <a:r>
              <a:rPr lang="en-US" sz="1000" b="1" dirty="0">
                <a:solidFill>
                  <a:srgbClr val="000000"/>
                </a:solidFill>
                <a:latin typeface="Arial"/>
                <a:ea typeface="Arial"/>
                <a:cs typeface="Arial"/>
              </a:rPr>
              <a:t>The slide shows the judgment points before reviewers ask. </a:t>
            </a:r>
            <a:r>
              <a:rPr lang="en-US" sz="950" dirty="0">
                <a:solidFill>
                  <a:srgbClr val="000000"/>
                </a:solidFill>
                <a:latin typeface="Arial"/>
                <a:ea typeface="Arial"/>
                <a:cs typeface="Arial"/>
              </a:rPr>
              <a:t>DDG-51 h and L are analyst assumptions, L is rebased from total cost to Basic Construction, and p materially moves the dollar answer.</a:t>
            </a:r>
          </a:p>
        </p:txBody>
      </p:sp>
      <p:sp>
        <p:nvSpPr>
          <p:cNvPr id="9999" name="Sources"/>
          <p:cNvSpPr txBox="1"/>
          <p:nvPr/>
        </p:nvSpPr>
        <p:spPr>
          <a:xfrm>
            <a:off x="453079" y="6085448"/>
            <a:ext cx="11282362" cy="540000"/>
          </a:xfrm>
          <a:prstGeom prst="rect">
            <a:avLst/>
          </a:prstGeom>
          <a:noFill/>
          <a:ln>
            <a:noFill/>
          </a:ln>
        </p:spPr>
        <p:txBody>
          <a:bodyPr wrap="square" anchor="t" lIns="91440" tIns="45720" rIns="91440" bIns="45720"/>
          <a:lstStyle/>
          <a:p>
            <a:r>
              <a:rPr lang="en-US" sz="800" kern="1200" dirty="0">
                <a:solidFill>
                  <a:srgbClr val="162029"/>
                </a:solidFill>
                <a:latin typeface="Arial"/>
                <a:ea typeface="Arial"/>
                <a:cs typeface="Arial"/>
              </a:rPr>
              <a:t>Sources: Defense News, "Defense firms outsource sub, carrier construction amid labor woes" (M. Eckstein, Oct 2022); O'Rourke (CRS), State of U.S. Shipbuilding, House Armed Services Committee testimony (Mar 2025), cross-checked against the CBO Shipbuilding Composite Index (Apr 2024); DoD FMR 7000.14-R Vol 2B Ch 4, Exhibit P-5 ship cost element categories (Nov 2017); DoD contract award announcements (announced place-of-performance): Virginia Block V (2019), Columbia Build I (2020), DDG-51 FY23–27 multiyear (2023)</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Executive Summary</a:t>
            </a:r>
            <a:r>
              <a:rPr lang="en-US" sz="1000" kern="1200" dirty="0">
                <a:solidFill>
                  <a:srgbClr val="44505C"/>
                </a:solidFill>
                <a:latin typeface="Arial"/>
                <a:ea typeface="Arial"/>
                <a:cs typeface="Arial"/>
              </a:rPr>
              <a:t> / Supplier TAM and SAM</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Outsourcing Ceiling | The maximum supplier share is built from the must-stay core and a material pass-through dial.</a:t>
            </a:r>
          </a:p>
        </p:txBody>
      </p:sp>
      <p:sp>
        <p:nvSpPr>
          <p:cNvPr id="10" name="Framer"/>
          <p:cNvSpPr txBox="1"/>
          <p:nvPr/>
        </p:nvSpPr>
        <p:spPr>
          <a:xfrm>
            <a:off x="453079" y="1380000"/>
            <a:ext cx="11282362" cy="300000"/>
          </a:xfrm>
          <a:prstGeom prst="rect">
            <a:avLst/>
          </a:prstGeom>
          <a:noFill/>
          <a:ln>
            <a:noFill/>
          </a:ln>
        </p:spPr>
        <p:txBody>
          <a:bodyPr wrap="square" anchor="ctr" lIns="0" tIns="0" rIns="0" bIns="0"/>
          <a:lstStyle/>
          <a:p>
            <a:pPr>
              <a:lnSpc>
                <a:spcPct val="115000"/>
              </a:lnSpc>
              <a:buNone/>
            </a:pPr>
            <a:r>
              <a:rPr lang="en-US" sz="900" b="1" dirty="0">
                <a:solidFill>
                  <a:srgbClr val="000000"/>
                </a:solidFill>
                <a:latin typeface="Arial"/>
                <a:ea typeface="Arial"/>
                <a:cs typeface="Arial"/>
              </a:rPr>
              <a:t>No budget line splits must-stay assembly from outsourceable work. </a:t>
            </a:r>
            <a:r>
              <a:rPr lang="en-US" sz="900" dirty="0">
                <a:solidFill>
                  <a:srgbClr val="000000"/>
                </a:solidFill>
                <a:latin typeface="Arial"/>
                <a:ea typeface="Arial"/>
                <a:cs typeface="Arial"/>
              </a:rPr>
              <a:t>Published place-of-performance (POP) sets today's floor, so the ceiling is built from Basic Construction, labor share, movable hours, and material pass-through.</a:t>
            </a:r>
          </a:p>
        </p:txBody>
      </p:sp>
      <p:sp>
        <p:nvSpPr>
          <p:cNvPr id="20" name="Box1"/>
          <p:cNvSpPr txBox="1"/>
          <p:nvPr/>
        </p:nvSpPr>
        <p:spPr>
          <a:xfrm>
            <a:off x="453079" y="1800000"/>
            <a:ext cx="1590000" cy="960000"/>
          </a:xfrm>
          <a:prstGeom prst="rect">
            <a:avLst/>
          </a:prstGeom>
          <a:solidFill>
            <a:srgbClr val="E2E9EF"/>
          </a:solidFill>
          <a:ln w="12700">
            <a:solidFill>
              <a:srgbClr val="000000"/>
            </a:solidFill>
          </a:ln>
        </p:spPr>
        <p:txBody>
          <a:bodyPr wrap="square" anchor="ctr" lIns="91440" tIns="76200" rIns="91440" bIns="76200"/>
          <a:lstStyle/>
          <a:p>
            <a:pPr>
              <a:lnSpc>
                <a:spcPct val="115000"/>
              </a:lnSpc>
              <a:spcAft>
                <a:spcPts val="100"/>
              </a:spcAft>
              <a:buNone/>
            </a:pPr>
            <a:r>
              <a:rPr lang="en-US" sz="900" b="1" dirty="0">
                <a:solidFill>
                  <a:srgbClr val="000000"/>
                </a:solidFill>
                <a:latin typeface="Arial"/>
                <a:ea typeface="Arial"/>
                <a:cs typeface="Arial"/>
              </a:rPr>
              <a:t>1.  Addressable base</a:t>
            </a:r>
          </a:p>
          <a:p>
            <a:pPr>
              <a:lnSpc>
                <a:spcPct val="115000"/>
              </a:lnSpc>
              <a:spcAft>
                <a:spcPts val="60"/>
              </a:spcAft>
              <a:buNone/>
            </a:pPr>
            <a:r>
              <a:rPr lang="en-US" sz="850" dirty="0">
                <a:solidFill>
                  <a:srgbClr val="000000"/>
                </a:solidFill>
                <a:latin typeface="Arial"/>
                <a:ea typeface="Arial"/>
                <a:cs typeface="Arial"/>
              </a:rPr>
              <a:t>FY22–27 Basic Construction</a:t>
            </a:r>
          </a:p>
          <a:p>
            <a:pPr>
              <a:lnSpc>
                <a:spcPct val="115000"/>
              </a:lnSpc>
              <a:spcAft>
                <a:spcPts val="60"/>
              </a:spcAft>
              <a:buNone/>
            </a:pPr>
            <a:r>
              <a:rPr lang="en-US" sz="850" dirty="0">
                <a:solidFill>
                  <a:srgbClr val="000000"/>
                </a:solidFill>
                <a:latin typeface="Arial"/>
                <a:ea typeface="Arial"/>
                <a:cs typeface="Arial"/>
              </a:rPr>
              <a:t>Excludes GFE and non-BC cost</a:t>
            </a:r>
          </a:p>
        </p:txBody>
      </p:sp>
      <p:sp>
        <p:nvSpPr>
          <p:cNvPr id="21" name="Box2"/>
          <p:cNvSpPr txBox="1"/>
          <p:nvPr/>
        </p:nvSpPr>
        <p:spPr>
          <a:xfrm>
            <a:off x="2423079" y="1800000"/>
            <a:ext cx="1590000" cy="960000"/>
          </a:xfrm>
          <a:prstGeom prst="rect">
            <a:avLst/>
          </a:prstGeom>
          <a:solidFill>
            <a:srgbClr val="B6C8D8"/>
          </a:solidFill>
          <a:ln w="12700">
            <a:solidFill>
              <a:srgbClr val="000000"/>
            </a:solidFill>
          </a:ln>
        </p:spPr>
        <p:txBody>
          <a:bodyPr wrap="square" anchor="ctr" lIns="91440" tIns="76200" rIns="91440" bIns="76200"/>
          <a:lstStyle/>
          <a:p>
            <a:pPr>
              <a:lnSpc>
                <a:spcPct val="115000"/>
              </a:lnSpc>
              <a:spcAft>
                <a:spcPts val="100"/>
              </a:spcAft>
              <a:buNone/>
            </a:pPr>
            <a:r>
              <a:rPr lang="en-US" sz="900" b="1" dirty="0">
                <a:solidFill>
                  <a:srgbClr val="000000"/>
                </a:solidFill>
                <a:latin typeface="Arial"/>
                <a:ea typeface="Arial"/>
                <a:cs typeface="Arial"/>
              </a:rPr>
              <a:t>2.  Labor mechanics</a:t>
            </a:r>
          </a:p>
          <a:p>
            <a:pPr>
              <a:lnSpc>
                <a:spcPct val="115000"/>
              </a:lnSpc>
              <a:spcAft>
                <a:spcPts val="60"/>
              </a:spcAft>
              <a:buNone/>
            </a:pPr>
            <a:r>
              <a:rPr lang="en-US" sz="850" dirty="0">
                <a:solidFill>
                  <a:srgbClr val="000000"/>
                </a:solidFill>
                <a:latin typeface="Arial"/>
                <a:ea typeface="Arial"/>
                <a:cs typeface="Arial"/>
              </a:rPr>
              <a:t>h = movable labor-hour share</a:t>
            </a:r>
          </a:p>
          <a:p>
            <a:pPr>
              <a:lnSpc>
                <a:spcPct val="115000"/>
              </a:lnSpc>
              <a:spcAft>
                <a:spcPts val="60"/>
              </a:spcAft>
              <a:buNone/>
            </a:pPr>
            <a:r>
              <a:rPr lang="en-US" sz="850" dirty="0">
                <a:solidFill>
                  <a:srgbClr val="000000"/>
                </a:solidFill>
                <a:latin typeface="Arial"/>
                <a:ea typeface="Arial"/>
                <a:cs typeface="Arial"/>
              </a:rPr>
              <a:t>L = labor share of BC</a:t>
            </a:r>
          </a:p>
        </p:txBody>
      </p:sp>
      <p:sp>
        <p:nvSpPr>
          <p:cNvPr id="22" name="Box3"/>
          <p:cNvSpPr txBox="1"/>
          <p:nvPr/>
        </p:nvSpPr>
        <p:spPr>
          <a:xfrm>
            <a:off x="4393079" y="1800000"/>
            <a:ext cx="1590000" cy="960000"/>
          </a:xfrm>
          <a:prstGeom prst="rect">
            <a:avLst/>
          </a:prstGeom>
          <a:solidFill>
            <a:srgbClr val="6E91B1"/>
          </a:solidFill>
          <a:ln w="12700">
            <a:solidFill>
              <a:srgbClr val="000000"/>
            </a:solidFill>
          </a:ln>
        </p:spPr>
        <p:txBody>
          <a:bodyPr wrap="square" anchor="ctr" lIns="91440" tIns="76200" rIns="91440" bIns="76200"/>
          <a:lstStyle/>
          <a:p>
            <a:pPr>
              <a:lnSpc>
                <a:spcPct val="115000"/>
              </a:lnSpc>
              <a:spcAft>
                <a:spcPts val="100"/>
              </a:spcAft>
              <a:buNone/>
            </a:pPr>
            <a:r>
              <a:rPr lang="en-US" sz="900" b="1" dirty="0">
                <a:solidFill>
                  <a:srgbClr val="FFFFFF"/>
                </a:solidFill>
                <a:latin typeface="Arial"/>
                <a:ea typeface="Arial"/>
                <a:cs typeface="Arial"/>
              </a:rPr>
              <a:t>3.  Must-stay core</a:t>
            </a:r>
          </a:p>
          <a:p>
            <a:pPr>
              <a:lnSpc>
                <a:spcPct val="115000"/>
              </a:lnSpc>
              <a:spcAft>
                <a:spcPts val="60"/>
              </a:spcAft>
              <a:buNone/>
            </a:pPr>
            <a:r>
              <a:rPr lang="en-US" sz="850" dirty="0">
                <a:solidFill>
                  <a:srgbClr val="FFFFFF"/>
                </a:solidFill>
                <a:latin typeface="Arial"/>
                <a:ea typeface="Arial"/>
                <a:cs typeface="Arial"/>
              </a:rPr>
              <a:t>Core = L × (1 − h)</a:t>
            </a:r>
          </a:p>
          <a:p>
            <a:pPr>
              <a:lnSpc>
                <a:spcPct val="115000"/>
              </a:lnSpc>
              <a:spcAft>
                <a:spcPts val="60"/>
              </a:spcAft>
              <a:buNone/>
            </a:pPr>
            <a:r>
              <a:rPr lang="en-US" sz="850" dirty="0">
                <a:solidFill>
                  <a:srgbClr val="FFFFFF"/>
                </a:solidFill>
                <a:latin typeface="Arial"/>
                <a:ea typeface="Arial"/>
                <a:cs typeface="Arial"/>
              </a:rPr>
              <a:t>Final assembly, integration, test</a:t>
            </a:r>
          </a:p>
        </p:txBody>
      </p:sp>
      <p:sp>
        <p:nvSpPr>
          <p:cNvPr id="23" name="Box4"/>
          <p:cNvSpPr txBox="1"/>
          <p:nvPr/>
        </p:nvSpPr>
        <p:spPr>
          <a:xfrm>
            <a:off x="6363079" y="1800000"/>
            <a:ext cx="1590000" cy="960000"/>
          </a:xfrm>
          <a:prstGeom prst="rect">
            <a:avLst/>
          </a:prstGeom>
          <a:solidFill>
            <a:srgbClr val="3D5972"/>
          </a:solidFill>
          <a:ln w="12700">
            <a:solidFill>
              <a:srgbClr val="000000"/>
            </a:solidFill>
          </a:ln>
        </p:spPr>
        <p:txBody>
          <a:bodyPr wrap="square" anchor="ctr" lIns="91440" tIns="76200" rIns="91440" bIns="76200"/>
          <a:lstStyle/>
          <a:p>
            <a:pPr>
              <a:lnSpc>
                <a:spcPct val="115000"/>
              </a:lnSpc>
              <a:spcAft>
                <a:spcPts val="100"/>
              </a:spcAft>
              <a:buNone/>
            </a:pPr>
            <a:r>
              <a:rPr lang="en-US" sz="900" b="1" dirty="0">
                <a:solidFill>
                  <a:srgbClr val="FFFFFF"/>
                </a:solidFill>
                <a:latin typeface="Arial"/>
                <a:ea typeface="Arial"/>
                <a:cs typeface="Arial"/>
              </a:rPr>
              <a:t>4.  Structural ceiling</a:t>
            </a:r>
          </a:p>
          <a:p>
            <a:pPr>
              <a:lnSpc>
                <a:spcPct val="115000"/>
              </a:lnSpc>
              <a:spcAft>
                <a:spcPts val="60"/>
              </a:spcAft>
              <a:buNone/>
            </a:pPr>
            <a:r>
              <a:rPr lang="en-US" sz="850" dirty="0">
                <a:solidFill>
                  <a:srgbClr val="FFFFFF"/>
                </a:solidFill>
                <a:latin typeface="Arial"/>
                <a:ea typeface="Arial"/>
                <a:cs typeface="Arial"/>
              </a:rPr>
              <a:t>Ceiling = 1 − core</a:t>
            </a:r>
          </a:p>
          <a:p>
            <a:pPr>
              <a:lnSpc>
                <a:spcPct val="115000"/>
              </a:lnSpc>
              <a:spcAft>
                <a:spcPts val="60"/>
              </a:spcAft>
              <a:buNone/>
            </a:pPr>
            <a:r>
              <a:rPr lang="en-US" sz="850" dirty="0">
                <a:solidFill>
                  <a:srgbClr val="FFFFFF"/>
                </a:solidFill>
                <a:latin typeface="Arial"/>
                <a:ea typeface="Arial"/>
                <a:cs typeface="Arial"/>
              </a:rPr>
              <a:t>Maximum outsourceable share</a:t>
            </a:r>
          </a:p>
        </p:txBody>
      </p:sp>
      <p:cxnSp>
        <p:nvCxnSpPr>
          <p:cNvPr id="30" name="Step1to2"/>
          <p:cNvCxnSpPr/>
          <p:nvPr/>
        </p:nvCxnSpPr>
        <p:spPr>
          <a:xfrm>
            <a:off x="2043079" y="2280000"/>
            <a:ext cx="380000" cy="0"/>
          </a:xfrm>
          <a:prstGeom prst="line">
            <a:avLst/>
          </a:prstGeom>
          <a:ln w="9525">
            <a:solidFill>
              <a:srgbClr val="000000"/>
            </a:solidFill>
            <a:tailEnd type="triangle" w="med" len="med"/>
          </a:ln>
        </p:spPr>
      </p:cxnSp>
      <p:cxnSp>
        <p:nvCxnSpPr>
          <p:cNvPr id="31" name="Step2to3"/>
          <p:cNvCxnSpPr/>
          <p:nvPr/>
        </p:nvCxnSpPr>
        <p:spPr>
          <a:xfrm>
            <a:off x="4013079" y="2280000"/>
            <a:ext cx="380000" cy="0"/>
          </a:xfrm>
          <a:prstGeom prst="line">
            <a:avLst/>
          </a:prstGeom>
          <a:ln w="9525">
            <a:solidFill>
              <a:srgbClr val="000000"/>
            </a:solidFill>
            <a:tailEnd type="triangle" w="med" len="med"/>
          </a:ln>
        </p:spPr>
      </p:cxnSp>
      <p:cxnSp>
        <p:nvCxnSpPr>
          <p:cNvPr id="32" name="Step3to4"/>
          <p:cNvCxnSpPr/>
          <p:nvPr/>
        </p:nvCxnSpPr>
        <p:spPr>
          <a:xfrm>
            <a:off x="5983079" y="2280000"/>
            <a:ext cx="380000" cy="0"/>
          </a:xfrm>
          <a:prstGeom prst="line">
            <a:avLst/>
          </a:prstGeom>
          <a:ln w="9525">
            <a:solidFill>
              <a:srgbClr val="000000"/>
            </a:solidFill>
            <a:tailEnd type="triangle" w="med" len="med"/>
          </a:ln>
        </p:spPr>
      </p:cxnSp>
      <p:cxnSp>
        <p:nvCxnSpPr>
          <p:cNvPr id="33" name="DialDrop"/>
          <p:cNvCxnSpPr/>
          <p:nvPr/>
        </p:nvCxnSpPr>
        <p:spPr>
          <a:xfrm>
            <a:off x="7158079" y="2760000"/>
            <a:ext cx="0" cy="330000"/>
          </a:xfrm>
          <a:prstGeom prst="line">
            <a:avLst/>
          </a:prstGeom>
          <a:ln w="9525">
            <a:solidFill>
              <a:srgbClr val="000000"/>
            </a:solidFill>
            <a:tailEnd type="triangle" w="med" len="med"/>
          </a:ln>
        </p:spPr>
      </p:cxnSp>
      <p:sp>
        <p:nvSpPr>
          <p:cNvPr id="34" name="BridgeFormula"/>
          <p:cNvSpPr txBox="1"/>
          <p:nvPr/>
        </p:nvSpPr>
        <p:spPr>
          <a:xfrm>
            <a:off x="453079" y="3090000"/>
            <a:ext cx="7500000" cy="420000"/>
          </a:xfrm>
          <a:prstGeom prst="rect">
            <a:avLst/>
          </a:prstGeom>
          <a:solidFill>
            <a:srgbClr val="F2F2F2"/>
          </a:solidFill>
          <a:ln w="12700">
            <a:solidFill>
              <a:srgbClr val="000000"/>
            </a:solidFill>
          </a:ln>
        </p:spPr>
        <p:txBody>
          <a:bodyPr wrap="square" anchor="ctr" lIns="114300" tIns="40000" rIns="114300" bIns="40000"/>
          <a:lstStyle/>
          <a:p>
            <a:pPr algn="ctr">
              <a:lnSpc>
                <a:spcPct val="115000"/>
              </a:lnSpc>
              <a:spcAft>
                <a:spcPts val="60"/>
              </a:spcAft>
              <a:buNone/>
            </a:pPr>
            <a:r>
              <a:rPr lang="en-US" sz="1100" b="1" dirty="0">
                <a:solidFill>
                  <a:srgbClr val="000000"/>
                </a:solidFill>
                <a:latin typeface="Arial"/>
                <a:ea typeface="Arial"/>
                <a:cs typeface="Arial"/>
              </a:rPr>
              <a:t>Dollarized supplier share = hL + p(1 − L)</a:t>
            </a:r>
          </a:p>
          <a:p>
            <a:pPr algn="ctr">
              <a:lnSpc>
                <a:spcPct val="115000"/>
              </a:lnSpc>
              <a:buNone/>
            </a:pPr>
            <a:r>
              <a:rPr lang="en-US" sz="850" i="1" dirty="0">
                <a:solidFill>
                  <a:srgbClr val="000000"/>
                </a:solidFill>
                <a:latin typeface="Arial"/>
                <a:ea typeface="Arial"/>
                <a:cs typeface="Arial"/>
              </a:rPr>
              <a:t>p sets how much non-labor material travels with outsourced packages.</a:t>
            </a:r>
          </a:p>
        </p:txBody>
      </p:sp>
      <p:sp>
        <p:nvSpPr>
          <p:cNvPr id="40" name="Read1"/>
          <p:cNvSpPr txBox="1"/>
          <p:nvPr/>
        </p:nvSpPr>
        <p:spPr>
          <a:xfrm>
            <a:off x="453079" y="3690000"/>
            <a:ext cx="2366666" cy="1140000"/>
          </a:xfrm>
          <a:prstGeom prst="rect">
            <a:avLst/>
          </a:prstGeom>
          <a:solidFill>
            <a:srgbClr val="E2E9EF"/>
          </a:solidFill>
          <a:ln w="12700">
            <a:solidFill>
              <a:srgbClr val="000000"/>
            </a:solidFill>
          </a:ln>
        </p:spPr>
        <p:txBody>
          <a:bodyPr wrap="square" anchor="ctr" lIns="114300" tIns="76200" rIns="114300" bIns="76200"/>
          <a:lstStyle/>
          <a:p>
            <a:pPr algn="ctr">
              <a:lnSpc>
                <a:spcPct val="115000"/>
              </a:lnSpc>
              <a:spcAft>
                <a:spcPts val="160"/>
              </a:spcAft>
              <a:buNone/>
            </a:pPr>
            <a:r>
              <a:rPr lang="en-US" sz="900" b="1" dirty="0">
                <a:solidFill>
                  <a:srgbClr val="000000"/>
                </a:solidFill>
                <a:latin typeface="Arial"/>
                <a:ea typeface="Arial"/>
                <a:cs typeface="Arial"/>
              </a:rPr>
              <a:t>p = 0</a:t>
            </a:r>
          </a:p>
          <a:p>
            <a:pPr algn="ctr">
              <a:lnSpc>
                <a:spcPct val="115000"/>
              </a:lnSpc>
              <a:spcAft>
                <a:spcPts val="160"/>
              </a:spcAft>
              <a:buNone/>
            </a:pPr>
            <a:r>
              <a:rPr lang="en-US" sz="1800" b="1" dirty="0">
                <a:solidFill>
                  <a:srgbClr val="000000"/>
                </a:solidFill>
                <a:latin typeface="Arial"/>
                <a:ea typeface="Arial"/>
                <a:cs typeface="Arial"/>
              </a:rPr>
              <a:t>~25%</a:t>
            </a:r>
          </a:p>
          <a:p>
            <a:pPr algn="ctr">
              <a:lnSpc>
                <a:spcPct val="115000"/>
              </a:lnSpc>
              <a:buNone/>
            </a:pPr>
            <a:r>
              <a:rPr lang="en-US" sz="850" i="1" dirty="0">
                <a:solidFill>
                  <a:srgbClr val="000000"/>
                </a:solidFill>
                <a:latin typeface="Arial"/>
                <a:ea typeface="Arial"/>
                <a:cs typeface="Arial"/>
              </a:rPr>
              <a:t>Movable labor only</a:t>
            </a:r>
          </a:p>
        </p:txBody>
      </p:sp>
      <p:cxnSp>
        <p:nvCxnSpPr>
          <p:cNvPr id="37" name="Tick1"/>
          <p:cNvCxnSpPr/>
          <p:nvPr/>
        </p:nvCxnSpPr>
        <p:spPr>
          <a:xfrm>
            <a:off x="1636412" y="3510000"/>
            <a:ext cx="0" cy="180000"/>
          </a:xfrm>
          <a:prstGeom prst="line">
            <a:avLst/>
          </a:prstGeom>
          <a:ln w="9525">
            <a:solidFill>
              <a:srgbClr val="000000"/>
            </a:solidFill>
            <a:tailEnd type="triangle" w="med" len="med"/>
          </a:ln>
        </p:spPr>
      </p:cxnSp>
      <p:sp>
        <p:nvSpPr>
          <p:cNvPr id="41" name="Read2"/>
          <p:cNvSpPr txBox="1"/>
          <p:nvPr/>
        </p:nvSpPr>
        <p:spPr>
          <a:xfrm>
            <a:off x="3019745" y="3690000"/>
            <a:ext cx="2366666" cy="1140000"/>
          </a:xfrm>
          <a:prstGeom prst="rect">
            <a:avLst/>
          </a:prstGeom>
          <a:solidFill>
            <a:srgbClr val="B6C8D8"/>
          </a:solidFill>
          <a:ln w="12700">
            <a:solidFill>
              <a:srgbClr val="000000"/>
            </a:solidFill>
          </a:ln>
        </p:spPr>
        <p:txBody>
          <a:bodyPr wrap="square" anchor="ctr" lIns="114300" tIns="76200" rIns="114300" bIns="76200"/>
          <a:lstStyle/>
          <a:p>
            <a:pPr algn="ctr">
              <a:lnSpc>
                <a:spcPct val="115000"/>
              </a:lnSpc>
              <a:spcAft>
                <a:spcPts val="160"/>
              </a:spcAft>
              <a:buNone/>
            </a:pPr>
            <a:r>
              <a:rPr lang="en-US" sz="900" b="1" dirty="0">
                <a:solidFill>
                  <a:srgbClr val="000000"/>
                </a:solidFill>
                <a:latin typeface="Arial"/>
                <a:ea typeface="Arial"/>
                <a:cs typeface="Arial"/>
              </a:rPr>
              <a:t>p = 50%</a:t>
            </a:r>
          </a:p>
          <a:p>
            <a:pPr algn="ctr">
              <a:lnSpc>
                <a:spcPct val="115000"/>
              </a:lnSpc>
              <a:spcAft>
                <a:spcPts val="160"/>
              </a:spcAft>
              <a:buNone/>
            </a:pPr>
            <a:r>
              <a:rPr lang="en-US" sz="1800" b="1" dirty="0">
                <a:solidFill>
                  <a:srgbClr val="000000"/>
                </a:solidFill>
                <a:latin typeface="Arial"/>
                <a:ea typeface="Arial"/>
                <a:cs typeface="Arial"/>
              </a:rPr>
              <a:t>~51%</a:t>
            </a:r>
          </a:p>
          <a:p>
            <a:pPr algn="ctr">
              <a:lnSpc>
                <a:spcPct val="115000"/>
              </a:lnSpc>
              <a:buNone/>
            </a:pPr>
            <a:r>
              <a:rPr lang="en-US" sz="850" i="1" dirty="0">
                <a:solidFill>
                  <a:srgbClr val="000000"/>
                </a:solidFill>
                <a:latin typeface="Arial"/>
                <a:ea typeface="Arial"/>
                <a:cs typeface="Arial"/>
              </a:rPr>
              <a:t>Selected working case</a:t>
            </a:r>
          </a:p>
        </p:txBody>
      </p:sp>
      <p:cxnSp>
        <p:nvCxnSpPr>
          <p:cNvPr id="38" name="Tick2"/>
          <p:cNvCxnSpPr/>
          <p:nvPr/>
        </p:nvCxnSpPr>
        <p:spPr>
          <a:xfrm>
            <a:off x="4203078" y="3510000"/>
            <a:ext cx="0" cy="180000"/>
          </a:xfrm>
          <a:prstGeom prst="line">
            <a:avLst/>
          </a:prstGeom>
          <a:ln w="9525">
            <a:solidFill>
              <a:srgbClr val="000000"/>
            </a:solidFill>
            <a:tailEnd type="triangle" w="med" len="med"/>
          </a:ln>
        </p:spPr>
      </p:cxnSp>
      <p:sp>
        <p:nvSpPr>
          <p:cNvPr id="42" name="Read3"/>
          <p:cNvSpPr txBox="1"/>
          <p:nvPr/>
        </p:nvSpPr>
        <p:spPr>
          <a:xfrm>
            <a:off x="5586411" y="3690000"/>
            <a:ext cx="2366666" cy="1140000"/>
          </a:xfrm>
          <a:prstGeom prst="rect">
            <a:avLst/>
          </a:prstGeom>
          <a:solidFill>
            <a:srgbClr val="3D5972"/>
          </a:solidFill>
          <a:ln w="12700">
            <a:solidFill>
              <a:srgbClr val="000000"/>
            </a:solidFill>
          </a:ln>
        </p:spPr>
        <p:txBody>
          <a:bodyPr wrap="square" anchor="ctr" lIns="114300" tIns="76200" rIns="114300" bIns="76200"/>
          <a:lstStyle/>
          <a:p>
            <a:pPr algn="ctr">
              <a:lnSpc>
                <a:spcPct val="115000"/>
              </a:lnSpc>
              <a:spcAft>
                <a:spcPts val="160"/>
              </a:spcAft>
              <a:buNone/>
            </a:pPr>
            <a:r>
              <a:rPr lang="en-US" sz="900" b="1" dirty="0">
                <a:solidFill>
                  <a:srgbClr val="FFFFFF"/>
                </a:solidFill>
                <a:latin typeface="Arial"/>
                <a:ea typeface="Arial"/>
                <a:cs typeface="Arial"/>
              </a:rPr>
              <a:t>p = 100%</a:t>
            </a:r>
          </a:p>
          <a:p>
            <a:pPr algn="ctr">
              <a:lnSpc>
                <a:spcPct val="115000"/>
              </a:lnSpc>
              <a:spcAft>
                <a:spcPts val="160"/>
              </a:spcAft>
              <a:buNone/>
            </a:pPr>
            <a:r>
              <a:rPr lang="en-US" sz="1800" b="1" dirty="0">
                <a:solidFill>
                  <a:srgbClr val="FFFFFF"/>
                </a:solidFill>
                <a:latin typeface="Arial"/>
                <a:ea typeface="Arial"/>
                <a:cs typeface="Arial"/>
              </a:rPr>
              <a:t>~76%</a:t>
            </a:r>
          </a:p>
          <a:p>
            <a:pPr algn="ctr">
              <a:lnSpc>
                <a:spcPct val="115000"/>
              </a:lnSpc>
              <a:buNone/>
            </a:pPr>
            <a:r>
              <a:rPr lang="en-US" sz="850" i="1" dirty="0">
                <a:solidFill>
                  <a:srgbClr val="FFFFFF"/>
                </a:solidFill>
                <a:latin typeface="Arial"/>
                <a:ea typeface="Arial"/>
                <a:cs typeface="Arial"/>
              </a:rPr>
              <a:t>Material-inclusive ceiling</a:t>
            </a:r>
          </a:p>
        </p:txBody>
      </p:sp>
      <p:cxnSp>
        <p:nvCxnSpPr>
          <p:cNvPr id="39" name="Tick3"/>
          <p:cNvCxnSpPr/>
          <p:nvPr/>
        </p:nvCxnSpPr>
        <p:spPr>
          <a:xfrm>
            <a:off x="6769744" y="3510000"/>
            <a:ext cx="0" cy="180000"/>
          </a:xfrm>
          <a:prstGeom prst="line">
            <a:avLst/>
          </a:prstGeom>
          <a:ln w="9525">
            <a:solidFill>
              <a:srgbClr val="000000"/>
            </a:solidFill>
            <a:tailEnd type="triangle" w="med" len="med"/>
          </a:ln>
        </p:spPr>
      </p:cxnSp>
      <p:sp>
        <p:nvSpPr>
          <p:cNvPr id="50" name="LedgerCaption"/>
          <p:cNvSpPr txBox="1"/>
          <p:nvPr/>
        </p:nvSpPr>
        <p:spPr>
          <a:xfrm>
            <a:off x="8133079" y="1800000"/>
            <a:ext cx="3602362" cy="380000"/>
          </a:xfrm>
          <a:prstGeom prst="rect">
            <a:avLst/>
          </a:prstGeom>
          <a:noFill/>
          <a:ln>
            <a:noFill/>
          </a:ln>
        </p:spPr>
        <p:txBody>
          <a:bodyPr wrap="square" anchor="t" lIns="0" tIns="0" rIns="0" bIns="0"/>
          <a:lstStyle/>
          <a:p>
            <a:pPr>
              <a:lnSpc>
                <a:spcPct val="115000"/>
              </a:lnSpc>
              <a:buNone/>
            </a:pPr>
            <a:r>
              <a:rPr lang="en-US" sz="1000" b="1" dirty="0">
                <a:solidFill>
                  <a:srgbClr val="000000"/>
                </a:solidFill>
                <a:latin typeface="Arial"/>
                <a:ea typeface="Arial"/>
                <a:cs typeface="Arial"/>
              </a:rPr>
              <a:t>Key levers and basis. </a:t>
            </a:r>
            <a:r>
              <a:rPr lang="en-US" sz="1000" dirty="0">
                <a:solidFill>
                  <a:srgbClr val="000000"/>
                </a:solidFill>
                <a:latin typeface="Arial"/>
                <a:ea typeface="Arial"/>
                <a:cs typeface="Arial"/>
              </a:rPr>
              <a:t>Each input is sourced, derived, or an explicit assumption.</a:t>
            </a:r>
          </a:p>
        </p:txBody>
      </p:sp>
      <p:graphicFrame>
        <p:nvGraphicFramePr>
          <p:cNvPr id="51" name="LeverLedger"/>
          <p:cNvGraphicFramePr>
            <a:graphicFrameLocks noGrp="1"/>
          </p:cNvGraphicFramePr>
          <p:nvPr/>
        </p:nvGraphicFramePr>
        <p:xfrm>
          <a:off x="8133079" y="2240000"/>
          <a:ext cx="3602362" cy="1737360"/>
        </p:xfrm>
        <a:graphic>
          <a:graphicData uri="http://schemas.openxmlformats.org/drawingml/2006/table">
            <a:tbl>
              <a:tblPr firstRow="1" firstCol="1" bandRow="0">
                <a:tableStyleId>{2D5ABB26-0587-4C30-8999-92F81FD0307C}</a:tableStyleId>
              </a:tblPr>
              <a:tblGrid>
                <a:gridCol w="520000"/>
                <a:gridCol w="1700000"/>
                <a:gridCol w="1382362"/>
              </a:tblGrid>
              <a:tr h="274320">
                <a:tc>
                  <a:txBody>
                    <a:bodyPr anchor="ctr"/>
                    <a:lstStyle/>
                    <a:p>
                      <a:pPr algn="ctr">
                        <a:lnSpc>
                          <a:spcPct val="115000"/>
                        </a:lnSpc>
                      </a:pPr>
                      <a:r>
                        <a:rPr lang="en-US" sz="900" b="1" dirty="0">
                          <a:solidFill>
                            <a:srgbClr val="000000"/>
                          </a:solidFill>
                          <a:latin typeface="Arial"/>
                          <a:ea typeface="Arial"/>
                          <a:cs typeface="Arial"/>
                        </a:rPr>
                        <a:t>Lever</a:t>
                      </a:r>
                    </a:p>
                  </a:txBody>
                  <a:tcPr marL="45720" marR="45720" marT="45720" marB="45720" anchor="ctr">
                    <a:lnL>
                      <a:noFill/>
                    </a:lnL>
                    <a:lnR>
                      <a:noFill/>
                    </a:lnR>
                    <a:lnT>
                      <a:noFill/>
                    </a:lnT>
                    <a:lnB w="19050" cap="flat" cmpd="sng" algn="ctr">
                      <a:solidFill>
                        <a:srgbClr val="000000"/>
                      </a:solidFill>
                      <a:prstDash val="solid"/>
                    </a:lnB>
                    <a:noFill/>
                  </a:tcPr>
                </a:tc>
                <a:tc>
                  <a:txBody>
                    <a:bodyPr anchor="ctr"/>
                    <a:lstStyle/>
                    <a:p>
                      <a:pPr algn="l">
                        <a:lnSpc>
                          <a:spcPct val="115000"/>
                        </a:lnSpc>
                      </a:pPr>
                      <a:r>
                        <a:rPr lang="en-US" sz="900" b="1" dirty="0">
                          <a:solidFill>
                            <a:srgbClr val="000000"/>
                          </a:solidFill>
                          <a:latin typeface="Arial"/>
                          <a:ea typeface="Arial"/>
                          <a:cs typeface="Arial"/>
                        </a:rPr>
                        <a:t>Basis</a:t>
                      </a:r>
                    </a:p>
                  </a:txBody>
                  <a:tcPr marL="45720" marR="45720" marT="45720" marB="45720" anchor="ctr">
                    <a:lnL>
                      <a:noFill/>
                    </a:lnL>
                    <a:lnR>
                      <a:noFill/>
                    </a:lnR>
                    <a:lnT>
                      <a:noFill/>
                    </a:lnT>
                    <a:lnB w="19050" cap="flat" cmpd="sng" algn="ctr">
                      <a:solidFill>
                        <a:srgbClr val="000000"/>
                      </a:solidFill>
                      <a:prstDash val="solid"/>
                    </a:lnB>
                    <a:noFill/>
                  </a:tcPr>
                </a:tc>
                <a:tc>
                  <a:txBody>
                    <a:bodyPr anchor="ctr"/>
                    <a:lstStyle/>
                    <a:p>
                      <a:pPr algn="l">
                        <a:lnSpc>
                          <a:spcPct val="115000"/>
                        </a:lnSpc>
                      </a:pPr>
                      <a:r>
                        <a:rPr lang="en-US" sz="900" b="1" dirty="0">
                          <a:solidFill>
                            <a:srgbClr val="000000"/>
                          </a:solidFill>
                          <a:latin typeface="Arial"/>
                          <a:ea typeface="Arial"/>
                          <a:cs typeface="Arial"/>
                        </a:rPr>
                        <a:t>Role in estimate</a:t>
                      </a:r>
                    </a:p>
                  </a:txBody>
                  <a:tcPr marL="45720" marR="45720" marT="45720" marB="45720" anchor="ctr">
                    <a:lnL>
                      <a:noFill/>
                    </a:lnL>
                    <a:lnR>
                      <a:noFill/>
                    </a:lnR>
                    <a:lnT>
                      <a:noFill/>
                    </a:lnT>
                    <a:lnB w="19050" cap="flat" cmpd="sng" algn="ctr">
                      <a:solidFill>
                        <a:srgbClr val="000000"/>
                      </a:solidFill>
                      <a:prstDash val="solid"/>
                    </a:lnB>
                    <a:noFill/>
                  </a:tcPr>
                </a:tc>
              </a:tr>
              <a:tr h="365760">
                <a:tc>
                  <a:txBody>
                    <a:bodyPr anchor="ctr"/>
                    <a:lstStyle/>
                    <a:p>
                      <a:pPr algn="ctr">
                        <a:lnSpc>
                          <a:spcPct val="115000"/>
                        </a:lnSpc>
                      </a:pPr>
                      <a:r>
                        <a:rPr lang="en-US" sz="900" b="1" dirty="0">
                          <a:solidFill>
                            <a:srgbClr val="000000"/>
                          </a:solidFill>
                          <a:latin typeface="Arial"/>
                          <a:ea typeface="Arial"/>
                          <a:cs typeface="Arial"/>
                        </a:rPr>
                        <a:t>h</a:t>
                      </a:r>
                    </a:p>
                  </a:txBody>
                  <a:tcPr marL="45720" marR="45720" marT="45720" marB="45720" anchor="ctr">
                    <a:lnL>
                      <a:noFill/>
                    </a:lnL>
                    <a:lnR>
                      <a:noFill/>
                    </a:lnR>
                    <a:lnT>
                      <a:noFill/>
                    </a:lnT>
                    <a:lnB w="6350" cap="flat" cmpd="sng" algn="ctr">
                      <a:solidFill>
                        <a:srgbClr val="646464"/>
                      </a:solidFill>
                      <a:prstDash val="solid"/>
                    </a:lnB>
                    <a:noFill/>
                  </a:tcPr>
                </a:tc>
                <a:tc>
                  <a:txBody>
                    <a:bodyPr anchor="ctr"/>
                    <a:lstStyle/>
                    <a:p>
                      <a:pPr algn="l">
                        <a:lnSpc>
                          <a:spcPct val="115000"/>
                        </a:lnSpc>
                      </a:pPr>
                      <a:r>
                        <a:rPr lang="en-US" sz="900" b="0" dirty="0">
                          <a:solidFill>
                            <a:srgbClr val="000000"/>
                          </a:solidFill>
                          <a:latin typeface="Arial"/>
                          <a:ea typeface="Arial"/>
                          <a:cs typeface="Arial"/>
                        </a:rPr>
                        <a:t>Sourced for submarines; DDG-51 judgment</a:t>
                      </a:r>
                    </a:p>
                  </a:txBody>
                  <a:tcPr marL="45720" marR="45720" marT="45720" marB="45720" anchor="ctr">
                    <a:lnL>
                      <a:noFill/>
                    </a:lnL>
                    <a:lnR>
                      <a:noFill/>
                    </a:lnR>
                    <a:lnT>
                      <a:noFill/>
                    </a:lnT>
                    <a:lnB w="6350" cap="flat" cmpd="sng" algn="ctr">
                      <a:solidFill>
                        <a:srgbClr val="646464"/>
                      </a:solidFill>
                      <a:prstDash val="solid"/>
                    </a:lnB>
                    <a:noFill/>
                  </a:tcPr>
                </a:tc>
                <a:tc>
                  <a:txBody>
                    <a:bodyPr anchor="ctr"/>
                    <a:lstStyle/>
                    <a:p>
                      <a:pPr algn="l">
                        <a:lnSpc>
                          <a:spcPct val="115000"/>
                        </a:lnSpc>
                      </a:pPr>
                      <a:r>
                        <a:rPr lang="en-US" sz="900" b="0" dirty="0">
                          <a:solidFill>
                            <a:srgbClr val="000000"/>
                          </a:solidFill>
                          <a:latin typeface="Arial"/>
                          <a:ea typeface="Arial"/>
                          <a:cs typeface="Arial"/>
                        </a:rPr>
                        <a:t>Movable labor-hour share</a:t>
                      </a:r>
                    </a:p>
                  </a:txBody>
                  <a:tcPr marL="45720" marR="45720" marT="45720" marB="45720" anchor="ctr">
                    <a:lnL>
                      <a:noFill/>
                    </a:lnL>
                    <a:lnR>
                      <a:noFill/>
                    </a:lnR>
                    <a:lnT>
                      <a:noFill/>
                    </a:lnT>
                    <a:lnB w="6350" cap="flat" cmpd="sng" algn="ctr">
                      <a:solidFill>
                        <a:srgbClr val="646464"/>
                      </a:solidFill>
                      <a:prstDash val="solid"/>
                    </a:lnB>
                    <a:noFill/>
                  </a:tcPr>
                </a:tc>
              </a:tr>
              <a:tr h="365760">
                <a:tc>
                  <a:txBody>
                    <a:bodyPr anchor="ctr"/>
                    <a:lstStyle/>
                    <a:p>
                      <a:pPr algn="ctr">
                        <a:lnSpc>
                          <a:spcPct val="115000"/>
                        </a:lnSpc>
                      </a:pPr>
                      <a:r>
                        <a:rPr lang="en-US" sz="900" b="1" dirty="0">
                          <a:solidFill>
                            <a:srgbClr val="000000"/>
                          </a:solidFill>
                          <a:latin typeface="Arial"/>
                          <a:ea typeface="Arial"/>
                          <a:cs typeface="Arial"/>
                        </a:rPr>
                        <a:t>L</a:t>
                      </a:r>
                    </a:p>
                  </a:txBody>
                  <a:tcPr marL="45720" marR="45720" marT="45720" marB="45720" anchor="ctr">
                    <a:lnL>
                      <a:noFill/>
                    </a:lnL>
                    <a:lnR>
                      <a:noFill/>
                    </a:lnR>
                    <a:lnT>
                      <a:noFill/>
                    </a:lnT>
                    <a:lnB w="6350" cap="flat" cmpd="sng" algn="ctr">
                      <a:solidFill>
                        <a:srgbClr val="646464"/>
                      </a:solidFill>
                      <a:prstDash val="solid"/>
                    </a:lnB>
                    <a:noFill/>
                  </a:tcPr>
                </a:tc>
                <a:tc>
                  <a:txBody>
                    <a:bodyPr anchor="ctr"/>
                    <a:lstStyle/>
                    <a:p>
                      <a:pPr algn="l">
                        <a:lnSpc>
                          <a:spcPct val="115000"/>
                        </a:lnSpc>
                      </a:pPr>
                      <a:r>
                        <a:rPr lang="en-US" sz="900" b="0" dirty="0">
                          <a:solidFill>
                            <a:srgbClr val="000000"/>
                          </a:solidFill>
                          <a:latin typeface="Arial"/>
                          <a:ea typeface="Arial"/>
                          <a:cs typeface="Arial"/>
                        </a:rPr>
                        <a:t>Sourced total-cost anchor, rebased to BC</a:t>
                      </a:r>
                    </a:p>
                  </a:txBody>
                  <a:tcPr marL="45720" marR="45720" marT="45720" marB="45720" anchor="ctr">
                    <a:lnL>
                      <a:noFill/>
                    </a:lnL>
                    <a:lnR>
                      <a:noFill/>
                    </a:lnR>
                    <a:lnT>
                      <a:noFill/>
                    </a:lnT>
                    <a:lnB w="6350" cap="flat" cmpd="sng" algn="ctr">
                      <a:solidFill>
                        <a:srgbClr val="646464"/>
                      </a:solidFill>
                      <a:prstDash val="solid"/>
                    </a:lnB>
                    <a:noFill/>
                  </a:tcPr>
                </a:tc>
                <a:tc>
                  <a:txBody>
                    <a:bodyPr anchor="ctr"/>
                    <a:lstStyle/>
                    <a:p>
                      <a:pPr algn="l">
                        <a:lnSpc>
                          <a:spcPct val="115000"/>
                        </a:lnSpc>
                      </a:pPr>
                      <a:r>
                        <a:rPr lang="en-US" sz="900" b="0" dirty="0">
                          <a:solidFill>
                            <a:srgbClr val="000000"/>
                          </a:solidFill>
                          <a:latin typeface="Arial"/>
                          <a:ea typeface="Arial"/>
                          <a:cs typeface="Arial"/>
                        </a:rPr>
                        <a:t>Labor share of Basic Construction</a:t>
                      </a:r>
                    </a:p>
                  </a:txBody>
                  <a:tcPr marL="45720" marR="45720" marT="45720" marB="45720" anchor="ctr">
                    <a:lnL>
                      <a:noFill/>
                    </a:lnL>
                    <a:lnR>
                      <a:noFill/>
                    </a:lnR>
                    <a:lnT>
                      <a:noFill/>
                    </a:lnT>
                    <a:lnB w="6350" cap="flat" cmpd="sng" algn="ctr">
                      <a:solidFill>
                        <a:srgbClr val="646464"/>
                      </a:solidFill>
                      <a:prstDash val="solid"/>
                    </a:lnB>
                    <a:noFill/>
                  </a:tcPr>
                </a:tc>
              </a:tr>
              <a:tr h="365760">
                <a:tc>
                  <a:txBody>
                    <a:bodyPr anchor="ctr"/>
                    <a:lstStyle/>
                    <a:p>
                      <a:pPr algn="ctr">
                        <a:lnSpc>
                          <a:spcPct val="115000"/>
                        </a:lnSpc>
                      </a:pPr>
                      <a:r>
                        <a:rPr lang="en-US" sz="900" b="1" dirty="0">
                          <a:solidFill>
                            <a:srgbClr val="000000"/>
                          </a:solidFill>
                          <a:latin typeface="Arial"/>
                          <a:ea typeface="Arial"/>
                          <a:cs typeface="Arial"/>
                        </a:rPr>
                        <a:t>p</a:t>
                      </a:r>
                    </a:p>
                  </a:txBody>
                  <a:tcPr marL="45720" marR="45720" marT="45720" marB="45720" anchor="ctr">
                    <a:lnL>
                      <a:noFill/>
                    </a:lnL>
                    <a:lnR>
                      <a:noFill/>
                    </a:lnR>
                    <a:lnT>
                      <a:noFill/>
                    </a:lnT>
                    <a:lnB w="6350" cap="flat" cmpd="sng" algn="ctr">
                      <a:solidFill>
                        <a:srgbClr val="646464"/>
                      </a:solidFill>
                      <a:prstDash val="solid"/>
                    </a:lnB>
                    <a:noFill/>
                  </a:tcPr>
                </a:tc>
                <a:tc>
                  <a:txBody>
                    <a:bodyPr anchor="ctr"/>
                    <a:lstStyle/>
                    <a:p>
                      <a:pPr algn="l">
                        <a:lnSpc>
                          <a:spcPct val="115000"/>
                        </a:lnSpc>
                      </a:pPr>
                      <a:r>
                        <a:rPr lang="en-US" sz="900" b="0" dirty="0">
                          <a:solidFill>
                            <a:srgbClr val="000000"/>
                          </a:solidFill>
                          <a:latin typeface="Arial"/>
                          <a:ea typeface="Arial"/>
                          <a:cs typeface="Arial"/>
                        </a:rPr>
                        <a:t>Scenario input</a:t>
                      </a:r>
                    </a:p>
                  </a:txBody>
                  <a:tcPr marL="45720" marR="45720" marT="45720" marB="45720" anchor="ctr">
                    <a:lnL>
                      <a:noFill/>
                    </a:lnL>
                    <a:lnR>
                      <a:noFill/>
                    </a:lnR>
                    <a:lnT>
                      <a:noFill/>
                    </a:lnT>
                    <a:lnB w="6350" cap="flat" cmpd="sng" algn="ctr">
                      <a:solidFill>
                        <a:srgbClr val="646464"/>
                      </a:solidFill>
                      <a:prstDash val="solid"/>
                    </a:lnB>
                    <a:noFill/>
                  </a:tcPr>
                </a:tc>
                <a:tc>
                  <a:txBody>
                    <a:bodyPr anchor="ctr"/>
                    <a:lstStyle/>
                    <a:p>
                      <a:pPr algn="l">
                        <a:lnSpc>
                          <a:spcPct val="115000"/>
                        </a:lnSpc>
                      </a:pPr>
                      <a:r>
                        <a:rPr lang="en-US" sz="900" b="0" dirty="0">
                          <a:solidFill>
                            <a:srgbClr val="000000"/>
                          </a:solidFill>
                          <a:latin typeface="Arial"/>
                          <a:ea typeface="Arial"/>
                          <a:cs typeface="Arial"/>
                        </a:rPr>
                        <a:t>Material pass-through share</a:t>
                      </a:r>
                    </a:p>
                  </a:txBody>
                  <a:tcPr marL="45720" marR="45720" marT="45720" marB="45720" anchor="ctr">
                    <a:lnL>
                      <a:noFill/>
                    </a:lnL>
                    <a:lnR>
                      <a:noFill/>
                    </a:lnR>
                    <a:lnT>
                      <a:noFill/>
                    </a:lnT>
                    <a:lnB w="6350" cap="flat" cmpd="sng" algn="ctr">
                      <a:solidFill>
                        <a:srgbClr val="646464"/>
                      </a:solidFill>
                      <a:prstDash val="solid"/>
                    </a:lnB>
                    <a:noFill/>
                  </a:tcPr>
                </a:tc>
              </a:tr>
              <a:tr h="365760">
                <a:tc>
                  <a:txBody>
                    <a:bodyPr anchor="ctr"/>
                    <a:lstStyle/>
                    <a:p>
                      <a:pPr algn="ctr">
                        <a:lnSpc>
                          <a:spcPct val="115000"/>
                        </a:lnSpc>
                      </a:pPr>
                      <a:r>
                        <a:rPr lang="en-US" sz="900" b="1" dirty="0">
                          <a:solidFill>
                            <a:srgbClr val="000000"/>
                          </a:solidFill>
                          <a:latin typeface="Arial"/>
                          <a:ea typeface="Arial"/>
                          <a:cs typeface="Arial"/>
                        </a:rPr>
                        <a:t>POP</a:t>
                      </a:r>
                    </a:p>
                  </a:txBody>
                  <a:tcPr marL="45720" marR="45720" marT="45720" marB="45720" anchor="ctr">
                    <a:lnL>
                      <a:noFill/>
                    </a:lnL>
                    <a:lnR>
                      <a:noFill/>
                    </a:lnR>
                    <a:lnT>
                      <a:noFill/>
                    </a:lnT>
                    <a:lnB>
                      <a:noFill/>
                    </a:lnB>
                    <a:noFill/>
                  </a:tcPr>
                </a:tc>
                <a:tc>
                  <a:txBody>
                    <a:bodyPr anchor="ctr"/>
                    <a:lstStyle/>
                    <a:p>
                      <a:pPr algn="l">
                        <a:lnSpc>
                          <a:spcPct val="115000"/>
                        </a:lnSpc>
                      </a:pPr>
                      <a:r>
                        <a:rPr lang="en-US" sz="900" b="0" dirty="0">
                          <a:solidFill>
                            <a:srgbClr val="000000"/>
                          </a:solidFill>
                          <a:latin typeface="Arial"/>
                          <a:ea typeface="Arial"/>
                          <a:cs typeface="Arial"/>
                        </a:rPr>
                        <a:t>Announced place-of-performance</a:t>
                      </a:r>
                    </a:p>
                  </a:txBody>
                  <a:tcPr marL="45720" marR="45720" marT="45720" marB="45720" anchor="ctr">
                    <a:lnL>
                      <a:noFill/>
                    </a:lnL>
                    <a:lnR>
                      <a:noFill/>
                    </a:lnR>
                    <a:lnT>
                      <a:noFill/>
                    </a:lnT>
                    <a:lnB>
                      <a:noFill/>
                    </a:lnB>
                    <a:noFill/>
                  </a:tcPr>
                </a:tc>
                <a:tc>
                  <a:txBody>
                    <a:bodyPr anchor="ctr"/>
                    <a:lstStyle/>
                    <a:p>
                      <a:pPr algn="l">
                        <a:lnSpc>
                          <a:spcPct val="115000"/>
                        </a:lnSpc>
                      </a:pPr>
                      <a:r>
                        <a:rPr lang="en-US" sz="900" b="0" dirty="0">
                          <a:solidFill>
                            <a:srgbClr val="000000"/>
                          </a:solidFill>
                          <a:latin typeface="Arial"/>
                          <a:ea typeface="Arial"/>
                          <a:cs typeface="Arial"/>
                        </a:rPr>
                        <a:t>Current floor</a:t>
                      </a:r>
                    </a:p>
                  </a:txBody>
                  <a:tcPr marL="45720" marR="45720" marT="45720" marB="45720" anchor="ctr">
                    <a:lnL>
                      <a:noFill/>
                    </a:lnL>
                    <a:lnR>
                      <a:noFill/>
                    </a:lnR>
                    <a:lnT>
                      <a:noFill/>
                    </a:lnT>
                    <a:lnB>
                      <a:noFill/>
                    </a:lnB>
                    <a:noFill/>
                  </a:tcPr>
                </a:tc>
              </a:tr>
            </a:tbl>
          </a:graphicData>
        </a:graphic>
      </p:graphicFrame>
      <p:sp>
        <p:nvSpPr>
          <p:cNvPr id="52" name="RailNote"/>
          <p:cNvSpPr txBox="1"/>
          <p:nvPr/>
        </p:nvSpPr>
        <p:spPr>
          <a:xfrm>
            <a:off x="8133079" y="4097360"/>
            <a:ext cx="3602362" cy="560000"/>
          </a:xfrm>
          <a:prstGeom prst="rect">
            <a:avLst/>
          </a:prstGeom>
          <a:noFill/>
          <a:ln>
            <a:noFill/>
          </a:ln>
        </p:spPr>
        <p:txBody>
          <a:bodyPr wrap="square" anchor="t" lIns="0" tIns="0" rIns="0" bIns="0"/>
          <a:lstStyle/>
          <a:p>
            <a:pPr>
              <a:lnSpc>
                <a:spcPct val="115000"/>
              </a:lnSpc>
              <a:buNone/>
            </a:pPr>
            <a:r>
              <a:rPr lang="en-US" sz="850" i="1" dirty="0">
                <a:solidFill>
                  <a:srgbClr val="000000"/>
                </a:solidFill>
                <a:latin typeface="Arial"/>
                <a:ea typeface="Arial"/>
                <a:cs typeface="Arial"/>
              </a:rPr>
              <a:t>L starts from a total-cost labor anchor and is rebased to Basic Construction. p moves the dollarized supplier share, so the estimate is read as a range, not a single point.</a:t>
            </a:r>
          </a:p>
        </p:txBody>
      </p:sp>
      <p:sp>
        <p:nvSpPr>
          <p:cNvPr id="60" name="Guard1"/>
          <p:cNvSpPr txBox="1"/>
          <p:nvPr/>
        </p:nvSpPr>
        <p:spPr>
          <a:xfrm>
            <a:off x="453079" y="4960000"/>
            <a:ext cx="3627454" cy="420000"/>
          </a:xfrm>
          <a:prstGeom prst="rect">
            <a:avLst/>
          </a:prstGeom>
          <a:solidFill>
            <a:srgbClr val="F2F2F2"/>
          </a:solidFill>
          <a:ln w="12700">
            <a:solidFill>
              <a:srgbClr val="000000"/>
            </a:solidFill>
          </a:ln>
        </p:spPr>
        <p:txBody>
          <a:bodyPr wrap="square" anchor="ctr" lIns="45720" tIns="9144" rIns="45720" bIns="9144"/>
          <a:lstStyle/>
          <a:p>
            <a:pPr algn="ctr">
              <a:lnSpc>
                <a:spcPct val="115000"/>
              </a:lnSpc>
              <a:buNone/>
            </a:pPr>
            <a:r>
              <a:rPr lang="en-US" sz="900" dirty="0">
                <a:solidFill>
                  <a:srgbClr val="000000"/>
                </a:solidFill>
                <a:latin typeface="Arial"/>
                <a:ea typeface="Arial"/>
                <a:cs typeface="Arial"/>
              </a:rPr>
              <a:t>p = 100% is the upper bound; p = 50% is the working case</a:t>
            </a:r>
          </a:p>
        </p:txBody>
      </p:sp>
      <p:sp>
        <p:nvSpPr>
          <p:cNvPr id="61" name="Guard2"/>
          <p:cNvSpPr txBox="1"/>
          <p:nvPr/>
        </p:nvSpPr>
        <p:spPr>
          <a:xfrm>
            <a:off x="4280533" y="4960000"/>
            <a:ext cx="3627454" cy="420000"/>
          </a:xfrm>
          <a:prstGeom prst="rect">
            <a:avLst/>
          </a:prstGeom>
          <a:solidFill>
            <a:srgbClr val="F2F2F2"/>
          </a:solidFill>
          <a:ln w="12700">
            <a:solidFill>
              <a:srgbClr val="000000"/>
            </a:solidFill>
          </a:ln>
        </p:spPr>
        <p:txBody>
          <a:bodyPr wrap="square" anchor="ctr" lIns="45720" tIns="9144" rIns="45720" bIns="9144"/>
          <a:lstStyle/>
          <a:p>
            <a:pPr algn="ctr">
              <a:lnSpc>
                <a:spcPct val="115000"/>
              </a:lnSpc>
              <a:buNone/>
            </a:pPr>
            <a:r>
              <a:rPr lang="en-US" sz="900" dirty="0">
                <a:solidFill>
                  <a:srgbClr val="000000"/>
                </a:solidFill>
                <a:latin typeface="Arial"/>
                <a:ea typeface="Arial"/>
                <a:cs typeface="Arial"/>
              </a:rPr>
              <a:t>DDG-51 h and L are explicit assumptions</a:t>
            </a:r>
          </a:p>
        </p:txBody>
      </p:sp>
      <p:sp>
        <p:nvSpPr>
          <p:cNvPr id="62" name="Guard3"/>
          <p:cNvSpPr txBox="1"/>
          <p:nvPr/>
        </p:nvSpPr>
        <p:spPr>
          <a:xfrm>
            <a:off x="8107987" y="4960000"/>
            <a:ext cx="3627454" cy="420000"/>
          </a:xfrm>
          <a:prstGeom prst="rect">
            <a:avLst/>
          </a:prstGeom>
          <a:solidFill>
            <a:srgbClr val="F2F2F2"/>
          </a:solidFill>
          <a:ln w="12700">
            <a:solidFill>
              <a:srgbClr val="000000"/>
            </a:solidFill>
          </a:ln>
        </p:spPr>
        <p:txBody>
          <a:bodyPr wrap="square" anchor="ctr" lIns="45720" tIns="9144" rIns="45720" bIns="9144"/>
          <a:lstStyle/>
          <a:p>
            <a:pPr algn="ctr">
              <a:lnSpc>
                <a:spcPct val="115000"/>
              </a:lnSpc>
              <a:buNone/>
            </a:pPr>
            <a:r>
              <a:rPr lang="en-US" sz="900" dirty="0">
                <a:solidFill>
                  <a:srgbClr val="000000"/>
                </a:solidFill>
                <a:latin typeface="Arial"/>
                <a:ea typeface="Arial"/>
                <a:cs typeface="Arial"/>
              </a:rPr>
              <a:t>POP sets today's floor, not the ceiling</a:t>
            </a:r>
          </a:p>
        </p:txBody>
      </p:sp>
      <p:sp>
        <p:nvSpPr>
          <p:cNvPr id="9999" name="Sources"/>
          <p:cNvSpPr txBox="1"/>
          <p:nvPr/>
        </p:nvSpPr>
        <p:spPr>
          <a:xfrm>
            <a:off x="453079" y="6085448"/>
            <a:ext cx="11282362" cy="540000"/>
          </a:xfrm>
          <a:prstGeom prst="rect">
            <a:avLst/>
          </a:prstGeom>
          <a:noFill/>
          <a:ln>
            <a:noFill/>
          </a:ln>
        </p:spPr>
        <p:txBody>
          <a:bodyPr wrap="square" anchor="t" lIns="91440" tIns="45720" rIns="91440" bIns="45720"/>
          <a:lstStyle/>
          <a:p>
            <a:r>
              <a:rPr lang="en-US" sz="800" kern="1200" dirty="0">
                <a:solidFill>
                  <a:srgbClr val="162029"/>
                </a:solidFill>
                <a:latin typeface="Arial"/>
                <a:ea typeface="Arial"/>
                <a:cs typeface="Arial"/>
              </a:rPr>
              <a:t>Sources: Defense News, "Defense firms outsource sub, carrier construction amid labor woes" (M. Eckstein, Oct 2022); O'Rourke (CRS), State of U.S. Shipbuilding, House Armed Services Committee testimony (Mar 2025), cross-checked against the CBO Shipbuilding Composite Index (Apr 2024); DoD FMR 7000.14-R Vol 2B Ch 4, Exhibit P-5 ship cost element categories (Nov 2017); DoD contract award announcements (announced place-of-performance): Virginia Block V (2019), Columbia Build I (2020), DDG-51 FY23–27 multiyear (2023)</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Executive Summary</a:t>
            </a:r>
            <a:r>
              <a:rPr lang="en-US" sz="1000" kern="1200" dirty="0">
                <a:solidFill>
                  <a:srgbClr val="44505C"/>
                </a:solidFill>
                <a:latin typeface="Arial"/>
                <a:ea typeface="Arial"/>
                <a:cs typeface="Arial"/>
              </a:rPr>
              <a:t> / Supplier TAM and SAM</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Outsourcing Ceiling Results | The structural ceiling is ~76% of Basic Construction, leaving ~3x headroom over today.</a:t>
            </a:r>
          </a:p>
        </p:txBody>
      </p:sp>
      <p:sp>
        <p:nvSpPr>
          <p:cNvPr id="10" name="UnitsCaption"/>
          <p:cNvSpPr txBox="1"/>
          <p:nvPr/>
        </p:nvSpPr>
        <p:spPr>
          <a:xfrm>
            <a:off x="453079" y="1410000"/>
            <a:ext cx="7400000" cy="220000"/>
          </a:xfrm>
          <a:prstGeom prst="rect">
            <a:avLst/>
          </a:prstGeom>
          <a:noFill/>
          <a:ln>
            <a:noFill/>
          </a:ln>
        </p:spPr>
        <p:txBody>
          <a:bodyPr wrap="square" anchor="t" lIns="0" tIns="0" rIns="0" bIns="0"/>
          <a:lstStyle/>
          <a:p>
            <a:pPr>
              <a:lnSpc>
                <a:spcPct val="115000"/>
              </a:lnSpc>
              <a:buNone/>
            </a:pPr>
            <a:r>
              <a:rPr lang="en-US" sz="1000" i="1" dirty="0">
                <a:solidFill>
                  <a:srgbClr val="000000"/>
                </a:solidFill>
                <a:latin typeface="Arial"/>
                <a:ea typeface="Arial"/>
                <a:cs typeface="Arial"/>
              </a:rPr>
              <a:t>Share of Basic Construction; Portfolio is FY22–27 BC-weighted</a:t>
            </a:r>
          </a:p>
        </p:txBody>
      </p:sp>
      <p:graphicFrame>
        <p:nvGraphicFramePr>
          <p:cNvPr id="11" name="CeilingResultsChart"/>
          <p:cNvGraphicFramePr/>
          <p:nvPr/>
        </p:nvGraphicFramePr>
        <p:xfrm>
          <a:off x="453079" y="1650000"/>
          <a:ext cx="7400000" cy="2700000"/>
        </p:xfrm>
        <a:graphic>
          <a:graphicData uri="http://schemas.openxmlformats.org/drawingml/2006/chart">
            <c:chart xmlns:c="http://schemas.openxmlformats.org/drawingml/2006/chart" xmlns:r="http://schemas.openxmlformats.org/officeDocument/2006/relationships" r:id="rId2"/>
          </a:graphicData>
        </a:graphic>
      </p:graphicFrame>
      <p:sp>
        <p:nvSpPr>
          <p:cNvPr id="12" name="LegendSwatch"/>
          <p:cNvSpPr txBox="1"/>
          <p:nvPr/>
        </p:nvSpPr>
        <p:spPr>
          <a:xfrm>
            <a:off x="1781747" y="4433325"/>
            <a:ext cx="179388" cy="133350"/>
          </a:xfrm>
          <a:prstGeom prst="rect">
            <a:avLst/>
          </a:prstGeom>
          <a:solidFill>
            <a:srgbClr val="89A2B0"/>
          </a:solidFill>
          <a:ln>
            <a:noFill/>
          </a:ln>
        </p:spPr>
        <p:txBody>
          <a:bodyPr wrap="square" anchor="ctr" lIns="0" tIns="0" rIns="0" bIns="0"/>
          <a:lstStyle/>
          <a:p>
            <a:pPr>
              <a:lnSpc>
                <a:spcPct val="115000"/>
              </a:lnSpc>
              <a:buNone/>
            </a:pPr>
            <a:endParaRPr lang="en-US"/>
          </a:p>
        </p:txBody>
      </p:sp>
      <p:sp>
        <p:nvSpPr>
          <p:cNvPr id="13" name="LegendLabel"/>
          <p:cNvSpPr txBox="1"/>
          <p:nvPr/>
        </p:nvSpPr>
        <p:spPr>
          <a:xfrm>
            <a:off x="2021135" y="4366650"/>
            <a:ext cx="1075875" cy="266700"/>
          </a:xfrm>
          <a:prstGeom prst="rect">
            <a:avLst/>
          </a:prstGeom>
          <a:noFill/>
          <a:ln>
            <a:noFill/>
          </a:ln>
        </p:spPr>
        <p:txBody>
          <a:bodyPr wrap="none" anchor="ctr" lIns="0" tIns="0" rIns="0" bIns="0"/>
          <a:lstStyle/>
          <a:p>
            <a:pPr>
              <a:lnSpc>
                <a:spcPct val="115000"/>
              </a:lnSpc>
              <a:buNone/>
            </a:pPr>
            <a:r>
              <a:rPr lang="en-US" sz="1000" dirty="0">
                <a:solidFill>
                  <a:srgbClr val="000000"/>
                </a:solidFill>
                <a:latin typeface="Arial"/>
                <a:ea typeface="Arial"/>
                <a:cs typeface="Arial"/>
              </a:rPr>
              <a:t>Current floor</a:t>
            </a:r>
          </a:p>
        </p:txBody>
      </p:sp>
      <p:sp>
        <p:nvSpPr>
          <p:cNvPr id="14" name="LegendSwatch"/>
          <p:cNvSpPr txBox="1"/>
          <p:nvPr/>
        </p:nvSpPr>
        <p:spPr>
          <a:xfrm>
            <a:off x="3297010" y="4433325"/>
            <a:ext cx="179388" cy="133350"/>
          </a:xfrm>
          <a:prstGeom prst="rect">
            <a:avLst/>
          </a:prstGeom>
          <a:solidFill>
            <a:srgbClr val="486D82"/>
          </a:solidFill>
          <a:ln>
            <a:noFill/>
          </a:ln>
        </p:spPr>
        <p:txBody>
          <a:bodyPr wrap="square" anchor="ctr" lIns="0" tIns="0" rIns="0" bIns="0"/>
          <a:lstStyle/>
          <a:p>
            <a:pPr>
              <a:lnSpc>
                <a:spcPct val="115000"/>
              </a:lnSpc>
              <a:buNone/>
            </a:pPr>
            <a:endParaRPr lang="en-US"/>
          </a:p>
        </p:txBody>
      </p:sp>
      <p:sp>
        <p:nvSpPr>
          <p:cNvPr id="15" name="LegendLabel"/>
          <p:cNvSpPr txBox="1"/>
          <p:nvPr/>
        </p:nvSpPr>
        <p:spPr>
          <a:xfrm>
            <a:off x="3536398" y="4366650"/>
            <a:ext cx="1075875" cy="266700"/>
          </a:xfrm>
          <a:prstGeom prst="rect">
            <a:avLst/>
          </a:prstGeom>
          <a:noFill/>
          <a:ln>
            <a:noFill/>
          </a:ln>
        </p:spPr>
        <p:txBody>
          <a:bodyPr wrap="none" anchor="ctr" lIns="0" tIns="0" rIns="0" bIns="0"/>
          <a:lstStyle/>
          <a:p>
            <a:pPr>
              <a:lnSpc>
                <a:spcPct val="115000"/>
              </a:lnSpc>
              <a:buNone/>
            </a:pPr>
            <a:r>
              <a:rPr lang="en-US" sz="1000" dirty="0">
                <a:solidFill>
                  <a:srgbClr val="000000"/>
                </a:solidFill>
                <a:latin typeface="Arial"/>
                <a:ea typeface="Arial"/>
                <a:cs typeface="Arial"/>
              </a:rPr>
              <a:t>Selected case</a:t>
            </a:r>
          </a:p>
        </p:txBody>
      </p:sp>
      <p:sp>
        <p:nvSpPr>
          <p:cNvPr id="16" name="LegendSwatch"/>
          <p:cNvSpPr txBox="1"/>
          <p:nvPr/>
        </p:nvSpPr>
        <p:spPr>
          <a:xfrm>
            <a:off x="4812273" y="4433325"/>
            <a:ext cx="179388" cy="133350"/>
          </a:xfrm>
          <a:prstGeom prst="rect">
            <a:avLst/>
          </a:prstGeom>
          <a:solidFill>
            <a:srgbClr val="1D4D68"/>
          </a:solidFill>
          <a:ln>
            <a:noFill/>
          </a:ln>
        </p:spPr>
        <p:txBody>
          <a:bodyPr wrap="square" anchor="ctr" lIns="0" tIns="0" rIns="0" bIns="0"/>
          <a:lstStyle/>
          <a:p>
            <a:pPr>
              <a:lnSpc>
                <a:spcPct val="115000"/>
              </a:lnSpc>
              <a:buNone/>
            </a:pPr>
            <a:endParaRPr lang="en-US"/>
          </a:p>
        </p:txBody>
      </p:sp>
      <p:sp>
        <p:nvSpPr>
          <p:cNvPr id="17" name="LegendLabel"/>
          <p:cNvSpPr txBox="1"/>
          <p:nvPr/>
        </p:nvSpPr>
        <p:spPr>
          <a:xfrm>
            <a:off x="5051661" y="4366650"/>
            <a:ext cx="1472750" cy="266700"/>
          </a:xfrm>
          <a:prstGeom prst="rect">
            <a:avLst/>
          </a:prstGeom>
          <a:noFill/>
          <a:ln>
            <a:noFill/>
          </a:ln>
        </p:spPr>
        <p:txBody>
          <a:bodyPr wrap="none" anchor="ctr" lIns="0" tIns="0" rIns="0" bIns="0"/>
          <a:lstStyle/>
          <a:p>
            <a:pPr>
              <a:lnSpc>
                <a:spcPct val="115000"/>
              </a:lnSpc>
              <a:buNone/>
            </a:pPr>
            <a:r>
              <a:rPr lang="en-US" sz="1000" dirty="0">
                <a:solidFill>
                  <a:srgbClr val="000000"/>
                </a:solidFill>
                <a:latin typeface="Arial"/>
                <a:ea typeface="Arial"/>
                <a:cs typeface="Arial"/>
              </a:rPr>
              <a:t>Structural ceiling</a:t>
            </a:r>
          </a:p>
        </p:txBody>
      </p:sp>
      <p:sp>
        <p:nvSpPr>
          <p:cNvPr id="20" name="Kpi1"/>
          <p:cNvSpPr txBox="1"/>
          <p:nvPr/>
        </p:nvSpPr>
        <p:spPr>
          <a:xfrm>
            <a:off x="453079" y="4720000"/>
            <a:ext cx="2366666" cy="1020000"/>
          </a:xfrm>
          <a:prstGeom prst="rect">
            <a:avLst/>
          </a:prstGeom>
          <a:solidFill>
            <a:srgbClr val="89A2B0"/>
          </a:solidFill>
          <a:ln w="12700">
            <a:solidFill>
              <a:srgbClr val="000000"/>
            </a:solidFill>
          </a:ln>
        </p:spPr>
        <p:txBody>
          <a:bodyPr wrap="square" anchor="ctr" lIns="114300" tIns="76200" rIns="114300" bIns="76200"/>
          <a:lstStyle/>
          <a:p>
            <a:pPr algn="ctr">
              <a:lnSpc>
                <a:spcPct val="115000"/>
              </a:lnSpc>
              <a:spcAft>
                <a:spcPts val="120"/>
              </a:spcAft>
              <a:buNone/>
            </a:pPr>
            <a:r>
              <a:rPr lang="en-US" sz="1200" b="1" dirty="0">
                <a:solidFill>
                  <a:srgbClr val="000000"/>
                </a:solidFill>
                <a:latin typeface="Arial"/>
                <a:ea typeface="Arial"/>
                <a:cs typeface="Arial"/>
              </a:rPr>
              <a:t>CURRENT FLOOR</a:t>
            </a:r>
          </a:p>
          <a:p>
            <a:pPr algn="ctr">
              <a:lnSpc>
                <a:spcPct val="115000"/>
              </a:lnSpc>
              <a:spcAft>
                <a:spcPts val="120"/>
              </a:spcAft>
              <a:buNone/>
            </a:pPr>
            <a:r>
              <a:rPr lang="en-US" sz="1800" b="1" dirty="0">
                <a:solidFill>
                  <a:srgbClr val="000000"/>
                </a:solidFill>
                <a:latin typeface="Arial"/>
                <a:ea typeface="Arial"/>
                <a:cs typeface="Arial"/>
              </a:rPr>
              <a:t>$19.1B</a:t>
            </a:r>
          </a:p>
          <a:p>
            <a:pPr algn="ctr">
              <a:lnSpc>
                <a:spcPct val="115000"/>
              </a:lnSpc>
              <a:buNone/>
            </a:pPr>
            <a:r>
              <a:rPr lang="en-US" sz="850" i="1" dirty="0">
                <a:solidFill>
                  <a:srgbClr val="000000"/>
                </a:solidFill>
                <a:latin typeface="Arial"/>
                <a:ea typeface="Arial"/>
                <a:cs typeface="Arial"/>
              </a:rPr>
              <a:t>POP-based off-yard work</a:t>
            </a:r>
          </a:p>
        </p:txBody>
      </p:sp>
      <p:sp>
        <p:nvSpPr>
          <p:cNvPr id="21" name="Kpi2"/>
          <p:cNvSpPr txBox="1"/>
          <p:nvPr/>
        </p:nvSpPr>
        <p:spPr>
          <a:xfrm>
            <a:off x="2969745" y="4720000"/>
            <a:ext cx="2366666" cy="1020000"/>
          </a:xfrm>
          <a:prstGeom prst="rect">
            <a:avLst/>
          </a:prstGeom>
          <a:solidFill>
            <a:srgbClr val="486D82"/>
          </a:solidFill>
          <a:ln w="12700">
            <a:solidFill>
              <a:srgbClr val="000000"/>
            </a:solidFill>
          </a:ln>
        </p:spPr>
        <p:txBody>
          <a:bodyPr wrap="square" anchor="ctr" lIns="114300" tIns="76200" rIns="114300" bIns="76200"/>
          <a:lstStyle/>
          <a:p>
            <a:pPr algn="ctr">
              <a:lnSpc>
                <a:spcPct val="115000"/>
              </a:lnSpc>
              <a:spcAft>
                <a:spcPts val="120"/>
              </a:spcAft>
              <a:buNone/>
            </a:pPr>
            <a:r>
              <a:rPr lang="en-US" sz="1200" b="1" dirty="0">
                <a:solidFill>
                  <a:srgbClr val="FFFFFF"/>
                </a:solidFill>
                <a:latin typeface="Arial"/>
                <a:ea typeface="Arial"/>
                <a:cs typeface="Arial"/>
              </a:rPr>
              <a:t>SELECTED CASE</a:t>
            </a:r>
          </a:p>
          <a:p>
            <a:pPr algn="ctr">
              <a:lnSpc>
                <a:spcPct val="115000"/>
              </a:lnSpc>
              <a:spcAft>
                <a:spcPts val="120"/>
              </a:spcAft>
              <a:buNone/>
            </a:pPr>
            <a:r>
              <a:rPr lang="en-US" sz="1800" b="1" dirty="0">
                <a:solidFill>
                  <a:srgbClr val="FFFFFF"/>
                </a:solidFill>
                <a:latin typeface="Arial"/>
                <a:ea typeface="Arial"/>
                <a:cs typeface="Arial"/>
              </a:rPr>
              <a:t>$37.5B</a:t>
            </a:r>
          </a:p>
          <a:p>
            <a:pPr algn="ctr">
              <a:lnSpc>
                <a:spcPct val="115000"/>
              </a:lnSpc>
              <a:buNone/>
            </a:pPr>
            <a:r>
              <a:rPr lang="en-US" sz="850" i="1" dirty="0">
                <a:solidFill>
                  <a:srgbClr val="FFFFFF"/>
                </a:solidFill>
                <a:latin typeface="Arial"/>
                <a:ea typeface="Arial"/>
                <a:cs typeface="Arial"/>
              </a:rPr>
              <a:t>p=50% working read</a:t>
            </a:r>
          </a:p>
        </p:txBody>
      </p:sp>
      <p:sp>
        <p:nvSpPr>
          <p:cNvPr id="22" name="Kpi3"/>
          <p:cNvSpPr txBox="1"/>
          <p:nvPr/>
        </p:nvSpPr>
        <p:spPr>
          <a:xfrm>
            <a:off x="5486411" y="4720000"/>
            <a:ext cx="2366666" cy="1020000"/>
          </a:xfrm>
          <a:prstGeom prst="rect">
            <a:avLst/>
          </a:prstGeom>
          <a:solidFill>
            <a:srgbClr val="1D4D68"/>
          </a:solidFill>
          <a:ln w="12700">
            <a:solidFill>
              <a:srgbClr val="000000"/>
            </a:solidFill>
          </a:ln>
        </p:spPr>
        <p:txBody>
          <a:bodyPr wrap="square" anchor="ctr" lIns="114300" tIns="76200" rIns="114300" bIns="76200"/>
          <a:lstStyle/>
          <a:p>
            <a:pPr algn="ctr">
              <a:lnSpc>
                <a:spcPct val="115000"/>
              </a:lnSpc>
              <a:spcAft>
                <a:spcPts val="120"/>
              </a:spcAft>
              <a:buNone/>
            </a:pPr>
            <a:r>
              <a:rPr lang="en-US" sz="1200" b="1" dirty="0">
                <a:solidFill>
                  <a:srgbClr val="FFFFFF"/>
                </a:solidFill>
                <a:latin typeface="Arial"/>
                <a:ea typeface="Arial"/>
                <a:cs typeface="Arial"/>
              </a:rPr>
              <a:t>STRUCTURAL CEILING</a:t>
            </a:r>
          </a:p>
          <a:p>
            <a:pPr algn="ctr">
              <a:lnSpc>
                <a:spcPct val="115000"/>
              </a:lnSpc>
              <a:spcAft>
                <a:spcPts val="120"/>
              </a:spcAft>
              <a:buNone/>
            </a:pPr>
            <a:r>
              <a:rPr lang="en-US" sz="1800" b="1" dirty="0">
                <a:solidFill>
                  <a:srgbClr val="FFFFFF"/>
                </a:solidFill>
                <a:latin typeface="Arial"/>
                <a:ea typeface="Arial"/>
                <a:cs typeface="Arial"/>
              </a:rPr>
              <a:t>$56.4B</a:t>
            </a:r>
          </a:p>
          <a:p>
            <a:pPr algn="ctr">
              <a:lnSpc>
                <a:spcPct val="115000"/>
              </a:lnSpc>
              <a:buNone/>
            </a:pPr>
            <a:r>
              <a:rPr lang="en-US" sz="850" i="1" dirty="0">
                <a:solidFill>
                  <a:srgbClr val="FFFFFF"/>
                </a:solidFill>
                <a:latin typeface="Arial"/>
                <a:ea typeface="Arial"/>
                <a:cs typeface="Arial"/>
              </a:rPr>
              <a:t>p=100% upper bound</a:t>
            </a:r>
          </a:p>
        </p:txBody>
      </p:sp>
      <p:sp>
        <p:nvSpPr>
          <p:cNvPr id="30" name="RailCaption"/>
          <p:cNvSpPr txBox="1"/>
          <p:nvPr/>
        </p:nvSpPr>
        <p:spPr>
          <a:xfrm>
            <a:off x="8013079" y="1650000"/>
            <a:ext cx="3722362" cy="480000"/>
          </a:xfrm>
          <a:prstGeom prst="rect">
            <a:avLst/>
          </a:prstGeom>
          <a:noFill/>
          <a:ln>
            <a:noFill/>
          </a:ln>
        </p:spPr>
        <p:txBody>
          <a:bodyPr wrap="square" anchor="t" lIns="0" tIns="0" rIns="0" bIns="0"/>
          <a:lstStyle/>
          <a:p>
            <a:pPr>
              <a:lnSpc>
                <a:spcPct val="115000"/>
              </a:lnSpc>
              <a:buNone/>
            </a:pPr>
            <a:r>
              <a:rPr lang="en-US" sz="1000" b="1" dirty="0">
                <a:solidFill>
                  <a:srgbClr val="000000"/>
                </a:solidFill>
                <a:latin typeface="Arial"/>
                <a:ea typeface="Arial"/>
                <a:cs typeface="Arial"/>
              </a:rPr>
              <a:t>By program: </a:t>
            </a:r>
            <a:r>
              <a:rPr lang="en-US" sz="1000" dirty="0">
                <a:solidFill>
                  <a:srgbClr val="000000"/>
                </a:solidFill>
                <a:latin typeface="Arial"/>
                <a:ea typeface="Arial"/>
                <a:cs typeface="Arial"/>
              </a:rPr>
              <a:t>current place-of-performance floor, the structural ceiling, and the headroom between them.</a:t>
            </a:r>
          </a:p>
        </p:txBody>
      </p:sp>
      <p:graphicFrame>
        <p:nvGraphicFramePr>
          <p:cNvPr id="31" name="HeadroomByProgram"/>
          <p:cNvGraphicFramePr>
            <a:graphicFrameLocks noGrp="1"/>
          </p:cNvGraphicFramePr>
          <p:nvPr/>
        </p:nvGraphicFramePr>
        <p:xfrm>
          <a:off x="8013079" y="2240000"/>
          <a:ext cx="3722362" cy="1371600"/>
        </p:xfrm>
        <a:graphic>
          <a:graphicData uri="http://schemas.openxmlformats.org/drawingml/2006/table">
            <a:tbl>
              <a:tblPr firstRow="1" firstCol="1" bandRow="0">
                <a:tableStyleId>{2D5ABB26-0587-4C30-8999-92F81FD0307C}</a:tableStyleId>
              </a:tblPr>
              <a:tblGrid>
                <a:gridCol w="1000000"/>
                <a:gridCol w="1500000"/>
                <a:gridCol w="1222362"/>
              </a:tblGrid>
              <a:tr h="274320">
                <a:tc>
                  <a:txBody>
                    <a:bodyPr anchor="ctr"/>
                    <a:lstStyle/>
                    <a:p>
                      <a:pPr algn="l">
                        <a:lnSpc>
                          <a:spcPct val="115000"/>
                        </a:lnSpc>
                      </a:pPr>
                      <a:r>
                        <a:rPr lang="en-US" sz="1000" b="1" dirty="0">
                          <a:solidFill>
                            <a:srgbClr val="000000"/>
                          </a:solidFill>
                          <a:latin typeface="Arial"/>
                          <a:ea typeface="Arial"/>
                          <a:cs typeface="Arial"/>
                        </a:rPr>
                        <a:t>Program</a:t>
                      </a:r>
                    </a:p>
                  </a:txBody>
                  <a:tcPr marL="45720" marR="45720" marT="45720" marB="45720" anchor="ctr">
                    <a:lnL>
                      <a:noFill/>
                    </a:lnL>
                    <a:lnR>
                      <a:noFill/>
                    </a:lnR>
                    <a:lnT>
                      <a:noFill/>
                    </a:lnT>
                    <a:lnB w="19050" cap="flat" cmpd="sng" algn="ctr">
                      <a:solidFill>
                        <a:srgbClr val="000000"/>
                      </a:solidFill>
                      <a:prstDash val="solid"/>
                    </a:lnB>
                    <a:noFill/>
                  </a:tcPr>
                </a:tc>
                <a:tc>
                  <a:txBody>
                    <a:bodyPr anchor="ctr"/>
                    <a:lstStyle/>
                    <a:p>
                      <a:pPr algn="ctr">
                        <a:lnSpc>
                          <a:spcPct val="115000"/>
                        </a:lnSpc>
                      </a:pPr>
                      <a:r>
                        <a:rPr lang="en-US" sz="1000" b="1" dirty="0">
                          <a:solidFill>
                            <a:srgbClr val="000000"/>
                          </a:solidFill>
                          <a:latin typeface="Arial"/>
                          <a:ea typeface="Arial"/>
                          <a:cs typeface="Arial"/>
                        </a:rPr>
                        <a:t>Floor → ceiling</a:t>
                      </a:r>
                    </a:p>
                  </a:txBody>
                  <a:tcPr marL="45720" marR="45720" marT="45720" marB="45720" anchor="ctr">
                    <a:lnL>
                      <a:noFill/>
                    </a:lnL>
                    <a:lnR>
                      <a:noFill/>
                    </a:lnR>
                    <a:lnT>
                      <a:noFill/>
                    </a:lnT>
                    <a:lnB w="19050" cap="flat" cmpd="sng" algn="ctr">
                      <a:solidFill>
                        <a:srgbClr val="000000"/>
                      </a:solidFill>
                      <a:prstDash val="solid"/>
                    </a:lnB>
                    <a:noFill/>
                  </a:tcPr>
                </a:tc>
                <a:tc>
                  <a:txBody>
                    <a:bodyPr anchor="ctr"/>
                    <a:lstStyle/>
                    <a:p>
                      <a:pPr algn="ctr">
                        <a:lnSpc>
                          <a:spcPct val="115000"/>
                        </a:lnSpc>
                      </a:pPr>
                      <a:r>
                        <a:rPr lang="en-US" sz="1000" b="1" dirty="0">
                          <a:solidFill>
                            <a:srgbClr val="000000"/>
                          </a:solidFill>
                          <a:latin typeface="Arial"/>
                          <a:ea typeface="Arial"/>
                          <a:cs typeface="Arial"/>
                        </a:rPr>
                        <a:t>Headroom</a:t>
                      </a:r>
                    </a:p>
                  </a:txBody>
                  <a:tcPr marL="45720" marR="45720" marT="45720" marB="45720" anchor="ctr">
                    <a:lnL>
                      <a:noFill/>
                    </a:lnL>
                    <a:lnR>
                      <a:noFill/>
                    </a:lnR>
                    <a:lnT>
                      <a:noFill/>
                    </a:lnT>
                    <a:lnB w="19050" cap="flat" cmpd="sng" algn="ctr">
                      <a:solidFill>
                        <a:srgbClr val="000000"/>
                      </a:solidFill>
                      <a:prstDash val="solid"/>
                    </a:lnB>
                    <a:noFill/>
                  </a:tcPr>
                </a:tc>
              </a:tr>
              <a:tr h="274320">
                <a:tc>
                  <a:txBody>
                    <a:bodyPr anchor="ctr"/>
                    <a:lstStyle/>
                    <a:p>
                      <a:pPr algn="l">
                        <a:lnSpc>
                          <a:spcPct val="115000"/>
                        </a:lnSpc>
                      </a:pPr>
                      <a:r>
                        <a:rPr lang="en-US" sz="1000" b="1" dirty="0">
                          <a:solidFill>
                            <a:srgbClr val="000000"/>
                          </a:solidFill>
                          <a:latin typeface="Arial"/>
                          <a:ea typeface="Arial"/>
                          <a:cs typeface="Arial"/>
                        </a:rPr>
                        <a:t>Virginia</a:t>
                      </a:r>
                    </a:p>
                  </a:txBody>
                  <a:tcPr marL="45720" marR="45720" marT="45720" marB="45720" anchor="ctr">
                    <a:lnL>
                      <a:noFill/>
                    </a:lnL>
                    <a:lnR>
                      <a:noFill/>
                    </a:lnR>
                    <a:lnT>
                      <a:noFill/>
                    </a:lnT>
                    <a:lnB w="6350" cap="flat" cmpd="sng" algn="ctr">
                      <a:solidFill>
                        <a:srgbClr val="646464"/>
                      </a:solidFill>
                      <a:prstDash val="solid"/>
                    </a:lnB>
                    <a:noFill/>
                  </a:tcPr>
                </a:tc>
                <a:tc>
                  <a:txBody>
                    <a:bodyPr anchor="ctr"/>
                    <a:lstStyle/>
                    <a:p>
                      <a:pPr algn="ctr">
                        <a:lnSpc>
                          <a:spcPct val="115000"/>
                        </a:lnSpc>
                      </a:pPr>
                      <a:r>
                        <a:rPr lang="en-US" sz="1000" b="0" dirty="0">
                          <a:solidFill>
                            <a:srgbClr val="000000"/>
                          </a:solidFill>
                          <a:latin typeface="Arial"/>
                          <a:ea typeface="Arial"/>
                          <a:cs typeface="Arial"/>
                        </a:rPr>
                        <a:t>34% → 75%</a:t>
                      </a:r>
                    </a:p>
                  </a:txBody>
                  <a:tcPr marL="45720" marR="45720" marT="45720" marB="45720" anchor="ctr">
                    <a:lnL>
                      <a:noFill/>
                    </a:lnL>
                    <a:lnR>
                      <a:noFill/>
                    </a:lnR>
                    <a:lnT>
                      <a:noFill/>
                    </a:lnT>
                    <a:lnB w="6350" cap="flat" cmpd="sng" algn="ctr">
                      <a:solidFill>
                        <a:srgbClr val="646464"/>
                      </a:solidFill>
                      <a:prstDash val="solid"/>
                    </a:lnB>
                    <a:noFill/>
                  </a:tcPr>
                </a:tc>
                <a:tc>
                  <a:txBody>
                    <a:bodyPr anchor="ctr"/>
                    <a:lstStyle/>
                    <a:p>
                      <a:pPr algn="ctr">
                        <a:lnSpc>
                          <a:spcPct val="115000"/>
                        </a:lnSpc>
                      </a:pPr>
                      <a:r>
                        <a:rPr lang="en-US" sz="1000" b="1" dirty="0">
                          <a:solidFill>
                            <a:srgbClr val="000000"/>
                          </a:solidFill>
                          <a:latin typeface="Arial"/>
                          <a:ea typeface="Arial"/>
                          <a:cs typeface="Arial"/>
                        </a:rPr>
                        <a:t>2.2x</a:t>
                      </a:r>
                    </a:p>
                  </a:txBody>
                  <a:tcPr marL="45720" marR="45720" marT="45720" marB="45720" anchor="ctr">
                    <a:lnL>
                      <a:noFill/>
                    </a:lnL>
                    <a:lnR>
                      <a:noFill/>
                    </a:lnR>
                    <a:lnT>
                      <a:noFill/>
                    </a:lnT>
                    <a:lnB w="6350" cap="flat" cmpd="sng" algn="ctr">
                      <a:solidFill>
                        <a:srgbClr val="646464"/>
                      </a:solidFill>
                      <a:prstDash val="solid"/>
                    </a:lnB>
                    <a:noFill/>
                  </a:tcPr>
                </a:tc>
              </a:tr>
              <a:tr h="274320">
                <a:tc>
                  <a:txBody>
                    <a:bodyPr anchor="ctr"/>
                    <a:lstStyle/>
                    <a:p>
                      <a:pPr algn="l">
                        <a:lnSpc>
                          <a:spcPct val="115000"/>
                        </a:lnSpc>
                      </a:pPr>
                      <a:r>
                        <a:rPr lang="en-US" sz="1000" b="1" dirty="0">
                          <a:solidFill>
                            <a:srgbClr val="000000"/>
                          </a:solidFill>
                          <a:latin typeface="Arial"/>
                          <a:ea typeface="Arial"/>
                          <a:cs typeface="Arial"/>
                        </a:rPr>
                        <a:t>Columbia</a:t>
                      </a:r>
                    </a:p>
                  </a:txBody>
                  <a:tcPr marL="45720" marR="45720" marT="45720" marB="45720" anchor="ctr">
                    <a:lnL>
                      <a:noFill/>
                    </a:lnL>
                    <a:lnR>
                      <a:noFill/>
                    </a:lnR>
                    <a:lnT>
                      <a:noFill/>
                    </a:lnT>
                    <a:lnB w="6350" cap="flat" cmpd="sng" algn="ctr">
                      <a:solidFill>
                        <a:srgbClr val="646464"/>
                      </a:solidFill>
                      <a:prstDash val="solid"/>
                    </a:lnB>
                    <a:noFill/>
                  </a:tcPr>
                </a:tc>
                <a:tc>
                  <a:txBody>
                    <a:bodyPr anchor="ctr"/>
                    <a:lstStyle/>
                    <a:p>
                      <a:pPr algn="ctr">
                        <a:lnSpc>
                          <a:spcPct val="115000"/>
                        </a:lnSpc>
                      </a:pPr>
                      <a:r>
                        <a:rPr lang="en-US" sz="1000" b="0" dirty="0">
                          <a:solidFill>
                            <a:srgbClr val="000000"/>
                          </a:solidFill>
                          <a:latin typeface="Arial"/>
                          <a:ea typeface="Arial"/>
                          <a:cs typeface="Arial"/>
                        </a:rPr>
                        <a:t>22% → 75%</a:t>
                      </a:r>
                    </a:p>
                  </a:txBody>
                  <a:tcPr marL="45720" marR="45720" marT="45720" marB="45720" anchor="ctr">
                    <a:lnL>
                      <a:noFill/>
                    </a:lnL>
                    <a:lnR>
                      <a:noFill/>
                    </a:lnR>
                    <a:lnT>
                      <a:noFill/>
                    </a:lnT>
                    <a:lnB w="6350" cap="flat" cmpd="sng" algn="ctr">
                      <a:solidFill>
                        <a:srgbClr val="646464"/>
                      </a:solidFill>
                      <a:prstDash val="solid"/>
                    </a:lnB>
                    <a:noFill/>
                  </a:tcPr>
                </a:tc>
                <a:tc>
                  <a:txBody>
                    <a:bodyPr anchor="ctr"/>
                    <a:lstStyle/>
                    <a:p>
                      <a:pPr algn="ctr">
                        <a:lnSpc>
                          <a:spcPct val="115000"/>
                        </a:lnSpc>
                      </a:pPr>
                      <a:r>
                        <a:rPr lang="en-US" sz="1000" b="1" dirty="0">
                          <a:solidFill>
                            <a:srgbClr val="000000"/>
                          </a:solidFill>
                          <a:latin typeface="Arial"/>
                          <a:ea typeface="Arial"/>
                          <a:cs typeface="Arial"/>
                        </a:rPr>
                        <a:t>3.4x</a:t>
                      </a:r>
                    </a:p>
                  </a:txBody>
                  <a:tcPr marL="45720" marR="45720" marT="45720" marB="45720" anchor="ctr">
                    <a:lnL>
                      <a:noFill/>
                    </a:lnL>
                    <a:lnR>
                      <a:noFill/>
                    </a:lnR>
                    <a:lnT>
                      <a:noFill/>
                    </a:lnT>
                    <a:lnB w="6350" cap="flat" cmpd="sng" algn="ctr">
                      <a:solidFill>
                        <a:srgbClr val="646464"/>
                      </a:solidFill>
                      <a:prstDash val="solid"/>
                    </a:lnB>
                    <a:noFill/>
                  </a:tcPr>
                </a:tc>
              </a:tr>
              <a:tr h="274320">
                <a:tc>
                  <a:txBody>
                    <a:bodyPr anchor="ctr"/>
                    <a:lstStyle/>
                    <a:p>
                      <a:pPr algn="l">
                        <a:lnSpc>
                          <a:spcPct val="115000"/>
                        </a:lnSpc>
                      </a:pPr>
                      <a:r>
                        <a:rPr lang="en-US" sz="1000" b="1" dirty="0">
                          <a:solidFill>
                            <a:srgbClr val="000000"/>
                          </a:solidFill>
                          <a:latin typeface="Arial"/>
                          <a:ea typeface="Arial"/>
                          <a:cs typeface="Arial"/>
                        </a:rPr>
                        <a:t>DDG-51</a:t>
                      </a:r>
                    </a:p>
                  </a:txBody>
                  <a:tcPr marL="45720" marR="45720" marT="45720" marB="45720" anchor="ctr">
                    <a:lnL>
                      <a:noFill/>
                    </a:lnL>
                    <a:lnR>
                      <a:noFill/>
                    </a:lnR>
                    <a:lnT>
                      <a:noFill/>
                    </a:lnT>
                    <a:lnB w="12700" cap="flat" cmpd="sng" algn="ctr">
                      <a:solidFill>
                        <a:srgbClr val="000000"/>
                      </a:solidFill>
                      <a:prstDash val="solid"/>
                    </a:lnB>
                    <a:noFill/>
                  </a:tcPr>
                </a:tc>
                <a:tc>
                  <a:txBody>
                    <a:bodyPr anchor="ctr"/>
                    <a:lstStyle/>
                    <a:p>
                      <a:pPr algn="ctr">
                        <a:lnSpc>
                          <a:spcPct val="115000"/>
                        </a:lnSpc>
                      </a:pPr>
                      <a:r>
                        <a:rPr lang="en-US" sz="1000" b="0" dirty="0">
                          <a:solidFill>
                            <a:srgbClr val="000000"/>
                          </a:solidFill>
                          <a:latin typeface="Arial"/>
                          <a:ea typeface="Arial"/>
                          <a:cs typeface="Arial"/>
                        </a:rPr>
                        <a:t>13% → 80%</a:t>
                      </a:r>
                    </a:p>
                  </a:txBody>
                  <a:tcPr marL="45720" marR="45720" marT="45720" marB="45720" anchor="ctr">
                    <a:lnL>
                      <a:noFill/>
                    </a:lnL>
                    <a:lnR>
                      <a:noFill/>
                    </a:lnR>
                    <a:lnT>
                      <a:noFill/>
                    </a:lnT>
                    <a:lnB w="12700" cap="flat" cmpd="sng" algn="ctr">
                      <a:solidFill>
                        <a:srgbClr val="000000"/>
                      </a:solidFill>
                      <a:prstDash val="solid"/>
                    </a:lnB>
                    <a:noFill/>
                  </a:tcPr>
                </a:tc>
                <a:tc>
                  <a:txBody>
                    <a:bodyPr anchor="ctr"/>
                    <a:lstStyle/>
                    <a:p>
                      <a:pPr algn="ctr">
                        <a:lnSpc>
                          <a:spcPct val="115000"/>
                        </a:lnSpc>
                      </a:pPr>
                      <a:r>
                        <a:rPr lang="en-US" sz="1000" b="1" dirty="0">
                          <a:solidFill>
                            <a:srgbClr val="000000"/>
                          </a:solidFill>
                          <a:latin typeface="Arial"/>
                          <a:ea typeface="Arial"/>
                          <a:cs typeface="Arial"/>
                        </a:rPr>
                        <a:t>6.1x</a:t>
                      </a:r>
                    </a:p>
                  </a:txBody>
                  <a:tcPr marL="45720" marR="45720" marT="45720" marB="45720" anchor="ctr">
                    <a:lnL>
                      <a:noFill/>
                    </a:lnL>
                    <a:lnR>
                      <a:noFill/>
                    </a:lnR>
                    <a:lnT>
                      <a:noFill/>
                    </a:lnT>
                    <a:lnB w="12700" cap="flat" cmpd="sng" algn="ctr">
                      <a:solidFill>
                        <a:srgbClr val="000000"/>
                      </a:solidFill>
                      <a:prstDash val="solid"/>
                    </a:lnB>
                    <a:noFill/>
                  </a:tcPr>
                </a:tc>
              </a:tr>
              <a:tr h="274320">
                <a:tc>
                  <a:txBody>
                    <a:bodyPr anchor="ctr"/>
                    <a:lstStyle/>
                    <a:p>
                      <a:pPr algn="l">
                        <a:lnSpc>
                          <a:spcPct val="115000"/>
                        </a:lnSpc>
                      </a:pPr>
                      <a:r>
                        <a:rPr lang="en-US" sz="1000" b="1" dirty="0">
                          <a:solidFill>
                            <a:srgbClr val="000000"/>
                          </a:solidFill>
                          <a:latin typeface="Arial"/>
                          <a:ea typeface="Arial"/>
                          <a:cs typeface="Arial"/>
                        </a:rPr>
                        <a:t>Portfolio</a:t>
                      </a:r>
                    </a:p>
                  </a:txBody>
                  <a:tcPr marL="45720" marR="45720" marT="45720" marB="45720" anchor="ctr">
                    <a:lnL>
                      <a:noFill/>
                    </a:lnL>
                    <a:lnR>
                      <a:noFill/>
                    </a:lnR>
                    <a:lnT>
                      <a:noFill/>
                    </a:lnT>
                    <a:lnB>
                      <a:noFill/>
                    </a:lnB>
                    <a:solidFill>
                      <a:srgbClr val="F2F2F2"/>
                    </a:solidFill>
                  </a:tcPr>
                </a:tc>
                <a:tc>
                  <a:txBody>
                    <a:bodyPr anchor="ctr"/>
                    <a:lstStyle/>
                    <a:p>
                      <a:pPr algn="ctr">
                        <a:lnSpc>
                          <a:spcPct val="115000"/>
                        </a:lnSpc>
                      </a:pPr>
                      <a:r>
                        <a:rPr lang="en-US" sz="1000" b="1" dirty="0">
                          <a:solidFill>
                            <a:srgbClr val="000000"/>
                          </a:solidFill>
                          <a:latin typeface="Arial"/>
                          <a:ea typeface="Arial"/>
                          <a:cs typeface="Arial"/>
                        </a:rPr>
                        <a:t>26% → 76%</a:t>
                      </a:r>
                    </a:p>
                  </a:txBody>
                  <a:tcPr marL="45720" marR="45720" marT="45720" marB="45720" anchor="ctr">
                    <a:lnL>
                      <a:noFill/>
                    </a:lnL>
                    <a:lnR>
                      <a:noFill/>
                    </a:lnR>
                    <a:lnT>
                      <a:noFill/>
                    </a:lnT>
                    <a:lnB>
                      <a:noFill/>
                    </a:lnB>
                    <a:solidFill>
                      <a:srgbClr val="F2F2F2"/>
                    </a:solidFill>
                  </a:tcPr>
                </a:tc>
                <a:tc>
                  <a:txBody>
                    <a:bodyPr anchor="ctr"/>
                    <a:lstStyle/>
                    <a:p>
                      <a:pPr algn="ctr">
                        <a:lnSpc>
                          <a:spcPct val="115000"/>
                        </a:lnSpc>
                      </a:pPr>
                      <a:r>
                        <a:rPr lang="en-US" sz="1000" b="1" dirty="0">
                          <a:solidFill>
                            <a:srgbClr val="000000"/>
                          </a:solidFill>
                          <a:latin typeface="Arial"/>
                          <a:ea typeface="Arial"/>
                          <a:cs typeface="Arial"/>
                        </a:rPr>
                        <a:t>3.0x</a:t>
                      </a:r>
                    </a:p>
                  </a:txBody>
                  <a:tcPr marL="45720" marR="45720" marT="45720" marB="45720" anchor="ctr">
                    <a:lnL>
                      <a:noFill/>
                    </a:lnL>
                    <a:lnR>
                      <a:noFill/>
                    </a:lnR>
                    <a:lnT>
                      <a:noFill/>
                    </a:lnT>
                    <a:lnB>
                      <a:noFill/>
                    </a:lnB>
                    <a:solidFill>
                      <a:srgbClr val="F2F2F2"/>
                    </a:solidFill>
                  </a:tcPr>
                </a:tc>
              </a:tr>
            </a:tbl>
          </a:graphicData>
        </a:graphic>
      </p:graphicFrame>
      <p:sp>
        <p:nvSpPr>
          <p:cNvPr id="32" name="RailNote"/>
          <p:cNvSpPr txBox="1"/>
          <p:nvPr/>
        </p:nvSpPr>
        <p:spPr>
          <a:xfrm>
            <a:off x="8013079" y="3811600"/>
            <a:ext cx="3722362" cy="700000"/>
          </a:xfrm>
          <a:prstGeom prst="rect">
            <a:avLst/>
          </a:prstGeom>
          <a:noFill/>
          <a:ln>
            <a:noFill/>
          </a:ln>
        </p:spPr>
        <p:txBody>
          <a:bodyPr wrap="square" anchor="t" lIns="0" tIns="0" rIns="0" bIns="0"/>
          <a:lstStyle/>
          <a:p>
            <a:pPr>
              <a:lnSpc>
                <a:spcPct val="115000"/>
              </a:lnSpc>
              <a:buNone/>
            </a:pPr>
            <a:r>
              <a:rPr lang="en-US" sz="850" i="1" dirty="0">
                <a:solidFill>
                  <a:srgbClr val="000000"/>
                </a:solidFill>
                <a:latin typeface="Arial"/>
                <a:ea typeface="Arial"/>
                <a:cs typeface="Arial"/>
              </a:rPr>
              <a:t>The selected p=50% working case is already ~half the build (50–52% by program); DDG-51's ~6.1x is the widest gap, off the lowest current floor.</a:t>
            </a:r>
          </a:p>
        </p:txBody>
      </p:sp>
      <p:sp>
        <p:nvSpPr>
          <p:cNvPr id="9999" name="Sources"/>
          <p:cNvSpPr txBox="1"/>
          <p:nvPr/>
        </p:nvSpPr>
        <p:spPr>
          <a:xfrm>
            <a:off x="453079" y="6085448"/>
            <a:ext cx="11282362" cy="540000"/>
          </a:xfrm>
          <a:prstGeom prst="rect">
            <a:avLst/>
          </a:prstGeom>
          <a:noFill/>
          <a:ln>
            <a:noFill/>
          </a:ln>
        </p:spPr>
        <p:txBody>
          <a:bodyPr wrap="square" anchor="t" lIns="91440" tIns="45720" rIns="91440" bIns="45720"/>
          <a:lstStyle/>
          <a:p>
            <a:r>
              <a:rPr lang="en-US" sz="800" kern="1200" dirty="0">
                <a:solidFill>
                  <a:srgbClr val="162029"/>
                </a:solidFill>
                <a:latin typeface="Arial"/>
                <a:ea typeface="Arial"/>
                <a:cs typeface="Arial"/>
              </a:rPr>
              <a:t>Sources: Defense News, "Defense firms outsource sub, carrier construction amid labor woes" (M. Eckstein, Oct 2022); O'Rourke (CRS), State of U.S. Shipbuilding, House Armed Services Committee testimony (Mar 2025), cross-checked against the CBO Shipbuilding Composite Index (Apr 2024); DoD FMR 7000.14-R Vol 2B Ch 4, Exhibit P-5 ship cost element categories (Nov 2017); DoD contract award announcements (announced place-of-performance): Virginia Block V (2019), Columbia Build I (2020), DDG-51 FY23–27 multiyear (2023) | Note: dollar figures are constant FY2026 $.</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SAM Methodology</a:t>
            </a:r>
            <a:r>
              <a:rPr lang="en-US" sz="1000" kern="1200" dirty="0">
                <a:solidFill>
                  <a:srgbClr val="44505C"/>
                </a:solidFill>
                <a:latin typeface="Arial"/>
                <a:ea typeface="Arial"/>
                <a:cs typeface="Arial"/>
              </a:rPr>
              <a:t> / Building the Lane</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SAM Methodology (1/2) | Each supplier lane is built from subaward and vendor history, then split first on recent top-vendor share.</a:t>
            </a:r>
          </a:p>
        </p:txBody>
      </p:sp>
      <p:cxnSp>
        <p:nvCxnSpPr>
          <p:cNvPr id="10" name="BuildArrow1"/>
          <p:cNvCxnSpPr/>
          <p:nvPr/>
        </p:nvCxnSpPr>
        <p:spPr>
          <a:xfrm>
            <a:off x="3045533" y="1765000"/>
            <a:ext cx="250000" cy="0"/>
          </a:xfrm>
          <a:prstGeom prst="line">
            <a:avLst/>
          </a:prstGeom>
          <a:ln w="9525">
            <a:solidFill>
              <a:srgbClr val="000000"/>
            </a:solidFill>
            <a:tailEnd type="triangle" w="med" len="med"/>
          </a:ln>
        </p:spPr>
      </p:cxnSp>
      <p:cxnSp>
        <p:nvCxnSpPr>
          <p:cNvPr id="11" name="BuildArrow2"/>
          <p:cNvCxnSpPr/>
          <p:nvPr/>
        </p:nvCxnSpPr>
        <p:spPr>
          <a:xfrm>
            <a:off x="5887987" y="1765000"/>
            <a:ext cx="250000" cy="0"/>
          </a:xfrm>
          <a:prstGeom prst="line">
            <a:avLst/>
          </a:prstGeom>
          <a:ln w="9525">
            <a:solidFill>
              <a:srgbClr val="000000"/>
            </a:solidFill>
            <a:tailEnd type="triangle" w="med" len="med"/>
          </a:ln>
        </p:spPr>
      </p:cxnSp>
      <p:cxnSp>
        <p:nvCxnSpPr>
          <p:cNvPr id="12" name="StripToLane"/>
          <p:cNvCxnSpPr/>
          <p:nvPr/>
        </p:nvCxnSpPr>
        <p:spPr>
          <a:xfrm>
            <a:off x="4591760" y="2000000"/>
            <a:ext cx="0" cy="250000"/>
          </a:xfrm>
          <a:prstGeom prst="line">
            <a:avLst/>
          </a:prstGeom>
          <a:ln w="9525">
            <a:solidFill>
              <a:srgbClr val="000000"/>
            </a:solidFill>
            <a:tailEnd type="triangle" w="med" len="med"/>
          </a:ln>
        </p:spPr>
      </p:cxnSp>
      <p:cxnSp>
        <p:nvCxnSpPr>
          <p:cNvPr id="13" name="LaneToVendor"/>
          <p:cNvCxnSpPr/>
          <p:nvPr/>
        </p:nvCxnSpPr>
        <p:spPr>
          <a:xfrm>
            <a:off x="4591760" y="2780000"/>
            <a:ext cx="0" cy="250000"/>
          </a:xfrm>
          <a:prstGeom prst="line">
            <a:avLst/>
          </a:prstGeom>
          <a:ln w="9525">
            <a:solidFill>
              <a:srgbClr val="000000"/>
            </a:solidFill>
            <a:tailEnd type="triangle" w="med" len="med"/>
          </a:ln>
        </p:spPr>
      </p:cxnSp>
      <p:cxnSp>
        <p:nvCxnSpPr>
          <p:cNvPr id="14" name="VendorToGate"/>
          <p:cNvCxnSpPr/>
          <p:nvPr/>
        </p:nvCxnSpPr>
        <p:spPr>
          <a:xfrm>
            <a:off x="4591760" y="3450000"/>
            <a:ext cx="0" cy="250000"/>
          </a:xfrm>
          <a:prstGeom prst="line">
            <a:avLst/>
          </a:prstGeom>
          <a:ln w="9525">
            <a:solidFill>
              <a:srgbClr val="000000"/>
            </a:solidFill>
            <a:tailEnd type="triangle" w="med" len="med"/>
          </a:ln>
        </p:spPr>
      </p:cxnSp>
      <p:cxnSp>
        <p:nvCxnSpPr>
          <p:cNvPr id="15" name="RouteBus"/>
          <p:cNvCxnSpPr/>
          <p:nvPr/>
        </p:nvCxnSpPr>
        <p:spPr>
          <a:xfrm>
            <a:off x="583079" y="4110000"/>
            <a:ext cx="0" cy="1390000"/>
          </a:xfrm>
          <a:prstGeom prst="line">
            <a:avLst/>
          </a:prstGeom>
          <a:ln w="9525">
            <a:solidFill>
              <a:srgbClr val="000000"/>
            </a:solidFill>
          </a:ln>
        </p:spPr>
      </p:cxnSp>
      <p:cxnSp>
        <p:nvCxnSpPr>
          <p:cNvPr id="16" name="RouteDrop1"/>
          <p:cNvCxnSpPr/>
          <p:nvPr/>
        </p:nvCxnSpPr>
        <p:spPr>
          <a:xfrm>
            <a:off x="583079" y="4440000"/>
            <a:ext cx="916921" cy="0"/>
          </a:xfrm>
          <a:prstGeom prst="line">
            <a:avLst/>
          </a:prstGeom>
          <a:ln w="9525">
            <a:solidFill>
              <a:srgbClr val="000000"/>
            </a:solidFill>
            <a:tailEnd type="triangle" w="med" len="med"/>
          </a:ln>
        </p:spPr>
      </p:cxnSp>
      <p:cxnSp>
        <p:nvCxnSpPr>
          <p:cNvPr id="17" name="RouteDrop2"/>
          <p:cNvCxnSpPr/>
          <p:nvPr/>
        </p:nvCxnSpPr>
        <p:spPr>
          <a:xfrm>
            <a:off x="583079" y="4980000"/>
            <a:ext cx="916921" cy="0"/>
          </a:xfrm>
          <a:prstGeom prst="line">
            <a:avLst/>
          </a:prstGeom>
          <a:ln w="9525">
            <a:solidFill>
              <a:srgbClr val="000000"/>
            </a:solidFill>
            <a:tailEnd type="triangle" w="med" len="med"/>
          </a:ln>
        </p:spPr>
      </p:cxnSp>
      <p:cxnSp>
        <p:nvCxnSpPr>
          <p:cNvPr id="18" name="RouteDrop3"/>
          <p:cNvCxnSpPr/>
          <p:nvPr/>
        </p:nvCxnSpPr>
        <p:spPr>
          <a:xfrm>
            <a:off x="583079" y="5500000"/>
            <a:ext cx="916921" cy="0"/>
          </a:xfrm>
          <a:prstGeom prst="line">
            <a:avLst/>
          </a:prstGeom>
          <a:ln w="9525">
            <a:solidFill>
              <a:srgbClr val="000000"/>
            </a:solidFill>
            <a:tailEnd type="triangle" w="med" len="med"/>
          </a:ln>
        </p:spPr>
      </p:cxnSp>
      <p:graphicFrame>
        <p:nvGraphicFramePr>
          <p:cNvPr id="19" name="BuildCap"/>
          <p:cNvGraphicFramePr>
            <a:graphicFrameLocks noGrp="1"/>
          </p:cNvGraphicFramePr>
          <p:nvPr/>
        </p:nvGraphicFramePr>
        <p:xfrm>
          <a:off x="453079" y="1240000"/>
          <a:ext cx="8277362" cy="251778"/>
        </p:xfrm>
        <a:graphic>
          <a:graphicData uri="http://schemas.openxmlformats.org/drawingml/2006/table">
            <a:tbl>
              <a:tblPr firstRow="1" firstCol="1" bandRow="0">
                <a:tableStyleId>{2D5ABB26-0587-4C30-8999-92F81FD0307C}</a:tableStyleId>
              </a:tblPr>
              <a:tblGrid>
                <a:gridCol w="8277362"/>
              </a:tblGrid>
              <a:tr h="0">
                <a:tc>
                  <a:txBody>
                    <a:bodyPr anchor="ctr"/>
                    <a:lstStyle/>
                    <a:p>
                      <a:pPr algn="l">
                        <a:lnSpc>
                          <a:spcPct val="115000"/>
                        </a:lnSpc>
                      </a:pPr>
                      <a:r>
                        <a:rPr lang="en-US" sz="1000" b="1" dirty="0">
                          <a:solidFill>
                            <a:srgbClr val="000000"/>
                          </a:solidFill>
                          <a:latin typeface="Arial"/>
                          <a:ea typeface="Arial"/>
                          <a:cs typeface="Arial"/>
                        </a:rPr>
                        <a:t>Build the lane, then split on concentration</a:t>
                      </a:r>
                    </a:p>
                  </a:txBody>
                  <a:tcPr marL="45720" marR="45720" marT="45720" marB="45720" anchor="ctr">
                    <a:lnL>
                      <a:noFill/>
                    </a:lnL>
                    <a:lnR>
                      <a:noFill/>
                    </a:lnR>
                    <a:lnT>
                      <a:noFill/>
                    </a:lnT>
                    <a:lnB w="12700" cap="flat" cmpd="sng" algn="ctr">
                      <a:solidFill>
                        <a:srgbClr val="000000"/>
                      </a:solidFill>
                      <a:prstDash val="solid"/>
                    </a:lnB>
                    <a:noFill/>
                  </a:tcPr>
                </a:tc>
              </a:tr>
            </a:tbl>
          </a:graphicData>
        </a:graphic>
      </p:graphicFrame>
      <p:sp>
        <p:nvSpPr>
          <p:cNvPr id="20" name="Build1"/>
          <p:cNvSpPr txBox="1"/>
          <p:nvPr/>
        </p:nvSpPr>
        <p:spPr>
          <a:xfrm>
            <a:off x="453079" y="1530000"/>
            <a:ext cx="2592454" cy="470000"/>
          </a:xfrm>
          <a:prstGeom prst="rect">
            <a:avLst/>
          </a:prstGeom>
          <a:solidFill>
            <a:srgbClr val="E2E9EF"/>
          </a:solidFill>
          <a:ln w="12700">
            <a:solidFill>
              <a:srgbClr val="000000"/>
            </a:solidFill>
          </a:ln>
        </p:spPr>
        <p:txBody>
          <a:bodyPr wrap="square" anchor="ctr" lIns="68580" tIns="36000" rIns="68580" bIns="36000"/>
          <a:lstStyle/>
          <a:p>
            <a:pPr algn="ctr">
              <a:lnSpc>
                <a:spcPct val="115000"/>
              </a:lnSpc>
              <a:spcAft>
                <a:spcPts val="60"/>
              </a:spcAft>
              <a:buNone/>
            </a:pPr>
            <a:r>
              <a:rPr lang="en-US" sz="900" b="1" dirty="0">
                <a:solidFill>
                  <a:srgbClr val="000000"/>
                </a:solidFill>
                <a:latin typeface="Arial"/>
                <a:ea typeface="Arial"/>
                <a:cs typeface="Arial"/>
              </a:rPr>
              <a:t>FSRS subaward data</a:t>
            </a:r>
          </a:p>
          <a:p>
            <a:pPr algn="ctr">
              <a:lnSpc>
                <a:spcPct val="115000"/>
              </a:lnSpc>
              <a:buNone/>
            </a:pPr>
            <a:r>
              <a:rPr lang="en-US" sz="850" i="1" dirty="0">
                <a:solidFill>
                  <a:srgbClr val="000000"/>
                </a:solidFill>
                <a:latin typeface="Arial"/>
                <a:ea typeface="Arial"/>
                <a:cs typeface="Arial"/>
              </a:rPr>
              <a:t>One record = one award event</a:t>
            </a:r>
          </a:p>
        </p:txBody>
      </p:sp>
      <p:sp>
        <p:nvSpPr>
          <p:cNvPr id="21" name="Build2"/>
          <p:cNvSpPr txBox="1"/>
          <p:nvPr/>
        </p:nvSpPr>
        <p:spPr>
          <a:xfrm>
            <a:off x="3295533" y="1530000"/>
            <a:ext cx="2592454" cy="470000"/>
          </a:xfrm>
          <a:prstGeom prst="rect">
            <a:avLst/>
          </a:prstGeom>
          <a:solidFill>
            <a:srgbClr val="E2E9EF"/>
          </a:solidFill>
          <a:ln w="12700">
            <a:solidFill>
              <a:srgbClr val="000000"/>
            </a:solidFill>
          </a:ln>
        </p:spPr>
        <p:txBody>
          <a:bodyPr wrap="square" anchor="ctr" lIns="68580" tIns="36000" rIns="68580" bIns="36000"/>
          <a:lstStyle/>
          <a:p>
            <a:pPr algn="ctr">
              <a:lnSpc>
                <a:spcPct val="115000"/>
              </a:lnSpc>
              <a:spcAft>
                <a:spcPts val="60"/>
              </a:spcAft>
              <a:buNone/>
            </a:pPr>
            <a:r>
              <a:rPr lang="en-US" sz="900" b="1" dirty="0">
                <a:solidFill>
                  <a:srgbClr val="000000"/>
                </a:solidFill>
                <a:latin typeface="Arial"/>
                <a:ea typeface="Arial"/>
                <a:cs typeface="Arial"/>
              </a:rPr>
              <a:t>In-scope PIIDs</a:t>
            </a:r>
          </a:p>
          <a:p>
            <a:pPr algn="ctr">
              <a:lnSpc>
                <a:spcPct val="115000"/>
              </a:lnSpc>
              <a:buNone/>
            </a:pPr>
            <a:r>
              <a:rPr lang="en-US" sz="850" i="1" dirty="0">
                <a:solidFill>
                  <a:srgbClr val="000000"/>
                </a:solidFill>
                <a:latin typeface="Arial"/>
                <a:ea typeface="Arial"/>
                <a:cs typeface="Arial"/>
              </a:rPr>
              <a:t>Virginia, Columbia, DDG-51</a:t>
            </a:r>
          </a:p>
        </p:txBody>
      </p:sp>
      <p:sp>
        <p:nvSpPr>
          <p:cNvPr id="22" name="Build3"/>
          <p:cNvSpPr txBox="1"/>
          <p:nvPr/>
        </p:nvSpPr>
        <p:spPr>
          <a:xfrm>
            <a:off x="6137987" y="1530000"/>
            <a:ext cx="2592454" cy="470000"/>
          </a:xfrm>
          <a:prstGeom prst="rect">
            <a:avLst/>
          </a:prstGeom>
          <a:solidFill>
            <a:srgbClr val="E2E9EF"/>
          </a:solidFill>
          <a:ln w="12700">
            <a:solidFill>
              <a:srgbClr val="000000"/>
            </a:solidFill>
          </a:ln>
        </p:spPr>
        <p:txBody>
          <a:bodyPr wrap="square" anchor="ctr" lIns="68580" tIns="36000" rIns="68580" bIns="36000"/>
          <a:lstStyle/>
          <a:p>
            <a:pPr algn="ctr">
              <a:lnSpc>
                <a:spcPct val="115000"/>
              </a:lnSpc>
              <a:spcAft>
                <a:spcPts val="60"/>
              </a:spcAft>
              <a:buNone/>
            </a:pPr>
            <a:r>
              <a:rPr lang="en-US" sz="900" b="1" dirty="0">
                <a:solidFill>
                  <a:srgbClr val="000000"/>
                </a:solidFill>
                <a:latin typeface="Arial"/>
                <a:ea typeface="Arial"/>
                <a:cs typeface="Arial"/>
              </a:rPr>
              <a:t>Classify each subaward</a:t>
            </a:r>
          </a:p>
          <a:p>
            <a:pPr algn="ctr">
              <a:lnSpc>
                <a:spcPct val="115000"/>
              </a:lnSpc>
              <a:buNone/>
            </a:pPr>
            <a:r>
              <a:rPr lang="en-US" sz="850" i="1" dirty="0">
                <a:solidFill>
                  <a:srgbClr val="000000"/>
                </a:solidFill>
                <a:latin typeface="Arial"/>
                <a:ea typeface="Arial"/>
                <a:cs typeface="Arial"/>
              </a:rPr>
              <a:t>Supplier-role only; drop prime, GFE, services; assign work type</a:t>
            </a:r>
          </a:p>
        </p:txBody>
      </p:sp>
      <p:sp>
        <p:nvSpPr>
          <p:cNvPr id="23" name="SupplierLane"/>
          <p:cNvSpPr txBox="1"/>
          <p:nvPr/>
        </p:nvSpPr>
        <p:spPr>
          <a:xfrm>
            <a:off x="453079" y="2250000"/>
            <a:ext cx="8277362" cy="530000"/>
          </a:xfrm>
          <a:prstGeom prst="rect">
            <a:avLst/>
          </a:prstGeom>
          <a:solidFill>
            <a:srgbClr val="6E91B1"/>
          </a:solidFill>
          <a:ln w="12700">
            <a:solidFill>
              <a:srgbClr val="000000"/>
            </a:solidFill>
          </a:ln>
        </p:spPr>
        <p:txBody>
          <a:bodyPr wrap="square" anchor="ctr" lIns="68580" tIns="36000" rIns="68580" bIns="36000"/>
          <a:lstStyle/>
          <a:p>
            <a:pPr algn="ctr">
              <a:lnSpc>
                <a:spcPct val="115000"/>
              </a:lnSpc>
              <a:spcAft>
                <a:spcPts val="60"/>
              </a:spcAft>
              <a:buNone/>
            </a:pPr>
            <a:r>
              <a:rPr lang="en-US" sz="900" b="1" dirty="0">
                <a:solidFill>
                  <a:srgbClr val="FFFFFF"/>
                </a:solidFill>
                <a:latin typeface="Arial"/>
                <a:ea typeface="Arial"/>
                <a:cs typeface="Arial"/>
              </a:rPr>
              <a:t>SUPPLIER LANE</a:t>
            </a:r>
          </a:p>
          <a:p>
            <a:pPr algn="ctr">
              <a:lnSpc>
                <a:spcPct val="115000"/>
              </a:lnSpc>
              <a:spcAft>
                <a:spcPts val="40"/>
              </a:spcAft>
              <a:buNone/>
            </a:pPr>
            <a:r>
              <a:rPr lang="en-US" sz="850" i="1" dirty="0">
                <a:solidFill>
                  <a:srgbClr val="FFFFFF"/>
                </a:solidFill>
                <a:latin typeface="Arial"/>
                <a:ea typeface="Arial"/>
                <a:cs typeface="Arial"/>
              </a:rPr>
              <a:t>Program × PIID × Work type</a:t>
            </a:r>
          </a:p>
          <a:p>
            <a:pPr algn="ctr">
              <a:lnSpc>
                <a:spcPct val="115000"/>
              </a:lnSpc>
              <a:buNone/>
            </a:pPr>
            <a:r>
              <a:rPr lang="en-US" sz="850" i="1" dirty="0">
                <a:solidFill>
                  <a:srgbClr val="FFFFFF"/>
                </a:solidFill>
                <a:latin typeface="Arial"/>
                <a:ea typeface="Arial"/>
                <a:cs typeface="Arial"/>
              </a:rPr>
              <a:t>Shorthand PIID × Work type, since PIID carries program relevance</a:t>
            </a:r>
          </a:p>
        </p:txBody>
      </p:sp>
      <p:sp>
        <p:nvSpPr>
          <p:cNvPr id="24" name="VendorHistory"/>
          <p:cNvSpPr txBox="1"/>
          <p:nvPr/>
        </p:nvSpPr>
        <p:spPr>
          <a:xfrm>
            <a:off x="453079" y="3030000"/>
            <a:ext cx="8277362" cy="420000"/>
          </a:xfrm>
          <a:prstGeom prst="rect">
            <a:avLst/>
          </a:prstGeom>
          <a:solidFill>
            <a:srgbClr val="E2E9EF"/>
          </a:solidFill>
          <a:ln w="12700">
            <a:solidFill>
              <a:srgbClr val="000000"/>
            </a:solidFill>
          </a:ln>
        </p:spPr>
        <p:txBody>
          <a:bodyPr wrap="square" anchor="ctr" lIns="68580" tIns="36000" rIns="68580" bIns="36000"/>
          <a:lstStyle/>
          <a:p>
            <a:pPr algn="ctr">
              <a:lnSpc>
                <a:spcPct val="115000"/>
              </a:lnSpc>
              <a:spcAft>
                <a:spcPts val="60"/>
              </a:spcAft>
              <a:buNone/>
            </a:pPr>
            <a:r>
              <a:rPr lang="en-US" sz="900" b="1" dirty="0">
                <a:solidFill>
                  <a:srgbClr val="000000"/>
                </a:solidFill>
                <a:latin typeface="Arial"/>
                <a:ea typeface="Arial"/>
                <a:cs typeface="Arial"/>
              </a:rPr>
              <a:t>Attach vendor-by-FY history</a:t>
            </a:r>
          </a:p>
          <a:p>
            <a:pPr algn="ctr">
              <a:lnSpc>
                <a:spcPct val="115000"/>
              </a:lnSpc>
              <a:buNone/>
            </a:pPr>
            <a:r>
              <a:rPr lang="en-US" sz="850" i="1" dirty="0">
                <a:solidFill>
                  <a:srgbClr val="000000"/>
                </a:solidFill>
                <a:latin typeface="Arial"/>
                <a:ea typeface="Arial"/>
                <a:cs typeface="Arial"/>
              </a:rPr>
              <a:t>Dollars and records by vendor; prior vs recent mix; first and last award; active vendors; recent top-vendor share</a:t>
            </a:r>
          </a:p>
        </p:txBody>
      </p:sp>
      <p:sp>
        <p:nvSpPr>
          <p:cNvPr id="25" name="ConcentrationGate"/>
          <p:cNvSpPr txBox="1"/>
          <p:nvPr/>
        </p:nvSpPr>
        <p:spPr>
          <a:xfrm>
            <a:off x="453079" y="3700000"/>
            <a:ext cx="8277362" cy="410000"/>
          </a:xfrm>
          <a:prstGeom prst="rect">
            <a:avLst/>
          </a:prstGeom>
          <a:solidFill>
            <a:srgbClr val="E2E9EF"/>
          </a:solidFill>
          <a:ln w="12700">
            <a:solidFill>
              <a:srgbClr val="000000"/>
            </a:solidFill>
          </a:ln>
        </p:spPr>
        <p:txBody>
          <a:bodyPr wrap="square" anchor="ctr" lIns="68580" tIns="36000" rIns="68580" bIns="36000"/>
          <a:lstStyle/>
          <a:p>
            <a:pPr algn="ctr">
              <a:lnSpc>
                <a:spcPct val="115000"/>
              </a:lnSpc>
              <a:spcAft>
                <a:spcPts val="60"/>
              </a:spcAft>
              <a:buNone/>
            </a:pPr>
            <a:r>
              <a:rPr lang="en-US" sz="900" b="1" dirty="0">
                <a:solidFill>
                  <a:srgbClr val="000000"/>
                </a:solidFill>
                <a:latin typeface="Arial"/>
                <a:ea typeface="Arial"/>
                <a:cs typeface="Arial"/>
              </a:rPr>
              <a:t>Recent vendor concentration in the lane?</a:t>
            </a:r>
          </a:p>
          <a:p>
            <a:pPr algn="ctr">
              <a:lnSpc>
                <a:spcPct val="115000"/>
              </a:lnSpc>
              <a:buNone/>
            </a:pPr>
            <a:r>
              <a:rPr lang="en-US" sz="850" i="1" dirty="0">
                <a:solidFill>
                  <a:srgbClr val="000000"/>
                </a:solidFill>
                <a:latin typeface="Arial"/>
                <a:ea typeface="Arial"/>
                <a:cs typeface="Arial"/>
              </a:rPr>
              <a:t>The first routing split, on recent top-vendor share</a:t>
            </a:r>
          </a:p>
        </p:txBody>
      </p:sp>
      <p:sp>
        <p:nvSpPr>
          <p:cNvPr id="26" name="TrackA"/>
          <p:cNvSpPr txBox="1"/>
          <p:nvPr/>
        </p:nvSpPr>
        <p:spPr>
          <a:xfrm>
            <a:off x="1500000" y="4210000"/>
            <a:ext cx="7230441" cy="460000"/>
          </a:xfrm>
          <a:prstGeom prst="rect">
            <a:avLst/>
          </a:prstGeom>
          <a:solidFill>
            <a:srgbClr val="B6C8D8"/>
          </a:solidFill>
          <a:ln w="12700">
            <a:solidFill>
              <a:srgbClr val="000000"/>
            </a:solidFill>
          </a:ln>
        </p:spPr>
        <p:txBody>
          <a:bodyPr wrap="square" anchor="ctr" lIns="68580" tIns="36000" rIns="68580" bIns="36000"/>
          <a:lstStyle/>
          <a:p>
            <a:pPr algn="ctr">
              <a:lnSpc>
                <a:spcPct val="115000"/>
              </a:lnSpc>
              <a:spcAft>
                <a:spcPts val="60"/>
              </a:spcAft>
              <a:buNone/>
            </a:pPr>
            <a:r>
              <a:rPr lang="en-US" sz="900" b="1" dirty="0">
                <a:solidFill>
                  <a:srgbClr val="000000"/>
                </a:solidFill>
                <a:latin typeface="Arial"/>
                <a:ea typeface="Arial"/>
                <a:cs typeface="Arial"/>
              </a:rPr>
              <a:t>Track A: more concentrated, incumbent-heavy</a:t>
            </a:r>
          </a:p>
          <a:p>
            <a:pPr algn="ctr">
              <a:lnSpc>
                <a:spcPct val="115000"/>
              </a:lnSpc>
              <a:buNone/>
            </a:pPr>
            <a:r>
              <a:rPr lang="en-US" sz="850" i="1" dirty="0">
                <a:solidFill>
                  <a:srgbClr val="000000"/>
                </a:solidFill>
                <a:latin typeface="Arial"/>
                <a:ea typeface="Arial"/>
                <a:cs typeface="Arial"/>
              </a:rPr>
              <a:t>Continues on the next slide, Track A</a:t>
            </a:r>
          </a:p>
        </p:txBody>
      </p:sp>
      <p:sp>
        <p:nvSpPr>
          <p:cNvPr id="27" name="TrackB"/>
          <p:cNvSpPr txBox="1"/>
          <p:nvPr/>
        </p:nvSpPr>
        <p:spPr>
          <a:xfrm>
            <a:off x="1500000" y="4750000"/>
            <a:ext cx="7230441" cy="460000"/>
          </a:xfrm>
          <a:prstGeom prst="rect">
            <a:avLst/>
          </a:prstGeom>
          <a:solidFill>
            <a:srgbClr val="B6C8D8"/>
          </a:solidFill>
          <a:ln w="12700">
            <a:solidFill>
              <a:srgbClr val="000000"/>
            </a:solidFill>
          </a:ln>
        </p:spPr>
        <p:txBody>
          <a:bodyPr wrap="square" anchor="ctr" lIns="68580" tIns="36000" rIns="68580" bIns="36000"/>
          <a:lstStyle/>
          <a:p>
            <a:pPr algn="ctr">
              <a:lnSpc>
                <a:spcPct val="115000"/>
              </a:lnSpc>
              <a:spcAft>
                <a:spcPts val="60"/>
              </a:spcAft>
              <a:buNone/>
            </a:pPr>
            <a:r>
              <a:rPr lang="en-US" sz="900" b="1" dirty="0">
                <a:solidFill>
                  <a:srgbClr val="000000"/>
                </a:solidFill>
                <a:latin typeface="Arial"/>
                <a:ea typeface="Arial"/>
                <a:cs typeface="Arial"/>
              </a:rPr>
              <a:t>Track B: more diverse, multi-source</a:t>
            </a:r>
          </a:p>
          <a:p>
            <a:pPr algn="ctr">
              <a:lnSpc>
                <a:spcPct val="115000"/>
              </a:lnSpc>
              <a:buNone/>
            </a:pPr>
            <a:r>
              <a:rPr lang="en-US" sz="850" i="1" dirty="0">
                <a:solidFill>
                  <a:srgbClr val="000000"/>
                </a:solidFill>
                <a:latin typeface="Arial"/>
                <a:ea typeface="Arial"/>
                <a:cs typeface="Arial"/>
              </a:rPr>
              <a:t>Continues on the next slide, Track B</a:t>
            </a:r>
          </a:p>
        </p:txBody>
      </p:sp>
      <p:sp>
        <p:nvSpPr>
          <p:cNvPr id="28" name="MonitorBand"/>
          <p:cNvSpPr txBox="1"/>
          <p:nvPr/>
        </p:nvSpPr>
        <p:spPr>
          <a:xfrm>
            <a:off x="1500000" y="5290000"/>
            <a:ext cx="7230441" cy="420000"/>
          </a:xfrm>
          <a:prstGeom prst="rect">
            <a:avLst/>
          </a:prstGeom>
          <a:solidFill>
            <a:srgbClr val="D9D9D9"/>
          </a:solidFill>
          <a:ln w="12700">
            <a:solidFill>
              <a:srgbClr val="000000"/>
            </a:solidFill>
          </a:ln>
        </p:spPr>
        <p:txBody>
          <a:bodyPr wrap="square" anchor="ctr" lIns="68580" tIns="36000" rIns="68580" bIns="36000"/>
          <a:lstStyle/>
          <a:p>
            <a:pPr algn="ctr">
              <a:lnSpc>
                <a:spcPct val="115000"/>
              </a:lnSpc>
              <a:spcAft>
                <a:spcPts val="60"/>
              </a:spcAft>
              <a:buNone/>
            </a:pPr>
            <a:r>
              <a:rPr lang="en-US" sz="900" b="1" dirty="0">
                <a:solidFill>
                  <a:srgbClr val="000000"/>
                </a:solidFill>
                <a:latin typeface="Arial"/>
                <a:ea typeface="Arial"/>
                <a:cs typeface="Arial"/>
              </a:rPr>
              <a:t>Monitor, evidence-only</a:t>
            </a:r>
          </a:p>
          <a:p>
            <a:pPr algn="ctr">
              <a:lnSpc>
                <a:spcPct val="115000"/>
              </a:lnSpc>
              <a:buNone/>
            </a:pPr>
            <a:r>
              <a:rPr lang="en-US" sz="850" i="1" dirty="0">
                <a:solidFill>
                  <a:srgbClr val="000000"/>
                </a:solidFill>
                <a:latin typeface="Arial"/>
                <a:ea typeface="Arial"/>
                <a:cs typeface="Arial"/>
              </a:rPr>
              <a:t>Useful context, not a current jump-ball</a:t>
            </a:r>
          </a:p>
        </p:txBody>
      </p:sp>
      <p:sp>
        <p:nvSpPr>
          <p:cNvPr id="29" name="BranchChip1"/>
          <p:cNvSpPr txBox="1"/>
          <p:nvPr/>
        </p:nvSpPr>
        <p:spPr>
          <a:xfrm>
            <a:off x="666539" y="4346000"/>
            <a:ext cx="750000" cy="188000"/>
          </a:xfrm>
          <a:prstGeom prst="rect">
            <a:avLst/>
          </a:prstGeom>
          <a:solidFill>
            <a:srgbClr val="FFFFFF"/>
          </a:solidFill>
          <a:ln>
            <a:noFill/>
          </a:ln>
        </p:spPr>
        <p:txBody>
          <a:bodyPr wrap="square" anchor="ctr" lIns="45720" tIns="9144" rIns="45720" bIns="9144"/>
          <a:lstStyle/>
          <a:p>
            <a:pPr algn="ctr">
              <a:lnSpc>
                <a:spcPct val="115000"/>
              </a:lnSpc>
              <a:buNone/>
            </a:pPr>
            <a:r>
              <a:rPr lang="en-US" sz="850" i="1" dirty="0">
                <a:solidFill>
                  <a:srgbClr val="000000"/>
                </a:solidFill>
                <a:latin typeface="Arial"/>
                <a:ea typeface="Arial"/>
                <a:cs typeface="Arial"/>
              </a:rPr>
              <a:t>High share</a:t>
            </a:r>
          </a:p>
        </p:txBody>
      </p:sp>
      <p:sp>
        <p:nvSpPr>
          <p:cNvPr id="30" name="BranchChip2"/>
          <p:cNvSpPr txBox="1"/>
          <p:nvPr/>
        </p:nvSpPr>
        <p:spPr>
          <a:xfrm>
            <a:off x="635539" y="4886000"/>
            <a:ext cx="812000" cy="188000"/>
          </a:xfrm>
          <a:prstGeom prst="rect">
            <a:avLst/>
          </a:prstGeom>
          <a:solidFill>
            <a:srgbClr val="FFFFFF"/>
          </a:solidFill>
          <a:ln>
            <a:noFill/>
          </a:ln>
        </p:spPr>
        <p:txBody>
          <a:bodyPr wrap="square" anchor="ctr" lIns="45720" tIns="9144" rIns="45720" bIns="9144"/>
          <a:lstStyle/>
          <a:p>
            <a:pPr algn="ctr">
              <a:lnSpc>
                <a:spcPct val="115000"/>
              </a:lnSpc>
              <a:buNone/>
            </a:pPr>
            <a:r>
              <a:rPr lang="en-US" sz="850" i="1" dirty="0">
                <a:solidFill>
                  <a:srgbClr val="000000"/>
                </a:solidFill>
                <a:latin typeface="Arial"/>
                <a:ea typeface="Arial"/>
                <a:cs typeface="Arial"/>
              </a:rPr>
              <a:t>Lower share</a:t>
            </a:r>
          </a:p>
        </p:txBody>
      </p:sp>
      <p:sp>
        <p:nvSpPr>
          <p:cNvPr id="31" name="BranchChip3"/>
          <p:cNvSpPr txBox="1"/>
          <p:nvPr/>
        </p:nvSpPr>
        <p:spPr>
          <a:xfrm>
            <a:off x="666539" y="5406000"/>
            <a:ext cx="750000" cy="188000"/>
          </a:xfrm>
          <a:prstGeom prst="rect">
            <a:avLst/>
          </a:prstGeom>
          <a:solidFill>
            <a:srgbClr val="FFFFFF"/>
          </a:solidFill>
          <a:ln>
            <a:noFill/>
          </a:ln>
        </p:spPr>
        <p:txBody>
          <a:bodyPr wrap="square" anchor="ctr" lIns="45720" tIns="9144" rIns="45720" bIns="9144"/>
          <a:lstStyle/>
          <a:p>
            <a:pPr algn="ctr">
              <a:lnSpc>
                <a:spcPct val="115000"/>
              </a:lnSpc>
              <a:buNone/>
            </a:pPr>
            <a:r>
              <a:rPr lang="en-US" sz="850" i="1" dirty="0">
                <a:solidFill>
                  <a:srgbClr val="000000"/>
                </a:solidFill>
                <a:latin typeface="Arial"/>
                <a:ea typeface="Arial"/>
                <a:cs typeface="Arial"/>
              </a:rPr>
              <a:t>Low / none</a:t>
            </a:r>
          </a:p>
        </p:txBody>
      </p:sp>
      <p:cxnSp>
        <p:nvCxnSpPr>
          <p:cNvPr id="32" name="PaneDivider"/>
          <p:cNvCxnSpPr/>
          <p:nvPr/>
        </p:nvCxnSpPr>
        <p:spPr>
          <a:xfrm>
            <a:off x="8830441" y="1531778"/>
            <a:ext cx="0" cy="4298222"/>
          </a:xfrm>
          <a:prstGeom prst="line">
            <a:avLst/>
          </a:prstGeom>
          <a:ln w="6350">
            <a:solidFill>
              <a:srgbClr val="646464"/>
            </a:solidFill>
          </a:ln>
        </p:spPr>
      </p:cxnSp>
      <p:graphicFrame>
        <p:nvGraphicFramePr>
          <p:cNvPr id="33" name="SMERailTitle"/>
          <p:cNvGraphicFramePr>
            <a:graphicFrameLocks noGrp="1"/>
          </p:cNvGraphicFramePr>
          <p:nvPr/>
        </p:nvGraphicFramePr>
        <p:xfrm>
          <a:off x="8930441" y="1240000"/>
          <a:ext cx="2805000" cy="251778"/>
        </p:xfrm>
        <a:graphic>
          <a:graphicData uri="http://schemas.openxmlformats.org/drawingml/2006/table">
            <a:tbl>
              <a:tblPr firstRow="1" firstCol="1" bandRow="0">
                <a:tableStyleId>{2D5ABB26-0587-4C30-8999-92F81FD0307C}</a:tableStyleId>
              </a:tblPr>
              <a:tblGrid>
                <a:gridCol w="2805000"/>
              </a:tblGrid>
              <a:tr h="0">
                <a:tc>
                  <a:txBody>
                    <a:bodyPr anchor="ctr"/>
                    <a:lstStyle/>
                    <a:p>
                      <a:pPr algn="l">
                        <a:lnSpc>
                          <a:spcPct val="115000"/>
                        </a:lnSpc>
                      </a:pPr>
                      <a:r>
                        <a:rPr lang="en-US" sz="1000" b="1" dirty="0">
                          <a:solidFill>
                            <a:srgbClr val="000000"/>
                          </a:solidFill>
                          <a:latin typeface="Arial"/>
                          <a:ea typeface="Arial"/>
                          <a:cs typeface="Arial"/>
                        </a:rPr>
                        <a:t>To discuss:</a:t>
                      </a:r>
                    </a:p>
                  </a:txBody>
                  <a:tcPr marL="45720" marR="45720" marT="45720" marB="45720" anchor="ctr">
                    <a:lnL>
                      <a:noFill/>
                    </a:lnL>
                    <a:lnR>
                      <a:noFill/>
                    </a:lnR>
                    <a:lnT>
                      <a:noFill/>
                    </a:lnT>
                    <a:lnB w="12700" cap="flat" cmpd="sng" algn="ctr">
                      <a:solidFill>
                        <a:srgbClr val="000000"/>
                      </a:solidFill>
                      <a:prstDash val="solid"/>
                    </a:lnB>
                    <a:noFill/>
                  </a:tcPr>
                </a:tc>
              </a:tr>
            </a:tbl>
          </a:graphicData>
        </a:graphic>
      </p:graphicFrame>
      <p:sp>
        <p:nvSpPr>
          <p:cNvPr id="34" name="SMERail"/>
          <p:cNvSpPr txBox="1"/>
          <p:nvPr/>
        </p:nvSpPr>
        <p:spPr>
          <a:xfrm>
            <a:off x="8930441" y="1561778"/>
            <a:ext cx="2805000" cy="4308222"/>
          </a:xfrm>
          <a:prstGeom prst="rect">
            <a:avLst/>
          </a:prstGeom>
          <a:noFill/>
          <a:ln>
            <a:noFill/>
          </a:ln>
        </p:spPr>
        <p:txBody>
          <a:bodyPr wrap="square" anchor="t" lIns="100000" tIns="60000" rIns="70000" bIns="40000"/>
          <a:lstStyle/>
          <a:p>
            <a:pPr>
              <a:lnSpc>
                <a:spcPct val="115000"/>
              </a:lnSpc>
              <a:spcAft>
                <a:spcPts val="50"/>
              </a:spcAft>
              <a:buNone/>
            </a:pPr>
            <a:r>
              <a:rPr lang="en-US" sz="900" b="1" dirty="0">
                <a:solidFill>
                  <a:srgbClr val="000000"/>
                </a:solidFill>
                <a:latin typeface="Arial"/>
                <a:ea typeface="Arial"/>
                <a:cs typeface="Arial"/>
              </a:rPr>
              <a:t>1. PIID scope</a:t>
            </a:r>
          </a:p>
          <a:p>
            <a:pPr marL="247650" indent="-152400">
              <a:lnSpc>
                <a:spcPct val="115000"/>
              </a:lnSpc>
              <a:spcAft>
                <a:spcPts val="40"/>
              </a:spcAft>
              <a:buFont typeface="Arial" panose="020B0604020202020204" pitchFamily="34" charset="0"/>
              <a:buChar char="•"/>
            </a:pPr>
            <a:r>
              <a:rPr lang="en-US" sz="850" dirty="0">
                <a:solidFill>
                  <a:srgbClr val="000000"/>
                </a:solidFill>
                <a:latin typeface="Arial"/>
                <a:ea typeface="Arial"/>
                <a:cs typeface="Arial"/>
              </a:rPr>
              <a:t>Right PIIDs for shipbuilder-directed work?</a:t>
            </a:r>
          </a:p>
          <a:p>
            <a:pPr marL="247650" indent="-152400">
              <a:lnSpc>
                <a:spcPct val="115000"/>
              </a:lnSpc>
              <a:spcAft>
                <a:spcPts val="130"/>
              </a:spcAft>
              <a:buFont typeface="Arial" panose="020B0604020202020204" pitchFamily="34" charset="0"/>
              <a:buChar char="•"/>
            </a:pPr>
            <a:r>
              <a:rPr lang="en-US" sz="850" dirty="0">
                <a:solidFill>
                  <a:srgbClr val="000000"/>
                </a:solidFill>
                <a:latin typeface="Arial"/>
                <a:ea typeface="Arial"/>
                <a:cs typeface="Arial"/>
              </a:rPr>
              <a:t>Any submarine or DDG supplier work missing outside this lens?</a:t>
            </a:r>
          </a:p>
          <a:p>
            <a:pPr>
              <a:lnSpc>
                <a:spcPct val="115000"/>
              </a:lnSpc>
              <a:spcAft>
                <a:spcPts val="50"/>
              </a:spcAft>
              <a:buNone/>
            </a:pPr>
            <a:r>
              <a:rPr lang="en-US" sz="900" b="1" dirty="0">
                <a:solidFill>
                  <a:srgbClr val="000000"/>
                </a:solidFill>
                <a:latin typeface="Arial"/>
                <a:ea typeface="Arial"/>
                <a:cs typeface="Arial"/>
              </a:rPr>
              <a:t>2. Classification</a:t>
            </a:r>
          </a:p>
          <a:p>
            <a:pPr marL="247650" indent="-152400">
              <a:lnSpc>
                <a:spcPct val="115000"/>
              </a:lnSpc>
              <a:spcAft>
                <a:spcPts val="40"/>
              </a:spcAft>
              <a:buFont typeface="Arial" panose="020B0604020202020204" pitchFamily="34" charset="0"/>
              <a:buChar char="•"/>
            </a:pPr>
            <a:r>
              <a:rPr lang="en-US" sz="850" dirty="0">
                <a:solidFill>
                  <a:srgbClr val="000000"/>
                </a:solidFill>
                <a:latin typeface="Arial"/>
                <a:ea typeface="Arial"/>
                <a:cs typeface="Arial"/>
              </a:rPr>
              <a:t>Are vendor-based work-type buckets directionally fair?</a:t>
            </a:r>
          </a:p>
          <a:p>
            <a:pPr marL="247650" indent="-152400">
              <a:lnSpc>
                <a:spcPct val="115000"/>
              </a:lnSpc>
              <a:spcAft>
                <a:spcPts val="130"/>
              </a:spcAft>
              <a:buFont typeface="Arial" panose="020B0604020202020204" pitchFamily="34" charset="0"/>
              <a:buChar char="•"/>
            </a:pPr>
            <a:r>
              <a:rPr lang="en-US" sz="850" dirty="0">
                <a:solidFill>
                  <a:srgbClr val="000000"/>
                </a:solidFill>
                <a:latin typeface="Arial"/>
                <a:ea typeface="Arial"/>
                <a:cs typeface="Arial"/>
              </a:rPr>
              <a:t>Should any submarine or DDG vendors be classified differently?</a:t>
            </a:r>
          </a:p>
          <a:p>
            <a:pPr>
              <a:lnSpc>
                <a:spcPct val="115000"/>
              </a:lnSpc>
              <a:spcAft>
                <a:spcPts val="50"/>
              </a:spcAft>
              <a:buNone/>
            </a:pPr>
            <a:r>
              <a:rPr lang="en-US" sz="900" b="1" dirty="0">
                <a:solidFill>
                  <a:srgbClr val="000000"/>
                </a:solidFill>
                <a:latin typeface="Arial"/>
                <a:ea typeface="Arial"/>
                <a:cs typeface="Arial"/>
              </a:rPr>
              <a:t>3. Lane grain</a:t>
            </a:r>
          </a:p>
          <a:p>
            <a:pPr marL="247650" indent="-152400">
              <a:lnSpc>
                <a:spcPct val="115000"/>
              </a:lnSpc>
              <a:spcAft>
                <a:spcPts val="40"/>
              </a:spcAft>
              <a:buFont typeface="Arial" panose="020B0604020202020204" pitchFamily="34" charset="0"/>
              <a:buChar char="•"/>
            </a:pPr>
            <a:r>
              <a:rPr lang="en-US" sz="850" dirty="0">
                <a:solidFill>
                  <a:srgbClr val="000000"/>
                </a:solidFill>
                <a:latin typeface="Arial"/>
                <a:ea typeface="Arial"/>
                <a:cs typeface="Arial"/>
              </a:rPr>
              <a:t>Is PIID and work type the right competitive unit?</a:t>
            </a:r>
          </a:p>
          <a:p>
            <a:pPr marL="247650" indent="-152400">
              <a:lnSpc>
                <a:spcPct val="115000"/>
              </a:lnSpc>
              <a:spcAft>
                <a:spcPts val="130"/>
              </a:spcAft>
              <a:buFont typeface="Arial" panose="020B0604020202020204" pitchFamily="34" charset="0"/>
              <a:buChar char="•"/>
            </a:pPr>
            <a:r>
              <a:rPr lang="en-US" sz="850" dirty="0">
                <a:solidFill>
                  <a:srgbClr val="000000"/>
                </a:solidFill>
                <a:latin typeface="Arial"/>
                <a:ea typeface="Arial"/>
                <a:cs typeface="Arial"/>
              </a:rPr>
              <a:t>Should some lanes split by block, hull, yard, or class?</a:t>
            </a:r>
          </a:p>
          <a:p>
            <a:pPr>
              <a:lnSpc>
                <a:spcPct val="115000"/>
              </a:lnSpc>
              <a:spcAft>
                <a:spcPts val="50"/>
              </a:spcAft>
              <a:buNone/>
            </a:pPr>
            <a:r>
              <a:rPr lang="en-US" sz="900" b="1" dirty="0">
                <a:solidFill>
                  <a:srgbClr val="000000"/>
                </a:solidFill>
                <a:latin typeface="Arial"/>
                <a:ea typeface="Arial"/>
                <a:cs typeface="Arial"/>
              </a:rPr>
              <a:t>4. Vendor-share logic</a:t>
            </a:r>
          </a:p>
          <a:p>
            <a:pPr marL="247650" indent="-152400">
              <a:lnSpc>
                <a:spcPct val="115000"/>
              </a:lnSpc>
              <a:spcAft>
                <a:spcPts val="40"/>
              </a:spcAft>
              <a:buFont typeface="Arial" panose="020B0604020202020204" pitchFamily="34" charset="0"/>
              <a:buChar char="•"/>
            </a:pPr>
            <a:r>
              <a:rPr lang="en-US" sz="850" dirty="0">
                <a:solidFill>
                  <a:srgbClr val="000000"/>
                </a:solidFill>
                <a:latin typeface="Arial"/>
                <a:ea typeface="Arial"/>
                <a:cs typeface="Arial"/>
              </a:rPr>
              <a:t>Is dollar share the right signal of practical control?</a:t>
            </a:r>
          </a:p>
          <a:p>
            <a:pPr marL="247650" indent="-152400">
              <a:lnSpc>
                <a:spcPct val="115000"/>
              </a:lnSpc>
              <a:spcAft>
                <a:spcPts val="130"/>
              </a:spcAft>
              <a:buFont typeface="Arial" panose="020B0604020202020204" pitchFamily="34" charset="0"/>
              <a:buChar char="•"/>
            </a:pPr>
            <a:r>
              <a:rPr lang="en-US" sz="850" dirty="0">
                <a:solidFill>
                  <a:srgbClr val="000000"/>
                </a:solidFill>
                <a:latin typeface="Arial"/>
                <a:ea typeface="Arial"/>
                <a:cs typeface="Arial"/>
              </a:rPr>
              <a:t>Does the recent window match how these programs buy?</a:t>
            </a:r>
          </a:p>
          <a:p>
            <a:pPr>
              <a:lnSpc>
                <a:spcPct val="115000"/>
              </a:lnSpc>
              <a:spcAft>
                <a:spcPts val="50"/>
              </a:spcAft>
              <a:buNone/>
            </a:pPr>
            <a:r>
              <a:rPr lang="en-US" sz="900" b="1" dirty="0">
                <a:solidFill>
                  <a:srgbClr val="000000"/>
                </a:solidFill>
                <a:latin typeface="Arial"/>
                <a:ea typeface="Arial"/>
                <a:cs typeface="Arial"/>
              </a:rPr>
              <a:t>5. Concentration cutoff</a:t>
            </a:r>
          </a:p>
          <a:p>
            <a:pPr marL="247650" indent="-152400">
              <a:lnSpc>
                <a:spcPct val="115000"/>
              </a:lnSpc>
              <a:spcAft>
                <a:spcPts val="40"/>
              </a:spcAft>
              <a:buFont typeface="Arial" panose="020B0604020202020204" pitchFamily="34" charset="0"/>
              <a:buChar char="•"/>
            </a:pPr>
            <a:r>
              <a:rPr lang="en-US" sz="850" dirty="0">
                <a:solidFill>
                  <a:srgbClr val="000000"/>
                </a:solidFill>
                <a:latin typeface="Arial"/>
                <a:ea typeface="Arial"/>
                <a:cs typeface="Arial"/>
              </a:rPr>
              <a:t>Where should high concentration begin?</a:t>
            </a:r>
          </a:p>
          <a:p>
            <a:pPr marL="247650" indent="-152400">
              <a:lnSpc>
                <a:spcPct val="115000"/>
              </a:lnSpc>
              <a:spcAft>
                <a:spcPts val="130"/>
              </a:spcAft>
              <a:buFont typeface="Arial" panose="020B0604020202020204" pitchFamily="34" charset="0"/>
              <a:buChar char="•"/>
            </a:pPr>
            <a:r>
              <a:rPr lang="en-US" sz="850" dirty="0">
                <a:solidFill>
                  <a:srgbClr val="000000"/>
                </a:solidFill>
                <a:latin typeface="Arial"/>
                <a:ea typeface="Arial"/>
                <a:cs typeface="Arial"/>
              </a:rPr>
              <a:t>Is one cutoff fair across Virginia, Columbia, and DDG?</a:t>
            </a:r>
          </a:p>
          <a:p>
            <a:pPr>
              <a:lnSpc>
                <a:spcPct val="115000"/>
              </a:lnSpc>
              <a:spcAft>
                <a:spcPts val="50"/>
              </a:spcAft>
              <a:buNone/>
            </a:pPr>
            <a:r>
              <a:rPr lang="en-US" sz="900" b="1" dirty="0">
                <a:solidFill>
                  <a:srgbClr val="000000"/>
                </a:solidFill>
                <a:latin typeface="Arial"/>
                <a:ea typeface="Arial"/>
                <a:cs typeface="Arial"/>
              </a:rPr>
              <a:t>6. Track assignment</a:t>
            </a:r>
          </a:p>
          <a:p>
            <a:pPr marL="247650" indent="-152400">
              <a:lnSpc>
                <a:spcPct val="115000"/>
              </a:lnSpc>
              <a:spcAft>
                <a:spcPts val="40"/>
              </a:spcAft>
              <a:buFont typeface="Arial" panose="020B0604020202020204" pitchFamily="34" charset="0"/>
              <a:buChar char="•"/>
            </a:pPr>
            <a:r>
              <a:rPr lang="en-US" sz="850" dirty="0">
                <a:solidFill>
                  <a:srgbClr val="000000"/>
                </a:solidFill>
                <a:latin typeface="Arial"/>
                <a:ea typeface="Arial"/>
                <a:cs typeface="Arial"/>
              </a:rPr>
              <a:t>Does the split reflect how these lanes actually behave?</a:t>
            </a:r>
          </a:p>
          <a:p>
            <a:pPr marL="247650" indent="-152400">
              <a:lnSpc>
                <a:spcPct val="115000"/>
              </a:lnSpc>
              <a:buFont typeface="Arial" panose="020B0604020202020204" pitchFamily="34" charset="0"/>
              <a:buChar char="•"/>
            </a:pPr>
            <a:r>
              <a:rPr lang="en-US" sz="850" dirty="0">
                <a:solidFill>
                  <a:srgbClr val="000000"/>
                </a:solidFill>
                <a:latin typeface="Arial"/>
                <a:ea typeface="Arial"/>
                <a:cs typeface="Arial"/>
              </a:rPr>
              <a:t>Which lanes warrant a manual override?</a:t>
            </a:r>
          </a:p>
        </p:txBody>
      </p:sp>
      <p:sp>
        <p:nvSpPr>
          <p:cNvPr id="35" name="Legend"/>
          <p:cNvSpPr txBox="1"/>
          <p:nvPr/>
        </p:nvSpPr>
        <p:spPr>
          <a:xfrm>
            <a:off x="453079" y="5745000"/>
            <a:ext cx="11282362" cy="200000"/>
          </a:xfrm>
          <a:prstGeom prst="rect">
            <a:avLst/>
          </a:prstGeom>
          <a:noFill/>
          <a:ln>
            <a:noFill/>
          </a:ln>
        </p:spPr>
        <p:txBody>
          <a:bodyPr wrap="square" anchor="t" lIns="0" tIns="0" rIns="0" bIns="0"/>
          <a:lstStyle/>
          <a:p>
            <a:pPr algn="l">
              <a:lnSpc>
                <a:spcPct val="115000"/>
              </a:lnSpc>
              <a:buNone/>
            </a:pPr>
            <a:r>
              <a:rPr lang="en-US" sz="850" b="0" i="1" dirty="0">
                <a:solidFill>
                  <a:srgbClr val="000000"/>
                </a:solidFill>
                <a:latin typeface="Arial"/>
                <a:ea typeface="Arial"/>
                <a:cs typeface="Arial"/>
              </a:rPr>
              <a:t>Blue: lane, stages, and tracks. Gray: entry and terminal reads.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SAM Methodology</a:t>
            </a:r>
            <a:r>
              <a:rPr lang="en-US" sz="1000" kern="1200" dirty="0">
                <a:solidFill>
                  <a:srgbClr val="44505C"/>
                </a:solidFill>
                <a:latin typeface="Arial"/>
                <a:ea typeface="Arial"/>
                <a:cs typeface="Arial"/>
              </a:rPr>
              <a:t> / Concentration Tracks</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SAM Methodology (2/2) | Each track is refined by a second test — direction or cadence — into a specific opening or monitor read.</a:t>
            </a:r>
          </a:p>
        </p:txBody>
      </p:sp>
      <p:cxnSp>
        <p:nvCxnSpPr>
          <p:cNvPr id="10" name="EnterForkFeed"/>
          <p:cNvCxnSpPr/>
          <p:nvPr/>
        </p:nvCxnSpPr>
        <p:spPr>
          <a:xfrm>
            <a:off x="4591760" y="1980000"/>
            <a:ext cx="0" cy="90000"/>
          </a:xfrm>
          <a:prstGeom prst="line">
            <a:avLst/>
          </a:prstGeom>
          <a:ln w="9525">
            <a:solidFill>
              <a:srgbClr val="000000"/>
            </a:solidFill>
          </a:ln>
        </p:spPr>
      </p:cxnSp>
      <p:cxnSp>
        <p:nvCxnSpPr>
          <p:cNvPr id="11" name="EnterForkRail"/>
          <p:cNvCxnSpPr/>
          <p:nvPr/>
        </p:nvCxnSpPr>
        <p:spPr>
          <a:xfrm>
            <a:off x="2263079" y="2070000"/>
            <a:ext cx="4263681" cy="0"/>
          </a:xfrm>
          <a:prstGeom prst="line">
            <a:avLst/>
          </a:prstGeom>
          <a:ln w="9525">
            <a:solidFill>
              <a:srgbClr val="000000"/>
            </a:solidFill>
          </a:ln>
        </p:spPr>
      </p:cxnSp>
      <p:cxnSp>
        <p:nvCxnSpPr>
          <p:cNvPr id="12" name="EnterForkDrop1"/>
          <p:cNvCxnSpPr/>
          <p:nvPr/>
        </p:nvCxnSpPr>
        <p:spPr>
          <a:xfrm>
            <a:off x="2263079" y="2070000"/>
            <a:ext cx="0" cy="120000"/>
          </a:xfrm>
          <a:prstGeom prst="line">
            <a:avLst/>
          </a:prstGeom>
          <a:ln w="9525">
            <a:solidFill>
              <a:srgbClr val="000000"/>
            </a:solidFill>
            <a:tailEnd type="triangle" w="med" len="med"/>
          </a:ln>
        </p:spPr>
      </p:cxnSp>
      <p:cxnSp>
        <p:nvCxnSpPr>
          <p:cNvPr id="13" name="EnterForkDrop2"/>
          <p:cNvCxnSpPr/>
          <p:nvPr/>
        </p:nvCxnSpPr>
        <p:spPr>
          <a:xfrm>
            <a:off x="6526760" y="2070000"/>
            <a:ext cx="0" cy="120000"/>
          </a:xfrm>
          <a:prstGeom prst="line">
            <a:avLst/>
          </a:prstGeom>
          <a:ln w="9525">
            <a:solidFill>
              <a:srgbClr val="000000"/>
            </a:solidFill>
            <a:tailEnd type="triangle" w="med" len="med"/>
          </a:ln>
        </p:spPr>
      </p:cxnSp>
      <p:cxnSp>
        <p:nvCxnSpPr>
          <p:cNvPr id="14" name="AHdrToTest"/>
          <p:cNvCxnSpPr/>
          <p:nvPr/>
        </p:nvCxnSpPr>
        <p:spPr>
          <a:xfrm>
            <a:off x="2263079" y="2630000"/>
            <a:ext cx="0" cy="250000"/>
          </a:xfrm>
          <a:prstGeom prst="line">
            <a:avLst/>
          </a:prstGeom>
          <a:ln w="9525">
            <a:solidFill>
              <a:srgbClr val="000000"/>
            </a:solidFill>
            <a:tailEnd type="triangle" w="med" len="med"/>
          </a:ln>
        </p:spPr>
      </p:cxnSp>
      <p:cxnSp>
        <p:nvCxnSpPr>
          <p:cNvPr id="15" name="BHdrToTest"/>
          <p:cNvCxnSpPr/>
          <p:nvPr/>
        </p:nvCxnSpPr>
        <p:spPr>
          <a:xfrm>
            <a:off x="6526760" y="2630000"/>
            <a:ext cx="0" cy="250000"/>
          </a:xfrm>
          <a:prstGeom prst="line">
            <a:avLst/>
          </a:prstGeom>
          <a:ln w="9525">
            <a:solidFill>
              <a:srgbClr val="000000"/>
            </a:solidFill>
            <a:tailEnd type="triangle" w="med" len="med"/>
          </a:ln>
        </p:spPr>
      </p:cxnSp>
      <p:cxnSp>
        <p:nvCxnSpPr>
          <p:cNvPr id="16" name="ABus"/>
          <p:cNvCxnSpPr/>
          <p:nvPr/>
        </p:nvCxnSpPr>
        <p:spPr>
          <a:xfrm>
            <a:off x="573079" y="3320000"/>
            <a:ext cx="0" cy="1650000"/>
          </a:xfrm>
          <a:prstGeom prst="line">
            <a:avLst/>
          </a:prstGeom>
          <a:ln w="9525">
            <a:solidFill>
              <a:srgbClr val="000000"/>
            </a:solidFill>
          </a:ln>
        </p:spPr>
      </p:cxnSp>
      <p:cxnSp>
        <p:nvCxnSpPr>
          <p:cNvPr id="17" name="ABusToA1"/>
          <p:cNvCxnSpPr/>
          <p:nvPr/>
        </p:nvCxnSpPr>
        <p:spPr>
          <a:xfrm>
            <a:off x="573079" y="3930000"/>
            <a:ext cx="860000" cy="0"/>
          </a:xfrm>
          <a:prstGeom prst="line">
            <a:avLst/>
          </a:prstGeom>
          <a:ln w="9525">
            <a:solidFill>
              <a:srgbClr val="000000"/>
            </a:solidFill>
            <a:tailEnd type="triangle" w="med" len="med"/>
          </a:ln>
        </p:spPr>
      </p:cxnSp>
      <p:cxnSp>
        <p:nvCxnSpPr>
          <p:cNvPr id="18" name="ABusToA2"/>
          <p:cNvCxnSpPr/>
          <p:nvPr/>
        </p:nvCxnSpPr>
        <p:spPr>
          <a:xfrm>
            <a:off x="573079" y="4970000"/>
            <a:ext cx="860000" cy="0"/>
          </a:xfrm>
          <a:prstGeom prst="line">
            <a:avLst/>
          </a:prstGeom>
          <a:ln w="9525">
            <a:solidFill>
              <a:srgbClr val="000000"/>
            </a:solidFill>
            <a:tailEnd type="triangle" w="med" len="med"/>
          </a:ln>
        </p:spPr>
      </p:cxnSp>
      <p:cxnSp>
        <p:nvCxnSpPr>
          <p:cNvPr id="19" name="BForkFeed"/>
          <p:cNvCxnSpPr/>
          <p:nvPr/>
        </p:nvCxnSpPr>
        <p:spPr>
          <a:xfrm>
            <a:off x="6526760" y="3320000"/>
            <a:ext cx="0" cy="100000"/>
          </a:xfrm>
          <a:prstGeom prst="line">
            <a:avLst/>
          </a:prstGeom>
          <a:ln w="9525">
            <a:solidFill>
              <a:srgbClr val="000000"/>
            </a:solidFill>
          </a:ln>
        </p:spPr>
      </p:cxnSp>
      <p:cxnSp>
        <p:nvCxnSpPr>
          <p:cNvPr id="20" name="BForkRail"/>
          <p:cNvCxnSpPr/>
          <p:nvPr/>
        </p:nvCxnSpPr>
        <p:spPr>
          <a:xfrm>
            <a:off x="5414919" y="3420000"/>
            <a:ext cx="2223681" cy="0"/>
          </a:xfrm>
          <a:prstGeom prst="line">
            <a:avLst/>
          </a:prstGeom>
          <a:ln w="9525">
            <a:solidFill>
              <a:srgbClr val="000000"/>
            </a:solidFill>
          </a:ln>
        </p:spPr>
      </p:cxnSp>
      <p:cxnSp>
        <p:nvCxnSpPr>
          <p:cNvPr id="21" name="BForkDrop1"/>
          <p:cNvCxnSpPr/>
          <p:nvPr/>
        </p:nvCxnSpPr>
        <p:spPr>
          <a:xfrm>
            <a:off x="5414919" y="3420000"/>
            <a:ext cx="0" cy="280000"/>
          </a:xfrm>
          <a:prstGeom prst="line">
            <a:avLst/>
          </a:prstGeom>
          <a:ln w="9525">
            <a:solidFill>
              <a:srgbClr val="000000"/>
            </a:solidFill>
            <a:tailEnd type="triangle" w="med" len="med"/>
          </a:ln>
        </p:spPr>
      </p:cxnSp>
      <p:cxnSp>
        <p:nvCxnSpPr>
          <p:cNvPr id="22" name="BForkDrop2"/>
          <p:cNvCxnSpPr/>
          <p:nvPr/>
        </p:nvCxnSpPr>
        <p:spPr>
          <a:xfrm>
            <a:off x="7638600" y="3420000"/>
            <a:ext cx="0" cy="280000"/>
          </a:xfrm>
          <a:prstGeom prst="line">
            <a:avLst/>
          </a:prstGeom>
          <a:ln w="9525">
            <a:solidFill>
              <a:srgbClr val="000000"/>
            </a:solidFill>
            <a:tailEnd type="triangle" w="med" len="med"/>
          </a:ln>
        </p:spPr>
      </p:cxnSp>
      <p:cxnSp>
        <p:nvCxnSpPr>
          <p:cNvPr id="23" name="B1Bus"/>
          <p:cNvCxnSpPr/>
          <p:nvPr/>
        </p:nvCxnSpPr>
        <p:spPr>
          <a:xfrm>
            <a:off x="4443079" y="4080000"/>
            <a:ext cx="0" cy="1140000"/>
          </a:xfrm>
          <a:prstGeom prst="line">
            <a:avLst/>
          </a:prstGeom>
          <a:ln w="9525">
            <a:solidFill>
              <a:srgbClr val="000000"/>
            </a:solidFill>
          </a:ln>
        </p:spPr>
      </p:cxnSp>
      <p:cxnSp>
        <p:nvCxnSpPr>
          <p:cNvPr id="24" name="B1BusToOut1"/>
          <p:cNvCxnSpPr/>
          <p:nvPr/>
        </p:nvCxnSpPr>
        <p:spPr>
          <a:xfrm>
            <a:off x="4443079" y="4500000"/>
            <a:ext cx="250000" cy="0"/>
          </a:xfrm>
          <a:prstGeom prst="line">
            <a:avLst/>
          </a:prstGeom>
          <a:ln w="9525">
            <a:solidFill>
              <a:srgbClr val="000000"/>
            </a:solidFill>
            <a:tailEnd type="triangle" w="med" len="med"/>
          </a:ln>
        </p:spPr>
      </p:cxnSp>
      <p:cxnSp>
        <p:nvCxnSpPr>
          <p:cNvPr id="25" name="B1BusToOut2"/>
          <p:cNvCxnSpPr/>
          <p:nvPr/>
        </p:nvCxnSpPr>
        <p:spPr>
          <a:xfrm>
            <a:off x="4443079" y="5220000"/>
            <a:ext cx="250000" cy="0"/>
          </a:xfrm>
          <a:prstGeom prst="line">
            <a:avLst/>
          </a:prstGeom>
          <a:ln w="9525">
            <a:solidFill>
              <a:srgbClr val="000000"/>
            </a:solidFill>
            <a:tailEnd type="triangle" w="med" len="med"/>
          </a:ln>
        </p:spPr>
      </p:cxnSp>
      <p:cxnSp>
        <p:nvCxnSpPr>
          <p:cNvPr id="26" name="B2Bus"/>
          <p:cNvCxnSpPr/>
          <p:nvPr/>
        </p:nvCxnSpPr>
        <p:spPr>
          <a:xfrm>
            <a:off x="6666760" y="4080000"/>
            <a:ext cx="0" cy="1140000"/>
          </a:xfrm>
          <a:prstGeom prst="line">
            <a:avLst/>
          </a:prstGeom>
          <a:ln w="9525">
            <a:solidFill>
              <a:srgbClr val="000000"/>
            </a:solidFill>
          </a:ln>
        </p:spPr>
      </p:cxnSp>
      <p:cxnSp>
        <p:nvCxnSpPr>
          <p:cNvPr id="27" name="B2BusToOut1"/>
          <p:cNvCxnSpPr/>
          <p:nvPr/>
        </p:nvCxnSpPr>
        <p:spPr>
          <a:xfrm>
            <a:off x="6666760" y="4500000"/>
            <a:ext cx="250000" cy="0"/>
          </a:xfrm>
          <a:prstGeom prst="line">
            <a:avLst/>
          </a:prstGeom>
          <a:ln w="9525">
            <a:solidFill>
              <a:srgbClr val="000000"/>
            </a:solidFill>
            <a:tailEnd type="triangle" w="med" len="med"/>
          </a:ln>
        </p:spPr>
      </p:cxnSp>
      <p:cxnSp>
        <p:nvCxnSpPr>
          <p:cNvPr id="28" name="B2BusToOut2"/>
          <p:cNvCxnSpPr/>
          <p:nvPr/>
        </p:nvCxnSpPr>
        <p:spPr>
          <a:xfrm>
            <a:off x="6666760" y="5220000"/>
            <a:ext cx="250000" cy="0"/>
          </a:xfrm>
          <a:prstGeom prst="line">
            <a:avLst/>
          </a:prstGeom>
          <a:ln w="9525">
            <a:solidFill>
              <a:srgbClr val="000000"/>
            </a:solidFill>
            <a:tailEnd type="triangle" w="med" len="med"/>
          </a:ln>
        </p:spPr>
      </p:cxnSp>
      <p:graphicFrame>
        <p:nvGraphicFramePr>
          <p:cNvPr id="29" name="FlowCap"/>
          <p:cNvGraphicFramePr>
            <a:graphicFrameLocks noGrp="1"/>
          </p:cNvGraphicFramePr>
          <p:nvPr/>
        </p:nvGraphicFramePr>
        <p:xfrm>
          <a:off x="453079" y="1240000"/>
          <a:ext cx="8277362" cy="251778"/>
        </p:xfrm>
        <a:graphic>
          <a:graphicData uri="http://schemas.openxmlformats.org/drawingml/2006/table">
            <a:tbl>
              <a:tblPr firstRow="1" firstCol="1" bandRow="0">
                <a:tableStyleId>{2D5ABB26-0587-4C30-8999-92F81FD0307C}</a:tableStyleId>
              </a:tblPr>
              <a:tblGrid>
                <a:gridCol w="8277362"/>
              </a:tblGrid>
              <a:tr h="0">
                <a:tc>
                  <a:txBody>
                    <a:bodyPr anchor="ctr"/>
                    <a:lstStyle/>
                    <a:p>
                      <a:pPr algn="l">
                        <a:lnSpc>
                          <a:spcPct val="115000"/>
                        </a:lnSpc>
                      </a:pPr>
                      <a:r>
                        <a:rPr lang="en-US" sz="1000" b="1" dirty="0">
                          <a:solidFill>
                            <a:srgbClr val="000000"/>
                          </a:solidFill>
                          <a:latin typeface="Arial"/>
                          <a:ea typeface="Arial"/>
                          <a:cs typeface="Arial"/>
                        </a:rPr>
                        <a:t>What each concentration track means</a:t>
                      </a:r>
                    </a:p>
                  </a:txBody>
                  <a:tcPr marL="45720" marR="45720" marT="45720" marB="45720" anchor="ctr">
                    <a:lnL>
                      <a:noFill/>
                    </a:lnL>
                    <a:lnR>
                      <a:noFill/>
                    </a:lnR>
                    <a:lnT>
                      <a:noFill/>
                    </a:lnT>
                    <a:lnB w="12700" cap="flat" cmpd="sng" algn="ctr">
                      <a:solidFill>
                        <a:srgbClr val="000000"/>
                      </a:solidFill>
                      <a:prstDash val="solid"/>
                    </a:lnB>
                    <a:noFill/>
                  </a:tcPr>
                </a:tc>
              </a:tr>
            </a:tbl>
          </a:graphicData>
        </a:graphic>
      </p:graphicFrame>
      <p:sp>
        <p:nvSpPr>
          <p:cNvPr id="30" name="Enter"/>
          <p:cNvSpPr txBox="1"/>
          <p:nvPr/>
        </p:nvSpPr>
        <p:spPr>
          <a:xfrm>
            <a:off x="453079" y="1580000"/>
            <a:ext cx="8277362" cy="400000"/>
          </a:xfrm>
          <a:prstGeom prst="rect">
            <a:avLst/>
          </a:prstGeom>
          <a:solidFill>
            <a:srgbClr val="D9D9D9"/>
          </a:solidFill>
          <a:ln w="12700">
            <a:solidFill>
              <a:srgbClr val="000000"/>
            </a:solidFill>
          </a:ln>
        </p:spPr>
        <p:txBody>
          <a:bodyPr wrap="square" anchor="ctr" lIns="68580" tIns="36000" rIns="68580" bIns="36000"/>
          <a:lstStyle/>
          <a:p>
            <a:pPr algn="ctr">
              <a:lnSpc>
                <a:spcPct val="115000"/>
              </a:lnSpc>
              <a:spcAft>
                <a:spcPts val="60"/>
              </a:spcAft>
              <a:buNone/>
            </a:pPr>
            <a:r>
              <a:rPr lang="en-US" sz="900" b="1" dirty="0">
                <a:solidFill>
                  <a:srgbClr val="000000"/>
                </a:solidFill>
                <a:latin typeface="Arial"/>
                <a:ea typeface="Arial"/>
                <a:cs typeface="Arial"/>
              </a:rPr>
              <a:t>Enter from the previous slide</a:t>
            </a:r>
          </a:p>
          <a:p>
            <a:pPr algn="ctr">
              <a:lnSpc>
                <a:spcPct val="115000"/>
              </a:lnSpc>
              <a:buNone/>
            </a:pPr>
            <a:r>
              <a:rPr lang="en-US" sz="850" i="1" dirty="0">
                <a:solidFill>
                  <a:srgbClr val="000000"/>
                </a:solidFill>
                <a:latin typeface="Arial"/>
                <a:ea typeface="Arial"/>
                <a:cs typeface="Arial"/>
              </a:rPr>
              <a:t>Recent top-vendor concentration set the track</a:t>
            </a:r>
          </a:p>
        </p:txBody>
      </p:sp>
      <p:sp>
        <p:nvSpPr>
          <p:cNvPr id="31" name="TrackAHdr"/>
          <p:cNvSpPr txBox="1"/>
          <p:nvPr/>
        </p:nvSpPr>
        <p:spPr>
          <a:xfrm>
            <a:off x="453079" y="2190000"/>
            <a:ext cx="3620000" cy="440000"/>
          </a:xfrm>
          <a:prstGeom prst="rect">
            <a:avLst/>
          </a:prstGeom>
          <a:solidFill>
            <a:srgbClr val="B6C8D8"/>
          </a:solidFill>
          <a:ln w="12700">
            <a:solidFill>
              <a:srgbClr val="000000"/>
            </a:solidFill>
          </a:ln>
        </p:spPr>
        <p:txBody>
          <a:bodyPr wrap="square" anchor="ctr" lIns="68580" tIns="36000" rIns="68580" bIns="36000"/>
          <a:lstStyle/>
          <a:p>
            <a:pPr algn="ctr">
              <a:lnSpc>
                <a:spcPct val="115000"/>
              </a:lnSpc>
              <a:spcAft>
                <a:spcPts val="60"/>
              </a:spcAft>
              <a:buNone/>
            </a:pPr>
            <a:r>
              <a:rPr lang="en-US" sz="900" b="1" dirty="0">
                <a:solidFill>
                  <a:srgbClr val="000000"/>
                </a:solidFill>
                <a:latin typeface="Arial"/>
                <a:ea typeface="Arial"/>
                <a:cs typeface="Arial"/>
              </a:rPr>
              <a:t>Track A: concentrated, incumbent-heavy</a:t>
            </a:r>
          </a:p>
          <a:p>
            <a:pPr algn="ctr">
              <a:lnSpc>
                <a:spcPct val="115000"/>
              </a:lnSpc>
              <a:buNone/>
            </a:pPr>
            <a:r>
              <a:rPr lang="en-US" sz="850" i="1" dirty="0">
                <a:solidFill>
                  <a:srgbClr val="000000"/>
                </a:solidFill>
                <a:latin typeface="Arial"/>
                <a:ea typeface="Arial"/>
                <a:cs typeface="Arial"/>
              </a:rPr>
              <a:t>High recent top-vendor share</a:t>
            </a:r>
          </a:p>
        </p:txBody>
      </p:sp>
      <p:sp>
        <p:nvSpPr>
          <p:cNvPr id="32" name="ATest"/>
          <p:cNvSpPr txBox="1"/>
          <p:nvPr/>
        </p:nvSpPr>
        <p:spPr>
          <a:xfrm>
            <a:off x="453079" y="2880000"/>
            <a:ext cx="3620000" cy="440000"/>
          </a:xfrm>
          <a:prstGeom prst="rect">
            <a:avLst/>
          </a:prstGeom>
          <a:solidFill>
            <a:srgbClr val="E2E9EF"/>
          </a:solidFill>
          <a:ln w="12700">
            <a:solidFill>
              <a:srgbClr val="000000"/>
            </a:solidFill>
          </a:ln>
        </p:spPr>
        <p:txBody>
          <a:bodyPr wrap="square" anchor="ctr" lIns="68580" tIns="36000" rIns="68580" bIns="36000"/>
          <a:lstStyle/>
          <a:p>
            <a:pPr algn="ctr">
              <a:lnSpc>
                <a:spcPct val="115000"/>
              </a:lnSpc>
              <a:spcAft>
                <a:spcPts val="60"/>
              </a:spcAft>
              <a:buNone/>
            </a:pPr>
            <a:r>
              <a:rPr lang="en-US" sz="900" b="1" dirty="0">
                <a:solidFill>
                  <a:srgbClr val="000000"/>
                </a:solidFill>
                <a:latin typeface="Arial"/>
                <a:ea typeface="Arial"/>
                <a:cs typeface="Arial"/>
              </a:rPr>
              <a:t>Test historical direction</a:t>
            </a:r>
          </a:p>
          <a:p>
            <a:pPr algn="ctr">
              <a:lnSpc>
                <a:spcPct val="115000"/>
              </a:lnSpc>
              <a:buNone/>
            </a:pPr>
            <a:r>
              <a:rPr lang="en-US" sz="850" i="1" dirty="0">
                <a:solidFill>
                  <a:srgbClr val="000000"/>
                </a:solidFill>
                <a:latin typeface="Arial"/>
                <a:ea typeface="Arial"/>
                <a:cs typeface="Arial"/>
              </a:rPr>
              <a:t>Maintained, or weakening?</a:t>
            </a:r>
          </a:p>
        </p:txBody>
      </p:sp>
      <p:sp>
        <p:nvSpPr>
          <p:cNvPr id="33" name="A1Entrenched"/>
          <p:cNvSpPr txBox="1"/>
          <p:nvPr/>
        </p:nvSpPr>
        <p:spPr>
          <a:xfrm>
            <a:off x="1433079" y="3480000"/>
            <a:ext cx="2640000" cy="900000"/>
          </a:xfrm>
          <a:prstGeom prst="rect">
            <a:avLst/>
          </a:prstGeom>
          <a:solidFill>
            <a:srgbClr val="D9D9D9"/>
          </a:solidFill>
          <a:ln w="12700">
            <a:solidFill>
              <a:srgbClr val="000000"/>
            </a:solidFill>
          </a:ln>
        </p:spPr>
        <p:txBody>
          <a:bodyPr wrap="square" anchor="ctr" lIns="68580" tIns="36000" rIns="68580" bIns="36000"/>
          <a:lstStyle/>
          <a:p>
            <a:pPr algn="ctr">
              <a:lnSpc>
                <a:spcPct val="115000"/>
              </a:lnSpc>
              <a:spcAft>
                <a:spcPts val="60"/>
              </a:spcAft>
              <a:buNone/>
            </a:pPr>
            <a:r>
              <a:rPr lang="en-US" sz="900" b="1" dirty="0">
                <a:solidFill>
                  <a:srgbClr val="000000"/>
                </a:solidFill>
                <a:latin typeface="Arial"/>
                <a:ea typeface="Arial"/>
                <a:cs typeface="Arial"/>
              </a:rPr>
              <a:t>A1. Entrenched incumbent</a:t>
            </a:r>
          </a:p>
          <a:p>
            <a:pPr algn="ctr">
              <a:lnSpc>
                <a:spcPct val="115000"/>
              </a:lnSpc>
              <a:spcAft>
                <a:spcPts val="40"/>
              </a:spcAft>
              <a:buNone/>
            </a:pPr>
            <a:r>
              <a:rPr lang="en-US" sz="850" i="1" dirty="0">
                <a:solidFill>
                  <a:srgbClr val="000000"/>
                </a:solidFill>
                <a:latin typeface="Arial"/>
                <a:ea typeface="Arial"/>
                <a:cs typeface="Arial"/>
              </a:rPr>
              <a:t>Same supplier dominant; no credible second source</a:t>
            </a:r>
          </a:p>
          <a:p>
            <a:pPr algn="ctr">
              <a:lnSpc>
                <a:spcPct val="115000"/>
              </a:lnSpc>
              <a:buNone/>
            </a:pPr>
            <a:r>
              <a:rPr lang="en-US" sz="850" i="1" dirty="0">
                <a:solidFill>
                  <a:srgbClr val="000000"/>
                </a:solidFill>
                <a:latin typeface="Arial"/>
                <a:ea typeface="Arial"/>
                <a:cs typeface="Arial"/>
              </a:rPr>
              <a:t>Harder displacement; useful for targeting, not proof the door is open</a:t>
            </a:r>
          </a:p>
        </p:txBody>
      </p:sp>
      <p:sp>
        <p:nvSpPr>
          <p:cNvPr id="34" name="A2Diversifying"/>
          <p:cNvSpPr txBox="1"/>
          <p:nvPr/>
        </p:nvSpPr>
        <p:spPr>
          <a:xfrm>
            <a:off x="1433079" y="4460000"/>
            <a:ext cx="2640000" cy="1020000"/>
          </a:xfrm>
          <a:prstGeom prst="rect">
            <a:avLst/>
          </a:prstGeom>
          <a:solidFill>
            <a:srgbClr val="D9D9D9"/>
          </a:solidFill>
          <a:ln w="12700">
            <a:solidFill>
              <a:srgbClr val="000000"/>
            </a:solidFill>
          </a:ln>
        </p:spPr>
        <p:txBody>
          <a:bodyPr wrap="square" anchor="ctr" lIns="68580" tIns="36000" rIns="68580" bIns="36000"/>
          <a:lstStyle/>
          <a:p>
            <a:pPr algn="ctr">
              <a:lnSpc>
                <a:spcPct val="115000"/>
              </a:lnSpc>
              <a:spcAft>
                <a:spcPts val="60"/>
              </a:spcAft>
              <a:buNone/>
            </a:pPr>
            <a:r>
              <a:rPr lang="en-US" sz="900" b="1" dirty="0">
                <a:solidFill>
                  <a:srgbClr val="000000"/>
                </a:solidFill>
                <a:latin typeface="Arial"/>
                <a:ea typeface="Arial"/>
                <a:cs typeface="Arial"/>
              </a:rPr>
              <a:t>A2. Concentrated but diversifying</a:t>
            </a:r>
          </a:p>
          <a:p>
            <a:pPr algn="ctr">
              <a:lnSpc>
                <a:spcPct val="115000"/>
              </a:lnSpc>
              <a:spcAft>
                <a:spcPts val="40"/>
              </a:spcAft>
              <a:buNone/>
            </a:pPr>
            <a:r>
              <a:rPr lang="en-US" sz="850" i="1" dirty="0">
                <a:solidFill>
                  <a:srgbClr val="000000"/>
                </a:solidFill>
                <a:latin typeface="Arial"/>
                <a:ea typeface="Arial"/>
                <a:cs typeface="Arial"/>
              </a:rPr>
              <a:t>Share declining; prior single → recent multi, incumbent active</a:t>
            </a:r>
          </a:p>
          <a:p>
            <a:pPr algn="ctr">
              <a:lnSpc>
                <a:spcPct val="115000"/>
              </a:lnSpc>
              <a:buNone/>
            </a:pPr>
            <a:r>
              <a:rPr lang="en-US" sz="850" i="1" dirty="0">
                <a:solidFill>
                  <a:srgbClr val="000000"/>
                </a:solidFill>
                <a:latin typeface="Arial"/>
                <a:ea typeface="Arial"/>
                <a:cs typeface="Arial"/>
              </a:rPr>
              <a:t>Better than pure dominance: supplier-base movement already visible</a:t>
            </a:r>
          </a:p>
        </p:txBody>
      </p:sp>
      <p:sp>
        <p:nvSpPr>
          <p:cNvPr id="35" name="TrackBHdr"/>
          <p:cNvSpPr txBox="1"/>
          <p:nvPr/>
        </p:nvSpPr>
        <p:spPr>
          <a:xfrm>
            <a:off x="4323079" y="2190000"/>
            <a:ext cx="4407362" cy="440000"/>
          </a:xfrm>
          <a:prstGeom prst="rect">
            <a:avLst/>
          </a:prstGeom>
          <a:solidFill>
            <a:srgbClr val="B6C8D8"/>
          </a:solidFill>
          <a:ln w="12700">
            <a:solidFill>
              <a:srgbClr val="000000"/>
            </a:solidFill>
          </a:ln>
        </p:spPr>
        <p:txBody>
          <a:bodyPr wrap="square" anchor="ctr" lIns="68580" tIns="36000" rIns="68580" bIns="36000"/>
          <a:lstStyle/>
          <a:p>
            <a:pPr algn="ctr">
              <a:lnSpc>
                <a:spcPct val="115000"/>
              </a:lnSpc>
              <a:spcAft>
                <a:spcPts val="60"/>
              </a:spcAft>
              <a:buNone/>
            </a:pPr>
            <a:r>
              <a:rPr lang="en-US" sz="900" b="1" dirty="0">
                <a:solidFill>
                  <a:srgbClr val="000000"/>
                </a:solidFill>
                <a:latin typeface="Arial"/>
                <a:ea typeface="Arial"/>
                <a:cs typeface="Arial"/>
              </a:rPr>
              <a:t>Track B: diverse, multi-source</a:t>
            </a:r>
          </a:p>
          <a:p>
            <a:pPr algn="ctr">
              <a:lnSpc>
                <a:spcPct val="115000"/>
              </a:lnSpc>
              <a:buNone/>
            </a:pPr>
            <a:r>
              <a:rPr lang="en-US" sz="850" i="1" dirty="0">
                <a:solidFill>
                  <a:srgbClr val="000000"/>
                </a:solidFill>
                <a:latin typeface="Arial"/>
                <a:ea typeface="Arial"/>
                <a:cs typeface="Arial"/>
              </a:rPr>
              <a:t>Lower top-vendor share; enough active vendors</a:t>
            </a:r>
          </a:p>
        </p:txBody>
      </p:sp>
      <p:sp>
        <p:nvSpPr>
          <p:cNvPr id="36" name="BTest"/>
          <p:cNvSpPr txBox="1"/>
          <p:nvPr/>
        </p:nvSpPr>
        <p:spPr>
          <a:xfrm>
            <a:off x="4323079" y="2880000"/>
            <a:ext cx="4407362" cy="440000"/>
          </a:xfrm>
          <a:prstGeom prst="rect">
            <a:avLst/>
          </a:prstGeom>
          <a:solidFill>
            <a:srgbClr val="E2E9EF"/>
          </a:solidFill>
          <a:ln w="12700">
            <a:solidFill>
              <a:srgbClr val="000000"/>
            </a:solidFill>
          </a:ln>
        </p:spPr>
        <p:txBody>
          <a:bodyPr wrap="square" anchor="ctr" lIns="68580" tIns="36000" rIns="68580" bIns="36000"/>
          <a:lstStyle/>
          <a:p>
            <a:pPr algn="ctr">
              <a:lnSpc>
                <a:spcPct val="115000"/>
              </a:lnSpc>
              <a:spcAft>
                <a:spcPts val="60"/>
              </a:spcAft>
              <a:buNone/>
            </a:pPr>
            <a:r>
              <a:rPr lang="en-US" sz="900" b="1" dirty="0">
                <a:solidFill>
                  <a:srgbClr val="000000"/>
                </a:solidFill>
                <a:latin typeface="Arial"/>
                <a:ea typeface="Arial"/>
                <a:cs typeface="Arial"/>
              </a:rPr>
              <a:t>Test subaward cadence</a:t>
            </a:r>
          </a:p>
          <a:p>
            <a:pPr algn="ctr">
              <a:lnSpc>
                <a:spcPct val="115000"/>
              </a:lnSpc>
              <a:buNone/>
            </a:pPr>
            <a:r>
              <a:rPr lang="en-US" sz="850" i="1" dirty="0">
                <a:solidFill>
                  <a:srgbClr val="000000"/>
                </a:solidFill>
                <a:latin typeface="Arial"/>
                <a:ea typeface="Arial"/>
                <a:cs typeface="Arial"/>
              </a:rPr>
              <a:t>Periodic, or continuous?</a:t>
            </a:r>
          </a:p>
        </p:txBody>
      </p:sp>
      <p:sp>
        <p:nvSpPr>
          <p:cNvPr id="37" name="B1Hdr"/>
          <p:cNvSpPr txBox="1"/>
          <p:nvPr/>
        </p:nvSpPr>
        <p:spPr>
          <a:xfrm>
            <a:off x="4323079" y="3700000"/>
            <a:ext cx="2183681" cy="380000"/>
          </a:xfrm>
          <a:prstGeom prst="rect">
            <a:avLst/>
          </a:prstGeom>
          <a:solidFill>
            <a:srgbClr val="E2E9EF"/>
          </a:solidFill>
          <a:ln w="12700">
            <a:solidFill>
              <a:srgbClr val="000000"/>
            </a:solidFill>
          </a:ln>
        </p:spPr>
        <p:txBody>
          <a:bodyPr wrap="square" anchor="ctr" lIns="68580" tIns="36000" rIns="68580" bIns="36000"/>
          <a:lstStyle/>
          <a:p>
            <a:pPr algn="ctr">
              <a:lnSpc>
                <a:spcPct val="115000"/>
              </a:lnSpc>
              <a:spcAft>
                <a:spcPts val="60"/>
              </a:spcAft>
              <a:buNone/>
            </a:pPr>
            <a:r>
              <a:rPr lang="en-US" sz="900" b="1" dirty="0">
                <a:solidFill>
                  <a:srgbClr val="000000"/>
                </a:solidFill>
                <a:latin typeface="Arial"/>
                <a:ea typeface="Arial"/>
                <a:cs typeface="Arial"/>
              </a:rPr>
              <a:t>B1. Discrete waves</a:t>
            </a:r>
          </a:p>
          <a:p>
            <a:pPr algn="ctr">
              <a:lnSpc>
                <a:spcPct val="115000"/>
              </a:lnSpc>
              <a:buNone/>
            </a:pPr>
            <a:r>
              <a:rPr lang="en-US" sz="850" i="1" dirty="0">
                <a:solidFill>
                  <a:srgbClr val="000000"/>
                </a:solidFill>
                <a:latin typeface="Arial"/>
                <a:ea typeface="Arial"/>
                <a:cs typeface="Arial"/>
              </a:rPr>
              <a:t>Forecast window from quiet gaps</a:t>
            </a:r>
          </a:p>
        </p:txBody>
      </p:sp>
      <p:sp>
        <p:nvSpPr>
          <p:cNvPr id="38" name="B2Hdr"/>
          <p:cNvSpPr txBox="1"/>
          <p:nvPr/>
        </p:nvSpPr>
        <p:spPr>
          <a:xfrm>
            <a:off x="6546760" y="3700000"/>
            <a:ext cx="2183681" cy="380000"/>
          </a:xfrm>
          <a:prstGeom prst="rect">
            <a:avLst/>
          </a:prstGeom>
          <a:solidFill>
            <a:srgbClr val="E2E9EF"/>
          </a:solidFill>
          <a:ln w="12700">
            <a:solidFill>
              <a:srgbClr val="000000"/>
            </a:solidFill>
          </a:ln>
        </p:spPr>
        <p:txBody>
          <a:bodyPr wrap="square" anchor="ctr" lIns="68580" tIns="36000" rIns="68580" bIns="36000"/>
          <a:lstStyle/>
          <a:p>
            <a:pPr algn="ctr">
              <a:lnSpc>
                <a:spcPct val="115000"/>
              </a:lnSpc>
              <a:spcAft>
                <a:spcPts val="60"/>
              </a:spcAft>
              <a:buNone/>
            </a:pPr>
            <a:r>
              <a:rPr lang="en-US" sz="900" b="1" dirty="0">
                <a:solidFill>
                  <a:srgbClr val="000000"/>
                </a:solidFill>
                <a:latin typeface="Arial"/>
                <a:ea typeface="Arial"/>
                <a:cs typeface="Arial"/>
              </a:rPr>
              <a:t>B2. Continuous stream</a:t>
            </a:r>
          </a:p>
          <a:p>
            <a:pPr algn="ctr">
              <a:lnSpc>
                <a:spcPct val="115000"/>
              </a:lnSpc>
              <a:buNone/>
            </a:pPr>
            <a:r>
              <a:rPr lang="en-US" sz="850" i="1" dirty="0">
                <a:solidFill>
                  <a:srgbClr val="000000"/>
                </a:solidFill>
                <a:latin typeface="Arial"/>
                <a:ea typeface="Arial"/>
                <a:cs typeface="Arial"/>
              </a:rPr>
              <a:t>Activity over a forecast date</a:t>
            </a:r>
          </a:p>
        </p:txBody>
      </p:sp>
      <p:sp>
        <p:nvSpPr>
          <p:cNvPr id="39" name="PeriodicOpening"/>
          <p:cNvSpPr txBox="1"/>
          <p:nvPr/>
        </p:nvSpPr>
        <p:spPr>
          <a:xfrm>
            <a:off x="4693079" y="4180000"/>
            <a:ext cx="1813681" cy="640000"/>
          </a:xfrm>
          <a:prstGeom prst="rect">
            <a:avLst/>
          </a:prstGeom>
          <a:solidFill>
            <a:srgbClr val="D9D9D9"/>
          </a:solidFill>
          <a:ln w="12700">
            <a:solidFill>
              <a:srgbClr val="000000"/>
            </a:solidFill>
          </a:ln>
        </p:spPr>
        <p:txBody>
          <a:bodyPr wrap="square" anchor="ctr" lIns="68580" tIns="36000" rIns="68580" bIns="36000"/>
          <a:lstStyle/>
          <a:p>
            <a:pPr algn="ctr">
              <a:lnSpc>
                <a:spcPct val="115000"/>
              </a:lnSpc>
              <a:spcAft>
                <a:spcPts val="60"/>
              </a:spcAft>
              <a:buNone/>
            </a:pPr>
            <a:r>
              <a:rPr lang="en-US" sz="900" b="1" dirty="0">
                <a:solidFill>
                  <a:srgbClr val="000000"/>
                </a:solidFill>
                <a:latin typeface="Arial"/>
                <a:ea typeface="Arial"/>
                <a:cs typeface="Arial"/>
              </a:rPr>
              <a:t>Periodic Sourcing Opening</a:t>
            </a:r>
          </a:p>
          <a:p>
            <a:pPr algn="ctr">
              <a:lnSpc>
                <a:spcPct val="115000"/>
              </a:lnSpc>
              <a:buNone/>
            </a:pPr>
            <a:r>
              <a:rPr lang="en-US" sz="850" i="1" dirty="0">
                <a:solidFill>
                  <a:srgbClr val="000000"/>
                </a:solidFill>
                <a:latin typeface="Arial"/>
                <a:ea typeface="Arial"/>
                <a:cs typeface="Arial"/>
              </a:rPr>
              <a:t>Window overlaps the horizon</a:t>
            </a:r>
          </a:p>
        </p:txBody>
      </p:sp>
      <p:sp>
        <p:nvSpPr>
          <p:cNvPr id="40" name="MonitorPeriodic"/>
          <p:cNvSpPr txBox="1"/>
          <p:nvPr/>
        </p:nvSpPr>
        <p:spPr>
          <a:xfrm>
            <a:off x="4693079" y="4900000"/>
            <a:ext cx="1813681" cy="640000"/>
          </a:xfrm>
          <a:prstGeom prst="rect">
            <a:avLst/>
          </a:prstGeom>
          <a:solidFill>
            <a:srgbClr val="D9D9D9"/>
          </a:solidFill>
          <a:ln w="12700">
            <a:solidFill>
              <a:srgbClr val="000000"/>
            </a:solidFill>
          </a:ln>
        </p:spPr>
        <p:txBody>
          <a:bodyPr wrap="square" anchor="ctr" lIns="68580" tIns="36000" rIns="68580" bIns="36000"/>
          <a:lstStyle/>
          <a:p>
            <a:pPr algn="ctr">
              <a:lnSpc>
                <a:spcPct val="115000"/>
              </a:lnSpc>
              <a:spcAft>
                <a:spcPts val="60"/>
              </a:spcAft>
              <a:buNone/>
            </a:pPr>
            <a:r>
              <a:rPr lang="en-US" sz="900" b="1" dirty="0">
                <a:solidFill>
                  <a:srgbClr val="000000"/>
                </a:solidFill>
                <a:latin typeface="Arial"/>
                <a:ea typeface="Arial"/>
                <a:cs typeface="Arial"/>
              </a:rPr>
              <a:t>Monitor future periodic</a:t>
            </a:r>
          </a:p>
          <a:p>
            <a:pPr algn="ctr">
              <a:lnSpc>
                <a:spcPct val="115000"/>
              </a:lnSpc>
              <a:buNone/>
            </a:pPr>
            <a:r>
              <a:rPr lang="en-US" sz="850" i="1" dirty="0">
                <a:solidFill>
                  <a:srgbClr val="000000"/>
                </a:solidFill>
                <a:latin typeface="Arial"/>
                <a:ea typeface="Arial"/>
                <a:cs typeface="Arial"/>
              </a:rPr>
              <a:t>Good lane, not timed yet</a:t>
            </a:r>
          </a:p>
        </p:txBody>
      </p:sp>
      <p:sp>
        <p:nvSpPr>
          <p:cNvPr id="41" name="ContinuousOpening"/>
          <p:cNvSpPr txBox="1"/>
          <p:nvPr/>
        </p:nvSpPr>
        <p:spPr>
          <a:xfrm>
            <a:off x="6916760" y="4180000"/>
            <a:ext cx="1813681" cy="640000"/>
          </a:xfrm>
          <a:prstGeom prst="rect">
            <a:avLst/>
          </a:prstGeom>
          <a:solidFill>
            <a:srgbClr val="D9D9D9"/>
          </a:solidFill>
          <a:ln w="12700">
            <a:solidFill>
              <a:srgbClr val="000000"/>
            </a:solidFill>
          </a:ln>
        </p:spPr>
        <p:txBody>
          <a:bodyPr wrap="square" anchor="ctr" lIns="68580" tIns="36000" rIns="68580" bIns="36000"/>
          <a:lstStyle/>
          <a:p>
            <a:pPr algn="ctr">
              <a:lnSpc>
                <a:spcPct val="115000"/>
              </a:lnSpc>
              <a:spcAft>
                <a:spcPts val="60"/>
              </a:spcAft>
              <a:buNone/>
            </a:pPr>
            <a:r>
              <a:rPr lang="en-US" sz="900" b="1" dirty="0">
                <a:solidFill>
                  <a:srgbClr val="000000"/>
                </a:solidFill>
                <a:latin typeface="Arial"/>
                <a:ea typeface="Arial"/>
                <a:cs typeface="Arial"/>
              </a:rPr>
              <a:t>Active Continuous Opening</a:t>
            </a:r>
          </a:p>
          <a:p>
            <a:pPr algn="ctr">
              <a:lnSpc>
                <a:spcPct val="115000"/>
              </a:lnSpc>
              <a:buNone/>
            </a:pPr>
            <a:r>
              <a:rPr lang="en-US" sz="850" i="1" dirty="0">
                <a:solidFill>
                  <a:srgbClr val="000000"/>
                </a:solidFill>
                <a:latin typeface="Arial"/>
                <a:ea typeface="Arial"/>
                <a:cs typeface="Arial"/>
              </a:rPr>
              <a:t>Ongoing access, not scheduled</a:t>
            </a:r>
          </a:p>
        </p:txBody>
      </p:sp>
      <p:sp>
        <p:nvSpPr>
          <p:cNvPr id="42" name="DiagnosticMonitor"/>
          <p:cNvSpPr txBox="1"/>
          <p:nvPr/>
        </p:nvSpPr>
        <p:spPr>
          <a:xfrm>
            <a:off x="6916760" y="4900000"/>
            <a:ext cx="1813681" cy="640000"/>
          </a:xfrm>
          <a:prstGeom prst="rect">
            <a:avLst/>
          </a:prstGeom>
          <a:solidFill>
            <a:srgbClr val="D9D9D9"/>
          </a:solidFill>
          <a:ln w="12700">
            <a:solidFill>
              <a:srgbClr val="000000"/>
            </a:solidFill>
          </a:ln>
        </p:spPr>
        <p:txBody>
          <a:bodyPr wrap="square" anchor="ctr" lIns="68580" tIns="36000" rIns="68580" bIns="36000"/>
          <a:lstStyle/>
          <a:p>
            <a:pPr algn="ctr">
              <a:lnSpc>
                <a:spcPct val="115000"/>
              </a:lnSpc>
              <a:spcAft>
                <a:spcPts val="60"/>
              </a:spcAft>
              <a:buNone/>
            </a:pPr>
            <a:r>
              <a:rPr lang="en-US" sz="900" b="1" dirty="0">
                <a:solidFill>
                  <a:srgbClr val="000000"/>
                </a:solidFill>
                <a:latin typeface="Arial"/>
                <a:ea typeface="Arial"/>
                <a:cs typeface="Arial"/>
              </a:rPr>
              <a:t>Diagnostic monitor</a:t>
            </a:r>
          </a:p>
          <a:p>
            <a:pPr algn="ctr">
              <a:lnSpc>
                <a:spcPct val="115000"/>
              </a:lnSpc>
              <a:buNone/>
            </a:pPr>
            <a:r>
              <a:rPr lang="en-US" sz="850" i="1" dirty="0">
                <a:solidFill>
                  <a:srgbClr val="000000"/>
                </a:solidFill>
                <a:latin typeface="Arial"/>
                <a:ea typeface="Arial"/>
                <a:cs typeface="Arial"/>
              </a:rPr>
              <a:t>Pattern exists, opening weak</a:t>
            </a:r>
          </a:p>
        </p:txBody>
      </p:sp>
      <p:sp>
        <p:nvSpPr>
          <p:cNvPr id="43" name="AChipMaintained"/>
          <p:cNvSpPr txBox="1"/>
          <p:nvPr/>
        </p:nvSpPr>
        <p:spPr>
          <a:xfrm>
            <a:off x="603079" y="3698000"/>
            <a:ext cx="800000" cy="188000"/>
          </a:xfrm>
          <a:prstGeom prst="rect">
            <a:avLst/>
          </a:prstGeom>
          <a:solidFill>
            <a:srgbClr val="FFFFFF"/>
          </a:solidFill>
          <a:ln>
            <a:noFill/>
          </a:ln>
        </p:spPr>
        <p:txBody>
          <a:bodyPr wrap="square" anchor="ctr" lIns="45720" tIns="9144" rIns="45720" bIns="9144"/>
          <a:lstStyle/>
          <a:p>
            <a:pPr algn="ctr">
              <a:lnSpc>
                <a:spcPct val="115000"/>
              </a:lnSpc>
              <a:buNone/>
            </a:pPr>
            <a:r>
              <a:rPr lang="en-US" sz="850" i="1" dirty="0">
                <a:solidFill>
                  <a:srgbClr val="000000"/>
                </a:solidFill>
                <a:latin typeface="Arial"/>
                <a:ea typeface="Arial"/>
                <a:cs typeface="Arial"/>
              </a:rPr>
              <a:t>Maintained</a:t>
            </a:r>
          </a:p>
        </p:txBody>
      </p:sp>
      <p:sp>
        <p:nvSpPr>
          <p:cNvPr id="44" name="AChipWeakening"/>
          <p:cNvSpPr txBox="1"/>
          <p:nvPr/>
        </p:nvSpPr>
        <p:spPr>
          <a:xfrm>
            <a:off x="603079" y="4738000"/>
            <a:ext cx="800000" cy="188000"/>
          </a:xfrm>
          <a:prstGeom prst="rect">
            <a:avLst/>
          </a:prstGeom>
          <a:solidFill>
            <a:srgbClr val="FFFFFF"/>
          </a:solidFill>
          <a:ln>
            <a:noFill/>
          </a:ln>
        </p:spPr>
        <p:txBody>
          <a:bodyPr wrap="square" anchor="ctr" lIns="45720" tIns="9144" rIns="45720" bIns="9144"/>
          <a:lstStyle/>
          <a:p>
            <a:pPr algn="ctr">
              <a:lnSpc>
                <a:spcPct val="115000"/>
              </a:lnSpc>
              <a:buNone/>
            </a:pPr>
            <a:r>
              <a:rPr lang="en-US" sz="850" i="1" dirty="0">
                <a:solidFill>
                  <a:srgbClr val="000000"/>
                </a:solidFill>
                <a:latin typeface="Arial"/>
                <a:ea typeface="Arial"/>
                <a:cs typeface="Arial"/>
              </a:rPr>
              <a:t>Weakening</a:t>
            </a:r>
          </a:p>
        </p:txBody>
      </p:sp>
      <p:sp>
        <p:nvSpPr>
          <p:cNvPr id="45" name="BChipPeriodic"/>
          <p:cNvSpPr txBox="1"/>
          <p:nvPr/>
        </p:nvSpPr>
        <p:spPr>
          <a:xfrm>
            <a:off x="5101919" y="3466000"/>
            <a:ext cx="626000" cy="188000"/>
          </a:xfrm>
          <a:prstGeom prst="rect">
            <a:avLst/>
          </a:prstGeom>
          <a:solidFill>
            <a:srgbClr val="FFFFFF"/>
          </a:solidFill>
          <a:ln>
            <a:noFill/>
          </a:ln>
        </p:spPr>
        <p:txBody>
          <a:bodyPr wrap="square" anchor="ctr" lIns="45720" tIns="9144" rIns="45720" bIns="9144"/>
          <a:lstStyle/>
          <a:p>
            <a:pPr algn="ctr">
              <a:lnSpc>
                <a:spcPct val="115000"/>
              </a:lnSpc>
              <a:buNone/>
            </a:pPr>
            <a:r>
              <a:rPr lang="en-US" sz="850" i="1" dirty="0">
                <a:solidFill>
                  <a:srgbClr val="000000"/>
                </a:solidFill>
                <a:latin typeface="Arial"/>
                <a:ea typeface="Arial"/>
                <a:cs typeface="Arial"/>
              </a:rPr>
              <a:t>Periodic</a:t>
            </a:r>
          </a:p>
        </p:txBody>
      </p:sp>
      <p:sp>
        <p:nvSpPr>
          <p:cNvPr id="46" name="BChipContinuous"/>
          <p:cNvSpPr txBox="1"/>
          <p:nvPr/>
        </p:nvSpPr>
        <p:spPr>
          <a:xfrm>
            <a:off x="7263600" y="3466000"/>
            <a:ext cx="750000" cy="188000"/>
          </a:xfrm>
          <a:prstGeom prst="rect">
            <a:avLst/>
          </a:prstGeom>
          <a:solidFill>
            <a:srgbClr val="FFFFFF"/>
          </a:solidFill>
          <a:ln>
            <a:noFill/>
          </a:ln>
        </p:spPr>
        <p:txBody>
          <a:bodyPr wrap="square" anchor="ctr" lIns="45720" tIns="9144" rIns="45720" bIns="9144"/>
          <a:lstStyle/>
          <a:p>
            <a:pPr algn="ctr">
              <a:lnSpc>
                <a:spcPct val="115000"/>
              </a:lnSpc>
              <a:buNone/>
            </a:pPr>
            <a:r>
              <a:rPr lang="en-US" sz="850" i="1" dirty="0">
                <a:solidFill>
                  <a:srgbClr val="000000"/>
                </a:solidFill>
                <a:latin typeface="Arial"/>
                <a:ea typeface="Arial"/>
                <a:cs typeface="Arial"/>
              </a:rPr>
              <a:t>Continuous</a:t>
            </a:r>
          </a:p>
        </p:txBody>
      </p:sp>
      <p:cxnSp>
        <p:nvCxnSpPr>
          <p:cNvPr id="47" name="PaneDivider"/>
          <p:cNvCxnSpPr/>
          <p:nvPr/>
        </p:nvCxnSpPr>
        <p:spPr>
          <a:xfrm>
            <a:off x="8830441" y="1531778"/>
            <a:ext cx="0" cy="4298222"/>
          </a:xfrm>
          <a:prstGeom prst="line">
            <a:avLst/>
          </a:prstGeom>
          <a:ln w="6350">
            <a:solidFill>
              <a:srgbClr val="646464"/>
            </a:solidFill>
          </a:ln>
        </p:spPr>
      </p:cxnSp>
      <p:graphicFrame>
        <p:nvGraphicFramePr>
          <p:cNvPr id="48" name="SMERailTitle"/>
          <p:cNvGraphicFramePr>
            <a:graphicFrameLocks noGrp="1"/>
          </p:cNvGraphicFramePr>
          <p:nvPr/>
        </p:nvGraphicFramePr>
        <p:xfrm>
          <a:off x="8930441" y="1240000"/>
          <a:ext cx="2805000" cy="251778"/>
        </p:xfrm>
        <a:graphic>
          <a:graphicData uri="http://schemas.openxmlformats.org/drawingml/2006/table">
            <a:tbl>
              <a:tblPr firstRow="1" firstCol="1" bandRow="0">
                <a:tableStyleId>{2D5ABB26-0587-4C30-8999-92F81FD0307C}</a:tableStyleId>
              </a:tblPr>
              <a:tblGrid>
                <a:gridCol w="2805000"/>
              </a:tblGrid>
              <a:tr h="0">
                <a:tc>
                  <a:txBody>
                    <a:bodyPr anchor="ctr"/>
                    <a:lstStyle/>
                    <a:p>
                      <a:pPr algn="l">
                        <a:lnSpc>
                          <a:spcPct val="115000"/>
                        </a:lnSpc>
                      </a:pPr>
                      <a:r>
                        <a:rPr lang="en-US" sz="1000" b="1" dirty="0">
                          <a:solidFill>
                            <a:srgbClr val="000000"/>
                          </a:solidFill>
                          <a:latin typeface="Arial"/>
                          <a:ea typeface="Arial"/>
                          <a:cs typeface="Arial"/>
                        </a:rPr>
                        <a:t>To discuss:</a:t>
                      </a:r>
                    </a:p>
                  </a:txBody>
                  <a:tcPr marL="45720" marR="45720" marT="45720" marB="45720" anchor="ctr">
                    <a:lnL>
                      <a:noFill/>
                    </a:lnL>
                    <a:lnR>
                      <a:noFill/>
                    </a:lnR>
                    <a:lnT>
                      <a:noFill/>
                    </a:lnT>
                    <a:lnB w="12700" cap="flat" cmpd="sng" algn="ctr">
                      <a:solidFill>
                        <a:srgbClr val="000000"/>
                      </a:solidFill>
                      <a:prstDash val="solid"/>
                    </a:lnB>
                    <a:noFill/>
                  </a:tcPr>
                </a:tc>
              </a:tr>
            </a:tbl>
          </a:graphicData>
        </a:graphic>
      </p:graphicFrame>
      <p:sp>
        <p:nvSpPr>
          <p:cNvPr id="49" name="SMERail"/>
          <p:cNvSpPr txBox="1"/>
          <p:nvPr/>
        </p:nvSpPr>
        <p:spPr>
          <a:xfrm>
            <a:off x="8930441" y="1561778"/>
            <a:ext cx="2805000" cy="4308222"/>
          </a:xfrm>
          <a:prstGeom prst="rect">
            <a:avLst/>
          </a:prstGeom>
          <a:noFill/>
          <a:ln>
            <a:noFill/>
          </a:ln>
        </p:spPr>
        <p:txBody>
          <a:bodyPr wrap="square" anchor="t" lIns="100000" tIns="60000" rIns="70000" bIns="40000"/>
          <a:lstStyle/>
          <a:p>
            <a:pPr>
              <a:lnSpc>
                <a:spcPct val="115000"/>
              </a:lnSpc>
              <a:spcAft>
                <a:spcPts val="50"/>
              </a:spcAft>
              <a:buNone/>
            </a:pPr>
            <a:r>
              <a:rPr lang="en-US" sz="900" b="1" dirty="0">
                <a:solidFill>
                  <a:srgbClr val="000000"/>
                </a:solidFill>
                <a:latin typeface="Arial"/>
                <a:ea typeface="Arial"/>
                <a:cs typeface="Arial"/>
              </a:rPr>
              <a:t>1. Overall reasonableness</a:t>
            </a:r>
          </a:p>
          <a:p>
            <a:pPr marL="247650" indent="-152400">
              <a:lnSpc>
                <a:spcPct val="115000"/>
              </a:lnSpc>
              <a:spcAft>
                <a:spcPts val="40"/>
              </a:spcAft>
              <a:buFont typeface="Arial" panose="020B0604020202020204" pitchFamily="34" charset="0"/>
              <a:buChar char="•"/>
            </a:pPr>
            <a:r>
              <a:rPr lang="en-US" sz="850" dirty="0">
                <a:solidFill>
                  <a:srgbClr val="000000"/>
                </a:solidFill>
                <a:latin typeface="Arial"/>
                <a:ea typeface="Arial"/>
                <a:cs typeface="Arial"/>
              </a:rPr>
              <a:t>Does concentration-first feel like the right organizing logic?</a:t>
            </a:r>
          </a:p>
          <a:p>
            <a:pPr marL="247650" indent="-152400">
              <a:lnSpc>
                <a:spcPct val="115000"/>
              </a:lnSpc>
              <a:spcAft>
                <a:spcPts val="130"/>
              </a:spcAft>
              <a:buFont typeface="Arial" panose="020B0604020202020204" pitchFamily="34" charset="0"/>
              <a:buChar char="•"/>
            </a:pPr>
            <a:r>
              <a:rPr lang="en-US" sz="850" dirty="0">
                <a:solidFill>
                  <a:srgbClr val="000000"/>
                </a:solidFill>
                <a:latin typeface="Arial"/>
                <a:ea typeface="Arial"/>
                <a:cs typeface="Arial"/>
              </a:rPr>
              <a:t>Is this the best way to frame the opportunity?</a:t>
            </a:r>
          </a:p>
          <a:p>
            <a:pPr>
              <a:lnSpc>
                <a:spcPct val="115000"/>
              </a:lnSpc>
              <a:spcAft>
                <a:spcPts val="50"/>
              </a:spcAft>
              <a:buNone/>
            </a:pPr>
            <a:r>
              <a:rPr lang="en-US" sz="900" b="1" dirty="0">
                <a:solidFill>
                  <a:srgbClr val="000000"/>
                </a:solidFill>
                <a:latin typeface="Arial"/>
                <a:ea typeface="Arial"/>
                <a:cs typeface="Arial"/>
              </a:rPr>
              <a:t>2. Concentrated track</a:t>
            </a:r>
          </a:p>
          <a:p>
            <a:pPr marL="247650" indent="-152400">
              <a:lnSpc>
                <a:spcPct val="115000"/>
              </a:lnSpc>
              <a:spcAft>
                <a:spcPts val="130"/>
              </a:spcAft>
              <a:buFont typeface="Arial" panose="020B0604020202020204" pitchFamily="34" charset="0"/>
              <a:buChar char="•"/>
            </a:pPr>
            <a:r>
              <a:rPr lang="en-US" sz="850" dirty="0">
                <a:solidFill>
                  <a:srgbClr val="000000"/>
                </a:solidFill>
                <a:latin typeface="Arial"/>
                <a:ea typeface="Arial"/>
                <a:cs typeface="Arial"/>
              </a:rPr>
              <a:t>Does high reported share mean lock-up, or normal specialization?</a:t>
            </a:r>
          </a:p>
          <a:p>
            <a:pPr>
              <a:lnSpc>
                <a:spcPct val="115000"/>
              </a:lnSpc>
              <a:spcAft>
                <a:spcPts val="50"/>
              </a:spcAft>
              <a:buNone/>
            </a:pPr>
            <a:r>
              <a:rPr lang="en-US" sz="900" b="1" dirty="0">
                <a:solidFill>
                  <a:srgbClr val="000000"/>
                </a:solidFill>
                <a:latin typeface="Arial"/>
                <a:ea typeface="Arial"/>
                <a:cs typeface="Arial"/>
              </a:rPr>
              <a:t>3. Maintained dominance</a:t>
            </a:r>
          </a:p>
          <a:p>
            <a:pPr marL="247650" indent="-152400">
              <a:lnSpc>
                <a:spcPct val="115000"/>
              </a:lnSpc>
              <a:spcAft>
                <a:spcPts val="130"/>
              </a:spcAft>
              <a:buFont typeface="Arial" panose="020B0604020202020204" pitchFamily="34" charset="0"/>
              <a:buChar char="•"/>
            </a:pPr>
            <a:r>
              <a:rPr lang="en-US" sz="850" dirty="0">
                <a:solidFill>
                  <a:srgbClr val="000000"/>
                </a:solidFill>
                <a:latin typeface="Arial"/>
                <a:ea typeface="Arial"/>
                <a:cs typeface="Arial"/>
              </a:rPr>
              <a:t>A real opening, or just an incumbent map? What moves it to pursue?</a:t>
            </a:r>
          </a:p>
          <a:p>
            <a:pPr>
              <a:lnSpc>
                <a:spcPct val="115000"/>
              </a:lnSpc>
              <a:spcAft>
                <a:spcPts val="50"/>
              </a:spcAft>
              <a:buNone/>
            </a:pPr>
            <a:r>
              <a:rPr lang="en-US" sz="900" b="1" dirty="0">
                <a:solidFill>
                  <a:srgbClr val="000000"/>
                </a:solidFill>
                <a:latin typeface="Arial"/>
                <a:ea typeface="Arial"/>
                <a:cs typeface="Arial"/>
              </a:rPr>
              <a:t>4. Weakening dominance</a:t>
            </a:r>
          </a:p>
          <a:p>
            <a:pPr marL="247650" indent="-152400">
              <a:lnSpc>
                <a:spcPct val="115000"/>
              </a:lnSpc>
              <a:spcAft>
                <a:spcPts val="130"/>
              </a:spcAft>
              <a:buFont typeface="Arial" panose="020B0604020202020204" pitchFamily="34" charset="0"/>
              <a:buChar char="•"/>
            </a:pPr>
            <a:r>
              <a:rPr lang="en-US" sz="850" dirty="0">
                <a:solidFill>
                  <a:srgbClr val="000000"/>
                </a:solidFill>
                <a:latin typeface="Arial"/>
                <a:ea typeface="Arial"/>
                <a:cs typeface="Arial"/>
              </a:rPr>
              <a:t>Declining share: buyer diversification, or program phase and mix?</a:t>
            </a:r>
          </a:p>
          <a:p>
            <a:pPr>
              <a:lnSpc>
                <a:spcPct val="115000"/>
              </a:lnSpc>
              <a:spcAft>
                <a:spcPts val="50"/>
              </a:spcAft>
              <a:buNone/>
            </a:pPr>
            <a:r>
              <a:rPr lang="en-US" sz="900" b="1" dirty="0">
                <a:solidFill>
                  <a:srgbClr val="000000"/>
                </a:solidFill>
                <a:latin typeface="Arial"/>
                <a:ea typeface="Arial"/>
                <a:cs typeface="Arial"/>
              </a:rPr>
              <a:t>5. Diversification proof</a:t>
            </a:r>
          </a:p>
          <a:p>
            <a:pPr marL="247650" indent="-152400">
              <a:lnSpc>
                <a:spcPct val="115000"/>
              </a:lnSpc>
              <a:spcAft>
                <a:spcPts val="130"/>
              </a:spcAft>
              <a:buFont typeface="Arial" panose="020B0604020202020204" pitchFamily="34" charset="0"/>
              <a:buChar char="•"/>
            </a:pPr>
            <a:r>
              <a:rPr lang="en-US" sz="850" dirty="0">
                <a:solidFill>
                  <a:srgbClr val="000000"/>
                </a:solidFill>
                <a:latin typeface="Arial"/>
                <a:ea typeface="Arial"/>
                <a:cs typeface="Arial"/>
              </a:rPr>
              <a:t>A true split, or a rename or FSRS artifact? Does incumbent-active prove it?</a:t>
            </a:r>
          </a:p>
          <a:p>
            <a:pPr>
              <a:lnSpc>
                <a:spcPct val="115000"/>
              </a:lnSpc>
              <a:spcAft>
                <a:spcPts val="50"/>
              </a:spcAft>
              <a:buNone/>
            </a:pPr>
            <a:r>
              <a:rPr lang="en-US" sz="900" b="1" dirty="0">
                <a:solidFill>
                  <a:srgbClr val="000000"/>
                </a:solidFill>
                <a:latin typeface="Arial"/>
                <a:ea typeface="Arial"/>
                <a:cs typeface="Arial"/>
              </a:rPr>
              <a:t>6. Diverse track</a:t>
            </a:r>
          </a:p>
          <a:p>
            <a:pPr marL="247650" indent="-152400">
              <a:lnSpc>
                <a:spcPct val="115000"/>
              </a:lnSpc>
              <a:spcAft>
                <a:spcPts val="130"/>
              </a:spcAft>
              <a:buFont typeface="Arial" panose="020B0604020202020204" pitchFamily="34" charset="0"/>
              <a:buChar char="•"/>
            </a:pPr>
            <a:r>
              <a:rPr lang="en-US" sz="850" dirty="0">
                <a:solidFill>
                  <a:srgbClr val="000000"/>
                </a:solidFill>
                <a:latin typeface="Arial"/>
                <a:ea typeface="Arial"/>
                <a:cs typeface="Arial"/>
              </a:rPr>
              <a:t>Substitutable competition, or work split by component or yard?</a:t>
            </a:r>
          </a:p>
          <a:p>
            <a:pPr>
              <a:lnSpc>
                <a:spcPct val="115000"/>
              </a:lnSpc>
              <a:spcAft>
                <a:spcPts val="50"/>
              </a:spcAft>
              <a:buNone/>
            </a:pPr>
            <a:r>
              <a:rPr lang="en-US" sz="900" b="1" dirty="0">
                <a:solidFill>
                  <a:srgbClr val="000000"/>
                </a:solidFill>
                <a:latin typeface="Arial"/>
                <a:ea typeface="Arial"/>
                <a:cs typeface="Arial"/>
              </a:rPr>
              <a:t>7. Periodic cadence</a:t>
            </a:r>
          </a:p>
          <a:p>
            <a:pPr marL="247650" indent="-152400">
              <a:lnSpc>
                <a:spcPct val="115000"/>
              </a:lnSpc>
              <a:spcAft>
                <a:spcPts val="130"/>
              </a:spcAft>
              <a:buFont typeface="Arial" panose="020B0604020202020204" pitchFamily="34" charset="0"/>
              <a:buChar char="•"/>
            </a:pPr>
            <a:r>
              <a:rPr lang="en-US" sz="850" dirty="0">
                <a:solidFill>
                  <a:srgbClr val="000000"/>
                </a:solidFill>
                <a:latin typeface="Arial"/>
                <a:ea typeface="Arial"/>
                <a:cs typeface="Arial"/>
              </a:rPr>
              <a:t>Real sourcing waves, and is the forecast window useful for planning?</a:t>
            </a:r>
          </a:p>
          <a:p>
            <a:pPr>
              <a:lnSpc>
                <a:spcPct val="115000"/>
              </a:lnSpc>
              <a:spcAft>
                <a:spcPts val="50"/>
              </a:spcAft>
              <a:buNone/>
            </a:pPr>
            <a:r>
              <a:rPr lang="en-US" sz="900" b="1" dirty="0">
                <a:solidFill>
                  <a:srgbClr val="000000"/>
                </a:solidFill>
                <a:latin typeface="Arial"/>
                <a:ea typeface="Arial"/>
                <a:cs typeface="Arial"/>
              </a:rPr>
              <a:t>8. Continuous sourcing</a:t>
            </a:r>
          </a:p>
          <a:p>
            <a:pPr marL="247650" indent="-152400">
              <a:lnSpc>
                <a:spcPct val="115000"/>
              </a:lnSpc>
              <a:buFont typeface="Arial" panose="020B0604020202020204" pitchFamily="34" charset="0"/>
              <a:buChar char="•"/>
            </a:pPr>
            <a:r>
              <a:rPr lang="en-US" sz="850" dirty="0">
                <a:solidFill>
                  <a:srgbClr val="000000"/>
                </a:solidFill>
                <a:latin typeface="Arial"/>
                <a:ea typeface="Arial"/>
                <a:cs typeface="Arial"/>
              </a:rPr>
              <a:t>Always-on lanes easier to enter, or harder with embedded incumbents?</a:t>
            </a:r>
          </a:p>
        </p:txBody>
      </p:sp>
      <p:sp>
        <p:nvSpPr>
          <p:cNvPr id="50" name="Legend"/>
          <p:cNvSpPr txBox="1"/>
          <p:nvPr/>
        </p:nvSpPr>
        <p:spPr>
          <a:xfrm>
            <a:off x="453079" y="5745000"/>
            <a:ext cx="11282362" cy="200000"/>
          </a:xfrm>
          <a:prstGeom prst="rect">
            <a:avLst/>
          </a:prstGeom>
          <a:noFill/>
          <a:ln>
            <a:noFill/>
          </a:ln>
        </p:spPr>
        <p:txBody>
          <a:bodyPr wrap="square" anchor="t" lIns="0" tIns="0" rIns="0" bIns="0"/>
          <a:lstStyle/>
          <a:p>
            <a:pPr algn="l">
              <a:lnSpc>
                <a:spcPct val="115000"/>
              </a:lnSpc>
              <a:buNone/>
            </a:pPr>
            <a:r>
              <a:rPr lang="en-US" sz="850" b="0" i="1" dirty="0">
                <a:solidFill>
                  <a:srgbClr val="000000"/>
                </a:solidFill>
                <a:latin typeface="Arial"/>
                <a:ea typeface="Arial"/>
                <a:cs typeface="Arial"/>
              </a:rPr>
              <a:t>Blue: lane, stages, and tracks. Gray: entry and terminal reads.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SAM Methodology</a:t>
            </a:r>
            <a:r>
              <a:rPr lang="en-US" sz="1000" kern="1200" dirty="0">
                <a:solidFill>
                  <a:srgbClr val="44505C"/>
                </a:solidFill>
                <a:latin typeface="Arial"/>
                <a:ea typeface="Arial"/>
                <a:cs typeface="Arial"/>
              </a:rPr>
              <a:t> / Outsourcing Ceiling</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Outsourcing Ceiling | Discussion questions test whether the ceiling logic reflects shipbuilding reality.</a:t>
            </a:r>
          </a:p>
        </p:txBody>
      </p:sp>
      <p:graphicFrame>
        <p:nvGraphicFramePr>
          <p:cNvPr id="10" name="sam_methodology_outsourcing_ceiling_questions"/>
          <p:cNvGraphicFramePr>
            <a:graphicFrameLocks noGrp="1"/>
          </p:cNvGraphicFramePr>
          <p:nvPr/>
        </p:nvGraphicFramePr>
        <p:xfrm>
          <a:off x="453079" y="1822480"/>
          <a:ext cx="11282362" cy="3596640"/>
        </p:xfrm>
        <a:graphic>
          <a:graphicData uri="http://schemas.openxmlformats.org/drawingml/2006/table">
            <a:tbl>
              <a:tblPr firstRow="1" firstCol="1" bandRow="0">
                <a:tableStyleId>{2D5ABB26-0587-4C30-8999-92F81FD0307C}</a:tableStyleId>
              </a:tblPr>
              <a:tblGrid>
                <a:gridCol w="2080000"/>
                <a:gridCol w="6660000"/>
                <a:gridCol w="2542362"/>
              </a:tblGrid>
              <a:tr h="274320">
                <a:tc>
                  <a:txBody>
                    <a:bodyPr anchor="t"/>
                    <a:lstStyle/>
                    <a:p>
                      <a:pPr algn="l">
                        <a:lnSpc>
                          <a:spcPct val="115000"/>
                        </a:lnSpc>
                      </a:pPr>
                      <a:r>
                        <a:rPr lang="en-US" sz="1000" b="1" dirty="0">
                          <a:solidFill>
                            <a:srgbClr val="000000"/>
                          </a:solidFill>
                          <a:latin typeface="Arial"/>
                          <a:ea typeface="Arial"/>
                          <a:cs typeface="Arial"/>
                        </a:rPr>
                        <a:t>Question area</a:t>
                      </a:r>
                    </a:p>
                  </a:txBody>
                  <a:tcPr marL="45720" marR="45720" marT="45720" marB="45720" anchor="t">
                    <a:lnL>
                      <a:noFill/>
                    </a:lnL>
                    <a:lnR>
                      <a:noFill/>
                    </a:lnR>
                    <a:lnT>
                      <a:noFill/>
                    </a:lnT>
                    <a:lnB w="19050" cap="flat" cmpd="sng" algn="ctr">
                      <a:solidFill>
                        <a:srgbClr val="000000"/>
                      </a:solidFill>
                      <a:prstDash val="solid"/>
                    </a:lnB>
                    <a:noFill/>
                  </a:tcPr>
                </a:tc>
                <a:tc>
                  <a:txBody>
                    <a:bodyPr anchor="t"/>
                    <a:lstStyle/>
                    <a:p>
                      <a:pPr algn="l">
                        <a:lnSpc>
                          <a:spcPct val="115000"/>
                        </a:lnSpc>
                      </a:pPr>
                      <a:r>
                        <a:rPr lang="en-US" sz="1000" b="1" dirty="0">
                          <a:solidFill>
                            <a:srgbClr val="000000"/>
                          </a:solidFill>
                          <a:latin typeface="Arial"/>
                          <a:ea typeface="Arial"/>
                          <a:cs typeface="Arial"/>
                        </a:rPr>
                        <a:t>Question to discuss</a:t>
                      </a:r>
                    </a:p>
                  </a:txBody>
                  <a:tcPr marL="45720" marR="45720" marT="45720" marB="45720" anchor="t">
                    <a:lnL>
                      <a:noFill/>
                    </a:lnL>
                    <a:lnR>
                      <a:noFill/>
                    </a:lnR>
                    <a:lnT>
                      <a:noFill/>
                    </a:lnT>
                    <a:lnB w="19050" cap="flat" cmpd="sng" algn="ctr">
                      <a:solidFill>
                        <a:srgbClr val="000000"/>
                      </a:solidFill>
                      <a:prstDash val="solid"/>
                    </a:lnB>
                    <a:noFill/>
                  </a:tcPr>
                </a:tc>
                <a:tc>
                  <a:txBody>
                    <a:bodyPr anchor="t"/>
                    <a:lstStyle/>
                    <a:p>
                      <a:pPr algn="l">
                        <a:lnSpc>
                          <a:spcPct val="115000"/>
                        </a:lnSpc>
                      </a:pPr>
                      <a:r>
                        <a:rPr lang="en-US" sz="1000" b="1" dirty="0">
                          <a:solidFill>
                            <a:srgbClr val="000000"/>
                          </a:solidFill>
                          <a:latin typeface="Arial"/>
                          <a:ea typeface="Arial"/>
                          <a:cs typeface="Arial"/>
                        </a:rPr>
                        <a:t>Model implication</a:t>
                      </a:r>
                    </a:p>
                  </a:txBody>
                  <a:tcPr marL="45720" marR="45720" marT="45720" marB="45720" anchor="t">
                    <a:lnL>
                      <a:noFill/>
                    </a:lnL>
                    <a:lnR>
                      <a:noFill/>
                    </a:lnR>
                    <a:lnT>
                      <a:noFill/>
                    </a:lnT>
                    <a:lnB w="19050" cap="flat" cmpd="sng" algn="ctr">
                      <a:solidFill>
                        <a:srgbClr val="000000"/>
                      </a:solidFill>
                      <a:prstDash val="solid"/>
                    </a:lnB>
                    <a:noFill/>
                  </a:tcPr>
                </a:tc>
              </a:tr>
              <a:tr h="548640">
                <a:tc>
                  <a:txBody>
                    <a:bodyPr anchor="t"/>
                    <a:lstStyle/>
                    <a:p>
                      <a:pPr algn="l">
                        <a:lnSpc>
                          <a:spcPct val="115000"/>
                        </a:lnSpc>
                      </a:pPr>
                      <a:r>
                        <a:rPr lang="en-US" sz="1000" b="1" dirty="0">
                          <a:solidFill>
                            <a:srgbClr val="000000"/>
                          </a:solidFill>
                          <a:latin typeface="Arial"/>
                          <a:ea typeface="Arial"/>
                          <a:cs typeface="Arial"/>
                        </a:rPr>
                        <a:t>Overall frame</a:t>
                      </a:r>
                    </a:p>
                  </a:txBody>
                  <a:tcPr marL="45720" marR="45720" marT="45720" marB="45720" anchor="t">
                    <a:lnL>
                      <a:noFill/>
                    </a:lnL>
                    <a:lnR>
                      <a:noFill/>
                    </a:lnR>
                    <a:lnT>
                      <a:noFill/>
                    </a:lnT>
                    <a:lnB w="12700" cap="flat" cmpd="sng" algn="ctr">
                      <a:solidFill>
                        <a:srgbClr val="000000"/>
                      </a:solidFill>
                      <a:prstDash val="solid"/>
                    </a:lnB>
                    <a:noFill/>
                  </a:tcPr>
                </a:tc>
                <a:tc>
                  <a:txBody>
                    <a:bodyPr anchor="t"/>
                    <a:lstStyle/>
                    <a:p>
                      <a:pPr algn="l">
                        <a:lnSpc>
                          <a:spcPct val="115000"/>
                        </a:lnSpc>
                      </a:pPr>
                      <a:r>
                        <a:rPr lang="en-US" sz="1000" b="0" dirty="0">
                          <a:solidFill>
                            <a:srgbClr val="000000"/>
                          </a:solidFill>
                          <a:latin typeface="Arial"/>
                          <a:ea typeface="Arial"/>
                          <a:cs typeface="Arial"/>
                        </a:rPr>
                        <a:t>Is an upper-bound ceiling a fair way to frame the question, separate from current outsourcing?</a:t>
                      </a:r>
                    </a:p>
                  </a:txBody>
                  <a:tcPr marL="45720" marR="45720" marT="45720" marB="45720" anchor="t">
                    <a:lnL>
                      <a:noFill/>
                    </a:lnL>
                    <a:lnR>
                      <a:noFill/>
                    </a:lnR>
                    <a:lnT>
                      <a:noFill/>
                    </a:lnT>
                    <a:lnB w="12700" cap="flat" cmpd="sng" algn="ctr">
                      <a:solidFill>
                        <a:srgbClr val="000000"/>
                      </a:solidFill>
                      <a:prstDash val="solid"/>
                    </a:lnB>
                    <a:noFill/>
                  </a:tcPr>
                </a:tc>
                <a:tc>
                  <a:txBody>
                    <a:bodyPr anchor="t"/>
                    <a:lstStyle/>
                    <a:p>
                      <a:pPr algn="l">
                        <a:lnSpc>
                          <a:spcPct val="115000"/>
                        </a:lnSpc>
                      </a:pPr>
                      <a:r>
                        <a:rPr lang="en-US" sz="1000" b="0" dirty="0">
                          <a:solidFill>
                            <a:srgbClr val="000000"/>
                          </a:solidFill>
                          <a:latin typeface="Arial"/>
                          <a:ea typeface="Arial"/>
                          <a:cs typeface="Arial"/>
                        </a:rPr>
                        <a:t>Confirms the output is an upside boundary, not a current-state estimate.</a:t>
                      </a:r>
                    </a:p>
                  </a:txBody>
                  <a:tcPr marL="45720" marR="45720" marT="45720" marB="45720" anchor="t">
                    <a:lnL>
                      <a:noFill/>
                    </a:lnL>
                    <a:lnR>
                      <a:noFill/>
                    </a:lnR>
                    <a:lnT>
                      <a:noFill/>
                    </a:lnT>
                    <a:lnB w="12700" cap="flat" cmpd="sng" algn="ctr">
                      <a:solidFill>
                        <a:srgbClr val="000000"/>
                      </a:solidFill>
                      <a:prstDash val="solid"/>
                    </a:lnB>
                    <a:noFill/>
                  </a:tcPr>
                </a:tc>
              </a:tr>
              <a:tr h="396240">
                <a:tc>
                  <a:txBody>
                    <a:bodyPr anchor="t"/>
                    <a:lstStyle/>
                    <a:p>
                      <a:pPr algn="l">
                        <a:lnSpc>
                          <a:spcPct val="115000"/>
                        </a:lnSpc>
                      </a:pPr>
                      <a:r>
                        <a:rPr lang="en-US" sz="1000" b="1" dirty="0">
                          <a:solidFill>
                            <a:srgbClr val="000000"/>
                          </a:solidFill>
                          <a:latin typeface="Arial"/>
                          <a:ea typeface="Arial"/>
                          <a:cs typeface="Arial"/>
                        </a:rPr>
                        <a:t>Addressable base</a:t>
                      </a:r>
                    </a:p>
                  </a:txBody>
                  <a:tcPr marL="45720" marR="45720" marT="45720" marB="45720" anchor="t">
                    <a:lnL>
                      <a:noFill/>
                    </a:lnL>
                    <a:lnR>
                      <a:noFill/>
                    </a:lnR>
                    <a:lnT>
                      <a:noFill/>
                    </a:lnT>
                    <a:lnB w="12700" cap="flat" cmpd="sng" algn="ctr">
                      <a:solidFill>
                        <a:srgbClr val="000000"/>
                      </a:solidFill>
                      <a:prstDash val="solid"/>
                    </a:lnB>
                    <a:noFill/>
                  </a:tcPr>
                </a:tc>
                <a:tc>
                  <a:txBody>
                    <a:bodyPr anchor="t"/>
                    <a:lstStyle/>
                    <a:p>
                      <a:pPr algn="l">
                        <a:lnSpc>
                          <a:spcPct val="115000"/>
                        </a:lnSpc>
                      </a:pPr>
                      <a:r>
                        <a:rPr lang="en-US" sz="1000" b="0" dirty="0">
                          <a:solidFill>
                            <a:srgbClr val="000000"/>
                          </a:solidFill>
                          <a:latin typeface="Arial"/>
                          <a:ea typeface="Arial"/>
                          <a:cs typeface="Arial"/>
                        </a:rPr>
                        <a:t>Does Basic Construction capture the controllable build work, or does it exclude important supplier opportunities?</a:t>
                      </a:r>
                    </a:p>
                  </a:txBody>
                  <a:tcPr marL="45720" marR="45720" marT="45720" marB="45720" anchor="t">
                    <a:lnL>
                      <a:noFill/>
                    </a:lnL>
                    <a:lnR>
                      <a:noFill/>
                    </a:lnR>
                    <a:lnT>
                      <a:noFill/>
                    </a:lnT>
                    <a:lnB w="12700" cap="flat" cmpd="sng" algn="ctr">
                      <a:solidFill>
                        <a:srgbClr val="000000"/>
                      </a:solidFill>
                      <a:prstDash val="solid"/>
                    </a:lnB>
                    <a:noFill/>
                  </a:tcPr>
                </a:tc>
                <a:tc>
                  <a:txBody>
                    <a:bodyPr anchor="t"/>
                    <a:lstStyle/>
                    <a:p>
                      <a:pPr algn="l">
                        <a:lnSpc>
                          <a:spcPct val="115000"/>
                        </a:lnSpc>
                      </a:pPr>
                      <a:r>
                        <a:rPr lang="en-US" sz="1000" b="0" dirty="0">
                          <a:solidFill>
                            <a:srgbClr val="000000"/>
                          </a:solidFill>
                          <a:latin typeface="Arial"/>
                          <a:ea typeface="Arial"/>
                          <a:cs typeface="Arial"/>
                        </a:rPr>
                        <a:t>Validates the denominator before comparing classes or sizing headroom.</a:t>
                      </a:r>
                    </a:p>
                  </a:txBody>
                  <a:tcPr marL="45720" marR="45720" marT="45720" marB="45720" anchor="t">
                    <a:lnL>
                      <a:noFill/>
                    </a:lnL>
                    <a:lnR>
                      <a:noFill/>
                    </a:lnR>
                    <a:lnT>
                      <a:noFill/>
                    </a:lnT>
                    <a:lnB w="12700" cap="flat" cmpd="sng" algn="ctr">
                      <a:solidFill>
                        <a:srgbClr val="000000"/>
                      </a:solidFill>
                      <a:prstDash val="solid"/>
                    </a:lnB>
                    <a:noFill/>
                  </a:tcPr>
                </a:tc>
              </a:tr>
              <a:tr h="396240">
                <a:tc>
                  <a:txBody>
                    <a:bodyPr anchor="t"/>
                    <a:lstStyle/>
                    <a:p>
                      <a:pPr algn="l">
                        <a:lnSpc>
                          <a:spcPct val="115000"/>
                        </a:lnSpc>
                      </a:pPr>
                      <a:r>
                        <a:rPr lang="en-US" sz="1000" b="1" dirty="0">
                          <a:solidFill>
                            <a:srgbClr val="000000"/>
                          </a:solidFill>
                          <a:latin typeface="Arial"/>
                          <a:ea typeface="Arial"/>
                          <a:cs typeface="Arial"/>
                        </a:rPr>
                        <a:t>Current baseline</a:t>
                      </a:r>
                    </a:p>
                  </a:txBody>
                  <a:tcPr marL="45720" marR="45720" marT="45720" marB="45720" anchor="t">
                    <a:lnL>
                      <a:noFill/>
                    </a:lnL>
                    <a:lnR>
                      <a:noFill/>
                    </a:lnR>
                    <a:lnT>
                      <a:noFill/>
                    </a:lnT>
                    <a:lnB w="12700" cap="flat" cmpd="sng" algn="ctr">
                      <a:solidFill>
                        <a:srgbClr val="000000"/>
                      </a:solidFill>
                      <a:prstDash val="solid"/>
                    </a:lnB>
                    <a:noFill/>
                  </a:tcPr>
                </a:tc>
                <a:tc>
                  <a:txBody>
                    <a:bodyPr anchor="t"/>
                    <a:lstStyle/>
                    <a:p>
                      <a:pPr algn="l">
                        <a:lnSpc>
                          <a:spcPct val="115000"/>
                        </a:lnSpc>
                      </a:pPr>
                      <a:r>
                        <a:rPr lang="en-US" sz="1000" b="0" dirty="0">
                          <a:solidFill>
                            <a:srgbClr val="000000"/>
                          </a:solidFill>
                          <a:latin typeface="Arial"/>
                          <a:ea typeface="Arial"/>
                          <a:cs typeface="Arial"/>
                        </a:rPr>
                        <a:t>How reliable is place-of-performance as a floor for work already distributed away from the prime yard?</a:t>
                      </a:r>
                    </a:p>
                  </a:txBody>
                  <a:tcPr marL="45720" marR="45720" marT="45720" marB="45720" anchor="t">
                    <a:lnL>
                      <a:noFill/>
                    </a:lnL>
                    <a:lnR>
                      <a:noFill/>
                    </a:lnR>
                    <a:lnT>
                      <a:noFill/>
                    </a:lnT>
                    <a:lnB w="12700" cap="flat" cmpd="sng" algn="ctr">
                      <a:solidFill>
                        <a:srgbClr val="000000"/>
                      </a:solidFill>
                      <a:prstDash val="solid"/>
                    </a:lnB>
                    <a:noFill/>
                  </a:tcPr>
                </a:tc>
                <a:tc>
                  <a:txBody>
                    <a:bodyPr anchor="t"/>
                    <a:lstStyle/>
                    <a:p>
                      <a:pPr algn="l">
                        <a:lnSpc>
                          <a:spcPct val="115000"/>
                        </a:lnSpc>
                      </a:pPr>
                      <a:r>
                        <a:rPr lang="en-US" sz="1000" b="0" dirty="0">
                          <a:solidFill>
                            <a:srgbClr val="000000"/>
                          </a:solidFill>
                          <a:latin typeface="Arial"/>
                          <a:ea typeface="Arial"/>
                          <a:cs typeface="Arial"/>
                        </a:rPr>
                        <a:t>Calibrates the starting point for the headroom comparison.</a:t>
                      </a:r>
                    </a:p>
                  </a:txBody>
                  <a:tcPr marL="45720" marR="45720" marT="45720" marB="45720" anchor="t">
                    <a:lnL>
                      <a:noFill/>
                    </a:lnL>
                    <a:lnR>
                      <a:noFill/>
                    </a:lnR>
                    <a:lnT>
                      <a:noFill/>
                    </a:lnT>
                    <a:lnB w="12700" cap="flat" cmpd="sng" algn="ctr">
                      <a:solidFill>
                        <a:srgbClr val="000000"/>
                      </a:solidFill>
                      <a:prstDash val="solid"/>
                    </a:lnB>
                    <a:noFill/>
                  </a:tcPr>
                </a:tc>
              </a:tr>
              <a:tr h="396240">
                <a:tc>
                  <a:txBody>
                    <a:bodyPr anchor="t"/>
                    <a:lstStyle/>
                    <a:p>
                      <a:pPr algn="l">
                        <a:lnSpc>
                          <a:spcPct val="115000"/>
                        </a:lnSpc>
                      </a:pPr>
                      <a:r>
                        <a:rPr lang="en-US" sz="1000" b="1" dirty="0">
                          <a:solidFill>
                            <a:srgbClr val="000000"/>
                          </a:solidFill>
                          <a:latin typeface="Arial"/>
                          <a:ea typeface="Arial"/>
                          <a:cs typeface="Arial"/>
                        </a:rPr>
                        <a:t>Yard-bound core</a:t>
                      </a:r>
                    </a:p>
                  </a:txBody>
                  <a:tcPr marL="45720" marR="45720" marT="45720" marB="45720" anchor="t">
                    <a:lnL>
                      <a:noFill/>
                    </a:lnL>
                    <a:lnR>
                      <a:noFill/>
                    </a:lnR>
                    <a:lnT>
                      <a:noFill/>
                    </a:lnT>
                    <a:lnB w="12700" cap="flat" cmpd="sng" algn="ctr">
                      <a:solidFill>
                        <a:srgbClr val="000000"/>
                      </a:solidFill>
                      <a:prstDash val="solid"/>
                    </a:lnB>
                    <a:noFill/>
                  </a:tcPr>
                </a:tc>
                <a:tc>
                  <a:txBody>
                    <a:bodyPr anchor="t"/>
                    <a:lstStyle/>
                    <a:p>
                      <a:pPr algn="l">
                        <a:lnSpc>
                          <a:spcPct val="115000"/>
                        </a:lnSpc>
                      </a:pPr>
                      <a:r>
                        <a:rPr lang="en-US" sz="1000" b="0" dirty="0">
                          <a:solidFill>
                            <a:srgbClr val="000000"/>
                          </a:solidFill>
                          <a:latin typeface="Arial"/>
                          <a:ea typeface="Arial"/>
                          <a:cs typeface="Arial"/>
                        </a:rPr>
                        <a:t>What work truly cannot leave the yard because of integration, nuclear controls, alignment, test, certification, or yard know-how?</a:t>
                      </a:r>
                    </a:p>
                  </a:txBody>
                  <a:tcPr marL="45720" marR="45720" marT="45720" marB="45720" anchor="t">
                    <a:lnL>
                      <a:noFill/>
                    </a:lnL>
                    <a:lnR>
                      <a:noFill/>
                    </a:lnR>
                    <a:lnT>
                      <a:noFill/>
                    </a:lnT>
                    <a:lnB w="12700" cap="flat" cmpd="sng" algn="ctr">
                      <a:solidFill>
                        <a:srgbClr val="000000"/>
                      </a:solidFill>
                      <a:prstDash val="solid"/>
                    </a:lnB>
                    <a:noFill/>
                  </a:tcPr>
                </a:tc>
                <a:tc>
                  <a:txBody>
                    <a:bodyPr anchor="t"/>
                    <a:lstStyle/>
                    <a:p>
                      <a:pPr algn="l">
                        <a:lnSpc>
                          <a:spcPct val="115000"/>
                        </a:lnSpc>
                      </a:pPr>
                      <a:r>
                        <a:rPr lang="en-US" sz="1000" b="0" dirty="0">
                          <a:solidFill>
                            <a:srgbClr val="000000"/>
                          </a:solidFill>
                          <a:latin typeface="Arial"/>
                          <a:ea typeface="Arial"/>
                          <a:cs typeface="Arial"/>
                        </a:rPr>
                        <a:t>Sets the irreducible core that limits the ceiling.</a:t>
                      </a:r>
                    </a:p>
                  </a:txBody>
                  <a:tcPr marL="45720" marR="45720" marT="45720" marB="45720" anchor="t">
                    <a:lnL>
                      <a:noFill/>
                    </a:lnL>
                    <a:lnR>
                      <a:noFill/>
                    </a:lnR>
                    <a:lnT>
                      <a:noFill/>
                    </a:lnT>
                    <a:lnB w="12700" cap="flat" cmpd="sng" algn="ctr">
                      <a:solidFill>
                        <a:srgbClr val="000000"/>
                      </a:solidFill>
                      <a:prstDash val="solid"/>
                    </a:lnB>
                    <a:noFill/>
                  </a:tcPr>
                </a:tc>
              </a:tr>
              <a:tr h="396240">
                <a:tc>
                  <a:txBody>
                    <a:bodyPr anchor="t"/>
                    <a:lstStyle/>
                    <a:p>
                      <a:pPr algn="l">
                        <a:lnSpc>
                          <a:spcPct val="115000"/>
                        </a:lnSpc>
                      </a:pPr>
                      <a:r>
                        <a:rPr lang="en-US" sz="1000" b="1" dirty="0">
                          <a:solidFill>
                            <a:srgbClr val="000000"/>
                          </a:solidFill>
                          <a:latin typeface="Arial"/>
                          <a:ea typeface="Arial"/>
                          <a:cs typeface="Arial"/>
                        </a:rPr>
                        <a:t>Movable work</a:t>
                      </a:r>
                    </a:p>
                  </a:txBody>
                  <a:tcPr marL="45720" marR="45720" marT="45720" marB="45720" anchor="t">
                    <a:lnL>
                      <a:noFill/>
                    </a:lnL>
                    <a:lnR>
                      <a:noFill/>
                    </a:lnR>
                    <a:lnT>
                      <a:noFill/>
                    </a:lnT>
                    <a:lnB w="12700" cap="flat" cmpd="sng" algn="ctr">
                      <a:solidFill>
                        <a:srgbClr val="000000"/>
                      </a:solidFill>
                      <a:prstDash val="solid"/>
                    </a:lnB>
                    <a:noFill/>
                  </a:tcPr>
                </a:tc>
                <a:tc>
                  <a:txBody>
                    <a:bodyPr anchor="t"/>
                    <a:lstStyle/>
                    <a:p>
                      <a:pPr algn="l">
                        <a:lnSpc>
                          <a:spcPct val="115000"/>
                        </a:lnSpc>
                      </a:pPr>
                      <a:r>
                        <a:rPr lang="en-US" sz="1000" b="0" dirty="0">
                          <a:solidFill>
                            <a:srgbClr val="000000"/>
                          </a:solidFill>
                          <a:latin typeface="Arial"/>
                          <a:ea typeface="Arial"/>
                          <a:cs typeface="Arial"/>
                        </a:rPr>
                        <a:t>Which build tasks can practically move outside the yard, and which are only theoretically movable?</a:t>
                      </a:r>
                    </a:p>
                  </a:txBody>
                  <a:tcPr marL="45720" marR="45720" marT="45720" marB="45720" anchor="t">
                    <a:lnL>
                      <a:noFill/>
                    </a:lnL>
                    <a:lnR>
                      <a:noFill/>
                    </a:lnR>
                    <a:lnT>
                      <a:noFill/>
                    </a:lnT>
                    <a:lnB w="12700" cap="flat" cmpd="sng" algn="ctr">
                      <a:solidFill>
                        <a:srgbClr val="000000"/>
                      </a:solidFill>
                      <a:prstDash val="solid"/>
                    </a:lnB>
                    <a:noFill/>
                  </a:tcPr>
                </a:tc>
                <a:tc>
                  <a:txBody>
                    <a:bodyPr anchor="t"/>
                    <a:lstStyle/>
                    <a:p>
                      <a:pPr algn="l">
                        <a:lnSpc>
                          <a:spcPct val="115000"/>
                        </a:lnSpc>
                      </a:pPr>
                      <a:r>
                        <a:rPr lang="en-US" sz="1000" b="0" dirty="0">
                          <a:solidFill>
                            <a:srgbClr val="000000"/>
                          </a:solidFill>
                          <a:latin typeface="Arial"/>
                          <a:ea typeface="Arial"/>
                          <a:cs typeface="Arial"/>
                        </a:rPr>
                        <a:t>Tests whether distributed labor is realistic capacity relief.</a:t>
                      </a:r>
                    </a:p>
                  </a:txBody>
                  <a:tcPr marL="45720" marR="45720" marT="45720" marB="45720" anchor="t">
                    <a:lnL>
                      <a:noFill/>
                    </a:lnL>
                    <a:lnR>
                      <a:noFill/>
                    </a:lnR>
                    <a:lnT>
                      <a:noFill/>
                    </a:lnT>
                    <a:lnB w="12700" cap="flat" cmpd="sng" algn="ctr">
                      <a:solidFill>
                        <a:srgbClr val="000000"/>
                      </a:solidFill>
                      <a:prstDash val="solid"/>
                    </a:lnB>
                    <a:noFill/>
                  </a:tcPr>
                </a:tc>
              </a:tr>
              <a:tr h="396240">
                <a:tc>
                  <a:txBody>
                    <a:bodyPr anchor="t"/>
                    <a:lstStyle/>
                    <a:p>
                      <a:pPr algn="l">
                        <a:lnSpc>
                          <a:spcPct val="115000"/>
                        </a:lnSpc>
                      </a:pPr>
                      <a:r>
                        <a:rPr lang="en-US" sz="1000" b="1" dirty="0">
                          <a:solidFill>
                            <a:srgbClr val="000000"/>
                          </a:solidFill>
                          <a:latin typeface="Arial"/>
                          <a:ea typeface="Arial"/>
                          <a:cs typeface="Arial"/>
                        </a:rPr>
                        <a:t>Package economics</a:t>
                      </a:r>
                    </a:p>
                  </a:txBody>
                  <a:tcPr marL="45720" marR="45720" marT="45720" marB="45720" anchor="t">
                    <a:lnL>
                      <a:noFill/>
                    </a:lnL>
                    <a:lnR>
                      <a:noFill/>
                    </a:lnR>
                    <a:lnT>
                      <a:noFill/>
                    </a:lnT>
                    <a:lnB w="12700" cap="flat" cmpd="sng" algn="ctr">
                      <a:solidFill>
                        <a:srgbClr val="000000"/>
                      </a:solidFill>
                      <a:prstDash val="solid"/>
                    </a:lnB>
                    <a:noFill/>
                  </a:tcPr>
                </a:tc>
                <a:tc>
                  <a:txBody>
                    <a:bodyPr anchor="t"/>
                    <a:lstStyle/>
                    <a:p>
                      <a:pPr algn="l">
                        <a:lnSpc>
                          <a:spcPct val="115000"/>
                        </a:lnSpc>
                      </a:pPr>
                      <a:r>
                        <a:rPr lang="en-US" sz="1000" b="0" dirty="0">
                          <a:solidFill>
                            <a:srgbClr val="000000"/>
                          </a:solidFill>
                          <a:latin typeface="Arial"/>
                          <a:ea typeface="Arial"/>
                          <a:cs typeface="Arial"/>
                        </a:rPr>
                        <a:t>When work moves outside the yard, does material usually move with the package, or mainly labor / fabrication?</a:t>
                      </a:r>
                    </a:p>
                  </a:txBody>
                  <a:tcPr marL="45720" marR="45720" marT="45720" marB="45720" anchor="t">
                    <a:lnL>
                      <a:noFill/>
                    </a:lnL>
                    <a:lnR>
                      <a:noFill/>
                    </a:lnR>
                    <a:lnT>
                      <a:noFill/>
                    </a:lnT>
                    <a:lnB w="12700" cap="flat" cmpd="sng" algn="ctr">
                      <a:solidFill>
                        <a:srgbClr val="000000"/>
                      </a:solidFill>
                      <a:prstDash val="solid"/>
                    </a:lnB>
                    <a:noFill/>
                  </a:tcPr>
                </a:tc>
                <a:tc>
                  <a:txBody>
                    <a:bodyPr anchor="t"/>
                    <a:lstStyle/>
                    <a:p>
                      <a:pPr algn="l">
                        <a:lnSpc>
                          <a:spcPct val="115000"/>
                        </a:lnSpc>
                      </a:pPr>
                      <a:r>
                        <a:rPr lang="en-US" sz="1000" b="0" dirty="0">
                          <a:solidFill>
                            <a:srgbClr val="000000"/>
                          </a:solidFill>
                          <a:latin typeface="Arial"/>
                          <a:ea typeface="Arial"/>
                          <a:cs typeface="Arial"/>
                        </a:rPr>
                        <a:t>Translates movable work into supplier-dollar opportunity.</a:t>
                      </a:r>
                    </a:p>
                  </a:txBody>
                  <a:tcPr marL="45720" marR="45720" marT="45720" marB="45720" anchor="t">
                    <a:lnL>
                      <a:noFill/>
                    </a:lnL>
                    <a:lnR>
                      <a:noFill/>
                    </a:lnR>
                    <a:lnT>
                      <a:noFill/>
                    </a:lnT>
                    <a:lnB w="12700" cap="flat" cmpd="sng" algn="ctr">
                      <a:solidFill>
                        <a:srgbClr val="000000"/>
                      </a:solidFill>
                      <a:prstDash val="solid"/>
                    </a:lnB>
                    <a:noFill/>
                  </a:tcPr>
                </a:tc>
              </a:tr>
              <a:tr h="396240">
                <a:tc>
                  <a:txBody>
                    <a:bodyPr anchor="t"/>
                    <a:lstStyle/>
                    <a:p>
                      <a:pPr algn="l">
                        <a:lnSpc>
                          <a:spcPct val="115000"/>
                        </a:lnSpc>
                      </a:pPr>
                      <a:r>
                        <a:rPr lang="en-US" sz="1000" b="1" dirty="0">
                          <a:solidFill>
                            <a:srgbClr val="000000"/>
                          </a:solidFill>
                          <a:latin typeface="Arial"/>
                          <a:ea typeface="Arial"/>
                          <a:cs typeface="Arial"/>
                        </a:rPr>
                        <a:t>Program differences</a:t>
                      </a:r>
                    </a:p>
                  </a:txBody>
                  <a:tcPr marL="45720" marR="45720" marT="45720" marB="45720" anchor="t">
                    <a:lnL>
                      <a:noFill/>
                    </a:lnL>
                    <a:lnR>
                      <a:noFill/>
                    </a:lnR>
                    <a:lnT>
                      <a:noFill/>
                    </a:lnT>
                    <a:lnB w="12700" cap="flat" cmpd="sng" algn="ctr">
                      <a:solidFill>
                        <a:srgbClr val="000000"/>
                      </a:solidFill>
                      <a:prstDash val="solid"/>
                    </a:lnB>
                    <a:noFill/>
                  </a:tcPr>
                </a:tc>
                <a:tc>
                  <a:txBody>
                    <a:bodyPr anchor="t"/>
                    <a:lstStyle/>
                    <a:p>
                      <a:pPr algn="l">
                        <a:lnSpc>
                          <a:spcPct val="115000"/>
                        </a:lnSpc>
                      </a:pPr>
                      <a:r>
                        <a:rPr lang="en-US" sz="1000" b="0" dirty="0">
                          <a:solidFill>
                            <a:srgbClr val="000000"/>
                          </a:solidFill>
                          <a:latin typeface="Arial"/>
                          <a:ea typeface="Arial"/>
                          <a:cs typeface="Arial"/>
                        </a:rPr>
                        <a:t>Where should Virginia, Columbia, and DDG-51 be treated differently: yard, class, block maturity, GFE mix, or supplier base?</a:t>
                      </a:r>
                    </a:p>
                  </a:txBody>
                  <a:tcPr marL="45720" marR="45720" marT="45720" marB="45720" anchor="t">
                    <a:lnL>
                      <a:noFill/>
                    </a:lnL>
                    <a:lnR>
                      <a:noFill/>
                    </a:lnR>
                    <a:lnT>
                      <a:noFill/>
                    </a:lnT>
                    <a:lnB w="12700" cap="flat" cmpd="sng" algn="ctr">
                      <a:solidFill>
                        <a:srgbClr val="000000"/>
                      </a:solidFill>
                      <a:prstDash val="solid"/>
                    </a:lnB>
                    <a:noFill/>
                  </a:tcPr>
                </a:tc>
                <a:tc>
                  <a:txBody>
                    <a:bodyPr anchor="t"/>
                    <a:lstStyle/>
                    <a:p>
                      <a:pPr algn="l">
                        <a:lnSpc>
                          <a:spcPct val="115000"/>
                        </a:lnSpc>
                      </a:pPr>
                      <a:r>
                        <a:rPr lang="en-US" sz="1000" b="0" dirty="0">
                          <a:solidFill>
                            <a:srgbClr val="000000"/>
                          </a:solidFill>
                          <a:latin typeface="Arial"/>
                          <a:ea typeface="Arial"/>
                          <a:cs typeface="Arial"/>
                        </a:rPr>
                        <a:t>Determines whether one model shape can travel across programs.</a:t>
                      </a:r>
                    </a:p>
                  </a:txBody>
                  <a:tcPr marL="45720" marR="45720" marT="45720" marB="45720" anchor="t">
                    <a:lnL>
                      <a:noFill/>
                    </a:lnL>
                    <a:lnR>
                      <a:noFill/>
                    </a:lnR>
                    <a:lnT>
                      <a:noFill/>
                    </a:lnT>
                    <a:lnB w="12700" cap="flat" cmpd="sng" algn="ctr">
                      <a:solidFill>
                        <a:srgbClr val="000000"/>
                      </a:solidFill>
                      <a:prstDash val="solid"/>
                    </a:lnB>
                    <a:noFill/>
                  </a:tcPr>
                </a:tc>
              </a:tr>
              <a:tr h="396240">
                <a:tc>
                  <a:txBody>
                    <a:bodyPr anchor="t"/>
                    <a:lstStyle/>
                    <a:p>
                      <a:pPr algn="l">
                        <a:lnSpc>
                          <a:spcPct val="115000"/>
                        </a:lnSpc>
                      </a:pPr>
                      <a:r>
                        <a:rPr lang="en-US" sz="1000" b="1" dirty="0">
                          <a:solidFill>
                            <a:srgbClr val="000000"/>
                          </a:solidFill>
                          <a:latin typeface="Arial"/>
                          <a:ea typeface="Arial"/>
                          <a:cs typeface="Arial"/>
                        </a:rPr>
                        <a:t>Constraints + readout</a:t>
                      </a:r>
                    </a:p>
                  </a:txBody>
                  <a:tcPr marL="45720" marR="45720" marT="45720" marB="45720" anchor="t">
                    <a:lnL>
                      <a:noFill/>
                    </a:lnL>
                    <a:lnR>
                      <a:noFill/>
                    </a:lnR>
                    <a:lnT>
                      <a:noFill/>
                    </a:lnT>
                    <a:lnB>
                      <a:noFill/>
                    </a:lnB>
                    <a:noFill/>
                  </a:tcPr>
                </a:tc>
                <a:tc>
                  <a:txBody>
                    <a:bodyPr anchor="t"/>
                    <a:lstStyle/>
                    <a:p>
                      <a:pPr algn="l">
                        <a:lnSpc>
                          <a:spcPct val="115000"/>
                        </a:lnSpc>
                      </a:pPr>
                      <a:r>
                        <a:rPr lang="en-US" sz="1000" b="0" dirty="0">
                          <a:solidFill>
                            <a:srgbClr val="000000"/>
                          </a:solidFill>
                          <a:latin typeface="Arial"/>
                          <a:ea typeface="Arial"/>
                          <a:cs typeface="Arial"/>
                        </a:rPr>
                        <a:t>What most limits more outsourcing, and should the gap to the ceiling read as opportunity, capacity headroom, or a screen?</a:t>
                      </a:r>
                    </a:p>
                  </a:txBody>
                  <a:tcPr marL="45720" marR="45720" marT="45720" marB="45720" anchor="t">
                    <a:lnL>
                      <a:noFill/>
                    </a:lnL>
                    <a:lnR>
                      <a:noFill/>
                    </a:lnR>
                    <a:lnT>
                      <a:noFill/>
                    </a:lnT>
                    <a:lnB>
                      <a:noFill/>
                    </a:lnB>
                    <a:noFill/>
                  </a:tcPr>
                </a:tc>
                <a:tc>
                  <a:txBody>
                    <a:bodyPr anchor="t"/>
                    <a:lstStyle/>
                    <a:p>
                      <a:pPr algn="l">
                        <a:lnSpc>
                          <a:spcPct val="115000"/>
                        </a:lnSpc>
                      </a:pPr>
                      <a:r>
                        <a:rPr lang="en-US" sz="1000" b="0" dirty="0">
                          <a:solidFill>
                            <a:srgbClr val="000000"/>
                          </a:solidFill>
                          <a:latin typeface="Arial"/>
                          <a:ea typeface="Arial"/>
                          <a:cs typeface="Arial"/>
                        </a:rPr>
                        <a:t>Frames feasibility caveats and the external wording.</a:t>
                      </a:r>
                    </a:p>
                  </a:txBody>
                  <a:tcPr marL="45720" marR="45720" marT="45720" marB="45720" anchor="t">
                    <a:lnL>
                      <a:noFill/>
                    </a:lnL>
                    <a:lnR>
                      <a:noFill/>
                    </a:lnR>
                    <a:lnT>
                      <a:noFill/>
                    </a:lnT>
                    <a:lnB>
                      <a:noFill/>
                    </a:lnB>
                    <a:noFill/>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Award Analysis</a:t>
            </a:r>
            <a:r>
              <a:rPr lang="en-US" sz="1000" kern="1200" dirty="0">
                <a:solidFill>
                  <a:srgbClr val="44505C"/>
                </a:solidFill>
                <a:latin typeface="Arial"/>
                <a:ea typeface="Arial"/>
                <a:cs typeface="Arial"/>
              </a:rPr>
              <a:t> / Data Reference</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Data Reference | Scope PIIDs, the seven work-type buckets, and the native subaward fields the analysis reads.</a:t>
            </a:r>
          </a:p>
        </p:txBody>
      </p:sp>
      <p:graphicFrame>
        <p:nvGraphicFramePr>
          <p:cNvPr id="41" name="data_ref_piids"/>
          <p:cNvGraphicFramePr>
            <a:graphicFrameLocks noGrp="1"/>
          </p:cNvGraphicFramePr>
          <p:nvPr/>
        </p:nvGraphicFramePr>
        <p:xfrm>
          <a:off x="453079" y="1371600"/>
          <a:ext cx="11282362" cy="975360"/>
        </p:xfrm>
        <a:graphic>
          <a:graphicData uri="http://schemas.openxmlformats.org/drawingml/2006/table">
            <a:tbl>
              <a:tblPr firstRow="1" firstCol="1" bandRow="0">
                <a:tableStyleId>{2D5ABB26-0587-4C30-8999-92F81FD0307C}</a:tableStyleId>
              </a:tblPr>
              <a:tblGrid>
                <a:gridCol w="1500000"/>
                <a:gridCol w="9782362"/>
              </a:tblGrid>
              <a:tr h="213360">
                <a:tc>
                  <a:txBody>
                    <a:bodyPr anchor="t"/>
                    <a:lstStyle/>
                    <a:p>
                      <a:pPr algn="l">
                        <a:lnSpc>
                          <a:spcPct val="115000"/>
                        </a:lnSpc>
                      </a:pPr>
                      <a:r>
                        <a:rPr lang="en-US" sz="800" b="1" dirty="0">
                          <a:solidFill>
                            <a:srgbClr val="000000"/>
                          </a:solidFill>
                          <a:latin typeface="Arial"/>
                          <a:ea typeface="Arial"/>
                          <a:cs typeface="Arial"/>
                        </a:rPr>
                        <a:t>Platform</a:t>
                      </a:r>
                    </a:p>
                  </a:txBody>
                  <a:tcPr marL="45720" marR="45720" marT="45720" marB="45720" anchor="t">
                    <a:lnL>
                      <a:noFill/>
                    </a:lnL>
                    <a:lnR>
                      <a:noFill/>
                    </a:lnR>
                    <a:lnT>
                      <a:noFill/>
                    </a:lnT>
                    <a:lnB w="19050" cap="flat" cmpd="sng" algn="ctr">
                      <a:solidFill>
                        <a:srgbClr val="000000"/>
                      </a:solidFill>
                      <a:prstDash val="solid"/>
                    </a:lnB>
                    <a:noFill/>
                  </a:tcPr>
                </a:tc>
                <a:tc>
                  <a:txBody>
                    <a:bodyPr anchor="t"/>
                    <a:lstStyle/>
                    <a:p>
                      <a:pPr algn="l">
                        <a:lnSpc>
                          <a:spcPct val="115000"/>
                        </a:lnSpc>
                      </a:pPr>
                      <a:r>
                        <a:rPr lang="en-US" sz="800" b="1" dirty="0">
                          <a:solidFill>
                            <a:srgbClr val="000000"/>
                          </a:solidFill>
                          <a:latin typeface="Arial"/>
                          <a:ea typeface="Arial"/>
                          <a:cs typeface="Arial"/>
                        </a:rPr>
                        <a:t>Prime new-construction contract PIIDs</a:t>
                      </a:r>
                    </a:p>
                  </a:txBody>
                  <a:tcPr marL="45720" marR="45720" marT="45720" marB="45720" anchor="t">
                    <a:lnL>
                      <a:noFill/>
                    </a:lnL>
                    <a:lnR>
                      <a:noFill/>
                    </a:lnR>
                    <a:lnT>
                      <a:noFill/>
                    </a:lnT>
                    <a:lnB w="19050" cap="flat" cmpd="sng" algn="ctr">
                      <a:solidFill>
                        <a:srgbClr val="000000"/>
                      </a:solidFill>
                      <a:prstDash val="solid"/>
                    </a:lnB>
                    <a:noFill/>
                  </a:tcPr>
                </a:tc>
              </a:tr>
              <a:tr h="213360">
                <a:tc>
                  <a:txBody>
                    <a:bodyPr anchor="t"/>
                    <a:lstStyle/>
                    <a:p>
                      <a:pPr algn="l">
                        <a:lnSpc>
                          <a:spcPct val="115000"/>
                        </a:lnSpc>
                      </a:pPr>
                      <a:r>
                        <a:rPr lang="en-US" sz="800" b="1" dirty="0">
                          <a:solidFill>
                            <a:srgbClr val="000000"/>
                          </a:solidFill>
                          <a:latin typeface="Arial"/>
                          <a:ea typeface="Arial"/>
                          <a:cs typeface="Arial"/>
                        </a:rPr>
                        <a:t>SSN · Virginia</a:t>
                      </a:r>
                    </a:p>
                  </a:txBody>
                  <a:tcPr marL="45720" marR="45720" marT="45720" marB="45720" anchor="t">
                    <a:lnL>
                      <a:noFill/>
                    </a:lnL>
                    <a:lnR>
                      <a:noFill/>
                    </a:lnR>
                    <a:lnT>
                      <a:noFill/>
                    </a:lnT>
                    <a:lnB w="12700" cap="flat" cmpd="sng" algn="ctr">
                      <a:solidFill>
                        <a:srgbClr val="000000"/>
                      </a:solidFill>
                      <a:prstDash val="solid"/>
                    </a:lnB>
                    <a:noFill/>
                  </a:tcPr>
                </a:tc>
                <a:tc>
                  <a:txBody>
                    <a:bodyPr anchor="t"/>
                    <a:lstStyle/>
                    <a:p>
                      <a:pPr algn="l">
                        <a:lnSpc>
                          <a:spcPct val="115000"/>
                        </a:lnSpc>
                      </a:pPr>
                      <a:r>
                        <a:rPr lang="en-US" sz="800" b="0" dirty="0">
                          <a:solidFill>
                            <a:srgbClr val="000000"/>
                          </a:solidFill>
                          <a:latin typeface="Arial"/>
                          <a:ea typeface="Arial"/>
                          <a:cs typeface="Arial"/>
                        </a:rPr>
                        <a:t>N0002417C2100, N0002412C2115, N0002416C2111, N0002424C2110, N0002421C4106, N0002421C4111, N0002409C2104, N0002410C2118, N0002424C2114, N0002410C6266</a:t>
                      </a:r>
                    </a:p>
                  </a:txBody>
                  <a:tcPr marL="45720" marR="45720" marT="45720" marB="45720" anchor="t">
                    <a:lnL>
                      <a:noFill/>
                    </a:lnL>
                    <a:lnR>
                      <a:noFill/>
                    </a:lnR>
                    <a:lnT>
                      <a:noFill/>
                    </a:lnT>
                    <a:lnB w="12700" cap="flat" cmpd="sng" algn="ctr">
                      <a:solidFill>
                        <a:srgbClr val="000000"/>
                      </a:solidFill>
                      <a:prstDash val="solid"/>
                    </a:lnB>
                    <a:noFill/>
                  </a:tcPr>
                </a:tc>
              </a:tr>
              <a:tr h="213360">
                <a:tc>
                  <a:txBody>
                    <a:bodyPr anchor="t"/>
                    <a:lstStyle/>
                    <a:p>
                      <a:pPr algn="l">
                        <a:lnSpc>
                          <a:spcPct val="115000"/>
                        </a:lnSpc>
                      </a:pPr>
                      <a:r>
                        <a:rPr lang="en-US" sz="800" b="1" dirty="0">
                          <a:solidFill>
                            <a:srgbClr val="000000"/>
                          </a:solidFill>
                          <a:latin typeface="Arial"/>
                          <a:ea typeface="Arial"/>
                          <a:cs typeface="Arial"/>
                        </a:rPr>
                        <a:t>SSBN · Columbia</a:t>
                      </a:r>
                    </a:p>
                  </a:txBody>
                  <a:tcPr marL="45720" marR="45720" marT="45720" marB="45720" anchor="t">
                    <a:lnL>
                      <a:noFill/>
                    </a:lnL>
                    <a:lnR>
                      <a:noFill/>
                    </a:lnR>
                    <a:lnT>
                      <a:noFill/>
                    </a:lnT>
                    <a:lnB w="12700" cap="flat" cmpd="sng" algn="ctr">
                      <a:solidFill>
                        <a:srgbClr val="000000"/>
                      </a:solidFill>
                      <a:prstDash val="solid"/>
                    </a:lnB>
                    <a:noFill/>
                  </a:tcPr>
                </a:tc>
                <a:tc>
                  <a:txBody>
                    <a:bodyPr anchor="t"/>
                    <a:lstStyle/>
                    <a:p>
                      <a:pPr algn="l">
                        <a:lnSpc>
                          <a:spcPct val="115000"/>
                        </a:lnSpc>
                      </a:pPr>
                      <a:r>
                        <a:rPr lang="en-US" sz="800" b="0" dirty="0">
                          <a:solidFill>
                            <a:srgbClr val="000000"/>
                          </a:solidFill>
                          <a:latin typeface="Arial"/>
                          <a:ea typeface="Arial"/>
                          <a:cs typeface="Arial"/>
                        </a:rPr>
                        <a:t>N0002417C2117, N0002413C2128, N0002419C2115, N0002419C2114, N0002411C2109</a:t>
                      </a:r>
                    </a:p>
                  </a:txBody>
                  <a:tcPr marL="45720" marR="45720" marT="45720" marB="45720" anchor="t">
                    <a:lnL>
                      <a:noFill/>
                    </a:lnL>
                    <a:lnR>
                      <a:noFill/>
                    </a:lnR>
                    <a:lnT>
                      <a:noFill/>
                    </a:lnT>
                    <a:lnB w="12700" cap="flat" cmpd="sng" algn="ctr">
                      <a:solidFill>
                        <a:srgbClr val="000000"/>
                      </a:solidFill>
                      <a:prstDash val="solid"/>
                    </a:lnB>
                    <a:noFill/>
                  </a:tcPr>
                </a:tc>
              </a:tr>
              <a:tr h="335280">
                <a:tc>
                  <a:txBody>
                    <a:bodyPr anchor="t"/>
                    <a:lstStyle/>
                    <a:p>
                      <a:pPr algn="l">
                        <a:lnSpc>
                          <a:spcPct val="115000"/>
                        </a:lnSpc>
                      </a:pPr>
                      <a:r>
                        <a:rPr lang="en-US" sz="800" b="1" dirty="0">
                          <a:solidFill>
                            <a:srgbClr val="000000"/>
                          </a:solidFill>
                          <a:latin typeface="Arial"/>
                          <a:ea typeface="Arial"/>
                          <a:cs typeface="Arial"/>
                        </a:rPr>
                        <a:t>DDG · DDG-51</a:t>
                      </a:r>
                    </a:p>
                  </a:txBody>
                  <a:tcPr marL="45720" marR="45720" marT="45720" marB="45720" anchor="t">
                    <a:lnL>
                      <a:noFill/>
                    </a:lnL>
                    <a:lnR>
                      <a:noFill/>
                    </a:lnR>
                    <a:lnT>
                      <a:noFill/>
                    </a:lnT>
                    <a:lnB>
                      <a:noFill/>
                    </a:lnB>
                    <a:noFill/>
                  </a:tcPr>
                </a:tc>
                <a:tc>
                  <a:txBody>
                    <a:bodyPr anchor="t"/>
                    <a:lstStyle/>
                    <a:p>
                      <a:pPr algn="l">
                        <a:lnSpc>
                          <a:spcPct val="115000"/>
                        </a:lnSpc>
                      </a:pPr>
                      <a:r>
                        <a:rPr lang="en-US" sz="800" b="0" dirty="0">
                          <a:solidFill>
                            <a:srgbClr val="000000"/>
                          </a:solidFill>
                          <a:latin typeface="Arial"/>
                          <a:ea typeface="Arial"/>
                          <a:cs typeface="Arial"/>
                        </a:rPr>
                        <a:t>N0002418C2307, N0002413C2307, N0002423C2307, N0002411C2307, N0002411C2309, N0002419C4452, N0002419C2322, N0002413C2305, N0002414C4313, N0002418C2305, N0002412C2312, N0002423C2305, N0002402C2303, N0002406C2303, N0002411C2306, N0002411C2305, N0002412C4311, N0002409C2302, N0002418C2313, N0002412C2313, N0002403C2306, N0002418C4451, N0002424C2313, N0002402C2304</a:t>
                      </a:r>
                    </a:p>
                  </a:txBody>
                  <a:tcPr marL="45720" marR="45720" marT="45720" marB="45720" anchor="t">
                    <a:lnL>
                      <a:noFill/>
                    </a:lnL>
                    <a:lnR>
                      <a:noFill/>
                    </a:lnR>
                    <a:lnT>
                      <a:noFill/>
                    </a:lnT>
                    <a:lnB>
                      <a:noFill/>
                    </a:lnB>
                    <a:noFill/>
                  </a:tcPr>
                </a:tc>
              </a:tr>
            </a:tbl>
          </a:graphicData>
        </a:graphic>
      </p:graphicFrame>
      <p:graphicFrame>
        <p:nvGraphicFramePr>
          <p:cNvPr id="42" name="data_ref_worktypes"/>
          <p:cNvGraphicFramePr>
            <a:graphicFrameLocks noGrp="1"/>
          </p:cNvGraphicFramePr>
          <p:nvPr/>
        </p:nvGraphicFramePr>
        <p:xfrm>
          <a:off x="453079" y="2484120"/>
          <a:ext cx="11282362" cy="1706880"/>
        </p:xfrm>
        <a:graphic>
          <a:graphicData uri="http://schemas.openxmlformats.org/drawingml/2006/table">
            <a:tbl>
              <a:tblPr firstRow="1" firstCol="1" bandRow="0">
                <a:tableStyleId>{2D5ABB26-0587-4C30-8999-92F81FD0307C}</a:tableStyleId>
              </a:tblPr>
              <a:tblGrid>
                <a:gridCol w="3100000"/>
                <a:gridCol w="1250000"/>
                <a:gridCol w="6932362"/>
              </a:tblGrid>
              <a:tr h="213360">
                <a:tc>
                  <a:txBody>
                    <a:bodyPr anchor="t"/>
                    <a:lstStyle/>
                    <a:p>
                      <a:pPr algn="l">
                        <a:lnSpc>
                          <a:spcPct val="115000"/>
                        </a:lnSpc>
                      </a:pPr>
                      <a:r>
                        <a:rPr lang="en-US" sz="800" b="1" dirty="0">
                          <a:solidFill>
                            <a:srgbClr val="000000"/>
                          </a:solidFill>
                          <a:latin typeface="Arial"/>
                          <a:ea typeface="Arial"/>
                          <a:cs typeface="Arial"/>
                        </a:rPr>
                        <a:t>Work type</a:t>
                      </a:r>
                    </a:p>
                  </a:txBody>
                  <a:tcPr marL="45720" marR="45720" marT="45720" marB="45720" anchor="t">
                    <a:lnL>
                      <a:noFill/>
                    </a:lnL>
                    <a:lnR>
                      <a:noFill/>
                    </a:lnR>
                    <a:lnT>
                      <a:noFill/>
                    </a:lnT>
                    <a:lnB w="19050" cap="flat" cmpd="sng" algn="ctr">
                      <a:solidFill>
                        <a:srgbClr val="000000"/>
                      </a:solidFill>
                      <a:prstDash val="solid"/>
                    </a:lnB>
                    <a:noFill/>
                  </a:tcPr>
                </a:tc>
                <a:tc>
                  <a:txBody>
                    <a:bodyPr anchor="t"/>
                    <a:lstStyle/>
                    <a:p>
                      <a:pPr algn="ctr">
                        <a:lnSpc>
                          <a:spcPct val="115000"/>
                        </a:lnSpc>
                      </a:pPr>
                      <a:r>
                        <a:rPr lang="en-US" sz="800" b="1" dirty="0">
                          <a:solidFill>
                            <a:srgbClr val="000000"/>
                          </a:solidFill>
                          <a:latin typeface="Arial"/>
                          <a:ea typeface="Arial"/>
                          <a:cs typeface="Arial"/>
                        </a:rPr>
                        <a:t>NAICS-4</a:t>
                      </a:r>
                    </a:p>
                  </a:txBody>
                  <a:tcPr marL="45720" marR="45720" marT="45720" marB="45720" anchor="t">
                    <a:lnL>
                      <a:noFill/>
                    </a:lnL>
                    <a:lnR>
                      <a:noFill/>
                    </a:lnR>
                    <a:lnT>
                      <a:noFill/>
                    </a:lnT>
                    <a:lnB w="19050" cap="flat" cmpd="sng" algn="ctr">
                      <a:solidFill>
                        <a:srgbClr val="000000"/>
                      </a:solidFill>
                      <a:prstDash val="solid"/>
                    </a:lnB>
                    <a:noFill/>
                  </a:tcPr>
                </a:tc>
                <a:tc>
                  <a:txBody>
                    <a:bodyPr anchor="t"/>
                    <a:lstStyle/>
                    <a:p>
                      <a:pPr algn="l">
                        <a:lnSpc>
                          <a:spcPct val="115000"/>
                        </a:lnSpc>
                      </a:pPr>
                      <a:r>
                        <a:rPr lang="en-US" sz="800" b="1" dirty="0">
                          <a:solidFill>
                            <a:srgbClr val="000000"/>
                          </a:solidFill>
                          <a:latin typeface="Arial"/>
                          <a:ea typeface="Arial"/>
                          <a:cs typeface="Arial"/>
                        </a:rPr>
                        <a:t>What it covers</a:t>
                      </a:r>
                    </a:p>
                  </a:txBody>
                  <a:tcPr marL="45720" marR="45720" marT="45720" marB="45720" anchor="t">
                    <a:lnL>
                      <a:noFill/>
                    </a:lnL>
                    <a:lnR>
                      <a:noFill/>
                    </a:lnR>
                    <a:lnT>
                      <a:noFill/>
                    </a:lnT>
                    <a:lnB w="19050" cap="flat" cmpd="sng" algn="ctr">
                      <a:solidFill>
                        <a:srgbClr val="000000"/>
                      </a:solidFill>
                      <a:prstDash val="solid"/>
                    </a:lnB>
                    <a:noFill/>
                  </a:tcPr>
                </a:tc>
              </a:tr>
              <a:tr h="213360">
                <a:tc>
                  <a:txBody>
                    <a:bodyPr anchor="t"/>
                    <a:lstStyle/>
                    <a:p>
                      <a:pPr algn="l">
                        <a:lnSpc>
                          <a:spcPct val="115000"/>
                        </a:lnSpc>
                      </a:pPr>
                      <a:r>
                        <a:rPr lang="en-US" sz="800" b="1" dirty="0">
                          <a:solidFill>
                            <a:srgbClr val="000000"/>
                          </a:solidFill>
                          <a:latin typeface="Arial"/>
                          <a:ea typeface="Arial"/>
                          <a:cs typeface="Arial"/>
                        </a:rPr>
                        <a:t>Structural fabrication &amp; modules</a:t>
                      </a:r>
                    </a:p>
                  </a:txBody>
                  <a:tcPr marL="45720" marR="45720" marT="45720" marB="45720" anchor="t">
                    <a:lnL>
                      <a:noFill/>
                    </a:lnL>
                    <a:lnR>
                      <a:noFill/>
                    </a:lnR>
                    <a:lnT>
                      <a:noFill/>
                    </a:lnT>
                    <a:lnB w="12700" cap="flat" cmpd="sng" algn="ctr">
                      <a:solidFill>
                        <a:srgbClr val="000000"/>
                      </a:solidFill>
                      <a:prstDash val="solid"/>
                    </a:lnB>
                    <a:noFill/>
                  </a:tcPr>
                </a:tc>
                <a:tc>
                  <a:txBody>
                    <a:bodyPr anchor="t"/>
                    <a:lstStyle/>
                    <a:p>
                      <a:pPr algn="ctr">
                        <a:lnSpc>
                          <a:spcPct val="115000"/>
                        </a:lnSpc>
                      </a:pPr>
                      <a:r>
                        <a:rPr lang="en-US" sz="800" b="0" dirty="0">
                          <a:solidFill>
                            <a:srgbClr val="000000"/>
                          </a:solidFill>
                          <a:latin typeface="Arial"/>
                          <a:ea typeface="Arial"/>
                          <a:cs typeface="Arial"/>
                        </a:rPr>
                        <a:t>3323, 3324, 3366, 3369</a:t>
                      </a:r>
                    </a:p>
                  </a:txBody>
                  <a:tcPr marL="45720" marR="45720" marT="45720" marB="45720" anchor="t">
                    <a:lnL>
                      <a:noFill/>
                    </a:lnL>
                    <a:lnR>
                      <a:noFill/>
                    </a:lnR>
                    <a:lnT>
                      <a:noFill/>
                    </a:lnT>
                    <a:lnB w="12700" cap="flat" cmpd="sng" algn="ctr">
                      <a:solidFill>
                        <a:srgbClr val="000000"/>
                      </a:solidFill>
                      <a:prstDash val="solid"/>
                    </a:lnB>
                    <a:noFill/>
                  </a:tcPr>
                </a:tc>
                <a:tc>
                  <a:txBody>
                    <a:bodyPr anchor="t"/>
                    <a:lstStyle/>
                    <a:p>
                      <a:pPr algn="l">
                        <a:lnSpc>
                          <a:spcPct val="115000"/>
                        </a:lnSpc>
                      </a:pPr>
                      <a:r>
                        <a:rPr lang="en-US" sz="800" b="0" dirty="0">
                          <a:solidFill>
                            <a:srgbClr val="000000"/>
                          </a:solidFill>
                          <a:latin typeface="Arial"/>
                          <a:ea typeface="Arial"/>
                          <a:cs typeface="Arial"/>
                        </a:rPr>
                        <a:t>hull sections, fabricated structural metal, pre-outfit modules</a:t>
                      </a:r>
                    </a:p>
                  </a:txBody>
                  <a:tcPr marL="45720" marR="45720" marT="45720" marB="45720" anchor="t">
                    <a:lnL>
                      <a:noFill/>
                    </a:lnL>
                    <a:lnR>
                      <a:noFill/>
                    </a:lnR>
                    <a:lnT>
                      <a:noFill/>
                    </a:lnT>
                    <a:lnB w="12700" cap="flat" cmpd="sng" algn="ctr">
                      <a:solidFill>
                        <a:srgbClr val="000000"/>
                      </a:solidFill>
                      <a:prstDash val="solid"/>
                    </a:lnB>
                    <a:noFill/>
                  </a:tcPr>
                </a:tc>
              </a:tr>
              <a:tr h="213360">
                <a:tc>
                  <a:txBody>
                    <a:bodyPr anchor="t"/>
                    <a:lstStyle/>
                    <a:p>
                      <a:pPr algn="l">
                        <a:lnSpc>
                          <a:spcPct val="115000"/>
                        </a:lnSpc>
                      </a:pPr>
                      <a:r>
                        <a:rPr lang="en-US" sz="800" b="1" dirty="0">
                          <a:solidFill>
                            <a:srgbClr val="000000"/>
                          </a:solidFill>
                          <a:latin typeface="Arial"/>
                          <a:ea typeface="Arial"/>
                          <a:cs typeface="Arial"/>
                        </a:rPr>
                        <a:t>Machining / mechanical / propulsion</a:t>
                      </a:r>
                    </a:p>
                  </a:txBody>
                  <a:tcPr marL="45720" marR="45720" marT="45720" marB="45720" anchor="t">
                    <a:lnL>
                      <a:noFill/>
                    </a:lnL>
                    <a:lnR>
                      <a:noFill/>
                    </a:lnR>
                    <a:lnT>
                      <a:noFill/>
                    </a:lnT>
                    <a:lnB w="12700" cap="flat" cmpd="sng" algn="ctr">
                      <a:solidFill>
                        <a:srgbClr val="000000"/>
                      </a:solidFill>
                      <a:prstDash val="solid"/>
                    </a:lnB>
                    <a:noFill/>
                  </a:tcPr>
                </a:tc>
                <a:tc>
                  <a:txBody>
                    <a:bodyPr anchor="t"/>
                    <a:lstStyle/>
                    <a:p>
                      <a:pPr algn="ctr">
                        <a:lnSpc>
                          <a:spcPct val="115000"/>
                        </a:lnSpc>
                      </a:pPr>
                      <a:r>
                        <a:rPr lang="en-US" sz="800" b="0" dirty="0">
                          <a:solidFill>
                            <a:srgbClr val="000000"/>
                          </a:solidFill>
                          <a:latin typeface="Arial"/>
                          <a:ea typeface="Arial"/>
                          <a:cs typeface="Arial"/>
                        </a:rPr>
                        <a:t>3327, 3336</a:t>
                      </a:r>
                    </a:p>
                  </a:txBody>
                  <a:tcPr marL="45720" marR="45720" marT="45720" marB="45720" anchor="t">
                    <a:lnL>
                      <a:noFill/>
                    </a:lnL>
                    <a:lnR>
                      <a:noFill/>
                    </a:lnR>
                    <a:lnT>
                      <a:noFill/>
                    </a:lnT>
                    <a:lnB w="12700" cap="flat" cmpd="sng" algn="ctr">
                      <a:solidFill>
                        <a:srgbClr val="000000"/>
                      </a:solidFill>
                      <a:prstDash val="solid"/>
                    </a:lnB>
                    <a:noFill/>
                  </a:tcPr>
                </a:tc>
                <a:tc>
                  <a:txBody>
                    <a:bodyPr anchor="t"/>
                    <a:lstStyle/>
                    <a:p>
                      <a:pPr algn="l">
                        <a:lnSpc>
                          <a:spcPct val="115000"/>
                        </a:lnSpc>
                      </a:pPr>
                      <a:r>
                        <a:rPr lang="en-US" sz="800" b="0" dirty="0">
                          <a:solidFill>
                            <a:srgbClr val="000000"/>
                          </a:solidFill>
                          <a:latin typeface="Arial"/>
                          <a:ea typeface="Arial"/>
                          <a:cs typeface="Arial"/>
                        </a:rPr>
                        <a:t>machine shops, precision machining, mechanical power transmission, propulsion machinery</a:t>
                      </a:r>
                    </a:p>
                  </a:txBody>
                  <a:tcPr marL="45720" marR="45720" marT="45720" marB="45720" anchor="t">
                    <a:lnL>
                      <a:noFill/>
                    </a:lnL>
                    <a:lnR>
                      <a:noFill/>
                    </a:lnR>
                    <a:lnT>
                      <a:noFill/>
                    </a:lnT>
                    <a:lnB w="12700" cap="flat" cmpd="sng" algn="ctr">
                      <a:solidFill>
                        <a:srgbClr val="000000"/>
                      </a:solidFill>
                      <a:prstDash val="solid"/>
                    </a:lnB>
                    <a:noFill/>
                  </a:tcPr>
                </a:tc>
              </a:tr>
              <a:tr h="213360">
                <a:tc>
                  <a:txBody>
                    <a:bodyPr anchor="t"/>
                    <a:lstStyle/>
                    <a:p>
                      <a:pPr algn="l">
                        <a:lnSpc>
                          <a:spcPct val="115000"/>
                        </a:lnSpc>
                      </a:pPr>
                      <a:r>
                        <a:rPr lang="en-US" sz="800" b="1" dirty="0">
                          <a:solidFill>
                            <a:srgbClr val="000000"/>
                          </a:solidFill>
                          <a:latin typeface="Arial"/>
                          <a:ea typeface="Arial"/>
                          <a:cs typeface="Arial"/>
                        </a:rPr>
                        <a:t>Castings &amp; forgings</a:t>
                      </a:r>
                    </a:p>
                  </a:txBody>
                  <a:tcPr marL="45720" marR="45720" marT="45720" marB="45720" anchor="t">
                    <a:lnL>
                      <a:noFill/>
                    </a:lnL>
                    <a:lnR>
                      <a:noFill/>
                    </a:lnR>
                    <a:lnT>
                      <a:noFill/>
                    </a:lnT>
                    <a:lnB w="12700" cap="flat" cmpd="sng" algn="ctr">
                      <a:solidFill>
                        <a:srgbClr val="000000"/>
                      </a:solidFill>
                      <a:prstDash val="solid"/>
                    </a:lnB>
                    <a:noFill/>
                  </a:tcPr>
                </a:tc>
                <a:tc>
                  <a:txBody>
                    <a:bodyPr anchor="t"/>
                    <a:lstStyle/>
                    <a:p>
                      <a:pPr algn="ctr">
                        <a:lnSpc>
                          <a:spcPct val="115000"/>
                        </a:lnSpc>
                      </a:pPr>
                      <a:r>
                        <a:rPr lang="en-US" sz="800" b="0" dirty="0">
                          <a:solidFill>
                            <a:srgbClr val="000000"/>
                          </a:solidFill>
                          <a:latin typeface="Arial"/>
                          <a:ea typeface="Arial"/>
                          <a:cs typeface="Arial"/>
                        </a:rPr>
                        <a:t>3312, 3315, 3321</a:t>
                      </a:r>
                    </a:p>
                  </a:txBody>
                  <a:tcPr marL="45720" marR="45720" marT="45720" marB="45720" anchor="t">
                    <a:lnL>
                      <a:noFill/>
                    </a:lnL>
                    <a:lnR>
                      <a:noFill/>
                    </a:lnR>
                    <a:lnT>
                      <a:noFill/>
                    </a:lnT>
                    <a:lnB w="12700" cap="flat" cmpd="sng" algn="ctr">
                      <a:solidFill>
                        <a:srgbClr val="000000"/>
                      </a:solidFill>
                      <a:prstDash val="solid"/>
                    </a:lnB>
                    <a:noFill/>
                  </a:tcPr>
                </a:tc>
                <a:tc>
                  <a:txBody>
                    <a:bodyPr anchor="t"/>
                    <a:lstStyle/>
                    <a:p>
                      <a:pPr algn="l">
                        <a:lnSpc>
                          <a:spcPct val="115000"/>
                        </a:lnSpc>
                      </a:pPr>
                      <a:r>
                        <a:rPr lang="en-US" sz="800" b="0" dirty="0">
                          <a:solidFill>
                            <a:srgbClr val="000000"/>
                          </a:solidFill>
                          <a:latin typeface="Arial"/>
                          <a:ea typeface="Arial"/>
                          <a:cs typeface="Arial"/>
                        </a:rPr>
                        <a:t>iron / steel forging, steel foundries, cast components</a:t>
                      </a:r>
                    </a:p>
                  </a:txBody>
                  <a:tcPr marL="45720" marR="45720" marT="45720" marB="45720" anchor="t">
                    <a:lnL>
                      <a:noFill/>
                    </a:lnL>
                    <a:lnR>
                      <a:noFill/>
                    </a:lnR>
                    <a:lnT>
                      <a:noFill/>
                    </a:lnT>
                    <a:lnB w="12700" cap="flat" cmpd="sng" algn="ctr">
                      <a:solidFill>
                        <a:srgbClr val="000000"/>
                      </a:solidFill>
                      <a:prstDash val="solid"/>
                    </a:lnB>
                    <a:noFill/>
                  </a:tcPr>
                </a:tc>
              </a:tr>
              <a:tr h="213360">
                <a:tc>
                  <a:txBody>
                    <a:bodyPr anchor="t"/>
                    <a:lstStyle/>
                    <a:p>
                      <a:pPr algn="l">
                        <a:lnSpc>
                          <a:spcPct val="115000"/>
                        </a:lnSpc>
                      </a:pPr>
                      <a:r>
                        <a:rPr lang="en-US" sz="800" b="1" dirty="0">
                          <a:solidFill>
                            <a:srgbClr val="000000"/>
                          </a:solidFill>
                          <a:latin typeface="Arial"/>
                          <a:ea typeface="Arial"/>
                          <a:cs typeface="Arial"/>
                        </a:rPr>
                        <a:t>Piping / fluid handling</a:t>
                      </a:r>
                    </a:p>
                  </a:txBody>
                  <a:tcPr marL="45720" marR="45720" marT="45720" marB="45720" anchor="t">
                    <a:lnL>
                      <a:noFill/>
                    </a:lnL>
                    <a:lnR>
                      <a:noFill/>
                    </a:lnR>
                    <a:lnT>
                      <a:noFill/>
                    </a:lnT>
                    <a:lnB w="12700" cap="flat" cmpd="sng" algn="ctr">
                      <a:solidFill>
                        <a:srgbClr val="000000"/>
                      </a:solidFill>
                      <a:prstDash val="solid"/>
                    </a:lnB>
                    <a:noFill/>
                  </a:tcPr>
                </a:tc>
                <a:tc>
                  <a:txBody>
                    <a:bodyPr anchor="t"/>
                    <a:lstStyle/>
                    <a:p>
                      <a:pPr algn="ctr">
                        <a:lnSpc>
                          <a:spcPct val="115000"/>
                        </a:lnSpc>
                      </a:pPr>
                      <a:r>
                        <a:rPr lang="en-US" sz="800" b="0" dirty="0">
                          <a:solidFill>
                            <a:srgbClr val="000000"/>
                          </a:solidFill>
                          <a:latin typeface="Arial"/>
                          <a:ea typeface="Arial"/>
                          <a:cs typeface="Arial"/>
                        </a:rPr>
                        <a:t>3329, 3339, 4235</a:t>
                      </a:r>
                    </a:p>
                  </a:txBody>
                  <a:tcPr marL="45720" marR="45720" marT="45720" marB="45720" anchor="t">
                    <a:lnL>
                      <a:noFill/>
                    </a:lnL>
                    <a:lnR>
                      <a:noFill/>
                    </a:lnR>
                    <a:lnT>
                      <a:noFill/>
                    </a:lnT>
                    <a:lnB w="12700" cap="flat" cmpd="sng" algn="ctr">
                      <a:solidFill>
                        <a:srgbClr val="000000"/>
                      </a:solidFill>
                      <a:prstDash val="solid"/>
                    </a:lnB>
                    <a:noFill/>
                  </a:tcPr>
                </a:tc>
                <a:tc>
                  <a:txBody>
                    <a:bodyPr anchor="t"/>
                    <a:lstStyle/>
                    <a:p>
                      <a:pPr algn="l">
                        <a:lnSpc>
                          <a:spcPct val="115000"/>
                        </a:lnSpc>
                      </a:pPr>
                      <a:r>
                        <a:rPr lang="en-US" sz="800" b="0" dirty="0">
                          <a:solidFill>
                            <a:srgbClr val="000000"/>
                          </a:solidFill>
                          <a:latin typeface="Arial"/>
                          <a:ea typeface="Arial"/>
                          <a:cs typeface="Arial"/>
                        </a:rPr>
                        <a:t>industrial valves, pumps, measuring / dispensing, pipe &amp; fittings</a:t>
                      </a:r>
                    </a:p>
                  </a:txBody>
                  <a:tcPr marL="45720" marR="45720" marT="45720" marB="45720" anchor="t">
                    <a:lnL>
                      <a:noFill/>
                    </a:lnL>
                    <a:lnR>
                      <a:noFill/>
                    </a:lnR>
                    <a:lnT>
                      <a:noFill/>
                    </a:lnT>
                    <a:lnB w="12700" cap="flat" cmpd="sng" algn="ctr">
                      <a:solidFill>
                        <a:srgbClr val="000000"/>
                      </a:solidFill>
                      <a:prstDash val="solid"/>
                    </a:lnB>
                    <a:noFill/>
                  </a:tcPr>
                </a:tc>
              </a:tr>
              <a:tr h="213360">
                <a:tc>
                  <a:txBody>
                    <a:bodyPr anchor="t"/>
                    <a:lstStyle/>
                    <a:p>
                      <a:pPr algn="l">
                        <a:lnSpc>
                          <a:spcPct val="115000"/>
                        </a:lnSpc>
                      </a:pPr>
                      <a:r>
                        <a:rPr lang="en-US" sz="800" b="1" dirty="0">
                          <a:solidFill>
                            <a:srgbClr val="000000"/>
                          </a:solidFill>
                          <a:latin typeface="Arial"/>
                          <a:ea typeface="Arial"/>
                          <a:cs typeface="Arial"/>
                        </a:rPr>
                        <a:t>Electrical power / distribution / generation</a:t>
                      </a:r>
                    </a:p>
                  </a:txBody>
                  <a:tcPr marL="45720" marR="45720" marT="45720" marB="45720" anchor="t">
                    <a:lnL>
                      <a:noFill/>
                    </a:lnL>
                    <a:lnR>
                      <a:noFill/>
                    </a:lnR>
                    <a:lnT>
                      <a:noFill/>
                    </a:lnT>
                    <a:lnB w="12700" cap="flat" cmpd="sng" algn="ctr">
                      <a:solidFill>
                        <a:srgbClr val="000000"/>
                      </a:solidFill>
                      <a:prstDash val="solid"/>
                    </a:lnB>
                    <a:noFill/>
                  </a:tcPr>
                </a:tc>
                <a:tc>
                  <a:txBody>
                    <a:bodyPr anchor="t"/>
                    <a:lstStyle/>
                    <a:p>
                      <a:pPr algn="ctr">
                        <a:lnSpc>
                          <a:spcPct val="115000"/>
                        </a:lnSpc>
                      </a:pPr>
                      <a:r>
                        <a:rPr lang="en-US" sz="800" b="0" dirty="0">
                          <a:solidFill>
                            <a:srgbClr val="000000"/>
                          </a:solidFill>
                          <a:latin typeface="Arial"/>
                          <a:ea typeface="Arial"/>
                          <a:cs typeface="Arial"/>
                        </a:rPr>
                        <a:t>3353, 3359</a:t>
                      </a:r>
                    </a:p>
                  </a:txBody>
                  <a:tcPr marL="45720" marR="45720" marT="45720" marB="45720" anchor="t">
                    <a:lnL>
                      <a:noFill/>
                    </a:lnL>
                    <a:lnR>
                      <a:noFill/>
                    </a:lnR>
                    <a:lnT>
                      <a:noFill/>
                    </a:lnT>
                    <a:lnB w="12700" cap="flat" cmpd="sng" algn="ctr">
                      <a:solidFill>
                        <a:srgbClr val="000000"/>
                      </a:solidFill>
                      <a:prstDash val="solid"/>
                    </a:lnB>
                    <a:noFill/>
                  </a:tcPr>
                </a:tc>
                <a:tc>
                  <a:txBody>
                    <a:bodyPr anchor="t"/>
                    <a:lstStyle/>
                    <a:p>
                      <a:pPr algn="l">
                        <a:lnSpc>
                          <a:spcPct val="115000"/>
                        </a:lnSpc>
                      </a:pPr>
                      <a:r>
                        <a:rPr lang="en-US" sz="800" b="0" dirty="0">
                          <a:solidFill>
                            <a:srgbClr val="000000"/>
                          </a:solidFill>
                          <a:latin typeface="Arial"/>
                          <a:ea typeface="Arial"/>
                          <a:cs typeface="Arial"/>
                        </a:rPr>
                        <a:t>switchgear, transformers, turbine generators, motors, ship power distribution</a:t>
                      </a:r>
                    </a:p>
                  </a:txBody>
                  <a:tcPr marL="45720" marR="45720" marT="45720" marB="45720" anchor="t">
                    <a:lnL>
                      <a:noFill/>
                    </a:lnL>
                    <a:lnR>
                      <a:noFill/>
                    </a:lnR>
                    <a:lnT>
                      <a:noFill/>
                    </a:lnT>
                    <a:lnB w="12700" cap="flat" cmpd="sng" algn="ctr">
                      <a:solidFill>
                        <a:srgbClr val="000000"/>
                      </a:solidFill>
                      <a:prstDash val="solid"/>
                    </a:lnB>
                    <a:noFill/>
                  </a:tcPr>
                </a:tc>
              </a:tr>
              <a:tr h="213360">
                <a:tc>
                  <a:txBody>
                    <a:bodyPr anchor="t"/>
                    <a:lstStyle/>
                    <a:p>
                      <a:pPr algn="l">
                        <a:lnSpc>
                          <a:spcPct val="115000"/>
                        </a:lnSpc>
                      </a:pPr>
                      <a:r>
                        <a:rPr lang="en-US" sz="800" b="1" dirty="0">
                          <a:solidFill>
                            <a:srgbClr val="000000"/>
                          </a:solidFill>
                          <a:latin typeface="Arial"/>
                          <a:ea typeface="Arial"/>
                          <a:cs typeface="Arial"/>
                        </a:rPr>
                        <a:t>HVAC / ventilation / chilled water</a:t>
                      </a:r>
                    </a:p>
                  </a:txBody>
                  <a:tcPr marL="45720" marR="45720" marT="45720" marB="45720" anchor="t">
                    <a:lnL>
                      <a:noFill/>
                    </a:lnL>
                    <a:lnR>
                      <a:noFill/>
                    </a:lnR>
                    <a:lnT>
                      <a:noFill/>
                    </a:lnT>
                    <a:lnB w="12700" cap="flat" cmpd="sng" algn="ctr">
                      <a:solidFill>
                        <a:srgbClr val="000000"/>
                      </a:solidFill>
                      <a:prstDash val="solid"/>
                    </a:lnB>
                    <a:noFill/>
                  </a:tcPr>
                </a:tc>
                <a:tc>
                  <a:txBody>
                    <a:bodyPr anchor="t"/>
                    <a:lstStyle/>
                    <a:p>
                      <a:pPr algn="ctr">
                        <a:lnSpc>
                          <a:spcPct val="115000"/>
                        </a:lnSpc>
                      </a:pPr>
                      <a:r>
                        <a:rPr lang="en-US" sz="800" b="0" dirty="0">
                          <a:solidFill>
                            <a:srgbClr val="000000"/>
                          </a:solidFill>
                          <a:latin typeface="Arial"/>
                          <a:ea typeface="Arial"/>
                          <a:cs typeface="Arial"/>
                        </a:rPr>
                        <a:t>3334</a:t>
                      </a:r>
                    </a:p>
                  </a:txBody>
                  <a:tcPr marL="45720" marR="45720" marT="45720" marB="45720" anchor="t">
                    <a:lnL>
                      <a:noFill/>
                    </a:lnL>
                    <a:lnR>
                      <a:noFill/>
                    </a:lnR>
                    <a:lnT>
                      <a:noFill/>
                    </a:lnT>
                    <a:lnB w="12700" cap="flat" cmpd="sng" algn="ctr">
                      <a:solidFill>
                        <a:srgbClr val="000000"/>
                      </a:solidFill>
                      <a:prstDash val="solid"/>
                    </a:lnB>
                    <a:noFill/>
                  </a:tcPr>
                </a:tc>
                <a:tc>
                  <a:txBody>
                    <a:bodyPr anchor="t"/>
                    <a:lstStyle/>
                    <a:p>
                      <a:pPr algn="l">
                        <a:lnSpc>
                          <a:spcPct val="115000"/>
                        </a:lnSpc>
                      </a:pPr>
                      <a:r>
                        <a:rPr lang="en-US" sz="800" b="0" dirty="0">
                          <a:solidFill>
                            <a:srgbClr val="000000"/>
                          </a:solidFill>
                          <a:latin typeface="Arial"/>
                          <a:ea typeface="Arial"/>
                          <a:cs typeface="Arial"/>
                        </a:rPr>
                        <a:t>air-conditioning, warm-air heating, shipboard ventilation</a:t>
                      </a:r>
                    </a:p>
                  </a:txBody>
                  <a:tcPr marL="45720" marR="45720" marT="45720" marB="45720" anchor="t">
                    <a:lnL>
                      <a:noFill/>
                    </a:lnL>
                    <a:lnR>
                      <a:noFill/>
                    </a:lnR>
                    <a:lnT>
                      <a:noFill/>
                    </a:lnT>
                    <a:lnB w="12700" cap="flat" cmpd="sng" algn="ctr">
                      <a:solidFill>
                        <a:srgbClr val="000000"/>
                      </a:solidFill>
                      <a:prstDash val="solid"/>
                    </a:lnB>
                    <a:noFill/>
                  </a:tcPr>
                </a:tc>
              </a:tr>
              <a:tr h="213360">
                <a:tc>
                  <a:txBody>
                    <a:bodyPr anchor="t"/>
                    <a:lstStyle/>
                    <a:p>
                      <a:pPr algn="l">
                        <a:lnSpc>
                          <a:spcPct val="115000"/>
                        </a:lnSpc>
                      </a:pPr>
                      <a:r>
                        <a:rPr lang="en-US" sz="800" b="1" dirty="0">
                          <a:solidFill>
                            <a:srgbClr val="000000"/>
                          </a:solidFill>
                          <a:latin typeface="Arial"/>
                          <a:ea typeface="Arial"/>
                          <a:cs typeface="Arial"/>
                        </a:rPr>
                        <a:t>Coatings / insulation / decking</a:t>
                      </a:r>
                    </a:p>
                  </a:txBody>
                  <a:tcPr marL="45720" marR="45720" marT="45720" marB="45720" anchor="t">
                    <a:lnL>
                      <a:noFill/>
                    </a:lnL>
                    <a:lnR>
                      <a:noFill/>
                    </a:lnR>
                    <a:lnT>
                      <a:noFill/>
                    </a:lnT>
                    <a:lnB>
                      <a:noFill/>
                    </a:lnB>
                    <a:noFill/>
                  </a:tcPr>
                </a:tc>
                <a:tc>
                  <a:txBody>
                    <a:bodyPr anchor="t"/>
                    <a:lstStyle/>
                    <a:p>
                      <a:pPr algn="ctr">
                        <a:lnSpc>
                          <a:spcPct val="115000"/>
                        </a:lnSpc>
                      </a:pPr>
                      <a:r>
                        <a:rPr lang="en-US" sz="800" b="0" dirty="0">
                          <a:solidFill>
                            <a:srgbClr val="000000"/>
                          </a:solidFill>
                          <a:latin typeface="Arial"/>
                          <a:ea typeface="Arial"/>
                          <a:cs typeface="Arial"/>
                        </a:rPr>
                        <a:t>3252, 3259, 3262</a:t>
                      </a:r>
                    </a:p>
                  </a:txBody>
                  <a:tcPr marL="45720" marR="45720" marT="45720" marB="45720" anchor="t">
                    <a:lnL>
                      <a:noFill/>
                    </a:lnL>
                    <a:lnR>
                      <a:noFill/>
                    </a:lnR>
                    <a:lnT>
                      <a:noFill/>
                    </a:lnT>
                    <a:lnB>
                      <a:noFill/>
                    </a:lnB>
                    <a:noFill/>
                  </a:tcPr>
                </a:tc>
                <a:tc>
                  <a:txBody>
                    <a:bodyPr anchor="t"/>
                    <a:lstStyle/>
                    <a:p>
                      <a:pPr algn="l">
                        <a:lnSpc>
                          <a:spcPct val="115000"/>
                        </a:lnSpc>
                      </a:pPr>
                      <a:r>
                        <a:rPr lang="en-US" sz="800" b="0" dirty="0">
                          <a:solidFill>
                            <a:srgbClr val="000000"/>
                          </a:solidFill>
                          <a:latin typeface="Arial"/>
                          <a:ea typeface="Arial"/>
                          <a:cs typeface="Arial"/>
                        </a:rPr>
                        <a:t>rubber / synthetic, composites, coatings &amp; insulation</a:t>
                      </a:r>
                    </a:p>
                  </a:txBody>
                  <a:tcPr marL="45720" marR="45720" marT="45720" marB="45720" anchor="t">
                    <a:lnL>
                      <a:noFill/>
                    </a:lnL>
                    <a:lnR>
                      <a:noFill/>
                    </a:lnR>
                    <a:lnT>
                      <a:noFill/>
                    </a:lnT>
                    <a:lnB>
                      <a:noFill/>
                    </a:lnB>
                    <a:noFill/>
                  </a:tcPr>
                </a:tc>
              </a:tr>
            </a:tbl>
          </a:graphicData>
        </a:graphic>
      </p:graphicFrame>
      <p:graphicFrame>
        <p:nvGraphicFramePr>
          <p:cNvPr id="43" name="data_ref_award_fields"/>
          <p:cNvGraphicFramePr>
            <a:graphicFrameLocks noGrp="1"/>
          </p:cNvGraphicFramePr>
          <p:nvPr/>
        </p:nvGraphicFramePr>
        <p:xfrm>
          <a:off x="453079" y="4328160"/>
          <a:ext cx="11282362" cy="1066800"/>
        </p:xfrm>
        <a:graphic>
          <a:graphicData uri="http://schemas.openxmlformats.org/drawingml/2006/table">
            <a:tbl>
              <a:tblPr firstRow="1" firstCol="1" bandRow="0">
                <a:tableStyleId>{2D5ABB26-0587-4C30-8999-92F81FD0307C}</a:tableStyleId>
              </a:tblPr>
              <a:tblGrid>
                <a:gridCol w="1500000"/>
                <a:gridCol w="3050000"/>
                <a:gridCol w="1500000"/>
                <a:gridCol w="1250000"/>
                <a:gridCol w="850000"/>
                <a:gridCol w="1000000"/>
                <a:gridCol w="2132362"/>
              </a:tblGrid>
              <a:tr h="213360">
                <a:tc>
                  <a:txBody>
                    <a:bodyPr anchor="t"/>
                    <a:lstStyle/>
                    <a:p>
                      <a:pPr algn="l">
                        <a:lnSpc>
                          <a:spcPct val="115000"/>
                        </a:lnSpc>
                      </a:pPr>
                      <a:r>
                        <a:rPr lang="en-US" sz="800" b="1" dirty="0">
                          <a:solidFill>
                            <a:srgbClr val="000000"/>
                          </a:solidFill>
                          <a:latin typeface="Arial"/>
                          <a:ea typeface="Arial"/>
                          <a:cs typeface="Arial"/>
                        </a:rPr>
                        <a:t>PIID</a:t>
                      </a:r>
                    </a:p>
                  </a:txBody>
                  <a:tcPr marL="45720" marR="45720" marT="45720" marB="45720" anchor="t">
                    <a:lnL>
                      <a:noFill/>
                    </a:lnL>
                    <a:lnR>
                      <a:noFill/>
                    </a:lnR>
                    <a:lnT>
                      <a:noFill/>
                    </a:lnT>
                    <a:lnB w="19050" cap="flat" cmpd="sng" algn="ctr">
                      <a:solidFill>
                        <a:srgbClr val="000000"/>
                      </a:solidFill>
                      <a:prstDash val="solid"/>
                    </a:lnB>
                    <a:noFill/>
                  </a:tcPr>
                </a:tc>
                <a:tc>
                  <a:txBody>
                    <a:bodyPr anchor="t"/>
                    <a:lstStyle/>
                    <a:p>
                      <a:pPr algn="l">
                        <a:lnSpc>
                          <a:spcPct val="115000"/>
                        </a:lnSpc>
                      </a:pPr>
                      <a:r>
                        <a:rPr lang="en-US" sz="800" b="1" dirty="0">
                          <a:solidFill>
                            <a:srgbClr val="000000"/>
                          </a:solidFill>
                          <a:latin typeface="Arial"/>
                          <a:ea typeface="Arial"/>
                          <a:cs typeface="Arial"/>
                        </a:rPr>
                        <a:t>Subawardee</a:t>
                      </a:r>
                    </a:p>
                  </a:txBody>
                  <a:tcPr marL="45720" marR="45720" marT="45720" marB="45720" anchor="t">
                    <a:lnL>
                      <a:noFill/>
                    </a:lnL>
                    <a:lnR>
                      <a:noFill/>
                    </a:lnR>
                    <a:lnT>
                      <a:noFill/>
                    </a:lnT>
                    <a:lnB w="19050" cap="flat" cmpd="sng" algn="ctr">
                      <a:solidFill>
                        <a:srgbClr val="000000"/>
                      </a:solidFill>
                      <a:prstDash val="solid"/>
                    </a:lnB>
                    <a:noFill/>
                  </a:tcPr>
                </a:tc>
                <a:tc>
                  <a:txBody>
                    <a:bodyPr anchor="t"/>
                    <a:lstStyle/>
                    <a:p>
                      <a:pPr algn="l">
                        <a:lnSpc>
                          <a:spcPct val="115000"/>
                        </a:lnSpc>
                      </a:pPr>
                      <a:r>
                        <a:rPr lang="en-US" sz="800" b="1" dirty="0">
                          <a:solidFill>
                            <a:srgbClr val="000000"/>
                          </a:solidFill>
                          <a:latin typeface="Arial"/>
                          <a:ea typeface="Arial"/>
                          <a:cs typeface="Arial"/>
                        </a:rPr>
                        <a:t>Subawardee UEI</a:t>
                      </a:r>
                    </a:p>
                  </a:txBody>
                  <a:tcPr marL="45720" marR="45720" marT="45720" marB="45720" anchor="t">
                    <a:lnL>
                      <a:noFill/>
                    </a:lnL>
                    <a:lnR>
                      <a:noFill/>
                    </a:lnR>
                    <a:lnT>
                      <a:noFill/>
                    </a:lnT>
                    <a:lnB w="19050" cap="flat" cmpd="sng" algn="ctr">
                      <a:solidFill>
                        <a:srgbClr val="000000"/>
                      </a:solidFill>
                      <a:prstDash val="solid"/>
                    </a:lnB>
                    <a:noFill/>
                  </a:tcPr>
                </a:tc>
                <a:tc>
                  <a:txBody>
                    <a:bodyPr anchor="t"/>
                    <a:lstStyle/>
                    <a:p>
                      <a:pPr algn="ctr">
                        <a:lnSpc>
                          <a:spcPct val="115000"/>
                        </a:lnSpc>
                      </a:pPr>
                      <a:r>
                        <a:rPr lang="en-US" sz="800" b="1" dirty="0">
                          <a:solidFill>
                            <a:srgbClr val="000000"/>
                          </a:solidFill>
                          <a:latin typeface="Arial"/>
                          <a:ea typeface="Arial"/>
                          <a:cs typeface="Arial"/>
                        </a:rPr>
                        <a:t>Award date</a:t>
                      </a:r>
                    </a:p>
                  </a:txBody>
                  <a:tcPr marL="45720" marR="45720" marT="45720" marB="45720" anchor="t">
                    <a:lnL>
                      <a:noFill/>
                    </a:lnL>
                    <a:lnR>
                      <a:noFill/>
                    </a:lnR>
                    <a:lnT>
                      <a:noFill/>
                    </a:lnT>
                    <a:lnB w="19050" cap="flat" cmpd="sng" algn="ctr">
                      <a:solidFill>
                        <a:srgbClr val="000000"/>
                      </a:solidFill>
                      <a:prstDash val="solid"/>
                    </a:lnB>
                    <a:noFill/>
                  </a:tcPr>
                </a:tc>
                <a:tc>
                  <a:txBody>
                    <a:bodyPr anchor="t"/>
                    <a:lstStyle/>
                    <a:p>
                      <a:pPr algn="r">
                        <a:lnSpc>
                          <a:spcPct val="115000"/>
                        </a:lnSpc>
                      </a:pPr>
                      <a:r>
                        <a:rPr lang="en-US" sz="800" b="1" dirty="0">
                          <a:solidFill>
                            <a:srgbClr val="000000"/>
                          </a:solidFill>
                          <a:latin typeface="Arial"/>
                          <a:ea typeface="Arial"/>
                          <a:cs typeface="Arial"/>
                        </a:rPr>
                        <a:t>$M</a:t>
                      </a:r>
                    </a:p>
                  </a:txBody>
                  <a:tcPr marL="45720" marR="45720" marT="45720" marB="45720" anchor="t">
                    <a:lnL>
                      <a:noFill/>
                    </a:lnL>
                    <a:lnR>
                      <a:noFill/>
                    </a:lnR>
                    <a:lnT>
                      <a:noFill/>
                    </a:lnT>
                    <a:lnB w="19050" cap="flat" cmpd="sng" algn="ctr">
                      <a:solidFill>
                        <a:srgbClr val="000000"/>
                      </a:solidFill>
                      <a:prstDash val="solid"/>
                    </a:lnB>
                    <a:noFill/>
                  </a:tcPr>
                </a:tc>
                <a:tc>
                  <a:txBody>
                    <a:bodyPr anchor="t"/>
                    <a:lstStyle/>
                    <a:p>
                      <a:pPr algn="ctr">
                        <a:lnSpc>
                          <a:spcPct val="115000"/>
                        </a:lnSpc>
                      </a:pPr>
                      <a:r>
                        <a:rPr lang="en-US" sz="800" b="1" dirty="0">
                          <a:solidFill>
                            <a:srgbClr val="000000"/>
                          </a:solidFill>
                          <a:latin typeface="Arial"/>
                          <a:ea typeface="Arial"/>
                          <a:cs typeface="Arial"/>
                        </a:rPr>
                        <a:t>NAICS-4</a:t>
                      </a:r>
                    </a:p>
                  </a:txBody>
                  <a:tcPr marL="45720" marR="45720" marT="45720" marB="45720" anchor="t">
                    <a:lnL>
                      <a:noFill/>
                    </a:lnL>
                    <a:lnR>
                      <a:noFill/>
                    </a:lnR>
                    <a:lnT>
                      <a:noFill/>
                    </a:lnT>
                    <a:lnB w="19050" cap="flat" cmpd="sng" algn="ctr">
                      <a:solidFill>
                        <a:srgbClr val="000000"/>
                      </a:solidFill>
                      <a:prstDash val="solid"/>
                    </a:lnB>
                    <a:noFill/>
                  </a:tcPr>
                </a:tc>
                <a:tc>
                  <a:txBody>
                    <a:bodyPr anchor="t"/>
                    <a:lstStyle/>
                    <a:p>
                      <a:pPr algn="l">
                        <a:lnSpc>
                          <a:spcPct val="115000"/>
                        </a:lnSpc>
                      </a:pPr>
                      <a:r>
                        <a:rPr lang="en-US" sz="800" b="1" dirty="0">
                          <a:solidFill>
                            <a:srgbClr val="000000"/>
                          </a:solidFill>
                          <a:latin typeface="Arial"/>
                          <a:ea typeface="Arial"/>
                          <a:cs typeface="Arial"/>
                        </a:rPr>
                        <a:t>Report ID</a:t>
                      </a:r>
                    </a:p>
                  </a:txBody>
                  <a:tcPr marL="45720" marR="45720" marT="45720" marB="45720" anchor="t">
                    <a:lnL>
                      <a:noFill/>
                    </a:lnL>
                    <a:lnR>
                      <a:noFill/>
                    </a:lnR>
                    <a:lnT>
                      <a:noFill/>
                    </a:lnT>
                    <a:lnB w="19050" cap="flat" cmpd="sng" algn="ctr">
                      <a:solidFill>
                        <a:srgbClr val="000000"/>
                      </a:solidFill>
                      <a:prstDash val="solid"/>
                    </a:lnB>
                    <a:noFill/>
                  </a:tcPr>
                </a:tc>
              </a:tr>
              <a:tr h="213360">
                <a:tc>
                  <a:txBody>
                    <a:bodyPr anchor="t"/>
                    <a:lstStyle/>
                    <a:p>
                      <a:pPr algn="l">
                        <a:lnSpc>
                          <a:spcPct val="115000"/>
                        </a:lnSpc>
                      </a:pPr>
                      <a:r>
                        <a:rPr lang="en-US" sz="800" b="1" dirty="0">
                          <a:solidFill>
                            <a:srgbClr val="000000"/>
                          </a:solidFill>
                          <a:latin typeface="Arial"/>
                          <a:ea typeface="Arial"/>
                          <a:cs typeface="Arial"/>
                        </a:rPr>
                        <a:t>N0002412C2115</a:t>
                      </a:r>
                    </a:p>
                  </a:txBody>
                  <a:tcPr marL="45720" marR="45720" marT="45720" marB="45720" anchor="t">
                    <a:lnL>
                      <a:noFill/>
                    </a:lnL>
                    <a:lnR>
                      <a:noFill/>
                    </a:lnR>
                    <a:lnT>
                      <a:noFill/>
                    </a:lnT>
                    <a:lnB w="12700" cap="flat" cmpd="sng" algn="ctr">
                      <a:solidFill>
                        <a:srgbClr val="000000"/>
                      </a:solidFill>
                      <a:prstDash val="solid"/>
                    </a:lnB>
                    <a:noFill/>
                  </a:tcPr>
                </a:tc>
                <a:tc>
                  <a:txBody>
                    <a:bodyPr anchor="t"/>
                    <a:lstStyle/>
                    <a:p>
                      <a:pPr algn="l">
                        <a:lnSpc>
                          <a:spcPct val="115000"/>
                        </a:lnSpc>
                      </a:pPr>
                      <a:r>
                        <a:rPr lang="en-US" sz="800" b="0" dirty="0">
                          <a:solidFill>
                            <a:srgbClr val="000000"/>
                          </a:solidFill>
                          <a:latin typeface="Arial"/>
                          <a:ea typeface="Arial"/>
                          <a:cs typeface="Arial"/>
                        </a:rPr>
                        <a:t>BAKER SHEET METAL CORPORATION</a:t>
                      </a:r>
                    </a:p>
                  </a:txBody>
                  <a:tcPr marL="45720" marR="45720" marT="45720" marB="45720" anchor="t">
                    <a:lnL>
                      <a:noFill/>
                    </a:lnL>
                    <a:lnR>
                      <a:noFill/>
                    </a:lnR>
                    <a:lnT>
                      <a:noFill/>
                    </a:lnT>
                    <a:lnB w="12700" cap="flat" cmpd="sng" algn="ctr">
                      <a:solidFill>
                        <a:srgbClr val="000000"/>
                      </a:solidFill>
                      <a:prstDash val="solid"/>
                    </a:lnB>
                    <a:noFill/>
                  </a:tcPr>
                </a:tc>
                <a:tc>
                  <a:txBody>
                    <a:bodyPr anchor="t"/>
                    <a:lstStyle/>
                    <a:p>
                      <a:pPr algn="l">
                        <a:lnSpc>
                          <a:spcPct val="115000"/>
                        </a:lnSpc>
                      </a:pPr>
                      <a:r>
                        <a:rPr lang="en-US" sz="800" b="0" dirty="0">
                          <a:solidFill>
                            <a:srgbClr val="000000"/>
                          </a:solidFill>
                          <a:latin typeface="Arial"/>
                          <a:ea typeface="Arial"/>
                          <a:cs typeface="Arial"/>
                        </a:rPr>
                        <a:t>RYRLL49HWN65</a:t>
                      </a:r>
                    </a:p>
                  </a:txBody>
                  <a:tcPr marL="45720" marR="45720" marT="45720" marB="45720" anchor="t">
                    <a:lnL>
                      <a:noFill/>
                    </a:lnL>
                    <a:lnR>
                      <a:noFill/>
                    </a:lnR>
                    <a:lnT>
                      <a:noFill/>
                    </a:lnT>
                    <a:lnB w="12700" cap="flat" cmpd="sng" algn="ctr">
                      <a:solidFill>
                        <a:srgbClr val="000000"/>
                      </a:solidFill>
                      <a:prstDash val="solid"/>
                    </a:lnB>
                    <a:noFill/>
                  </a:tcPr>
                </a:tc>
                <a:tc>
                  <a:txBody>
                    <a:bodyPr anchor="t"/>
                    <a:lstStyle/>
                    <a:p>
                      <a:pPr algn="ctr">
                        <a:lnSpc>
                          <a:spcPct val="115000"/>
                        </a:lnSpc>
                      </a:pPr>
                      <a:r>
                        <a:rPr lang="en-US" sz="800" b="0" dirty="0">
                          <a:solidFill>
                            <a:srgbClr val="000000"/>
                          </a:solidFill>
                          <a:latin typeface="Arial"/>
                          <a:ea typeface="Arial"/>
                          <a:cs typeface="Arial"/>
                        </a:rPr>
                        <a:t>2016-02-03</a:t>
                      </a:r>
                    </a:p>
                  </a:txBody>
                  <a:tcPr marL="45720" marR="45720" marT="45720" marB="45720" anchor="t">
                    <a:lnL>
                      <a:noFill/>
                    </a:lnL>
                    <a:lnR>
                      <a:noFill/>
                    </a:lnR>
                    <a:lnT>
                      <a:noFill/>
                    </a:lnT>
                    <a:lnB w="12700" cap="flat" cmpd="sng" algn="ctr">
                      <a:solidFill>
                        <a:srgbClr val="000000"/>
                      </a:solidFill>
                      <a:prstDash val="solid"/>
                    </a:lnB>
                    <a:noFill/>
                  </a:tcPr>
                </a:tc>
                <a:tc>
                  <a:txBody>
                    <a:bodyPr anchor="t"/>
                    <a:lstStyle/>
                    <a:p>
                      <a:pPr algn="r">
                        <a:lnSpc>
                          <a:spcPct val="115000"/>
                        </a:lnSpc>
                      </a:pPr>
                      <a:r>
                        <a:rPr lang="en-US" sz="800" b="0" dirty="0">
                          <a:solidFill>
                            <a:srgbClr val="000000"/>
                          </a:solidFill>
                          <a:latin typeface="Arial"/>
                          <a:ea typeface="Arial"/>
                          <a:cs typeface="Arial"/>
                        </a:rPr>
                        <a:t>0.085</a:t>
                      </a:r>
                    </a:p>
                  </a:txBody>
                  <a:tcPr marL="45720" marR="45720" marT="45720" marB="45720" anchor="t">
                    <a:lnL>
                      <a:noFill/>
                    </a:lnL>
                    <a:lnR>
                      <a:noFill/>
                    </a:lnR>
                    <a:lnT>
                      <a:noFill/>
                    </a:lnT>
                    <a:lnB w="12700" cap="flat" cmpd="sng" algn="ctr">
                      <a:solidFill>
                        <a:srgbClr val="000000"/>
                      </a:solidFill>
                      <a:prstDash val="solid"/>
                    </a:lnB>
                    <a:noFill/>
                  </a:tcPr>
                </a:tc>
                <a:tc>
                  <a:txBody>
                    <a:bodyPr anchor="t"/>
                    <a:lstStyle/>
                    <a:p>
                      <a:pPr algn="ctr">
                        <a:lnSpc>
                          <a:spcPct val="115000"/>
                        </a:lnSpc>
                      </a:pPr>
                      <a:r>
                        <a:rPr lang="en-US" sz="800" b="0" dirty="0">
                          <a:solidFill>
                            <a:srgbClr val="000000"/>
                          </a:solidFill>
                          <a:latin typeface="Arial"/>
                          <a:ea typeface="Arial"/>
                          <a:cs typeface="Arial"/>
                        </a:rPr>
                        <a:t>3323</a:t>
                      </a:r>
                    </a:p>
                  </a:txBody>
                  <a:tcPr marL="45720" marR="45720" marT="45720" marB="45720" anchor="t">
                    <a:lnL>
                      <a:noFill/>
                    </a:lnL>
                    <a:lnR>
                      <a:noFill/>
                    </a:lnR>
                    <a:lnT>
                      <a:noFill/>
                    </a:lnT>
                    <a:lnB w="12700" cap="flat" cmpd="sng" algn="ctr">
                      <a:solidFill>
                        <a:srgbClr val="000000"/>
                      </a:solidFill>
                      <a:prstDash val="solid"/>
                    </a:lnB>
                    <a:noFill/>
                  </a:tcPr>
                </a:tc>
                <a:tc>
                  <a:txBody>
                    <a:bodyPr anchor="t"/>
                    <a:lstStyle/>
                    <a:p>
                      <a:pPr algn="l">
                        <a:lnSpc>
                          <a:spcPct val="115000"/>
                        </a:lnSpc>
                      </a:pPr>
                      <a:r>
                        <a:rPr lang="en-US" sz="800" b="0" dirty="0">
                          <a:solidFill>
                            <a:srgbClr val="000000"/>
                          </a:solidFill>
                          <a:latin typeface="Arial"/>
                          <a:ea typeface="Arial"/>
                          <a:cs typeface="Arial"/>
                        </a:rPr>
                        <a:t>20692413</a:t>
                      </a:r>
                    </a:p>
                  </a:txBody>
                  <a:tcPr marL="45720" marR="45720" marT="45720" marB="45720" anchor="t">
                    <a:lnL>
                      <a:noFill/>
                    </a:lnL>
                    <a:lnR>
                      <a:noFill/>
                    </a:lnR>
                    <a:lnT>
                      <a:noFill/>
                    </a:lnT>
                    <a:lnB w="12700" cap="flat" cmpd="sng" algn="ctr">
                      <a:solidFill>
                        <a:srgbClr val="000000"/>
                      </a:solidFill>
                      <a:prstDash val="solid"/>
                    </a:lnB>
                    <a:noFill/>
                  </a:tcPr>
                </a:tc>
              </a:tr>
              <a:tr h="213360">
                <a:tc>
                  <a:txBody>
                    <a:bodyPr anchor="t"/>
                    <a:lstStyle/>
                    <a:p>
                      <a:pPr algn="l">
                        <a:lnSpc>
                          <a:spcPct val="115000"/>
                        </a:lnSpc>
                      </a:pPr>
                      <a:r>
                        <a:rPr lang="en-US" sz="800" b="1" dirty="0">
                          <a:solidFill>
                            <a:srgbClr val="000000"/>
                          </a:solidFill>
                          <a:latin typeface="Arial"/>
                          <a:ea typeface="Arial"/>
                          <a:cs typeface="Arial"/>
                        </a:rPr>
                        <a:t>N0002412C2115</a:t>
                      </a:r>
                    </a:p>
                  </a:txBody>
                  <a:tcPr marL="45720" marR="45720" marT="45720" marB="45720" anchor="t">
                    <a:lnL>
                      <a:noFill/>
                    </a:lnL>
                    <a:lnR>
                      <a:noFill/>
                    </a:lnR>
                    <a:lnT>
                      <a:noFill/>
                    </a:lnT>
                    <a:lnB w="12700" cap="flat" cmpd="sng" algn="ctr">
                      <a:solidFill>
                        <a:srgbClr val="000000"/>
                      </a:solidFill>
                      <a:prstDash val="solid"/>
                    </a:lnB>
                    <a:noFill/>
                  </a:tcPr>
                </a:tc>
                <a:tc>
                  <a:txBody>
                    <a:bodyPr anchor="t"/>
                    <a:lstStyle/>
                    <a:p>
                      <a:pPr algn="l">
                        <a:lnSpc>
                          <a:spcPct val="115000"/>
                        </a:lnSpc>
                      </a:pPr>
                      <a:r>
                        <a:rPr lang="en-US" sz="800" b="0" dirty="0">
                          <a:solidFill>
                            <a:srgbClr val="000000"/>
                          </a:solidFill>
                          <a:latin typeface="Arial"/>
                          <a:ea typeface="Arial"/>
                          <a:cs typeface="Arial"/>
                        </a:rPr>
                        <a:t>ARNOLD MAGNETICS CORPORATION</a:t>
                      </a:r>
                    </a:p>
                  </a:txBody>
                  <a:tcPr marL="45720" marR="45720" marT="45720" marB="45720" anchor="t">
                    <a:lnL>
                      <a:noFill/>
                    </a:lnL>
                    <a:lnR>
                      <a:noFill/>
                    </a:lnR>
                    <a:lnT>
                      <a:noFill/>
                    </a:lnT>
                    <a:lnB w="12700" cap="flat" cmpd="sng" algn="ctr">
                      <a:solidFill>
                        <a:srgbClr val="000000"/>
                      </a:solidFill>
                      <a:prstDash val="solid"/>
                    </a:lnB>
                    <a:noFill/>
                  </a:tcPr>
                </a:tc>
                <a:tc>
                  <a:txBody>
                    <a:bodyPr anchor="t"/>
                    <a:lstStyle/>
                    <a:p>
                      <a:pPr algn="l">
                        <a:lnSpc>
                          <a:spcPct val="115000"/>
                        </a:lnSpc>
                      </a:pPr>
                      <a:r>
                        <a:rPr lang="en-US" sz="800" b="0" dirty="0">
                          <a:solidFill>
                            <a:srgbClr val="000000"/>
                          </a:solidFill>
                          <a:latin typeface="Arial"/>
                          <a:ea typeface="Arial"/>
                          <a:cs typeface="Arial"/>
                        </a:rPr>
                        <a:t>RK6GKSXPC8W7</a:t>
                      </a:r>
                    </a:p>
                  </a:txBody>
                  <a:tcPr marL="45720" marR="45720" marT="45720" marB="45720" anchor="t">
                    <a:lnL>
                      <a:noFill/>
                    </a:lnL>
                    <a:lnR>
                      <a:noFill/>
                    </a:lnR>
                    <a:lnT>
                      <a:noFill/>
                    </a:lnT>
                    <a:lnB w="12700" cap="flat" cmpd="sng" algn="ctr">
                      <a:solidFill>
                        <a:srgbClr val="000000"/>
                      </a:solidFill>
                      <a:prstDash val="solid"/>
                    </a:lnB>
                    <a:noFill/>
                  </a:tcPr>
                </a:tc>
                <a:tc>
                  <a:txBody>
                    <a:bodyPr anchor="t"/>
                    <a:lstStyle/>
                    <a:p>
                      <a:pPr algn="ctr">
                        <a:lnSpc>
                          <a:spcPct val="115000"/>
                        </a:lnSpc>
                      </a:pPr>
                      <a:r>
                        <a:rPr lang="en-US" sz="800" b="0" dirty="0">
                          <a:solidFill>
                            <a:srgbClr val="000000"/>
                          </a:solidFill>
                          <a:latin typeface="Arial"/>
                          <a:ea typeface="Arial"/>
                          <a:cs typeface="Arial"/>
                        </a:rPr>
                        <a:t>2016-02-03</a:t>
                      </a:r>
                    </a:p>
                  </a:txBody>
                  <a:tcPr marL="45720" marR="45720" marT="45720" marB="45720" anchor="t">
                    <a:lnL>
                      <a:noFill/>
                    </a:lnL>
                    <a:lnR>
                      <a:noFill/>
                    </a:lnR>
                    <a:lnT>
                      <a:noFill/>
                    </a:lnT>
                    <a:lnB w="12700" cap="flat" cmpd="sng" algn="ctr">
                      <a:solidFill>
                        <a:srgbClr val="000000"/>
                      </a:solidFill>
                      <a:prstDash val="solid"/>
                    </a:lnB>
                    <a:noFill/>
                  </a:tcPr>
                </a:tc>
                <a:tc>
                  <a:txBody>
                    <a:bodyPr anchor="t"/>
                    <a:lstStyle/>
                    <a:p>
                      <a:pPr algn="r">
                        <a:lnSpc>
                          <a:spcPct val="115000"/>
                        </a:lnSpc>
                      </a:pPr>
                      <a:r>
                        <a:rPr lang="en-US" sz="800" b="0" dirty="0">
                          <a:solidFill>
                            <a:srgbClr val="000000"/>
                          </a:solidFill>
                          <a:latin typeface="Arial"/>
                          <a:ea typeface="Arial"/>
                          <a:cs typeface="Arial"/>
                        </a:rPr>
                        <a:t>0.134</a:t>
                      </a:r>
                    </a:p>
                  </a:txBody>
                  <a:tcPr marL="45720" marR="45720" marT="45720" marB="45720" anchor="t">
                    <a:lnL>
                      <a:noFill/>
                    </a:lnL>
                    <a:lnR>
                      <a:noFill/>
                    </a:lnR>
                    <a:lnT>
                      <a:noFill/>
                    </a:lnT>
                    <a:lnB w="12700" cap="flat" cmpd="sng" algn="ctr">
                      <a:solidFill>
                        <a:srgbClr val="000000"/>
                      </a:solidFill>
                      <a:prstDash val="solid"/>
                    </a:lnB>
                    <a:noFill/>
                  </a:tcPr>
                </a:tc>
                <a:tc>
                  <a:txBody>
                    <a:bodyPr anchor="t"/>
                    <a:lstStyle/>
                    <a:p>
                      <a:pPr algn="ctr">
                        <a:lnSpc>
                          <a:spcPct val="115000"/>
                        </a:lnSpc>
                      </a:pPr>
                      <a:r>
                        <a:rPr lang="en-US" sz="800" b="0" dirty="0">
                          <a:solidFill>
                            <a:srgbClr val="000000"/>
                          </a:solidFill>
                          <a:latin typeface="Arial"/>
                          <a:ea typeface="Arial"/>
                          <a:cs typeface="Arial"/>
                        </a:rPr>
                        <a:t>3359</a:t>
                      </a:r>
                    </a:p>
                  </a:txBody>
                  <a:tcPr marL="45720" marR="45720" marT="45720" marB="45720" anchor="t">
                    <a:lnL>
                      <a:noFill/>
                    </a:lnL>
                    <a:lnR>
                      <a:noFill/>
                    </a:lnR>
                    <a:lnT>
                      <a:noFill/>
                    </a:lnT>
                    <a:lnB w="12700" cap="flat" cmpd="sng" algn="ctr">
                      <a:solidFill>
                        <a:srgbClr val="000000"/>
                      </a:solidFill>
                      <a:prstDash val="solid"/>
                    </a:lnB>
                    <a:noFill/>
                  </a:tcPr>
                </a:tc>
                <a:tc>
                  <a:txBody>
                    <a:bodyPr anchor="t"/>
                    <a:lstStyle/>
                    <a:p>
                      <a:pPr algn="l">
                        <a:lnSpc>
                          <a:spcPct val="115000"/>
                        </a:lnSpc>
                      </a:pPr>
                      <a:r>
                        <a:rPr lang="en-US" sz="800" b="0" dirty="0">
                          <a:solidFill>
                            <a:srgbClr val="000000"/>
                          </a:solidFill>
                          <a:latin typeface="Arial"/>
                          <a:ea typeface="Arial"/>
                          <a:cs typeface="Arial"/>
                        </a:rPr>
                        <a:t>20692322</a:t>
                      </a:r>
                    </a:p>
                  </a:txBody>
                  <a:tcPr marL="45720" marR="45720" marT="45720" marB="45720" anchor="t">
                    <a:lnL>
                      <a:noFill/>
                    </a:lnL>
                    <a:lnR>
                      <a:noFill/>
                    </a:lnR>
                    <a:lnT>
                      <a:noFill/>
                    </a:lnT>
                    <a:lnB w="12700" cap="flat" cmpd="sng" algn="ctr">
                      <a:solidFill>
                        <a:srgbClr val="000000"/>
                      </a:solidFill>
                      <a:prstDash val="solid"/>
                    </a:lnB>
                    <a:noFill/>
                  </a:tcPr>
                </a:tc>
              </a:tr>
              <a:tr h="213360">
                <a:tc>
                  <a:txBody>
                    <a:bodyPr anchor="t"/>
                    <a:lstStyle/>
                    <a:p>
                      <a:pPr algn="l">
                        <a:lnSpc>
                          <a:spcPct val="115000"/>
                        </a:lnSpc>
                      </a:pPr>
                      <a:r>
                        <a:rPr lang="en-US" sz="800" b="1" dirty="0">
                          <a:solidFill>
                            <a:srgbClr val="000000"/>
                          </a:solidFill>
                          <a:latin typeface="Arial"/>
                          <a:ea typeface="Arial"/>
                          <a:cs typeface="Arial"/>
                        </a:rPr>
                        <a:t>N0002413C2128</a:t>
                      </a:r>
                    </a:p>
                  </a:txBody>
                  <a:tcPr marL="45720" marR="45720" marT="45720" marB="45720" anchor="t">
                    <a:lnL>
                      <a:noFill/>
                    </a:lnL>
                    <a:lnR>
                      <a:noFill/>
                    </a:lnR>
                    <a:lnT>
                      <a:noFill/>
                    </a:lnT>
                    <a:lnB w="12700" cap="flat" cmpd="sng" algn="ctr">
                      <a:solidFill>
                        <a:srgbClr val="000000"/>
                      </a:solidFill>
                      <a:prstDash val="solid"/>
                    </a:lnB>
                    <a:noFill/>
                  </a:tcPr>
                </a:tc>
                <a:tc>
                  <a:txBody>
                    <a:bodyPr anchor="t"/>
                    <a:lstStyle/>
                    <a:p>
                      <a:pPr algn="l">
                        <a:lnSpc>
                          <a:spcPct val="115000"/>
                        </a:lnSpc>
                      </a:pPr>
                      <a:r>
                        <a:rPr lang="en-US" sz="800" b="0" dirty="0">
                          <a:solidFill>
                            <a:srgbClr val="000000"/>
                          </a:solidFill>
                          <a:latin typeface="Arial"/>
                          <a:ea typeface="Arial"/>
                          <a:cs typeface="Arial"/>
                        </a:rPr>
                        <a:t>SCOT FORGE COMPANY</a:t>
                      </a:r>
                    </a:p>
                  </a:txBody>
                  <a:tcPr marL="45720" marR="45720" marT="45720" marB="45720" anchor="t">
                    <a:lnL>
                      <a:noFill/>
                    </a:lnL>
                    <a:lnR>
                      <a:noFill/>
                    </a:lnR>
                    <a:lnT>
                      <a:noFill/>
                    </a:lnT>
                    <a:lnB w="12700" cap="flat" cmpd="sng" algn="ctr">
                      <a:solidFill>
                        <a:srgbClr val="000000"/>
                      </a:solidFill>
                      <a:prstDash val="solid"/>
                    </a:lnB>
                    <a:noFill/>
                  </a:tcPr>
                </a:tc>
                <a:tc>
                  <a:txBody>
                    <a:bodyPr anchor="t"/>
                    <a:lstStyle/>
                    <a:p>
                      <a:pPr algn="l">
                        <a:lnSpc>
                          <a:spcPct val="115000"/>
                        </a:lnSpc>
                      </a:pPr>
                      <a:r>
                        <a:rPr lang="en-US" sz="800" b="0" dirty="0">
                          <a:solidFill>
                            <a:srgbClr val="000000"/>
                          </a:solidFill>
                          <a:latin typeface="Arial"/>
                          <a:ea typeface="Arial"/>
                          <a:cs typeface="Arial"/>
                        </a:rPr>
                        <a:t>N1PJDANWUJ61</a:t>
                      </a:r>
                    </a:p>
                  </a:txBody>
                  <a:tcPr marL="45720" marR="45720" marT="45720" marB="45720" anchor="t">
                    <a:lnL>
                      <a:noFill/>
                    </a:lnL>
                    <a:lnR>
                      <a:noFill/>
                    </a:lnR>
                    <a:lnT>
                      <a:noFill/>
                    </a:lnT>
                    <a:lnB w="12700" cap="flat" cmpd="sng" algn="ctr">
                      <a:solidFill>
                        <a:srgbClr val="000000"/>
                      </a:solidFill>
                      <a:prstDash val="solid"/>
                    </a:lnB>
                    <a:noFill/>
                  </a:tcPr>
                </a:tc>
                <a:tc>
                  <a:txBody>
                    <a:bodyPr anchor="t"/>
                    <a:lstStyle/>
                    <a:p>
                      <a:pPr algn="ctr">
                        <a:lnSpc>
                          <a:spcPct val="115000"/>
                        </a:lnSpc>
                      </a:pPr>
                      <a:r>
                        <a:rPr lang="en-US" sz="800" b="0" dirty="0">
                          <a:solidFill>
                            <a:srgbClr val="000000"/>
                          </a:solidFill>
                          <a:latin typeface="Arial"/>
                          <a:ea typeface="Arial"/>
                          <a:cs typeface="Arial"/>
                        </a:rPr>
                        <a:t>2016-02-18</a:t>
                      </a:r>
                    </a:p>
                  </a:txBody>
                  <a:tcPr marL="45720" marR="45720" marT="45720" marB="45720" anchor="t">
                    <a:lnL>
                      <a:noFill/>
                    </a:lnL>
                    <a:lnR>
                      <a:noFill/>
                    </a:lnR>
                    <a:lnT>
                      <a:noFill/>
                    </a:lnT>
                    <a:lnB w="12700" cap="flat" cmpd="sng" algn="ctr">
                      <a:solidFill>
                        <a:srgbClr val="000000"/>
                      </a:solidFill>
                      <a:prstDash val="solid"/>
                    </a:lnB>
                    <a:noFill/>
                  </a:tcPr>
                </a:tc>
                <a:tc>
                  <a:txBody>
                    <a:bodyPr anchor="t"/>
                    <a:lstStyle/>
                    <a:p>
                      <a:pPr algn="r">
                        <a:lnSpc>
                          <a:spcPct val="115000"/>
                        </a:lnSpc>
                      </a:pPr>
                      <a:r>
                        <a:rPr lang="en-US" sz="800" b="0" dirty="0">
                          <a:solidFill>
                            <a:srgbClr val="000000"/>
                          </a:solidFill>
                          <a:latin typeface="Arial"/>
                          <a:ea typeface="Arial"/>
                          <a:cs typeface="Arial"/>
                        </a:rPr>
                        <a:t>1.058</a:t>
                      </a:r>
                    </a:p>
                  </a:txBody>
                  <a:tcPr marL="45720" marR="45720" marT="45720" marB="45720" anchor="t">
                    <a:lnL>
                      <a:noFill/>
                    </a:lnL>
                    <a:lnR>
                      <a:noFill/>
                    </a:lnR>
                    <a:lnT>
                      <a:noFill/>
                    </a:lnT>
                    <a:lnB w="12700" cap="flat" cmpd="sng" algn="ctr">
                      <a:solidFill>
                        <a:srgbClr val="000000"/>
                      </a:solidFill>
                      <a:prstDash val="solid"/>
                    </a:lnB>
                    <a:noFill/>
                  </a:tcPr>
                </a:tc>
                <a:tc>
                  <a:txBody>
                    <a:bodyPr anchor="t"/>
                    <a:lstStyle/>
                    <a:p>
                      <a:pPr algn="ctr">
                        <a:lnSpc>
                          <a:spcPct val="115000"/>
                        </a:lnSpc>
                      </a:pPr>
                      <a:r>
                        <a:rPr lang="en-US" sz="800" b="0" dirty="0">
                          <a:solidFill>
                            <a:srgbClr val="000000"/>
                          </a:solidFill>
                          <a:latin typeface="Arial"/>
                          <a:ea typeface="Arial"/>
                          <a:cs typeface="Arial"/>
                        </a:rPr>
                        <a:t>3321</a:t>
                      </a:r>
                    </a:p>
                  </a:txBody>
                  <a:tcPr marL="45720" marR="45720" marT="45720" marB="45720" anchor="t">
                    <a:lnL>
                      <a:noFill/>
                    </a:lnL>
                    <a:lnR>
                      <a:noFill/>
                    </a:lnR>
                    <a:lnT>
                      <a:noFill/>
                    </a:lnT>
                    <a:lnB w="12700" cap="flat" cmpd="sng" algn="ctr">
                      <a:solidFill>
                        <a:srgbClr val="000000"/>
                      </a:solidFill>
                      <a:prstDash val="solid"/>
                    </a:lnB>
                    <a:noFill/>
                  </a:tcPr>
                </a:tc>
                <a:tc>
                  <a:txBody>
                    <a:bodyPr anchor="t"/>
                    <a:lstStyle/>
                    <a:p>
                      <a:pPr algn="l">
                        <a:lnSpc>
                          <a:spcPct val="115000"/>
                        </a:lnSpc>
                      </a:pPr>
                      <a:r>
                        <a:rPr lang="en-US" sz="800" b="0" dirty="0">
                          <a:solidFill>
                            <a:srgbClr val="000000"/>
                          </a:solidFill>
                          <a:latin typeface="Arial"/>
                          <a:ea typeface="Arial"/>
                          <a:cs typeface="Arial"/>
                        </a:rPr>
                        <a:t>20699650</a:t>
                      </a:r>
                    </a:p>
                  </a:txBody>
                  <a:tcPr marL="45720" marR="45720" marT="45720" marB="45720" anchor="t">
                    <a:lnL>
                      <a:noFill/>
                    </a:lnL>
                    <a:lnR>
                      <a:noFill/>
                    </a:lnR>
                    <a:lnT>
                      <a:noFill/>
                    </a:lnT>
                    <a:lnB w="12700" cap="flat" cmpd="sng" algn="ctr">
                      <a:solidFill>
                        <a:srgbClr val="000000"/>
                      </a:solidFill>
                      <a:prstDash val="solid"/>
                    </a:lnB>
                    <a:noFill/>
                  </a:tcPr>
                </a:tc>
              </a:tr>
              <a:tr h="213360">
                <a:tc>
                  <a:txBody>
                    <a:bodyPr anchor="t"/>
                    <a:lstStyle/>
                    <a:p>
                      <a:pPr algn="l">
                        <a:lnSpc>
                          <a:spcPct val="115000"/>
                        </a:lnSpc>
                      </a:pPr>
                      <a:r>
                        <a:rPr lang="en-US" sz="800" b="1" dirty="0">
                          <a:solidFill>
                            <a:srgbClr val="000000"/>
                          </a:solidFill>
                          <a:latin typeface="Arial"/>
                          <a:ea typeface="Arial"/>
                          <a:cs typeface="Arial"/>
                        </a:rPr>
                        <a:t>N0002411C2307</a:t>
                      </a:r>
                    </a:p>
                  </a:txBody>
                  <a:tcPr marL="45720" marR="45720" marT="45720" marB="45720" anchor="t">
                    <a:lnL>
                      <a:noFill/>
                    </a:lnL>
                    <a:lnR>
                      <a:noFill/>
                    </a:lnR>
                    <a:lnT>
                      <a:noFill/>
                    </a:lnT>
                    <a:lnB>
                      <a:noFill/>
                    </a:lnB>
                    <a:noFill/>
                  </a:tcPr>
                </a:tc>
                <a:tc>
                  <a:txBody>
                    <a:bodyPr anchor="t"/>
                    <a:lstStyle/>
                    <a:p>
                      <a:pPr algn="l">
                        <a:lnSpc>
                          <a:spcPct val="115000"/>
                        </a:lnSpc>
                      </a:pPr>
                      <a:r>
                        <a:rPr lang="en-US" sz="800" b="0" dirty="0">
                          <a:solidFill>
                            <a:srgbClr val="000000"/>
                          </a:solidFill>
                          <a:latin typeface="Arial"/>
                          <a:ea typeface="Arial"/>
                          <a:cs typeface="Arial"/>
                        </a:rPr>
                        <a:t>WESTLAND TECHNOLOGIES, INC.</a:t>
                      </a:r>
                    </a:p>
                  </a:txBody>
                  <a:tcPr marL="45720" marR="45720" marT="45720" marB="45720" anchor="t">
                    <a:lnL>
                      <a:noFill/>
                    </a:lnL>
                    <a:lnR>
                      <a:noFill/>
                    </a:lnR>
                    <a:lnT>
                      <a:noFill/>
                    </a:lnT>
                    <a:lnB>
                      <a:noFill/>
                    </a:lnB>
                    <a:noFill/>
                  </a:tcPr>
                </a:tc>
                <a:tc>
                  <a:txBody>
                    <a:bodyPr anchor="t"/>
                    <a:lstStyle/>
                    <a:p>
                      <a:pPr algn="l">
                        <a:lnSpc>
                          <a:spcPct val="115000"/>
                        </a:lnSpc>
                      </a:pPr>
                      <a:r>
                        <a:rPr lang="en-US" sz="800" b="0" dirty="0">
                          <a:solidFill>
                            <a:srgbClr val="000000"/>
                          </a:solidFill>
                          <a:latin typeface="Arial"/>
                          <a:ea typeface="Arial"/>
                          <a:cs typeface="Arial"/>
                        </a:rPr>
                        <a:t>HMBSX7Z72UK4</a:t>
                      </a:r>
                    </a:p>
                  </a:txBody>
                  <a:tcPr marL="45720" marR="45720" marT="45720" marB="45720" anchor="t">
                    <a:lnL>
                      <a:noFill/>
                    </a:lnL>
                    <a:lnR>
                      <a:noFill/>
                    </a:lnR>
                    <a:lnT>
                      <a:noFill/>
                    </a:lnT>
                    <a:lnB>
                      <a:noFill/>
                    </a:lnB>
                    <a:noFill/>
                  </a:tcPr>
                </a:tc>
                <a:tc>
                  <a:txBody>
                    <a:bodyPr anchor="t"/>
                    <a:lstStyle/>
                    <a:p>
                      <a:pPr algn="ctr">
                        <a:lnSpc>
                          <a:spcPct val="115000"/>
                        </a:lnSpc>
                      </a:pPr>
                      <a:r>
                        <a:rPr lang="en-US" sz="800" b="0" dirty="0">
                          <a:solidFill>
                            <a:srgbClr val="000000"/>
                          </a:solidFill>
                          <a:latin typeface="Arial"/>
                          <a:ea typeface="Arial"/>
                          <a:cs typeface="Arial"/>
                        </a:rPr>
                        <a:t>2013-05-09</a:t>
                      </a:r>
                    </a:p>
                  </a:txBody>
                  <a:tcPr marL="45720" marR="45720" marT="45720" marB="45720" anchor="t">
                    <a:lnL>
                      <a:noFill/>
                    </a:lnL>
                    <a:lnR>
                      <a:noFill/>
                    </a:lnR>
                    <a:lnT>
                      <a:noFill/>
                    </a:lnT>
                    <a:lnB>
                      <a:noFill/>
                    </a:lnB>
                    <a:noFill/>
                  </a:tcPr>
                </a:tc>
                <a:tc>
                  <a:txBody>
                    <a:bodyPr anchor="t"/>
                    <a:lstStyle/>
                    <a:p>
                      <a:pPr algn="r">
                        <a:lnSpc>
                          <a:spcPct val="115000"/>
                        </a:lnSpc>
                      </a:pPr>
                      <a:r>
                        <a:rPr lang="en-US" sz="800" b="0" dirty="0">
                          <a:solidFill>
                            <a:srgbClr val="000000"/>
                          </a:solidFill>
                          <a:latin typeface="Arial"/>
                          <a:ea typeface="Arial"/>
                          <a:cs typeface="Arial"/>
                        </a:rPr>
                        <a:t>0.106</a:t>
                      </a:r>
                    </a:p>
                  </a:txBody>
                  <a:tcPr marL="45720" marR="45720" marT="45720" marB="45720" anchor="t">
                    <a:lnL>
                      <a:noFill/>
                    </a:lnL>
                    <a:lnR>
                      <a:noFill/>
                    </a:lnR>
                    <a:lnT>
                      <a:noFill/>
                    </a:lnT>
                    <a:lnB>
                      <a:noFill/>
                    </a:lnB>
                    <a:noFill/>
                  </a:tcPr>
                </a:tc>
                <a:tc>
                  <a:txBody>
                    <a:bodyPr anchor="t"/>
                    <a:lstStyle/>
                    <a:p>
                      <a:pPr algn="ctr">
                        <a:lnSpc>
                          <a:spcPct val="115000"/>
                        </a:lnSpc>
                      </a:pPr>
                      <a:r>
                        <a:rPr lang="en-US" sz="800" b="0" dirty="0">
                          <a:solidFill>
                            <a:srgbClr val="000000"/>
                          </a:solidFill>
                          <a:latin typeface="Arial"/>
                          <a:ea typeface="Arial"/>
                          <a:cs typeface="Arial"/>
                        </a:rPr>
                        <a:t>3262</a:t>
                      </a:r>
                    </a:p>
                  </a:txBody>
                  <a:tcPr marL="45720" marR="45720" marT="45720" marB="45720" anchor="t">
                    <a:lnL>
                      <a:noFill/>
                    </a:lnL>
                    <a:lnR>
                      <a:noFill/>
                    </a:lnR>
                    <a:lnT>
                      <a:noFill/>
                    </a:lnT>
                    <a:lnB>
                      <a:noFill/>
                    </a:lnB>
                    <a:noFill/>
                  </a:tcPr>
                </a:tc>
                <a:tc>
                  <a:txBody>
                    <a:bodyPr anchor="t"/>
                    <a:lstStyle/>
                    <a:p>
                      <a:pPr algn="l">
                        <a:lnSpc>
                          <a:spcPct val="115000"/>
                        </a:lnSpc>
                      </a:pPr>
                      <a:r>
                        <a:rPr lang="en-US" sz="800" b="0" dirty="0">
                          <a:solidFill>
                            <a:srgbClr val="000000"/>
                          </a:solidFill>
                          <a:latin typeface="Arial"/>
                          <a:ea typeface="Arial"/>
                          <a:cs typeface="Arial"/>
                        </a:rPr>
                        <a:t>20684452</a:t>
                      </a:r>
                    </a:p>
                  </a:txBody>
                  <a:tcPr marL="45720" marR="45720" marT="45720" marB="45720" anchor="t">
                    <a:lnL>
                      <a:noFill/>
                    </a:lnL>
                    <a:lnR>
                      <a:noFill/>
                    </a:lnR>
                    <a:lnT>
                      <a:noFill/>
                    </a:lnT>
                    <a:lnB>
                      <a:noFill/>
                    </a:lnB>
                    <a:noFill/>
                  </a:tcPr>
                </a:tc>
              </a:tr>
            </a:tbl>
          </a:graphicData>
        </a:graphic>
      </p:graphicFrame>
      <p:sp>
        <p:nvSpPr>
          <p:cNvPr id="9999" name="Sources"/>
          <p:cNvSpPr txBox="1"/>
          <p:nvPr/>
        </p:nvSpPr>
        <p:spPr>
          <a:xfrm>
            <a:off x="453079" y="5930000"/>
            <a:ext cx="11282362" cy="540000"/>
          </a:xfrm>
          <a:prstGeom prst="rect">
            <a:avLst/>
          </a:prstGeom>
          <a:noFill/>
          <a:ln>
            <a:noFill/>
          </a:ln>
        </p:spPr>
        <p:txBody>
          <a:bodyPr wrap="square" anchor="t" lIns="91440" tIns="45720" rIns="91440" bIns="45720"/>
          <a:lstStyle/>
          <a:p>
            <a:r>
              <a:rPr lang="en-US" sz="800" kern="1200" dirty="0">
                <a:solidFill>
                  <a:srgbClr val="162029"/>
                </a:solidFill>
                <a:latin typeface="Arial"/>
                <a:ea typeface="Arial"/>
                <a:cs typeface="Arial"/>
              </a:rPr>
              <a:t>FSRS / SAM.gov first-tier subaward pull, prime new-construction PIIDs; fields shown are native to the pull. Program, family and work type are classified downstream from the vendor, not the award text.</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Saronic Theme">
  <a:themeElements>
    <a:clrScheme name="Saronic">
      <a:dk1>
        <a:srgbClr val="162029"/>
      </a:dk1>
      <a:lt1>
        <a:srgbClr val="FFFFFF"/>
      </a:lt1>
      <a:dk2>
        <a:srgbClr val="44505C"/>
      </a:dk2>
      <a:lt2>
        <a:srgbClr val="F2F6FA"/>
      </a:lt2>
      <a:accent1>
        <a:srgbClr val="79838F"/>
      </a:accent1>
      <a:accent2>
        <a:srgbClr val="1D4D68"/>
      </a:accent2>
      <a:accent3>
        <a:srgbClr val="486D82"/>
      </a:accent3>
      <a:accent4>
        <a:srgbClr val="89A2B0"/>
      </a:accent4>
      <a:accent5>
        <a:srgbClr val="AFC2CC"/>
      </a:accent5>
      <a:accent6>
        <a:srgbClr val="D8E3EB"/>
      </a:accent6>
      <a:hlink>
        <a:srgbClr val="1D4D68"/>
      </a:hlink>
      <a:folHlink>
        <a:srgbClr val="89A2B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97799b1f-9a79-4131-92f4-d7e1a1e8fbf9}" enabled="0" method="" siteId="{97799b1f-9a79-4131-92f4-d7e1a1e8fbf9}" removed="1"/>
</clbl:labelList>
</file>

<file path=docProps/app.xml><?xml version="1.0" encoding="utf-8"?>
<Properties xmlns="http://schemas.openxmlformats.org/officeDocument/2006/extended-properties" xmlns:vt="http://schemas.openxmlformats.org/officeDocument/2006/docPropsVTypes">
  <Application>deck_primary</Application>
  <PresentationFormat>Widescreen</PresentationFormat>
  <Slides>14</Slides>
  <Notes>0</Notes>
  <HiddenSlides>0</HiddenSlides>
  <MMClips>0</MMClips>
  <ScaleCrop>false</ScaleCrop>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xsi="http://www.w3.org/2001/XMLSchema-instance">
  <dc:title>Distributed Shipbuilding - New Construction</dc:title>
  <dc:creator>deck_primary build_deck.py</dc:creator>
  <cp:lastModifiedBy>deck_primary build_deck.py</cp:lastModifiedBy>
  <cp:revision>1</cp:revision>
  <dcterms:created xsi:type="dcterms:W3CDTF">2026-06-20T23:48:19Z</dcterms:created>
  <dcterms:modified xsi:type="dcterms:W3CDTF">2026-06-20T23:48:19Z</dcterms:modified>
</cp:coreProperties>
</file>