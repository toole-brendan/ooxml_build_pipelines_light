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embeddings/Microsoft_Excel_Worksheet3.xlsx" ContentType="application/vnd.openxmlformats-officedocument.spreadsheetml.sheet"/>
  <Override PartName="/ppt/embeddings/Microsoft_Excel_Worksheet4.xlsx" ContentType="application/vnd.openxmlformats-officedocument.spreadsheetml.sheet"/>
  <Override PartName="/ppt/embeddings/Microsoft_Excel_Worksheet5.xlsx" ContentType="application/vnd.openxmlformats-officedocument.spreadsheetml.sheet"/>
  <Override PartName="/ppt/embeddings/Microsoft_Excel_Worksheet6.xlsx" ContentType="application/vnd.openxmlformats-officedocument.spreadsheetml.sheet"/>
  <Override PartName="/ppt/embeddings/Microsoft_Excel_Worksheet7.xlsx" ContentType="application/vnd.openxmlformats-officedocument.spreadsheetml.sheet"/>
  <Override PartName="/ppt/embeddings/Microsoft_Excel_Worksheet8.xlsx" ContentType="application/vnd.openxmlformats-officedocument.spreadsheetml.sheet"/>
  <Override PartName="/ppt/embeddings/Microsoft_Excel_Worksheet9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Virginia</c:v>
                </c:pt>
              </c:strCache>
            </c:strRef>
          </c:tx>
          <c:spPr>
            <a:solidFill>
              <a:srgbClr val="1D4D68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</c:strCache>
            </c:strRef>
          </c:cat>
          <c:val>
            <c:numRef>
              <c:f>Sheet1!$B$2:$B$7</c:f>
              <c:numCache>
                <c:formatCode>"$"0.0"B"</c:formatCode>
                <c:ptCount val="6"/>
                <c:pt idx="0">
                  <c:v>4.758</c:v>
                </c:pt>
                <c:pt idx="1">
                  <c:v>5.095</c:v>
                </c:pt>
                <c:pt idx="2">
                  <c:v>9.071</c:v>
                </c:pt>
                <c:pt idx="3">
                  <c:v>5.327</c:v>
                </c:pt>
                <c:pt idx="4">
                  <c:v>3.137</c:v>
                </c:pt>
                <c:pt idx="5">
                  <c:v>8.889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Columbia</c:v>
                </c:pt>
              </c:strCache>
            </c:strRef>
          </c:tx>
          <c:spPr>
            <a:solidFill>
              <a:srgbClr val="89A2B0"/>
            </a:solidFill>
            <a:ln w="6350">
              <a:solidFill>
                <a:srgbClr val="000000"/>
              </a:solidFill>
            </a:ln>
          </c:spPr>
          <c:invertIfNegative val="0"/>
          <c:dLbls>
            <c:dLbl>
              <c:idx val="0"/>
              <c:txPr>
                <a:bodyPr rot="0" spcFirstLastPara="1" vertOverflow="ellipsis" wrap="square" anchor="ctr" anchorCtr="1"/>
                <a:lstStyle/>
                <a:p>
                  <a:pPr>
                    <a:defRPr sz="900" b="1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rot="0" spcFirstLastPara="1" vertOverflow="ellipsis" wrap="square" anchor="ctr" anchorCtr="1"/>
                <a:lstStyle/>
                <a:p>
                  <a:pPr>
                    <a:defRPr sz="900" b="1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rot="0" spcFirstLastPara="1" vertOverflow="ellipsis" wrap="square" anchor="ctr" anchorCtr="1"/>
                <a:lstStyle/>
                <a:p>
                  <a:pPr>
                    <a:defRPr sz="900" b="1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rot="0" spcFirstLastPara="1" vertOverflow="ellipsis" wrap="square" anchor="ctr" anchorCtr="1"/>
                <a:lstStyle/>
                <a:p>
                  <a:pPr>
                    <a:defRPr sz="900" b="1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rot="0" spcFirstLastPara="1" vertOverflow="ellipsis" wrap="square" anchor="ctr" anchorCtr="1"/>
                <a:lstStyle/>
                <a:p>
                  <a:pPr>
                    <a:defRPr sz="900" b="1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rot="0" spcFirstLastPara="1" vertOverflow="ellipsis" wrap="square" anchor="ctr" anchorCtr="1"/>
                <a:lstStyle/>
                <a:p>
                  <a:pPr>
                    <a:defRPr sz="900" b="1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</c:strCache>
            </c:strRef>
          </c:cat>
          <c:val>
            <c:numRef>
              <c:f>Sheet1!$C$2:$C$7</c:f>
              <c:numCache>
                <c:formatCode>"$"0.0"B"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6.356</c:v>
                </c:pt>
                <c:pt idx="3">
                  <c:v>0.0</c:v>
                </c:pt>
                <c:pt idx="4">
                  <c:v>7.16</c:v>
                </c:pt>
                <c:pt idx="5">
                  <c:v>6.854</c:v>
                </c:pt>
              </c:numCache>
            </c:numRef>
          </c:val>
        </c:ser>
        <c:gapWidth val="9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0.0&quot;B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 rot="0" spcFirstLastPara="1" vertOverflow="ellipsis" wrap="square" anchor="ctr" anchorCtr="1"/>
        <a:lstStyle/>
        <a:p>
          <a:pPr>
            <a:defRPr sz="900" b="0">
              <a:solidFill>
                <a:srgbClr val="000000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TAM</c:v>
                </c:pt>
              </c:strCache>
            </c:strRef>
          </c:tx>
          <c:spPr>
            <a:solidFill>
              <a:srgbClr val="79838F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</c:strCache>
            </c:strRef>
          </c:cat>
          <c:val>
            <c:numRef>
              <c:f>Sheet1!$B$2:$B$7</c:f>
              <c:numCache>
                <c:formatCode>"$"0.0"B"</c:formatCode>
                <c:ptCount val="6"/>
                <c:pt idx="0">
                  <c:v>1.667</c:v>
                </c:pt>
                <c:pt idx="1">
                  <c:v>1.785</c:v>
                </c:pt>
                <c:pt idx="2">
                  <c:v>5.403</c:v>
                </c:pt>
                <c:pt idx="3">
                  <c:v>1.866</c:v>
                </c:pt>
                <c:pt idx="4">
                  <c:v>3.606</c:v>
                </c:pt>
                <c:pt idx="5">
                  <c:v>5.514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Broad SAM</c:v>
                </c:pt>
              </c:strCache>
            </c:strRef>
          </c:tx>
          <c:spPr>
            <a:solidFill>
              <a:srgbClr val="1D4D68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</c:strCache>
            </c:strRef>
          </c:cat>
          <c:val>
            <c:numRef>
              <c:f>Sheet1!$C$2:$C$7</c:f>
              <c:numCache>
                <c:formatCode>"$"0.0"B"</c:formatCode>
                <c:ptCount val="6"/>
                <c:pt idx="0">
                  <c:v>1.414</c:v>
                </c:pt>
                <c:pt idx="1">
                  <c:v>1.514</c:v>
                </c:pt>
                <c:pt idx="2">
                  <c:v>4.584</c:v>
                </c:pt>
                <c:pt idx="3">
                  <c:v>1.583</c:v>
                </c:pt>
                <c:pt idx="4">
                  <c:v>3.06</c:v>
                </c:pt>
                <c:pt idx="5">
                  <c:v>4.678</c:v>
                </c:pt>
              </c:numCache>
            </c:numRef>
          </c:val>
        </c:ser>
        <c:gapWidth val="11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0.0&quot;B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 rot="0" spcFirstLastPara="1" vertOverflow="ellipsis" wrap="square" anchor="ctr" anchorCtr="1"/>
        <a:lstStyle/>
        <a:p>
          <a:pPr>
            <a:defRPr sz="900" b="0">
              <a:solidFill>
                <a:srgbClr val="000000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gap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 view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10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POP anchor</c:v>
                </c:pt>
                <c:pt idx="1">
                  <c:v>AP/LLTM ref</c:v>
                </c:pt>
                <c:pt idx="2">
                  <c:v>Applied BC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0.518</c:v>
                </c:pt>
                <c:pt idx="1">
                  <c:v>0.485</c:v>
                </c:pt>
                <c:pt idx="2">
                  <c:v>0.35</c:v>
                </c:pt>
              </c:numCache>
            </c:numRef>
          </c:val>
        </c:ser>
        <c:gapWidth val="8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0.0%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Gross AP</c:v>
                </c:pt>
                <c:pt idx="1">
                  <c:v>GFE design weapons</c:v>
                </c:pt>
                <c:pt idx="2">
                  <c:v>Inside BC</c:v>
                </c:pt>
                <c:pt idx="3">
                  <c:v>Overlap</c:v>
                </c:pt>
                <c:pt idx="4">
                  <c:v>Additive base</c:v>
                </c:pt>
              </c:strCache>
            </c:strRef>
          </c:cat>
          <c:val>
            <c:numRef>
              <c:f>Sheet1!$B$2:$B$6</c:f>
              <c:numCache>
                <c:formatCode>"$"0.0"B"</c:formatCode>
                <c:ptCount val="5"/>
                <c:pt idx="1">
                  <c:v>17.436000000000003</c:v>
                </c:pt>
                <c:pt idx="2">
                  <c:v>0.5890000000000022</c:v>
                </c:pt>
                <c:pt idx="3">
                  <c:v>2.220446049250313e-15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486D82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Gross AP</c:v>
                </c:pt>
                <c:pt idx="1">
                  <c:v>GFE design weapons</c:v>
                </c:pt>
                <c:pt idx="2">
                  <c:v>Inside BC</c:v>
                </c:pt>
                <c:pt idx="3">
                  <c:v>Overlap</c:v>
                </c:pt>
                <c:pt idx="4">
                  <c:v>Additive base</c:v>
                </c:pt>
              </c:strCache>
            </c:strRef>
          </c:cat>
          <c:val>
            <c:numRef>
              <c:f>Sheet1!$C$2:$C$6</c:f>
              <c:numCache>
                <c:formatCode>"$"0.0"B"</c:formatCode>
                <c:ptCount val="5"/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1A1A1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Gross AP</c:v>
                </c:pt>
                <c:pt idx="1">
                  <c:v>GFE design weapons</c:v>
                </c:pt>
                <c:pt idx="2">
                  <c:v>Inside BC</c:v>
                </c:pt>
                <c:pt idx="3">
                  <c:v>Overlap</c:v>
                </c:pt>
                <c:pt idx="4">
                  <c:v>Additive base</c:v>
                </c:pt>
              </c:strCache>
            </c:strRef>
          </c:cat>
          <c:val>
            <c:numRef>
              <c:f>Sheet1!$D$2:$D$6</c:f>
              <c:numCache>
                <c:formatCode>"$"0.0"B"</c:formatCode>
                <c:ptCount val="5"/>
                <c:pt idx="1">
                  <c:v>27.273</c:v>
                </c:pt>
                <c:pt idx="2">
                  <c:v>16.847</c:v>
                </c:pt>
                <c:pt idx="3">
                  <c:v>0.589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D4D68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Gross AP</c:v>
                </c:pt>
                <c:pt idx="1">
                  <c:v>GFE design weapons</c:v>
                </c:pt>
                <c:pt idx="2">
                  <c:v>Inside BC</c:v>
                </c:pt>
                <c:pt idx="3">
                  <c:v>Overlap</c:v>
                </c:pt>
                <c:pt idx="4">
                  <c:v>Additive base</c:v>
                </c:pt>
              </c:strCache>
            </c:strRef>
          </c:cat>
          <c:val>
            <c:numRef>
              <c:f>Sheet1!$E$2:$E$6</c:f>
              <c:numCache>
                <c:formatCode>"$"0.0"B"</c:formatCode>
                <c:ptCount val="5"/>
                <c:pt idx="0">
                  <c:v>44.709</c:v>
                </c:pt>
                <c:pt idx="4">
                  <c:v>2.220446049250313e-15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0.0&quot;B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annual TAM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AFC2CC"/>
              </a:solidFill>
              <a:ln w="6350">
                <a:solidFill>
                  <a:srgbClr val="000000"/>
                </a:solidFill>
              </a:ln>
            </c:spPr>
          </c:dPt>
          <c:dPt>
            <c:idx val="4"/>
            <c:invertIfNegative val="0"/>
            <c:bubble3D val="0"/>
            <c:spPr>
              <a:solidFill>
                <a:srgbClr val="D8E3EB"/>
              </a:solidFill>
              <a:ln w="6350">
                <a:solidFill>
                  <a:srgbClr val="000000"/>
                </a:solidFill>
              </a:ln>
            </c:spPr>
          </c:dPt>
          <c:dPt>
            <c:idx val="5"/>
            <c:invertIfNegative val="0"/>
            <c:bubble3D val="0"/>
            <c:spPr>
              <a:solidFill>
                <a:srgbClr val="BEBEBE"/>
              </a:solidFill>
              <a:ln w="6350">
                <a:solidFill>
                  <a:srgbClr val="000000"/>
                </a:solidFill>
              </a:ln>
            </c:spPr>
          </c:dPt>
          <c:dPt>
            <c:idx val="6"/>
            <c:invertIfNegative val="0"/>
            <c:bubble3D val="0"/>
            <c:spPr>
              <a:solidFill>
                <a:srgbClr val="DBDBDB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10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Electrical/power</c:v>
                </c:pt>
                <c:pt idx="1">
                  <c:v>Structural</c:v>
                </c:pt>
                <c:pt idx="2">
                  <c:v>Piping/valves</c:v>
                </c:pt>
                <c:pt idx="3">
                  <c:v>Castings</c:v>
                </c:pt>
                <c:pt idx="4">
                  <c:v>Coatings</c:v>
                </c:pt>
                <c:pt idx="5">
                  <c:v>Machining</c:v>
                </c:pt>
                <c:pt idx="6">
                  <c:v>HVAC</c:v>
                </c:pt>
              </c:strCache>
            </c:strRef>
          </c:cat>
          <c:val>
            <c:numRef>
              <c:f>Sheet1!$B$2:$B$8</c:f>
              <c:numCache>
                <c:formatCode>"$"#,##0"M"</c:formatCode>
                <c:ptCount val="7"/>
                <c:pt idx="0">
                  <c:v>1257.1</c:v>
                </c:pt>
                <c:pt idx="1">
                  <c:v>624.5</c:v>
                </c:pt>
                <c:pt idx="2">
                  <c:v>519.6</c:v>
                </c:pt>
                <c:pt idx="3">
                  <c:v>142.8</c:v>
                </c:pt>
                <c:pt idx="4">
                  <c:v>101.5</c:v>
                </c:pt>
                <c:pt idx="5">
                  <c:v>98.1</c:v>
                </c:pt>
                <c:pt idx="6">
                  <c:v>61.9</c:v>
                </c:pt>
              </c:numCache>
            </c:numRef>
          </c:val>
        </c:ser>
        <c:gapWidth val="8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annual SAM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AFC2CC"/>
              </a:solidFill>
              <a:ln w="6350">
                <a:solidFill>
                  <a:srgbClr val="000000"/>
                </a:solidFill>
              </a:ln>
            </c:spPr>
          </c:dPt>
          <c:dPt>
            <c:idx val="4"/>
            <c:invertIfNegative val="0"/>
            <c:bubble3D val="0"/>
            <c:spPr>
              <a:solidFill>
                <a:srgbClr val="D8E3EB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10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Broad components</c:v>
                </c:pt>
                <c:pt idx="1">
                  <c:v>Electrical/power</c:v>
                </c:pt>
                <c:pt idx="2">
                  <c:v>Metal components</c:v>
                </c:pt>
                <c:pt idx="3">
                  <c:v>Modular assy</c:v>
                </c:pt>
                <c:pt idx="4">
                  <c:v>HM&amp;E</c:v>
                </c:pt>
              </c:strCache>
            </c:strRef>
          </c:cat>
          <c:val>
            <c:numRef>
              <c:f>Sheet1!$B$2:$B$6</c:f>
              <c:numCache>
                <c:formatCode>"$"#,##0"M"</c:formatCode>
                <c:ptCount val="5"/>
                <c:pt idx="0">
                  <c:v>2805.5</c:v>
                </c:pt>
                <c:pt idx="1">
                  <c:v>1257.1</c:v>
                </c:pt>
                <c:pt idx="2">
                  <c:v>865.4</c:v>
                </c:pt>
                <c:pt idx="3">
                  <c:v>726.0</c:v>
                </c:pt>
                <c:pt idx="4">
                  <c:v>679.6</c:v>
                </c:pt>
              </c:numCache>
            </c:numRef>
          </c:val>
        </c:ser>
        <c:gapWidth val="8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Visible subaward $M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4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5"/>
            <c:invertIfNegative val="0"/>
            <c:bubble3D val="0"/>
            <c:spPr>
              <a:solidFill>
                <a:srgbClr val="AFC2CC"/>
              </a:solidFill>
              <a:ln w="6350">
                <a:solidFill>
                  <a:srgbClr val="000000"/>
                </a:solidFill>
              </a:ln>
            </c:spPr>
          </c:dPt>
          <c:dPt>
            <c:idx val="6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7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8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9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Sheet1!$A$2:$A$11</c:f>
              <c:strCache>
                <c:ptCount val="10"/>
                <c:pt idx="0">
                  <c:v>Northrop Grumman Corporation</c:v>
                </c:pt>
                <c:pt idx="1">
                  <c:v>Leonardo SpA</c:v>
                </c:pt>
                <c:pt idx="2">
                  <c:v>Curtiss-Wright Electro-Mechanical Corp.</c:v>
                </c:pt>
                <c:pt idx="3">
                  <c:v>Scot Forge Company</c:v>
                </c:pt>
                <c:pt idx="4">
                  <c:v>ESCO Technologies Inc.</c:v>
                </c:pt>
                <c:pt idx="5">
                  <c:v>DC Fabricators Inc.</c:v>
                </c:pt>
                <c:pt idx="6">
                  <c:v>Rhoads Metal Fabrications, Inc.</c:v>
                </c:pt>
                <c:pt idx="7">
                  <c:v>Curtiss-Wright Corporation</c:v>
                </c:pt>
                <c:pt idx="8">
                  <c:v>The Graham Corporation</c:v>
                </c:pt>
                <c:pt idx="9">
                  <c:v>Austal USA, LLC</c:v>
                </c:pt>
              </c:strCache>
            </c:strRef>
          </c:cat>
          <c:val>
            <c:numRef>
              <c:f>Sheet1!$B$2:$B$11</c:f>
              <c:numCache>
                <c:formatCode>"$"#,##0"M"</c:formatCode>
                <c:ptCount val="10"/>
                <c:pt idx="0">
                  <c:v>1426.6</c:v>
                </c:pt>
                <c:pt idx="1">
                  <c:v>490.6</c:v>
                </c:pt>
                <c:pt idx="2">
                  <c:v>198.0</c:v>
                </c:pt>
                <c:pt idx="3">
                  <c:v>197.5</c:v>
                </c:pt>
                <c:pt idx="4">
                  <c:v>188.5</c:v>
                </c:pt>
                <c:pt idx="5">
                  <c:v>162.9</c:v>
                </c:pt>
                <c:pt idx="6">
                  <c:v>141.9</c:v>
                </c:pt>
                <c:pt idx="7">
                  <c:v>110.8</c:v>
                </c:pt>
                <c:pt idx="8">
                  <c:v>89.1</c:v>
                </c:pt>
                <c:pt idx="9">
                  <c:v>87.6</c:v>
                </c:pt>
              </c:numCache>
            </c:numRef>
          </c:val>
        </c:ser>
        <c:gapWidth val="35"/>
        <c:overlap val="-27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b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BlueForge</c:v>
                </c:pt>
                <c:pt idx="1">
                  <c:v>TMG</c:v>
                </c:pt>
                <c:pt idx="2">
                  <c:v>IALR</c:v>
                </c:pt>
                <c:pt idx="3">
                  <c:v>Total excluded</c:v>
                </c:pt>
              </c:strCache>
            </c:strRef>
          </c:cat>
          <c:val>
            <c:numRef>
              <c:f>Sheet1!$B$2:$B$5</c:f>
              <c:numCache>
                <c:formatCode>"$"#,##0"M"</c:formatCode>
                <c:ptCount val="4"/>
                <c:pt idx="1">
                  <c:v>4173.3</c:v>
                </c:pt>
                <c:pt idx="2">
                  <c:v>4250.3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A1A1A1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BlueForge</c:v>
                </c:pt>
                <c:pt idx="1">
                  <c:v>TMG</c:v>
                </c:pt>
                <c:pt idx="2">
                  <c:v>IALR</c:v>
                </c:pt>
                <c:pt idx="3">
                  <c:v>Total excluded</c:v>
                </c:pt>
              </c:strCache>
            </c:strRef>
          </c:cat>
          <c:val>
            <c:numRef>
              <c:f>Sheet1!$C$2:$C$5</c:f>
              <c:numCache>
                <c:formatCode>"$"#,##0"M"</c:formatCode>
                <c:ptCount val="4"/>
                <c:pt idx="1">
                  <c:v>77.0</c:v>
                </c:pt>
                <c:pt idx="2">
                  <c:v>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1A1A1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BlueForge</c:v>
                </c:pt>
                <c:pt idx="1">
                  <c:v>TMG</c:v>
                </c:pt>
                <c:pt idx="2">
                  <c:v>IALR</c:v>
                </c:pt>
                <c:pt idx="3">
                  <c:v>Total excluded</c:v>
                </c:pt>
              </c:strCache>
            </c:strRef>
          </c:cat>
          <c:val>
            <c:numRef>
              <c:f>Sheet1!$D$2:$D$5</c:f>
              <c:numCache>
                <c:formatCode>"$"#,##0"M"</c:formatCode>
                <c:ptCount val="4"/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79838F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BlueForge</c:v>
                </c:pt>
                <c:pt idx="1">
                  <c:v>TMG</c:v>
                </c:pt>
                <c:pt idx="2">
                  <c:v>IALR</c:v>
                </c:pt>
                <c:pt idx="3">
                  <c:v>Total excluded</c:v>
                </c:pt>
              </c:strCache>
            </c:strRef>
          </c:cat>
          <c:val>
            <c:numRef>
              <c:f>Sheet1!$E$2:$E$5</c:f>
              <c:numCache>
                <c:formatCode>"$"#,##0"M"</c:formatCode>
                <c:ptCount val="4"/>
                <c:pt idx="0">
                  <c:v>4173.3</c:v>
                </c:pt>
                <c:pt idx="3">
                  <c:v>4251.8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Supplier coefficient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10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POP anchor</c:v>
                </c:pt>
                <c:pt idx="1">
                  <c:v>AP/LLTM ref</c:v>
                </c:pt>
                <c:pt idx="2">
                  <c:v>Applied BC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0.518</c:v>
                </c:pt>
                <c:pt idx="1">
                  <c:v>0.485</c:v>
                </c:pt>
                <c:pt idx="2">
                  <c:v>0.35</c:v>
                </c:pt>
              </c:numCache>
            </c:numRef>
          </c:val>
        </c:ser>
        <c:gapWidth val="8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0%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9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overTitle"/>
          <p:cNvSpPr>
            <a:spLocks noGrp="1"/>
          </p:cNvSpPr>
          <p:nvPr>
            <p:ph type="body" sz="quarter" idx="12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Submarine Supplier Market Sizing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TAM and SAM for the U.S. submarine new-construction supplier base, average annual FY2022–FY2027</a:t>
            </a:r>
          </a:p>
        </p:txBody>
      </p:sp>
      <p:sp>
        <p:nvSpPr>
          <p:cNvPr id="101" name="CoverFooter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kern="1200" dirty="0"/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Market and Scope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The addressable opportunity is a narrow layer inside a much larger procurement ecosystem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Submarine Ecosystem Primer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Market Primer | Submarine construction is a layered procurement ecosystem</a:t>
            </a:r>
          </a:p>
        </p:txBody>
      </p:sp>
      <p:sp>
        <p:nvSpPr>
          <p:cNvPr id="20" name="NavyAndSCNNode"/>
          <p:cNvSpPr txBox="1"/>
          <p:nvPr/>
        </p:nvSpPr>
        <p:spPr>
          <a:xfrm>
            <a:off x="453079" y="1521600"/>
            <a:ext cx="3516947" cy="88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 AND SCN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authority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P-5c and P-10</a:t>
            </a:r>
          </a:p>
        </p:txBody>
      </p:sp>
      <p:sp>
        <p:nvSpPr>
          <p:cNvPr id="21" name="GDEBPrimeConstructionNode"/>
          <p:cNvSpPr txBox="1"/>
          <p:nvPr/>
        </p:nvSpPr>
        <p:spPr>
          <a:xfrm>
            <a:off x="4335786" y="1521600"/>
            <a:ext cx="3516947" cy="88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GDEB PRIME CONSTRUCTION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Prime of record for Virginia and Columbia construction</a:t>
            </a:r>
          </a:p>
        </p:txBody>
      </p:sp>
      <p:sp>
        <p:nvSpPr>
          <p:cNvPr id="22" name="CountedSupplierLayerNode"/>
          <p:cNvSpPr txBox="1"/>
          <p:nvPr/>
        </p:nvSpPr>
        <p:spPr>
          <a:xfrm>
            <a:off x="8218493" y="1521600"/>
            <a:ext cx="3516947" cy="88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COUNTED SUPPLIER LAYER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0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components and subcontracts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TAM and SAM candidate</a:t>
            </a:r>
          </a:p>
        </p:txBody>
      </p:sp>
      <p:sp>
        <p:nvSpPr>
          <p:cNvPr id="10" name="CountedPathChevron"/>
          <p:cNvSpPr txBox="1"/>
          <p:nvPr/>
        </p:nvSpPr>
        <p:spPr>
          <a:xfrm>
            <a:off x="4022906" y="1831600"/>
            <a:ext cx="260000" cy="260000"/>
          </a:xfrm>
          <a:prstGeom prst="chevron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CountedPathChevron"/>
          <p:cNvSpPr txBox="1"/>
          <p:nvPr/>
        </p:nvSpPr>
        <p:spPr>
          <a:xfrm>
            <a:off x="7905613" y="1831600"/>
            <a:ext cx="260000" cy="260000"/>
          </a:xfrm>
          <a:prstGeom prst="chevron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0" name="HIINewportNewsContextNode"/>
          <p:cNvSpPr txBox="1"/>
          <p:nvPr/>
        </p:nvSpPr>
        <p:spPr>
          <a:xfrm>
            <a:off x="4335786" y="2671600"/>
            <a:ext cx="3516947" cy="8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Newport News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team-build workshare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Context and yard layer; not treated as open supplier SAM</a:t>
            </a:r>
          </a:p>
        </p:txBody>
      </p:sp>
      <p:sp>
        <p:nvSpPr>
          <p:cNvPr id="31" name="SupplierWorkTypesStrip"/>
          <p:cNvSpPr txBox="1"/>
          <p:nvPr/>
        </p:nvSpPr>
        <p:spPr>
          <a:xfrm>
            <a:off x="8218493" y="2671600"/>
            <a:ext cx="3516947" cy="85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work types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structural, electrical, piping, machining, castings and forgings, valves, pumps, HVAC, coatings</a:t>
            </a:r>
          </a:p>
        </p:txBody>
      </p:sp>
      <p:sp>
        <p:nvSpPr>
          <p:cNvPr id="35" name="ExclusionBoundary"/>
          <p:cNvSpPr txBox="1"/>
          <p:nvPr/>
        </p:nvSpPr>
        <p:spPr>
          <a:xfrm>
            <a:off x="453079" y="3851600"/>
            <a:ext cx="11282362" cy="260000"/>
          </a:xfrm>
          <a:prstGeom prst="rect">
            <a:avLst/>
          </a:prstGeom>
          <a:solidFill>
            <a:srgbClr val="646464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OUTSIDE COUNTED SUPPLIER LAYER</a:t>
            </a:r>
          </a:p>
        </p:txBody>
      </p:sp>
      <p:sp>
        <p:nvSpPr>
          <p:cNvPr id="40" name="GFEAndGFPExclusionCell"/>
          <p:cNvSpPr txBox="1"/>
          <p:nvPr/>
        </p:nvSpPr>
        <p:spPr>
          <a:xfrm>
            <a:off x="453079" y="4191600"/>
            <a:ext cx="2752010" cy="6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 and GFP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combat systems, sonar, weapons</a:t>
            </a:r>
          </a:p>
        </p:txBody>
      </p:sp>
      <p:sp>
        <p:nvSpPr>
          <p:cNvPr id="41" name="NuclearAndBPMIExclusionCell"/>
          <p:cNvSpPr txBox="1"/>
          <p:nvPr/>
        </p:nvSpPr>
        <p:spPr>
          <a:xfrm>
            <a:off x="3296529" y="4191600"/>
            <a:ext cx="2752010" cy="6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and BPMI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reactor plant</a:t>
            </a:r>
          </a:p>
        </p:txBody>
      </p:sp>
      <p:sp>
        <p:nvSpPr>
          <p:cNvPr id="42" name="SIBCapacityExclusionCell"/>
          <p:cNvSpPr txBox="1"/>
          <p:nvPr/>
        </p:nvSpPr>
        <p:spPr>
          <a:xfrm>
            <a:off x="6139979" y="4191600"/>
            <a:ext cx="2752010" cy="6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SIB capacity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grants and BlueForge-type pass-throughs</a:t>
            </a:r>
          </a:p>
        </p:txBody>
      </p:sp>
      <p:sp>
        <p:nvSpPr>
          <p:cNvPr id="43" name="DepotAndSustainmentExclusionCell"/>
          <p:cNvSpPr txBox="1"/>
          <p:nvPr/>
        </p:nvSpPr>
        <p:spPr>
          <a:xfrm>
            <a:off x="8983429" y="4191600"/>
            <a:ext cx="2752010" cy="6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Depot and sustainment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non-new-construction flows</a:t>
            </a:r>
          </a:p>
        </p:txBody>
      </p:sp>
      <p:cxnSp>
        <p:nvCxnSpPr>
          <p:cNvPr id="12" name="ContextGDEBToHII"/>
          <p:cNvCxnSpPr/>
          <p:nvPr/>
        </p:nvCxnSpPr>
        <p:spPr>
          <a:xfrm>
            <a:off x="6094259" y="2401600"/>
            <a:ext cx="0" cy="270000"/>
          </a:xfrm>
          <a:prstGeom prst="line">
            <a:avLst/>
          </a:prstGeom>
          <a:ln w="9525">
            <a:solidFill>
              <a:srgbClr val="7F7F7F"/>
            </a:solidFill>
            <a:prstDash val="dash"/>
          </a:ln>
        </p:spPr>
      </p:cxnSp>
      <p:cxnSp>
        <p:nvCxnSpPr>
          <p:cNvPr id="13" name="WorkTypeDecomposition"/>
          <p:cNvCxnSpPr/>
          <p:nvPr/>
        </p:nvCxnSpPr>
        <p:spPr>
          <a:xfrm>
            <a:off x="9976966" y="2401600"/>
            <a:ext cx="0" cy="270000"/>
          </a:xfrm>
          <a:prstGeom prst="line">
            <a:avLst/>
          </a:prstGeom>
          <a:ln w="12700">
            <a:solidFill>
              <a:srgbClr val="3D5972"/>
            </a:solidFill>
            <a:tailEnd type="triangle" w="med" len="med"/>
          </a:ln>
        </p:spPr>
      </p:cxnSp>
      <p:sp>
        <p:nvSpPr>
          <p:cNvPr id="50" name="ScopeKey"/>
          <p:cNvSpPr txBox="1"/>
          <p:nvPr/>
        </p:nvSpPr>
        <p:spPr>
          <a:xfrm>
            <a:off x="453079" y="4991600"/>
            <a:ext cx="11282362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 marks the counted sizing path; light gray cards are related context; cells under the dark cap are excluded from the count.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Department of the Navy SCN Justification Books; General Dynamics FY2021 Form 10-K; Huntington Ingalls Columbia-Class product page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Boundary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Sizing Boundary | The model sizes non-nuclear supplier opportunity, excluding GFE, SIB, yards, and SOM</a:t>
            </a:r>
          </a:p>
        </p:txBody>
      </p:sp>
      <p:sp>
        <p:nvSpPr>
          <p:cNvPr id="10" name="BoundarySubtitle"/>
          <p:cNvSpPr txBox="1"/>
          <p:nvPr/>
        </p:nvSpPr>
        <p:spPr>
          <a:xfrm>
            <a:off x="453079" y="1401600"/>
            <a:ext cx="11282362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0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narrower answer is more defensible than a larger, double-counted market.</a:t>
            </a:r>
          </a:p>
        </p:txBody>
      </p:sp>
      <p:sp>
        <p:nvSpPr>
          <p:cNvPr id="20" name="IncludedInTAMHeader"/>
          <p:cNvSpPr txBox="1"/>
          <p:nvPr/>
        </p:nvSpPr>
        <p:spPr>
          <a:xfrm>
            <a:off x="453079" y="1681600"/>
            <a:ext cx="3699827" cy="33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INCLUDED IN TAM</a:t>
            </a:r>
          </a:p>
        </p:txBody>
      </p:sp>
      <p:sp>
        <p:nvSpPr>
          <p:cNvPr id="30" name="IncludedInTAMBody"/>
          <p:cNvSpPr txBox="1"/>
          <p:nvPr/>
        </p:nvSpPr>
        <p:spPr>
          <a:xfrm>
            <a:off x="453079" y="2011600"/>
            <a:ext cx="3699827" cy="259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P-5c Basic Construction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Conversion base for Virginia and Columbia new construction.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Non-nuclear supplier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manufacturing inside the construction base.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Purchased material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subcontracts and supported lower-tier supplier flow.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buckets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structural, machining, castings, piping, valves, electrical, HVAC, coatings.</a:t>
            </a:r>
          </a:p>
        </p:txBody>
      </p:sp>
      <p:sp>
        <p:nvSpPr>
          <p:cNvPr id="21" name="ExcludedFromTAMHeader"/>
          <p:cNvSpPr txBox="1"/>
          <p:nvPr/>
        </p:nvSpPr>
        <p:spPr>
          <a:xfrm>
            <a:off x="4244346" y="1681600"/>
            <a:ext cx="3699827" cy="330000"/>
          </a:xfrm>
          <a:prstGeom prst="rect">
            <a:avLst/>
          </a:prstGeom>
          <a:solidFill>
            <a:srgbClr val="646464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EXCLUDED FROM TAM</a:t>
            </a:r>
          </a:p>
        </p:txBody>
      </p:sp>
      <p:sp>
        <p:nvSpPr>
          <p:cNvPr id="31" name="ExcludedFromTAMBody"/>
          <p:cNvSpPr txBox="1"/>
          <p:nvPr/>
        </p:nvSpPr>
        <p:spPr>
          <a:xfrm>
            <a:off x="4244346" y="2011600"/>
            <a:ext cx="3699827" cy="259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 and GFP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reactor plant, combat systems, sonar, weapons, and ordnance.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BPMI nuclear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reactor work and naval nuclear GFE.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SIB capacity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grants and BlueForge-type pass-through funding.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Yards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prime and co-prime work at GDEB and HII Newport News.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Depot and sustainment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overhauls, design-only work, program-office labor, and classified payloads.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 overlap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already inside Basic Construction; additive base is $0.</a:t>
            </a:r>
          </a:p>
        </p:txBody>
      </p:sp>
      <p:sp>
        <p:nvSpPr>
          <p:cNvPr id="22" name="ContextOnlyHeader"/>
          <p:cNvSpPr txBox="1"/>
          <p:nvPr/>
        </p:nvSpPr>
        <p:spPr>
          <a:xfrm>
            <a:off x="8035613" y="1681600"/>
            <a:ext cx="3699827" cy="330000"/>
          </a:xfrm>
          <a:prstGeom prst="rect">
            <a:avLst/>
          </a:prstGeom>
          <a:solidFill>
            <a:srgbClr val="7F7F7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 ONLY</a:t>
            </a:r>
          </a:p>
        </p:txBody>
      </p:sp>
      <p:sp>
        <p:nvSpPr>
          <p:cNvPr id="32" name="ContextOnlyBody"/>
          <p:cNvSpPr txBox="1"/>
          <p:nvPr/>
        </p:nvSpPr>
        <p:spPr>
          <a:xfrm>
            <a:off x="8035613" y="2011600"/>
            <a:ext cx="3699827" cy="259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Estimate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TOA context from P-5c and P-40.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gross reference stream for cadence; additive base is $0.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and FSRS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first-tier subaward stream as a named-vendor floor.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 evidence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supports the supplier coefficient.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visibility gap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unseen layer are limitations, not extra add-ons.</a:t>
            </a:r>
          </a:p>
        </p:txBody>
      </p:sp>
      <p:sp>
        <p:nvSpPr>
          <p:cNvPr id="50" name="BoundaryWarningRail"/>
          <p:cNvSpPr txBox="1"/>
          <p:nvPr/>
        </p:nvSpPr>
        <p:spPr>
          <a:xfrm>
            <a:off x="453079" y="4891600"/>
            <a:ext cx="11282362" cy="65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Boundary warning: </a:t>
            </a:r>
            <a:r>
              <a:rPr lang="en-US" sz="11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SOM is modeled. SAM is a scenario menu, not market share, capture, win probability, or revenue forecast.</a:t>
            </a:r>
          </a:p>
        </p:txBody>
      </p:sp>
      <p:sp>
        <p:nvSpPr>
          <p:cNvPr id="60" name="APAndLLTMNote"/>
          <p:cNvSpPr txBox="1"/>
          <p:nvPr/>
        </p:nvSpPr>
        <p:spPr>
          <a:xfrm>
            <a:off x="453079" y="5651600"/>
            <a:ext cx="11282362" cy="1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are timing mechanisms; do not add P-10 to P-5c Basic Construction without changing the boundary.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Department of the Navy SCN Justification Books, Exhibits P-5c and P-10; FAR 52.204-10 and FAR Part 45; GAO-25-106286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Executive Summary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Executive Summary | Average annual opportunity is ~$3.3B TAM and ~$2.8B broad SAM</a:t>
            </a:r>
          </a:p>
        </p:txBody>
      </p:sp>
      <p:sp>
        <p:nvSpPr>
          <p:cNvPr id="10" name="SubtitleNote"/>
          <p:cNvSpPr txBox="1"/>
          <p:nvPr/>
        </p:nvSpPr>
        <p:spPr>
          <a:xfrm>
            <a:off x="453079" y="1391600"/>
            <a:ext cx="11282362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FY2022-FY2027 model-period averages; not a commercial-style steady run-rate.</a:t>
            </a:r>
          </a:p>
        </p:txBody>
      </p:sp>
      <p:sp>
        <p:nvSpPr>
          <p:cNvPr id="20" name="AverageAnnualTAMCard"/>
          <p:cNvSpPr txBox="1"/>
          <p:nvPr/>
        </p:nvSpPr>
        <p:spPr>
          <a:xfrm>
            <a:off x="453079" y="1671600"/>
            <a:ext cx="5595461" cy="143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AVERAGE ANNUAL TAM</a:t>
            </a:r>
          </a:p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~$3.3B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FY2022-FY2027 model-period average</a:t>
            </a:r>
          </a:p>
        </p:txBody>
      </p:sp>
      <p:sp>
        <p:nvSpPr>
          <p:cNvPr id="21" name="AverageAnnualBroadSAMCard"/>
          <p:cNvSpPr txBox="1"/>
          <p:nvPr/>
        </p:nvSpPr>
        <p:spPr>
          <a:xfrm>
            <a:off x="6139980" y="1671600"/>
            <a:ext cx="5595461" cy="143000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AVERAGE ANNUAL BROAD SAM</a:t>
            </a:r>
          </a:p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~$2.8B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Broad component manufacturing</a:t>
            </a:r>
          </a:p>
        </p:txBody>
      </p:sp>
      <p:sp>
        <p:nvSpPr>
          <p:cNvPr id="30" name="CumulativeTAMCard"/>
          <p:cNvSpPr txBox="1"/>
          <p:nvPr/>
        </p:nvSpPr>
        <p:spPr>
          <a:xfrm>
            <a:off x="453079" y="3321600"/>
            <a:ext cx="2752010" cy="8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TAM</a:t>
            </a:r>
          </a:p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~$19.8B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FY2022-FY2027</a:t>
            </a:r>
          </a:p>
        </p:txBody>
      </p:sp>
      <p:sp>
        <p:nvSpPr>
          <p:cNvPr id="31" name="CumulativeBroadSAMCard"/>
          <p:cNvSpPr txBox="1"/>
          <p:nvPr/>
        </p:nvSpPr>
        <p:spPr>
          <a:xfrm>
            <a:off x="3296529" y="3321600"/>
            <a:ext cx="2752010" cy="8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broad SAM</a:t>
            </a:r>
          </a:p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~$16.8B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FY2022-FY2027</a:t>
            </a:r>
          </a:p>
        </p:txBody>
      </p:sp>
      <p:sp>
        <p:nvSpPr>
          <p:cNvPr id="32" name="AppliedBCSupplierCoefficientCard"/>
          <p:cNvSpPr txBox="1"/>
          <p:nvPr/>
        </p:nvSpPr>
        <p:spPr>
          <a:xfrm>
            <a:off x="6139979" y="3321600"/>
            <a:ext cx="2752010" cy="8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Applied BC supplier coeff.</a:t>
            </a:r>
          </a:p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35.0%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deliberately strict</a:t>
            </a:r>
          </a:p>
        </p:txBody>
      </p:sp>
      <p:sp>
        <p:nvSpPr>
          <p:cNvPr id="33" name="APAndLLTMAdditiveBaseCard"/>
          <p:cNvSpPr txBox="1"/>
          <p:nvPr/>
        </p:nvSpPr>
        <p:spPr>
          <a:xfrm>
            <a:off x="8983429" y="3321600"/>
            <a:ext cx="2752010" cy="86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additive base</a:t>
            </a:r>
          </a:p>
          <a:p>
            <a:pPr algn="ctr">
              <a:lnSpc>
                <a:spcPct val="115000"/>
              </a:lnSpc>
              <a:spcAft>
                <a:spcPts val="65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$0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double count</a:t>
            </a:r>
          </a:p>
        </p:txBody>
      </p:sp>
      <p:sp>
        <p:nvSpPr>
          <p:cNvPr id="40" name="KPINote"/>
          <p:cNvSpPr txBox="1"/>
          <p:nvPr/>
        </p:nvSpPr>
        <p:spPr>
          <a:xfrm>
            <a:off x="453079" y="4271600"/>
            <a:ext cx="11282362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Headline values are model-derived from budget base, POP coefficient, and SAM work-type allocation.</a:t>
            </a:r>
          </a:p>
        </p:txBody>
      </p:sp>
      <p:sp>
        <p:nvSpPr>
          <p:cNvPr id="50" name="FindingsRail"/>
          <p:cNvSpPr txBox="1"/>
          <p:nvPr/>
        </p:nvSpPr>
        <p:spPr>
          <a:xfrm>
            <a:off x="453079" y="4541600"/>
            <a:ext cx="11282362" cy="11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80000" rIns="137160" bIns="80000"/>
          <a:lstStyle/>
          <a:p>
            <a:pPr>
              <a:lnSpc>
                <a:spcPct val="115000"/>
              </a:lnSpc>
              <a:spcAft>
                <a:spcPts val="16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makes the sizing conservative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Denominator: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is the denominator; GFE and SIB are excluded.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Coefficient: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strict, non-nuclear, BPMI-excluded, yard-excluded.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menu only; no SOM, capture share, or win probability.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Cadence: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annual flow is lumpy, with FY2024 and FY2027 peaks shown later.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Department of the Navy SCN Justification Books; U.S. DoD daily Contracts announcements; SAM.gov FFATA, FSRS, and Entity Management records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TAM Build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The headline rests on one deliberately strict coefficient, even where the evidence would support more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Demand Backdrop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Demand Backdrop | Policy and prime behavior point toward distributed supplier capacity</a:t>
            </a:r>
          </a:p>
        </p:txBody>
      </p:sp>
      <p:sp>
        <p:nvSpPr>
          <p:cNvPr id="10" name="TimelineHeadline"/>
          <p:cNvSpPr txBox="1"/>
          <p:nvPr/>
        </p:nvSpPr>
        <p:spPr>
          <a:xfrm>
            <a:off x="453079" y="1391600"/>
            <a:ext cx="11282362" cy="2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0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constraint is no longer only yard throughput; it is supplier capacity and supplier qualification.</a:t>
            </a:r>
          </a:p>
        </p:txBody>
      </p:sp>
      <p:cxnSp>
        <p:nvCxnSpPr>
          <p:cNvPr id="11" name="TimelineRule"/>
          <p:cNvCxnSpPr/>
          <p:nvPr/>
        </p:nvCxnSpPr>
        <p:spPr>
          <a:xfrm>
            <a:off x="613079" y="2011600"/>
            <a:ext cx="10962362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12" name="TimelineTickConnector1"/>
          <p:cNvCxnSpPr/>
          <p:nvPr/>
        </p:nvCxnSpPr>
        <p:spPr>
          <a:xfrm>
            <a:off x="613079" y="2076600"/>
            <a:ext cx="0" cy="175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13" name="TimelineTickConnector2"/>
          <p:cNvCxnSpPr/>
          <p:nvPr/>
        </p:nvCxnSpPr>
        <p:spPr>
          <a:xfrm>
            <a:off x="2805551" y="2076600"/>
            <a:ext cx="0" cy="175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14" name="TimelineTickConnector3"/>
          <p:cNvCxnSpPr/>
          <p:nvPr/>
        </p:nvCxnSpPr>
        <p:spPr>
          <a:xfrm>
            <a:off x="4998023" y="2076600"/>
            <a:ext cx="0" cy="175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15" name="TimelineTickConnector4"/>
          <p:cNvCxnSpPr/>
          <p:nvPr/>
        </p:nvCxnSpPr>
        <p:spPr>
          <a:xfrm>
            <a:off x="7190496" y="2076600"/>
            <a:ext cx="0" cy="175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16" name="TimelineTickConnector5"/>
          <p:cNvCxnSpPr/>
          <p:nvPr/>
        </p:nvCxnSpPr>
        <p:spPr>
          <a:xfrm>
            <a:off x="9382968" y="2076600"/>
            <a:ext cx="0" cy="175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17" name="TimelineTickConnector6"/>
          <p:cNvCxnSpPr/>
          <p:nvPr/>
        </p:nvCxnSpPr>
        <p:spPr>
          <a:xfrm>
            <a:off x="11575441" y="2076600"/>
            <a:ext cx="0" cy="175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30" name="TimelineDateLabel1"/>
          <p:cNvSpPr txBox="1"/>
          <p:nvPr/>
        </p:nvSpPr>
        <p:spPr>
          <a:xfrm>
            <a:off x="453079" y="1701600"/>
            <a:ext cx="1830393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40" name="TimelineDot40"/>
          <p:cNvSpPr/>
          <p:nvPr/>
        </p:nvSpPr>
        <p:spPr>
          <a:xfrm>
            <a:off x="548079" y="1946600"/>
            <a:ext cx="130000" cy="13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</p:sp>
      <p:sp>
        <p:nvSpPr>
          <p:cNvPr id="31" name="TimelineDateLabel2"/>
          <p:cNvSpPr txBox="1"/>
          <p:nvPr/>
        </p:nvSpPr>
        <p:spPr>
          <a:xfrm>
            <a:off x="2343472" y="1701600"/>
            <a:ext cx="1830393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2024 and 2025</a:t>
            </a:r>
          </a:p>
        </p:txBody>
      </p:sp>
      <p:sp>
        <p:nvSpPr>
          <p:cNvPr id="41" name="TimelineDot41"/>
          <p:cNvSpPr/>
          <p:nvPr/>
        </p:nvSpPr>
        <p:spPr>
          <a:xfrm>
            <a:off x="2740551" y="1946600"/>
            <a:ext cx="130000" cy="13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</p:sp>
      <p:sp>
        <p:nvSpPr>
          <p:cNvPr id="32" name="TimelineDateLabel3"/>
          <p:cNvSpPr txBox="1"/>
          <p:nvPr/>
        </p:nvSpPr>
        <p:spPr>
          <a:xfrm>
            <a:off x="4233865" y="1701600"/>
            <a:ext cx="1830393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 2026</a:t>
            </a:r>
          </a:p>
        </p:txBody>
      </p:sp>
      <p:sp>
        <p:nvSpPr>
          <p:cNvPr id="42" name="TimelineDot42"/>
          <p:cNvSpPr/>
          <p:nvPr/>
        </p:nvSpPr>
        <p:spPr>
          <a:xfrm>
            <a:off x="4933023" y="1946600"/>
            <a:ext cx="130000" cy="13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</p:sp>
      <p:sp>
        <p:nvSpPr>
          <p:cNvPr id="33" name="TimelineDateLabel4"/>
          <p:cNvSpPr txBox="1"/>
          <p:nvPr/>
        </p:nvSpPr>
        <p:spPr>
          <a:xfrm>
            <a:off x="6124258" y="1701600"/>
            <a:ext cx="1830393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Jan-Apr 2026</a:t>
            </a:r>
          </a:p>
        </p:txBody>
      </p:sp>
      <p:sp>
        <p:nvSpPr>
          <p:cNvPr id="43" name="TimelineDot43"/>
          <p:cNvSpPr/>
          <p:nvPr/>
        </p:nvSpPr>
        <p:spPr>
          <a:xfrm>
            <a:off x="7125496" y="1946600"/>
            <a:ext cx="130000" cy="13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</p:sp>
      <p:sp>
        <p:nvSpPr>
          <p:cNvPr id="34" name="TimelineDateLabel5"/>
          <p:cNvSpPr txBox="1"/>
          <p:nvPr/>
        </p:nvSpPr>
        <p:spPr>
          <a:xfrm>
            <a:off x="8014651" y="1701600"/>
            <a:ext cx="1830393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Apr-May 2026</a:t>
            </a:r>
          </a:p>
        </p:txBody>
      </p:sp>
      <p:sp>
        <p:nvSpPr>
          <p:cNvPr id="44" name="TimelineDot44"/>
          <p:cNvSpPr/>
          <p:nvPr/>
        </p:nvSpPr>
        <p:spPr>
          <a:xfrm>
            <a:off x="9317968" y="1946600"/>
            <a:ext cx="130000" cy="13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</p:sp>
      <p:sp>
        <p:nvSpPr>
          <p:cNvPr id="35" name="TimelineDateLabel6"/>
          <p:cNvSpPr txBox="1"/>
          <p:nvPr/>
        </p:nvSpPr>
        <p:spPr>
          <a:xfrm>
            <a:off x="9905044" y="1701600"/>
            <a:ext cx="1830393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May 2026</a:t>
            </a:r>
          </a:p>
        </p:txBody>
      </p:sp>
      <p:sp>
        <p:nvSpPr>
          <p:cNvPr id="45" name="TimelineDot45"/>
          <p:cNvSpPr/>
          <p:nvPr/>
        </p:nvSpPr>
        <p:spPr>
          <a:xfrm>
            <a:off x="11510441" y="1946600"/>
            <a:ext cx="130000" cy="13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</p:sp>
      <p:sp>
        <p:nvSpPr>
          <p:cNvPr id="50" name="MilestoneCard50"/>
          <p:cNvSpPr txBox="1"/>
          <p:nvPr/>
        </p:nvSpPr>
        <p:spPr>
          <a:xfrm>
            <a:off x="453079" y="2251600"/>
            <a:ext cx="1830393" cy="11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algn="ctr"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 2021</a:t>
            </a:r>
          </a:p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GAO-21-257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base roughly 70% smaller; outsourcing oversight becomes critical.</a:t>
            </a:r>
          </a:p>
        </p:txBody>
      </p:sp>
      <p:sp>
        <p:nvSpPr>
          <p:cNvPr id="51" name="MilestoneCard51"/>
          <p:cNvSpPr txBox="1"/>
          <p:nvPr/>
        </p:nvSpPr>
        <p:spPr>
          <a:xfrm>
            <a:off x="2343472" y="2251600"/>
            <a:ext cx="1830393" cy="11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algn="ctr"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2024 and 2025</a:t>
            </a:r>
          </a:p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SIB institutionalized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GAO documents integrator role and yard outsourcing due to constrained space.</a:t>
            </a:r>
          </a:p>
        </p:txBody>
      </p:sp>
      <p:sp>
        <p:nvSpPr>
          <p:cNvPr id="52" name="MilestoneCard52"/>
          <p:cNvSpPr txBox="1"/>
          <p:nvPr/>
        </p:nvSpPr>
        <p:spPr>
          <a:xfrm>
            <a:off x="4233865" y="2251600"/>
            <a:ext cx="1830393" cy="11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algn="ctr"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 2026</a:t>
            </a:r>
          </a:p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CRS RL32418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16,000 suppliers; about 70% critical sole-source; AUKUS ramps demand.</a:t>
            </a:r>
          </a:p>
        </p:txBody>
      </p:sp>
      <p:sp>
        <p:nvSpPr>
          <p:cNvPr id="53" name="MilestoneCard53"/>
          <p:cNvSpPr txBox="1"/>
          <p:nvPr/>
        </p:nvSpPr>
        <p:spPr>
          <a:xfrm>
            <a:off x="6124258" y="2251600"/>
            <a:ext cx="1830393" cy="11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algn="ctr"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Jan-Apr 2026</a:t>
            </a:r>
          </a:p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General Dynamics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Supply chain remains the gating item; complex components bottleneck.</a:t>
            </a:r>
          </a:p>
        </p:txBody>
      </p:sp>
      <p:sp>
        <p:nvSpPr>
          <p:cNvPr id="54" name="MilestoneCard54"/>
          <p:cNvSpPr txBox="1"/>
          <p:nvPr/>
        </p:nvSpPr>
        <p:spPr>
          <a:xfrm>
            <a:off x="8014651" y="2251600"/>
            <a:ext cx="1830393" cy="11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algn="ctr"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Apr-May 2026</a:t>
            </a:r>
          </a:p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GAO and Navy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than $10B invested; Navy plan points to distributed capacity.</a:t>
            </a:r>
          </a:p>
        </p:txBody>
      </p:sp>
      <p:sp>
        <p:nvSpPr>
          <p:cNvPr id="55" name="MilestoneCard55"/>
          <p:cNvSpPr txBox="1"/>
          <p:nvPr/>
        </p:nvSpPr>
        <p:spPr>
          <a:xfrm>
            <a:off x="9905044" y="2251600"/>
            <a:ext cx="1830393" cy="112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algn="ctr"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May 2026</a:t>
            </a:r>
          </a:p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+30% outsourcing-hours guidance and distributed shipbuilding strategy language.</a:t>
            </a:r>
          </a:p>
        </p:txBody>
      </p:sp>
      <p:sp>
        <p:nvSpPr>
          <p:cNvPr id="70" name="ConstraintSignalCap"/>
          <p:cNvSpPr txBox="1"/>
          <p:nvPr/>
        </p:nvSpPr>
        <p:spPr>
          <a:xfrm>
            <a:off x="453079" y="3761600"/>
            <a:ext cx="3699827" cy="35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CONSTRAINT SIGNAL</a:t>
            </a:r>
          </a:p>
        </p:txBody>
      </p:sp>
      <p:sp>
        <p:nvSpPr>
          <p:cNvPr id="80" name="ConstraintSignalBody"/>
          <p:cNvSpPr txBox="1"/>
          <p:nvPr/>
        </p:nvSpPr>
        <p:spPr>
          <a:xfrm>
            <a:off x="453079" y="4111600"/>
            <a:ext cx="3699827" cy="143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Atrophied supplier base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70% critical suppliers sole-source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AUKUS adds demand</a:t>
            </a:r>
          </a:p>
        </p:txBody>
      </p:sp>
      <p:sp>
        <p:nvSpPr>
          <p:cNvPr id="72" name="PolicySignalCap"/>
          <p:cNvSpPr txBox="1"/>
          <p:nvPr/>
        </p:nvSpPr>
        <p:spPr>
          <a:xfrm>
            <a:off x="4244346" y="3761600"/>
            <a:ext cx="3699827" cy="35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POLICY SIGNAL</a:t>
            </a:r>
          </a:p>
        </p:txBody>
      </p:sp>
      <p:sp>
        <p:nvSpPr>
          <p:cNvPr id="82" name="PolicySignalBody"/>
          <p:cNvSpPr txBox="1"/>
          <p:nvPr/>
        </p:nvSpPr>
        <p:spPr>
          <a:xfrm>
            <a:off x="4244346" y="4111600"/>
            <a:ext cx="3699827" cy="143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&gt;$10B DoD submarine industrial-base investment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SIB program office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Distributed sites target</a:t>
            </a:r>
          </a:p>
        </p:txBody>
      </p:sp>
      <p:sp>
        <p:nvSpPr>
          <p:cNvPr id="74" name="PrimeBehaviorSignalCap"/>
          <p:cNvSpPr txBox="1"/>
          <p:nvPr/>
        </p:nvSpPr>
        <p:spPr>
          <a:xfrm>
            <a:off x="8035613" y="3761600"/>
            <a:ext cx="3699827" cy="35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 BEHAVIOR SIGNAL</a:t>
            </a:r>
          </a:p>
        </p:txBody>
      </p:sp>
      <p:sp>
        <p:nvSpPr>
          <p:cNvPr id="84" name="PrimeBehaviorSignalBody"/>
          <p:cNvSpPr txBox="1"/>
          <p:nvPr/>
        </p:nvSpPr>
        <p:spPr>
          <a:xfrm>
            <a:off x="8035613" y="4111600"/>
            <a:ext cx="3699827" cy="143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+30% outsourcing-hours guidance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GD supply-chain gating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EB capex and throughput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GAO-21-257, GAO-25-106286, and GAO-26-109068; CRS RL32418 and U.S. Navy FY2027 30-Year Shipbuilding Plan; HII and General Dynamics earnings calls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Methodology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| TAM is built from Basic Construction, supplier coefficients, and work-type allocation</a:t>
            </a:r>
          </a:p>
        </p:txBody>
      </p:sp>
      <p:cxnSp>
        <p:nvCxnSpPr>
          <p:cNvPr id="10" name="ProcessConnectorRail"/>
          <p:cNvCxnSpPr/>
          <p:nvPr/>
        </p:nvCxnSpPr>
        <p:spPr>
          <a:xfrm>
            <a:off x="1235390" y="1631600"/>
            <a:ext cx="9717738" cy="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sp>
        <p:nvSpPr>
          <p:cNvPr id="21" name="StepDot1"/>
          <p:cNvSpPr txBox="1"/>
          <p:nvPr/>
        </p:nvSpPr>
        <p:spPr>
          <a:xfrm>
            <a:off x="1125390" y="1521600"/>
            <a:ext cx="220000" cy="22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" name="StepDot2"/>
          <p:cNvSpPr txBox="1"/>
          <p:nvPr/>
        </p:nvSpPr>
        <p:spPr>
          <a:xfrm>
            <a:off x="2745013" y="1521600"/>
            <a:ext cx="220000" cy="22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StepDot3"/>
          <p:cNvSpPr txBox="1"/>
          <p:nvPr/>
        </p:nvSpPr>
        <p:spPr>
          <a:xfrm>
            <a:off x="4364636" y="1521600"/>
            <a:ext cx="220000" cy="22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StepDot4"/>
          <p:cNvSpPr txBox="1"/>
          <p:nvPr/>
        </p:nvSpPr>
        <p:spPr>
          <a:xfrm>
            <a:off x="5984259" y="1521600"/>
            <a:ext cx="220000" cy="22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StepDot5"/>
          <p:cNvSpPr txBox="1"/>
          <p:nvPr/>
        </p:nvSpPr>
        <p:spPr>
          <a:xfrm>
            <a:off x="7603882" y="1521600"/>
            <a:ext cx="220000" cy="22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StepDot6"/>
          <p:cNvSpPr txBox="1"/>
          <p:nvPr/>
        </p:nvSpPr>
        <p:spPr>
          <a:xfrm>
            <a:off x="9223505" y="1521600"/>
            <a:ext cx="220000" cy="22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StepDot7"/>
          <p:cNvSpPr txBox="1"/>
          <p:nvPr/>
        </p:nvSpPr>
        <p:spPr>
          <a:xfrm>
            <a:off x="10843128" y="1521600"/>
            <a:ext cx="220000" cy="220000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1" name="ProcessStep41"/>
          <p:cNvSpPr txBox="1"/>
          <p:nvPr/>
        </p:nvSpPr>
        <p:spPr>
          <a:xfrm>
            <a:off x="453079" y="1801600"/>
            <a:ext cx="1564623" cy="9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base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P-5c Basic Construction; P-10 reference</a:t>
            </a:r>
          </a:p>
        </p:txBody>
      </p:sp>
      <p:sp>
        <p:nvSpPr>
          <p:cNvPr id="42" name="ProcessStep42"/>
          <p:cNvSpPr txBox="1"/>
          <p:nvPr/>
        </p:nvSpPr>
        <p:spPr>
          <a:xfrm>
            <a:off x="2072702" y="1801600"/>
            <a:ext cx="1564623" cy="9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Remove flows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GFE, BPMI, SIB, yards, depot, AP overlap</a:t>
            </a:r>
          </a:p>
        </p:txBody>
      </p:sp>
      <p:sp>
        <p:nvSpPr>
          <p:cNvPr id="43" name="ProcessStep43"/>
          <p:cNvSpPr txBox="1"/>
          <p:nvPr/>
        </p:nvSpPr>
        <p:spPr>
          <a:xfrm>
            <a:off x="3692325" y="1801600"/>
            <a:ext cx="1564623" cy="90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Apply coefficient</a:t>
            </a:r>
          </a:p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35.0%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POP-derived, non-nuclear, yard-excluded</a:t>
            </a:r>
          </a:p>
        </p:txBody>
      </p:sp>
      <p:sp>
        <p:nvSpPr>
          <p:cNvPr id="44" name="ProcessStep44"/>
          <p:cNvSpPr txBox="1"/>
          <p:nvPr/>
        </p:nvSpPr>
        <p:spPr>
          <a:xfrm>
            <a:off x="5311948" y="1801600"/>
            <a:ext cx="1564623" cy="9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Calculate TAM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base multiplied by coefficient; AP add = $0</a:t>
            </a:r>
          </a:p>
        </p:txBody>
      </p:sp>
      <p:sp>
        <p:nvSpPr>
          <p:cNvPr id="45" name="ProcessStep45"/>
          <p:cNvSpPr txBox="1"/>
          <p:nvPr/>
        </p:nvSpPr>
        <p:spPr>
          <a:xfrm>
            <a:off x="6931571" y="1801600"/>
            <a:ext cx="1564623" cy="9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Allocate buckets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and FSRS; SAM.gov NAICS mapping</a:t>
            </a:r>
          </a:p>
        </p:txBody>
      </p:sp>
      <p:sp>
        <p:nvSpPr>
          <p:cNvPr id="46" name="ProcessStep46"/>
          <p:cNvSpPr txBox="1"/>
          <p:nvPr/>
        </p:nvSpPr>
        <p:spPr>
          <a:xfrm>
            <a:off x="8551194" y="1801600"/>
            <a:ext cx="1564623" cy="9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Apply flags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inclusion menu, not capture</a:t>
            </a:r>
          </a:p>
        </p:txBody>
      </p:sp>
      <p:sp>
        <p:nvSpPr>
          <p:cNvPr id="47" name="ProcessStep47"/>
          <p:cNvSpPr txBox="1"/>
          <p:nvPr/>
        </p:nvSpPr>
        <p:spPr>
          <a:xfrm>
            <a:off x="10170817" y="1801600"/>
            <a:ext cx="1564623" cy="90000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output menu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broad, electrical, metal, modular, HM&amp;E; no SOM</a:t>
            </a:r>
          </a:p>
        </p:txBody>
      </p:sp>
      <p:sp>
        <p:nvSpPr>
          <p:cNvPr id="60" name="FormulaLeadIn"/>
          <p:cNvSpPr txBox="1"/>
          <p:nvPr/>
        </p:nvSpPr>
        <p:spPr>
          <a:xfrm>
            <a:off x="453079" y="2771600"/>
            <a:ext cx="11282362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headline model is intentionally simple; complexity is handled in the evidence and exclusions.</a:t>
            </a:r>
          </a:p>
        </p:txBody>
      </p:sp>
      <p:sp>
        <p:nvSpPr>
          <p:cNvPr id="70" name="FormulaBoxCap"/>
          <p:cNvSpPr txBox="1"/>
          <p:nvPr/>
        </p:nvSpPr>
        <p:spPr>
          <a:xfrm>
            <a:off x="453079" y="3081600"/>
            <a:ext cx="11282362" cy="33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APPLIED HEADLINE FORMULA</a:t>
            </a:r>
          </a:p>
        </p:txBody>
      </p:sp>
      <p:sp>
        <p:nvSpPr>
          <p:cNvPr id="71" name="FormulaBoxBody"/>
          <p:cNvSpPr txBox="1"/>
          <p:nvPr/>
        </p:nvSpPr>
        <p:spPr>
          <a:xfrm>
            <a:off x="453079" y="3411600"/>
            <a:ext cx="11282362" cy="105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TAM = FY2022-FY2027 Basic Construction base multiplied by applied BC supplier coefficient, divided by 6.</a:t>
            </a:r>
          </a:p>
          <a:p>
            <a:pPr algn="ctr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$56.647B Basic Construction multiplied by 35.0% = ~$19.840B cumulative TAM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divided by 6 = ~$3.307B average annual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component-manufacturing SAM = ~$16.833B cumulative; ~$2.806B average annual.</a:t>
            </a:r>
          </a:p>
        </p:txBody>
      </p:sp>
      <p:sp>
        <p:nvSpPr>
          <p:cNvPr id="90" name="ScopeNotesRail"/>
          <p:cNvSpPr txBox="1"/>
          <p:nvPr/>
        </p:nvSpPr>
        <p:spPr>
          <a:xfrm>
            <a:off x="453079" y="4641600"/>
            <a:ext cx="11282362" cy="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80000" rIns="137160" bIns="80000"/>
          <a:lstStyle/>
          <a:p>
            <a:pPr>
              <a:lnSpc>
                <a:spcPct val="115000"/>
              </a:lnSpc>
              <a:spcAft>
                <a:spcPts val="13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Scope notes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gross stream retained as reference evidence; additive headline base = $0.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inclusion menu only; no SOM, capture, or win-probability haircut is applied.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Department of the Navy SCN Justification Books; U.S. DoD daily Contracts announcements; SAM.gov FFATA, FSRS, and Entity Management records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Budget Denominator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Basic Construction | The FY2022-FY2027 denominator averages ~$9.4B annually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411600"/>
            <a:ext cx="80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by fiscal year and class, $B</a:t>
            </a:r>
          </a:p>
        </p:txBody>
      </p:sp>
      <p:graphicFrame>
        <p:nvGraphicFramePr>
          <p:cNvPr id="20" name="BasicConstructionStackedColumnChart"/>
          <p:cNvGraphicFramePr/>
          <p:nvPr/>
        </p:nvGraphicFramePr>
        <p:xfrm>
          <a:off x="453079" y="1631600"/>
          <a:ext cx="8060000" cy="33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0" name="FY2024PeakLeader"/>
          <p:cNvCxnSpPr/>
          <p:nvPr/>
        </p:nvCxnSpPr>
        <p:spPr>
          <a:xfrm>
            <a:off x="3848079" y="2121600"/>
            <a:ext cx="0" cy="340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31" name="FY2027PeakLeader"/>
          <p:cNvCxnSpPr/>
          <p:nvPr/>
        </p:nvCxnSpPr>
        <p:spPr>
          <a:xfrm>
            <a:off x="7508079" y="2121600"/>
            <a:ext cx="0" cy="330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40" name="FY2024PeakAnnotation"/>
          <p:cNvSpPr txBox="1"/>
          <p:nvPr/>
        </p:nvSpPr>
        <p:spPr>
          <a:xfrm>
            <a:off x="3023079" y="1711600"/>
            <a:ext cx="1650000" cy="41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FY2024 peak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and Columbia Basic Construction</a:t>
            </a:r>
          </a:p>
        </p:txBody>
      </p:sp>
      <p:sp>
        <p:nvSpPr>
          <p:cNvPr id="41" name="FY2027PeakAnnotation"/>
          <p:cNvSpPr txBox="1"/>
          <p:nvPr/>
        </p:nvSpPr>
        <p:spPr>
          <a:xfrm>
            <a:off x="6683079" y="1711600"/>
            <a:ext cx="1650000" cy="41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FY2027 peak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Two-boat Virginia plus Columbia</a:t>
            </a:r>
          </a:p>
        </p:txBody>
      </p:sp>
      <p:sp>
        <p:nvSpPr>
          <p:cNvPr id="50" name="DenominatorCommentaryRail"/>
          <p:cNvSpPr txBox="1"/>
          <p:nvPr/>
        </p:nvSpPr>
        <p:spPr>
          <a:xfrm>
            <a:off x="8813079" y="1661600"/>
            <a:ext cx="2922362" cy="34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20000" tIns="80000" rIns="90000" bIns="80000"/>
          <a:lstStyle/>
          <a:p>
            <a:pPr>
              <a:lnSpc>
                <a:spcPct val="115000"/>
              </a:lnSpc>
              <a:spcAft>
                <a:spcPts val="16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read the denominator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FY2022-FY2027 Basic Construction totals ~$56.6B.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denominator averages ~$9.4B annually across six years.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Cadence: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FY2024 and FY2027 are peak years when both classes contribute.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Scope: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includes yards, team-build work, purchased material, first-tier subs, and lower-tier flow.</a:t>
            </a:r>
          </a:p>
        </p:txBody>
      </p:sp>
      <p:sp>
        <p:nvSpPr>
          <p:cNvPr id="60" name="UnitScopeNote"/>
          <p:cNvSpPr txBox="1"/>
          <p:nvPr/>
        </p:nvSpPr>
        <p:spPr>
          <a:xfrm>
            <a:off x="453079" y="5111600"/>
            <a:ext cx="818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AP-only Columbia years contribute no Basic Construction to this denominator. 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BC is a six-year average, not a smooth run-rate.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Department of the Navy FY2022-FY2027 SCN Justification Books, Exhibit P-5c; (2) CRS RL32418; (3) CRS R41129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TAM Bridge Calculation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 Bridge | Applying the strict 35.0% coefficient yields ~$3.3B average annual TAM</a:t>
            </a:r>
          </a:p>
        </p:txBody>
      </p:sp>
      <p:sp>
        <p:nvSpPr>
          <p:cNvPr id="20" name="BasicConstructionBaseCard"/>
          <p:cNvSpPr txBox="1"/>
          <p:nvPr/>
        </p:nvSpPr>
        <p:spPr>
          <a:xfrm>
            <a:off x="1133079" y="1661600"/>
            <a:ext cx="3450000" cy="88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BASE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$56.647B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FY2022-FY2027 P-5c</a:t>
            </a:r>
          </a:p>
        </p:txBody>
      </p:sp>
      <p:sp>
        <p:nvSpPr>
          <p:cNvPr id="21" name="MathMultiplyOperator"/>
          <p:cNvSpPr>
            <a:spLocks noGrp="1"/>
          </p:cNvSpPr>
          <p:nvPr/>
        </p:nvSpPr>
        <p:spPr>
          <a:xfrm>
            <a:off x="5924260" y="1931600"/>
            <a:ext cx="340000" cy="340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2" name="AppliedBCSupplierCoefficientCard"/>
          <p:cNvSpPr txBox="1"/>
          <p:nvPr/>
        </p:nvSpPr>
        <p:spPr>
          <a:xfrm>
            <a:off x="7605441" y="1661600"/>
            <a:ext cx="3450000" cy="88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APPLIED BC SUPPLIER COEFFICIENT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35.0%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strict, non-nuclear, yard-excluded</a:t>
            </a:r>
          </a:p>
        </p:txBody>
      </p:sp>
      <p:sp>
        <p:nvSpPr>
          <p:cNvPr id="30" name="CumulativePortfolioTAMCard"/>
          <p:cNvSpPr txBox="1"/>
          <p:nvPr/>
        </p:nvSpPr>
        <p:spPr>
          <a:xfrm>
            <a:off x="3744260" y="2931600"/>
            <a:ext cx="4700000" cy="84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PORTFOLIO TAM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$19.840B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FY2022-FY2027</a:t>
            </a:r>
          </a:p>
        </p:txBody>
      </p:sp>
      <p:sp>
        <p:nvSpPr>
          <p:cNvPr id="40" name="AverageAnnualTAMCard"/>
          <p:cNvSpPr txBox="1"/>
          <p:nvPr/>
        </p:nvSpPr>
        <p:spPr>
          <a:xfrm>
            <a:off x="3494260" y="4031600"/>
            <a:ext cx="5200000" cy="106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AVERAGE ANNUAL TAM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~$3.307B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FY2022-FY2027 model-period average</a:t>
            </a:r>
          </a:p>
        </p:txBody>
      </p:sp>
      <p:cxnSp>
        <p:nvCxnSpPr>
          <p:cNvPr id="10" name="BCInputDropToMergeBus"/>
          <p:cNvCxnSpPr/>
          <p:nvPr/>
        </p:nvCxnSpPr>
        <p:spPr>
          <a:xfrm>
            <a:off x="2858079" y="2541600"/>
            <a:ext cx="0" cy="14000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cxnSp>
        <p:nvCxnSpPr>
          <p:cNvPr id="11" name="CoefficientInputDropToMergeBus"/>
          <p:cNvCxnSpPr/>
          <p:nvPr/>
        </p:nvCxnSpPr>
        <p:spPr>
          <a:xfrm>
            <a:off x="9330441" y="2541600"/>
            <a:ext cx="0" cy="14000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cxnSp>
        <p:nvCxnSpPr>
          <p:cNvPr id="12" name="InputMergeBus"/>
          <p:cNvCxnSpPr/>
          <p:nvPr/>
        </p:nvCxnSpPr>
        <p:spPr>
          <a:xfrm>
            <a:off x="2858079" y="2681600"/>
            <a:ext cx="6472362" cy="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cxnSp>
        <p:nvCxnSpPr>
          <p:cNvPr id="13" name="MergeBusToCumulativeTAM"/>
          <p:cNvCxnSpPr/>
          <p:nvPr/>
        </p:nvCxnSpPr>
        <p:spPr>
          <a:xfrm>
            <a:off x="6094260" y="2681600"/>
            <a:ext cx="0" cy="25000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</p:cxnSp>
      <p:cxnSp>
        <p:nvCxnSpPr>
          <p:cNvPr id="14" name="CumulativeToAverageAnnualTAM"/>
          <p:cNvCxnSpPr/>
          <p:nvPr/>
        </p:nvCxnSpPr>
        <p:spPr>
          <a:xfrm>
            <a:off x="6094260" y="3771600"/>
            <a:ext cx="0" cy="26000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</p:cxnSp>
      <p:sp>
        <p:nvSpPr>
          <p:cNvPr id="23" name="MultiplyOperatorCaption"/>
          <p:cNvSpPr txBox="1"/>
          <p:nvPr/>
        </p:nvSpPr>
        <p:spPr>
          <a:xfrm>
            <a:off x="5394260" y="2291600"/>
            <a:ext cx="140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multiplied by</a:t>
            </a:r>
          </a:p>
        </p:txBody>
      </p:sp>
      <p:sp>
        <p:nvSpPr>
          <p:cNvPr id="31" name="DivideBySixConnectorNote"/>
          <p:cNvSpPr txBox="1"/>
          <p:nvPr/>
        </p:nvSpPr>
        <p:spPr>
          <a:xfrm>
            <a:off x="6284260" y="3826600"/>
            <a:ext cx="1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divide by 6 years</a:t>
            </a:r>
          </a:p>
        </p:txBody>
      </p:sp>
      <p:sp>
        <p:nvSpPr>
          <p:cNvPr id="50" name="SecondaryBridgeStrip"/>
          <p:cNvSpPr txBox="1"/>
          <p:nvPr/>
        </p:nvSpPr>
        <p:spPr>
          <a:xfrm>
            <a:off x="453079" y="5171600"/>
            <a:ext cx="11282362" cy="3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60000" tIns="50000" rIns="160000" bIns="50000"/>
          <a:lstStyle/>
          <a:p>
            <a:pPr algn="ctr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Subtraction check: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$56.647B BC base minus </a:t>
            </a: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$36.807B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prime, co-prime, and excluded share equals </a:t>
            </a: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$19.840B TAM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0" name="StrictCoefficientGuardrail"/>
          <p:cNvSpPr txBox="1"/>
          <p:nvPr/>
        </p:nvSpPr>
        <p:spPr>
          <a:xfrm>
            <a:off x="453079" y="5591600"/>
            <a:ext cx="11282362" cy="21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Guardrail: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the strict 35.0% BC coefficient feeds headline TAM; broader POP views are sensitivity.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Department of the Navy SCN Justification Books, Exhibit P-5c; (2) U.S. DoD daily Contracts announcements; (3) SAM.gov FFATA and FSRS records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Annual Cadence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Annual Cadence | TAM and broad SAM are lumpy, with FY2024 and FY2027 peaks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406600"/>
            <a:ext cx="11282362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Annual TAM and broad SAM by fiscal year, $B</a:t>
            </a:r>
          </a:p>
        </p:txBody>
      </p:sp>
      <p:graphicFrame>
        <p:nvGraphicFramePr>
          <p:cNvPr id="20" name="AnnualTAMAndBroadSAMClusteredColumnChart"/>
          <p:cNvGraphicFramePr/>
          <p:nvPr/>
        </p:nvGraphicFramePr>
        <p:xfrm>
          <a:off x="453079" y="1611600"/>
          <a:ext cx="11282362" cy="34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0" name="FY2024CadencePeakLeader"/>
          <p:cNvCxnSpPr/>
          <p:nvPr/>
        </p:nvCxnSpPr>
        <p:spPr>
          <a:xfrm>
            <a:off x="4873079" y="2116600"/>
            <a:ext cx="0" cy="350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31" name="FY2027CadencePeakLeader"/>
          <p:cNvCxnSpPr/>
          <p:nvPr/>
        </p:nvCxnSpPr>
        <p:spPr>
          <a:xfrm>
            <a:off x="10123079" y="2116600"/>
            <a:ext cx="0" cy="350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40" name="FY2024CadencePeakAnnotation"/>
          <p:cNvSpPr txBox="1"/>
          <p:nvPr/>
        </p:nvSpPr>
        <p:spPr>
          <a:xfrm>
            <a:off x="3923079" y="1686600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FY2024 peak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Both classes contribute Basic Construction</a:t>
            </a:r>
          </a:p>
        </p:txBody>
      </p:sp>
      <p:sp>
        <p:nvSpPr>
          <p:cNvPr id="41" name="FY2027CadencePeakAnnotation"/>
          <p:cNvSpPr txBox="1"/>
          <p:nvPr/>
        </p:nvSpPr>
        <p:spPr>
          <a:xfrm>
            <a:off x="9173079" y="1686600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FY2027 peak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Two-boat Virginia plus Columbia</a:t>
            </a:r>
          </a:p>
        </p:txBody>
      </p:sp>
      <p:sp>
        <p:nvSpPr>
          <p:cNvPr id="50" name="AverageAnnualGuardrail"/>
          <p:cNvSpPr txBox="1"/>
          <p:nvPr/>
        </p:nvSpPr>
        <p:spPr>
          <a:xfrm>
            <a:off x="453079" y="5301600"/>
            <a:ext cx="11282362" cy="43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Scope note: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TAM is ~$3.3B and broad SAM is ~$2.8B, but actual annual flow follows procurement cadence.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Peaks are procurement-cadence effects, not commercial-style market volatility.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Department of the Navy SCN Justification Books, Exhibit P-5c; (2) U.S. DoD daily Contracts announcements; (3) SAM.gov FFATA, FSRS, and Entity Management records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Coefficient Evidence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Coefficient Evidence | POP data supports distributed production, but the headline coefficient remains strict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416600"/>
            <a:ext cx="62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coefficient evidence, %</a:t>
            </a:r>
          </a:p>
        </p:txBody>
      </p:sp>
      <p:graphicFrame>
        <p:nvGraphicFramePr>
          <p:cNvPr id="20" name="CoefficientEvidenceRankedBarChart"/>
          <p:cNvGraphicFramePr/>
          <p:nvPr/>
        </p:nvGraphicFramePr>
        <p:xfrm>
          <a:off x="453079" y="1641600"/>
          <a:ext cx="6250000" cy="27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1" name="APAndLLTMReferenceNote"/>
          <p:cNvSpPr txBox="1"/>
          <p:nvPr/>
        </p:nvSpPr>
        <p:spPr>
          <a:xfrm>
            <a:off x="2703079" y="1751600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 only; additive base = $0</a:t>
            </a:r>
          </a:p>
        </p:txBody>
      </p:sp>
      <p:sp>
        <p:nvSpPr>
          <p:cNvPr id="22" name="AppliedCoefficientNote"/>
          <p:cNvSpPr txBox="1"/>
          <p:nvPr/>
        </p:nvSpPr>
        <p:spPr>
          <a:xfrm>
            <a:off x="4453079" y="2401600"/>
            <a:ext cx="150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input to headline TAM</a:t>
            </a:r>
          </a:p>
        </p:txBody>
      </p:sp>
      <p:sp>
        <p:nvSpPr>
          <p:cNvPr id="23" name="CoefficientReadCallout"/>
          <p:cNvSpPr txBox="1"/>
          <p:nvPr/>
        </p:nvSpPr>
        <p:spPr>
          <a:xfrm>
            <a:off x="453079" y="4541600"/>
            <a:ext cx="625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supports a large distributed-production layer; the model applies a stricter coefficient.</a:t>
            </a:r>
          </a:p>
        </p:txBody>
      </p:sp>
      <p:sp>
        <p:nvSpPr>
          <p:cNvPr id="30" name="POPRowsCard"/>
          <p:cNvSpPr txBox="1"/>
          <p:nvPr/>
        </p:nvSpPr>
        <p:spPr>
          <a:xfrm>
            <a:off x="7113079" y="1641600"/>
            <a:ext cx="2266181" cy="79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 rows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658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screened</a:t>
            </a:r>
          </a:p>
        </p:txBody>
      </p:sp>
      <p:sp>
        <p:nvSpPr>
          <p:cNvPr id="31" name="GatedActionsCard"/>
          <p:cNvSpPr txBox="1"/>
          <p:nvPr/>
        </p:nvSpPr>
        <p:spPr>
          <a:xfrm>
            <a:off x="9469260" y="1641600"/>
            <a:ext cx="2266181" cy="79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Gated TAM actions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TAM-relevant</a:t>
            </a:r>
          </a:p>
        </p:txBody>
      </p:sp>
      <p:sp>
        <p:nvSpPr>
          <p:cNvPr id="32" name="GatedCorpusCard"/>
          <p:cNvSpPr txBox="1"/>
          <p:nvPr/>
        </p:nvSpPr>
        <p:spPr>
          <a:xfrm>
            <a:off x="7113079" y="2546600"/>
            <a:ext cx="2266181" cy="79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Gated corpus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$25.4B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 corpus</a:t>
            </a:r>
          </a:p>
        </p:txBody>
      </p:sp>
      <p:sp>
        <p:nvSpPr>
          <p:cNvPr id="33" name="InScopeNonGFECard"/>
          <p:cNvSpPr txBox="1"/>
          <p:nvPr/>
        </p:nvSpPr>
        <p:spPr>
          <a:xfrm>
            <a:off x="9469260" y="2546600"/>
            <a:ext cx="2266181" cy="79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In-scope non-GFE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$19.3B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screened value</a:t>
            </a:r>
          </a:p>
        </p:txBody>
      </p:sp>
      <p:sp>
        <p:nvSpPr>
          <p:cNvPr id="34" name="ConfirmationCoverageCard"/>
          <p:cNvSpPr txBox="1"/>
          <p:nvPr/>
        </p:nvSpPr>
        <p:spPr>
          <a:xfrm>
            <a:off x="7113079" y="3451600"/>
            <a:ext cx="2266181" cy="79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Confirmation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in-scope dollars</a:t>
            </a:r>
          </a:p>
        </p:txBody>
      </p:sp>
      <p:sp>
        <p:nvSpPr>
          <p:cNvPr id="35" name="UnparsedShareCard"/>
          <p:cNvSpPr txBox="1"/>
          <p:nvPr/>
        </p:nvSpPr>
        <p:spPr>
          <a:xfrm>
            <a:off x="9469260" y="3451600"/>
            <a:ext cx="2266181" cy="79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Unparsed share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10.1%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tracked limitation</a:t>
            </a:r>
          </a:p>
        </p:txBody>
      </p:sp>
      <p:sp>
        <p:nvSpPr>
          <p:cNvPr id="50" name="CoefficientGuardrail"/>
          <p:cNvSpPr txBox="1"/>
          <p:nvPr/>
        </p:nvSpPr>
        <p:spPr>
          <a:xfrm>
            <a:off x="453079" y="5446600"/>
            <a:ext cx="11282362" cy="2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Guardrail: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POP views are explanatory and sensitivity views; they are not multiplied into headline TAM.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DoD daily Contracts announcements, July 2022-May 2026; (2) DoD Contracts releases dated April 30, 2025 and May 11, 2026; (3) GAO-25-106286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AP/LLTM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AP/LLTM | Gross AP is large but contributes $0 additive TAM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411600"/>
            <a:ext cx="724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reconciliation to additive TAM, $B</a:t>
            </a:r>
          </a:p>
        </p:txBody>
      </p:sp>
      <p:graphicFrame>
        <p:nvGraphicFramePr>
          <p:cNvPr id="20" name="APAndLLTMReconciliationWaterfallChart"/>
          <p:cNvGraphicFramePr/>
          <p:nvPr/>
        </p:nvGraphicFramePr>
        <p:xfrm>
          <a:off x="453079" y="1636600"/>
          <a:ext cx="7240000" cy="33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GrossAPValueLabel"/>
          <p:cNvSpPr txBox="1"/>
          <p:nvPr/>
        </p:nvSpPr>
        <p:spPr>
          <a:xfrm>
            <a:off x="913079" y="1846600"/>
            <a:ext cx="1150000" cy="1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$44.7B</a:t>
            </a:r>
          </a:p>
        </p:txBody>
      </p:sp>
      <p:sp>
        <p:nvSpPr>
          <p:cNvPr id="31" name="GFEDesignWeaponsDecreaseLabel"/>
          <p:cNvSpPr txBox="1"/>
          <p:nvPr/>
        </p:nvSpPr>
        <p:spPr>
          <a:xfrm>
            <a:off x="2523079" y="3026600"/>
            <a:ext cx="1250000" cy="1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($27.3B)</a:t>
            </a:r>
          </a:p>
        </p:txBody>
      </p:sp>
      <p:sp>
        <p:nvSpPr>
          <p:cNvPr id="32" name="AlreadyInsideBCDecreaseLabel"/>
          <p:cNvSpPr txBox="1"/>
          <p:nvPr/>
        </p:nvSpPr>
        <p:spPr>
          <a:xfrm>
            <a:off x="4053079" y="3846600"/>
            <a:ext cx="1250000" cy="1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($16.8B)</a:t>
            </a:r>
          </a:p>
        </p:txBody>
      </p:sp>
      <p:sp>
        <p:nvSpPr>
          <p:cNvPr id="33" name="UnItemizedOverlapDecreaseLabel"/>
          <p:cNvSpPr txBox="1"/>
          <p:nvPr/>
        </p:nvSpPr>
        <p:spPr>
          <a:xfrm>
            <a:off x="5483079" y="4376600"/>
            <a:ext cx="1200000" cy="1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($0.6B)</a:t>
            </a:r>
          </a:p>
        </p:txBody>
      </p:sp>
      <p:sp>
        <p:nvSpPr>
          <p:cNvPr id="34" name="FinalZeroAdditiveTAMTag"/>
          <p:cNvSpPr txBox="1"/>
          <p:nvPr/>
        </p:nvSpPr>
        <p:spPr>
          <a:xfrm>
            <a:off x="5713079" y="4576600"/>
            <a:ext cx="1950000" cy="43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80000" tIns="30000" rIns="80000" bIns="30000"/>
          <a:lstStyle/>
          <a:p>
            <a:pPr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$0 additive TAM</a:t>
            </a:r>
          </a:p>
        </p:txBody>
      </p:sp>
      <p:sp>
        <p:nvSpPr>
          <p:cNvPr id="40" name="DoNotAddP10APWarningCard"/>
          <p:cNvSpPr txBox="1"/>
          <p:nvPr/>
        </p:nvSpPr>
        <p:spPr>
          <a:xfrm>
            <a:off x="8143079" y="1681600"/>
            <a:ext cx="3592362" cy="137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NOT ADD P-10 AP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Double-counting risk: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Adding P-10 AP to P-5c Basic Construction would double count unless the model boundary is rebuilt.</a:t>
            </a:r>
          </a:p>
        </p:txBody>
      </p:sp>
      <p:sp>
        <p:nvSpPr>
          <p:cNvPr id="50" name="APAndLLTMInterpretationNote"/>
          <p:cNvSpPr txBox="1"/>
          <p:nvPr/>
        </p:nvSpPr>
        <p:spPr>
          <a:xfrm>
            <a:off x="8143079" y="3271600"/>
            <a:ext cx="3592362" cy="12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0000" tIns="60000" rIns="90000" bIns="60000"/>
          <a:lstStyle/>
          <a:p>
            <a:pPr>
              <a:lnSpc>
                <a:spcPct val="115000"/>
              </a:lnSpc>
              <a:spcAft>
                <a:spcPts val="15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Interpretation</a:t>
            </a:r>
          </a:p>
          <a:p>
            <a:pPr marL="142875" indent="-142875">
              <a:lnSpc>
                <a:spcPct val="115000"/>
              </a:lnSpc>
              <a:spcAft>
                <a:spcPts val="11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are useful evidence of supplier-heavy purchasing.</a:t>
            </a:r>
          </a:p>
          <a:p>
            <a:pPr marL="142875" indent="-142875">
              <a:lnSpc>
                <a:spcPct val="115000"/>
              </a:lnSpc>
              <a:spcAft>
                <a:spcPts val="11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not additive market size under the current P-5c Basic Construction boundary.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 </a:t>
            </a: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does not mean additive.</a:t>
            </a:r>
          </a:p>
        </p:txBody>
      </p:sp>
      <p:sp>
        <p:nvSpPr>
          <p:cNvPr id="60" name="APBoundaryCaption"/>
          <p:cNvSpPr txBox="1"/>
          <p:nvPr/>
        </p:nvSpPr>
        <p:spPr>
          <a:xfrm>
            <a:off x="453079" y="5156600"/>
            <a:ext cx="7240000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Gross AP remains useful reference evidence; current boundary assigns zero additive TAM to AP/LLTM.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Department of the Navy FY2022-FY2027 SCN Justification Books, Exhibit P-10; (2) U.S. DoD daily Contracts announcements; (3) CRS RL32418 and CRS R41129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SAM and Supplier Landscape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The serviceable slice is a menu of work types, and the visible suppliers are a concentrated floor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Work-Type Taxonomy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Work-Type Taxonomy | Seven component buckets define the serviceable market</a:t>
            </a:r>
          </a:p>
        </p:txBody>
      </p:sp>
      <p:sp>
        <p:nvSpPr>
          <p:cNvPr id="10" name="SectionLabel"/>
          <p:cNvSpPr txBox="1"/>
          <p:nvPr/>
        </p:nvSpPr>
        <p:spPr>
          <a:xfrm>
            <a:off x="453079" y="1371600"/>
            <a:ext cx="7897653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Included in broad component manufacturing</a:t>
            </a:r>
          </a:p>
        </p:txBody>
      </p:sp>
      <p:sp>
        <p:nvSpPr>
          <p:cNvPr id="20" name="BucketCard Structural fabrication and pre-outfit"/>
          <p:cNvSpPr txBox="1"/>
          <p:nvPr/>
        </p:nvSpPr>
        <p:spPr>
          <a:xfrm>
            <a:off x="453079" y="1776600"/>
            <a:ext cx="2752010" cy="8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 and pre-outfit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hull sections, fabricated structural metal, pre-outfit modules</a:t>
            </a:r>
          </a:p>
        </p:txBody>
      </p:sp>
      <p:sp>
        <p:nvSpPr>
          <p:cNvPr id="21" name="BucketCard Machining"/>
          <p:cNvSpPr txBox="1"/>
          <p:nvPr/>
        </p:nvSpPr>
        <p:spPr>
          <a:xfrm>
            <a:off x="3296529" y="1776600"/>
            <a:ext cx="2752010" cy="8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machine shops, precision machining, mechanical power transmission</a:t>
            </a:r>
          </a:p>
        </p:txBody>
      </p:sp>
      <p:sp>
        <p:nvSpPr>
          <p:cNvPr id="22" name="BucketCard Castings and forgings"/>
          <p:cNvSpPr txBox="1"/>
          <p:nvPr/>
        </p:nvSpPr>
        <p:spPr>
          <a:xfrm>
            <a:off x="6139979" y="1776600"/>
            <a:ext cx="2752010" cy="8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Castings and forgings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iron and steel forging, foundries, cast and forged components</a:t>
            </a:r>
          </a:p>
        </p:txBody>
      </p:sp>
      <p:sp>
        <p:nvSpPr>
          <p:cNvPr id="23" name="BucketCard Piping, valves, and pumps"/>
          <p:cNvSpPr txBox="1"/>
          <p:nvPr/>
        </p:nvSpPr>
        <p:spPr>
          <a:xfrm>
            <a:off x="8983429" y="1776600"/>
            <a:ext cx="2752010" cy="8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Piping, valves, and pumps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industrial valves, pumps, measuring and dispensing, pipe and fittings</a:t>
            </a:r>
          </a:p>
        </p:txBody>
      </p:sp>
      <p:sp>
        <p:nvSpPr>
          <p:cNvPr id="30" name="BucketCard Electrical and power"/>
          <p:cNvSpPr txBox="1"/>
          <p:nvPr/>
        </p:nvSpPr>
        <p:spPr>
          <a:xfrm>
            <a:off x="453079" y="2736600"/>
            <a:ext cx="3699827" cy="8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switchgear, electronic components, propulsion-electronics, power distribution</a:t>
            </a:r>
          </a:p>
        </p:txBody>
      </p:sp>
      <p:sp>
        <p:nvSpPr>
          <p:cNvPr id="31" name="BucketCard HVAC and ventilation"/>
          <p:cNvSpPr txBox="1"/>
          <p:nvPr/>
        </p:nvSpPr>
        <p:spPr>
          <a:xfrm>
            <a:off x="4244346" y="2736600"/>
            <a:ext cx="3699827" cy="8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HVAC and ventilation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air-conditioning, heating, shipboard ventilation systems</a:t>
            </a:r>
          </a:p>
        </p:txBody>
      </p:sp>
      <p:sp>
        <p:nvSpPr>
          <p:cNvPr id="32" name="BucketCard Coatings and insulation"/>
          <p:cNvSpPr txBox="1"/>
          <p:nvPr/>
        </p:nvSpPr>
        <p:spPr>
          <a:xfrm>
            <a:off x="8035613" y="2736600"/>
            <a:ext cx="3699827" cy="8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Coatings and insulation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rubber and synthetic products, composites, coatings and insulation</a:t>
            </a:r>
          </a:p>
        </p:txBody>
      </p:sp>
      <p:sp>
        <p:nvSpPr>
          <p:cNvPr id="39" name="SectionLabel"/>
          <p:cNvSpPr txBox="1"/>
          <p:nvPr/>
        </p:nvSpPr>
        <p:spPr>
          <a:xfrm>
            <a:off x="453079" y="4171600"/>
            <a:ext cx="7897653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Outside broad component SAM</a:t>
            </a:r>
          </a:p>
        </p:txBody>
      </p:sp>
      <p:sp>
        <p:nvSpPr>
          <p:cNvPr id="40" name="ResidualCard"/>
          <p:cNvSpPr txBox="1"/>
          <p:nvPr/>
        </p:nvSpPr>
        <p:spPr>
          <a:xfrm>
            <a:off x="453079" y="4446600"/>
            <a:ext cx="11282362" cy="645000"/>
          </a:xfrm>
          <a:prstGeom prst="rect">
            <a:avLst/>
          </a:prstGeom>
          <a:solidFill>
            <a:srgbClr val="BFBFBF"/>
          </a:solidFill>
          <a:ln w="1270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Unbucketed / ambiguous residual: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vendor flow not confidently assigned to one of the seven buckets. Kept in TAM, excluded from broad component SAM.</a:t>
            </a:r>
          </a:p>
        </p:txBody>
      </p:sp>
      <p:sp>
        <p:nvSpPr>
          <p:cNvPr id="41" name="MethodNote"/>
          <p:cNvSpPr txBox="1"/>
          <p:nvPr/>
        </p:nvSpPr>
        <p:spPr>
          <a:xfrm>
            <a:off x="453079" y="5510000"/>
            <a:ext cx="11282362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Mapped from FFATA-visible vendors using SAM.gov Entity Management NAICS and manual work-type evidence; NAICS is corporate-primary, not a per-action work description.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FFATA/FSRS records; (2) SAM.gov Entity Management API; (3) FAR 52.204-10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Bucket TAM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Bucket TAM | Electrical and power, structural fabrication, and piping lead the opportunity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371600"/>
            <a:ext cx="9928478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TAM by work-type bucket, FY2022-FY2027</a:t>
            </a:r>
          </a:p>
        </p:txBody>
      </p:sp>
      <p:graphicFrame>
        <p:nvGraphicFramePr>
          <p:cNvPr id="20" name="BucketTAMChart"/>
          <p:cNvGraphicFramePr/>
          <p:nvPr/>
        </p:nvGraphicFramePr>
        <p:xfrm>
          <a:off x="453079" y="1591600"/>
          <a:ext cx="9928478" cy="29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ResidualStrip"/>
          <p:cNvSpPr txBox="1"/>
          <p:nvPr/>
        </p:nvSpPr>
        <p:spPr>
          <a:xfrm>
            <a:off x="453079" y="4651600"/>
            <a:ext cx="11282362" cy="65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Unbucketed / ambiguous residual: </a:t>
            </a: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~$501M per year (~$3.01B cumulative). Tracked in TAM, excluded from broad component SAM.</a:t>
            </a:r>
          </a:p>
        </p:txBody>
      </p:sp>
      <p:sp>
        <p:nvSpPr>
          <p:cNvPr id="40" name="AverageAnnualNote"/>
          <p:cNvSpPr txBox="1"/>
          <p:nvPr/>
        </p:nvSpPr>
        <p:spPr>
          <a:xfrm>
            <a:off x="453079" y="5510000"/>
            <a:ext cx="11282362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Values are average annual FY2022-FY2027; cumulative shown for context. Average annual is not a run-rate.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FFATA/FSRS records; (2) SAM.gov Entity Management API; (3) U.S. Department of the Navy SCN Justification Books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SAM Scenarios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SAM Scenarios | Broad component manufacturing is the largest scenario at ~$2.8B per year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371600"/>
            <a:ext cx="6995064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scenarios, average annual FY2022-FY2027</a:t>
            </a:r>
          </a:p>
        </p:txBody>
      </p:sp>
      <p:graphicFrame>
        <p:nvGraphicFramePr>
          <p:cNvPr id="20" name="SAMScenarioChart"/>
          <p:cNvGraphicFramePr/>
          <p:nvPr/>
        </p:nvGraphicFramePr>
        <p:xfrm>
          <a:off x="453079" y="1591600"/>
          <a:ext cx="6995064" cy="299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ScenarioCommentaryRail"/>
          <p:cNvSpPr txBox="1"/>
          <p:nvPr/>
        </p:nvSpPr>
        <p:spPr>
          <a:xfrm>
            <a:off x="7539583" y="1591600"/>
            <a:ext cx="4195858" cy="29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80000" rIns="137160" bIns="80000"/>
          <a:lstStyle/>
          <a:p>
            <a:pPr>
              <a:lnSpc>
                <a:spcPct val="115000"/>
              </a:lnSpc>
              <a:spcAft>
                <a:spcPts val="16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read the scenarios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seven buckets, residual excluded - the envelope.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electrical and power bucket alone.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fabrication, machining, and castings and forgings.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Modular: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 and pre-outfit, with coatings and insulation.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HM&amp;E: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piping, valves, pumps, HVAC, and machining (machining also sits in metal).</a:t>
            </a:r>
          </a:p>
        </p:txBody>
      </p:sp>
      <p:sp>
        <p:nvSpPr>
          <p:cNvPr id="40" name="GuardrailStrip"/>
          <p:cNvSpPr txBox="1"/>
          <p:nvPr/>
        </p:nvSpPr>
        <p:spPr>
          <a:xfrm>
            <a:off x="453079" y="4701600"/>
            <a:ext cx="11282362" cy="64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SAM only. </a:t>
            </a: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SOM, share capture, win probability, qualification success, or pricing haircut is modeled.</a:t>
            </a:r>
          </a:p>
        </p:txBody>
      </p:sp>
      <p:sp>
        <p:nvSpPr>
          <p:cNvPr id="50" name="OverlapNote"/>
          <p:cNvSpPr txBox="1"/>
          <p:nvPr/>
        </p:nvSpPr>
        <p:spPr>
          <a:xfrm>
            <a:off x="453079" y="5510000"/>
            <a:ext cx="11282362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Scenarios are overlapping cuts of one TAM; do not sum across them. Values are average annual FY2022-FY2027; cumulative shown for context.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FFATA/FSRS records; (2) SAM.gov Entity Management API; (3) U.S. Department of the Navy SCN Justification Books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Visible Suppliers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Visible Suppliers | The named vendor base is broad but anchored by a few large suppliers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371600"/>
            <a:ext cx="7220711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0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Top 10 FFATA-visible suppliers, cumulative subaward value FY2016-FY2026</a:t>
            </a:r>
          </a:p>
        </p:txBody>
      </p:sp>
      <p:graphicFrame>
        <p:nvGraphicFramePr>
          <p:cNvPr id="20" name="VisibleSuppliersChart"/>
          <p:cNvGraphicFramePr/>
          <p:nvPr/>
        </p:nvGraphicFramePr>
        <p:xfrm>
          <a:off x="453079" y="1591600"/>
          <a:ext cx="7220711" cy="386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0" name="EvidenceTable"/>
          <p:cNvGraphicFramePr>
            <a:graphicFrameLocks noGrp="1"/>
          </p:cNvGraphicFramePr>
          <p:nvPr/>
        </p:nvGraphicFramePr>
        <p:xfrm>
          <a:off x="7765230" y="1591600"/>
          <a:ext cx="3970211" cy="11200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867374"/>
                <a:gridCol w="1102837"/>
              </a:tblGrid>
              <a:tr h="28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Visible-supplier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Classified subaward recipients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150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Supplier-addressable visible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~$5.46B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Broader FFATA-visible parents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~759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5" name="ReadNote"/>
          <p:cNvSpPr txBox="1"/>
          <p:nvPr/>
        </p:nvSpPr>
        <p:spPr>
          <a:xfrm>
            <a:off x="7765230" y="2831600"/>
            <a:ext cx="3970211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 ranked names are the top of a visible first-tier floor, not a complete supplier universe or target list.</a:t>
            </a:r>
          </a:p>
        </p:txBody>
      </p:sp>
      <p:sp>
        <p:nvSpPr>
          <p:cNvPr id="40" name="FloorNote"/>
          <p:cNvSpPr txBox="1"/>
          <p:nvPr/>
        </p:nvSpPr>
        <p:spPr>
          <a:xfrm>
            <a:off x="453079" y="5550000"/>
            <a:ext cx="11282362" cy="2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Parent-normalized where SAM.gov Entity data supports the relationship. Visible value is a floor: FFATA misses purchased material, lower-tier subcontracts, long-term agreements, and most HII Newport News team-build work.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FFATA/FSRS records; (2) SAM.gov Entity Management API; (3) FAR 52.204-10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SIB Exclusion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SIB Exclusion | Capacity-development pass-throughs are material but outside component TAM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371600"/>
            <a:ext cx="6995064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SIB capacity-development pass-throughs (excluded from component TAM and SAM)</a:t>
            </a:r>
          </a:p>
        </p:txBody>
      </p:sp>
      <p:graphicFrame>
        <p:nvGraphicFramePr>
          <p:cNvPr id="20" name="SIBExclusionChart"/>
          <p:cNvGraphicFramePr/>
          <p:nvPr/>
        </p:nvGraphicFramePr>
        <p:xfrm>
          <a:off x="453079" y="1591600"/>
          <a:ext cx="6995064" cy="22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TreatmentCard"/>
          <p:cNvSpPr txBox="1"/>
          <p:nvPr/>
        </p:nvSpPr>
        <p:spPr>
          <a:xfrm>
            <a:off x="7539583" y="1591600"/>
            <a:ext cx="4195858" cy="143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Exclude from component TAM and SAM.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dollars fund supplier development, workforce, capacity expansion, qualification, and infrastructure rather than current components delivered into a hull.</a:t>
            </a:r>
          </a:p>
        </p:txBody>
      </p:sp>
      <p:sp>
        <p:nvSpPr>
          <p:cNvPr id="40" name="ExcludedTotalReadout"/>
          <p:cNvSpPr txBox="1"/>
          <p:nvPr/>
        </p:nvSpPr>
        <p:spPr>
          <a:xfrm>
            <a:off x="453079" y="4011600"/>
            <a:ext cx="6995064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excluded SIB pass-throughs: </a:t>
            </a: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~$4,252M</a:t>
            </a:r>
          </a:p>
        </p:txBody>
      </p:sp>
      <p:sp>
        <p:nvSpPr>
          <p:cNvPr id="50" name="TerminologyNote"/>
          <p:cNvSpPr txBox="1"/>
          <p:nvPr/>
        </p:nvSpPr>
        <p:spPr>
          <a:xfrm>
            <a:off x="453079" y="5415000"/>
            <a:ext cx="11282362" cy="455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Deck standardizes on SIB (Submarine Industrial Base); earlier source files may use MIB (Maritime Industrial Base).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FFATA/FSRS records; (2) GAO-25-106286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Interpretation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What the data shows is a visible floor, not the full supplier layer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Data Limits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Data Limits | FFATA captures a visible floor, not the full supplier layer</a:t>
            </a:r>
          </a:p>
        </p:txBody>
      </p:sp>
      <p:sp>
        <p:nvSpPr>
          <p:cNvPr id="10" name="VisibleAndMeasuredLayer"/>
          <p:cNvSpPr txBox="1"/>
          <p:nvPr/>
        </p:nvSpPr>
        <p:spPr>
          <a:xfrm>
            <a:off x="453079" y="1371600"/>
            <a:ext cx="5561181" cy="28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18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AND MEASURED LAYER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FFATA-visible first-tier subawards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vendors and parent entities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SAM.gov Entity NAICS enrichment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DoD Contracts POP evidence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SCN P-5c and P-10 budget exhibits</a:t>
            </a:r>
          </a:p>
        </p:txBody>
      </p:sp>
      <p:sp>
        <p:nvSpPr>
          <p:cNvPr id="11" name="UnseenOrUnder-ObservedLayer"/>
          <p:cNvSpPr txBox="1"/>
          <p:nvPr/>
        </p:nvSpPr>
        <p:spPr>
          <a:xfrm>
            <a:off x="6174260" y="1371600"/>
            <a:ext cx="5561181" cy="28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18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UNSEEN OR UNDER-OBSERVED LAYER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Purchased material booked as direct material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Lower-tier subcontracts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Newport News visibility gap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Standing supplier agreements</a:t>
            </a:r>
          </a:p>
          <a:p>
            <a:pPr marL="142875" indent="-142875">
              <a:lnSpc>
                <a:spcPct val="115000"/>
              </a:lnSpc>
              <a:spcAft>
                <a:spcPts val="9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Reporting lag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Unparsed single-site POP rows</a:t>
            </a:r>
          </a:p>
        </p:txBody>
      </p:sp>
      <p:sp>
        <p:nvSpPr>
          <p:cNvPr id="20" name="MainCallout"/>
          <p:cNvSpPr txBox="1"/>
          <p:nvPr/>
        </p:nvSpPr>
        <p:spPr>
          <a:xfrm>
            <a:off x="453079" y="4291600"/>
            <a:ext cx="11282362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data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strong enough to classify and triangulate, not complete enough to equal the whole supplier layer.</a:t>
            </a:r>
          </a:p>
        </p:txBody>
      </p:sp>
      <p:sp>
        <p:nvSpPr>
          <p:cNvPr id="30" name="GuardrailChip"/>
          <p:cNvSpPr txBox="1"/>
          <p:nvPr/>
        </p:nvSpPr>
        <p:spPr>
          <a:xfrm>
            <a:off x="453079" y="4761600"/>
            <a:ext cx="2760590" cy="95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 GUARDRAIL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SOM or capture modeled</a:t>
            </a:r>
          </a:p>
        </p:txBody>
      </p:sp>
      <p:sp>
        <p:nvSpPr>
          <p:cNvPr id="31" name="GuardrailChip"/>
          <p:cNvSpPr txBox="1"/>
          <p:nvPr/>
        </p:nvSpPr>
        <p:spPr>
          <a:xfrm>
            <a:off x="3293669" y="4761600"/>
            <a:ext cx="2760590" cy="95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DOUBLE-COUNT CHECK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additive base = $0</a:t>
            </a:r>
          </a:p>
        </p:txBody>
      </p:sp>
      <p:sp>
        <p:nvSpPr>
          <p:cNvPr id="32" name="GuardrailChip"/>
          <p:cNvSpPr txBox="1"/>
          <p:nvPr/>
        </p:nvSpPr>
        <p:spPr>
          <a:xfrm>
            <a:off x="6134259" y="4761600"/>
            <a:ext cx="2760590" cy="95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DOLLAR BASIS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then-year dollars</a:t>
            </a:r>
          </a:p>
        </p:txBody>
      </p:sp>
      <p:sp>
        <p:nvSpPr>
          <p:cNvPr id="33" name="GuardrailChip"/>
          <p:cNvSpPr txBox="1"/>
          <p:nvPr/>
        </p:nvSpPr>
        <p:spPr>
          <a:xfrm>
            <a:off x="8974849" y="4761600"/>
            <a:ext cx="2760592" cy="95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VISIBILITY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FFATA-visible = named floor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FAR 52.204-10; (2) SAM.gov FFATA and FSRS records; (3) General Dynamics and HII Form 10-K filings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Implications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Implications | Priority areas are electrical and power, structural fabrication, and piping</a:t>
            </a:r>
          </a:p>
        </p:txBody>
      </p:sp>
      <p:graphicFrame>
        <p:nvGraphicFramePr>
          <p:cNvPr id="20" name="PriorityScorecard"/>
          <p:cNvGraphicFramePr>
            <a:graphicFrameLocks noGrp="1"/>
          </p:cNvGraphicFramePr>
          <p:nvPr/>
        </p:nvGraphicFramePr>
        <p:xfrm>
          <a:off x="453079" y="1371600"/>
          <a:ext cx="11282362" cy="25200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4716919"/>
                <a:gridCol w="1274843"/>
                <a:gridCol w="1593553"/>
                <a:gridCol w="1721038"/>
                <a:gridCol w="1274843"/>
                <a:gridCol w="701166"/>
              </a:tblGrid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Bucket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Avg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Addressability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Qual. burden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Electrical and power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$1,257M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Structural fab and pre-outfit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$625M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Med-high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Piping, valves, and pumps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$520M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Med-high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Castings and forgings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$143M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Very 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Machining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$98M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Coatings and insulation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$101M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HVAC and ventilation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$62M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ClosingNote"/>
          <p:cNvSpPr txBox="1"/>
          <p:nvPr/>
        </p:nvSpPr>
        <p:spPr>
          <a:xfrm>
            <a:off x="453079" y="5550000"/>
            <a:ext cx="11282362" cy="2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 scorecard is a diligence priority view, not SOM. Test supplier availability, qualification paths, capacity, concentration, and make-or-buy posture by bucket.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FFATA, FSRS, and Entity Management records; (2) GAO-25-106286; (3) HII and General Dynamics earnings calls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Definitions and Scope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Definitions and Scope | Key terms define the model boundary and prevent double counting</a:t>
            </a:r>
          </a:p>
        </p:txBody>
      </p:sp>
      <p:sp>
        <p:nvSpPr>
          <p:cNvPr id="10" name="Setup"/>
          <p:cNvSpPr txBox="1"/>
          <p:nvPr/>
        </p:nvSpPr>
        <p:spPr>
          <a:xfrm>
            <a:off x="453079" y="1371600"/>
            <a:ext cx="11282362" cy="2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0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Scope anchor:</a:t>
            </a:r>
            <a:r>
              <a:rPr lang="en-US" sz="100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these definitions mirror the model's Methodology boundary; they are an interpretation aid, not a new boundary.</a:t>
            </a:r>
          </a:p>
        </p:txBody>
      </p:sp>
      <p:graphicFrame>
        <p:nvGraphicFramePr>
          <p:cNvPr id="20" name="GlossaryMatrix"/>
          <p:cNvGraphicFramePr>
            <a:graphicFrameLocks noGrp="1"/>
          </p:cNvGraphicFramePr>
          <p:nvPr/>
        </p:nvGraphicFramePr>
        <p:xfrm>
          <a:off x="453079" y="1711600"/>
          <a:ext cx="11282362" cy="25603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713776"/>
                <a:gridCol w="3713182"/>
                <a:gridCol w="1999405"/>
                <a:gridCol w="3855999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Term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role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Treatment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Guardrail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Non-GFE, non-SIB new-construction supplier opportunity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 model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Inside P-5c Basic Construction; opportunity ceiling, not forecast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Portion of TAM in targeted work-type buckets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 model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Scenario menu, not capture share or SOM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Construction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P-5c construction-contract denominator (GFE-free)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 model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total ship cost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GFE and GFP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Government-furnished equipment and property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Excluded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 not add to component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SIB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Submarine industrial base capacity grants and workforce funding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Excluded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Context only; not current component delivery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Advance procurement and long-lead-time material reference stream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Reference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Additive base = $0; already inside Basic Construction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FFATA and FSRS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First-tier subaward visibility under FAR 52.204-10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Named-vendor floor, not the full supplier layer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Place-of-performance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Drives the supplier coefficient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Guardrail"/>
          <p:cNvSpPr txBox="1"/>
          <p:nvPr/>
        </p:nvSpPr>
        <p:spPr>
          <a:xfrm>
            <a:off x="453079" y="5340000"/>
            <a:ext cx="11282362" cy="46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SOM IS MODELED. </a:t>
            </a: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is a scenario menu, not capture share or revenue forecast. AP/LLTM additive base = $0.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Department of the Navy SCN Justification Books; (2) FAR 52.204-10; (3) FAR Part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AP/LLTM Detail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AP/LLTM Detail | Gross P-10 reference flow reconciles to $0 additive base</a:t>
            </a:r>
          </a:p>
        </p:txBody>
      </p:sp>
      <p:sp>
        <p:nvSpPr>
          <p:cNvPr id="10" name="Formula"/>
          <p:cNvSpPr txBox="1"/>
          <p:nvPr/>
        </p:nvSpPr>
        <p:spPr>
          <a:xfrm>
            <a:off x="453079" y="1371600"/>
            <a:ext cx="7897653" cy="2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1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$44.709B gross P-10 AP, less exclusions and overlap, equals $0.000B additive base.</a:t>
            </a:r>
          </a:p>
        </p:txBody>
      </p:sp>
      <p:graphicFrame>
        <p:nvGraphicFramePr>
          <p:cNvPr id="20" name="APReconciliation"/>
          <p:cNvGraphicFramePr>
            <a:graphicFrameLocks noGrp="1"/>
          </p:cNvGraphicFramePr>
          <p:nvPr/>
        </p:nvGraphicFramePr>
        <p:xfrm>
          <a:off x="453079" y="1721600"/>
          <a:ext cx="7897653" cy="19715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909661"/>
                <a:gridCol w="1039164"/>
                <a:gridCol w="1454830"/>
                <a:gridCol w="2493998"/>
              </a:tblGrid>
              <a:tr h="31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Value $B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Treatment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Model reason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Gross P-10 AP top-line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44.709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Reference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Authoritative AP total, Va and Col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Less GFE, design, and weapons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(27.273)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Exclude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Nuclear, electronics, ordnance, missile, plans - outside boundary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Less already inside Basic Construction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(16.847)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Exclude overlap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Shipbuilder-procured, CFE, EOQ, HM&amp;E, propulsor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31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Less un-itemized overlap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(0.589)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Reconcile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Early-Virginia top-line over named detail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1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Additive AP/LLTM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0.000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Final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Do not add to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</a:tr>
            </a:tbl>
          </a:graphicData>
        </a:graphic>
      </p:graphicFrame>
      <p:sp>
        <p:nvSpPr>
          <p:cNvPr id="30" name="Warning"/>
          <p:cNvSpPr txBox="1"/>
          <p:nvPr/>
        </p:nvSpPr>
        <p:spPr>
          <a:xfrm>
            <a:off x="8442172" y="1371600"/>
            <a:ext cx="3293269" cy="115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NOT ADD P-10 AP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Adding P-10 AP to P-5c Basic Construction would double count unless the model boundary is rebuilt.</a:t>
            </a:r>
          </a:p>
        </p:txBody>
      </p:sp>
      <p:sp>
        <p:nvSpPr>
          <p:cNvPr id="31" name="Interpretation"/>
          <p:cNvSpPr txBox="1"/>
          <p:nvPr/>
        </p:nvSpPr>
        <p:spPr>
          <a:xfrm>
            <a:off x="8442172" y="2701600"/>
            <a:ext cx="3293269" cy="11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Evidence:</a:t>
            </a:r>
            <a:r>
              <a:rPr lang="en-US" sz="90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AP/LLTM show a large, supplier-heavy purchasing cadence years ahead of construction.</a:t>
            </a:r>
          </a:p>
          <a:p>
            <a:pPr algn="l"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Boundary:</a:t>
            </a:r>
            <a:r>
              <a:rPr lang="en-US" sz="90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under this model AP/LLTM are reference evidence, not additive TAM.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Department of the Navy FY2022-FY2027 SCN Justification Books, Exhibit P-10; (2) U.S. DoD daily Contracts announcements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Coefficient Sensitivity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Coefficient Sensitivity | Higher POP views are evidence, not the headline input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371600"/>
            <a:ext cx="6520000" cy="1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coefficient views, percent</a:t>
            </a:r>
          </a:p>
        </p:txBody>
      </p:sp>
      <p:graphicFrame>
        <p:nvGraphicFramePr>
          <p:cNvPr id="11" name="CoefficientSensitivityChart"/>
          <p:cNvGraphicFramePr/>
          <p:nvPr/>
        </p:nvGraphicFramePr>
        <p:xfrm>
          <a:off x="453079" y="1651600"/>
          <a:ext cx="6520000" cy="30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AppliedCoefficientNote"/>
          <p:cNvSpPr txBox="1"/>
          <p:nvPr/>
        </p:nvSpPr>
        <p:spPr>
          <a:xfrm>
            <a:off x="453079" y="4756600"/>
            <a:ext cx="652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Applied BC supplier: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coefficient multiplied into headline TAM.</a:t>
            </a:r>
          </a:p>
        </p:txBody>
      </p:sp>
      <p:sp>
        <p:nvSpPr>
          <p:cNvPr id="30" name="EvidenceCard"/>
          <p:cNvSpPr txBox="1"/>
          <p:nvPr/>
        </p:nvSpPr>
        <p:spPr>
          <a:xfrm>
            <a:off x="7253079" y="1551600"/>
            <a:ext cx="2191181" cy="5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658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 rows screened</a:t>
            </a:r>
          </a:p>
        </p:txBody>
      </p:sp>
      <p:sp>
        <p:nvSpPr>
          <p:cNvPr id="31" name="EvidenceCard"/>
          <p:cNvSpPr txBox="1"/>
          <p:nvPr/>
        </p:nvSpPr>
        <p:spPr>
          <a:xfrm>
            <a:off x="9544260" y="1551600"/>
            <a:ext cx="2191181" cy="5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Gated TAM-relevant actions</a:t>
            </a:r>
          </a:p>
        </p:txBody>
      </p:sp>
      <p:sp>
        <p:nvSpPr>
          <p:cNvPr id="32" name="EvidenceCard"/>
          <p:cNvSpPr txBox="1"/>
          <p:nvPr/>
        </p:nvSpPr>
        <p:spPr>
          <a:xfrm>
            <a:off x="7253079" y="2211600"/>
            <a:ext cx="2191181" cy="5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$25.4B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Gated POP corpus</a:t>
            </a:r>
          </a:p>
        </p:txBody>
      </p:sp>
      <p:sp>
        <p:nvSpPr>
          <p:cNvPr id="33" name="EvidenceCard"/>
          <p:cNvSpPr txBox="1"/>
          <p:nvPr/>
        </p:nvSpPr>
        <p:spPr>
          <a:xfrm>
            <a:off x="9544260" y="2211600"/>
            <a:ext cx="2191181" cy="5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$19.3B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In-scope non-GFE corpus</a:t>
            </a:r>
          </a:p>
        </p:txBody>
      </p:sp>
      <p:sp>
        <p:nvSpPr>
          <p:cNvPr id="34" name="EvidenceCard"/>
          <p:cNvSpPr txBox="1"/>
          <p:nvPr/>
        </p:nvSpPr>
        <p:spPr>
          <a:xfrm>
            <a:off x="7253079" y="2871600"/>
            <a:ext cx="2191181" cy="5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Confirmation coverage</a:t>
            </a:r>
          </a:p>
        </p:txBody>
      </p:sp>
      <p:sp>
        <p:nvSpPr>
          <p:cNvPr id="35" name="EvidenceCard"/>
          <p:cNvSpPr txBox="1"/>
          <p:nvPr/>
        </p:nvSpPr>
        <p:spPr>
          <a:xfrm>
            <a:off x="9544260" y="2871600"/>
            <a:ext cx="2191181" cy="5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10.1%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Unparsed share</a:t>
            </a:r>
          </a:p>
        </p:txBody>
      </p:sp>
      <p:sp>
        <p:nvSpPr>
          <p:cNvPr id="50" name="CoefficientGuardrail"/>
          <p:cNvSpPr txBox="1"/>
          <p:nvPr/>
        </p:nvSpPr>
        <p:spPr>
          <a:xfrm>
            <a:off x="453079" y="4991600"/>
            <a:ext cx="11282362" cy="620000"/>
          </a:xfrm>
          <a:prstGeom prst="rect">
            <a:avLst/>
          </a:prstGeom>
          <a:solidFill>
            <a:srgbClr val="D9D9D9"/>
          </a:solidFill>
          <a:ln w="1905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Guardrail: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the strict 35.0% Basic Construction supplier coefficient feeds headline TAM; </a:t>
            </a: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POP views are sensitivity and evidence.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U.S. DoD daily Contracts announcements; (2) GAO-25-106286; (3) FAR 52.204-10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SAM Bucket Crosswalk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SAM Bucket Crosswalk | NAICS and vendor evidence map TAM into scenario cuts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371600"/>
            <a:ext cx="11282362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0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bucket to SAM scenario crosswalk</a:t>
            </a:r>
          </a:p>
        </p:txBody>
      </p:sp>
      <p:graphicFrame>
        <p:nvGraphicFramePr>
          <p:cNvPr id="20" name="Crosswalk"/>
          <p:cNvGraphicFramePr>
            <a:graphicFrameLocks noGrp="1"/>
          </p:cNvGraphicFramePr>
          <p:nvPr/>
        </p:nvGraphicFramePr>
        <p:xfrm>
          <a:off x="453079" y="1596600"/>
          <a:ext cx="11282362" cy="246888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780487"/>
                <a:gridCol w="3849905"/>
                <a:gridCol w="909005"/>
                <a:gridCol w="909005"/>
                <a:gridCol w="1015947"/>
                <a:gridCol w="909005"/>
                <a:gridCol w="90900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 cues (NAICS-4; example vendor)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Metal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Modular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HM&amp;E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Structural fab / pre-outfit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3323, 3324, 3366, 3369; e.g. DC Fabricators, Rhoads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Machining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3327, 3336; e.g. Advance Mfg., B. &amp; F. Machine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Castings and forgings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3321, 3315, 3312; e.g. Scot Forge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Piping / valves / pumps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3329, 3339, 4235; e.g. Curtiss-Wright, CIRCOR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Electrical / power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3353, 3344, 3359, 3364; e.g. Northrop Grumman, Leonardo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HVAC / ventilation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3334; e.g. Johnson Controls Navy Systems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Coatings / insulation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3252, 3259, 3262; e.g. Globe Composite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Residual (Unbucketed / ambiguous)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 clean NAICS bucket; e.g. ESCO, L3Harris, BWX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sp>
        <p:nvSpPr>
          <p:cNvPr id="30" name="NoSum"/>
          <p:cNvSpPr txBox="1"/>
          <p:nvPr/>
        </p:nvSpPr>
        <p:spPr>
          <a:xfrm>
            <a:off x="453079" y="5570000"/>
            <a:ext cx="11282362" cy="2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cuts overlap; do not sum scenarios (machining is in both Metal and HM&amp;E). Broad SAM excludes the unbucketed / ambiguous residual. No SOM is modeled.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FFATA/FSRS records; (2) SAM.gov Entity Management API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Top 25 Visible Suppliers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Top 25 Visible Suppliers | Extended FFATA-visible list is a named-vendor floor</a:t>
            </a:r>
          </a:p>
        </p:txBody>
      </p:sp>
      <p:sp>
        <p:nvSpPr>
          <p:cNvPr id="10" name="EvidenceChip"/>
          <p:cNvSpPr txBox="1"/>
          <p:nvPr/>
        </p:nvSpPr>
        <p:spPr>
          <a:xfrm>
            <a:off x="453079" y="1371600"/>
            <a:ext cx="2933414" cy="38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150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classified subaward recipients</a:t>
            </a:r>
          </a:p>
        </p:txBody>
      </p:sp>
      <p:sp>
        <p:nvSpPr>
          <p:cNvPr id="11" name="EvidenceChip"/>
          <p:cNvSpPr txBox="1"/>
          <p:nvPr/>
        </p:nvSpPr>
        <p:spPr>
          <a:xfrm>
            <a:off x="3477933" y="1371600"/>
            <a:ext cx="3836003" cy="38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140000" tIns="70000" rIns="14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~$5.46B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supplier-addressable visible value</a:t>
            </a:r>
          </a:p>
        </p:txBody>
      </p:sp>
      <p:sp>
        <p:nvSpPr>
          <p:cNvPr id="12" name="ReadNote"/>
          <p:cNvSpPr txBox="1"/>
          <p:nvPr/>
        </p:nvSpPr>
        <p:spPr>
          <a:xfrm>
            <a:off x="7405376" y="1371600"/>
            <a:ext cx="4330065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this is a named-vendor evidence ledger; values are visible cumulative filings, not annual market size.</a:t>
            </a:r>
          </a:p>
        </p:txBody>
      </p:sp>
      <p:graphicFrame>
        <p:nvGraphicFramePr>
          <p:cNvPr id="20" name="Top25Ledger"/>
          <p:cNvGraphicFramePr>
            <a:graphicFrameLocks noGrp="1"/>
          </p:cNvGraphicFramePr>
          <p:nvPr/>
        </p:nvGraphicFramePr>
        <p:xfrm>
          <a:off x="453079" y="1801600"/>
          <a:ext cx="11282362" cy="384048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639721"/>
                <a:gridCol w="4129111"/>
                <a:gridCol w="872347"/>
                <a:gridCol w="639721"/>
                <a:gridCol w="4129111"/>
                <a:gridCol w="872351"/>
              </a:tblGrid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Rank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(parent legal entity)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Rank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(parent legal entity)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Northrop Grumman Corporation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1,426.6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 International SC,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74.1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Leonardo SpA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490.6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Oil States International,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71.5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Curtiss-Wright Electro-Mechanical Corp.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198.0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Precision Custom Components,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68.8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Scot Forge Company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197.5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Goodrich Corp. (RTX Collins Aerospace)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64.9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ESCO Technologies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188.5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Johnson Controls Navy Systems,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58.7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DC Fabricators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162.9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Globe Composite Solutions,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57.3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Rhoads Metal Fabrications,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141.9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CIRCOR International,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53.0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Curtiss-Wright Corporation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110.8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L3Harris Technologies,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52.3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The Graham Corporation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89.1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BWX Technologies,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51.8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Austal USA,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87.6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Advance Mfg. Co., Inc.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51.2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Rosyth Royal Dockyard Ltd. (Babcock)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84.0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Pegasus Steel,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48.9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 International,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Portland Valve LLC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48.1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Curtiss-Wright Flow Control Corp.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74.7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FloorCaveat"/>
          <p:cNvSpPr txBox="1"/>
          <p:nvPr/>
        </p:nvSpPr>
        <p:spPr>
          <a:xfrm>
            <a:off x="453079" y="5660000"/>
            <a:ext cx="11282362" cy="2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does not mean complete: FFATA names first-tier filings above the $30,000 per-action threshold and should be treated as a floor, not the full supplier layer. Across the fifteen in-scope new-construction PIIDs there are ~759 FFATA-visible parents; the 25 shown are the largest.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FFATA/FSRS records; (2) SAM.gov Entity Management API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deck_submarines</Application>
  <PresentationFormat>Widescreen</PresentationFormat>
  <Slides>27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Distributed Shipbuilding Submarines - Outsourced Construction TAM &amp; SAM</dc:title>
  <dc:creator>deck_submarines build_deck.py</dc:creator>
  <cp:lastModifiedBy>deck_submarines build_deck.py</cp:lastModifiedBy>
  <cp:revision>1</cp:revision>
  <dcterms:created xsi:type="dcterms:W3CDTF">2026-06-20T23:29:49Z</dcterms:created>
  <dcterms:modified xsi:type="dcterms:W3CDTF">2026-06-20T23:29:49Z</dcterms:modified>
</cp:coreProperties>
</file>