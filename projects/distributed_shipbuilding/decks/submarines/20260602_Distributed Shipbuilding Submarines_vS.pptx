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Virginia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4.758</c:v>
                </c:pt>
                <c:pt idx="1">
                  <c:v>5.095</c:v>
                </c:pt>
                <c:pt idx="2">
                  <c:v>9.071</c:v>
                </c:pt>
                <c:pt idx="3">
                  <c:v>5.327</c:v>
                </c:pt>
                <c:pt idx="4">
                  <c:v>3.137</c:v>
                </c:pt>
                <c:pt idx="5">
                  <c:v>8.889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Columbia</c:v>
                </c:pt>
              </c:strCache>
            </c:strRef>
          </c:tx>
          <c:spPr>
            <a:solidFill>
              <a:srgbClr val="89A2B0"/>
            </a:solidFill>
            <a:ln w="6350">
              <a:solidFill>
                <a:srgbClr val="000000"/>
              </a:solidFill>
            </a:ln>
          </c:spPr>
          <c:invertIfNegative val="0"/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6.356</c:v>
                </c:pt>
                <c:pt idx="3">
                  <c:v>0.0</c:v>
                </c:pt>
                <c:pt idx="4">
                  <c:v>7.16</c:v>
                </c:pt>
                <c:pt idx="5">
                  <c:v>6.854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</c:v>
                </c:pt>
              </c:strCache>
            </c:strRef>
          </c:tx>
          <c:spPr>
            <a:solidFill>
              <a:srgbClr val="79838F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1.667</c:v>
                </c:pt>
                <c:pt idx="1">
                  <c:v>1.785</c:v>
                </c:pt>
                <c:pt idx="2">
                  <c:v>5.403</c:v>
                </c:pt>
                <c:pt idx="3">
                  <c:v>1.866</c:v>
                </c:pt>
                <c:pt idx="4">
                  <c:v>3.606</c:v>
                </c:pt>
                <c:pt idx="5">
                  <c:v>5.514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Broad SAM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1.414</c:v>
                </c:pt>
                <c:pt idx="1">
                  <c:v>1.514</c:v>
                </c:pt>
                <c:pt idx="2">
                  <c:v>4.584</c:v>
                </c:pt>
                <c:pt idx="3">
                  <c:v>1.583</c:v>
                </c:pt>
                <c:pt idx="4">
                  <c:v>3.06</c:v>
                </c:pt>
                <c:pt idx="5">
                  <c:v>4.678</c:v>
                </c:pt>
              </c:numCache>
            </c:numRef>
          </c:val>
        </c:ser>
        <c:gapWidth val="11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view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POP anchor</c:v>
                </c:pt>
                <c:pt idx="1">
                  <c:v>AP/LLTM ref</c:v>
                </c:pt>
                <c:pt idx="2">
                  <c:v>Applied BC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0.518</c:v>
                </c:pt>
                <c:pt idx="1">
                  <c:v>0.485</c:v>
                </c:pt>
                <c:pt idx="2">
                  <c:v>0.35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.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Sheet1!$B$2:$B$6</c:f>
              <c:numCache>
                <c:formatCode>"$"0.0"B"</c:formatCode>
                <c:ptCount val="5"/>
                <c:pt idx="1">
                  <c:v>17.436000000000003</c:v>
                </c:pt>
                <c:pt idx="2">
                  <c:v>0.5890000000000022</c:v>
                </c:pt>
                <c:pt idx="3">
                  <c:v>2.220446049250313e-15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Sheet1!$C$2:$C$6</c:f>
              <c:numCache>
                <c:formatCode>"$"0.0"B"</c:formatCode>
                <c:ptCount val="5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Sheet1!$D$2:$D$6</c:f>
              <c:numCache>
                <c:formatCode>"$"0.0"B"</c:formatCode>
                <c:ptCount val="5"/>
                <c:pt idx="1">
                  <c:v>27.273</c:v>
                </c:pt>
                <c:pt idx="2">
                  <c:v>16.847</c:v>
                </c:pt>
                <c:pt idx="3">
                  <c:v>0.589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Sheet1!$E$2:$E$6</c:f>
              <c:numCache>
                <c:formatCode>"$"0.0"B"</c:formatCode>
                <c:ptCount val="5"/>
                <c:pt idx="0">
                  <c:v>44.709</c:v>
                </c:pt>
                <c:pt idx="4">
                  <c:v>2.220446049250313e-15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BEBEBE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DBDBDB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Electrical/power</c:v>
                </c:pt>
                <c:pt idx="1">
                  <c:v>Structural</c:v>
                </c:pt>
                <c:pt idx="2">
                  <c:v>Piping/valves</c:v>
                </c:pt>
                <c:pt idx="3">
                  <c:v>Castings</c:v>
                </c:pt>
                <c:pt idx="4">
                  <c:v>Coatings</c:v>
                </c:pt>
                <c:pt idx="5">
                  <c:v>Machining</c:v>
                </c:pt>
                <c:pt idx="6">
                  <c:v>HVAC</c:v>
                </c:pt>
              </c:strCache>
            </c:strRef>
          </c:cat>
          <c:val>
            <c:numRef>
              <c:f>Sheet1!$B$2:$B$8</c:f>
              <c:numCache>
                <c:formatCode>"$"#,##0"M"</c:formatCode>
                <c:ptCount val="7"/>
                <c:pt idx="0">
                  <c:v>1257.1</c:v>
                </c:pt>
                <c:pt idx="1">
                  <c:v>624.5</c:v>
                </c:pt>
                <c:pt idx="2">
                  <c:v>519.6</c:v>
                </c:pt>
                <c:pt idx="3">
                  <c:v>142.8</c:v>
                </c:pt>
                <c:pt idx="4">
                  <c:v>101.5</c:v>
                </c:pt>
                <c:pt idx="5">
                  <c:v>98.1</c:v>
                </c:pt>
                <c:pt idx="6">
                  <c:v>61.9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components</c:v>
                </c:pt>
                <c:pt idx="1">
                  <c:v>Electrical/power</c:v>
                </c:pt>
                <c:pt idx="2">
                  <c:v>Metal components</c:v>
                </c:pt>
                <c:pt idx="3">
                  <c:v>Modular assy</c:v>
                </c:pt>
                <c:pt idx="4">
                  <c:v>HM&amp;E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2805.5</c:v>
                </c:pt>
                <c:pt idx="1">
                  <c:v>1257.1</c:v>
                </c:pt>
                <c:pt idx="2">
                  <c:v>865.4</c:v>
                </c:pt>
                <c:pt idx="3">
                  <c:v>726.0</c:v>
                </c:pt>
                <c:pt idx="4">
                  <c:v>679.6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Visible subaward $M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Northrop Grumman Corporation</c:v>
                </c:pt>
                <c:pt idx="1">
                  <c:v>Leonardo SpA</c:v>
                </c:pt>
                <c:pt idx="2">
                  <c:v>Curtiss-Wright Electro-Mechanical Corp.</c:v>
                </c:pt>
                <c:pt idx="3">
                  <c:v>Scot Forge Company</c:v>
                </c:pt>
                <c:pt idx="4">
                  <c:v>ESCO Technologies Inc.</c:v>
                </c:pt>
                <c:pt idx="5">
                  <c:v>DC Fabricators Inc.</c:v>
                </c:pt>
                <c:pt idx="6">
                  <c:v>Rhoads Metal Fabrications, Inc.</c:v>
                </c:pt>
                <c:pt idx="7">
                  <c:v>Curtiss-Wright Corporation</c:v>
                </c:pt>
                <c:pt idx="8">
                  <c:v>The Graham Corporation</c:v>
                </c:pt>
                <c:pt idx="9">
                  <c:v>Austal USA,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1426.6</c:v>
                </c:pt>
                <c:pt idx="1">
                  <c:v>490.6</c:v>
                </c:pt>
                <c:pt idx="2">
                  <c:v>198.0</c:v>
                </c:pt>
                <c:pt idx="3">
                  <c:v>197.5</c:v>
                </c:pt>
                <c:pt idx="4">
                  <c:v>188.5</c:v>
                </c:pt>
                <c:pt idx="5">
                  <c:v>162.9</c:v>
                </c:pt>
                <c:pt idx="6">
                  <c:v>141.9</c:v>
                </c:pt>
                <c:pt idx="7">
                  <c:v>110.8</c:v>
                </c:pt>
                <c:pt idx="8">
                  <c:v>89.1</c:v>
                </c:pt>
                <c:pt idx="9">
                  <c:v>87.6</c:v>
                </c:pt>
              </c:numCache>
            </c:numRef>
          </c:val>
        </c:ser>
        <c:gapWidth val="3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1">
                  <c:v>4173.3</c:v>
                </c:pt>
                <c:pt idx="2">
                  <c:v>4250.3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Sheet1!$C$2:$C$5</c:f>
              <c:numCache>
                <c:formatCode>"$"#,##0"M"</c:formatCode>
                <c:ptCount val="4"/>
                <c:pt idx="1">
                  <c:v>77.0</c:v>
                </c:pt>
                <c:pt idx="2">
                  <c:v>1.5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Sheet1!$D$2:$D$5</c:f>
              <c:numCache>
                <c:formatCode>"$"#,##0"M"</c:formatCode>
                <c:ptCount val="4"/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9838F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Sheet1!$E$2:$E$5</c:f>
              <c:numCache>
                <c:formatCode>"$"#,##0"M"</c:formatCode>
                <c:ptCount val="4"/>
                <c:pt idx="0">
                  <c:v>4173.3</c:v>
                </c:pt>
                <c:pt idx="3">
                  <c:v>4251.8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 coefficient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POP anchor</c:v>
                </c:pt>
                <c:pt idx="1">
                  <c:v>AP/LLTM ref</c:v>
                </c:pt>
                <c:pt idx="2">
                  <c:v>Applied BC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0.518</c:v>
                </c:pt>
                <c:pt idx="1">
                  <c:v>0.485</c:v>
                </c:pt>
                <c:pt idx="2">
                  <c:v>0.35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Submarine Supplier Market Sizing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TAM and SAM for the U.S. submarine new-construction supplier base, average annual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and Scope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addressable opportunity is a narrow layer inside a much larger procurement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Submarine Ecosystem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Primer | Submarine construction is a layered procurement ecosystem</a:t>
            </a:r>
          </a:p>
        </p:txBody>
      </p:sp>
      <p:sp>
        <p:nvSpPr>
          <p:cNvPr id="20" name="NavyAndSCNNode"/>
          <p:cNvSpPr txBox="1"/>
          <p:nvPr/>
        </p:nvSpPr>
        <p:spPr>
          <a:xfrm>
            <a:off x="453079" y="1521600"/>
            <a:ext cx="3516947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AND SCN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authority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P-5c and P-10</a:t>
            </a:r>
          </a:p>
        </p:txBody>
      </p:sp>
      <p:sp>
        <p:nvSpPr>
          <p:cNvPr id="21" name="GDEBPrimeConstructionNode"/>
          <p:cNvSpPr txBox="1"/>
          <p:nvPr/>
        </p:nvSpPr>
        <p:spPr>
          <a:xfrm>
            <a:off x="4335786" y="1521600"/>
            <a:ext cx="3516947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GDEB PRIME CONSTRUCTION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of record for Virginia and Columbia construction</a:t>
            </a:r>
          </a:p>
        </p:txBody>
      </p:sp>
      <p:sp>
        <p:nvSpPr>
          <p:cNvPr id="22" name="CountedSupplierLayerNode"/>
          <p:cNvSpPr txBox="1"/>
          <p:nvPr/>
        </p:nvSpPr>
        <p:spPr>
          <a:xfrm>
            <a:off x="8218493" y="1521600"/>
            <a:ext cx="3516947" cy="8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COUNTED SUPPLIER LAYER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components and subcontracts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TAM and SAM candidate</a:t>
            </a:r>
          </a:p>
        </p:txBody>
      </p:sp>
      <p:sp>
        <p:nvSpPr>
          <p:cNvPr id="10" name="CountedPathChevron"/>
          <p:cNvSpPr txBox="1"/>
          <p:nvPr/>
        </p:nvSpPr>
        <p:spPr>
          <a:xfrm>
            <a:off x="4022906" y="1831600"/>
            <a:ext cx="260000" cy="260000"/>
          </a:xfrm>
          <a:prstGeom prst="chevron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" name="CountedPathChevron"/>
          <p:cNvSpPr txBox="1"/>
          <p:nvPr/>
        </p:nvSpPr>
        <p:spPr>
          <a:xfrm>
            <a:off x="7905613" y="1831600"/>
            <a:ext cx="260000" cy="260000"/>
          </a:xfrm>
          <a:prstGeom prst="chevron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0" name="HIINewportNewsContextNode"/>
          <p:cNvSpPr txBox="1"/>
          <p:nvPr/>
        </p:nvSpPr>
        <p:spPr>
          <a:xfrm>
            <a:off x="4335786" y="2671600"/>
            <a:ext cx="3516947" cy="8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team-build workshare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and yard layer; not treated as open supplier SAM</a:t>
            </a:r>
          </a:p>
        </p:txBody>
      </p:sp>
      <p:sp>
        <p:nvSpPr>
          <p:cNvPr id="31" name="SupplierWorkTypesStrip"/>
          <p:cNvSpPr txBox="1"/>
          <p:nvPr/>
        </p:nvSpPr>
        <p:spPr>
          <a:xfrm>
            <a:off x="8218493" y="2671600"/>
            <a:ext cx="3516947" cy="8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work types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electrical, piping, machining, castings and forgings, valves, pumps, HVAC, coatings</a:t>
            </a:r>
          </a:p>
        </p:txBody>
      </p:sp>
      <p:sp>
        <p:nvSpPr>
          <p:cNvPr id="35" name="ExclusionBoundary"/>
          <p:cNvSpPr txBox="1"/>
          <p:nvPr/>
        </p:nvSpPr>
        <p:spPr>
          <a:xfrm>
            <a:off x="453079" y="3851600"/>
            <a:ext cx="11282362" cy="26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OUTSIDE COUNTED SUPPLIER LAYER</a:t>
            </a:r>
          </a:p>
        </p:txBody>
      </p:sp>
      <p:sp>
        <p:nvSpPr>
          <p:cNvPr id="40" name="GFEAndGFPExclusionCell"/>
          <p:cNvSpPr txBox="1"/>
          <p:nvPr/>
        </p:nvSpPr>
        <p:spPr>
          <a:xfrm>
            <a:off x="45307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and GFP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systems, sonar, weapons</a:t>
            </a:r>
          </a:p>
        </p:txBody>
      </p:sp>
      <p:sp>
        <p:nvSpPr>
          <p:cNvPr id="41" name="NuclearAndBPMIExclusionCell"/>
          <p:cNvSpPr txBox="1"/>
          <p:nvPr/>
        </p:nvSpPr>
        <p:spPr>
          <a:xfrm>
            <a:off x="329652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Nuclear and BPMI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reactor plant</a:t>
            </a:r>
          </a:p>
        </p:txBody>
      </p:sp>
      <p:sp>
        <p:nvSpPr>
          <p:cNvPr id="42" name="SIBCapacityExclusionCell"/>
          <p:cNvSpPr txBox="1"/>
          <p:nvPr/>
        </p:nvSpPr>
        <p:spPr>
          <a:xfrm>
            <a:off x="613997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capacity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grants and BlueForge-type pass-throughs</a:t>
            </a:r>
          </a:p>
        </p:txBody>
      </p:sp>
      <p:sp>
        <p:nvSpPr>
          <p:cNvPr id="43" name="DepotAndSustainmentExclusionCell"/>
          <p:cNvSpPr txBox="1"/>
          <p:nvPr/>
        </p:nvSpPr>
        <p:spPr>
          <a:xfrm>
            <a:off x="898342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Depot and sustainment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non-new-construction flows</a:t>
            </a:r>
          </a:p>
        </p:txBody>
      </p:sp>
      <p:cxnSp>
        <p:nvCxnSpPr>
          <p:cNvPr id="12" name="ContextGDEBToHII"/>
          <p:cNvCxnSpPr/>
          <p:nvPr/>
        </p:nvCxnSpPr>
        <p:spPr>
          <a:xfrm>
            <a:off x="6094259" y="2401600"/>
            <a:ext cx="0" cy="270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</p:cxnSp>
      <p:cxnSp>
        <p:nvCxnSpPr>
          <p:cNvPr id="13" name="WorkTypeDecomposition"/>
          <p:cNvCxnSpPr/>
          <p:nvPr/>
        </p:nvCxnSpPr>
        <p:spPr>
          <a:xfrm>
            <a:off x="9976966" y="2401600"/>
            <a:ext cx="0" cy="270000"/>
          </a:xfrm>
          <a:prstGeom prst="line">
            <a:avLst/>
          </a:prstGeom>
          <a:ln w="12700">
            <a:solidFill>
              <a:srgbClr val="3D5972"/>
            </a:solidFill>
            <a:tailEnd type="triangle" w="med" len="med"/>
          </a:ln>
        </p:spPr>
      </p:cxnSp>
      <p:sp>
        <p:nvSpPr>
          <p:cNvPr id="50" name="ScopeKey"/>
          <p:cNvSpPr txBox="1"/>
          <p:nvPr/>
        </p:nvSpPr>
        <p:spPr>
          <a:xfrm>
            <a:off x="453079" y="499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marks the counted sizing path; light gray cards are related context; cells under the dark cap are excluded from the count.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Books; General Dynamics FY2021 Form 10-K; Huntington Ingalls Columbia-Class product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Boundary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Sizing Boundary | The model sizes non-nuclear supplier opportunity, excluding GFE, SIB, yards, and SOM</a:t>
            </a:r>
          </a:p>
        </p:txBody>
      </p:sp>
      <p:sp>
        <p:nvSpPr>
          <p:cNvPr id="10" name="BoundarySubtitle"/>
          <p:cNvSpPr txBox="1"/>
          <p:nvPr/>
        </p:nvSpPr>
        <p:spPr>
          <a:xfrm>
            <a:off x="453079" y="140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narrower answer is more defensible than a larger, double-counted market.</a:t>
            </a:r>
          </a:p>
        </p:txBody>
      </p:sp>
      <p:sp>
        <p:nvSpPr>
          <p:cNvPr id="20" name="IncludedInTAMHeader"/>
          <p:cNvSpPr txBox="1"/>
          <p:nvPr/>
        </p:nvSpPr>
        <p:spPr>
          <a:xfrm>
            <a:off x="453079" y="1681600"/>
            <a:ext cx="3699827" cy="33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INCLUDED IN TAM</a:t>
            </a:r>
          </a:p>
        </p:txBody>
      </p:sp>
      <p:sp>
        <p:nvSpPr>
          <p:cNvPr id="30" name="IncludedInTAMBody"/>
          <p:cNvSpPr txBox="1"/>
          <p:nvPr/>
        </p:nvSpPr>
        <p:spPr>
          <a:xfrm>
            <a:off x="453079" y="2011600"/>
            <a:ext cx="3699827" cy="25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P-5c Basic Construction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Conversion base for Virginia and Columbia new construction.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Non-nuclear supplier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manufacturing inside the construction base.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Purchased material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subcontracts and supported lower-tier supplier flow.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buckets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machining, castings, piping, valves, electrical, HVAC, coatings.</a:t>
            </a:r>
          </a:p>
        </p:txBody>
      </p:sp>
      <p:sp>
        <p:nvSpPr>
          <p:cNvPr id="21" name="ExcludedFromTAMHeader"/>
          <p:cNvSpPr txBox="1"/>
          <p:nvPr/>
        </p:nvSpPr>
        <p:spPr>
          <a:xfrm>
            <a:off x="4244346" y="1681600"/>
            <a:ext cx="3699827" cy="33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EXCLUDED FROM TAM</a:t>
            </a:r>
          </a:p>
        </p:txBody>
      </p:sp>
      <p:sp>
        <p:nvSpPr>
          <p:cNvPr id="31" name="ExcludedFromTAMBody"/>
          <p:cNvSpPr txBox="1"/>
          <p:nvPr/>
        </p:nvSpPr>
        <p:spPr>
          <a:xfrm>
            <a:off x="4244346" y="2011600"/>
            <a:ext cx="3699827" cy="259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and GFP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nuclear reactor plant, combat systems, sonar, weapons, and ordnance.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BPMI nuclear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reactor work and naval nuclear GFE.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capacity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grants and BlueForge-type pass-through funding.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Yards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and co-prime work at GDEB and HII Newport News.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Depot and sustainment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overhauls, design-only work, program-office labor, and classified payloads.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 overlap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inside Basic Construction; additive base is $0.</a:t>
            </a:r>
          </a:p>
        </p:txBody>
      </p:sp>
      <p:sp>
        <p:nvSpPr>
          <p:cNvPr id="22" name="ContextOnlyHeader"/>
          <p:cNvSpPr txBox="1"/>
          <p:nvPr/>
        </p:nvSpPr>
        <p:spPr>
          <a:xfrm>
            <a:off x="8035613" y="1681600"/>
            <a:ext cx="3699827" cy="330000"/>
          </a:xfrm>
          <a:prstGeom prst="rect">
            <a:avLst/>
          </a:prstGeom>
          <a:solidFill>
            <a:srgbClr val="7F7F7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ONLY</a:t>
            </a:r>
          </a:p>
        </p:txBody>
      </p:sp>
      <p:sp>
        <p:nvSpPr>
          <p:cNvPr id="32" name="ContextOnlyBody"/>
          <p:cNvSpPr txBox="1"/>
          <p:nvPr/>
        </p:nvSpPr>
        <p:spPr>
          <a:xfrm>
            <a:off x="8035613" y="2011600"/>
            <a:ext cx="3699827" cy="25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TOA context from P-5c and P-40.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reference stream for cadence; additive base is $0.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and FSRS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first-tier subaward stream as a named-vendor floor.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evidence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supports the supplier coefficient.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visibility gap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unseen layer are limitations, not extra add-ons.</a:t>
            </a:r>
          </a:p>
        </p:txBody>
      </p:sp>
      <p:sp>
        <p:nvSpPr>
          <p:cNvPr id="50" name="BoundaryWarningRail"/>
          <p:cNvSpPr txBox="1"/>
          <p:nvPr/>
        </p:nvSpPr>
        <p:spPr>
          <a:xfrm>
            <a:off x="453079" y="4891600"/>
            <a:ext cx="11282362" cy="65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warning: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SOM is modeled. SAM is a scenario menu, not market share, capture, win probability, or revenue forecast.</a:t>
            </a:r>
          </a:p>
        </p:txBody>
      </p:sp>
      <p:sp>
        <p:nvSpPr>
          <p:cNvPr id="60" name="APAndLLTMNote"/>
          <p:cNvSpPr txBox="1"/>
          <p:nvPr/>
        </p:nvSpPr>
        <p:spPr>
          <a:xfrm>
            <a:off x="453079" y="5651600"/>
            <a:ext cx="1128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are timing mechanisms; do not add P-10 to P-5c Basic Construction without changing the boundary.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Books, Exhibits P-5c and P-10; FAR 52.204-10 and FAR Part 45; GAO-25-106286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Executive Summary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Average annual opportunity is ~$3.3B TAM and ~$2.8B broad SAM</a:t>
            </a:r>
          </a:p>
        </p:txBody>
      </p:sp>
      <p:sp>
        <p:nvSpPr>
          <p:cNvPr id="10" name="SubtitleNote"/>
          <p:cNvSpPr txBox="1"/>
          <p:nvPr/>
        </p:nvSpPr>
        <p:spPr>
          <a:xfrm>
            <a:off x="453079" y="139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 model-period averages; not a commercial-style steady run-rate.</a:t>
            </a:r>
          </a:p>
        </p:txBody>
      </p:sp>
      <p:sp>
        <p:nvSpPr>
          <p:cNvPr id="20" name="AverageAnnualTAMCard"/>
          <p:cNvSpPr txBox="1"/>
          <p:nvPr/>
        </p:nvSpPr>
        <p:spPr>
          <a:xfrm>
            <a:off x="453079" y="1671600"/>
            <a:ext cx="5595461" cy="14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sp>
        <p:nvSpPr>
          <p:cNvPr id="21" name="AverageAnnualBroadSAMCard"/>
          <p:cNvSpPr txBox="1"/>
          <p:nvPr/>
        </p:nvSpPr>
        <p:spPr>
          <a:xfrm>
            <a:off x="6139980" y="1671600"/>
            <a:ext cx="5595461" cy="143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BROAD SAM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component manufacturing</a:t>
            </a:r>
          </a:p>
        </p:txBody>
      </p:sp>
      <p:sp>
        <p:nvSpPr>
          <p:cNvPr id="30" name="CumulativeTAMCard"/>
          <p:cNvSpPr txBox="1"/>
          <p:nvPr/>
        </p:nvSpPr>
        <p:spPr>
          <a:xfrm>
            <a:off x="453079" y="3321600"/>
            <a:ext cx="2752010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TAM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~$19.8B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1" name="CumulativeBroadSAMCard"/>
          <p:cNvSpPr txBox="1"/>
          <p:nvPr/>
        </p:nvSpPr>
        <p:spPr>
          <a:xfrm>
            <a:off x="3296529" y="3321600"/>
            <a:ext cx="2752010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broad SAM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~$16.8B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2" name="AppliedBCSupplierCoefficientCard"/>
          <p:cNvSpPr txBox="1"/>
          <p:nvPr/>
        </p:nvSpPr>
        <p:spPr>
          <a:xfrm>
            <a:off x="6139979" y="3321600"/>
            <a:ext cx="2752010" cy="8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BC supplier coeff.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deliberately strict</a:t>
            </a:r>
          </a:p>
        </p:txBody>
      </p:sp>
      <p:sp>
        <p:nvSpPr>
          <p:cNvPr id="33" name="APAndLLTMAdditiveBaseCard"/>
          <p:cNvSpPr txBox="1"/>
          <p:nvPr/>
        </p:nvSpPr>
        <p:spPr>
          <a:xfrm>
            <a:off x="8983429" y="3321600"/>
            <a:ext cx="2752010" cy="86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double count</a:t>
            </a:r>
          </a:p>
        </p:txBody>
      </p:sp>
      <p:sp>
        <p:nvSpPr>
          <p:cNvPr id="40" name="KPINote"/>
          <p:cNvSpPr txBox="1"/>
          <p:nvPr/>
        </p:nvSpPr>
        <p:spPr>
          <a:xfrm>
            <a:off x="453079" y="42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Headline values are model-derived from budget base, POP coefficient, and SAM work-type allocation.</a:t>
            </a:r>
          </a:p>
        </p:txBody>
      </p:sp>
      <p:sp>
        <p:nvSpPr>
          <p:cNvPr id="50" name="FindingsRail"/>
          <p:cNvSpPr txBox="1"/>
          <p:nvPr/>
        </p:nvSpPr>
        <p:spPr>
          <a:xfrm>
            <a:off x="453079" y="4541600"/>
            <a:ext cx="11282362" cy="1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80000" rIns="137160" bIns="8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makes the sizing conservative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Denominator: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is the denominator; GFE and SIB are excluded.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Coefficient: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strict, non-nuclear, BPMI-excluded, yard-excluded.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menu only; no SOM, capture share, or win probability.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flow is lumpy, with FY2024 and FY2027 peaks shown later.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Books; U.S. DoD daily Contracts announcements; SAM.gov FFATA, FSRS, and Entity Management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TAM Build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headline rests on one deliberately strict coefficient, even where the evidence would support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Backdrop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 and prime behavior point toward distributed supplier capacity</a:t>
            </a:r>
          </a:p>
        </p:txBody>
      </p:sp>
      <p:sp>
        <p:nvSpPr>
          <p:cNvPr id="10" name="TimelineHeadline"/>
          <p:cNvSpPr txBox="1"/>
          <p:nvPr/>
        </p:nvSpPr>
        <p:spPr>
          <a:xfrm>
            <a:off x="453079" y="1391600"/>
            <a:ext cx="11282362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constraint is no longer only yard throughput; it is supplier capacity and supplier qualification.</a:t>
            </a:r>
          </a:p>
        </p:txBody>
      </p:sp>
      <p:cxnSp>
        <p:nvCxnSpPr>
          <p:cNvPr id="11" name="TimelineRule"/>
          <p:cNvCxnSpPr/>
          <p:nvPr/>
        </p:nvCxnSpPr>
        <p:spPr>
          <a:xfrm>
            <a:off x="613079" y="2011600"/>
            <a:ext cx="1096236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2" name="TimelineTickConnector1"/>
          <p:cNvCxnSpPr/>
          <p:nvPr/>
        </p:nvCxnSpPr>
        <p:spPr>
          <a:xfrm>
            <a:off x="613079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3" name="TimelineTickConnector2"/>
          <p:cNvCxnSpPr/>
          <p:nvPr/>
        </p:nvCxnSpPr>
        <p:spPr>
          <a:xfrm>
            <a:off x="2805551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4" name="TimelineTickConnector3"/>
          <p:cNvCxnSpPr/>
          <p:nvPr/>
        </p:nvCxnSpPr>
        <p:spPr>
          <a:xfrm>
            <a:off x="4998023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5" name="TimelineTickConnector4"/>
          <p:cNvCxnSpPr/>
          <p:nvPr/>
        </p:nvCxnSpPr>
        <p:spPr>
          <a:xfrm>
            <a:off x="7190496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6" name="TimelineTickConnector5"/>
          <p:cNvCxnSpPr/>
          <p:nvPr/>
        </p:nvCxnSpPr>
        <p:spPr>
          <a:xfrm>
            <a:off x="9382968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7" name="TimelineTickConnector6"/>
          <p:cNvCxnSpPr/>
          <p:nvPr/>
        </p:nvCxnSpPr>
        <p:spPr>
          <a:xfrm>
            <a:off x="11575441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0" name="TimelineDateLabel1"/>
          <p:cNvSpPr txBox="1"/>
          <p:nvPr/>
        </p:nvSpPr>
        <p:spPr>
          <a:xfrm>
            <a:off x="453079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40" name="TimelineDot40"/>
          <p:cNvSpPr/>
          <p:nvPr/>
        </p:nvSpPr>
        <p:spPr>
          <a:xfrm>
            <a:off x="548079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1" name="TimelineDateLabel2"/>
          <p:cNvSpPr txBox="1"/>
          <p:nvPr/>
        </p:nvSpPr>
        <p:spPr>
          <a:xfrm>
            <a:off x="2343472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 and 2025</a:t>
            </a:r>
          </a:p>
        </p:txBody>
      </p:sp>
      <p:sp>
        <p:nvSpPr>
          <p:cNvPr id="41" name="TimelineDot41"/>
          <p:cNvSpPr/>
          <p:nvPr/>
        </p:nvSpPr>
        <p:spPr>
          <a:xfrm>
            <a:off x="2740551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2" name="TimelineDateLabel3"/>
          <p:cNvSpPr txBox="1"/>
          <p:nvPr/>
        </p:nvSpPr>
        <p:spPr>
          <a:xfrm>
            <a:off x="4233865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sp>
        <p:nvSpPr>
          <p:cNvPr id="42" name="TimelineDot42"/>
          <p:cNvSpPr/>
          <p:nvPr/>
        </p:nvSpPr>
        <p:spPr>
          <a:xfrm>
            <a:off x="4933023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3" name="TimelineDateLabel4"/>
          <p:cNvSpPr txBox="1"/>
          <p:nvPr/>
        </p:nvSpPr>
        <p:spPr>
          <a:xfrm>
            <a:off x="6124258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Jan-Apr 2026</a:t>
            </a:r>
          </a:p>
        </p:txBody>
      </p:sp>
      <p:sp>
        <p:nvSpPr>
          <p:cNvPr id="43" name="TimelineDot43"/>
          <p:cNvSpPr/>
          <p:nvPr/>
        </p:nvSpPr>
        <p:spPr>
          <a:xfrm>
            <a:off x="7125496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4" name="TimelineDateLabel5"/>
          <p:cNvSpPr txBox="1"/>
          <p:nvPr/>
        </p:nvSpPr>
        <p:spPr>
          <a:xfrm>
            <a:off x="8014651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Apr-May 2026</a:t>
            </a:r>
          </a:p>
        </p:txBody>
      </p:sp>
      <p:sp>
        <p:nvSpPr>
          <p:cNvPr id="44" name="TimelineDot44"/>
          <p:cNvSpPr/>
          <p:nvPr/>
        </p:nvSpPr>
        <p:spPr>
          <a:xfrm>
            <a:off x="9317968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5" name="TimelineDateLabel6"/>
          <p:cNvSpPr txBox="1"/>
          <p:nvPr/>
        </p:nvSpPr>
        <p:spPr>
          <a:xfrm>
            <a:off x="9905044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2026</a:t>
            </a:r>
          </a:p>
        </p:txBody>
      </p:sp>
      <p:sp>
        <p:nvSpPr>
          <p:cNvPr id="45" name="TimelineDot45"/>
          <p:cNvSpPr/>
          <p:nvPr/>
        </p:nvSpPr>
        <p:spPr>
          <a:xfrm>
            <a:off x="11510441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50" name="MilestoneCard50"/>
          <p:cNvSpPr txBox="1"/>
          <p:nvPr/>
        </p:nvSpPr>
        <p:spPr>
          <a:xfrm>
            <a:off x="453079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2021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GAO-21-257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base roughly 70% smaller; outsourcing oversight becomes critical.</a:t>
            </a:r>
          </a:p>
        </p:txBody>
      </p:sp>
      <p:sp>
        <p:nvSpPr>
          <p:cNvPr id="51" name="MilestoneCard51"/>
          <p:cNvSpPr txBox="1"/>
          <p:nvPr/>
        </p:nvSpPr>
        <p:spPr>
          <a:xfrm>
            <a:off x="2343472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 and 2025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institutionalized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 documents integrator role and yard outsourcing due to constrained space.</a:t>
            </a:r>
          </a:p>
        </p:txBody>
      </p:sp>
      <p:sp>
        <p:nvSpPr>
          <p:cNvPr id="52" name="MilestoneCard52"/>
          <p:cNvSpPr txBox="1"/>
          <p:nvPr/>
        </p:nvSpPr>
        <p:spPr>
          <a:xfrm>
            <a:off x="4233865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CRS RL32418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16,000 suppliers; about 70% critical sole-source; AUKUS ramps demand.</a:t>
            </a:r>
          </a:p>
        </p:txBody>
      </p:sp>
      <p:sp>
        <p:nvSpPr>
          <p:cNvPr id="53" name="MilestoneCard53"/>
          <p:cNvSpPr txBox="1"/>
          <p:nvPr/>
        </p:nvSpPr>
        <p:spPr>
          <a:xfrm>
            <a:off x="6124258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Jan-Apr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General Dynamics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Supply chain remains the gating item; complex components bottleneck.</a:t>
            </a:r>
          </a:p>
        </p:txBody>
      </p:sp>
      <p:sp>
        <p:nvSpPr>
          <p:cNvPr id="54" name="MilestoneCard54"/>
          <p:cNvSpPr txBox="1"/>
          <p:nvPr/>
        </p:nvSpPr>
        <p:spPr>
          <a:xfrm>
            <a:off x="8014651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Apr-May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 and Navy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than $10B invested; Navy plan points to distributed capacity.</a:t>
            </a:r>
          </a:p>
        </p:txBody>
      </p:sp>
      <p:sp>
        <p:nvSpPr>
          <p:cNvPr id="55" name="MilestoneCard55"/>
          <p:cNvSpPr txBox="1"/>
          <p:nvPr/>
        </p:nvSpPr>
        <p:spPr>
          <a:xfrm>
            <a:off x="9905044" y="2251600"/>
            <a:ext cx="1830393" cy="112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+30% outsourcing-hours guidance and distributed shipbuilding strategy language.</a:t>
            </a:r>
          </a:p>
        </p:txBody>
      </p:sp>
      <p:sp>
        <p:nvSpPr>
          <p:cNvPr id="70" name="ConstraintSignalCap"/>
          <p:cNvSpPr txBox="1"/>
          <p:nvPr/>
        </p:nvSpPr>
        <p:spPr>
          <a:xfrm>
            <a:off x="453079" y="3761600"/>
            <a:ext cx="3699827" cy="3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CONSTRAINT SIGNAL</a:t>
            </a:r>
          </a:p>
        </p:txBody>
      </p:sp>
      <p:sp>
        <p:nvSpPr>
          <p:cNvPr id="80" name="ConstraintSignalBody"/>
          <p:cNvSpPr txBox="1"/>
          <p:nvPr/>
        </p:nvSpPr>
        <p:spPr>
          <a:xfrm>
            <a:off x="453079" y="4111600"/>
            <a:ext cx="3699827" cy="1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Atrophied supplier base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70% critical suppliers sole-source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AUKUS adds demand</a:t>
            </a:r>
          </a:p>
        </p:txBody>
      </p:sp>
      <p:sp>
        <p:nvSpPr>
          <p:cNvPr id="72" name="PolicySignalCap"/>
          <p:cNvSpPr txBox="1"/>
          <p:nvPr/>
        </p:nvSpPr>
        <p:spPr>
          <a:xfrm>
            <a:off x="4244346" y="3761600"/>
            <a:ext cx="3699827" cy="35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SIGNAL</a:t>
            </a:r>
          </a:p>
        </p:txBody>
      </p:sp>
      <p:sp>
        <p:nvSpPr>
          <p:cNvPr id="82" name="PolicySignalBody"/>
          <p:cNvSpPr txBox="1"/>
          <p:nvPr/>
        </p:nvSpPr>
        <p:spPr>
          <a:xfrm>
            <a:off x="4244346" y="4111600"/>
            <a:ext cx="3699827" cy="1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&gt;$10B DoD submarine industrial-base investment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program office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 sites target</a:t>
            </a:r>
          </a:p>
        </p:txBody>
      </p:sp>
      <p:sp>
        <p:nvSpPr>
          <p:cNvPr id="74" name="PrimeBehaviorSignalCap"/>
          <p:cNvSpPr txBox="1"/>
          <p:nvPr/>
        </p:nvSpPr>
        <p:spPr>
          <a:xfrm>
            <a:off x="8035613" y="3761600"/>
            <a:ext cx="3699827" cy="35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BEHAVIOR SIGNAL</a:t>
            </a:r>
          </a:p>
        </p:txBody>
      </p:sp>
      <p:sp>
        <p:nvSpPr>
          <p:cNvPr id="84" name="PrimeBehaviorSignalBody"/>
          <p:cNvSpPr txBox="1"/>
          <p:nvPr/>
        </p:nvSpPr>
        <p:spPr>
          <a:xfrm>
            <a:off x="8035613" y="4111600"/>
            <a:ext cx="3699827" cy="1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+30% outsourcing-hours guidance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supply-chain gating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 capex and throughput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GAO-21-257, GAO-25-106286, and GAO-26-109068; CRS RL32418 and U.S. Navy FY2027 30-Year Shipbuilding Plan; HII and General Dynamics earnings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built from Basic Construction, supplier coefficients, and work-type allocation</a:t>
            </a:r>
          </a:p>
        </p:txBody>
      </p:sp>
      <p:cxnSp>
        <p:nvCxnSpPr>
          <p:cNvPr id="10" name="ProcessConnectorRail"/>
          <p:cNvCxnSpPr/>
          <p:nvPr/>
        </p:nvCxnSpPr>
        <p:spPr>
          <a:xfrm>
            <a:off x="1235390" y="1631600"/>
            <a:ext cx="9717738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21" name="StepDot1"/>
          <p:cNvSpPr txBox="1"/>
          <p:nvPr/>
        </p:nvSpPr>
        <p:spPr>
          <a:xfrm>
            <a:off x="1125390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StepDot2"/>
          <p:cNvSpPr txBox="1"/>
          <p:nvPr/>
        </p:nvSpPr>
        <p:spPr>
          <a:xfrm>
            <a:off x="2745013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StepDot3"/>
          <p:cNvSpPr txBox="1"/>
          <p:nvPr/>
        </p:nvSpPr>
        <p:spPr>
          <a:xfrm>
            <a:off x="4364636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StepDot4"/>
          <p:cNvSpPr txBox="1"/>
          <p:nvPr/>
        </p:nvSpPr>
        <p:spPr>
          <a:xfrm>
            <a:off x="5984259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StepDot5"/>
          <p:cNvSpPr txBox="1"/>
          <p:nvPr/>
        </p:nvSpPr>
        <p:spPr>
          <a:xfrm>
            <a:off x="7603882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StepDot6"/>
          <p:cNvSpPr txBox="1"/>
          <p:nvPr/>
        </p:nvSpPr>
        <p:spPr>
          <a:xfrm>
            <a:off x="9223505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StepDot7"/>
          <p:cNvSpPr txBox="1"/>
          <p:nvPr/>
        </p:nvSpPr>
        <p:spPr>
          <a:xfrm>
            <a:off x="10843128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1" name="ProcessStep41"/>
          <p:cNvSpPr txBox="1"/>
          <p:nvPr/>
        </p:nvSpPr>
        <p:spPr>
          <a:xfrm>
            <a:off x="453079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P-5c Basic Construction; P-10 reference</a:t>
            </a:r>
          </a:p>
        </p:txBody>
      </p:sp>
      <p:sp>
        <p:nvSpPr>
          <p:cNvPr id="42" name="ProcessStep42"/>
          <p:cNvSpPr txBox="1"/>
          <p:nvPr/>
        </p:nvSpPr>
        <p:spPr>
          <a:xfrm>
            <a:off x="2072702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 flows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GFE, BPMI, SIB, yards, depot, AP overlap</a:t>
            </a:r>
          </a:p>
        </p:txBody>
      </p:sp>
      <p:sp>
        <p:nvSpPr>
          <p:cNvPr id="43" name="ProcessStep43"/>
          <p:cNvSpPr txBox="1"/>
          <p:nvPr/>
        </p:nvSpPr>
        <p:spPr>
          <a:xfrm>
            <a:off x="3692325" y="1801600"/>
            <a:ext cx="1564623" cy="90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coefficient</a:t>
            </a:r>
          </a:p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POP-derived, non-nuclear, yard-excluded</a:t>
            </a:r>
          </a:p>
        </p:txBody>
      </p:sp>
      <p:sp>
        <p:nvSpPr>
          <p:cNvPr id="44" name="ProcessStep44"/>
          <p:cNvSpPr txBox="1"/>
          <p:nvPr/>
        </p:nvSpPr>
        <p:spPr>
          <a:xfrm>
            <a:off x="5311948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Calculate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multiplied by coefficient; AP add = $0</a:t>
            </a:r>
          </a:p>
        </p:txBody>
      </p:sp>
      <p:sp>
        <p:nvSpPr>
          <p:cNvPr id="45" name="ProcessStep45"/>
          <p:cNvSpPr txBox="1"/>
          <p:nvPr/>
        </p:nvSpPr>
        <p:spPr>
          <a:xfrm>
            <a:off x="6931571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Allocate buckets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and FSRS; SAM.gov NAICS mapping</a:t>
            </a:r>
          </a:p>
        </p:txBody>
      </p:sp>
      <p:sp>
        <p:nvSpPr>
          <p:cNvPr id="46" name="ProcessStep46"/>
          <p:cNvSpPr txBox="1"/>
          <p:nvPr/>
        </p:nvSpPr>
        <p:spPr>
          <a:xfrm>
            <a:off x="8551194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flags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inclusion menu, not capture</a:t>
            </a:r>
          </a:p>
        </p:txBody>
      </p:sp>
      <p:sp>
        <p:nvSpPr>
          <p:cNvPr id="47" name="ProcessStep47"/>
          <p:cNvSpPr txBox="1"/>
          <p:nvPr/>
        </p:nvSpPr>
        <p:spPr>
          <a:xfrm>
            <a:off x="10170817" y="1801600"/>
            <a:ext cx="1564623" cy="90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output menu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broad, electrical, metal, modular, HM&amp;E; no SOM</a:t>
            </a:r>
          </a:p>
        </p:txBody>
      </p:sp>
      <p:sp>
        <p:nvSpPr>
          <p:cNvPr id="60" name="FormulaLeadIn"/>
          <p:cNvSpPr txBox="1"/>
          <p:nvPr/>
        </p:nvSpPr>
        <p:spPr>
          <a:xfrm>
            <a:off x="453079" y="27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headline model is intentionally simple; complexity is handled in the evidence and exclusions.</a:t>
            </a:r>
          </a:p>
        </p:txBody>
      </p:sp>
      <p:sp>
        <p:nvSpPr>
          <p:cNvPr id="70" name="FormulaBoxCap"/>
          <p:cNvSpPr txBox="1"/>
          <p:nvPr/>
        </p:nvSpPr>
        <p:spPr>
          <a:xfrm>
            <a:off x="453079" y="3081600"/>
            <a:ext cx="11282362" cy="33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HEADLINE FORMULA</a:t>
            </a:r>
          </a:p>
        </p:txBody>
      </p:sp>
      <p:sp>
        <p:nvSpPr>
          <p:cNvPr id="71" name="FormulaBoxBody"/>
          <p:cNvSpPr txBox="1"/>
          <p:nvPr/>
        </p:nvSpPr>
        <p:spPr>
          <a:xfrm>
            <a:off x="453079" y="3411600"/>
            <a:ext cx="11282362" cy="10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TAM = FY2022-FY2027 Basic Construction base multiplied by applied BC supplier coefficient, divided by 6.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$56.647B Basic Construction multiplied by 35.0% = ~$19.840B cumulative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divided by 6 = ~$3.307B average annual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component-manufacturing SAM = ~$16.833B cumulative; ~$2.806B average annual.</a:t>
            </a:r>
          </a:p>
        </p:txBody>
      </p:sp>
      <p:sp>
        <p:nvSpPr>
          <p:cNvPr id="90" name="ScopeNotesRail"/>
          <p:cNvSpPr txBox="1"/>
          <p:nvPr/>
        </p:nvSpPr>
        <p:spPr>
          <a:xfrm>
            <a:off x="453079" y="4641600"/>
            <a:ext cx="11282362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80000" rIns="137160" bIns="80000"/>
          <a:lstStyle/>
          <a:p>
            <a:pPr>
              <a:lnSpc>
                <a:spcPct val="115000"/>
              </a:lnSpc>
              <a:spcAft>
                <a:spcPts val="13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notes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stream retained as reference evidence; additive headline base = $0.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inclusion menu only; no SOM, capture, or win-probability haircut is applied.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Books; U.S. DoD daily Contracts announcements; SAM.gov FFATA, FSRS, and Entity Management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Budget Denominator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| The FY2022-FY2027 denominator averages ~$9.4B annually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11600"/>
            <a:ext cx="80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by fiscal year and class, $B</a:t>
            </a:r>
          </a:p>
        </p:txBody>
      </p:sp>
      <p:graphicFrame>
        <p:nvGraphicFramePr>
          <p:cNvPr id="20" name="BasicConstructionStackedColumnChart"/>
          <p:cNvGraphicFramePr/>
          <p:nvPr/>
        </p:nvGraphicFramePr>
        <p:xfrm>
          <a:off x="453079" y="1631600"/>
          <a:ext cx="8060000" cy="33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0" name="FY2024PeakLeader"/>
          <p:cNvCxnSpPr/>
          <p:nvPr/>
        </p:nvCxnSpPr>
        <p:spPr>
          <a:xfrm>
            <a:off x="3848079" y="2121600"/>
            <a:ext cx="0" cy="3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31" name="FY2027PeakLeader"/>
          <p:cNvCxnSpPr/>
          <p:nvPr/>
        </p:nvCxnSpPr>
        <p:spPr>
          <a:xfrm>
            <a:off x="7508079" y="2121600"/>
            <a:ext cx="0" cy="33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40" name="FY2024PeakAnnotation"/>
          <p:cNvSpPr txBox="1"/>
          <p:nvPr/>
        </p:nvSpPr>
        <p:spPr>
          <a:xfrm>
            <a:off x="3023079" y="1711600"/>
            <a:ext cx="16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and Columbia Basic Construction</a:t>
            </a:r>
          </a:p>
        </p:txBody>
      </p:sp>
      <p:sp>
        <p:nvSpPr>
          <p:cNvPr id="41" name="FY2027PeakAnnotation"/>
          <p:cNvSpPr txBox="1"/>
          <p:nvPr/>
        </p:nvSpPr>
        <p:spPr>
          <a:xfrm>
            <a:off x="6683079" y="1711600"/>
            <a:ext cx="16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Two-boat Virginia plus Columbia</a:t>
            </a:r>
          </a:p>
        </p:txBody>
      </p:sp>
      <p:sp>
        <p:nvSpPr>
          <p:cNvPr id="50" name="DenominatorCommentaryRail"/>
          <p:cNvSpPr txBox="1"/>
          <p:nvPr/>
        </p:nvSpPr>
        <p:spPr>
          <a:xfrm>
            <a:off x="8813079" y="1661600"/>
            <a:ext cx="2922362" cy="3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20000" tIns="80000" rIns="90000" bIns="8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denominator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 Basic Construction totals ~$56.6B.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denominator averages ~$9.4B annually across six years.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and FY2027 are peak years when both classes contribute.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includes yards, team-build work, purchased material, first-tier subs, and lower-tier flow.</a:t>
            </a:r>
          </a:p>
        </p:txBody>
      </p:sp>
      <p:sp>
        <p:nvSpPr>
          <p:cNvPr id="60" name="UnitScopeNote"/>
          <p:cNvSpPr txBox="1"/>
          <p:nvPr/>
        </p:nvSpPr>
        <p:spPr>
          <a:xfrm>
            <a:off x="453079" y="5111600"/>
            <a:ext cx="81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AP-only Columbia years contribute no Basic Construction to this denominator. 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BC is a six-year average, not a smooth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P-5c; (2) CRS RL32418; (3) CRS R41129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| Applying the strict 35.0% coefficient yields ~$3.3B average annual TAM</a:t>
            </a:r>
          </a:p>
        </p:txBody>
      </p:sp>
      <p:sp>
        <p:nvSpPr>
          <p:cNvPr id="20" name="BasicConstructionBaseCard"/>
          <p:cNvSpPr txBox="1"/>
          <p:nvPr/>
        </p:nvSpPr>
        <p:spPr>
          <a:xfrm>
            <a:off x="1133079" y="1661600"/>
            <a:ext cx="3450000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$56.647B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 P-5c</a:t>
            </a:r>
          </a:p>
        </p:txBody>
      </p:sp>
      <p:sp>
        <p:nvSpPr>
          <p:cNvPr id="21" name="MathMultiplyOperator"/>
          <p:cNvSpPr>
            <a:spLocks noGrp="1"/>
          </p:cNvSpPr>
          <p:nvPr/>
        </p:nvSpPr>
        <p:spPr>
          <a:xfrm>
            <a:off x="5924260" y="1931600"/>
            <a:ext cx="340000" cy="34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" name="AppliedBCSupplierCoefficientCard"/>
          <p:cNvSpPr txBox="1"/>
          <p:nvPr/>
        </p:nvSpPr>
        <p:spPr>
          <a:xfrm>
            <a:off x="7605441" y="1661600"/>
            <a:ext cx="3450000" cy="8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BC SUPPLIER COEFFICIENT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strict, non-nuclear, yard-excluded</a:t>
            </a:r>
          </a:p>
        </p:txBody>
      </p:sp>
      <p:sp>
        <p:nvSpPr>
          <p:cNvPr id="30" name="CumulativePortfolioTAMCard"/>
          <p:cNvSpPr txBox="1"/>
          <p:nvPr/>
        </p:nvSpPr>
        <p:spPr>
          <a:xfrm>
            <a:off x="3744260" y="2931600"/>
            <a:ext cx="4700000" cy="8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PORTFOLIO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$19.840B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40" name="AverageAnnualTAMCard"/>
          <p:cNvSpPr txBox="1"/>
          <p:nvPr/>
        </p:nvSpPr>
        <p:spPr>
          <a:xfrm>
            <a:off x="3494260" y="4031600"/>
            <a:ext cx="5200000" cy="10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~$3.307B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cxnSp>
        <p:nvCxnSpPr>
          <p:cNvPr id="10" name="BCInputDropToMergeBus"/>
          <p:cNvCxnSpPr/>
          <p:nvPr/>
        </p:nvCxnSpPr>
        <p:spPr>
          <a:xfrm>
            <a:off x="2858079" y="2541600"/>
            <a:ext cx="0" cy="14000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1" name="CoefficientInputDropToMergeBus"/>
          <p:cNvCxnSpPr/>
          <p:nvPr/>
        </p:nvCxnSpPr>
        <p:spPr>
          <a:xfrm>
            <a:off x="9330441" y="2541600"/>
            <a:ext cx="0" cy="14000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2" name="InputMergeBus"/>
          <p:cNvCxnSpPr/>
          <p:nvPr/>
        </p:nvCxnSpPr>
        <p:spPr>
          <a:xfrm>
            <a:off x="2858079" y="2681600"/>
            <a:ext cx="647236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3" name="MergeBusToCumulativeTAM"/>
          <p:cNvCxnSpPr/>
          <p:nvPr/>
        </p:nvCxnSpPr>
        <p:spPr>
          <a:xfrm>
            <a:off x="6094260" y="2681600"/>
            <a:ext cx="0" cy="25000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cxnSp>
        <p:nvCxnSpPr>
          <p:cNvPr id="14" name="CumulativeToAverageAnnualTAM"/>
          <p:cNvCxnSpPr/>
          <p:nvPr/>
        </p:nvCxnSpPr>
        <p:spPr>
          <a:xfrm>
            <a:off x="6094260" y="3771600"/>
            <a:ext cx="0" cy="26000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23" name="MultiplyOperatorCaption"/>
          <p:cNvSpPr txBox="1"/>
          <p:nvPr/>
        </p:nvSpPr>
        <p:spPr>
          <a:xfrm>
            <a:off x="5394260" y="2291600"/>
            <a:ext cx="140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multiplied by</a:t>
            </a:r>
          </a:p>
        </p:txBody>
      </p:sp>
      <p:sp>
        <p:nvSpPr>
          <p:cNvPr id="31" name="DivideBySixConnectorNote"/>
          <p:cNvSpPr txBox="1"/>
          <p:nvPr/>
        </p:nvSpPr>
        <p:spPr>
          <a:xfrm>
            <a:off x="6284260" y="3826600"/>
            <a:ext cx="1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 by 6 years</a:t>
            </a:r>
          </a:p>
        </p:txBody>
      </p:sp>
      <p:sp>
        <p:nvSpPr>
          <p:cNvPr id="50" name="SecondaryBridgeStrip"/>
          <p:cNvSpPr txBox="1"/>
          <p:nvPr/>
        </p:nvSpPr>
        <p:spPr>
          <a:xfrm>
            <a:off x="453079" y="5171600"/>
            <a:ext cx="11282362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60000" tIns="50000" rIns="160000" bIns="5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Subtraction check: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$56.647B BC base minus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$36.807B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prime, co-prime, and excluded share equals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$19.840B TAM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0" name="StrictCoefficientGuardrail"/>
          <p:cNvSpPr txBox="1"/>
          <p:nvPr/>
        </p:nvSpPr>
        <p:spPr>
          <a:xfrm>
            <a:off x="453079" y="55916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strict 35.0% BC coefficient feeds headline TAM; broader POP views are sensitivity.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 and FSRS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TAM and broad SAM are lumpy, with FY2024 and FY2027 peaks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06600"/>
            <a:ext cx="1128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TAM and broad SAM by fiscal year, $B</a:t>
            </a:r>
          </a:p>
        </p:txBody>
      </p:sp>
      <p:graphicFrame>
        <p:nvGraphicFramePr>
          <p:cNvPr id="20" name="AnnualTAMAndBroadSAMClusteredColumnChart"/>
          <p:cNvGraphicFramePr/>
          <p:nvPr/>
        </p:nvGraphicFramePr>
        <p:xfrm>
          <a:off x="453079" y="1611600"/>
          <a:ext cx="11282362" cy="34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0" name="FY2024CadencePeakLeader"/>
          <p:cNvCxnSpPr/>
          <p:nvPr/>
        </p:nvCxnSpPr>
        <p:spPr>
          <a:xfrm>
            <a:off x="4873079" y="2116600"/>
            <a:ext cx="0" cy="35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31" name="FY2027CadencePeakLeader"/>
          <p:cNvCxnSpPr/>
          <p:nvPr/>
        </p:nvCxnSpPr>
        <p:spPr>
          <a:xfrm>
            <a:off x="10123079" y="2116600"/>
            <a:ext cx="0" cy="35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40" name="FY2024CadencePeakAnnotation"/>
          <p:cNvSpPr txBox="1"/>
          <p:nvPr/>
        </p:nvSpPr>
        <p:spPr>
          <a:xfrm>
            <a:off x="3923079" y="1686600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classes contribute Basic Construction</a:t>
            </a:r>
          </a:p>
        </p:txBody>
      </p:sp>
      <p:sp>
        <p:nvSpPr>
          <p:cNvPr id="41" name="FY2027CadencePeakAnnotation"/>
          <p:cNvSpPr txBox="1"/>
          <p:nvPr/>
        </p:nvSpPr>
        <p:spPr>
          <a:xfrm>
            <a:off x="9173079" y="1686600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Two-boat Virginia plus Columbia</a:t>
            </a:r>
          </a:p>
        </p:txBody>
      </p:sp>
      <p:sp>
        <p:nvSpPr>
          <p:cNvPr id="50" name="AverageAnnualGuardrail"/>
          <p:cNvSpPr txBox="1"/>
          <p:nvPr/>
        </p:nvSpPr>
        <p:spPr>
          <a:xfrm>
            <a:off x="453079" y="5301600"/>
            <a:ext cx="11282362" cy="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note: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TAM is ~$3.3B and broad SAM is ~$2.8B, but actual annual flow follows procurement cadence.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Peaks are procurement-cadence effects, not commercial-style market volatility.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FFATA, FSRS, and Entity Management records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Evidence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Evidence | POP data supports distributed production, but the headline coefficient remains strict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16600"/>
            <a:ext cx="62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coefficient evidence, %</a:t>
            </a:r>
          </a:p>
        </p:txBody>
      </p:sp>
      <p:graphicFrame>
        <p:nvGraphicFramePr>
          <p:cNvPr id="20" name="CoefficientEvidenceRankedBarChart"/>
          <p:cNvGraphicFramePr/>
          <p:nvPr/>
        </p:nvGraphicFramePr>
        <p:xfrm>
          <a:off x="453079" y="1641600"/>
          <a:ext cx="6250000" cy="2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APAndLLTMReferenceNote"/>
          <p:cNvSpPr txBox="1"/>
          <p:nvPr/>
        </p:nvSpPr>
        <p:spPr>
          <a:xfrm>
            <a:off x="2703079" y="175160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only; additive base = $0</a:t>
            </a:r>
          </a:p>
        </p:txBody>
      </p:sp>
      <p:sp>
        <p:nvSpPr>
          <p:cNvPr id="22" name="AppliedCoefficientNote"/>
          <p:cNvSpPr txBox="1"/>
          <p:nvPr/>
        </p:nvSpPr>
        <p:spPr>
          <a:xfrm>
            <a:off x="4453079" y="2401600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input to headline TAM</a:t>
            </a:r>
          </a:p>
        </p:txBody>
      </p:sp>
      <p:sp>
        <p:nvSpPr>
          <p:cNvPr id="23" name="CoefficientReadCallout"/>
          <p:cNvSpPr txBox="1"/>
          <p:nvPr/>
        </p:nvSpPr>
        <p:spPr>
          <a:xfrm>
            <a:off x="453079" y="4541600"/>
            <a:ext cx="62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supports a large distributed-production layer; the model applies a stricter coefficient.</a:t>
            </a:r>
          </a:p>
        </p:txBody>
      </p:sp>
      <p:sp>
        <p:nvSpPr>
          <p:cNvPr id="30" name="POPRowsCard"/>
          <p:cNvSpPr txBox="1"/>
          <p:nvPr/>
        </p:nvSpPr>
        <p:spPr>
          <a:xfrm>
            <a:off x="7113079" y="164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rows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screened</a:t>
            </a:r>
          </a:p>
        </p:txBody>
      </p:sp>
      <p:sp>
        <p:nvSpPr>
          <p:cNvPr id="31" name="GatedActionsCard"/>
          <p:cNvSpPr txBox="1"/>
          <p:nvPr/>
        </p:nvSpPr>
        <p:spPr>
          <a:xfrm>
            <a:off x="9469260" y="164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TAM actions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TAM-relevant</a:t>
            </a:r>
          </a:p>
        </p:txBody>
      </p:sp>
      <p:sp>
        <p:nvSpPr>
          <p:cNvPr id="32" name="GatedCorpusCard"/>
          <p:cNvSpPr txBox="1"/>
          <p:nvPr/>
        </p:nvSpPr>
        <p:spPr>
          <a:xfrm>
            <a:off x="7113079" y="2546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corpus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corpus</a:t>
            </a:r>
          </a:p>
        </p:txBody>
      </p:sp>
      <p:sp>
        <p:nvSpPr>
          <p:cNvPr id="33" name="InScopeNonGFECard"/>
          <p:cNvSpPr txBox="1"/>
          <p:nvPr/>
        </p:nvSpPr>
        <p:spPr>
          <a:xfrm>
            <a:off x="9469260" y="2546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In-scope non-GFE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screened value</a:t>
            </a:r>
          </a:p>
        </p:txBody>
      </p:sp>
      <p:sp>
        <p:nvSpPr>
          <p:cNvPr id="34" name="ConfirmationCoverageCard"/>
          <p:cNvSpPr txBox="1"/>
          <p:nvPr/>
        </p:nvSpPr>
        <p:spPr>
          <a:xfrm>
            <a:off x="7113079" y="345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Confirmation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in-scope dollars</a:t>
            </a:r>
          </a:p>
        </p:txBody>
      </p:sp>
      <p:sp>
        <p:nvSpPr>
          <p:cNvPr id="35" name="UnparsedShareCard"/>
          <p:cNvSpPr txBox="1"/>
          <p:nvPr/>
        </p:nvSpPr>
        <p:spPr>
          <a:xfrm>
            <a:off x="9469260" y="345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Unparsed share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tracked limitation</a:t>
            </a:r>
          </a:p>
        </p:txBody>
      </p:sp>
      <p:sp>
        <p:nvSpPr>
          <p:cNvPr id="50" name="CoefficientGuardrail"/>
          <p:cNvSpPr txBox="1"/>
          <p:nvPr/>
        </p:nvSpPr>
        <p:spPr>
          <a:xfrm>
            <a:off x="453079" y="5446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POP views are explanatory and sensitivity views; they are not multiplied into headline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announcements, July 2022-May 2026; (2) DoD Contracts releases dated April 30, 2025 and May 11, 2026; (3) GAO-25-106286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AP/LLTM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AP/LLTM | Gross AP is large but contributes $0 additive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11600"/>
            <a:ext cx="724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reconciliation to additive TAM, $B</a:t>
            </a:r>
          </a:p>
        </p:txBody>
      </p:sp>
      <p:graphicFrame>
        <p:nvGraphicFramePr>
          <p:cNvPr id="20" name="APAndLLTMReconciliationWaterfallChart"/>
          <p:cNvGraphicFramePr/>
          <p:nvPr/>
        </p:nvGraphicFramePr>
        <p:xfrm>
          <a:off x="453079" y="1636600"/>
          <a:ext cx="7240000" cy="33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GrossAPValueLabel"/>
          <p:cNvSpPr txBox="1"/>
          <p:nvPr/>
        </p:nvSpPr>
        <p:spPr>
          <a:xfrm>
            <a:off x="913079" y="1846600"/>
            <a:ext cx="11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$44.7B</a:t>
            </a:r>
          </a:p>
        </p:txBody>
      </p:sp>
      <p:sp>
        <p:nvSpPr>
          <p:cNvPr id="31" name="GFEDesignWeaponsDecreaseLabel"/>
          <p:cNvSpPr txBox="1"/>
          <p:nvPr/>
        </p:nvSpPr>
        <p:spPr>
          <a:xfrm>
            <a:off x="2523079" y="3026600"/>
            <a:ext cx="12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($27.3B)</a:t>
            </a:r>
          </a:p>
        </p:txBody>
      </p:sp>
      <p:sp>
        <p:nvSpPr>
          <p:cNvPr id="32" name="AlreadyInsideBCDecreaseLabel"/>
          <p:cNvSpPr txBox="1"/>
          <p:nvPr/>
        </p:nvSpPr>
        <p:spPr>
          <a:xfrm>
            <a:off x="4053079" y="3846600"/>
            <a:ext cx="12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($16.8B)</a:t>
            </a:r>
          </a:p>
        </p:txBody>
      </p:sp>
      <p:sp>
        <p:nvSpPr>
          <p:cNvPr id="33" name="UnItemizedOverlapDecreaseLabel"/>
          <p:cNvSpPr txBox="1"/>
          <p:nvPr/>
        </p:nvSpPr>
        <p:spPr>
          <a:xfrm>
            <a:off x="5483079" y="4376600"/>
            <a:ext cx="12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($0.6B)</a:t>
            </a:r>
          </a:p>
        </p:txBody>
      </p:sp>
      <p:sp>
        <p:nvSpPr>
          <p:cNvPr id="34" name="FinalZeroAdditiveTAMTag"/>
          <p:cNvSpPr txBox="1"/>
          <p:nvPr/>
        </p:nvSpPr>
        <p:spPr>
          <a:xfrm>
            <a:off x="5713079" y="4576600"/>
            <a:ext cx="1950000" cy="43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80000" tIns="30000" rIns="8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$0 additive TAM</a:t>
            </a:r>
          </a:p>
        </p:txBody>
      </p:sp>
      <p:sp>
        <p:nvSpPr>
          <p:cNvPr id="40" name="DoNotAddP10APWarningCard"/>
          <p:cNvSpPr txBox="1"/>
          <p:nvPr/>
        </p:nvSpPr>
        <p:spPr>
          <a:xfrm>
            <a:off x="8143079" y="1681600"/>
            <a:ext cx="3592362" cy="137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P-10 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Double-counting risk: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Adding P-10 AP to P-5c Basic Construction would double count unless the model boundary is rebuilt.</a:t>
            </a:r>
          </a:p>
        </p:txBody>
      </p:sp>
      <p:sp>
        <p:nvSpPr>
          <p:cNvPr id="50" name="APAndLLTMInterpretationNote"/>
          <p:cNvSpPr txBox="1"/>
          <p:nvPr/>
        </p:nvSpPr>
        <p:spPr>
          <a:xfrm>
            <a:off x="8143079" y="3271600"/>
            <a:ext cx="3592362" cy="1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0" tIns="60000" rIns="90000" bIns="60000"/>
          <a:lstStyle/>
          <a:p>
            <a:pPr>
              <a:lnSpc>
                <a:spcPct val="115000"/>
              </a:lnSpc>
              <a:spcAft>
                <a:spcPts val="15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Interpretation</a:t>
            </a:r>
          </a:p>
          <a:p>
            <a:pPr marL="142875" indent="-142875">
              <a:lnSpc>
                <a:spcPct val="115000"/>
              </a:lnSpc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are useful evidence of supplier-heavy purchasing.</a:t>
            </a:r>
          </a:p>
          <a:p>
            <a:pPr marL="142875" indent="-142875">
              <a:lnSpc>
                <a:spcPct val="115000"/>
              </a:lnSpc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they are not additive market size under the current P-5c Basic Construction boundary.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does not mean additive.</a:t>
            </a:r>
          </a:p>
        </p:txBody>
      </p:sp>
      <p:sp>
        <p:nvSpPr>
          <p:cNvPr id="60" name="APBoundaryCaption"/>
          <p:cNvSpPr txBox="1"/>
          <p:nvPr/>
        </p:nvSpPr>
        <p:spPr>
          <a:xfrm>
            <a:off x="453079" y="5156600"/>
            <a:ext cx="724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AP remains useful reference evidence; current boundary assigns zero additive TAM to AP/LLTM.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announcements; (3) CRS RL32418 and CRS R41129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SAM and Supplier Landscape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serviceable slice is a menu of work types, and the visible suppliers are a concentrated floor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Taxonomy | Seven component buckets define the serviceable market</a:t>
            </a:r>
          </a:p>
        </p:txBody>
      </p:sp>
      <p:sp>
        <p:nvSpPr>
          <p:cNvPr id="10" name="SectionLabel"/>
          <p:cNvSpPr txBox="1"/>
          <p:nvPr/>
        </p:nvSpPr>
        <p:spPr>
          <a:xfrm>
            <a:off x="453079" y="1371600"/>
            <a:ext cx="7897653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broad component manufacturing</a:t>
            </a:r>
          </a:p>
        </p:txBody>
      </p:sp>
      <p:sp>
        <p:nvSpPr>
          <p:cNvPr id="20" name="BucketCard Structural fabrication and pre-outfit"/>
          <p:cNvSpPr txBox="1"/>
          <p:nvPr/>
        </p:nvSpPr>
        <p:spPr>
          <a:xfrm>
            <a:off x="45307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hull sections, fabricated structural metal, pre-outfit modules</a:t>
            </a:r>
          </a:p>
        </p:txBody>
      </p:sp>
      <p:sp>
        <p:nvSpPr>
          <p:cNvPr id="21" name="BucketCard Machining"/>
          <p:cNvSpPr txBox="1"/>
          <p:nvPr/>
        </p:nvSpPr>
        <p:spPr>
          <a:xfrm>
            <a:off x="329652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machine shops, precision machining, mechanical power transmission</a:t>
            </a:r>
          </a:p>
        </p:txBody>
      </p:sp>
      <p:sp>
        <p:nvSpPr>
          <p:cNvPr id="22" name="BucketCard Castings and forgings"/>
          <p:cNvSpPr txBox="1"/>
          <p:nvPr/>
        </p:nvSpPr>
        <p:spPr>
          <a:xfrm>
            <a:off x="613997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iron and steel forging, foundries, cast and forged components</a:t>
            </a:r>
          </a:p>
        </p:txBody>
      </p:sp>
      <p:sp>
        <p:nvSpPr>
          <p:cNvPr id="23" name="BucketCard Piping, valves, and pumps"/>
          <p:cNvSpPr txBox="1"/>
          <p:nvPr/>
        </p:nvSpPr>
        <p:spPr>
          <a:xfrm>
            <a:off x="898342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 valves, pumps, measuring and dispensing, pipe and fittings</a:t>
            </a:r>
          </a:p>
        </p:txBody>
      </p:sp>
      <p:sp>
        <p:nvSpPr>
          <p:cNvPr id="30" name="BucketCard Electrical and power"/>
          <p:cNvSpPr txBox="1"/>
          <p:nvPr/>
        </p:nvSpPr>
        <p:spPr>
          <a:xfrm>
            <a:off x="453079" y="2736600"/>
            <a:ext cx="3699827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switchgear, electronic components, propulsion-electronics, power distribution</a:t>
            </a:r>
          </a:p>
        </p:txBody>
      </p:sp>
      <p:sp>
        <p:nvSpPr>
          <p:cNvPr id="31" name="BucketCard HVAC and ventilation"/>
          <p:cNvSpPr txBox="1"/>
          <p:nvPr/>
        </p:nvSpPr>
        <p:spPr>
          <a:xfrm>
            <a:off x="4244346" y="2736600"/>
            <a:ext cx="3699827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air-conditioning, heating, shipboard ventilation systems</a:t>
            </a:r>
          </a:p>
        </p:txBody>
      </p:sp>
      <p:sp>
        <p:nvSpPr>
          <p:cNvPr id="32" name="BucketCard Coatings and insulation"/>
          <p:cNvSpPr txBox="1"/>
          <p:nvPr/>
        </p:nvSpPr>
        <p:spPr>
          <a:xfrm>
            <a:off x="8035613" y="2736600"/>
            <a:ext cx="3699827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rubber and synthetic products, composites, coatings and insulation</a:t>
            </a:r>
          </a:p>
        </p:txBody>
      </p:sp>
      <p:sp>
        <p:nvSpPr>
          <p:cNvPr id="39" name="SectionLabel"/>
          <p:cNvSpPr txBox="1"/>
          <p:nvPr/>
        </p:nvSpPr>
        <p:spPr>
          <a:xfrm>
            <a:off x="453079" y="4171600"/>
            <a:ext cx="7897653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Outside broad component SAM</a:t>
            </a:r>
          </a:p>
        </p:txBody>
      </p:sp>
      <p:sp>
        <p:nvSpPr>
          <p:cNvPr id="40" name="ResidualCard"/>
          <p:cNvSpPr txBox="1"/>
          <p:nvPr/>
        </p:nvSpPr>
        <p:spPr>
          <a:xfrm>
            <a:off x="453079" y="4446600"/>
            <a:ext cx="11282362" cy="645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vendor flow not confidently assigned to one of the seven buckets. Kept in TAM, excluded from broad component SAM.</a:t>
            </a:r>
          </a:p>
        </p:txBody>
      </p:sp>
      <p:sp>
        <p:nvSpPr>
          <p:cNvPr id="41" name="MethodNote"/>
          <p:cNvSpPr txBox="1"/>
          <p:nvPr/>
        </p:nvSpPr>
        <p:spPr>
          <a:xfrm>
            <a:off x="453079" y="55100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Mapped from FFATA-visible vendors using SAM.gov Entity Management NAICS and manual work-type evidence; NAICS is corporate-primary, not a per-action work description.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TAM | Electrical and power, structural fabrication, and piping lead the opportunity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9928478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TAM by work-type bucket, FY2022-FY2027</a:t>
            </a:r>
          </a:p>
        </p:txBody>
      </p:sp>
      <p:graphicFrame>
        <p:nvGraphicFramePr>
          <p:cNvPr id="20" name="BucketTAMChart"/>
          <p:cNvGraphicFramePr/>
          <p:nvPr/>
        </p:nvGraphicFramePr>
        <p:xfrm>
          <a:off x="453079" y="1591600"/>
          <a:ext cx="9928478" cy="29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esidualStrip"/>
          <p:cNvSpPr txBox="1"/>
          <p:nvPr/>
        </p:nvSpPr>
        <p:spPr>
          <a:xfrm>
            <a:off x="453079" y="4651600"/>
            <a:ext cx="11282362" cy="65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~$501M per year (~$3.01B cumulative). Tracked in TAM, excluded from broad component SAM.</a:t>
            </a:r>
          </a:p>
        </p:txBody>
      </p:sp>
      <p:sp>
        <p:nvSpPr>
          <p:cNvPr id="40" name="AverageAnnualNote"/>
          <p:cNvSpPr txBox="1"/>
          <p:nvPr/>
        </p:nvSpPr>
        <p:spPr>
          <a:xfrm>
            <a:off x="453079" y="55100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Values are average annual FY2022-FY2027; cumulative shown for context. Average annual is not a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largest scenario at ~$2.8B per year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995064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scenarios, average annual FY2022-FY2027</a:t>
            </a:r>
          </a:p>
        </p:txBody>
      </p:sp>
      <p:graphicFrame>
        <p:nvGraphicFramePr>
          <p:cNvPr id="20" name="SAMScenarioChart"/>
          <p:cNvGraphicFramePr/>
          <p:nvPr/>
        </p:nvGraphicFramePr>
        <p:xfrm>
          <a:off x="453079" y="1591600"/>
          <a:ext cx="6995064" cy="29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ScenarioCommentaryRail"/>
          <p:cNvSpPr txBox="1"/>
          <p:nvPr/>
        </p:nvSpPr>
        <p:spPr>
          <a:xfrm>
            <a:off x="7539583" y="1591600"/>
            <a:ext cx="4195858" cy="29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80000" rIns="137160" bIns="8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scenarios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seven buckets, residual excluded - the envelope.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electrical and power bucket alone.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fabrication, machining, and castings and forgings.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pre-outfit, with coatings and insulation.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pumps, HVAC, and machining (machining also sits in metal).</a:t>
            </a:r>
          </a:p>
        </p:txBody>
      </p:sp>
      <p:sp>
        <p:nvSpPr>
          <p:cNvPr id="40" name="GuardrailStrip"/>
          <p:cNvSpPr txBox="1"/>
          <p:nvPr/>
        </p:nvSpPr>
        <p:spPr>
          <a:xfrm>
            <a:off x="453079" y="4701600"/>
            <a:ext cx="11282362" cy="64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SAM only.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SOM, share capture, win probability, qualification success, or pricing haircut is modeled.</a:t>
            </a:r>
          </a:p>
        </p:txBody>
      </p:sp>
      <p:sp>
        <p:nvSpPr>
          <p:cNvPr id="50" name="OverlapNote"/>
          <p:cNvSpPr txBox="1"/>
          <p:nvPr/>
        </p:nvSpPr>
        <p:spPr>
          <a:xfrm>
            <a:off x="453079" y="55100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Scenarios are overlapping cuts of one TAM; do not sum across them. Values are average annual FY2022-FY2027; cumulative shown for context.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Suppliers | The named vendor base is broad but anchored by a few large suppliers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220711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10 FFATA-visible suppliers, cumulative subaward value FY2016-FY2026</a:t>
            </a:r>
          </a:p>
        </p:txBody>
      </p:sp>
      <p:graphicFrame>
        <p:nvGraphicFramePr>
          <p:cNvPr id="20" name="VisibleSuppliersChart"/>
          <p:cNvGraphicFramePr/>
          <p:nvPr/>
        </p:nvGraphicFramePr>
        <p:xfrm>
          <a:off x="453079" y="1591600"/>
          <a:ext cx="7220711" cy="38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EvidenceTable"/>
          <p:cNvGraphicFramePr>
            <a:graphicFrameLocks noGrp="1"/>
          </p:cNvGraphicFramePr>
          <p:nvPr/>
        </p:nvGraphicFramePr>
        <p:xfrm>
          <a:off x="7765230" y="1591600"/>
          <a:ext cx="3970211" cy="11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67374"/>
                <a:gridCol w="1102837"/>
              </a:tblGrid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Visible-supplier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Classified subaward recipients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visible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~$5.46B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FFATA-visible parents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~759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adNote"/>
          <p:cNvSpPr txBox="1"/>
          <p:nvPr/>
        </p:nvSpPr>
        <p:spPr>
          <a:xfrm>
            <a:off x="7765230" y="2831600"/>
            <a:ext cx="3970211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ranked names are the top of a visible first-tier floor, not a complete supplier universe or target list.</a:t>
            </a:r>
          </a:p>
        </p:txBody>
      </p:sp>
      <p:sp>
        <p:nvSpPr>
          <p:cNvPr id="40" name="Floor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Parent-normalized where SAM.gov Entity data supports the relationship. Visible value is a floor: FFATA misses purchased material, lower-tier subcontracts, long-term agreements, and most HII Newport News team-build work.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SIB Exclusion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Exclusion | Capacity-development pass-throughs are material but outside component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995064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capacity-development pass-throughs (excluded from component TAM and SAM)</a:t>
            </a:r>
          </a:p>
        </p:txBody>
      </p:sp>
      <p:graphicFrame>
        <p:nvGraphicFramePr>
          <p:cNvPr id="20" name="SIBExclusionChart"/>
          <p:cNvGraphicFramePr/>
          <p:nvPr/>
        </p:nvGraphicFramePr>
        <p:xfrm>
          <a:off x="453079" y="1591600"/>
          <a:ext cx="6995064" cy="2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reatmentCard"/>
          <p:cNvSpPr txBox="1"/>
          <p:nvPr/>
        </p:nvSpPr>
        <p:spPr>
          <a:xfrm>
            <a:off x="7539583" y="1591600"/>
            <a:ext cx="4195858" cy="143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 from component TAM and SAM.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dollars fund supplier development, workforce, capacity expansion, qualification, and infrastructure rather than current components delivered into a hull.</a:t>
            </a:r>
          </a:p>
        </p:txBody>
      </p:sp>
      <p:sp>
        <p:nvSpPr>
          <p:cNvPr id="40" name="ExcludedTotalReadout"/>
          <p:cNvSpPr txBox="1"/>
          <p:nvPr/>
        </p:nvSpPr>
        <p:spPr>
          <a:xfrm>
            <a:off x="453079" y="4011600"/>
            <a:ext cx="6995064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excluded SIB pass-throughs: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~$4,252M</a:t>
            </a:r>
          </a:p>
        </p:txBody>
      </p:sp>
      <p:sp>
        <p:nvSpPr>
          <p:cNvPr id="50" name="TerminologyNote"/>
          <p:cNvSpPr txBox="1"/>
          <p:nvPr/>
        </p:nvSpPr>
        <p:spPr>
          <a:xfrm>
            <a:off x="453079" y="5415000"/>
            <a:ext cx="11282362" cy="45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Deck standardizes on SIB (Submarine Industrial Base); earlier source files may use MIB (Maritime Industrial Base).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GAO-25-106286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Interpretation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What the data shows is a visible floor, not the full supplier layer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Data Limits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Data Limits | FFATA captures a visible floor, not the full supplier layer</a:t>
            </a:r>
          </a:p>
        </p:txBody>
      </p:sp>
      <p:sp>
        <p:nvSpPr>
          <p:cNvPr id="10" name="VisibleAndMeasuredLayer"/>
          <p:cNvSpPr txBox="1"/>
          <p:nvPr/>
        </p:nvSpPr>
        <p:spPr>
          <a:xfrm>
            <a:off x="453079" y="1371600"/>
            <a:ext cx="5561181" cy="28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AND MEASURED LAYER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first-tier subawards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vendors and parent entities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Entity NAICS enrichment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DoD Contracts POP evidence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P-5c and P-10 budget exhibits</a:t>
            </a:r>
          </a:p>
        </p:txBody>
      </p:sp>
      <p:sp>
        <p:nvSpPr>
          <p:cNvPr id="11" name="UnseenOrUnder-ObservedLayer"/>
          <p:cNvSpPr txBox="1"/>
          <p:nvPr/>
        </p:nvSpPr>
        <p:spPr>
          <a:xfrm>
            <a:off x="6174260" y="1371600"/>
            <a:ext cx="5561181" cy="2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UNSEEN OR UNDER-OBSERVED LAYER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Purchased material booked as direct material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Lower-tier subcontracts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 visibility gap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Standing supplier agreements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lag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Unparsed single-site POP rows</a:t>
            </a:r>
          </a:p>
        </p:txBody>
      </p:sp>
      <p:sp>
        <p:nvSpPr>
          <p:cNvPr id="20" name="MainCallout"/>
          <p:cNvSpPr txBox="1"/>
          <p:nvPr/>
        </p:nvSpPr>
        <p:spPr>
          <a:xfrm>
            <a:off x="453079" y="4291600"/>
            <a:ext cx="11282362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data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strong enough to classify and triangulate, not complete enough to equal the whole supplier layer.</a:t>
            </a:r>
          </a:p>
        </p:txBody>
      </p:sp>
      <p:sp>
        <p:nvSpPr>
          <p:cNvPr id="30" name="GuardrailChip"/>
          <p:cNvSpPr txBox="1"/>
          <p:nvPr/>
        </p:nvSpPr>
        <p:spPr>
          <a:xfrm>
            <a:off x="453079" y="4761600"/>
            <a:ext cx="2760590" cy="9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GUARDRAIL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SOM or capture modeled</a:t>
            </a:r>
          </a:p>
        </p:txBody>
      </p:sp>
      <p:sp>
        <p:nvSpPr>
          <p:cNvPr id="31" name="GuardrailChip"/>
          <p:cNvSpPr txBox="1"/>
          <p:nvPr/>
        </p:nvSpPr>
        <p:spPr>
          <a:xfrm>
            <a:off x="3293669" y="4761600"/>
            <a:ext cx="2760590" cy="9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DOUBLE-COUNT CHECK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 = $0</a:t>
            </a:r>
          </a:p>
        </p:txBody>
      </p:sp>
      <p:sp>
        <p:nvSpPr>
          <p:cNvPr id="32" name="GuardrailChip"/>
          <p:cNvSpPr txBox="1"/>
          <p:nvPr/>
        </p:nvSpPr>
        <p:spPr>
          <a:xfrm>
            <a:off x="6134259" y="4761600"/>
            <a:ext cx="2760590" cy="9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DOLLAR BASIS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then-year dollars</a:t>
            </a:r>
          </a:p>
        </p:txBody>
      </p:sp>
      <p:sp>
        <p:nvSpPr>
          <p:cNvPr id="33" name="GuardrailChip"/>
          <p:cNvSpPr txBox="1"/>
          <p:nvPr/>
        </p:nvSpPr>
        <p:spPr>
          <a:xfrm>
            <a:off x="8974849" y="4761600"/>
            <a:ext cx="2760592" cy="9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VISIBILITY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= named floor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FAR 52.204-10; (2) SAM.gov FFATA and FSRS records; (3) General Dynamics and HII Form 10-K filings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Priority areas are electrical and power, structural fabrication, and piping</a:t>
            </a:r>
          </a:p>
        </p:txBody>
      </p:sp>
      <p:graphicFrame>
        <p:nvGraphicFramePr>
          <p:cNvPr id="20" name="PriorityScorecard"/>
          <p:cNvGraphicFramePr>
            <a:graphicFrameLocks noGrp="1"/>
          </p:cNvGraphicFramePr>
          <p:nvPr/>
        </p:nvGraphicFramePr>
        <p:xfrm>
          <a:off x="453079" y="1371600"/>
          <a:ext cx="11282362" cy="25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716919"/>
                <a:gridCol w="1274843"/>
                <a:gridCol w="1593553"/>
                <a:gridCol w="1721038"/>
                <a:gridCol w="1274843"/>
                <a:gridCol w="701166"/>
              </a:tblGrid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Addressability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Qual. burden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$1,257M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$520M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$143M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losing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scorecard is a diligence priority view, not SOM. Test supplier availability, qualification paths, capacity, concentration, and make-or-buy posture by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FFATA, FSRS, and Entity Management records; (2) GAO-25-106286; (3) HII and General Dynamics earnings calls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and Scope | Key terms define the model boundary and prevent double counting</a:t>
            </a:r>
          </a:p>
        </p:txBody>
      </p:sp>
      <p:sp>
        <p:nvSpPr>
          <p:cNvPr id="10" name="Setup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anchor:</a:t>
            </a:r>
            <a:r>
              <a:rPr lang="en-US" sz="10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these definitions mirror the model's Methodology boundary; they are an interpretation aid, not a new boundary.</a:t>
            </a:r>
          </a:p>
        </p:txBody>
      </p:sp>
      <p:graphicFrame>
        <p:nvGraphicFramePr>
          <p:cNvPr id="20" name="GlossaryMatrix"/>
          <p:cNvGraphicFramePr>
            <a:graphicFrameLocks noGrp="1"/>
          </p:cNvGraphicFramePr>
          <p:nvPr/>
        </p:nvGraphicFramePr>
        <p:xfrm>
          <a:off x="453079" y="1711600"/>
          <a:ext cx="11282362" cy="2560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13776"/>
                <a:gridCol w="3713182"/>
                <a:gridCol w="1999405"/>
                <a:gridCol w="3855999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Non-GFE, non-SIB new-construction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Inside P-5c Basic Construction; opportunity ceiling, not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TAM in targeted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menu, not capture share or SOM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construction-contract denominator (GFE-free)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and GFP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Government-furnished equipment and property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add to component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 industrial base capacity grants and workforce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Context only; not current component delivery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procurement and long-lead-time material reference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base = $0;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and FSRS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 visibility under FAR 52.204-10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Named-vendor floor, not the full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Place-of-performance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Drives the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Guardrail"/>
          <p:cNvSpPr txBox="1"/>
          <p:nvPr/>
        </p:nvSpPr>
        <p:spPr>
          <a:xfrm>
            <a:off x="453079" y="5340000"/>
            <a:ext cx="11282362" cy="46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SOM IS MODELED.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is a scenario menu, not capture share or revenue forecast. AP/LLTM additive base = $0.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Books; (2) FAR 52.204-10; (3) FAR Part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AP/LLTM Detail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AP/LLTM Detail | Gross P-10 reference flow reconciles to $0 additive base</a:t>
            </a:r>
          </a:p>
        </p:txBody>
      </p:sp>
      <p:sp>
        <p:nvSpPr>
          <p:cNvPr id="10" name="Formula"/>
          <p:cNvSpPr txBox="1"/>
          <p:nvPr/>
        </p:nvSpPr>
        <p:spPr>
          <a:xfrm>
            <a:off x="453079" y="1371600"/>
            <a:ext cx="7897653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$44.709B gross P-10 AP, less exclusions and overlap, equals $0.000B additive base.</a:t>
            </a:r>
          </a:p>
        </p:txBody>
      </p:sp>
      <p:graphicFrame>
        <p:nvGraphicFramePr>
          <p:cNvPr id="20" name="APReconciliation"/>
          <p:cNvGraphicFramePr>
            <a:graphicFrameLocks noGrp="1"/>
          </p:cNvGraphicFramePr>
          <p:nvPr/>
        </p:nvGraphicFramePr>
        <p:xfrm>
          <a:off x="453079" y="1721600"/>
          <a:ext cx="7897653" cy="19715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09661"/>
                <a:gridCol w="1039164"/>
                <a:gridCol w="1454830"/>
                <a:gridCol w="2493998"/>
              </a:tblGrid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$B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reason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P-10 AP top-line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44.709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Authoritative AP total, Va and Col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GFE, design, and weapons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(27.273)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Nuclear, electronics, ordnance, missile, plans - outside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(16.847)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Shipbuilder-procured, CFE, EOQ, HM&amp;E, propulsor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un-itemized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(0.589)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Early-Virginia top-line over named detail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Additive AP/LLTM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 not add to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</a:tr>
            </a:tbl>
          </a:graphicData>
        </a:graphic>
      </p:graphicFrame>
      <p:sp>
        <p:nvSpPr>
          <p:cNvPr id="30" name="Warning"/>
          <p:cNvSpPr txBox="1"/>
          <p:nvPr/>
        </p:nvSpPr>
        <p:spPr>
          <a:xfrm>
            <a:off x="8442172" y="1371600"/>
            <a:ext cx="3293269" cy="115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P-10 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Adding P-10 AP to P-5c Basic Construction would double count unless the model boundary is rebuilt.</a:t>
            </a:r>
          </a:p>
        </p:txBody>
      </p:sp>
      <p:sp>
        <p:nvSpPr>
          <p:cNvPr id="31" name="Interpretation"/>
          <p:cNvSpPr txBox="1"/>
          <p:nvPr/>
        </p:nvSpPr>
        <p:spPr>
          <a:xfrm>
            <a:off x="8442172" y="2701600"/>
            <a:ext cx="3293269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</a:t>
            </a:r>
            <a:r>
              <a:rPr lang="en-US" sz="9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AP/LLTM show a large, supplier-heavy purchasing cadence years ahead of construction.</a:t>
            </a:r>
          </a:p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</a:t>
            </a:r>
            <a:r>
              <a:rPr lang="en-US" sz="9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under this model AP/LLTM are reference evidence, not additive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Sensitivity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Sensitivity | Higher POP views are evidence, not the headline input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5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coefficient views, percent</a:t>
            </a:r>
          </a:p>
        </p:txBody>
      </p:sp>
      <p:graphicFrame>
        <p:nvGraphicFramePr>
          <p:cNvPr id="11" name="CoefficientSensitivityChart"/>
          <p:cNvGraphicFramePr/>
          <p:nvPr/>
        </p:nvGraphicFramePr>
        <p:xfrm>
          <a:off x="453079" y="1651600"/>
          <a:ext cx="652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AppliedCoefficientNote"/>
          <p:cNvSpPr txBox="1"/>
          <p:nvPr/>
        </p:nvSpPr>
        <p:spPr>
          <a:xfrm>
            <a:off x="453079" y="4756600"/>
            <a:ext cx="652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BC supplier: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coefficient multiplied into headline TAM.</a:t>
            </a:r>
          </a:p>
        </p:txBody>
      </p:sp>
      <p:sp>
        <p:nvSpPr>
          <p:cNvPr id="30" name="EvidenceCard"/>
          <p:cNvSpPr txBox="1"/>
          <p:nvPr/>
        </p:nvSpPr>
        <p:spPr>
          <a:xfrm>
            <a:off x="7253079" y="155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rows screened</a:t>
            </a:r>
          </a:p>
        </p:txBody>
      </p:sp>
      <p:sp>
        <p:nvSpPr>
          <p:cNvPr id="31" name="EvidenceCard"/>
          <p:cNvSpPr txBox="1"/>
          <p:nvPr/>
        </p:nvSpPr>
        <p:spPr>
          <a:xfrm>
            <a:off x="9544260" y="155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TAM-relevant actions</a:t>
            </a:r>
          </a:p>
        </p:txBody>
      </p:sp>
      <p:sp>
        <p:nvSpPr>
          <p:cNvPr id="32" name="EvidenceCard"/>
          <p:cNvSpPr txBox="1"/>
          <p:nvPr/>
        </p:nvSpPr>
        <p:spPr>
          <a:xfrm>
            <a:off x="7253079" y="2211600"/>
            <a:ext cx="2191181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POP corpus</a:t>
            </a:r>
          </a:p>
        </p:txBody>
      </p:sp>
      <p:sp>
        <p:nvSpPr>
          <p:cNvPr id="33" name="EvidenceCard"/>
          <p:cNvSpPr txBox="1"/>
          <p:nvPr/>
        </p:nvSpPr>
        <p:spPr>
          <a:xfrm>
            <a:off x="9544260" y="2211600"/>
            <a:ext cx="2191181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In-scope non-GFE corpus</a:t>
            </a:r>
          </a:p>
        </p:txBody>
      </p:sp>
      <p:sp>
        <p:nvSpPr>
          <p:cNvPr id="34" name="EvidenceCard"/>
          <p:cNvSpPr txBox="1"/>
          <p:nvPr/>
        </p:nvSpPr>
        <p:spPr>
          <a:xfrm>
            <a:off x="7253079" y="287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Confirmation coverage</a:t>
            </a:r>
          </a:p>
        </p:txBody>
      </p:sp>
      <p:sp>
        <p:nvSpPr>
          <p:cNvPr id="35" name="EvidenceCard"/>
          <p:cNvSpPr txBox="1"/>
          <p:nvPr/>
        </p:nvSpPr>
        <p:spPr>
          <a:xfrm>
            <a:off x="9544260" y="287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Unparsed share</a:t>
            </a:r>
          </a:p>
        </p:txBody>
      </p:sp>
      <p:sp>
        <p:nvSpPr>
          <p:cNvPr id="50" name="CoefficientGuardrail"/>
          <p:cNvSpPr txBox="1"/>
          <p:nvPr/>
        </p:nvSpPr>
        <p:spPr>
          <a:xfrm>
            <a:off x="453079" y="4991600"/>
            <a:ext cx="11282362" cy="62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strict 35.0% Basic Construction supplier coefficient feeds headline TAM;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POP views are sensitivity and evidence.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announcements; (2) GAO-25-106286; (3) FAR 52.204-10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Bucket Crosswalk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Bucket Crosswalk | NAICS and vendor evidence map TAM into scenario cuts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bucket to SAM scenario crosswalk</a:t>
            </a:r>
          </a:p>
        </p:txBody>
      </p:sp>
      <p:graphicFrame>
        <p:nvGraphicFramePr>
          <p:cNvPr id="20" name="Crosswalk"/>
          <p:cNvGraphicFramePr>
            <a:graphicFrameLocks noGrp="1"/>
          </p:cNvGraphicFramePr>
          <p:nvPr/>
        </p:nvGraphicFramePr>
        <p:xfrm>
          <a:off x="453079" y="1596600"/>
          <a:ext cx="11282362" cy="24688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780487"/>
                <a:gridCol w="3849905"/>
                <a:gridCol w="909005"/>
                <a:gridCol w="909005"/>
                <a:gridCol w="1015947"/>
                <a:gridCol w="909005"/>
                <a:gridCol w="90900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cues (NAICS-4; example vendor)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/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3323, 3324, 3366, 3369; e.g. DC Fabricators, Rhoads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3327, 3336; e.g. Advance Mfg., B. &amp; F. Machine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3321, 3315, 3312; e.g. Scot Forge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3329, 3339, 4235; e.g. Curtiss-Wright, CIRCOR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/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3353, 3344, 3359, 3364; e.g. Northrop Grumman, Leonardo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3334; e.g. Johnson Controls Navy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3252, 3259, 3262; e.g. Globe Composite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(Unbucketed / ambiguous)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clean NAICS bucket; e.g. ESCO, L3Harris, BWX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0" name="NoSum"/>
          <p:cNvSpPr txBox="1"/>
          <p:nvPr/>
        </p:nvSpPr>
        <p:spPr>
          <a:xfrm>
            <a:off x="453079" y="557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cuts overlap; do not sum scenarios (machining is in both Metal and HM&amp;E). Broad SAM excludes the unbucketed / ambiguous residual. No SOM is modeled.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Top 25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25 Visible Suppliers | Extended FFATA-visible list is a named-vendor floor</a:t>
            </a:r>
          </a:p>
        </p:txBody>
      </p:sp>
      <p:sp>
        <p:nvSpPr>
          <p:cNvPr id="10" name="EvidenceChip"/>
          <p:cNvSpPr txBox="1"/>
          <p:nvPr/>
        </p:nvSpPr>
        <p:spPr>
          <a:xfrm>
            <a:off x="453079" y="1371600"/>
            <a:ext cx="2933414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classified subaward recipients</a:t>
            </a:r>
          </a:p>
        </p:txBody>
      </p:sp>
      <p:sp>
        <p:nvSpPr>
          <p:cNvPr id="11" name="EvidenceChip"/>
          <p:cNvSpPr txBox="1"/>
          <p:nvPr/>
        </p:nvSpPr>
        <p:spPr>
          <a:xfrm>
            <a:off x="3477933" y="1371600"/>
            <a:ext cx="3836003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~$5.46B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 visible value</a:t>
            </a:r>
          </a:p>
        </p:txBody>
      </p:sp>
      <p:sp>
        <p:nvSpPr>
          <p:cNvPr id="12" name="ReadNote"/>
          <p:cNvSpPr txBox="1"/>
          <p:nvPr/>
        </p:nvSpPr>
        <p:spPr>
          <a:xfrm>
            <a:off x="7405376" y="1371600"/>
            <a:ext cx="4330065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this is a named-vendor evidence ledger; values are visible cumulative filings, not annual market size.</a:t>
            </a:r>
          </a:p>
        </p:txBody>
      </p:sp>
      <p:graphicFrame>
        <p:nvGraphicFramePr>
          <p:cNvPr id="20" name="Top25Ledger"/>
          <p:cNvGraphicFramePr>
            <a:graphicFrameLocks noGrp="1"/>
          </p:cNvGraphicFramePr>
          <p:nvPr/>
        </p:nvGraphicFramePr>
        <p:xfrm>
          <a:off x="453079" y="1801600"/>
          <a:ext cx="11282362" cy="38404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39721"/>
                <a:gridCol w="4129111"/>
                <a:gridCol w="872347"/>
                <a:gridCol w="639721"/>
                <a:gridCol w="4129111"/>
                <a:gridCol w="872351"/>
              </a:tblGrid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Northrop Grumman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1,426.6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 SC,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SpA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490.6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Oil States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Electro-Mechanical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Precision Custom Components,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Scot Forge Company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Goodrich Corp. (RTX Collins Aerospace)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ESCO Technologies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188.5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DC Fabricators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Globe Composite Solutions,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Rhoads Metal Fabrications,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CIRCOR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110.8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L3Harris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Graham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BWX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USA,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Mfg. Co.,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Rosyth Royal Dockyard Ltd. (Babcock)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Pegasus Steel,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Portland Valve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Flow Control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FloorCaveat"/>
          <p:cNvSpPr txBox="1"/>
          <p:nvPr/>
        </p:nvSpPr>
        <p:spPr>
          <a:xfrm>
            <a:off x="453079" y="56600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does not mean complete: FFATA names first-tier filings above the $30,000 per-action threshold and should be treated as a floor, not the full supplier layer. Across the fifteen in-scope new-construction PIIDs there are ~759 FFATA-visible parents; the 25 shown are the largest.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deck_submarines</Application>
  <PresentationFormat>Widescreen</PresentationFormat>
  <Slides>27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Submarines - Outsourced Construction TAM &amp; SAM</dc:title>
  <dc:creator>deck_submarines build_deck.py</dc:creator>
  <cp:lastModifiedBy>deck_submarines build_deck.py</cp:lastModifiedBy>
  <cp:revision>1</cp:revision>
  <dcterms:created xsi:type="dcterms:W3CDTF">2026-06-20T23:48:19Z</dcterms:created>
  <dcterms:modified xsi:type="dcterms:W3CDTF">2026-06-20T23:48:19Z</dcterms:modified>
</cp:coreProperties>
</file>