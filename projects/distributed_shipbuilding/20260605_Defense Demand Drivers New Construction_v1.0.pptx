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embeddings/Microsoft_Excel_Worksheet10.xlsx" ContentType="application/vnd.openxmlformats-officedocument.spreadsheetml.sheet"/>
  <Override PartName="/ppt/embeddings/Microsoft_Excel_Worksheet11.xlsx" ContentType="application/vnd.openxmlformats-officedocument.spreadsheetml.sheet"/>
  <Override PartName="/ppt/embeddings/Microsoft_Excel_Worksheet12.xlsx" ContentType="application/vnd.openxmlformats-officedocument.spreadsheetml.sheet"/>
  <Override PartName="/ppt/embeddings/Microsoft_Excel_Worksheet13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2"/>
          <c:y val="0.012"/>
          <c:w val="0.976"/>
          <c:h val="0.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0.0</c:v>
                </c:pt>
                <c:pt idx="1">
                  <c:v>24.866335</c:v>
                </c:pt>
                <c:pt idx="2">
                  <c:v>22.590655</c:v>
                </c:pt>
                <c:pt idx="3">
                  <c:v>0.0</c:v>
                </c:pt>
                <c:pt idx="4">
                  <c:v>6.42173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Walk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162029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36.592092</c:v>
                </c:pt>
                <c:pt idx="1">
                  <c:v>12.768087</c:v>
                </c:pt>
                <c:pt idx="2">
                  <c:v>2.27568</c:v>
                </c:pt>
                <c:pt idx="3">
                  <c:v>21.548325</c:v>
                </c:pt>
                <c:pt idx="4">
                  <c:v>16.168925</c:v>
                </c:pt>
                <c:pt idx="6">
                  <c:v>6.42173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AP/LLTM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1.04233</c:v>
                </c:pt>
                <c:pt idx="3">
                  <c:v>1.04233</c:v>
                </c:pt>
              </c:numCache>
            </c:numRef>
          </c:val>
        </c:ser>
        <c:gapWidth val="5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0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2"/>
          <c:y val="0.012"/>
          <c:w val="0.976"/>
          <c:h val="0.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0.0</c:v>
                </c:pt>
                <c:pt idx="1">
                  <c:v>71.054967</c:v>
                </c:pt>
                <c:pt idx="2">
                  <c:v>60.565463</c:v>
                </c:pt>
                <c:pt idx="3">
                  <c:v>0.0</c:v>
                </c:pt>
                <c:pt idx="4">
                  <c:v>18.133847</c:v>
                </c:pt>
                <c:pt idx="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Walk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162029"/>
              </a:solidFill>
              <a:ln>
                <a:noFill/>
              </a:ln>
            </c:spPr>
          </c:dPt>
          <c:dLbls>
            <c:dLbl>
              <c:idx val="0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rot="0" spcFirstLastPara="1" vertOverflow="ellipsis" wrap="square" anchor="ctr" anchorCtr="1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Total Ship Spend</c:v>
                </c:pt>
                <c:pt idx="1">
                  <c:v>Less: GFE</c:v>
                </c:pt>
                <c:pt idx="2">
                  <c:v>Less: Other non-BC</c:v>
                </c:pt>
                <c:pt idx="3">
                  <c:v>Basic Construction</c:v>
                </c:pt>
                <c:pt idx="4">
                  <c:v>Less: Prime BC</c:v>
                </c:pt>
                <c:pt idx="5">
                  <c:v>Less: Prime AP/LLTM</c:v>
                </c:pt>
                <c:pt idx="6">
                  <c:v>Outsourced BC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90.223472</c:v>
                </c:pt>
                <c:pt idx="1">
                  <c:v>19.168505</c:v>
                </c:pt>
                <c:pt idx="2">
                  <c:v>10.489504</c:v>
                </c:pt>
                <c:pt idx="3">
                  <c:v>60.565463</c:v>
                </c:pt>
                <c:pt idx="4">
                  <c:v>42.431616</c:v>
                </c:pt>
                <c:pt idx="6">
                  <c:v>18.133847</c:v>
                </c:pt>
              </c:numCache>
            </c:numRef>
          </c:val>
        </c:ser>
        <c:gapWidth val="5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5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3"/>
          <c:y val="0.05"/>
          <c:w val="0.6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0.687840132</c:v>
                </c:pt>
                <c:pt idx="1">
                  <c:v>3.579611972</c:v>
                </c:pt>
                <c:pt idx="2">
                  <c:v>2.015264257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0.603915665</c:v>
                </c:pt>
                <c:pt idx="1">
                  <c:v>2.79263306</c:v>
                </c:pt>
                <c:pt idx="2">
                  <c:v>0.918962976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0.37146878</c:v>
                </c:pt>
                <c:pt idx="1">
                  <c:v>2.925105325</c:v>
                </c:pt>
                <c:pt idx="2">
                  <c:v>0.691126691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"/>
              <c:delete val="1"/>
            </c:dLbl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Sheet1!$E$2:$E$4</c:f>
              <c:numCache>
                <c:formatCode>0.0</c:formatCode>
                <c:ptCount val="3"/>
                <c:pt idx="0">
                  <c:v>2.260781875</c:v>
                </c:pt>
                <c:pt idx="1">
                  <c:v>0.6001458</c:v>
                </c:pt>
                <c:pt idx="2">
                  <c:v>0.10813464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delete val="1"/>
            </c:dLbl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Sheet1!$F$2:$F$4</c:f>
              <c:numCache>
                <c:formatCode>0.0</c:formatCode>
                <c:ptCount val="3"/>
                <c:pt idx="0">
                  <c:v>0.009666927</c:v>
                </c:pt>
                <c:pt idx="1">
                  <c:v>0.894591879</c:v>
                </c:pt>
                <c:pt idx="2">
                  <c:v>0.06840629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Sheet1!$G$2:$G$4</c:f>
              <c:numCache>
                <c:formatCode>0.0</c:formatCode>
                <c:ptCount val="3"/>
                <c:pt idx="0">
                  <c:v>0.146559104</c:v>
                </c:pt>
                <c:pt idx="1">
                  <c:v>0.607109542</c:v>
                </c:pt>
                <c:pt idx="2">
                  <c:v>0.178717817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1"/>
              <c:delete val="1"/>
            </c:dLbl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Sheet1!$H$2:$H$4</c:f>
              <c:numCache>
                <c:formatCode>0.0</c:formatCode>
                <c:ptCount val="3"/>
                <c:pt idx="0">
                  <c:v>0.984150038</c:v>
                </c:pt>
                <c:pt idx="1">
                  <c:v>0.104599769</c:v>
                </c:pt>
                <c:pt idx="2">
                  <c:v>0.086917623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2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DDG-51</c:v>
                </c:pt>
                <c:pt idx="1">
                  <c:v>Virginia</c:v>
                </c:pt>
                <c:pt idx="2">
                  <c:v>Columbia</c:v>
                </c:pt>
              </c:strCache>
            </c:strRef>
          </c:cat>
          <c:val>
            <c:numRef>
              <c:f>Sheet1!$I$2:$I$4</c:f>
              <c:numCache>
                <c:formatCode>0.0</c:formatCode>
                <c:ptCount val="3"/>
                <c:pt idx="0">
                  <c:v>1.357347159</c:v>
                </c:pt>
                <c:pt idx="1">
                  <c:v>2.122962685</c:v>
                </c:pt>
                <c:pt idx="2">
                  <c:v>0.439556207</c:v>
                </c:pt>
              </c:numCache>
            </c:numRef>
          </c:val>
        </c:ser>
        <c:gapWidth val="65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5"/>
          <c:min val="0"/>
        </c:scaling>
        <c:delete val="0"/>
        <c:axPos val="l"/>
        <c:numFmt formatCode="0.0" sourceLinked="0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5"/>
          <c:y val="0.1"/>
          <c:w val="0.945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Virginia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Sheet1!$B$2:$B$40</c:f>
              <c:numCache>
                <c:formatCode>0.0</c:formatCode>
                <c:ptCount val="39"/>
                <c:pt idx="0">
                  <c:v>1.78</c:v>
                </c:pt>
                <c:pt idx="4">
                  <c:v>1.854</c:v>
                </c:pt>
                <c:pt idx="8">
                  <c:v>3.207</c:v>
                </c:pt>
                <c:pt idx="12">
                  <c:v>1.847</c:v>
                </c:pt>
                <c:pt idx="16">
                  <c:v>1.977</c:v>
                </c:pt>
                <c:pt idx="20">
                  <c:v>2.962</c:v>
                </c:pt>
                <c:pt idx="24">
                  <c:v>2.551</c:v>
                </c:pt>
                <c:pt idx="28">
                  <c:v>2.457</c:v>
                </c:pt>
                <c:pt idx="32">
                  <c:v>2.209</c:v>
                </c:pt>
                <c:pt idx="36">
                  <c:v>2.246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Columbia</c:v>
                </c:pt>
              </c:strCache>
            </c:strRef>
          </c:tx>
          <c:spPr>
            <a:solidFill>
              <a:srgbClr val="89A2B0"/>
            </a:solid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Sheet1!$C$2:$C$40</c:f>
              <c:numCache>
                <c:formatCode>0.0</c:formatCode>
                <c:ptCount val="39"/>
                <c:pt idx="9">
                  <c:v>1.454</c:v>
                </c:pt>
                <c:pt idx="17">
                  <c:v>1.575</c:v>
                </c:pt>
                <c:pt idx="21">
                  <c:v>1.478</c:v>
                </c:pt>
                <c:pt idx="25">
                  <c:v>1.273</c:v>
                </c:pt>
                <c:pt idx="29">
                  <c:v>1.274</c:v>
                </c:pt>
                <c:pt idx="33">
                  <c:v>1.257</c:v>
                </c:pt>
                <c:pt idx="37">
                  <c:v>1.259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Sheet1!$D$2:$D$40</c:f>
              <c:numCache>
                <c:formatCode>0.0</c:formatCode>
                <c:ptCount val="39"/>
                <c:pt idx="2">
                  <c:v>0.474</c:v>
                </c:pt>
                <c:pt idx="6">
                  <c:v>1.234</c:v>
                </c:pt>
                <c:pt idx="10">
                  <c:v>0.874</c:v>
                </c:pt>
                <c:pt idx="14">
                  <c:v>1.236</c:v>
                </c:pt>
                <c:pt idx="18">
                  <c:v>1.929</c:v>
                </c:pt>
                <c:pt idx="22">
                  <c:v>0.674</c:v>
                </c:pt>
                <c:pt idx="26">
                  <c:v>0.552</c:v>
                </c:pt>
                <c:pt idx="30">
                  <c:v>0.566</c:v>
                </c:pt>
                <c:pt idx="34">
                  <c:v>0.87</c:v>
                </c:pt>
                <c:pt idx="38">
                  <c:v>0.896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Va remainder</c:v>
                </c:pt>
              </c:strCache>
            </c:strRef>
          </c:tx>
          <c:spPr>
            <a:noFill/>
            <a:ln w="9525">
              <a:solidFill>
                <a:srgbClr val="162029"/>
              </a:solidFill>
              <a:prstDash val="dash"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Sheet1!$E$2:$E$40</c:f>
              <c:numCache>
                <c:formatCode>0.0</c:formatCode>
                <c:ptCount val="39"/>
                <c:pt idx="0">
                  <c:v>5.828</c:v>
                </c:pt>
                <c:pt idx="4">
                  <c:v>5.904</c:v>
                </c:pt>
                <c:pt idx="8">
                  <c:v>8.625</c:v>
                </c:pt>
                <c:pt idx="12">
                  <c:v>7.843</c:v>
                </c:pt>
                <c:pt idx="16">
                  <c:v>8.012</c:v>
                </c:pt>
                <c:pt idx="20">
                  <c:v>8.246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 remainder</c:v>
                </c:pt>
              </c:strCache>
            </c:strRef>
          </c:tx>
          <c:spPr>
            <a:noFill/>
            <a:ln w="9525">
              <a:solidFill>
                <a:srgbClr val="162029"/>
              </a:solidFill>
              <a:prstDash val="dash"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Sheet1!$F$2:$F$40</c:f>
              <c:numCache>
                <c:formatCode>0.0</c:formatCode>
                <c:ptCount val="39"/>
                <c:pt idx="9">
                  <c:v>9.662</c:v>
                </c:pt>
                <c:pt idx="17">
                  <c:v>9.169</c:v>
                </c:pt>
                <c:pt idx="21">
                  <c:v>8.799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DDG remainder</c:v>
                </c:pt>
              </c:strCache>
            </c:strRef>
          </c:tx>
          <c:spPr>
            <a:noFill/>
            <a:ln w="9525">
              <a:solidFill>
                <a:srgbClr val="162029"/>
              </a:solidFill>
              <a:prstDash val="sysDot"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Sheet1!$G$2:$G$40</c:f>
              <c:numCache>
                <c:formatCode>0.0</c:formatCode>
                <c:ptCount val="39"/>
                <c:pt idx="2">
                  <c:v>4.006</c:v>
                </c:pt>
                <c:pt idx="6">
                  <c:v>7.272</c:v>
                </c:pt>
                <c:pt idx="10">
                  <c:v>4.838</c:v>
                </c:pt>
                <c:pt idx="14">
                  <c:v>6.78</c:v>
                </c:pt>
                <c:pt idx="18">
                  <c:v>3.777</c:v>
                </c:pt>
                <c:pt idx="22">
                  <c:v>3.498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Range to high</c:v>
                </c:pt>
              </c:strCache>
            </c:strRef>
          </c:tx>
          <c:spPr>
            <a:pattFill prst="ltUpDiag">
              <a:fgClr>
                <a:srgbClr val="486D82"/>
              </a:fgClr>
              <a:bgClr>
                <a:srgbClr val="FFFFFF"/>
              </a:bgClr>
            </a:pattFill>
            <a:ln>
              <a:noFill/>
            </a:ln>
          </c:spPr>
          <c:invertIfNegative val="0"/>
          <c:cat>
            <c:strRef>
              <c:f>Sheet1!$A$2:$A$40</c:f>
              <c:strCach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strCache>
            </c:strRef>
          </c:cat>
          <c:val>
            <c:numRef>
              <c:f>Sheet1!$H$2:$H$40</c:f>
              <c:numCache>
                <c:formatCode>0.0</c:formatCode>
                <c:ptCount val="39"/>
                <c:pt idx="24">
                  <c:v>0.766</c:v>
                </c:pt>
                <c:pt idx="25">
                  <c:v>0.3820000000000001</c:v>
                </c:pt>
                <c:pt idx="26">
                  <c:v>0.16599999999999993</c:v>
                </c:pt>
                <c:pt idx="28">
                  <c:v>0.7370000000000001</c:v>
                </c:pt>
                <c:pt idx="29">
                  <c:v>0.3819999999999999</c:v>
                </c:pt>
                <c:pt idx="30">
                  <c:v>0.16900000000000004</c:v>
                </c:pt>
                <c:pt idx="32">
                  <c:v>0.6629999999999998</c:v>
                </c:pt>
                <c:pt idx="33">
                  <c:v>0.377</c:v>
                </c:pt>
                <c:pt idx="34">
                  <c:v>0.261</c:v>
                </c:pt>
                <c:pt idx="36">
                  <c:v>0.673</c:v>
                </c:pt>
                <c:pt idx="37">
                  <c:v>0.3780000000000001</c:v>
                </c:pt>
                <c:pt idx="38">
                  <c:v>0.269</c:v>
                </c:pt>
              </c:numCache>
            </c:numRef>
          </c:val>
        </c:ser>
        <c:gapWidth val="3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3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2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3"/>
          <c:w val="0.86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0.368495986</c:v>
                </c:pt>
                <c:pt idx="1">
                  <c:v>0.865859642</c:v>
                </c:pt>
                <c:pt idx="2">
                  <c:v>0.736346985</c:v>
                </c:pt>
                <c:pt idx="3">
                  <c:v>0.035197415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0.272449311</c:v>
                </c:pt>
                <c:pt idx="1">
                  <c:v>0.167845438</c:v>
                </c:pt>
                <c:pt idx="2">
                  <c:v>0.942754177</c:v>
                </c:pt>
                <c:pt idx="3">
                  <c:v>0.547155952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0.513513635</c:v>
                </c:pt>
                <c:pt idx="1">
                  <c:v>0.34467773</c:v>
                </c:pt>
                <c:pt idx="2">
                  <c:v>0.556551769</c:v>
                </c:pt>
                <c:pt idx="3">
                  <c:v>0.492813685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Sheet1!$E$2:$E$5</c:f>
              <c:numCache>
                <c:formatCode>0.0</c:formatCode>
                <c:ptCount val="4"/>
                <c:pt idx="0">
                  <c:v>0.108315223</c:v>
                </c:pt>
                <c:pt idx="1">
                  <c:v>0.01499292</c:v>
                </c:pt>
                <c:pt idx="2">
                  <c:v>0.194228613</c:v>
                </c:pt>
                <c:pt idx="3">
                  <c:v>0.113847585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Sheet1!$F$2:$F$5</c:f>
              <c:numCache>
                <c:formatCode>0.0</c:formatCode>
                <c:ptCount val="4"/>
                <c:pt idx="0">
                  <c:v>0.076693549</c:v>
                </c:pt>
                <c:pt idx="1">
                  <c:v>0.136814098</c:v>
                </c:pt>
                <c:pt idx="2">
                  <c:v>0.229244033</c:v>
                </c:pt>
                <c:pt idx="3">
                  <c:v>0.115541509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Sheet1!$G$2:$G$5</c:f>
              <c:numCache>
                <c:formatCode>0.0</c:formatCode>
                <c:ptCount val="4"/>
                <c:pt idx="0">
                  <c:v>0.046084466</c:v>
                </c:pt>
                <c:pt idx="1">
                  <c:v>0.047195813</c:v>
                </c:pt>
                <c:pt idx="2">
                  <c:v>0.083546914</c:v>
                </c:pt>
                <c:pt idx="3">
                  <c:v>0.235329835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Sheet1!$H$2:$H$5</c:f>
              <c:numCache>
                <c:formatCode>0.0</c:formatCode>
                <c:ptCount val="4"/>
                <c:pt idx="0">
                  <c:v>0.003747833</c:v>
                </c:pt>
                <c:pt idx="1">
                  <c:v>0.031124026</c:v>
                </c:pt>
                <c:pt idx="2">
                  <c:v>0.002703856</c:v>
                </c:pt>
                <c:pt idx="3">
                  <c:v>0.016739738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Sheet1!$I$2:$I$5</c:f>
              <c:numCache>
                <c:formatCode>0.0</c:formatCode>
                <c:ptCount val="4"/>
                <c:pt idx="0">
                  <c:v>0.39029784</c:v>
                </c:pt>
                <c:pt idx="1">
                  <c:v>0.24521617</c:v>
                </c:pt>
                <c:pt idx="2">
                  <c:v>0.462048303</c:v>
                </c:pt>
                <c:pt idx="3">
                  <c:v>0.290617892</c:v>
                </c:pt>
              </c:numCache>
            </c:numRef>
          </c:val>
        </c:ser>
        <c:gapWidth val="7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3"/>
          <c:w val="0.86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2">
                  <c:v>0.628862421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2">
                  <c:v>0.350632421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2">
                  <c:v>0.204411117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Sheet1!$E$2:$E$5</c:f>
              <c:numCache>
                <c:formatCode>0.0</c:formatCode>
                <c:ptCount val="4"/>
                <c:pt idx="2">
                  <c:v>0.04539076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Sheet1!$F$2:$F$5</c:f>
              <c:numCache>
                <c:formatCode>0.0</c:formatCode>
                <c:ptCount val="4"/>
                <c:pt idx="2">
                  <c:v>0.025676639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Sheet1!$G$2:$G$5</c:f>
              <c:numCache>
                <c:formatCode>0.0</c:formatCode>
                <c:ptCount val="4"/>
                <c:pt idx="2">
                  <c:v>0.039021045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Sheet1!$H$2:$H$5</c:f>
              <c:numCache>
                <c:formatCode>0.0</c:formatCode>
                <c:ptCount val="4"/>
                <c:pt idx="2">
                  <c:v>0.016820118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Sheet1!$I$2:$I$5</c:f>
              <c:numCache>
                <c:formatCode>0.0</c:formatCode>
                <c:ptCount val="4"/>
                <c:pt idx="2">
                  <c:v>0.143458185</c:v>
                </c:pt>
              </c:numCache>
            </c:numRef>
          </c:val>
        </c:ser>
        <c:gapWidth val="7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2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3"/>
          <c:w val="0.86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Electrical and power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0.027222384</c:v>
                </c:pt>
                <c:pt idx="1">
                  <c:v>0.056467032</c:v>
                </c:pt>
                <c:pt idx="2">
                  <c:v>0.191894256</c:v>
                </c:pt>
                <c:pt idx="3">
                  <c:v>0.10630836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Piping, valves, and pumps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0.050574424</c:v>
                </c:pt>
                <c:pt idx="1">
                  <c:v>0.087536052</c:v>
                </c:pt>
                <c:pt idx="2">
                  <c:v>0.122911364</c:v>
                </c:pt>
                <c:pt idx="3">
                  <c:v>0.090768198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 fabrication and pre-outfit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0.01663598</c:v>
                </c:pt>
                <c:pt idx="1">
                  <c:v>0.043558308</c:v>
                </c:pt>
                <c:pt idx="2">
                  <c:v>0.064574503</c:v>
                </c:pt>
                <c:pt idx="3">
                  <c:v>0.086383965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Machining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Sheet1!$E$2:$E$5</c:f>
              <c:numCache>
                <c:formatCode>0.0</c:formatCode>
                <c:ptCount val="4"/>
                <c:pt idx="0">
                  <c:v>0.149893173</c:v>
                </c:pt>
                <c:pt idx="1">
                  <c:v>0.407928757</c:v>
                </c:pt>
                <c:pt idx="2">
                  <c:v>0.237555688</c:v>
                </c:pt>
                <c:pt idx="3">
                  <c:v>0.540793692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Coatings and insulation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Sheet1!$F$2:$F$5</c:f>
              <c:numCache>
                <c:formatCode>0.0</c:formatCode>
                <c:ptCount val="4"/>
                <c:pt idx="0">
                  <c:v>0.002434441</c:v>
                </c:pt>
                <c:pt idx="1">
                  <c:v>0.003243218</c:v>
                </c:pt>
                <c:pt idx="2">
                  <c:v>0.000790084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Castings and forgings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Sheet1!$G$2:$G$5</c:f>
              <c:numCache>
                <c:formatCode>0.0</c:formatCode>
                <c:ptCount val="4"/>
                <c:pt idx="2">
                  <c:v>0.050453501</c:v>
                </c:pt>
                <c:pt idx="3">
                  <c:v>0.026375868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HVAC and ventilation</c:v>
                </c:pt>
              </c:strCache>
            </c:strRef>
          </c:tx>
          <c:spPr>
            <a:solidFill>
              <a:srgbClr val="162029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Sheet1!$H$2:$H$5</c:f>
              <c:numCache>
                <c:formatCode>0.0</c:formatCode>
                <c:ptCount val="4"/>
                <c:pt idx="0">
                  <c:v>0.047756222</c:v>
                </c:pt>
                <c:pt idx="1">
                  <c:v>0.255730657</c:v>
                </c:pt>
                <c:pt idx="2">
                  <c:v>0.087605799</c:v>
                </c:pt>
                <c:pt idx="3">
                  <c:v>0.207467163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Residual</c:v>
                </c:pt>
              </c:strCache>
            </c:strRef>
          </c:tx>
          <c:spPr>
            <a:pattFill prst="ltUpDiag">
              <a:fgClr>
                <a:srgbClr val="79838F"/>
              </a:fgClr>
              <a:bgClr>
                <a:srgbClr val="FFFFFF"/>
              </a:bgClr>
            </a:patt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Sheet1!$I$2:$I$5</c:f>
              <c:numCache>
                <c:formatCode>0.0</c:formatCode>
                <c:ptCount val="4"/>
                <c:pt idx="0">
                  <c:v>0.179848848</c:v>
                </c:pt>
                <c:pt idx="1">
                  <c:v>0.37916663</c:v>
                </c:pt>
                <c:pt idx="2">
                  <c:v>0.118202324</c:v>
                </c:pt>
                <c:pt idx="3">
                  <c:v>0.178292113</c:v>
                </c:pt>
              </c:numCache>
            </c:numRef>
          </c:val>
        </c:ser>
        <c:gapWidth val="7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2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5"/>
          <c:y val="0.1"/>
          <c:w val="0.932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3.535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0.659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Broad component SAM</c:v>
                </c:pt>
              </c:strCache>
            </c:strRef>
          </c:tx>
          <c:spPr>
            <a:solidFill>
              <a:srgbClr val="89A2B0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Sheet1!$D$2:$D$3</c:f>
              <c:numCache>
                <c:formatCode>0.0</c:formatCode>
                <c:ptCount val="2"/>
                <c:pt idx="1">
                  <c:v>3.541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.5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"/>
          <c:y val="0.13"/>
          <c:w val="0.93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0.0</c:v>
                </c:pt>
                <c:pt idx="1">
                  <c:v>20.432805</c:v>
                </c:pt>
                <c:pt idx="2">
                  <c:v>18.157125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Funnel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31.192092</c:v>
                </c:pt>
                <c:pt idx="1">
                  <c:v>10.759287</c:v>
                </c:pt>
                <c:pt idx="2">
                  <c:v>2.27568</c:v>
                </c:pt>
                <c:pt idx="3">
                  <c:v>18.157125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35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5"/>
      </c:valAx>
    </c:plotArea>
    <c:plotVisOnly val="1"/>
    <c:dispBlanksAs val="gap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"/>
          <c:y val="0.13"/>
          <c:w val="0.93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0.0</c:v>
                </c:pt>
                <c:pt idx="1">
                  <c:v>68.377484</c:v>
                </c:pt>
                <c:pt idx="2">
                  <c:v>57.887981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Funnel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Total ship estimate</c:v>
                </c:pt>
                <c:pt idx="1">
                  <c:v>Less GFE / directed equipment</c:v>
                </c:pt>
                <c:pt idx="2">
                  <c:v>Less other non-BC</c:v>
                </c:pt>
                <c:pt idx="3">
                  <c:v>Basic Construction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85.623472</c:v>
                </c:pt>
                <c:pt idx="1">
                  <c:v>17.245988</c:v>
                </c:pt>
                <c:pt idx="2">
                  <c:v>10.489504</c:v>
                </c:pt>
                <c:pt idx="3">
                  <c:v>57.887981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9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0"/>
      </c:valAx>
    </c:plotArea>
    <c:plotVisOnly val="1"/>
    <c:dispBlanksAs val="gap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75"/>
          <c:y val="0.085"/>
          <c:w val="0.915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1.833</c:v>
                </c:pt>
                <c:pt idx="1">
                  <c:v>1.91</c:v>
                </c:pt>
                <c:pt idx="2">
                  <c:v>5.619</c:v>
                </c:pt>
                <c:pt idx="3">
                  <c:v>1.903</c:v>
                </c:pt>
                <c:pt idx="4">
                  <c:v>4.544</c:v>
                </c:pt>
                <c:pt idx="5">
                  <c:v>5.403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5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0.271</c:v>
                </c:pt>
                <c:pt idx="1">
                  <c:v>0.612</c:v>
                </c:pt>
                <c:pt idx="2">
                  <c:v>0.434</c:v>
                </c:pt>
                <c:pt idx="3">
                  <c:v>0.65</c:v>
                </c:pt>
                <c:pt idx="4">
                  <c:v>1.651</c:v>
                </c:pt>
                <c:pt idx="5">
                  <c:v>0.334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7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"/>
      </c:valAx>
    </c:plotArea>
    <c:plotVisOnly val="1"/>
    <c:dispBlanksAs val="gap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85"/>
          <c:w val="0.93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1315</c:v>
                </c:pt>
                <c:pt idx="1">
                  <c:v>675</c:v>
                </c:pt>
                <c:pt idx="2">
                  <c:v>597</c:v>
                </c:pt>
                <c:pt idx="3">
                  <c:v>116</c:v>
                </c:pt>
                <c:pt idx="4">
                  <c:v>189</c:v>
                </c:pt>
                <c:pt idx="5">
                  <c:v>151</c:v>
                </c:pt>
                <c:pt idx="6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Sheet1!$C$2:$C$9</c:f>
              <c:numCache>
                <c:formatCode>#,##0</c:formatCode>
                <c:ptCount val="8"/>
                <c:pt idx="0">
                  <c:v>38</c:v>
                </c:pt>
                <c:pt idx="1">
                  <c:v>35</c:v>
                </c:pt>
                <c:pt idx="2">
                  <c:v>36</c:v>
                </c:pt>
                <c:pt idx="3">
                  <c:v>259</c:v>
                </c:pt>
                <c:pt idx="4">
                  <c:v>17</c:v>
                </c:pt>
                <c:pt idx="5">
                  <c:v>11</c:v>
                </c:pt>
                <c:pt idx="6">
                  <c:v>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Residual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Sheet1!$D$2:$D$9</c:f>
              <c:numCache>
                <c:formatCode>#,##0</c:formatCode>
                <c:ptCount val="8"/>
                <c:pt idx="7">
                  <c:v>653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5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100"/>
      </c:valAx>
    </c:plotArea>
    <c:plotVisOnly val="1"/>
    <c:dispBlanksAs val="gap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scenario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mfg (envelope)</c:v>
                </c:pt>
                <c:pt idx="1">
                  <c:v>HM&amp;E</c:v>
                </c:pt>
                <c:pt idx="2">
                  <c:v>Electrical/power</c:v>
                </c:pt>
                <c:pt idx="3">
                  <c:v>Metal components</c:v>
                </c:pt>
                <c:pt idx="4">
                  <c:v>Modular assy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3.54</c:v>
                </c:pt>
                <c:pt idx="1">
                  <c:v>2.54</c:v>
                </c:pt>
                <c:pt idx="2">
                  <c:v>1.35</c:v>
                </c:pt>
                <c:pt idx="3">
                  <c:v>1.17</c:v>
                </c:pt>
                <c:pt idx="4">
                  <c:v>0.408</c:v>
                </c:pt>
              </c:numCache>
            </c:numRef>
          </c:val>
        </c:ser>
        <c:gapWidth val="64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4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5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virginia_construction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Distributed Shipbuilding Supplier Market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DDG and submarine new-construction component suppliers, FY2022–FY2027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| Across FY22–FY27, total ship spend narrows to an annualized ~$1.1B of outsourced work for DDG-51 and ~$3.0B for submarines.</a:t>
            </a:r>
          </a:p>
        </p:txBody>
      </p:sp>
      <p:sp>
        <p:nvSpPr>
          <p:cNvPr id="10" name="ExhibitHeader"/>
          <p:cNvSpPr txBox="1"/>
          <p:nvPr/>
        </p:nvSpPr>
        <p:spPr>
          <a:xfrm>
            <a:off x="453079" y="1371600"/>
            <a:ext cx="673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Walk to Outsourced Basic Construction Spend ($B, cumulative FY22–FY27, FY26 $)</a:t>
            </a:r>
          </a:p>
        </p:txBody>
      </p:sp>
      <p:cxnSp>
        <p:nvCxnSpPr>
          <p:cNvPr id="11" name="ExhibitHeaderRule"/>
          <p:cNvCxnSpPr/>
          <p:nvPr/>
        </p:nvCxnSpPr>
        <p:spPr>
          <a:xfrm>
            <a:off x="453079" y="1611600"/>
            <a:ext cx="673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" name="ProgramChip"/>
          <p:cNvSpPr txBox="1"/>
          <p:nvPr/>
        </p:nvSpPr>
        <p:spPr>
          <a:xfrm>
            <a:off x="2266169" y="1671600"/>
            <a:ext cx="1900000" cy="24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21" name="ProgramChip"/>
          <p:cNvSpPr txBox="1"/>
          <p:nvPr/>
        </p:nvSpPr>
        <p:spPr>
          <a:xfrm>
            <a:off x="4952350" y="1671600"/>
            <a:ext cx="1900000" cy="24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/ Columbia-class</a:t>
            </a:r>
          </a:p>
        </p:txBody>
      </p:sp>
      <p:sp>
        <p:nvSpPr>
          <p:cNvPr id="22" name="StreamCaption"/>
          <p:cNvSpPr txBox="1"/>
          <p:nvPr/>
        </p:nvSpPr>
        <p:spPr>
          <a:xfrm>
            <a:off x="2709476" y="1941600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23" name="StreamCaption"/>
          <p:cNvSpPr txBox="1"/>
          <p:nvPr/>
        </p:nvSpPr>
        <p:spPr>
          <a:xfrm>
            <a:off x="3887712" y="1941600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</a:t>
            </a:r>
          </a:p>
        </p:txBody>
      </p:sp>
      <p:sp>
        <p:nvSpPr>
          <p:cNvPr id="24" name="StreamCaption"/>
          <p:cNvSpPr txBox="1"/>
          <p:nvPr/>
        </p:nvSpPr>
        <p:spPr>
          <a:xfrm>
            <a:off x="5439385" y="1941600"/>
            <a:ext cx="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In-Year</a:t>
            </a:r>
          </a:p>
        </p:txBody>
      </p:sp>
      <p:sp>
        <p:nvSpPr>
          <p:cNvPr id="30" name="StepLabel"/>
          <p:cNvSpPr txBox="1"/>
          <p:nvPr/>
        </p:nvSpPr>
        <p:spPr>
          <a:xfrm>
            <a:off x="453079" y="233466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Spend</a:t>
            </a:r>
          </a:p>
        </p:txBody>
      </p:sp>
      <p:sp>
        <p:nvSpPr>
          <p:cNvPr id="31" name="StepLabel"/>
          <p:cNvSpPr txBox="1"/>
          <p:nvPr/>
        </p:nvSpPr>
        <p:spPr>
          <a:xfrm>
            <a:off x="453079" y="285131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GFE</a:t>
            </a:r>
          </a:p>
        </p:txBody>
      </p:sp>
      <p:sp>
        <p:nvSpPr>
          <p:cNvPr id="32" name="StepLabel"/>
          <p:cNvSpPr txBox="1"/>
          <p:nvPr/>
        </p:nvSpPr>
        <p:spPr>
          <a:xfrm>
            <a:off x="453079" y="336796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Other non-BC</a:t>
            </a:r>
          </a:p>
        </p:txBody>
      </p:sp>
      <p:sp>
        <p:nvSpPr>
          <p:cNvPr id="33" name="StepLabel"/>
          <p:cNvSpPr txBox="1"/>
          <p:nvPr/>
        </p:nvSpPr>
        <p:spPr>
          <a:xfrm>
            <a:off x="453079" y="3884614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sp>
        <p:nvSpPr>
          <p:cNvPr id="34" name="StepLabel"/>
          <p:cNvSpPr txBox="1"/>
          <p:nvPr/>
        </p:nvSpPr>
        <p:spPr>
          <a:xfrm>
            <a:off x="453079" y="440126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BC</a:t>
            </a:r>
          </a:p>
        </p:txBody>
      </p:sp>
      <p:sp>
        <p:nvSpPr>
          <p:cNvPr id="35" name="StepLabel"/>
          <p:cNvSpPr txBox="1"/>
          <p:nvPr/>
        </p:nvSpPr>
        <p:spPr>
          <a:xfrm>
            <a:off x="453079" y="491791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Less: Prime AP/LLTM</a:t>
            </a:r>
          </a:p>
        </p:txBody>
      </p:sp>
      <p:sp>
        <p:nvSpPr>
          <p:cNvPr id="36" name="StepLabel"/>
          <p:cNvSpPr txBox="1"/>
          <p:nvPr/>
        </p:nvSpPr>
        <p:spPr>
          <a:xfrm>
            <a:off x="453079" y="5434563"/>
            <a:ext cx="1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BC</a:t>
            </a:r>
          </a:p>
        </p:txBody>
      </p:sp>
      <p:graphicFrame>
        <p:nvGraphicFramePr>
          <p:cNvPr id="100" name="OutsourcedWalk0"/>
          <p:cNvGraphicFramePr/>
          <p:nvPr/>
        </p:nvGraphicFramePr>
        <p:xfrm>
          <a:off x="1933079" y="2141600"/>
          <a:ext cx="2566181" cy="37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1" name="OutsourcedWalk1"/>
          <p:cNvGraphicFramePr/>
          <p:nvPr/>
        </p:nvGraphicFramePr>
        <p:xfrm>
          <a:off x="4619260" y="2141600"/>
          <a:ext cx="2566181" cy="37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10" name="WalkRule"/>
          <p:cNvCxnSpPr/>
          <p:nvPr/>
        </p:nvCxnSpPr>
        <p:spPr>
          <a:xfrm>
            <a:off x="4320344" y="26168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1" name="WalkRule"/>
          <p:cNvCxnSpPr/>
          <p:nvPr/>
        </p:nvCxnSpPr>
        <p:spPr>
          <a:xfrm>
            <a:off x="3520873" y="313353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2" name="WalkRule"/>
          <p:cNvCxnSpPr/>
          <p:nvPr/>
        </p:nvCxnSpPr>
        <p:spPr>
          <a:xfrm>
            <a:off x="3378382" y="36501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3" name="WalkRule"/>
          <p:cNvCxnSpPr/>
          <p:nvPr/>
        </p:nvCxnSpPr>
        <p:spPr>
          <a:xfrm>
            <a:off x="3378382" y="4166830"/>
            <a:ext cx="0" cy="172217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14" name="WalkRule"/>
          <p:cNvCxnSpPr/>
          <p:nvPr/>
        </p:nvCxnSpPr>
        <p:spPr>
          <a:xfrm>
            <a:off x="2365968" y="4683479"/>
            <a:ext cx="0" cy="68886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0" name="WalkRule"/>
          <p:cNvCxnSpPr/>
          <p:nvPr/>
        </p:nvCxnSpPr>
        <p:spPr>
          <a:xfrm>
            <a:off x="7028717" y="26168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1" name="WalkRule"/>
          <p:cNvCxnSpPr/>
          <p:nvPr/>
        </p:nvCxnSpPr>
        <p:spPr>
          <a:xfrm>
            <a:off x="6523356" y="313353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2" name="WalkRule"/>
          <p:cNvCxnSpPr/>
          <p:nvPr/>
        </p:nvCxnSpPr>
        <p:spPr>
          <a:xfrm>
            <a:off x="6246809" y="3650180"/>
            <a:ext cx="0" cy="17221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3" name="WalkRule"/>
          <p:cNvCxnSpPr/>
          <p:nvPr/>
        </p:nvCxnSpPr>
        <p:spPr>
          <a:xfrm>
            <a:off x="6246809" y="4166830"/>
            <a:ext cx="0" cy="172217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34" name="WalkRule"/>
          <p:cNvCxnSpPr/>
          <p:nvPr/>
        </p:nvCxnSpPr>
        <p:spPr>
          <a:xfrm>
            <a:off x="5128137" y="4683479"/>
            <a:ext cx="0" cy="688868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117" name="NoApDash"/>
          <p:cNvSpPr txBox="1"/>
          <p:nvPr/>
        </p:nvSpPr>
        <p:spPr>
          <a:xfrm>
            <a:off x="2255968" y="4927913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36" name="NoApDash"/>
          <p:cNvSpPr txBox="1"/>
          <p:nvPr/>
        </p:nvSpPr>
        <p:spPr>
          <a:xfrm>
            <a:off x="5018137" y="4927913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0" name="AnnualizedCallout"/>
          <p:cNvSpPr txBox="1"/>
          <p:nvPr/>
        </p:nvSpPr>
        <p:spPr>
          <a:xfrm>
            <a:off x="3329260" y="53295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~$1.1B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sp>
        <p:nvSpPr>
          <p:cNvPr id="61" name="AnnualizedCallout"/>
          <p:cNvSpPr txBox="1"/>
          <p:nvPr/>
        </p:nvSpPr>
        <p:spPr>
          <a:xfrm>
            <a:off x="6015441" y="5329563"/>
            <a:ext cx="11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~$3.0B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annualized</a:t>
            </a:r>
          </a:p>
        </p:txBody>
      </p:sp>
      <p:graphicFrame>
        <p:nvGraphicFramePr>
          <p:cNvPr id="50" name="StepRationaleLedger"/>
          <p:cNvGraphicFramePr>
            <a:graphicFrameLocks noGrp="1"/>
          </p:cNvGraphicFramePr>
          <p:nvPr/>
        </p:nvGraphicFramePr>
        <p:xfrm>
          <a:off x="7435441" y="1371600"/>
          <a:ext cx="4300000" cy="42976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81269"/>
                <a:gridCol w="3018731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Rationale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Ship Spend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In-Year Spend: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FY2022–FY2027 SCN end cost; OBBBA adds two FY2026 DDG-51s ($5.4B) and a second FY2026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($4.6B).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DDG-51 adds the P-10 EOQ line ($1.0B); submarines carry no separate AP/LLTM stream.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Less: Government-Furnished Equipment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AFC2C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GFE (propulsion, electronics, ordnance) the Navy buys directly and furnishes to Primes, incl. the non-BC remainder of OBBBA awards; not addressable to outsourced BC players.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Less: Other non-BC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89A2B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engineering and program costs (plans, change orders, other non-construction) generally performed by Primes.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79838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486D8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Removes construction the Primes perform in their own yards.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spend x the announced outside-yard share from DoD award place-of-performance data: ~25% DDG-51 (FY22 ships 22%), 34%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Virginia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22% </a:t>
                      </a: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Less: Prime 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the P-10 EOQ base is vendor-purchased material, so Primes retain none — $0 removed; the full $1.0B flows to Outsourced BC.</a:t>
                      </a:r>
                    </a:p>
                    <a:p>
                      <a:pPr algn="l" marL="142875" indent="-142875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b="1" u="sng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Submarines: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no AP/LLTM stream exists, so there is nothing to remove.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Outsourced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DoD contract award announcements (announced place-of-performance)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Spend by Work Type | Electrical power leads the ~$18.1B submarine pool; machining leads the ~$6.4B DDG-51 pool.</a:t>
            </a:r>
          </a:p>
        </p:txBody>
      </p:sp>
      <p:sp>
        <p:nvSpPr>
          <p:cNvPr id="10" name="ZoneHeader"/>
          <p:cNvSpPr txBox="1"/>
          <p:nvPr/>
        </p:nvSpPr>
        <p:spPr>
          <a:xfrm>
            <a:off x="453079" y="1371600"/>
            <a:ext cx="683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Spend by Work Type ($B, cumulative FY22–FY27, FY26 $)</a:t>
            </a:r>
          </a:p>
        </p:txBody>
      </p:sp>
      <p:cxnSp>
        <p:nvCxnSpPr>
          <p:cNvPr id="11" name="ZoneHeaderRule"/>
          <p:cNvCxnSpPr/>
          <p:nvPr/>
        </p:nvCxnSpPr>
        <p:spPr>
          <a:xfrm>
            <a:off x="453079" y="1611600"/>
            <a:ext cx="683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2" name="ZoneHeader"/>
          <p:cNvSpPr txBox="1"/>
          <p:nvPr/>
        </p:nvSpPr>
        <p:spPr>
          <a:xfrm>
            <a:off x="7535441" y="1371600"/>
            <a:ext cx="4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cxnSp>
        <p:nvCxnSpPr>
          <p:cNvPr id="13" name="ZoneHeaderRule"/>
          <p:cNvCxnSpPr/>
          <p:nvPr/>
        </p:nvCxnSpPr>
        <p:spPr>
          <a:xfrm>
            <a:off x="7535441" y="1611600"/>
            <a:ext cx="420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graphicFrame>
        <p:nvGraphicFramePr>
          <p:cNvPr id="20" name="WorkTypeByProgramStackedColumn"/>
          <p:cNvGraphicFramePr/>
          <p:nvPr/>
        </p:nvGraphicFramePr>
        <p:xfrm>
          <a:off x="453079" y="1671600"/>
          <a:ext cx="6832362" cy="419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KeySwatch"/>
          <p:cNvSpPr txBox="1"/>
          <p:nvPr/>
        </p:nvSpPr>
        <p:spPr>
          <a:xfrm>
            <a:off x="453079" y="1975000"/>
            <a:ext cx="120000" cy="12000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KeyLabel"/>
          <p:cNvSpPr txBox="1"/>
          <p:nvPr/>
        </p:nvSpPr>
        <p:spPr>
          <a:xfrm>
            <a:off x="633079" y="196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</p:txBody>
      </p:sp>
      <p:sp>
        <p:nvSpPr>
          <p:cNvPr id="32" name="KeySwatch"/>
          <p:cNvSpPr txBox="1"/>
          <p:nvPr/>
        </p:nvSpPr>
        <p:spPr>
          <a:xfrm>
            <a:off x="453079" y="2145000"/>
            <a:ext cx="120000" cy="12000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KeyLabel"/>
          <p:cNvSpPr txBox="1"/>
          <p:nvPr/>
        </p:nvSpPr>
        <p:spPr>
          <a:xfrm>
            <a:off x="633079" y="213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</p:txBody>
      </p:sp>
      <p:sp>
        <p:nvSpPr>
          <p:cNvPr id="34" name="KeySwatch"/>
          <p:cNvSpPr txBox="1"/>
          <p:nvPr/>
        </p:nvSpPr>
        <p:spPr>
          <a:xfrm>
            <a:off x="453079" y="2315000"/>
            <a:ext cx="120000" cy="12000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5" name="KeyLabel"/>
          <p:cNvSpPr txBox="1"/>
          <p:nvPr/>
        </p:nvSpPr>
        <p:spPr>
          <a:xfrm>
            <a:off x="633079" y="230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</p:txBody>
      </p:sp>
      <p:sp>
        <p:nvSpPr>
          <p:cNvPr id="36" name="KeySwatch"/>
          <p:cNvSpPr txBox="1"/>
          <p:nvPr/>
        </p:nvSpPr>
        <p:spPr>
          <a:xfrm>
            <a:off x="453079" y="2485000"/>
            <a:ext cx="120000" cy="120000"/>
          </a:xfrm>
          <a:prstGeom prst="rect">
            <a:avLst/>
          </a:prstGeom>
          <a:solidFill>
            <a:srgbClr val="AFC2CC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KeyLabel"/>
          <p:cNvSpPr txBox="1"/>
          <p:nvPr/>
        </p:nvSpPr>
        <p:spPr>
          <a:xfrm>
            <a:off x="633079" y="247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</p:txBody>
      </p:sp>
      <p:sp>
        <p:nvSpPr>
          <p:cNvPr id="38" name="KeySwatch"/>
          <p:cNvSpPr txBox="1"/>
          <p:nvPr/>
        </p:nvSpPr>
        <p:spPr>
          <a:xfrm>
            <a:off x="453079" y="2655000"/>
            <a:ext cx="120000" cy="120000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9" name="KeyLabel"/>
          <p:cNvSpPr txBox="1"/>
          <p:nvPr/>
        </p:nvSpPr>
        <p:spPr>
          <a:xfrm>
            <a:off x="633079" y="264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</p:txBody>
      </p:sp>
      <p:sp>
        <p:nvSpPr>
          <p:cNvPr id="40" name="KeySwatch"/>
          <p:cNvSpPr txBox="1"/>
          <p:nvPr/>
        </p:nvSpPr>
        <p:spPr>
          <a:xfrm>
            <a:off x="453079" y="2825000"/>
            <a:ext cx="120000" cy="120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1" name="KeyLabel"/>
          <p:cNvSpPr txBox="1"/>
          <p:nvPr/>
        </p:nvSpPr>
        <p:spPr>
          <a:xfrm>
            <a:off x="633079" y="281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</p:txBody>
      </p:sp>
      <p:sp>
        <p:nvSpPr>
          <p:cNvPr id="42" name="KeySwatch"/>
          <p:cNvSpPr txBox="1"/>
          <p:nvPr/>
        </p:nvSpPr>
        <p:spPr>
          <a:xfrm>
            <a:off x="453079" y="2995000"/>
            <a:ext cx="120000" cy="120000"/>
          </a:xfrm>
          <a:prstGeom prst="rect">
            <a:avLst/>
          </a:prstGeom>
          <a:solidFill>
            <a:srgbClr val="162029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3" name="KeyLabel"/>
          <p:cNvSpPr txBox="1"/>
          <p:nvPr/>
        </p:nvSpPr>
        <p:spPr>
          <a:xfrm>
            <a:off x="633079" y="298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</p:txBody>
      </p:sp>
      <p:sp>
        <p:nvSpPr>
          <p:cNvPr id="44" name="KeySwatchHatch"/>
          <p:cNvSpPr/>
          <p:nvPr/>
        </p:nvSpPr>
        <p:spPr>
          <a:xfrm>
            <a:off x="453079" y="3165000"/>
            <a:ext cx="120000" cy="120000"/>
          </a:xfrm>
          <a:prstGeom prst="rect">
            <a:avLst/>
          </a:prstGeom>
          <a:pattFill prst="ltUpDiag">
            <a:fgClr>
              <a:srgbClr val="79838F"/>
            </a:fgClr>
            <a:bgClr>
              <a:srgbClr val="FFFFFF"/>
            </a:bgClr>
          </a:pattFill>
          <a:ln w="6350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KeyLabel"/>
          <p:cNvSpPr txBox="1"/>
          <p:nvPr/>
        </p:nvSpPr>
        <p:spPr>
          <a:xfrm>
            <a:off x="633079" y="3150000"/>
            <a:ext cx="245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50" name="DdgLadderLabel"/>
          <p:cNvSpPr txBox="1"/>
          <p:nvPr/>
        </p:nvSpPr>
        <p:spPr>
          <a:xfrm>
            <a:off x="2031941" y="525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cxnSp>
        <p:nvCxnSpPr>
          <p:cNvPr id="60" name="DdgLeaderTick"/>
          <p:cNvCxnSpPr/>
          <p:nvPr/>
        </p:nvCxnSpPr>
        <p:spPr>
          <a:xfrm>
            <a:off x="2711941" y="517546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1" name="DdgLeaderElbow"/>
          <p:cNvCxnSpPr/>
          <p:nvPr/>
        </p:nvCxnSpPr>
        <p:spPr>
          <a:xfrm flipV="1">
            <a:off x="2463941" y="5175465"/>
            <a:ext cx="248000" cy="152711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51" name="DdgLadderLabel"/>
          <p:cNvSpPr txBox="1"/>
          <p:nvPr/>
        </p:nvSpPr>
        <p:spPr>
          <a:xfrm>
            <a:off x="2031941" y="509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cxnSp>
        <p:nvCxnSpPr>
          <p:cNvPr id="62" name="DdgLeaderTick"/>
          <p:cNvCxnSpPr/>
          <p:nvPr/>
        </p:nvCxnSpPr>
        <p:spPr>
          <a:xfrm>
            <a:off x="2711941" y="5060803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3" name="DdgLeaderElbow"/>
          <p:cNvCxnSpPr/>
          <p:nvPr/>
        </p:nvCxnSpPr>
        <p:spPr>
          <a:xfrm flipV="1">
            <a:off x="2463941" y="5060803"/>
            <a:ext cx="248000" cy="107373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52" name="DdgLadderLabel"/>
          <p:cNvSpPr txBox="1"/>
          <p:nvPr/>
        </p:nvSpPr>
        <p:spPr>
          <a:xfrm>
            <a:off x="2031941" y="493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cxnSp>
        <p:nvCxnSpPr>
          <p:cNvPr id="64" name="DdgLeaderTick"/>
          <p:cNvCxnSpPr/>
          <p:nvPr/>
        </p:nvCxnSpPr>
        <p:spPr>
          <a:xfrm>
            <a:off x="2711941" y="448446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5" name="DdgLeaderElbow"/>
          <p:cNvCxnSpPr/>
          <p:nvPr/>
        </p:nvCxnSpPr>
        <p:spPr>
          <a:xfrm flipV="1">
            <a:off x="2463941" y="4484465"/>
            <a:ext cx="248000" cy="523711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53" name="DdgLadderLabel"/>
          <p:cNvSpPr txBox="1"/>
          <p:nvPr/>
        </p:nvSpPr>
        <p:spPr>
          <a:xfrm>
            <a:off x="2031941" y="477317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66" name="DdgLeaderTick"/>
          <p:cNvCxnSpPr/>
          <p:nvPr/>
        </p:nvCxnSpPr>
        <p:spPr>
          <a:xfrm>
            <a:off x="2711941" y="4466100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67" name="DdgLeaderElbow"/>
          <p:cNvCxnSpPr/>
          <p:nvPr/>
        </p:nvCxnSpPr>
        <p:spPr>
          <a:xfrm flipV="1">
            <a:off x="2463941" y="4466100"/>
            <a:ext cx="248000" cy="382076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5" name="VaLeaderLabel"/>
          <p:cNvSpPr txBox="1"/>
          <p:nvPr/>
        </p:nvSpPr>
        <p:spPr>
          <a:xfrm>
            <a:off x="5066577" y="3076722"/>
            <a:ext cx="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cxnSp>
        <p:nvCxnSpPr>
          <p:cNvPr id="90" name="VaLeaderTick"/>
          <p:cNvCxnSpPr/>
          <p:nvPr/>
        </p:nvCxnSpPr>
        <p:spPr>
          <a:xfrm>
            <a:off x="4966577" y="3151722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91" name="VaLeaderElbow"/>
          <p:cNvCxnSpPr/>
          <p:nvPr/>
        </p:nvCxnSpPr>
        <p:spPr>
          <a:xfrm>
            <a:off x="5026577" y="3151722"/>
            <a:ext cx="28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6" name="VaLeaderLabel"/>
          <p:cNvSpPr txBox="1"/>
          <p:nvPr/>
        </p:nvSpPr>
        <p:spPr>
          <a:xfrm>
            <a:off x="5066577" y="2757642"/>
            <a:ext cx="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cxnSp>
        <p:nvCxnSpPr>
          <p:cNvPr id="92" name="VaLeaderTick"/>
          <p:cNvCxnSpPr/>
          <p:nvPr/>
        </p:nvCxnSpPr>
        <p:spPr>
          <a:xfrm>
            <a:off x="4966577" y="279947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93" name="VaLeaderElbow"/>
          <p:cNvCxnSpPr/>
          <p:nvPr/>
        </p:nvCxnSpPr>
        <p:spPr>
          <a:xfrm>
            <a:off x="5026577" y="2799475"/>
            <a:ext cx="28000" cy="33167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7" name="VaLeaderLabel"/>
          <p:cNvSpPr txBox="1"/>
          <p:nvPr/>
        </p:nvSpPr>
        <p:spPr>
          <a:xfrm>
            <a:off x="5066577" y="2607642"/>
            <a:ext cx="3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94" name="VaLeaderTick"/>
          <p:cNvCxnSpPr/>
          <p:nvPr/>
        </p:nvCxnSpPr>
        <p:spPr>
          <a:xfrm>
            <a:off x="4966577" y="2715810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95" name="VaLeaderElbow"/>
          <p:cNvCxnSpPr/>
          <p:nvPr/>
        </p:nvCxnSpPr>
        <p:spPr>
          <a:xfrm flipV="1">
            <a:off x="5026577" y="2682642"/>
            <a:ext cx="28000" cy="33168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0" name="ColLadderLabel"/>
          <p:cNvSpPr txBox="1"/>
          <p:nvPr/>
        </p:nvSpPr>
        <p:spPr>
          <a:xfrm>
            <a:off x="6653049" y="432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cxnSp>
        <p:nvCxnSpPr>
          <p:cNvPr id="150" name="ColLeaderTick"/>
          <p:cNvCxnSpPr/>
          <p:nvPr/>
        </p:nvCxnSpPr>
        <p:spPr>
          <a:xfrm>
            <a:off x="6333049" y="4400186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1" name="ColLeaderElbow"/>
          <p:cNvCxnSpPr/>
          <p:nvPr/>
        </p:nvCxnSpPr>
        <p:spPr>
          <a:xfrm>
            <a:off x="6393049" y="4400186"/>
            <a:ext cx="248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1" name="ColLadderLabel"/>
          <p:cNvSpPr txBox="1"/>
          <p:nvPr/>
        </p:nvSpPr>
        <p:spPr>
          <a:xfrm>
            <a:off x="6653049" y="448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152" name="ColLeaderTick"/>
          <p:cNvCxnSpPr/>
          <p:nvPr/>
        </p:nvCxnSpPr>
        <p:spPr>
          <a:xfrm>
            <a:off x="6333049" y="4462075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3" name="ColLeaderElbow"/>
          <p:cNvCxnSpPr/>
          <p:nvPr/>
        </p:nvCxnSpPr>
        <p:spPr>
          <a:xfrm>
            <a:off x="6393049" y="4462075"/>
            <a:ext cx="248000" cy="98111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2" name="ColLadderLabel"/>
          <p:cNvSpPr txBox="1"/>
          <p:nvPr/>
        </p:nvSpPr>
        <p:spPr>
          <a:xfrm>
            <a:off x="6653049" y="464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cxnSp>
        <p:nvCxnSpPr>
          <p:cNvPr id="154" name="ColLeaderTick"/>
          <p:cNvCxnSpPr/>
          <p:nvPr/>
        </p:nvCxnSpPr>
        <p:spPr>
          <a:xfrm>
            <a:off x="6333049" y="4493302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5" name="ColLeaderElbow"/>
          <p:cNvCxnSpPr/>
          <p:nvPr/>
        </p:nvCxnSpPr>
        <p:spPr>
          <a:xfrm>
            <a:off x="6393049" y="4493302"/>
            <a:ext cx="248000" cy="226884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3" name="ColLadderLabel"/>
          <p:cNvSpPr txBox="1"/>
          <p:nvPr/>
        </p:nvSpPr>
        <p:spPr>
          <a:xfrm>
            <a:off x="6653049" y="480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156" name="ColLeaderTick"/>
          <p:cNvCxnSpPr/>
          <p:nvPr/>
        </p:nvCxnSpPr>
        <p:spPr>
          <a:xfrm>
            <a:off x="6333049" y="4522353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7" name="ColLeaderElbow"/>
          <p:cNvCxnSpPr/>
          <p:nvPr/>
        </p:nvCxnSpPr>
        <p:spPr>
          <a:xfrm>
            <a:off x="6393049" y="4522353"/>
            <a:ext cx="248000" cy="357833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144" name="ColLadderLabel"/>
          <p:cNvSpPr txBox="1"/>
          <p:nvPr/>
        </p:nvSpPr>
        <p:spPr>
          <a:xfrm>
            <a:off x="6653049" y="4965186"/>
            <a:ext cx="42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cxnSp>
        <p:nvCxnSpPr>
          <p:cNvPr id="158" name="ColLeaderTick"/>
          <p:cNvCxnSpPr/>
          <p:nvPr/>
        </p:nvCxnSpPr>
        <p:spPr>
          <a:xfrm>
            <a:off x="6333049" y="4543106"/>
            <a:ext cx="60000" cy="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cxnSp>
        <p:nvCxnSpPr>
          <p:cNvPr id="159" name="ColLeaderElbow"/>
          <p:cNvCxnSpPr/>
          <p:nvPr/>
        </p:nvCxnSpPr>
        <p:spPr>
          <a:xfrm>
            <a:off x="6393049" y="4543106"/>
            <a:ext cx="248000" cy="497080"/>
          </a:xfrm>
          <a:prstGeom prst="line">
            <a:avLst/>
          </a:prstGeom>
          <a:ln w="6350">
            <a:solidFill>
              <a:srgbClr val="162029"/>
            </a:solidFill>
          </a:ln>
        </p:spPr>
      </p:cxnSp>
      <p:sp>
        <p:nvSpPr>
          <p:cNvPr id="80" name="StackTotal"/>
          <p:cNvSpPr txBox="1"/>
          <p:nvPr/>
        </p:nvSpPr>
        <p:spPr>
          <a:xfrm>
            <a:off x="2806023" y="3666361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6.4</a:t>
            </a:r>
          </a:p>
        </p:txBody>
      </p:sp>
      <p:sp>
        <p:nvSpPr>
          <p:cNvPr id="81" name="StackTotal"/>
          <p:cNvSpPr txBox="1"/>
          <p:nvPr/>
        </p:nvSpPr>
        <p:spPr>
          <a:xfrm>
            <a:off x="4172495" y="1972383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82" name="StackTotal"/>
          <p:cNvSpPr txBox="1"/>
          <p:nvPr/>
        </p:nvSpPr>
        <p:spPr>
          <a:xfrm>
            <a:off x="5538967" y="4116514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4.5</a:t>
            </a:r>
          </a:p>
        </p:txBody>
      </p:sp>
      <p:graphicFrame>
        <p:nvGraphicFramePr>
          <p:cNvPr id="110" name="ClassifierLedger"/>
          <p:cNvGraphicFramePr>
            <a:graphicFrameLocks noGrp="1"/>
          </p:cNvGraphicFramePr>
          <p:nvPr/>
        </p:nvGraphicFramePr>
        <p:xfrm>
          <a:off x="7535441" y="1671600"/>
          <a:ext cx="4200000" cy="29718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50000"/>
                <a:gridCol w="285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Award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Pull FFATA/FSRS subawards; collect visible supplier evidence (mix, not TAM).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PIID gate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 to yard construction PIIDs per program (BIW / Ingalls; GDEB); GFE chains drop out.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Entity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the operating entity paid (UEI), not the parent brand.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Role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Drop non-supplier / non-component roles from the addressable base.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Work-type assign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clean match wins one work-type home (vendor registry, NAICS-4).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 Residual discipline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unresolved dollars in the addressable base; residual dilutes named shares.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 Share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dollars over the addressable base set the modeled work-type and residual shares, per class and per FY; feeds the allocation step.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" name="MethodFindings"/>
          <p:cNvSpPr txBox="1"/>
          <p:nvPr/>
        </p:nvSpPr>
        <p:spPr>
          <a:xfrm>
            <a:off x="7535441" y="4923400"/>
            <a:ext cx="4200000" cy="946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classifier is entity-first and role-first.</a:t>
            </a:r>
          </a:p>
          <a:p>
            <a:pPr>
              <a:lnSpc>
                <a:spcPct val="115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window: FY2022–FY2025 yard subawards, per class.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unclassified award spend.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dollars stay in TAM but outside SAM: the hatched cap on each column's stack.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Annual TAM | After averaging $3.5B through FY2025, demand peaks at $5.5B in FY2024 and FY2026 and is expected to hold $4.3–5.7B a year through FY2031.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TAM by fiscal year and class (Virginia, Columbia, DDG-51), $B, constant FY2026 dollars: filled = outsourced, outlined = rest of that class's total ship spend. FY2022–FY2027 incl. OBBBA Sec. 20002; FY2028–FY2031 estimated (hatched range, dashed frames).</a:t>
            </a:r>
          </a:p>
        </p:txBody>
      </p:sp>
      <p:graphicFrame>
        <p:nvGraphicFramePr>
          <p:cNvPr id="20" name="OutsourcedBCAnnualTAMCluster"/>
          <p:cNvGraphicFramePr/>
          <p:nvPr/>
        </p:nvGraphicFramePr>
        <p:xfrm>
          <a:off x="453079" y="1700000"/>
          <a:ext cx="11282362" cy="24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LegendSwatch"/>
          <p:cNvSpPr txBox="1"/>
          <p:nvPr/>
        </p:nvSpPr>
        <p:spPr>
          <a:xfrm>
            <a:off x="960785" y="17333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LegendLabel"/>
          <p:cNvSpPr txBox="1"/>
          <p:nvPr/>
        </p:nvSpPr>
        <p:spPr>
          <a:xfrm>
            <a:off x="1200173" y="1666650"/>
            <a:ext cx="8060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</a:t>
            </a:r>
          </a:p>
        </p:txBody>
      </p:sp>
      <p:sp>
        <p:nvSpPr>
          <p:cNvPr id="52" name="LegendSwatch"/>
          <p:cNvSpPr txBox="1"/>
          <p:nvPr/>
        </p:nvSpPr>
        <p:spPr>
          <a:xfrm>
            <a:off x="2206173" y="1733325"/>
            <a:ext cx="179388" cy="13335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LegendLabel"/>
          <p:cNvSpPr txBox="1"/>
          <p:nvPr/>
        </p:nvSpPr>
        <p:spPr>
          <a:xfrm>
            <a:off x="2445561" y="1666650"/>
            <a:ext cx="8060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</a:t>
            </a:r>
          </a:p>
        </p:txBody>
      </p:sp>
      <p:sp>
        <p:nvSpPr>
          <p:cNvPr id="54" name="LegendSwatch"/>
          <p:cNvSpPr txBox="1"/>
          <p:nvPr/>
        </p:nvSpPr>
        <p:spPr>
          <a:xfrm>
            <a:off x="3451561" y="1733325"/>
            <a:ext cx="179388" cy="13335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5" name="LegendLabel"/>
          <p:cNvSpPr txBox="1"/>
          <p:nvPr/>
        </p:nvSpPr>
        <p:spPr>
          <a:xfrm>
            <a:off x="3690949" y="1666650"/>
            <a:ext cx="6155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sp>
        <p:nvSpPr>
          <p:cNvPr id="56" name="LegendSwatch"/>
          <p:cNvSpPr txBox="1"/>
          <p:nvPr/>
        </p:nvSpPr>
        <p:spPr>
          <a:xfrm>
            <a:off x="4506449" y="1733325"/>
            <a:ext cx="179388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7" name="LegendLabel"/>
          <p:cNvSpPr txBox="1"/>
          <p:nvPr/>
        </p:nvSpPr>
        <p:spPr>
          <a:xfrm>
            <a:off x="4745837" y="1666650"/>
            <a:ext cx="1091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spend</a:t>
            </a:r>
          </a:p>
        </p:txBody>
      </p:sp>
      <p:sp>
        <p:nvSpPr>
          <p:cNvPr id="58" name="LegendSwatchHatch"/>
          <p:cNvSpPr/>
          <p:nvPr/>
        </p:nvSpPr>
        <p:spPr>
          <a:xfrm>
            <a:off x="6037587" y="1733325"/>
            <a:ext cx="179388" cy="133350"/>
          </a:xfrm>
          <a:prstGeom prst="rect">
            <a:avLst/>
          </a:prstGeom>
          <a:pattFill prst="ltUpDiag">
            <a:fgClr>
              <a:srgbClr val="486D82"/>
            </a:fgClr>
            <a:bgClr>
              <a:srgbClr val="FFFFFF"/>
            </a:bgClr>
          </a:pattFill>
          <a:ln w="6350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LegendLabel"/>
          <p:cNvSpPr txBox="1"/>
          <p:nvPr/>
        </p:nvSpPr>
        <p:spPr>
          <a:xfrm>
            <a:off x="6276975" y="1666650"/>
            <a:ext cx="1282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 to high</a:t>
            </a:r>
          </a:p>
        </p:txBody>
      </p:sp>
      <p:sp>
        <p:nvSpPr>
          <p:cNvPr id="160" name="FyLabel"/>
          <p:cNvSpPr txBox="1"/>
          <p:nvPr/>
        </p:nvSpPr>
        <p:spPr>
          <a:xfrm>
            <a:off x="1020855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</a:t>
            </a:r>
          </a:p>
        </p:txBody>
      </p:sp>
      <p:sp>
        <p:nvSpPr>
          <p:cNvPr id="161" name="FyLabel"/>
          <p:cNvSpPr txBox="1"/>
          <p:nvPr/>
        </p:nvSpPr>
        <p:spPr>
          <a:xfrm>
            <a:off x="2114376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FY2023</a:t>
            </a:r>
          </a:p>
        </p:txBody>
      </p:sp>
      <p:sp>
        <p:nvSpPr>
          <p:cNvPr id="162" name="FyLabel"/>
          <p:cNvSpPr txBox="1"/>
          <p:nvPr/>
        </p:nvSpPr>
        <p:spPr>
          <a:xfrm>
            <a:off x="3207897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</a:t>
            </a:r>
          </a:p>
        </p:txBody>
      </p:sp>
      <p:sp>
        <p:nvSpPr>
          <p:cNvPr id="163" name="FyLabel"/>
          <p:cNvSpPr txBox="1"/>
          <p:nvPr/>
        </p:nvSpPr>
        <p:spPr>
          <a:xfrm>
            <a:off x="4301419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FY2025</a:t>
            </a:r>
          </a:p>
        </p:txBody>
      </p:sp>
      <p:sp>
        <p:nvSpPr>
          <p:cNvPr id="164" name="FyLabel"/>
          <p:cNvSpPr txBox="1"/>
          <p:nvPr/>
        </p:nvSpPr>
        <p:spPr>
          <a:xfrm>
            <a:off x="5394940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FY2026</a:t>
            </a:r>
          </a:p>
        </p:txBody>
      </p:sp>
      <p:sp>
        <p:nvSpPr>
          <p:cNvPr id="165" name="FyLabel"/>
          <p:cNvSpPr txBox="1"/>
          <p:nvPr/>
        </p:nvSpPr>
        <p:spPr>
          <a:xfrm>
            <a:off x="6488461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FY2027</a:t>
            </a:r>
          </a:p>
        </p:txBody>
      </p:sp>
      <p:sp>
        <p:nvSpPr>
          <p:cNvPr id="166" name="FyLabel"/>
          <p:cNvSpPr txBox="1"/>
          <p:nvPr/>
        </p:nvSpPr>
        <p:spPr>
          <a:xfrm>
            <a:off x="7581982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FY2028</a:t>
            </a:r>
          </a:p>
        </p:txBody>
      </p:sp>
      <p:sp>
        <p:nvSpPr>
          <p:cNvPr id="167" name="FyLabel"/>
          <p:cNvSpPr txBox="1"/>
          <p:nvPr/>
        </p:nvSpPr>
        <p:spPr>
          <a:xfrm>
            <a:off x="8675504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FY2029</a:t>
            </a:r>
          </a:p>
        </p:txBody>
      </p:sp>
      <p:sp>
        <p:nvSpPr>
          <p:cNvPr id="168" name="FyLabel"/>
          <p:cNvSpPr txBox="1"/>
          <p:nvPr/>
        </p:nvSpPr>
        <p:spPr>
          <a:xfrm>
            <a:off x="9769025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FY2030</a:t>
            </a:r>
          </a:p>
        </p:txBody>
      </p:sp>
      <p:sp>
        <p:nvSpPr>
          <p:cNvPr id="169" name="FyLabel"/>
          <p:cNvSpPr txBox="1"/>
          <p:nvPr/>
        </p:nvSpPr>
        <p:spPr>
          <a:xfrm>
            <a:off x="10862546" y="4030000"/>
            <a:ext cx="7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FY2031</a:t>
            </a:r>
          </a:p>
        </p:txBody>
      </p:sp>
      <p:sp>
        <p:nvSpPr>
          <p:cNvPr id="200" name="FillLabel"/>
          <p:cNvSpPr txBox="1"/>
          <p:nvPr/>
        </p:nvSpPr>
        <p:spPr>
          <a:xfrm>
            <a:off x="817475" y="357146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201" name="RemLabel"/>
          <p:cNvSpPr txBox="1"/>
          <p:nvPr/>
        </p:nvSpPr>
        <p:spPr>
          <a:xfrm>
            <a:off x="817475" y="281707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5.8</a:t>
            </a:r>
          </a:p>
        </p:txBody>
      </p:sp>
      <p:sp>
        <p:nvSpPr>
          <p:cNvPr id="202" name="DenTotal"/>
          <p:cNvSpPr txBox="1"/>
          <p:nvPr/>
        </p:nvSpPr>
        <p:spPr>
          <a:xfrm>
            <a:off x="817475" y="258307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7.6</a:t>
            </a:r>
          </a:p>
        </p:txBody>
      </p:sp>
      <p:sp>
        <p:nvSpPr>
          <p:cNvPr id="206" name="FillLabel"/>
          <p:cNvSpPr txBox="1"/>
          <p:nvPr/>
        </p:nvSpPr>
        <p:spPr>
          <a:xfrm>
            <a:off x="1364235" y="377905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07" name="RemLabel"/>
          <p:cNvSpPr txBox="1"/>
          <p:nvPr/>
        </p:nvSpPr>
        <p:spPr>
          <a:xfrm>
            <a:off x="1364235" y="3314286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4.0</a:t>
            </a:r>
          </a:p>
        </p:txBody>
      </p:sp>
      <p:sp>
        <p:nvSpPr>
          <p:cNvPr id="208" name="DenTotal"/>
          <p:cNvSpPr txBox="1"/>
          <p:nvPr/>
        </p:nvSpPr>
        <p:spPr>
          <a:xfrm>
            <a:off x="1364235" y="3080286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4.5</a:t>
            </a:r>
          </a:p>
        </p:txBody>
      </p:sp>
      <p:sp>
        <p:nvSpPr>
          <p:cNvPr id="209" name="FillLabel"/>
          <p:cNvSpPr txBox="1"/>
          <p:nvPr/>
        </p:nvSpPr>
        <p:spPr>
          <a:xfrm>
            <a:off x="1910996" y="355969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</a:t>
            </a:r>
          </a:p>
        </p:txBody>
      </p:sp>
      <p:sp>
        <p:nvSpPr>
          <p:cNvPr id="210" name="RemLabel"/>
          <p:cNvSpPr txBox="1"/>
          <p:nvPr/>
        </p:nvSpPr>
        <p:spPr>
          <a:xfrm>
            <a:off x="1910996" y="2793236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5.9</a:t>
            </a:r>
          </a:p>
        </p:txBody>
      </p:sp>
      <p:sp>
        <p:nvSpPr>
          <p:cNvPr id="211" name="DenTotal"/>
          <p:cNvSpPr txBox="1"/>
          <p:nvPr/>
        </p:nvSpPr>
        <p:spPr>
          <a:xfrm>
            <a:off x="1910996" y="2559236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7.8</a:t>
            </a:r>
          </a:p>
        </p:txBody>
      </p:sp>
      <p:sp>
        <p:nvSpPr>
          <p:cNvPr id="215" name="FillLabel"/>
          <p:cNvSpPr txBox="1"/>
          <p:nvPr/>
        </p:nvSpPr>
        <p:spPr>
          <a:xfrm>
            <a:off x="2457757" y="3658250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216" name="RemLabel"/>
          <p:cNvSpPr txBox="1"/>
          <p:nvPr/>
        </p:nvSpPr>
        <p:spPr>
          <a:xfrm>
            <a:off x="2457757" y="267433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7.3</a:t>
            </a:r>
          </a:p>
        </p:txBody>
      </p:sp>
      <p:sp>
        <p:nvSpPr>
          <p:cNvPr id="217" name="DenTotal"/>
          <p:cNvSpPr txBox="1"/>
          <p:nvPr/>
        </p:nvSpPr>
        <p:spPr>
          <a:xfrm>
            <a:off x="2457757" y="2440338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8.5</a:t>
            </a:r>
          </a:p>
        </p:txBody>
      </p:sp>
      <p:sp>
        <p:nvSpPr>
          <p:cNvPr id="218" name="FillLabel"/>
          <p:cNvSpPr txBox="1"/>
          <p:nvPr/>
        </p:nvSpPr>
        <p:spPr>
          <a:xfrm>
            <a:off x="3004517" y="334463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3.2</a:t>
            </a:r>
          </a:p>
        </p:txBody>
      </p:sp>
      <p:sp>
        <p:nvSpPr>
          <p:cNvPr id="219" name="RemLabel"/>
          <p:cNvSpPr txBox="1"/>
          <p:nvPr/>
        </p:nvSpPr>
        <p:spPr>
          <a:xfrm>
            <a:off x="3004517" y="214565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8.6</a:t>
            </a:r>
          </a:p>
        </p:txBody>
      </p:sp>
      <p:sp>
        <p:nvSpPr>
          <p:cNvPr id="220" name="DenTotal"/>
          <p:cNvSpPr txBox="1"/>
          <p:nvPr/>
        </p:nvSpPr>
        <p:spPr>
          <a:xfrm>
            <a:off x="3004517" y="1911658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11.8</a:t>
            </a:r>
          </a:p>
        </p:txBody>
      </p:sp>
      <p:sp>
        <p:nvSpPr>
          <p:cNvPr id="221" name="FillLabel"/>
          <p:cNvSpPr txBox="1"/>
          <p:nvPr/>
        </p:nvSpPr>
        <p:spPr>
          <a:xfrm>
            <a:off x="3277897" y="362328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222" name="RemLabel"/>
          <p:cNvSpPr txBox="1"/>
          <p:nvPr/>
        </p:nvSpPr>
        <p:spPr>
          <a:xfrm>
            <a:off x="3277897" y="225946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223" name="DenTotal"/>
          <p:cNvSpPr txBox="1"/>
          <p:nvPr/>
        </p:nvSpPr>
        <p:spPr>
          <a:xfrm>
            <a:off x="3277897" y="202546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11.1</a:t>
            </a:r>
          </a:p>
        </p:txBody>
      </p:sp>
      <p:sp>
        <p:nvSpPr>
          <p:cNvPr id="224" name="FillLabel"/>
          <p:cNvSpPr txBox="1"/>
          <p:nvPr/>
        </p:nvSpPr>
        <p:spPr>
          <a:xfrm>
            <a:off x="3551278" y="3715474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</a:t>
            </a:r>
          </a:p>
        </p:txBody>
      </p:sp>
      <p:sp>
        <p:nvSpPr>
          <p:cNvPr id="225" name="RemLabel"/>
          <p:cNvSpPr txBox="1"/>
          <p:nvPr/>
        </p:nvSpPr>
        <p:spPr>
          <a:xfrm>
            <a:off x="3551278" y="311845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4.8</a:t>
            </a:r>
          </a:p>
        </p:txBody>
      </p:sp>
      <p:sp>
        <p:nvSpPr>
          <p:cNvPr id="226" name="DenTotal"/>
          <p:cNvSpPr txBox="1"/>
          <p:nvPr/>
        </p:nvSpPr>
        <p:spPr>
          <a:xfrm>
            <a:off x="3551278" y="2884455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27" name="FillLabel"/>
          <p:cNvSpPr txBox="1"/>
          <p:nvPr/>
        </p:nvSpPr>
        <p:spPr>
          <a:xfrm>
            <a:off x="4098038" y="356081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228" name="RemLabel"/>
          <p:cNvSpPr txBox="1"/>
          <p:nvPr/>
        </p:nvSpPr>
        <p:spPr>
          <a:xfrm>
            <a:off x="4098038" y="2486137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7.8</a:t>
            </a:r>
          </a:p>
        </p:txBody>
      </p:sp>
      <p:sp>
        <p:nvSpPr>
          <p:cNvPr id="229" name="DenTotal"/>
          <p:cNvSpPr txBox="1"/>
          <p:nvPr/>
        </p:nvSpPr>
        <p:spPr>
          <a:xfrm>
            <a:off x="4098038" y="2252137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233" name="FillLabel"/>
          <p:cNvSpPr txBox="1"/>
          <p:nvPr/>
        </p:nvSpPr>
        <p:spPr>
          <a:xfrm>
            <a:off x="4644799" y="3657933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234" name="RemLabel"/>
          <p:cNvSpPr txBox="1"/>
          <p:nvPr/>
        </p:nvSpPr>
        <p:spPr>
          <a:xfrm>
            <a:off x="4644799" y="275222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6.8</a:t>
            </a:r>
          </a:p>
        </p:txBody>
      </p:sp>
      <p:sp>
        <p:nvSpPr>
          <p:cNvPr id="235" name="DenTotal"/>
          <p:cNvSpPr txBox="1"/>
          <p:nvPr/>
        </p:nvSpPr>
        <p:spPr>
          <a:xfrm>
            <a:off x="4644799" y="2518225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8.0</a:t>
            </a:r>
          </a:p>
        </p:txBody>
      </p:sp>
      <p:sp>
        <p:nvSpPr>
          <p:cNvPr id="236" name="FillLabel"/>
          <p:cNvSpPr txBox="1"/>
          <p:nvPr/>
        </p:nvSpPr>
        <p:spPr>
          <a:xfrm>
            <a:off x="5191560" y="354014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237" name="RemLabel"/>
          <p:cNvSpPr txBox="1"/>
          <p:nvPr/>
        </p:nvSpPr>
        <p:spPr>
          <a:xfrm>
            <a:off x="5191560" y="2438610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8.0</a:t>
            </a:r>
          </a:p>
        </p:txBody>
      </p:sp>
      <p:sp>
        <p:nvSpPr>
          <p:cNvPr id="238" name="DenTotal"/>
          <p:cNvSpPr txBox="1"/>
          <p:nvPr/>
        </p:nvSpPr>
        <p:spPr>
          <a:xfrm>
            <a:off x="5191560" y="2204610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10.0</a:t>
            </a:r>
          </a:p>
        </p:txBody>
      </p:sp>
      <p:sp>
        <p:nvSpPr>
          <p:cNvPr id="239" name="FillLabel"/>
          <p:cNvSpPr txBox="1"/>
          <p:nvPr/>
        </p:nvSpPr>
        <p:spPr>
          <a:xfrm>
            <a:off x="5464940" y="3604047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</a:t>
            </a:r>
          </a:p>
        </p:txBody>
      </p:sp>
      <p:sp>
        <p:nvSpPr>
          <p:cNvPr id="240" name="RemLabel"/>
          <p:cNvSpPr txBox="1"/>
          <p:nvPr/>
        </p:nvSpPr>
        <p:spPr>
          <a:xfrm>
            <a:off x="5464940" y="231859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9.2</a:t>
            </a:r>
          </a:p>
        </p:txBody>
      </p:sp>
      <p:sp>
        <p:nvSpPr>
          <p:cNvPr id="241" name="DenTotal"/>
          <p:cNvSpPr txBox="1"/>
          <p:nvPr/>
        </p:nvSpPr>
        <p:spPr>
          <a:xfrm>
            <a:off x="5464940" y="208459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10.7</a:t>
            </a:r>
          </a:p>
        </p:txBody>
      </p:sp>
      <p:sp>
        <p:nvSpPr>
          <p:cNvPr id="242" name="FillLabel"/>
          <p:cNvSpPr txBox="1"/>
          <p:nvPr/>
        </p:nvSpPr>
        <p:spPr>
          <a:xfrm>
            <a:off x="5738320" y="354777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</a:t>
            </a:r>
          </a:p>
        </p:txBody>
      </p:sp>
      <p:sp>
        <p:nvSpPr>
          <p:cNvPr id="243" name="RemLabel"/>
          <p:cNvSpPr txBox="1"/>
          <p:nvPr/>
        </p:nvSpPr>
        <p:spPr>
          <a:xfrm>
            <a:off x="5738320" y="311940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3.8</a:t>
            </a:r>
          </a:p>
        </p:txBody>
      </p:sp>
      <p:sp>
        <p:nvSpPr>
          <p:cNvPr id="244" name="DenTotal"/>
          <p:cNvSpPr txBox="1"/>
          <p:nvPr/>
        </p:nvSpPr>
        <p:spPr>
          <a:xfrm>
            <a:off x="5738320" y="2885409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45" name="FillLabel"/>
          <p:cNvSpPr txBox="1"/>
          <p:nvPr/>
        </p:nvSpPr>
        <p:spPr>
          <a:xfrm>
            <a:off x="6285081" y="338357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3.0</a:t>
            </a:r>
          </a:p>
        </p:txBody>
      </p:sp>
      <p:sp>
        <p:nvSpPr>
          <p:cNvPr id="246" name="RemLabel"/>
          <p:cNvSpPr txBox="1"/>
          <p:nvPr/>
        </p:nvSpPr>
        <p:spPr>
          <a:xfrm>
            <a:off x="6285081" y="224484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8.2</a:t>
            </a:r>
          </a:p>
        </p:txBody>
      </p:sp>
      <p:sp>
        <p:nvSpPr>
          <p:cNvPr id="247" name="DenTotal"/>
          <p:cNvSpPr txBox="1"/>
          <p:nvPr/>
        </p:nvSpPr>
        <p:spPr>
          <a:xfrm>
            <a:off x="6285081" y="2010845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11.2</a:t>
            </a:r>
          </a:p>
        </p:txBody>
      </p:sp>
      <p:sp>
        <p:nvSpPr>
          <p:cNvPr id="248" name="FillLabel"/>
          <p:cNvSpPr txBox="1"/>
          <p:nvPr/>
        </p:nvSpPr>
        <p:spPr>
          <a:xfrm>
            <a:off x="6558461" y="3619466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249" name="RemLabel"/>
          <p:cNvSpPr txBox="1"/>
          <p:nvPr/>
        </p:nvSpPr>
        <p:spPr>
          <a:xfrm>
            <a:off x="6558461" y="239283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8.8</a:t>
            </a:r>
          </a:p>
        </p:txBody>
      </p:sp>
      <p:sp>
        <p:nvSpPr>
          <p:cNvPr id="250" name="DenTotal"/>
          <p:cNvSpPr txBox="1"/>
          <p:nvPr/>
        </p:nvSpPr>
        <p:spPr>
          <a:xfrm>
            <a:off x="6558461" y="2158831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10.3</a:t>
            </a:r>
          </a:p>
        </p:txBody>
      </p:sp>
      <p:sp>
        <p:nvSpPr>
          <p:cNvPr id="251" name="FillLabel"/>
          <p:cNvSpPr txBox="1"/>
          <p:nvPr/>
        </p:nvSpPr>
        <p:spPr>
          <a:xfrm>
            <a:off x="6831841" y="3747265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</a:t>
            </a:r>
          </a:p>
        </p:txBody>
      </p:sp>
      <p:sp>
        <p:nvSpPr>
          <p:cNvPr id="252" name="RemLabel"/>
          <p:cNvSpPr txBox="1"/>
          <p:nvPr/>
        </p:nvSpPr>
        <p:spPr>
          <a:xfrm>
            <a:off x="6831841" y="3363244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sp>
        <p:nvSpPr>
          <p:cNvPr id="253" name="DenTotal"/>
          <p:cNvSpPr txBox="1"/>
          <p:nvPr/>
        </p:nvSpPr>
        <p:spPr>
          <a:xfrm>
            <a:off x="6831841" y="3129244"/>
            <a:ext cx="56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4.2</a:t>
            </a:r>
          </a:p>
        </p:txBody>
      </p:sp>
      <p:sp>
        <p:nvSpPr>
          <p:cNvPr id="254" name="EstLabel"/>
          <p:cNvSpPr txBox="1"/>
          <p:nvPr/>
        </p:nvSpPr>
        <p:spPr>
          <a:xfrm>
            <a:off x="7378602" y="3321150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2.6–3.3</a:t>
            </a:r>
          </a:p>
        </p:txBody>
      </p:sp>
      <p:sp>
        <p:nvSpPr>
          <p:cNvPr id="255" name="EstLabel"/>
          <p:cNvSpPr txBox="1"/>
          <p:nvPr/>
        </p:nvSpPr>
        <p:spPr>
          <a:xfrm>
            <a:off x="7651982" y="358533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1.3–1.7</a:t>
            </a:r>
          </a:p>
        </p:txBody>
      </p:sp>
      <p:sp>
        <p:nvSpPr>
          <p:cNvPr id="256" name="EstLabel"/>
          <p:cNvSpPr txBox="1"/>
          <p:nvPr/>
        </p:nvSpPr>
        <p:spPr>
          <a:xfrm>
            <a:off x="7925363" y="373427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0.6–0.7</a:t>
            </a:r>
          </a:p>
        </p:txBody>
      </p:sp>
      <p:sp>
        <p:nvSpPr>
          <p:cNvPr id="257" name="EstLabel"/>
          <p:cNvSpPr txBox="1"/>
          <p:nvPr/>
        </p:nvSpPr>
        <p:spPr>
          <a:xfrm>
            <a:off x="8472123" y="3340701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2.5–3.2</a:t>
            </a:r>
          </a:p>
        </p:txBody>
      </p:sp>
      <p:sp>
        <p:nvSpPr>
          <p:cNvPr id="258" name="EstLabel"/>
          <p:cNvSpPr txBox="1"/>
          <p:nvPr/>
        </p:nvSpPr>
        <p:spPr>
          <a:xfrm>
            <a:off x="8745504" y="358517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1.3–1.7</a:t>
            </a:r>
          </a:p>
        </p:txBody>
      </p:sp>
      <p:sp>
        <p:nvSpPr>
          <p:cNvPr id="259" name="EstLabel"/>
          <p:cNvSpPr txBox="1"/>
          <p:nvPr/>
        </p:nvSpPr>
        <p:spPr>
          <a:xfrm>
            <a:off x="9018884" y="373156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0.6–0.7</a:t>
            </a:r>
          </a:p>
        </p:txBody>
      </p:sp>
      <p:sp>
        <p:nvSpPr>
          <p:cNvPr id="260" name="EstLabel"/>
          <p:cNvSpPr txBox="1"/>
          <p:nvPr/>
        </p:nvSpPr>
        <p:spPr>
          <a:xfrm>
            <a:off x="9565645" y="3391884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2.2–2.9</a:t>
            </a:r>
          </a:p>
        </p:txBody>
      </p:sp>
      <p:sp>
        <p:nvSpPr>
          <p:cNvPr id="261" name="EstLabel"/>
          <p:cNvSpPr txBox="1"/>
          <p:nvPr/>
        </p:nvSpPr>
        <p:spPr>
          <a:xfrm>
            <a:off x="9839025" y="3588669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1.3–1.6</a:t>
            </a:r>
          </a:p>
        </p:txBody>
      </p:sp>
      <p:sp>
        <p:nvSpPr>
          <p:cNvPr id="262" name="EstLabel"/>
          <p:cNvSpPr txBox="1"/>
          <p:nvPr/>
        </p:nvSpPr>
        <p:spPr>
          <a:xfrm>
            <a:off x="10112405" y="3668623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0.9–1.1</a:t>
            </a:r>
          </a:p>
        </p:txBody>
      </p:sp>
      <p:sp>
        <p:nvSpPr>
          <p:cNvPr id="263" name="EstLabel"/>
          <p:cNvSpPr txBox="1"/>
          <p:nvPr/>
        </p:nvSpPr>
        <p:spPr>
          <a:xfrm>
            <a:off x="10659166" y="3384413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2.2–2.9</a:t>
            </a:r>
          </a:p>
        </p:txBody>
      </p:sp>
      <p:sp>
        <p:nvSpPr>
          <p:cNvPr id="264" name="EstLabel"/>
          <p:cNvSpPr txBox="1"/>
          <p:nvPr/>
        </p:nvSpPr>
        <p:spPr>
          <a:xfrm>
            <a:off x="10932546" y="3588192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1.3–1.6</a:t>
            </a:r>
          </a:p>
        </p:txBody>
      </p:sp>
      <p:sp>
        <p:nvSpPr>
          <p:cNvPr id="265" name="EstLabel"/>
          <p:cNvSpPr txBox="1"/>
          <p:nvPr/>
        </p:nvSpPr>
        <p:spPr>
          <a:xfrm>
            <a:off x="11205926" y="3663218"/>
            <a:ext cx="56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0.9–1.2</a:t>
            </a:r>
          </a:p>
        </p:txBody>
      </p:sp>
      <p:cxnSp>
        <p:nvCxnSpPr>
          <p:cNvPr id="80" name="BandRule"/>
          <p:cNvCxnSpPr/>
          <p:nvPr/>
        </p:nvCxnSpPr>
        <p:spPr>
          <a:xfrm>
            <a:off x="6291701" y="1946000"/>
            <a:ext cx="0" cy="392400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81" name="BandLabel"/>
          <p:cNvSpPr txBox="1"/>
          <p:nvPr/>
        </p:nvSpPr>
        <p:spPr>
          <a:xfrm>
            <a:off x="3051243" y="1972000"/>
            <a:ext cx="1150000" cy="2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</a:t>
            </a:r>
          </a:p>
        </p:txBody>
      </p:sp>
      <p:sp>
        <p:nvSpPr>
          <p:cNvPr id="82" name="BandLabel"/>
          <p:cNvSpPr txBox="1"/>
          <p:nvPr/>
        </p:nvSpPr>
        <p:spPr>
          <a:xfrm>
            <a:off x="8382159" y="1972000"/>
            <a:ext cx="1150000" cy="2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Forecasted</a:t>
            </a:r>
          </a:p>
        </p:txBody>
      </p:sp>
      <p:cxnSp>
        <p:nvCxnSpPr>
          <p:cNvPr id="84" name="AvgLine"/>
          <p:cNvCxnSpPr/>
          <p:nvPr/>
        </p:nvCxnSpPr>
        <p:spPr>
          <a:xfrm>
            <a:off x="960785" y="3457651"/>
            <a:ext cx="10661832" cy="0"/>
          </a:xfrm>
          <a:prstGeom prst="line">
            <a:avLst/>
          </a:prstGeom>
          <a:ln w="9525">
            <a:solidFill>
              <a:srgbClr val="162029"/>
            </a:solidFill>
            <a:prstDash val="dash"/>
          </a:ln>
        </p:spPr>
      </p:cxnSp>
      <p:sp>
        <p:nvSpPr>
          <p:cNvPr id="85" name="AvgLabel"/>
          <p:cNvSpPr txBox="1"/>
          <p:nvPr/>
        </p:nvSpPr>
        <p:spPr>
          <a:xfrm>
            <a:off x="1000785" y="3257651"/>
            <a:ext cx="21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FY22–25 avg (combined): 3.5</a:t>
            </a:r>
          </a:p>
        </p:txBody>
      </p:sp>
      <p:sp>
        <p:nvSpPr>
          <p:cNvPr id="86" name="EstFrame"/>
          <p:cNvSpPr txBox="1"/>
          <p:nvPr/>
        </p:nvSpPr>
        <p:spPr>
          <a:xfrm>
            <a:off x="7527456" y="3459150"/>
            <a:ext cx="809053" cy="579250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7" name="EstFrame"/>
          <p:cNvSpPr txBox="1"/>
          <p:nvPr/>
        </p:nvSpPr>
        <p:spPr>
          <a:xfrm>
            <a:off x="8620977" y="3478701"/>
            <a:ext cx="809053" cy="559699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8" name="EstFrame"/>
          <p:cNvSpPr txBox="1"/>
          <p:nvPr/>
        </p:nvSpPr>
        <p:spPr>
          <a:xfrm>
            <a:off x="9714499" y="3529884"/>
            <a:ext cx="809052" cy="508516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9" name="EstFrame"/>
          <p:cNvSpPr txBox="1"/>
          <p:nvPr/>
        </p:nvSpPr>
        <p:spPr>
          <a:xfrm>
            <a:off x="10808020" y="3522413"/>
            <a:ext cx="809052" cy="515987"/>
          </a:xfrm>
          <a:prstGeom prst="rect">
            <a:avLst/>
          </a:prstGeom>
          <a:noFill/>
          <a:ln w="9525">
            <a:solidFill>
              <a:srgbClr val="162029"/>
            </a:solidFill>
            <a:prstDash val="dash"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90" name="StripLabel"/>
          <p:cNvSpPr txBox="1"/>
          <p:nvPr/>
        </p:nvSpPr>
        <p:spPr>
          <a:xfrm>
            <a:off x="453079" y="4162500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%</a:t>
            </a:r>
          </a:p>
        </p:txBody>
      </p:sp>
      <p:sp>
        <p:nvSpPr>
          <p:cNvPr id="91" name="PenOval"/>
          <p:cNvSpPr txBox="1"/>
          <p:nvPr/>
        </p:nvSpPr>
        <p:spPr>
          <a:xfrm>
            <a:off x="1110855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92" name="PenOval"/>
          <p:cNvSpPr txBox="1"/>
          <p:nvPr/>
        </p:nvSpPr>
        <p:spPr>
          <a:xfrm>
            <a:off x="2204376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93" name="PenOval"/>
          <p:cNvSpPr txBox="1"/>
          <p:nvPr/>
        </p:nvSpPr>
        <p:spPr>
          <a:xfrm>
            <a:off x="3297897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94" name="PenOval"/>
          <p:cNvSpPr txBox="1"/>
          <p:nvPr/>
        </p:nvSpPr>
        <p:spPr>
          <a:xfrm>
            <a:off x="4391419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95" name="PenOval"/>
          <p:cNvSpPr txBox="1"/>
          <p:nvPr/>
        </p:nvSpPr>
        <p:spPr>
          <a:xfrm>
            <a:off x="5484940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96" name="PenOval"/>
          <p:cNvSpPr txBox="1"/>
          <p:nvPr/>
        </p:nvSpPr>
        <p:spPr>
          <a:xfrm>
            <a:off x="6578461" y="418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26%</a:t>
            </a:r>
          </a:p>
        </p:txBody>
      </p:sp>
      <p:sp>
        <p:nvSpPr>
          <p:cNvPr id="97" name="PenPillRange"/>
          <p:cNvSpPr txBox="1"/>
          <p:nvPr/>
        </p:nvSpPr>
        <p:spPr>
          <a:xfrm>
            <a:off x="7551982" y="4185000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24–31% (assumed)</a:t>
            </a:r>
          </a:p>
        </p:txBody>
      </p:sp>
      <p:sp>
        <p:nvSpPr>
          <p:cNvPr id="98" name="StripLabel"/>
          <p:cNvSpPr txBox="1"/>
          <p:nvPr/>
        </p:nvSpPr>
        <p:spPr>
          <a:xfrm>
            <a:off x="453079" y="4397500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%</a:t>
            </a:r>
          </a:p>
        </p:txBody>
      </p:sp>
      <p:sp>
        <p:nvSpPr>
          <p:cNvPr id="101" name="PenOval"/>
          <p:cNvSpPr txBox="1"/>
          <p:nvPr/>
        </p:nvSpPr>
        <p:spPr>
          <a:xfrm>
            <a:off x="3297897" y="4420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103" name="PenOval"/>
          <p:cNvSpPr txBox="1"/>
          <p:nvPr/>
        </p:nvSpPr>
        <p:spPr>
          <a:xfrm>
            <a:off x="5484940" y="4420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04" name="PenOval"/>
          <p:cNvSpPr txBox="1"/>
          <p:nvPr/>
        </p:nvSpPr>
        <p:spPr>
          <a:xfrm>
            <a:off x="6578461" y="4420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105" name="PenPillRange"/>
          <p:cNvSpPr txBox="1"/>
          <p:nvPr/>
        </p:nvSpPr>
        <p:spPr>
          <a:xfrm>
            <a:off x="7551982" y="4420000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13–17% (assumed)</a:t>
            </a:r>
          </a:p>
        </p:txBody>
      </p:sp>
      <p:sp>
        <p:nvSpPr>
          <p:cNvPr id="106" name="StripLabel"/>
          <p:cNvSpPr txBox="1"/>
          <p:nvPr/>
        </p:nvSpPr>
        <p:spPr>
          <a:xfrm>
            <a:off x="453079" y="4632500"/>
            <a:ext cx="976921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DDG-51 %</a:t>
            </a:r>
          </a:p>
        </p:txBody>
      </p:sp>
      <p:sp>
        <p:nvSpPr>
          <p:cNvPr id="107" name="PenOval"/>
          <p:cNvSpPr txBox="1"/>
          <p:nvPr/>
        </p:nvSpPr>
        <p:spPr>
          <a:xfrm>
            <a:off x="1110855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11%</a:t>
            </a:r>
          </a:p>
        </p:txBody>
      </p:sp>
      <p:sp>
        <p:nvSpPr>
          <p:cNvPr id="108" name="PenOval"/>
          <p:cNvSpPr txBox="1"/>
          <p:nvPr/>
        </p:nvSpPr>
        <p:spPr>
          <a:xfrm>
            <a:off x="2204376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09" name="PenOval"/>
          <p:cNvSpPr txBox="1"/>
          <p:nvPr/>
        </p:nvSpPr>
        <p:spPr>
          <a:xfrm>
            <a:off x="3297897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10" name="PenOval"/>
          <p:cNvSpPr txBox="1"/>
          <p:nvPr/>
        </p:nvSpPr>
        <p:spPr>
          <a:xfrm>
            <a:off x="4391419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11" name="PenOval"/>
          <p:cNvSpPr txBox="1"/>
          <p:nvPr/>
        </p:nvSpPr>
        <p:spPr>
          <a:xfrm>
            <a:off x="5484940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112" name="PenOval"/>
          <p:cNvSpPr txBox="1"/>
          <p:nvPr/>
        </p:nvSpPr>
        <p:spPr>
          <a:xfrm>
            <a:off x="6578461" y="4655000"/>
            <a:ext cx="520000" cy="17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113" name="PenPillRange"/>
          <p:cNvSpPr txBox="1"/>
          <p:nvPr/>
        </p:nvSpPr>
        <p:spPr>
          <a:xfrm>
            <a:off x="7551982" y="4655000"/>
            <a:ext cx="4010635" cy="175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14–19% (assumed)</a:t>
            </a:r>
          </a:p>
        </p:txBody>
      </p:sp>
      <p:graphicFrame>
        <p:nvGraphicFramePr>
          <p:cNvPr id="30" name="BandCommentary"/>
          <p:cNvGraphicFramePr>
            <a:graphicFrameLocks noGrp="1"/>
          </p:cNvGraphicFramePr>
          <p:nvPr/>
        </p:nvGraphicFramePr>
        <p:xfrm>
          <a:off x="453079" y="4900000"/>
          <a:ext cx="11282362" cy="97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80000"/>
                <a:gridCol w="4558622"/>
                <a:gridCol w="5443740"/>
              </a:tblGrid>
              <a:tr h="39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Columbia funds biennially (FY24/26 in window). Virginia outsources ~24%, Columbia ~13%.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FYDP gross holds ~$19–21B a year (1 Columbia + 2 Virginias from 2028); capacity requires “strategically outsourcing workload to qualified suppliers” (PB27 SCN, Columbia P-10).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Outsourced 11–15%; FY2026 reads 34% on the OBBBA two-ship add plus EOQ AP/LLTM.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FYDP gross $3.9–6.3B a year (two-ship buys FY30–31); upper bound reflects stated intent to grow outsourced manhours ~30%.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Penetration 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Measured per FY and per class: outsourced BC TAM / total ship spend (constant FY2026 $).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Lower bound = FY22–25 class average; upper bound = lower x 1.30 (stated outsourcing intent).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EOQ). FY28–31 = PB27 FYDP gross × penetration per class; low = FY22–25 average, high = low × 1.30 (stated outsourcing intent); constant FY26 $.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Outsourced BC Annual TAM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Outsourced Basic Construction Spend by Work Type | Machining leads every DDG-51 year; the submarine mix shifts year to year with award timing.</a:t>
            </a:r>
          </a:p>
        </p:txBody>
      </p:sp>
      <p:sp>
        <p:nvSpPr>
          <p:cNvPr id="10" name="ExhibitHeader"/>
          <p:cNvSpPr txBox="1"/>
          <p:nvPr/>
        </p:nvSpPr>
        <p:spPr>
          <a:xfrm>
            <a:off x="453079" y="1371600"/>
            <a:ext cx="11282362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Outsourced Basic Construction TAM by Work Type ($B per year, FY22–FY25, FY26 $; segment labels = share of year)</a:t>
            </a:r>
          </a:p>
        </p:txBody>
      </p:sp>
      <p:cxnSp>
        <p:nvCxnSpPr>
          <p:cNvPr id="11" name="ExhibitHeaderRule"/>
          <p:cNvCxnSpPr/>
          <p:nvPr/>
        </p:nvCxnSpPr>
        <p:spPr>
          <a:xfrm>
            <a:off x="453079" y="1611600"/>
            <a:ext cx="1128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30" name="KeySwatch"/>
          <p:cNvSpPr txBox="1"/>
          <p:nvPr/>
        </p:nvSpPr>
        <p:spPr>
          <a:xfrm>
            <a:off x="453079" y="1714100"/>
            <a:ext cx="120000" cy="12000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KeyLabel"/>
          <p:cNvSpPr txBox="1"/>
          <p:nvPr/>
        </p:nvSpPr>
        <p:spPr>
          <a:xfrm>
            <a:off x="63307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</a:p>
        </p:txBody>
      </p:sp>
      <p:sp>
        <p:nvSpPr>
          <p:cNvPr id="32" name="KeySwatch"/>
          <p:cNvSpPr txBox="1"/>
          <p:nvPr/>
        </p:nvSpPr>
        <p:spPr>
          <a:xfrm>
            <a:off x="3273669" y="1714100"/>
            <a:ext cx="120000" cy="12000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KeyLabel"/>
          <p:cNvSpPr txBox="1"/>
          <p:nvPr/>
        </p:nvSpPr>
        <p:spPr>
          <a:xfrm>
            <a:off x="345366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Piping, valves, and pumps</a:t>
            </a:r>
          </a:p>
        </p:txBody>
      </p:sp>
      <p:sp>
        <p:nvSpPr>
          <p:cNvPr id="34" name="KeySwatch"/>
          <p:cNvSpPr txBox="1"/>
          <p:nvPr/>
        </p:nvSpPr>
        <p:spPr>
          <a:xfrm>
            <a:off x="6094259" y="1714100"/>
            <a:ext cx="120000" cy="12000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5" name="KeyLabel"/>
          <p:cNvSpPr txBox="1"/>
          <p:nvPr/>
        </p:nvSpPr>
        <p:spPr>
          <a:xfrm>
            <a:off x="627425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fabrication and pre-outfit</a:t>
            </a:r>
          </a:p>
        </p:txBody>
      </p:sp>
      <p:sp>
        <p:nvSpPr>
          <p:cNvPr id="36" name="KeySwatch"/>
          <p:cNvSpPr txBox="1"/>
          <p:nvPr/>
        </p:nvSpPr>
        <p:spPr>
          <a:xfrm>
            <a:off x="8914849" y="1714100"/>
            <a:ext cx="120000" cy="120000"/>
          </a:xfrm>
          <a:prstGeom prst="rect">
            <a:avLst/>
          </a:prstGeom>
          <a:solidFill>
            <a:srgbClr val="AFC2CC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KeyLabel"/>
          <p:cNvSpPr txBox="1"/>
          <p:nvPr/>
        </p:nvSpPr>
        <p:spPr>
          <a:xfrm>
            <a:off x="9094849" y="1681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</a:t>
            </a:r>
          </a:p>
        </p:txBody>
      </p:sp>
      <p:sp>
        <p:nvSpPr>
          <p:cNvPr id="38" name="KeySwatch"/>
          <p:cNvSpPr txBox="1"/>
          <p:nvPr/>
        </p:nvSpPr>
        <p:spPr>
          <a:xfrm>
            <a:off x="453079" y="1899100"/>
            <a:ext cx="120000" cy="120000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9" name="KeyLabel"/>
          <p:cNvSpPr txBox="1"/>
          <p:nvPr/>
        </p:nvSpPr>
        <p:spPr>
          <a:xfrm>
            <a:off x="63307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and insulation</a:t>
            </a:r>
          </a:p>
        </p:txBody>
      </p:sp>
      <p:sp>
        <p:nvSpPr>
          <p:cNvPr id="40" name="KeySwatch"/>
          <p:cNvSpPr txBox="1"/>
          <p:nvPr/>
        </p:nvSpPr>
        <p:spPr>
          <a:xfrm>
            <a:off x="3273669" y="1899100"/>
            <a:ext cx="120000" cy="120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1" name="KeyLabel"/>
          <p:cNvSpPr txBox="1"/>
          <p:nvPr/>
        </p:nvSpPr>
        <p:spPr>
          <a:xfrm>
            <a:off x="345366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and forgings</a:t>
            </a:r>
          </a:p>
        </p:txBody>
      </p:sp>
      <p:sp>
        <p:nvSpPr>
          <p:cNvPr id="42" name="KeySwatch"/>
          <p:cNvSpPr txBox="1"/>
          <p:nvPr/>
        </p:nvSpPr>
        <p:spPr>
          <a:xfrm>
            <a:off x="6094259" y="1899100"/>
            <a:ext cx="120000" cy="120000"/>
          </a:xfrm>
          <a:prstGeom prst="rect">
            <a:avLst/>
          </a:prstGeom>
          <a:solidFill>
            <a:srgbClr val="162029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3" name="KeyLabel"/>
          <p:cNvSpPr txBox="1"/>
          <p:nvPr/>
        </p:nvSpPr>
        <p:spPr>
          <a:xfrm>
            <a:off x="627425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and ventilation</a:t>
            </a:r>
          </a:p>
        </p:txBody>
      </p:sp>
      <p:sp>
        <p:nvSpPr>
          <p:cNvPr id="44" name="KeySwatchHatch"/>
          <p:cNvSpPr/>
          <p:nvPr/>
        </p:nvSpPr>
        <p:spPr>
          <a:xfrm>
            <a:off x="8914849" y="1899100"/>
            <a:ext cx="120000" cy="120000"/>
          </a:xfrm>
          <a:prstGeom prst="rect">
            <a:avLst/>
          </a:prstGeom>
          <a:pattFill prst="ltUpDiag">
            <a:fgClr>
              <a:srgbClr val="79838F"/>
            </a:fgClr>
            <a:bgClr>
              <a:srgbClr val="FFFFFF"/>
            </a:bgClr>
          </a:pattFill>
          <a:ln w="6350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KeyLabel"/>
          <p:cNvSpPr txBox="1"/>
          <p:nvPr/>
        </p:nvSpPr>
        <p:spPr>
          <a:xfrm>
            <a:off x="9094849" y="1866600"/>
            <a:ext cx="2620590" cy="18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50" name="ClassChip"/>
          <p:cNvSpPr txBox="1"/>
          <p:nvPr/>
        </p:nvSpPr>
        <p:spPr>
          <a:xfrm>
            <a:off x="1400139" y="2121600"/>
            <a:ext cx="1700000" cy="23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</a:t>
            </a:r>
          </a:p>
        </p:txBody>
      </p:sp>
      <p:sp>
        <p:nvSpPr>
          <p:cNvPr id="51" name="ClassChip"/>
          <p:cNvSpPr txBox="1"/>
          <p:nvPr/>
        </p:nvSpPr>
        <p:spPr>
          <a:xfrm>
            <a:off x="5244259" y="2121600"/>
            <a:ext cx="1700000" cy="23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</a:t>
            </a:r>
          </a:p>
        </p:txBody>
      </p:sp>
      <p:sp>
        <p:nvSpPr>
          <p:cNvPr id="52" name="ClassChip"/>
          <p:cNvSpPr txBox="1"/>
          <p:nvPr/>
        </p:nvSpPr>
        <p:spPr>
          <a:xfrm>
            <a:off x="9088379" y="2121600"/>
            <a:ext cx="1700000" cy="23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</a:t>
            </a:r>
          </a:p>
        </p:txBody>
      </p:sp>
      <p:graphicFrame>
        <p:nvGraphicFramePr>
          <p:cNvPr id="20" name="WorktypeByFyVirginia"/>
          <p:cNvGraphicFramePr/>
          <p:nvPr/>
        </p:nvGraphicFramePr>
        <p:xfrm>
          <a:off x="453079" y="2411600"/>
          <a:ext cx="3594120" cy="345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WorktypeByFyColumbia"/>
          <p:cNvGraphicFramePr/>
          <p:nvPr/>
        </p:nvGraphicFramePr>
        <p:xfrm>
          <a:off x="4297199" y="2411600"/>
          <a:ext cx="3594120" cy="345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WorktypeByFyDDG-51"/>
          <p:cNvGraphicFramePr/>
          <p:nvPr/>
        </p:nvGraphicFramePr>
        <p:xfrm>
          <a:off x="8141319" y="2411600"/>
          <a:ext cx="3594120" cy="345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0" name="PctLabel"/>
          <p:cNvSpPr txBox="1"/>
          <p:nvPr/>
        </p:nvSpPr>
        <p:spPr>
          <a:xfrm>
            <a:off x="1004799" y="5282578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21%</a:t>
            </a:r>
          </a:p>
        </p:txBody>
      </p:sp>
      <p:sp>
        <p:nvSpPr>
          <p:cNvPr id="201" name="PctLabel"/>
          <p:cNvSpPr txBox="1"/>
          <p:nvPr/>
        </p:nvSpPr>
        <p:spPr>
          <a:xfrm>
            <a:off x="1004799" y="5044288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02" name="PctLabel"/>
          <p:cNvSpPr txBox="1"/>
          <p:nvPr/>
        </p:nvSpPr>
        <p:spPr>
          <a:xfrm>
            <a:off x="1004799" y="475208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29%</a:t>
            </a:r>
          </a:p>
        </p:txBody>
      </p:sp>
      <p:sp>
        <p:nvSpPr>
          <p:cNvPr id="203" name="PctLabel"/>
          <p:cNvSpPr txBox="1"/>
          <p:nvPr/>
        </p:nvSpPr>
        <p:spPr>
          <a:xfrm>
            <a:off x="1004799" y="424145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22%</a:t>
            </a:r>
          </a:p>
        </p:txBody>
      </p:sp>
      <p:sp>
        <p:nvSpPr>
          <p:cNvPr id="204" name="PctLabel"/>
          <p:cNvSpPr txBox="1"/>
          <p:nvPr/>
        </p:nvSpPr>
        <p:spPr>
          <a:xfrm>
            <a:off x="1777535" y="509766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47%</a:t>
            </a:r>
          </a:p>
        </p:txBody>
      </p:sp>
      <p:sp>
        <p:nvSpPr>
          <p:cNvPr id="205" name="PctLabel"/>
          <p:cNvSpPr txBox="1"/>
          <p:nvPr/>
        </p:nvSpPr>
        <p:spPr>
          <a:xfrm>
            <a:off x="1777535" y="452281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206" name="PctLabel"/>
          <p:cNvSpPr txBox="1"/>
          <p:nvPr/>
        </p:nvSpPr>
        <p:spPr>
          <a:xfrm>
            <a:off x="1777535" y="4132394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07" name="PctLabel"/>
          <p:cNvSpPr txBox="1"/>
          <p:nvPr/>
        </p:nvSpPr>
        <p:spPr>
          <a:xfrm>
            <a:off x="2550271" y="514581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208" name="PctLabel"/>
          <p:cNvSpPr txBox="1"/>
          <p:nvPr/>
        </p:nvSpPr>
        <p:spPr>
          <a:xfrm>
            <a:off x="2550271" y="4521566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29%</a:t>
            </a:r>
          </a:p>
        </p:txBody>
      </p:sp>
      <p:sp>
        <p:nvSpPr>
          <p:cNvPr id="209" name="PctLabel"/>
          <p:cNvSpPr txBox="1"/>
          <p:nvPr/>
        </p:nvSpPr>
        <p:spPr>
          <a:xfrm>
            <a:off x="2550271" y="396415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210" name="PctLabel"/>
          <p:cNvSpPr txBox="1"/>
          <p:nvPr/>
        </p:nvSpPr>
        <p:spPr>
          <a:xfrm>
            <a:off x="2550271" y="3527596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7%</a:t>
            </a:r>
          </a:p>
        </p:txBody>
      </p:sp>
      <p:sp>
        <p:nvSpPr>
          <p:cNvPr id="211" name="PctLabel"/>
          <p:cNvSpPr txBox="1"/>
          <p:nvPr/>
        </p:nvSpPr>
        <p:spPr>
          <a:xfrm>
            <a:off x="2550271" y="3206456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12" name="PctLabel"/>
          <p:cNvSpPr txBox="1"/>
          <p:nvPr/>
        </p:nvSpPr>
        <p:spPr>
          <a:xfrm>
            <a:off x="3323007" y="518998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13" name="PctLabel"/>
          <p:cNvSpPr txBox="1"/>
          <p:nvPr/>
        </p:nvSpPr>
        <p:spPr>
          <a:xfrm>
            <a:off x="3323007" y="480334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214" name="PctLabel"/>
          <p:cNvSpPr txBox="1"/>
          <p:nvPr/>
        </p:nvSpPr>
        <p:spPr>
          <a:xfrm>
            <a:off x="3323007" y="4362075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15" name="PctLabel"/>
          <p:cNvSpPr txBox="1"/>
          <p:nvPr/>
        </p:nvSpPr>
        <p:spPr>
          <a:xfrm>
            <a:off x="3323007" y="4154093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216" name="PctLabel"/>
          <p:cNvSpPr txBox="1"/>
          <p:nvPr/>
        </p:nvSpPr>
        <p:spPr>
          <a:xfrm>
            <a:off x="6394391" y="4951982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sp>
        <p:nvSpPr>
          <p:cNvPr id="217" name="PctLabel"/>
          <p:cNvSpPr txBox="1"/>
          <p:nvPr/>
        </p:nvSpPr>
        <p:spPr>
          <a:xfrm>
            <a:off x="6394391" y="4223673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218" name="PctLabel"/>
          <p:cNvSpPr txBox="1"/>
          <p:nvPr/>
        </p:nvSpPr>
        <p:spPr>
          <a:xfrm>
            <a:off x="6394391" y="381096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19" name="PctLabel"/>
          <p:cNvSpPr txBox="1"/>
          <p:nvPr/>
        </p:nvSpPr>
        <p:spPr>
          <a:xfrm>
            <a:off x="6394391" y="336357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20" name="PctLabel"/>
          <p:cNvSpPr txBox="1"/>
          <p:nvPr/>
        </p:nvSpPr>
        <p:spPr>
          <a:xfrm>
            <a:off x="8693039" y="516769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32%</a:t>
            </a:r>
          </a:p>
        </p:txBody>
      </p:sp>
      <p:sp>
        <p:nvSpPr>
          <p:cNvPr id="221" name="PctLabel"/>
          <p:cNvSpPr txBox="1"/>
          <p:nvPr/>
        </p:nvSpPr>
        <p:spPr>
          <a:xfrm>
            <a:off x="8693039" y="484787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38%</a:t>
            </a:r>
          </a:p>
        </p:txBody>
      </p:sp>
      <p:sp>
        <p:nvSpPr>
          <p:cNvPr id="222" name="PctLabel"/>
          <p:cNvSpPr txBox="1"/>
          <p:nvPr/>
        </p:nvSpPr>
        <p:spPr>
          <a:xfrm>
            <a:off x="9465775" y="4837334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223" name="PctLabel"/>
          <p:cNvSpPr txBox="1"/>
          <p:nvPr/>
        </p:nvSpPr>
        <p:spPr>
          <a:xfrm>
            <a:off x="9465775" y="4339043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21%</a:t>
            </a:r>
          </a:p>
        </p:txBody>
      </p:sp>
      <p:sp>
        <p:nvSpPr>
          <p:cNvPr id="224" name="PctLabel"/>
          <p:cNvSpPr txBox="1"/>
          <p:nvPr/>
        </p:nvSpPr>
        <p:spPr>
          <a:xfrm>
            <a:off x="9465775" y="3866961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225" name="PctLabel"/>
          <p:cNvSpPr txBox="1"/>
          <p:nvPr/>
        </p:nvSpPr>
        <p:spPr>
          <a:xfrm>
            <a:off x="10238511" y="5276892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22%</a:t>
            </a:r>
          </a:p>
        </p:txBody>
      </p:sp>
      <p:sp>
        <p:nvSpPr>
          <p:cNvPr id="226" name="PctLabel"/>
          <p:cNvSpPr txBox="1"/>
          <p:nvPr/>
        </p:nvSpPr>
        <p:spPr>
          <a:xfrm>
            <a:off x="10238511" y="504281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27" name="PctLabel"/>
          <p:cNvSpPr txBox="1"/>
          <p:nvPr/>
        </p:nvSpPr>
        <p:spPr>
          <a:xfrm>
            <a:off x="10238511" y="467876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27%</a:t>
            </a:r>
          </a:p>
        </p:txBody>
      </p:sp>
      <p:sp>
        <p:nvSpPr>
          <p:cNvPr id="228" name="PctLabel"/>
          <p:cNvSpPr txBox="1"/>
          <p:nvPr/>
        </p:nvSpPr>
        <p:spPr>
          <a:xfrm>
            <a:off x="10238511" y="420774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229" name="PctLabel"/>
          <p:cNvSpPr txBox="1"/>
          <p:nvPr/>
        </p:nvSpPr>
        <p:spPr>
          <a:xfrm>
            <a:off x="11011247" y="5340530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230" name="PctLabel"/>
          <p:cNvSpPr txBox="1"/>
          <p:nvPr/>
        </p:nvSpPr>
        <p:spPr>
          <a:xfrm>
            <a:off x="11011247" y="4595929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44%</a:t>
            </a:r>
          </a:p>
        </p:txBody>
      </p:sp>
      <p:sp>
        <p:nvSpPr>
          <p:cNvPr id="231" name="PctLabel"/>
          <p:cNvSpPr txBox="1"/>
          <p:nvPr/>
        </p:nvSpPr>
        <p:spPr>
          <a:xfrm>
            <a:off x="11011247" y="4000331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232" name="PctLabel"/>
          <p:cNvSpPr txBox="1"/>
          <p:nvPr/>
        </p:nvSpPr>
        <p:spPr>
          <a:xfrm>
            <a:off x="11011247" y="3713497"/>
            <a:ext cx="4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14%</a:t>
            </a:r>
          </a:p>
        </p:txBody>
      </p:sp>
      <p:sp>
        <p:nvSpPr>
          <p:cNvPr id="150" name="ColTotal"/>
          <p:cNvSpPr txBox="1"/>
          <p:nvPr/>
        </p:nvSpPr>
        <p:spPr>
          <a:xfrm>
            <a:off x="914799" y="3944346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151" name="ColTotal"/>
          <p:cNvSpPr txBox="1"/>
          <p:nvPr/>
        </p:nvSpPr>
        <p:spPr>
          <a:xfrm>
            <a:off x="1687535" y="3889228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</a:t>
            </a:r>
          </a:p>
        </p:txBody>
      </p:sp>
      <p:sp>
        <p:nvSpPr>
          <p:cNvPr id="152" name="ColTotal"/>
          <p:cNvSpPr txBox="1"/>
          <p:nvPr/>
        </p:nvSpPr>
        <p:spPr>
          <a:xfrm>
            <a:off x="2460271" y="2882677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3.2</a:t>
            </a:r>
          </a:p>
        </p:txBody>
      </p:sp>
      <p:sp>
        <p:nvSpPr>
          <p:cNvPr id="153" name="ColTotal"/>
          <p:cNvSpPr txBox="1"/>
          <p:nvPr/>
        </p:nvSpPr>
        <p:spPr>
          <a:xfrm>
            <a:off x="3233007" y="3894047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1.8</a:t>
            </a:r>
          </a:p>
        </p:txBody>
      </p:sp>
      <p:sp>
        <p:nvSpPr>
          <p:cNvPr id="154" name="NoFundDash"/>
          <p:cNvSpPr txBox="1"/>
          <p:nvPr/>
        </p:nvSpPr>
        <p:spPr>
          <a:xfrm>
            <a:off x="4968919" y="5249576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5" name="NoFundDash"/>
          <p:cNvSpPr txBox="1"/>
          <p:nvPr/>
        </p:nvSpPr>
        <p:spPr>
          <a:xfrm>
            <a:off x="5741655" y="5249576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6" name="ColTotal"/>
          <p:cNvSpPr txBox="1"/>
          <p:nvPr/>
        </p:nvSpPr>
        <p:spPr>
          <a:xfrm>
            <a:off x="6304391" y="3104910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157" name="NoFundDash"/>
          <p:cNvSpPr txBox="1"/>
          <p:nvPr/>
        </p:nvSpPr>
        <p:spPr>
          <a:xfrm>
            <a:off x="7287127" y="5249576"/>
            <a:ext cx="2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8" name="ColTotal"/>
          <p:cNvSpPr txBox="1"/>
          <p:nvPr/>
        </p:nvSpPr>
        <p:spPr>
          <a:xfrm>
            <a:off x="8603039" y="4562142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59" name="ColTotal"/>
          <p:cNvSpPr txBox="1"/>
          <p:nvPr/>
        </p:nvSpPr>
        <p:spPr>
          <a:xfrm>
            <a:off x="9375775" y="3433030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160" name="ColTotal"/>
          <p:cNvSpPr txBox="1"/>
          <p:nvPr/>
        </p:nvSpPr>
        <p:spPr>
          <a:xfrm>
            <a:off x="10148511" y="3967859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</a:t>
            </a:r>
          </a:p>
        </p:txBody>
      </p:sp>
      <p:sp>
        <p:nvSpPr>
          <p:cNvPr id="161" name="ColTotal"/>
          <p:cNvSpPr txBox="1"/>
          <p:nvPr/>
        </p:nvSpPr>
        <p:spPr>
          <a:xfrm>
            <a:off x="10921247" y="3428927"/>
            <a:ext cx="64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170" name="ColNote"/>
          <p:cNvSpPr txBox="1"/>
          <p:nvPr/>
        </p:nvSpPr>
        <p:spPr>
          <a:xfrm>
            <a:off x="4722552" y="2575352"/>
            <a:ext cx="3030943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Columbia funds biennially; FY2024 is the only full-funding year in the window.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Navy SCN P-5c / P-40 budget justification, FY22–FY27, and PB27 FYDP outyears (FY28–FY31); FY26, PL 119-21 Sec. 20002; PB27 SCN, Columbia P-10 Strategic Outsourcing narrative; OUSD(C) Green Book Procurement deflators; Navy Shipbuilding Plan; PB27 SCN Exhibit P-10, LI 2122 (AP/LLTM Ship Construction EOQ); FFATA/FSRS subaward records, yard-prime construction PIIDs, FY22–FY25 action years (work-type shares)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Market Landscape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opportunity is the component layer yards buy out, and demand is funded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TAM and SAM | Combined supplier opportunity is ~$4.2B per year, with ~$3.5B addressable as broad component SAM.</a:t>
            </a:r>
          </a:p>
        </p:txBody>
      </p:sp>
      <p:sp>
        <p:nvSpPr>
          <p:cNvPr id="10" name="Qualifier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model-period averages, annualized; constant FY2026 dollars; includes OBBBA Sec. 20002 mandatory funding.</a:t>
            </a:r>
          </a:p>
        </p:txBody>
      </p:sp>
      <p:sp>
        <p:nvSpPr>
          <p:cNvPr id="20" name="HeroKpi"/>
          <p:cNvSpPr txBox="1"/>
          <p:nvPr/>
        </p:nvSpPr>
        <p:spPr>
          <a:xfrm>
            <a:off x="453079" y="1601600"/>
            <a:ext cx="5551180" cy="8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80000" tIns="40000" rIns="180000" bIns="4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SUPPLIER TAM</a:t>
            </a:r>
          </a:p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$4.2B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$25.2B FY2022–FY2027 cumulative</a:t>
            </a:r>
          </a:p>
        </p:txBody>
      </p:sp>
      <p:sp>
        <p:nvSpPr>
          <p:cNvPr id="21" name="HeroKpi"/>
          <p:cNvSpPr txBox="1"/>
          <p:nvPr/>
        </p:nvSpPr>
        <p:spPr>
          <a:xfrm>
            <a:off x="6184259" y="1601600"/>
            <a:ext cx="5551180" cy="8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80000" tIns="40000" rIns="180000" bIns="4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BROAD COMPONENT SAM</a:t>
            </a:r>
          </a:p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$3.5B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$21.2B FY2022–FY2027 cumulative</a:t>
            </a:r>
          </a:p>
        </p:txBody>
      </p:sp>
      <p:sp>
        <p:nvSpPr>
          <p:cNvPr id="30" name="SupportCard"/>
          <p:cNvSpPr txBox="1"/>
          <p:nvPr/>
        </p:nvSpPr>
        <p:spPr>
          <a:xfrm>
            <a:off x="453079" y="2461600"/>
            <a:ext cx="2685590" cy="82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TAM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$3.5B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~84% of combined TAM</a:t>
            </a:r>
          </a:p>
        </p:txBody>
      </p:sp>
      <p:sp>
        <p:nvSpPr>
          <p:cNvPr id="31" name="SupportCard"/>
          <p:cNvSpPr txBox="1"/>
          <p:nvPr/>
        </p:nvSpPr>
        <p:spPr>
          <a:xfrm>
            <a:off x="3318669" y="2461600"/>
            <a:ext cx="2685590" cy="82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TAM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$659M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Smaller pool, distributed-production proof point</a:t>
            </a:r>
          </a:p>
        </p:txBody>
      </p:sp>
      <p:sp>
        <p:nvSpPr>
          <p:cNvPr id="32" name="SupportCard"/>
          <p:cNvSpPr txBox="1"/>
          <p:nvPr/>
        </p:nvSpPr>
        <p:spPr>
          <a:xfrm>
            <a:off x="6184259" y="2461600"/>
            <a:ext cx="2685590" cy="8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$408M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Entity-flagged module-assembly work</a:t>
            </a:r>
          </a:p>
        </p:txBody>
      </p:sp>
      <p:sp>
        <p:nvSpPr>
          <p:cNvPr id="33" name="SupportCard"/>
          <p:cNvSpPr txBox="1"/>
          <p:nvPr/>
        </p:nvSpPr>
        <p:spPr>
          <a:xfrm>
            <a:off x="9049849" y="2461600"/>
            <a:ext cx="2685590" cy="82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INCLUDES MODULAR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Seven-bucket envelope, not incremental to modular</a:t>
            </a:r>
          </a:p>
        </p:txBody>
      </p:sp>
      <p:sp>
        <p:nvSpPr>
          <p:cNvPr id="40" name="UnitsCaption"/>
          <p:cNvSpPr txBox="1"/>
          <p:nvPr/>
        </p:nvSpPr>
        <p:spPr>
          <a:xfrm>
            <a:off x="453079" y="3341600"/>
            <a:ext cx="65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supplier TAM stacked by program vs broad component SAM, $B per year; FY2022–FY2027 average, constant FY2026 dollars.</a:t>
            </a:r>
          </a:p>
        </p:txBody>
      </p:sp>
      <p:sp>
        <p:nvSpPr>
          <p:cNvPr id="41" name="ColumnTotal"/>
          <p:cNvSpPr txBox="1"/>
          <p:nvPr/>
        </p:nvSpPr>
        <p:spPr>
          <a:xfrm>
            <a:off x="1678079" y="3764352"/>
            <a:ext cx="1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4.2</a:t>
            </a:r>
          </a:p>
        </p:txBody>
      </p:sp>
      <p:sp>
        <p:nvSpPr>
          <p:cNvPr id="42" name="ColumnTotal"/>
          <p:cNvSpPr txBox="1"/>
          <p:nvPr/>
        </p:nvSpPr>
        <p:spPr>
          <a:xfrm>
            <a:off x="4708079" y="3909278"/>
            <a:ext cx="1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graphicFrame>
        <p:nvGraphicFramePr>
          <p:cNvPr id="50" name="ExecutiveTamSamColumn"/>
          <p:cNvGraphicFramePr/>
          <p:nvPr/>
        </p:nvGraphicFramePr>
        <p:xfrm>
          <a:off x="453079" y="3851600"/>
          <a:ext cx="6500000" cy="124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0" name="LegendSwatch"/>
          <p:cNvSpPr txBox="1"/>
          <p:nvPr/>
        </p:nvSpPr>
        <p:spPr>
          <a:xfrm>
            <a:off x="453079" y="56333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1" name="LegendLabel"/>
          <p:cNvSpPr txBox="1"/>
          <p:nvPr/>
        </p:nvSpPr>
        <p:spPr>
          <a:xfrm>
            <a:off x="692467" y="5566650"/>
            <a:ext cx="901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82" name="LegendSwatch"/>
          <p:cNvSpPr txBox="1"/>
          <p:nvPr/>
        </p:nvSpPr>
        <p:spPr>
          <a:xfrm>
            <a:off x="1793717" y="5633325"/>
            <a:ext cx="179388" cy="13335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3" name="LegendLabel"/>
          <p:cNvSpPr txBox="1"/>
          <p:nvPr/>
        </p:nvSpPr>
        <p:spPr>
          <a:xfrm>
            <a:off x="2033105" y="5566650"/>
            <a:ext cx="329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84" name="LegendSwatch"/>
          <p:cNvSpPr txBox="1"/>
          <p:nvPr/>
        </p:nvSpPr>
        <p:spPr>
          <a:xfrm>
            <a:off x="2562855" y="5633325"/>
            <a:ext cx="179388" cy="13335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5" name="LegendLabel"/>
          <p:cNvSpPr txBox="1"/>
          <p:nvPr/>
        </p:nvSpPr>
        <p:spPr>
          <a:xfrm>
            <a:off x="2802243" y="5566650"/>
            <a:ext cx="1853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SAM</a:t>
            </a:r>
          </a:p>
        </p:txBody>
      </p:sp>
      <p:sp>
        <p:nvSpPr>
          <p:cNvPr id="60" name="Commentary"/>
          <p:cNvSpPr txBox="1"/>
          <p:nvPr/>
        </p:nvSpPr>
        <p:spPr>
          <a:xfrm>
            <a:off x="7273079" y="3341600"/>
            <a:ext cx="4462362" cy="197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0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pool is submarine-led, while DDG supplies the distributed-production proof point.</a:t>
            </a:r>
          </a:p>
          <a:p>
            <a:pPr marL="142875" indent="-142875">
              <a:lnSpc>
                <a:spcPct val="115000"/>
              </a:lnSpc>
              <a:spcAft>
                <a:spcPts val="24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Virginia/Columbia contributes $3.5B of the $4.2B annual TAM; DDG adds $659M per year and carries the clearest public distributed-production signal.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SAM is the serviceable envelope, not a capture forecast.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 is $3.5B per year across the seven named buckets; modular assemblies is a narrower $408M entity-flagged cut inside that envelope.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DoD place-of-performance award corpus and parent-prime PIID scope; (3) FFATA/FSRS subaward records and the operating-entity supplier registry; (4) FY 2026 Mandatory Funding Allocation Plan, PL 119-21 Sec. 20002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Definition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Layer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Layer | The opportunity sits between Navy budget authority and prime-yard construction, in component work yards buy out rather than self-perform.</a:t>
            </a:r>
          </a:p>
        </p:txBody>
      </p:sp>
      <p:cxnSp>
        <p:nvCxnSpPr>
          <p:cNvPr id="100" name="FundDrop"/>
          <p:cNvCxnSpPr/>
          <p:nvPr/>
        </p:nvCxnSpPr>
        <p:spPr>
          <a:xfrm>
            <a:off x="2208079" y="24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1" name="FundSplit"/>
          <p:cNvCxnSpPr/>
          <p:nvPr/>
        </p:nvCxnSpPr>
        <p:spPr>
          <a:xfrm>
            <a:off x="1315579" y="253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2" name="ToPrimeL"/>
          <p:cNvCxnSpPr/>
          <p:nvPr/>
        </p:nvCxnSpPr>
        <p:spPr>
          <a:xfrm>
            <a:off x="1315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3" name="ToPrimeR"/>
          <p:cNvCxnSpPr/>
          <p:nvPr/>
        </p:nvCxnSpPr>
        <p:spPr>
          <a:xfrm>
            <a:off x="3100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4" name="PrimeLDrop"/>
          <p:cNvCxnSpPr/>
          <p:nvPr/>
        </p:nvCxnSpPr>
        <p:spPr>
          <a:xfrm>
            <a:off x="1315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5" name="PrimeRDrop"/>
          <p:cNvCxnSpPr/>
          <p:nvPr/>
        </p:nvCxnSpPr>
        <p:spPr>
          <a:xfrm>
            <a:off x="3100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6" name="PrimeMerge"/>
          <p:cNvCxnSpPr/>
          <p:nvPr/>
        </p:nvCxnSpPr>
        <p:spPr>
          <a:xfrm>
            <a:off x="1315579" y="311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7" name="ToInScope"/>
          <p:cNvCxnSpPr/>
          <p:nvPr/>
        </p:nvCxnSpPr>
        <p:spPr>
          <a:xfrm>
            <a:off x="2208079" y="31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8" name="ToChip"/>
          <p:cNvCxnSpPr/>
          <p:nvPr/>
        </p:nvCxnSpPr>
        <p:spPr>
          <a:xfrm>
            <a:off x="2208079" y="3651600"/>
            <a:ext cx="0" cy="9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9" name="ContextElbow"/>
          <p:cNvCxnSpPr/>
          <p:nvPr/>
        </p:nvCxnSpPr>
        <p:spPr>
          <a:xfrm flipH="1">
            <a:off x="1280579" y="3721600"/>
            <a:ext cx="9275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10" name="ContextDrop"/>
          <p:cNvCxnSpPr/>
          <p:nvPr/>
        </p:nvCxnSpPr>
        <p:spPr>
          <a:xfrm>
            <a:off x="1280579" y="3721600"/>
            <a:ext cx="0" cy="1100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20" name="FundDrop"/>
          <p:cNvCxnSpPr/>
          <p:nvPr/>
        </p:nvCxnSpPr>
        <p:spPr>
          <a:xfrm>
            <a:off x="5998079" y="24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1" name="FundSplit"/>
          <p:cNvCxnSpPr/>
          <p:nvPr/>
        </p:nvCxnSpPr>
        <p:spPr>
          <a:xfrm>
            <a:off x="5105579" y="253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2" name="ToPrimeL"/>
          <p:cNvCxnSpPr/>
          <p:nvPr/>
        </p:nvCxnSpPr>
        <p:spPr>
          <a:xfrm>
            <a:off x="5105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3" name="ToPrimeR"/>
          <p:cNvCxnSpPr/>
          <p:nvPr/>
        </p:nvCxnSpPr>
        <p:spPr>
          <a:xfrm>
            <a:off x="6890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4" name="PrimeLDrop"/>
          <p:cNvCxnSpPr/>
          <p:nvPr/>
        </p:nvCxnSpPr>
        <p:spPr>
          <a:xfrm>
            <a:off x="5105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5" name="PrimeRDrop"/>
          <p:cNvCxnSpPr/>
          <p:nvPr/>
        </p:nvCxnSpPr>
        <p:spPr>
          <a:xfrm>
            <a:off x="6890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6" name="PrimeMerge"/>
          <p:cNvCxnSpPr/>
          <p:nvPr/>
        </p:nvCxnSpPr>
        <p:spPr>
          <a:xfrm>
            <a:off x="5105579" y="311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7" name="ToInScope"/>
          <p:cNvCxnSpPr/>
          <p:nvPr/>
        </p:nvCxnSpPr>
        <p:spPr>
          <a:xfrm>
            <a:off x="5998079" y="31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8" name="ToChip"/>
          <p:cNvCxnSpPr/>
          <p:nvPr/>
        </p:nvCxnSpPr>
        <p:spPr>
          <a:xfrm>
            <a:off x="5998079" y="3651600"/>
            <a:ext cx="0" cy="9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9" name="ContextElbow"/>
          <p:cNvCxnSpPr/>
          <p:nvPr/>
        </p:nvCxnSpPr>
        <p:spPr>
          <a:xfrm>
            <a:off x="5998079" y="3721600"/>
            <a:ext cx="9275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30" name="ContextDrop"/>
          <p:cNvCxnSpPr/>
          <p:nvPr/>
        </p:nvCxnSpPr>
        <p:spPr>
          <a:xfrm>
            <a:off x="6925579" y="3721600"/>
            <a:ext cx="0" cy="1100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10" name="ThesisStrip"/>
          <p:cNvSpPr txBox="1"/>
          <p:nvPr/>
        </p:nvSpPr>
        <p:spPr>
          <a:xfrm>
            <a:off x="453079" y="1371600"/>
            <a:ext cx="7300000" cy="3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60000" tIns="40000" rIns="16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 component work sits inside Navy new-construction funding, not total ship cost.</a:t>
            </a:r>
          </a:p>
        </p:txBody>
      </p:sp>
      <p:sp>
        <p:nvSpPr>
          <p:cNvPr id="11" name="LaneHeader"/>
          <p:cNvSpPr txBox="1"/>
          <p:nvPr/>
        </p:nvSpPr>
        <p:spPr>
          <a:xfrm>
            <a:off x="453079" y="1761600"/>
            <a:ext cx="351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cxnSp>
        <p:nvCxnSpPr>
          <p:cNvPr id="12" name="LaneRule"/>
          <p:cNvCxnSpPr/>
          <p:nvPr/>
        </p:nvCxnSpPr>
        <p:spPr>
          <a:xfrm>
            <a:off x="453079" y="2001600"/>
            <a:ext cx="351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LaneHeader"/>
          <p:cNvSpPr txBox="1"/>
          <p:nvPr/>
        </p:nvSpPr>
        <p:spPr>
          <a:xfrm>
            <a:off x="4243079" y="1761600"/>
            <a:ext cx="351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cxnSp>
        <p:nvCxnSpPr>
          <p:cNvPr id="14" name="LaneRule"/>
          <p:cNvCxnSpPr/>
          <p:nvPr/>
        </p:nvCxnSpPr>
        <p:spPr>
          <a:xfrm>
            <a:off x="4243079" y="2001600"/>
            <a:ext cx="351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" name="FundingNode"/>
          <p:cNvSpPr txBox="1"/>
          <p:nvPr/>
        </p:nvSpPr>
        <p:spPr>
          <a:xfrm>
            <a:off x="453079" y="2071600"/>
            <a:ext cx="3510000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SCN funding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 item 2122</a:t>
            </a:r>
          </a:p>
        </p:txBody>
      </p:sp>
      <p:sp>
        <p:nvSpPr>
          <p:cNvPr id="21" name="PrimeNode"/>
          <p:cNvSpPr txBox="1"/>
          <p:nvPr/>
        </p:nvSpPr>
        <p:spPr>
          <a:xfrm>
            <a:off x="453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Bath Iron Works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yard]</a:t>
            </a:r>
          </a:p>
        </p:txBody>
      </p:sp>
      <p:sp>
        <p:nvSpPr>
          <p:cNvPr id="22" name="PrimeNode"/>
          <p:cNvSpPr txBox="1"/>
          <p:nvPr/>
        </p:nvSpPr>
        <p:spPr>
          <a:xfrm>
            <a:off x="2238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Ingalls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yard]</a:t>
            </a:r>
          </a:p>
        </p:txBody>
      </p:sp>
      <p:sp>
        <p:nvSpPr>
          <p:cNvPr id="23" name="InScopeNode"/>
          <p:cNvSpPr txBox="1"/>
          <p:nvPr/>
        </p:nvSpPr>
        <p:spPr>
          <a:xfrm>
            <a:off x="453079" y="3211600"/>
            <a:ext cx="3510000" cy="4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Yard-side non-GFE component suppliers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[in scope]</a:t>
            </a:r>
          </a:p>
        </p:txBody>
      </p:sp>
      <p:sp>
        <p:nvSpPr>
          <p:cNvPr id="40" name="FundingNode"/>
          <p:cNvSpPr txBox="1"/>
          <p:nvPr/>
        </p:nvSpPr>
        <p:spPr>
          <a:xfrm>
            <a:off x="4243079" y="2071600"/>
            <a:ext cx="3510000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SCN funding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and Columbia</a:t>
            </a:r>
          </a:p>
        </p:txBody>
      </p:sp>
      <p:sp>
        <p:nvSpPr>
          <p:cNvPr id="41" name="PrimeNode"/>
          <p:cNvSpPr txBox="1"/>
          <p:nvPr/>
        </p:nvSpPr>
        <p:spPr>
          <a:xfrm>
            <a:off x="4243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GDEB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construction]</a:t>
            </a:r>
          </a:p>
        </p:txBody>
      </p:sp>
      <p:sp>
        <p:nvSpPr>
          <p:cNvPr id="42" name="PrimeNode"/>
          <p:cNvSpPr txBox="1"/>
          <p:nvPr/>
        </p:nvSpPr>
        <p:spPr>
          <a:xfrm>
            <a:off x="6028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Newport News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[team-build context]</a:t>
            </a:r>
          </a:p>
        </p:txBody>
      </p:sp>
      <p:sp>
        <p:nvSpPr>
          <p:cNvPr id="43" name="InScopeNode"/>
          <p:cNvSpPr txBox="1"/>
          <p:nvPr/>
        </p:nvSpPr>
        <p:spPr>
          <a:xfrm>
            <a:off x="4243079" y="3211600"/>
            <a:ext cx="3510000" cy="4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Non-nuclear supplier component layer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[in scope]</a:t>
            </a:r>
          </a:p>
        </p:txBody>
      </p:sp>
      <p:sp>
        <p:nvSpPr>
          <p:cNvPr id="50" name="UnifyingSupplierChip"/>
          <p:cNvSpPr txBox="1"/>
          <p:nvPr/>
        </p:nvSpPr>
        <p:spPr>
          <a:xfrm>
            <a:off x="453079" y="4551600"/>
            <a:ext cx="7300000" cy="54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60000" tIns="50000" rIns="160000" bIns="50000"/>
          <a:lstStyle/>
          <a:p>
            <a:pPr algn="ctr">
              <a:lnSpc>
                <a:spcPct val="104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Distributed supplier work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Structural/pre-outfit, machining, castings/forgings, piping/valves/pumps, electrical/power, HVAC, coatings/insulation</a:t>
            </a:r>
          </a:p>
        </p:txBody>
      </p:sp>
      <p:sp>
        <p:nvSpPr>
          <p:cNvPr id="55" name="DefinitionGuardrail"/>
          <p:cNvSpPr txBox="1"/>
          <p:nvPr/>
        </p:nvSpPr>
        <p:spPr>
          <a:xfrm>
            <a:off x="453079" y="5131600"/>
            <a:ext cx="73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means ship power, distribution, and generation; combat and mission electronics leave the boundary before bucket assignment.</a:t>
            </a:r>
          </a:p>
        </p:txBody>
      </p:sp>
      <p:sp>
        <p:nvSpPr>
          <p:cNvPr id="60" name="ExclusionTag"/>
          <p:cNvSpPr txBox="1"/>
          <p:nvPr/>
        </p:nvSpPr>
        <p:spPr>
          <a:xfrm>
            <a:off x="533079" y="3831600"/>
            <a:ext cx="1495000" cy="6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55000" tIns="26000" rIns="55000" bIns="26000"/>
          <a:lstStyle/>
          <a:p>
            <a:pPr algn="ctr"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and context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GFE; weapons and sensors; sustainment/depot; FFATA-visible evidence floor</a:t>
            </a:r>
          </a:p>
        </p:txBody>
      </p:sp>
      <p:sp>
        <p:nvSpPr>
          <p:cNvPr id="61" name="ExclusionTag"/>
          <p:cNvSpPr txBox="1"/>
          <p:nvPr/>
        </p:nvSpPr>
        <p:spPr>
          <a:xfrm>
            <a:off x="6178079" y="3831600"/>
            <a:ext cx="1495000" cy="6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55000" tIns="26000" rIns="55000" bIns="26000"/>
          <a:lstStyle/>
          <a:p>
            <a:pPr algn="ctr"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and context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GFE/GFP; nuclear reactor plant; SIB capacity funding; depot/sustainment</a:t>
            </a:r>
          </a:p>
        </p:txBody>
      </p:sp>
      <p:sp>
        <p:nvSpPr>
          <p:cNvPr id="70" name="Legend"/>
          <p:cNvSpPr txBox="1"/>
          <p:nvPr/>
        </p:nvSpPr>
        <p:spPr>
          <a:xfrm>
            <a:off x="453079" y="549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= counted supplier layer; gray = excluded or context only; outline = prime or team-build layer.</a:t>
            </a:r>
          </a:p>
        </p:txBody>
      </p:sp>
      <p:sp>
        <p:nvSpPr>
          <p:cNvPr id="80" name="Commentary"/>
          <p:cNvSpPr txBox="1"/>
          <p:nvPr/>
        </p:nvSpPr>
        <p:spPr>
          <a:xfrm>
            <a:off x="8113079" y="1761600"/>
            <a:ext cx="3622362" cy="3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0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primes differ, but the serviceable cut is the same.</a:t>
            </a:r>
          </a:p>
          <a:p>
            <a:pPr marL="142875" indent="-142875">
              <a:lnSpc>
                <a:spcPct val="115000"/>
              </a:lnSpc>
              <a:spcAft>
                <a:spcPts val="24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dollars run through Bath Iron Works and Ingalls; submarine dollars run through Electric Boat and Newport News. In both lanes, the counted layer is supplier component work outside GFE, sustainment, and yard self-perform.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subawards prove the layer, not its full size.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FFATA-visible filings provide supplier names and work-type cues; first-tier visibility thins below the first tier and differs by yard.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shipbuilding budget justification and line-item structure, FY2022–FY2027; (2) prime-yard place-of-performance award corpus; (3) FFATA/FSRS first-tier subaward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Definition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 and Cost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and Cost Funnel | Sizing starts at new-construction budget lines and narrows to non-GFE Basic Construction, not total ship cost.</a:t>
            </a:r>
          </a:p>
        </p:txBody>
      </p:sp>
      <p:sp>
        <p:nvSpPr>
          <p:cNvPr id="20" name="FunnelTitle"/>
          <p:cNvSpPr txBox="1"/>
          <p:nvPr/>
        </p:nvSpPr>
        <p:spPr>
          <a:xfrm>
            <a:off x="1223669" y="1371600"/>
            <a:ext cx="3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DDG-51, FY2022–FY2027 portfolio cumulative, constant FY2026 $B</a:t>
            </a:r>
          </a:p>
        </p:txBody>
      </p:sp>
      <p:sp>
        <p:nvSpPr>
          <p:cNvPr id="21" name="FunnelTitle"/>
          <p:cNvSpPr txBox="1"/>
          <p:nvPr/>
        </p:nvSpPr>
        <p:spPr>
          <a:xfrm>
            <a:off x="7064850" y="1371600"/>
            <a:ext cx="3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Submarines, FY2022–FY2027 portfolio cumulative, constant FY2026 $B</a:t>
            </a:r>
          </a:p>
        </p:txBody>
      </p:sp>
      <p:graphicFrame>
        <p:nvGraphicFramePr>
          <p:cNvPr id="100" name="ScopeFunnel0"/>
          <p:cNvGraphicFramePr/>
          <p:nvPr/>
        </p:nvGraphicFramePr>
        <p:xfrm>
          <a:off x="453079" y="1711600"/>
          <a:ext cx="5441181" cy="26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1" name="ScopeFunnel1"/>
          <p:cNvGraphicFramePr/>
          <p:nvPr/>
        </p:nvGraphicFramePr>
        <p:xfrm>
          <a:off x="6294260" y="1711600"/>
          <a:ext cx="5441181" cy="26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40" name="WfRule"/>
          <p:cNvCxnSpPr/>
          <p:nvPr/>
        </p:nvCxnSpPr>
        <p:spPr>
          <a:xfrm>
            <a:off x="1709084" y="2250606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41" name="WfRule"/>
          <p:cNvCxnSpPr/>
          <p:nvPr/>
        </p:nvCxnSpPr>
        <p:spPr>
          <a:xfrm>
            <a:off x="2974158" y="2808120"/>
            <a:ext cx="562257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142" name="WfRule"/>
          <p:cNvCxnSpPr/>
          <p:nvPr/>
        </p:nvCxnSpPr>
        <p:spPr>
          <a:xfrm>
            <a:off x="4239233" y="2926039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110" name="WfValue"/>
          <p:cNvSpPr txBox="1"/>
          <p:nvPr/>
        </p:nvSpPr>
        <p:spPr>
          <a:xfrm>
            <a:off x="977675" y="1986606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11" name="WfValue"/>
          <p:cNvSpPr txBox="1"/>
          <p:nvPr/>
        </p:nvSpPr>
        <p:spPr>
          <a:xfrm>
            <a:off x="2242749" y="2409363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2" name="WfValue"/>
          <p:cNvSpPr txBox="1"/>
          <p:nvPr/>
        </p:nvSpPr>
        <p:spPr>
          <a:xfrm>
            <a:off x="3507824" y="2747079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3" name="WfValue"/>
          <p:cNvSpPr txBox="1"/>
          <p:nvPr/>
        </p:nvSpPr>
        <p:spPr>
          <a:xfrm>
            <a:off x="4772898" y="2662039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20" name="WfCat"/>
          <p:cNvSpPr txBox="1"/>
          <p:nvPr/>
        </p:nvSpPr>
        <p:spPr>
          <a:xfrm>
            <a:off x="725138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</a:t>
            </a:r>
          </a:p>
        </p:txBody>
      </p:sp>
      <p:sp>
        <p:nvSpPr>
          <p:cNvPr id="121" name="WfCat"/>
          <p:cNvSpPr txBox="1"/>
          <p:nvPr/>
        </p:nvSpPr>
        <p:spPr>
          <a:xfrm>
            <a:off x="1990212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GFE / directed equipment</a:t>
            </a:r>
          </a:p>
        </p:txBody>
      </p:sp>
      <p:sp>
        <p:nvSpPr>
          <p:cNvPr id="122" name="WfCat"/>
          <p:cNvSpPr txBox="1"/>
          <p:nvPr/>
        </p:nvSpPr>
        <p:spPr>
          <a:xfrm>
            <a:off x="3255287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other non-BC</a:t>
            </a:r>
          </a:p>
        </p:txBody>
      </p:sp>
      <p:sp>
        <p:nvSpPr>
          <p:cNvPr id="123" name="WfCat"/>
          <p:cNvSpPr txBox="1"/>
          <p:nvPr/>
        </p:nvSpPr>
        <p:spPr>
          <a:xfrm>
            <a:off x="4520361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cxnSp>
        <p:nvCxnSpPr>
          <p:cNvPr id="240" name="WfRule"/>
          <p:cNvCxnSpPr/>
          <p:nvPr/>
        </p:nvCxnSpPr>
        <p:spPr>
          <a:xfrm>
            <a:off x="7550265" y="2141483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241" name="WfRule"/>
          <p:cNvCxnSpPr/>
          <p:nvPr/>
        </p:nvCxnSpPr>
        <p:spPr>
          <a:xfrm>
            <a:off x="8815339" y="2489008"/>
            <a:ext cx="562257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cxnSp>
        <p:nvCxnSpPr>
          <p:cNvPr id="242" name="WfRule"/>
          <p:cNvCxnSpPr/>
          <p:nvPr/>
        </p:nvCxnSpPr>
        <p:spPr>
          <a:xfrm>
            <a:off x="10080414" y="2700383"/>
            <a:ext cx="562256" cy="0"/>
          </a:xfrm>
          <a:prstGeom prst="line">
            <a:avLst/>
          </a:prstGeom>
          <a:ln w="3175">
            <a:solidFill>
              <a:srgbClr val="162029"/>
            </a:solidFill>
            <a:prstDash val="dash"/>
          </a:ln>
        </p:spPr>
      </p:cxnSp>
      <p:sp>
        <p:nvSpPr>
          <p:cNvPr id="210" name="WfValue"/>
          <p:cNvSpPr txBox="1"/>
          <p:nvPr/>
        </p:nvSpPr>
        <p:spPr>
          <a:xfrm>
            <a:off x="6818856" y="1877483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211" name="WfValue"/>
          <p:cNvSpPr txBox="1"/>
          <p:nvPr/>
        </p:nvSpPr>
        <p:spPr>
          <a:xfrm>
            <a:off x="8083930" y="2195246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12" name="WfValue"/>
          <p:cNvSpPr txBox="1"/>
          <p:nvPr/>
        </p:nvSpPr>
        <p:spPr>
          <a:xfrm>
            <a:off x="9349005" y="2474695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13" name="WfValue"/>
          <p:cNvSpPr txBox="1"/>
          <p:nvPr/>
        </p:nvSpPr>
        <p:spPr>
          <a:xfrm>
            <a:off x="10614079" y="2436383"/>
            <a:ext cx="76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220" name="WfCat"/>
          <p:cNvSpPr txBox="1"/>
          <p:nvPr/>
        </p:nvSpPr>
        <p:spPr>
          <a:xfrm>
            <a:off x="6566319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</a:t>
            </a:r>
          </a:p>
        </p:txBody>
      </p:sp>
      <p:sp>
        <p:nvSpPr>
          <p:cNvPr id="221" name="WfCat"/>
          <p:cNvSpPr txBox="1"/>
          <p:nvPr/>
        </p:nvSpPr>
        <p:spPr>
          <a:xfrm>
            <a:off x="7831393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GFE / directed equipment</a:t>
            </a:r>
          </a:p>
        </p:txBody>
      </p:sp>
      <p:sp>
        <p:nvSpPr>
          <p:cNvPr id="222" name="WfCat"/>
          <p:cNvSpPr txBox="1"/>
          <p:nvPr/>
        </p:nvSpPr>
        <p:spPr>
          <a:xfrm>
            <a:off x="9096468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other non-BC</a:t>
            </a:r>
          </a:p>
        </p:txBody>
      </p:sp>
      <p:sp>
        <p:nvSpPr>
          <p:cNvPr id="223" name="WfCat"/>
          <p:cNvSpPr txBox="1"/>
          <p:nvPr/>
        </p:nvSpPr>
        <p:spPr>
          <a:xfrm>
            <a:off x="10361542" y="3896887"/>
            <a:ext cx="1265074" cy="44311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</a:t>
            </a:r>
          </a:p>
        </p:txBody>
      </p:sp>
      <p:sp>
        <p:nvSpPr>
          <p:cNvPr id="30" name="InterpBox"/>
          <p:cNvSpPr txBox="1"/>
          <p:nvPr/>
        </p:nvSpPr>
        <p:spPr>
          <a:xfrm>
            <a:off x="453079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is the included denominator.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sizing base is $18.2B of DDG's $31.2B FY2022–FY2027 estimate and $57.9B of the submarine portfolio's $85.6B. This base funds yard labor, team-build work, purchased material, and first- and lower-tier supplier flow.</a:t>
            </a:r>
          </a:p>
        </p:txBody>
      </p:sp>
      <p:sp>
        <p:nvSpPr>
          <p:cNvPr id="31" name="InterpBox"/>
          <p:cNvSpPr txBox="1"/>
          <p:nvPr/>
        </p:nvSpPr>
        <p:spPr>
          <a:xfrm>
            <a:off x="4280533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GFE, other budget categories, and yard self-perform leave the boundary.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leaves first — DDG electronics and ordnance ($10.8B); submarine government-furnished propulsion, electronics, and ordnance ($17.2B). Then other non-BC categories — plans, change orders, HM&amp;E, and other, plus Virginia technology insertion on the submarine side ($2.3B DDG, $10.5B sub). Yard self-perform within Basic Construction is removed later, at the supplier step.</a:t>
            </a:r>
          </a:p>
        </p:txBody>
      </p:sp>
      <p:sp>
        <p:nvSpPr>
          <p:cNvPr id="32" name="InterpBox"/>
          <p:cNvSpPr txBox="1"/>
          <p:nvPr/>
        </p:nvSpPr>
        <p:spPr>
          <a:xfrm>
            <a:off x="8107987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Top-of-funnel context and first-tier filings are evidence, not numerator.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 and TOA frame the denominator; FFATA/FSRS subawards are a visible floor behind the supplier coefficient. Do not add AP/LLTM on top of the BC base inside this funnel; the DDG-only filtered AP/LLTM stream is handled separately, and the OBBBA Sec. 20002 mandatory awards are additive to these P-5c funnels, entering at the TAM bridge.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DDG and submarine SCN/P-5c cost-funnel data, FY2022–FY2027; (2) Navy P-5c GFE and Basic Construction breakouts; (3) program TAM bridge inputs; (4) FY 2026 Mandatory Funding Allocation Plan, PL 119-21 Sec. 20002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Context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Demand Signals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Demand Backdrop | Policy, prime behavior, and industrial-base pressure point toward more distributed supplier capacity.</a:t>
            </a:r>
          </a:p>
        </p:txBody>
      </p:sp>
      <p:cxnSp>
        <p:nvCxnSpPr>
          <p:cNvPr id="10" name="TimelineAxis"/>
          <p:cNvCxnSpPr/>
          <p:nvPr/>
        </p:nvCxnSpPr>
        <p:spPr>
          <a:xfrm>
            <a:off x="453079" y="1536600"/>
            <a:ext cx="1128236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6" name="TimelineTick0"/>
          <p:cNvCxnSpPr/>
          <p:nvPr/>
        </p:nvCxnSpPr>
        <p:spPr>
          <a:xfrm>
            <a:off x="1537315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7" name="TimelineTick1"/>
          <p:cNvCxnSpPr/>
          <p:nvPr/>
        </p:nvCxnSpPr>
        <p:spPr>
          <a:xfrm>
            <a:off x="3815787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" name="TimelineTick2"/>
          <p:cNvCxnSpPr/>
          <p:nvPr/>
        </p:nvCxnSpPr>
        <p:spPr>
          <a:xfrm>
            <a:off x="6094259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" name="TimelineTick3"/>
          <p:cNvCxnSpPr/>
          <p:nvPr/>
        </p:nvCxnSpPr>
        <p:spPr>
          <a:xfrm>
            <a:off x="8372731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0" name="TimelineTick4"/>
          <p:cNvCxnSpPr/>
          <p:nvPr/>
        </p:nvCxnSpPr>
        <p:spPr>
          <a:xfrm>
            <a:off x="10651203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6" name="RailRule0"/>
          <p:cNvCxnSpPr/>
          <p:nvPr/>
        </p:nvCxnSpPr>
        <p:spPr>
          <a:xfrm>
            <a:off x="453079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7" name="RailRule1"/>
          <p:cNvCxnSpPr/>
          <p:nvPr/>
        </p:nvCxnSpPr>
        <p:spPr>
          <a:xfrm>
            <a:off x="4260533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8" name="RailRule2"/>
          <p:cNvCxnSpPr/>
          <p:nvPr/>
        </p:nvCxnSpPr>
        <p:spPr>
          <a:xfrm>
            <a:off x="8067987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1" name="DateChip 2021"/>
          <p:cNvSpPr txBox="1"/>
          <p:nvPr/>
        </p:nvSpPr>
        <p:spPr>
          <a:xfrm>
            <a:off x="453079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12" name="DateChip 2024–2025"/>
          <p:cNvSpPr txBox="1"/>
          <p:nvPr/>
        </p:nvSpPr>
        <p:spPr>
          <a:xfrm>
            <a:off x="2731551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2024–2025</a:t>
            </a:r>
          </a:p>
        </p:txBody>
      </p:sp>
      <p:sp>
        <p:nvSpPr>
          <p:cNvPr id="13" name="DateChip Jan 2026"/>
          <p:cNvSpPr txBox="1"/>
          <p:nvPr/>
        </p:nvSpPr>
        <p:spPr>
          <a:xfrm>
            <a:off x="5010023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 2026</a:t>
            </a:r>
          </a:p>
        </p:txBody>
      </p:sp>
      <p:sp>
        <p:nvSpPr>
          <p:cNvPr id="14" name="DateChip Jan–Apr 2026"/>
          <p:cNvSpPr txBox="1"/>
          <p:nvPr/>
        </p:nvSpPr>
        <p:spPr>
          <a:xfrm>
            <a:off x="7288495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Jan–Apr 2026</a:t>
            </a:r>
          </a:p>
        </p:txBody>
      </p:sp>
      <p:sp>
        <p:nvSpPr>
          <p:cNvPr id="15" name="DateChip Apr–May 2026"/>
          <p:cNvSpPr txBox="1"/>
          <p:nvPr/>
        </p:nvSpPr>
        <p:spPr>
          <a:xfrm>
            <a:off x="9566967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Apr–May 2026</a:t>
            </a:r>
          </a:p>
        </p:txBody>
      </p:sp>
      <p:sp>
        <p:nvSpPr>
          <p:cNvPr id="21" name="MilestoneCard"/>
          <p:cNvSpPr txBox="1"/>
          <p:nvPr/>
        </p:nvSpPr>
        <p:spPr>
          <a:xfrm>
            <a:off x="453079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Supplier-base constraint and industrial-base concern</a:t>
            </a:r>
          </a:p>
        </p:txBody>
      </p:sp>
      <p:sp>
        <p:nvSpPr>
          <p:cNvPr id="22" name="MilestoneCard"/>
          <p:cNvSpPr txBox="1"/>
          <p:nvPr/>
        </p:nvSpPr>
        <p:spPr>
          <a:xfrm>
            <a:off x="2731551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Industrial-base capacity funding and yard-space outsourcing context</a:t>
            </a:r>
          </a:p>
        </p:txBody>
      </p:sp>
      <p:sp>
        <p:nvSpPr>
          <p:cNvPr id="23" name="MilestoneCard"/>
          <p:cNvSpPr txBox="1"/>
          <p:nvPr/>
        </p:nvSpPr>
        <p:spPr>
          <a:xfrm>
            <a:off x="5010023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requirement and AUKUS demand context</a:t>
            </a:r>
          </a:p>
        </p:txBody>
      </p:sp>
      <p:sp>
        <p:nvSpPr>
          <p:cNvPr id="24" name="MilestoneCard"/>
          <p:cNvSpPr txBox="1"/>
          <p:nvPr/>
        </p:nvSpPr>
        <p:spPr>
          <a:xfrm>
            <a:off x="7288495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commentary: supply chain is a gating item, submarine-centric</a:t>
            </a:r>
          </a:p>
        </p:txBody>
      </p:sp>
      <p:sp>
        <p:nvSpPr>
          <p:cNvPr id="25" name="MilestoneCard"/>
          <p:cNvSpPr txBox="1"/>
          <p:nvPr/>
        </p:nvSpPr>
        <p:spPr>
          <a:xfrm>
            <a:off x="9566967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Navy, GAO, and HII distributed-shipbuilding signals</a:t>
            </a:r>
          </a:p>
        </p:txBody>
      </p:sp>
      <p:sp>
        <p:nvSpPr>
          <p:cNvPr id="31" name="ThemeRail"/>
          <p:cNvSpPr txBox="1"/>
          <p:nvPr/>
        </p:nvSpPr>
        <p:spPr>
          <a:xfrm>
            <a:off x="453079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Supplier-base constraint: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capacity, long-lead items, sole-source exposure, and industrial-base atrophy.</a:t>
            </a:r>
          </a:p>
        </p:txBody>
      </p:sp>
      <p:sp>
        <p:nvSpPr>
          <p:cNvPr id="32" name="ThemeRail"/>
          <p:cNvSpPr txBox="1"/>
          <p:nvPr/>
        </p:nvSpPr>
        <p:spPr>
          <a:xfrm>
            <a:off x="4260533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and funding tailwind: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distributed-production direction and capacity investment.</a:t>
            </a:r>
          </a:p>
        </p:txBody>
      </p:sp>
      <p:sp>
        <p:nvSpPr>
          <p:cNvPr id="33" name="ThemeRail"/>
          <p:cNvSpPr txBox="1"/>
          <p:nvPr/>
        </p:nvSpPr>
        <p:spPr>
          <a:xfrm>
            <a:off x="8067987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behavior: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public distributed-work commitments; GD supply-chain pressure signals.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3511600"/>
            <a:ext cx="6300000" cy="16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40000" rIns="137160" bIns="4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signals support more external capacity, but not a larger sizing numerator.</a:t>
            </a:r>
          </a:p>
          <a:p>
            <a:pPr marL="142875" indent="-142875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Policy, oversight, and prime commentary point toward more distributed supplier work; the FY2022–FY2027 model still sizes from SCN Basic Construction and strict supplier coefficients.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signals support the same direction for different reasons.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carries the clearer DDG distributed-production signal; GD's public signal is more submarine-centric, with margin pressure consistent with an outsourcing premium.</a:t>
            </a:r>
          </a:p>
        </p:txBody>
      </p:sp>
      <p:pic>
        <p:nvPicPr>
          <p:cNvPr id="50" name="SubmarineConstruction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79" y="3361600"/>
            <a:ext cx="4662362" cy="1670000"/>
          </a:xfrm>
          <a:prstGeom prst="rect">
            <a:avLst/>
          </a:prstGeom>
        </p:spPr>
      </p:pic>
      <p:sp>
        <p:nvSpPr>
          <p:cNvPr id="51" name="PhotoCaption"/>
          <p:cNvSpPr txBox="1"/>
          <p:nvPr/>
        </p:nvSpPr>
        <p:spPr>
          <a:xfrm>
            <a:off x="7073079" y="5047600"/>
            <a:ext cx="4662362" cy="9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Virginia-class submarine under construction</a:t>
            </a:r>
          </a:p>
        </p:txBody>
      </p:sp>
      <p:sp>
        <p:nvSpPr>
          <p:cNvPr id="45" name="FocalCallout"/>
          <p:cNvSpPr txBox="1"/>
          <p:nvPr/>
        </p:nvSpPr>
        <p:spPr>
          <a:xfrm>
            <a:off x="453079" y="5310000"/>
            <a:ext cx="11282362" cy="5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model sizes the current opportunity;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distributed work for new entrants is a diligence question, not a modeled input.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and OSD shipbuilding and industrial-base policy and budget materials, FY2021–FY2026; (2) GAO shipbuilding and submarine industrial-base reports; (3) HII and General Dynamics public disclosures and earnings commentary, 2024–2026; (4) submarine construction photograph, illustrative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Sizing the Opportunity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A budget-led TAM with an allocation-led SAM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Sizing Chain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| TAM is budget-led, while SAM mix is allocated through one entity-resolved supplier registry.</a:t>
            </a:r>
          </a:p>
        </p:txBody>
      </p:sp>
      <p:sp>
        <p:nvSpPr>
          <p:cNvPr id="10" name="ExhibitHeader"/>
          <p:cNvSpPr txBox="1"/>
          <p:nvPr/>
        </p:nvSpPr>
        <p:spPr>
          <a:xfrm>
            <a:off x="453079" y="1371600"/>
            <a:ext cx="71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Sizing chain and governing rules</a:t>
            </a:r>
          </a:p>
        </p:txBody>
      </p:sp>
      <p:graphicFrame>
        <p:nvGraphicFramePr>
          <p:cNvPr id="11" name="MethodLedger"/>
          <p:cNvGraphicFramePr>
            <a:graphicFrameLocks noGrp="1"/>
          </p:cNvGraphicFramePr>
          <p:nvPr/>
        </p:nvGraphicFramePr>
        <p:xfrm>
          <a:off x="453079" y="1741600"/>
          <a:ext cx="7150000" cy="299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0000"/>
                <a:gridCol w="2100000"/>
                <a:gridCol w="2300000"/>
                <a:gridCol w="1600000"/>
              </a:tblGrid>
              <a:tr h="3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GOVERNING SIGNAL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Basic Construction and AP/LLTM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Build exogenous TAM by 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Classification does not move 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Strip prime, co-prime, GFE, and excluded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Converts the budget base into supplier opportunity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mix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Operating entity, SAM-resolved supplier registry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 first, then bucket; subawards are mix evidence, not market size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registry classifies DDG and submarine alike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Physical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Seven stable work-type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Structural, machining, castings, piping, electrical power, HVAC, 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Keeps the two programs comparable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Exclusions and residual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Mission systems, service, holding, foreign/FMS, unresolved 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 out, or hold residual explicit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SAM does not auto-equal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and entity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Overlapping cuts: metal, HM&amp;E, electrical, modular,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Scenarios are not additive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Commentary"/>
          <p:cNvSpPr txBox="1"/>
          <p:nvPr/>
        </p:nvSpPr>
        <p:spPr>
          <a:xfrm>
            <a:off x="7883079" y="1741600"/>
            <a:ext cx="3852362" cy="29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is fixed by the budget method, not by supplier reclassification.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is the budget base multiplied by the place-of-performance supplier share; re-bucketing suppliers changes mix, not the $4.2B headline.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registry governs both programs after role exclusions.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dollars are classified at the operating-entity level after mission systems, services, holding companies, foreign/FMS, primes, and GFE are removed.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a modeled result, not a cleanup item.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supplier dollars stay in the denominator and dilute bucket shares, so broad SAM does not automatically equal total TAM.</a:t>
            </a:r>
          </a:p>
        </p:txBody>
      </p:sp>
      <p:sp>
        <p:nvSpPr>
          <p:cNvPr id="13" name="BoundaryStrip"/>
          <p:cNvSpPr txBox="1"/>
          <p:nvPr/>
        </p:nvSpPr>
        <p:spPr>
          <a:xfrm>
            <a:off x="453079" y="4951600"/>
            <a:ext cx="11282362" cy="54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 boundary: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electrical means ship power, distribution, and generation; combat and mission electronics are excluded in the base case. DDG VLS launch-control is sensitivity, not base scope.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DoD place-of-performance (POP) award corpus and parent-prime PIID scope; (3) FFATA/FSRS subaward records and the operating-entity supplier registry, FY2017–FY2026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Bridge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Bridge | Combined supplier TAM is $4.2B per year, but AP/LLTM is additive for DDG and reference-only for submarine.</a:t>
            </a:r>
          </a:p>
        </p:txBody>
      </p:sp>
      <p:cxnSp>
        <p:nvCxnSpPr>
          <p:cNvPr id="40" name="DdgToCombined"/>
          <p:cNvCxnSpPr/>
          <p:nvPr/>
        </p:nvCxnSpPr>
        <p:spPr>
          <a:xfrm>
            <a:off x="3213669" y="3960000"/>
            <a:ext cx="0" cy="28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1" name="SubToCombined"/>
          <p:cNvCxnSpPr/>
          <p:nvPr/>
        </p:nvCxnSpPr>
        <p:spPr>
          <a:xfrm>
            <a:off x="8974850" y="3960000"/>
            <a:ext cx="0" cy="28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" name="UnitsCaption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bridge, $B cumulative and $M per year; constant FY2026 dollars, incl. OBBBA Sec. 20002 mandatory funding. Each program is bridged separately, then summed.</a:t>
            </a:r>
          </a:p>
        </p:txBody>
      </p:sp>
      <p:sp>
        <p:nvSpPr>
          <p:cNvPr id="11" name="BridgeHeader"/>
          <p:cNvSpPr txBox="1"/>
          <p:nvPr/>
        </p:nvSpPr>
        <p:spPr>
          <a:xfrm>
            <a:off x="453079" y="1601600"/>
            <a:ext cx="5521181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supplier TAM bridge</a:t>
            </a:r>
          </a:p>
        </p:txBody>
      </p:sp>
      <p:sp>
        <p:nvSpPr>
          <p:cNvPr id="12" name="BridgeHeader"/>
          <p:cNvSpPr txBox="1"/>
          <p:nvPr/>
        </p:nvSpPr>
        <p:spPr>
          <a:xfrm>
            <a:off x="6214260" y="1601600"/>
            <a:ext cx="5521181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supplier TAM bridge</a:t>
            </a:r>
          </a:p>
        </p:txBody>
      </p:sp>
      <p:sp>
        <p:nvSpPr>
          <p:cNvPr id="20" name="DdgStep"/>
          <p:cNvSpPr txBox="1"/>
          <p:nvPr/>
        </p:nvSpPr>
        <p:spPr>
          <a:xfrm>
            <a:off x="453079" y="1891600"/>
            <a:ext cx="5521181" cy="385680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construction base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$21.5B cumulative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incl. $3.4B OBBBA mandatory (Sec. 20002(17))</a:t>
            </a:r>
          </a:p>
        </p:txBody>
      </p:sp>
      <p:sp>
        <p:nvSpPr>
          <p:cNvPr id="21" name="DdgStep"/>
          <p:cNvSpPr txBox="1"/>
          <p:nvPr/>
        </p:nvSpPr>
        <p:spPr>
          <a:xfrm>
            <a:off x="453079" y="2312280"/>
            <a:ext cx="5521181" cy="38568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prime, co-prime, and GFE place-of-performance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$18.8B removed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scope removal</a:t>
            </a:r>
          </a:p>
        </p:txBody>
      </p:sp>
      <p:sp>
        <p:nvSpPr>
          <p:cNvPr id="22" name="DdgStep"/>
          <p:cNvSpPr txBox="1"/>
          <p:nvPr/>
        </p:nvSpPr>
        <p:spPr>
          <a:xfrm>
            <a:off x="453079" y="2732960"/>
            <a:ext cx="5521181" cy="385680"/>
          </a:xfrm>
          <a:prstGeom prst="rect">
            <a:avLst/>
          </a:prstGeom>
          <a:solidFill>
            <a:srgbClr val="6E91B1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BC supplier stream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$2.7B cumulative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$451M per year</a:t>
            </a:r>
          </a:p>
        </p:txBody>
      </p:sp>
      <p:sp>
        <p:nvSpPr>
          <p:cNvPr id="23" name="DdgStep"/>
          <p:cNvSpPr txBox="1"/>
          <p:nvPr/>
        </p:nvSpPr>
        <p:spPr>
          <a:xfrm>
            <a:off x="453079" y="3153640"/>
            <a:ext cx="5521181" cy="385680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AP/LLTM stream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$1.2B cumulative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$208M per year</a:t>
            </a:r>
          </a:p>
        </p:txBody>
      </p:sp>
      <p:sp>
        <p:nvSpPr>
          <p:cNvPr id="24" name="DdgStep"/>
          <p:cNvSpPr txBox="1"/>
          <p:nvPr/>
        </p:nvSpPr>
        <p:spPr>
          <a:xfrm>
            <a:off x="453079" y="3574320"/>
            <a:ext cx="5521181" cy="38568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supplier TAM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$4.0B cumulative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$659M per year</a:t>
            </a:r>
          </a:p>
        </p:txBody>
      </p:sp>
      <p:sp>
        <p:nvSpPr>
          <p:cNvPr id="30" name="SubCard"/>
          <p:cNvSpPr txBox="1"/>
          <p:nvPr/>
        </p:nvSpPr>
        <p:spPr>
          <a:xfrm>
            <a:off x="6214260" y="1891600"/>
            <a:ext cx="5521181" cy="487100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$60.6B cumulative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incl. $2.7B OBBBA mandatory (Sec. 20002(16))</a:t>
            </a:r>
          </a:p>
        </p:txBody>
      </p:sp>
      <p:sp>
        <p:nvSpPr>
          <p:cNvPr id="31" name="SubCard"/>
          <p:cNvSpPr txBox="1"/>
          <p:nvPr/>
        </p:nvSpPr>
        <p:spPr>
          <a:xfrm>
            <a:off x="6214260" y="2418700"/>
            <a:ext cx="5521181" cy="487100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supplier share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35%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strict, non-nuclear, yard-excluded</a:t>
            </a:r>
          </a:p>
        </p:txBody>
      </p:sp>
      <p:sp>
        <p:nvSpPr>
          <p:cNvPr id="32" name="SubCard"/>
          <p:cNvSpPr txBox="1"/>
          <p:nvPr/>
        </p:nvSpPr>
        <p:spPr>
          <a:xfrm>
            <a:off x="6214260" y="2945800"/>
            <a:ext cx="5521181" cy="4871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 TAM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$21.2B cumulative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$3.5B per year</a:t>
            </a:r>
          </a:p>
        </p:txBody>
      </p:sp>
      <p:sp>
        <p:nvSpPr>
          <p:cNvPr id="33" name="SubCard"/>
          <p:cNvSpPr txBox="1"/>
          <p:nvPr/>
        </p:nvSpPr>
        <p:spPr>
          <a:xfrm>
            <a:off x="6214260" y="3472900"/>
            <a:ext cx="5521181" cy="48710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AP/LLTM base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supplier long-lead already inside Basic Construction</a:t>
            </a:r>
          </a:p>
        </p:txBody>
      </p:sp>
      <p:sp>
        <p:nvSpPr>
          <p:cNvPr id="45" name="CombinedOutput"/>
          <p:cNvSpPr txBox="1"/>
          <p:nvPr/>
        </p:nvSpPr>
        <p:spPr>
          <a:xfrm>
            <a:off x="2594260" y="4240000"/>
            <a:ext cx="7000000" cy="5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SUPPLIER TAM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$4.2B per year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$25.2B cumulative</a:t>
            </a:r>
          </a:p>
        </p:txBody>
      </p:sp>
      <p:sp>
        <p:nvSpPr>
          <p:cNvPr id="50" name="InterpBox"/>
          <p:cNvSpPr txBox="1"/>
          <p:nvPr/>
        </p:nvSpPr>
        <p:spPr>
          <a:xfrm>
            <a:off x="453079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has two additive supplier streams.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supplier work is $451M per year and filtered AP/LLTM adds $208M per year, because DDG Basic Construction is net of prior-year AP.</a:t>
            </a:r>
          </a:p>
        </p:txBody>
      </p:sp>
      <p:sp>
        <p:nvSpPr>
          <p:cNvPr id="51" name="InterpBox"/>
          <p:cNvSpPr txBox="1"/>
          <p:nvPr/>
        </p:nvSpPr>
        <p:spPr>
          <a:xfrm>
            <a:off x="4280533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AP/LLTM stays reference-only.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35% supplier share on $60.6B of Basic Construction yields $3.5B per year; supplier long-lead material already sits inside the boundary, so additive AP/LLTM remains $0.</a:t>
            </a:r>
          </a:p>
        </p:txBody>
      </p:sp>
      <p:sp>
        <p:nvSpPr>
          <p:cNvPr id="52" name="InterpBox"/>
          <p:cNvSpPr txBox="1"/>
          <p:nvPr/>
        </p:nvSpPr>
        <p:spPr>
          <a:xfrm>
            <a:off x="8107987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combined TAM sums dollars, not rules.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outputs sum to $4.2B per year and $25.2B cumulative; the AP/LLTM treatment remains program-specific and should not be blended.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DDG MYP-corrected outside-yards place-of-performance evidence; (3) submarine coefficient and AP/LLTM boundary analysis; (4) FY 2026 Mandatory Funding Allocation Plan, PL 119-21 Sec. 20002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Share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Share | Strict inputs hold TAM conservative, but DDG and submarine solve different evidence problems.</a:t>
            </a:r>
          </a:p>
        </p:txBody>
      </p:sp>
      <p:sp>
        <p:nvSpPr>
          <p:cNvPr id="10" name="ShareBadge"/>
          <p:cNvSpPr txBox="1"/>
          <p:nvPr/>
        </p:nvSpPr>
        <p:spPr>
          <a:xfrm>
            <a:off x="453079" y="1371600"/>
            <a:ext cx="3475000" cy="98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APPLIED BC SUPPLIER SHARE</a:t>
            </a:r>
          </a:p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MYP-corrected non-GFE BC stream</a:t>
            </a:r>
          </a:p>
        </p:txBody>
      </p:sp>
      <p:sp>
        <p:nvSpPr>
          <p:cNvPr id="11" name="ShareBadge"/>
          <p:cNvSpPr txBox="1"/>
          <p:nvPr/>
        </p:nvSpPr>
        <p:spPr>
          <a:xfrm>
            <a:off x="4128079" y="1371600"/>
            <a:ext cx="3475000" cy="98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APPLIED BC SUPPLIER SHARE</a:t>
            </a:r>
          </a:p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 non-nuclear Basic Construction view</a:t>
            </a:r>
          </a:p>
        </p:txBody>
      </p:sp>
      <p:graphicFrame>
        <p:nvGraphicFramePr>
          <p:cNvPr id="20" name="SupplierShareMethodTable"/>
          <p:cNvGraphicFramePr>
            <a:graphicFrameLocks noGrp="1"/>
          </p:cNvGraphicFramePr>
          <p:nvPr/>
        </p:nvGraphicFramePr>
        <p:xfrm>
          <a:off x="453079" y="2501600"/>
          <a:ext cx="7150000" cy="2718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900000"/>
                <a:gridCol w="1150000"/>
                <a:gridCol w="1700000"/>
                <a:gridCol w="2000000"/>
                <a:gridCol w="1400000"/>
              </a:tblGrid>
              <a:tr h="3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ISSUE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BROADER EVIDENCE VIEWS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FEEDS 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MYP redaction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13% BC 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Restored $14.6B multiyear masters; corrected outside-yards POP ~32.8%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13% on the non-GFE BC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85% supplier-share input on 80% 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Assumption-driven filtered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Additive filtered stream, $208M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breadth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 BC 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All-gated POP anchor ~52%; AP/LLTM reference ~49%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35% on non-nuclear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$0 additive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AP is large 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additive under the current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Commentary"/>
          <p:cNvSpPr txBox="1"/>
          <p:nvPr/>
        </p:nvSpPr>
        <p:spPr>
          <a:xfrm>
            <a:off x="7883079" y="2501600"/>
            <a:ext cx="3852362" cy="271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supplier-share evidence starts with a redaction correction.</a:t>
            </a:r>
          </a:p>
          <a:p>
            <a:pPr marL="142875" indent="-142875">
              <a:lnSpc>
                <a:spcPct val="115000"/>
              </a:lnSpc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restores $14.6B of redacted multiyear masters to correct the outside-yards POP read; the applied BC supplier share remains 13%.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supplier-share evidence is broad but deliberately constrained.</a:t>
            </a:r>
          </a:p>
          <a:p>
            <a:pPr marL="142875" indent="-142875">
              <a:lnSpc>
                <a:spcPct val="115000"/>
              </a:lnSpc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35% input is a strict non-nuclear, yard-excluded view; broader POP anchors near 52% and 49% stay sensitivity.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the applied shares feed headline TAM.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Broader POP views support the audit record, but 13% for DDG and 35% for submarine are the TAM bridge inputs.</a:t>
            </a:r>
          </a:p>
        </p:txBody>
      </p:sp>
      <p:sp>
        <p:nvSpPr>
          <p:cNvPr id="40" name="FocalCallout"/>
          <p:cNvSpPr txBox="1"/>
          <p:nvPr/>
        </p:nvSpPr>
        <p:spPr>
          <a:xfrm>
            <a:off x="453079" y="5370000"/>
            <a:ext cx="11282362" cy="4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two programs' shares are inputs to separate models;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single blended supplier-share percentage would mislead.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DDG MYP redaction correction and outside-yards place-of-performance evidence; (2) submarine coefficient and AP/LLTM boundary evidence; (3) Navy SCN and P-5c Basic Construction budget justification, FY2022–FY2027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Annual Cadence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Cadence | Average annual TAM is a sizing convention; actual supplier demand is lumpy and peaks in FY2024 and in OBBBA-boosted FY2026.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supplier TAM by fiscal year, $B; stacked by program. Constant FY2026 dollars, FY2022–FY2027; incl. OBBBA Sec. 20002 mandatory funding.</a:t>
            </a:r>
          </a:p>
        </p:txBody>
      </p:sp>
      <p:graphicFrame>
        <p:nvGraphicFramePr>
          <p:cNvPr id="20" name="AnnualCadenceStackedColumn"/>
          <p:cNvGraphicFramePr/>
          <p:nvPr/>
        </p:nvGraphicFramePr>
        <p:xfrm>
          <a:off x="453079" y="1741600"/>
          <a:ext cx="11282362" cy="25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StackTotal"/>
          <p:cNvSpPr txBox="1"/>
          <p:nvPr/>
        </p:nvSpPr>
        <p:spPr>
          <a:xfrm>
            <a:off x="1779536" y="3105115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</a:t>
            </a:r>
          </a:p>
        </p:txBody>
      </p:sp>
      <p:sp>
        <p:nvSpPr>
          <p:cNvPr id="61" name="StackTotal"/>
          <p:cNvSpPr txBox="1"/>
          <p:nvPr/>
        </p:nvSpPr>
        <p:spPr>
          <a:xfrm>
            <a:off x="3500096" y="2985486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62" name="StackTotal"/>
          <p:cNvSpPr txBox="1"/>
          <p:nvPr/>
        </p:nvSpPr>
        <p:spPr>
          <a:xfrm>
            <a:off x="5220656" y="1974938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63" name="StackTotal"/>
          <p:cNvSpPr txBox="1"/>
          <p:nvPr/>
        </p:nvSpPr>
        <p:spPr>
          <a:xfrm>
            <a:off x="6941216" y="2976614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</a:t>
            </a:r>
          </a:p>
        </p:txBody>
      </p:sp>
      <p:sp>
        <p:nvSpPr>
          <p:cNvPr id="64" name="StackTotal"/>
          <p:cNvSpPr txBox="1"/>
          <p:nvPr/>
        </p:nvSpPr>
        <p:spPr>
          <a:xfrm>
            <a:off x="8661776" y="1934299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6.2</a:t>
            </a:r>
          </a:p>
        </p:txBody>
      </p:sp>
      <p:sp>
        <p:nvSpPr>
          <p:cNvPr id="65" name="StackTotal"/>
          <p:cNvSpPr txBox="1"/>
          <p:nvPr/>
        </p:nvSpPr>
        <p:spPr>
          <a:xfrm>
            <a:off x="10382336" y="2065375"/>
            <a:ext cx="76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70" name="SegChip"/>
          <p:cNvSpPr txBox="1"/>
          <p:nvPr/>
        </p:nvSpPr>
        <p:spPr>
          <a:xfrm>
            <a:off x="2052036" y="3351115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71" name="SegChip"/>
          <p:cNvSpPr txBox="1"/>
          <p:nvPr/>
        </p:nvSpPr>
        <p:spPr>
          <a:xfrm>
            <a:off x="10654836" y="2311375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50" name="LegendSwatch"/>
          <p:cNvSpPr txBox="1"/>
          <p:nvPr/>
        </p:nvSpPr>
        <p:spPr>
          <a:xfrm>
            <a:off x="5139372" y="4368325"/>
            <a:ext cx="179388" cy="13335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LegendLabel"/>
          <p:cNvSpPr txBox="1"/>
          <p:nvPr/>
        </p:nvSpPr>
        <p:spPr>
          <a:xfrm>
            <a:off x="5378760" y="4301650"/>
            <a:ext cx="329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52" name="LegendSwatch"/>
          <p:cNvSpPr txBox="1"/>
          <p:nvPr/>
        </p:nvSpPr>
        <p:spPr>
          <a:xfrm>
            <a:off x="5908510" y="43683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LegendLabel"/>
          <p:cNvSpPr txBox="1"/>
          <p:nvPr/>
        </p:nvSpPr>
        <p:spPr>
          <a:xfrm>
            <a:off x="6147898" y="4301650"/>
            <a:ext cx="901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30" name="InterpBox"/>
          <p:cNvSpPr txBox="1"/>
          <p:nvPr/>
        </p:nvSpPr>
        <p:spPr>
          <a:xfrm>
            <a:off x="453079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procurement drives the cadence baseline.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reaches $6.1B and FY2027 $5.7B when Virginia and Columbia Basic Construction fund together.</a:t>
            </a:r>
          </a:p>
        </p:txBody>
      </p:sp>
      <p:sp>
        <p:nvSpPr>
          <p:cNvPr id="31" name="InterpBox"/>
          <p:cNvSpPr txBox="1"/>
          <p:nvPr/>
        </p:nvSpPr>
        <p:spPr>
          <a:xfrm>
            <a:off x="4280533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FY2026 is the OBBBA and long-lead spike.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combined year reaches $6.2B: OBBBA mandatory funding adds two DDG-51s and a second Virginia boat, while DDG AP/LLTM long-lead peaks at ~$1.2B in the same year.</a:t>
            </a:r>
          </a:p>
        </p:txBody>
      </p:sp>
      <p:sp>
        <p:nvSpPr>
          <p:cNvPr id="32" name="InterpBox"/>
          <p:cNvSpPr txBox="1"/>
          <p:nvPr/>
        </p:nvSpPr>
        <p:spPr>
          <a:xfrm>
            <a:off x="8107987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$4.2B average is a sizing convention.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six-year average smooths a path from $2.1B in FY2022 to $6.2B in FY2026; the annual shape reflects procurement cadence, not a steady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Virginia and Columbia annual procurement profiles; (3) DoD contract announcements and FFATA/FSRS subaward records; (4) FY 2026 Mandatory Funding Allocation Plan, PL 119-21 Sec. 20002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Mix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Mix | Electrical power, piping, and structural fabrication lead the combined pool; a $653M residual stays separate.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average annual TAM by work type, $M; stacked by program. Residual shown separate. Constant FY2026 dollars.</a:t>
            </a:r>
          </a:p>
        </p:txBody>
      </p:sp>
      <p:graphicFrame>
        <p:nvGraphicFramePr>
          <p:cNvPr id="20" name="WorkTypeRankedStackedColumn"/>
          <p:cNvGraphicFramePr/>
          <p:nvPr/>
        </p:nvGraphicFramePr>
        <p:xfrm>
          <a:off x="453079" y="1741600"/>
          <a:ext cx="7050000" cy="329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StackTotal"/>
          <p:cNvSpPr txBox="1"/>
          <p:nvPr/>
        </p:nvSpPr>
        <p:spPr>
          <a:xfrm>
            <a:off x="905860" y="2042093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1,353</a:t>
            </a:r>
          </a:p>
        </p:txBody>
      </p:sp>
      <p:sp>
        <p:nvSpPr>
          <p:cNvPr id="61" name="StackTotal"/>
          <p:cNvSpPr txBox="1"/>
          <p:nvPr/>
        </p:nvSpPr>
        <p:spPr>
          <a:xfrm>
            <a:off x="1725422" y="3144946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710</a:t>
            </a:r>
          </a:p>
        </p:txBody>
      </p:sp>
      <p:sp>
        <p:nvSpPr>
          <p:cNvPr id="62" name="StackTotal"/>
          <p:cNvSpPr txBox="1"/>
          <p:nvPr/>
        </p:nvSpPr>
        <p:spPr>
          <a:xfrm>
            <a:off x="2544985" y="3277014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633</a:t>
            </a:r>
          </a:p>
        </p:txBody>
      </p:sp>
      <p:sp>
        <p:nvSpPr>
          <p:cNvPr id="63" name="StackTotal"/>
          <p:cNvSpPr txBox="1"/>
          <p:nvPr/>
        </p:nvSpPr>
        <p:spPr>
          <a:xfrm>
            <a:off x="3364547" y="3719528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64" name="StackTotal"/>
          <p:cNvSpPr txBox="1"/>
          <p:nvPr/>
        </p:nvSpPr>
        <p:spPr>
          <a:xfrm>
            <a:off x="4184110" y="4009391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206</a:t>
            </a:r>
          </a:p>
        </p:txBody>
      </p:sp>
      <p:sp>
        <p:nvSpPr>
          <p:cNvPr id="65" name="StackTotal"/>
          <p:cNvSpPr txBox="1"/>
          <p:nvPr/>
        </p:nvSpPr>
        <p:spPr>
          <a:xfrm>
            <a:off x="5003672" y="4084858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162</a:t>
            </a:r>
          </a:p>
        </p:txBody>
      </p:sp>
      <p:sp>
        <p:nvSpPr>
          <p:cNvPr id="66" name="StackTotal"/>
          <p:cNvSpPr txBox="1"/>
          <p:nvPr/>
        </p:nvSpPr>
        <p:spPr>
          <a:xfrm>
            <a:off x="5823235" y="4187768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67" name="StackTotal"/>
          <p:cNvSpPr txBox="1"/>
          <p:nvPr/>
        </p:nvSpPr>
        <p:spPr>
          <a:xfrm>
            <a:off x="6642797" y="3242711"/>
            <a:ext cx="76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653</a:t>
            </a:r>
          </a:p>
        </p:txBody>
      </p:sp>
      <p:sp>
        <p:nvSpPr>
          <p:cNvPr id="70" name="SegChip"/>
          <p:cNvSpPr txBox="1"/>
          <p:nvPr/>
        </p:nvSpPr>
        <p:spPr>
          <a:xfrm>
            <a:off x="1178360" y="2264093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1" name="SegChip"/>
          <p:cNvSpPr txBox="1"/>
          <p:nvPr/>
        </p:nvSpPr>
        <p:spPr>
          <a:xfrm>
            <a:off x="1997922" y="3366946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2" name="SegChip"/>
          <p:cNvSpPr txBox="1"/>
          <p:nvPr/>
        </p:nvSpPr>
        <p:spPr>
          <a:xfrm>
            <a:off x="2817485" y="3499014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3" name="SegChip"/>
          <p:cNvSpPr txBox="1"/>
          <p:nvPr/>
        </p:nvSpPr>
        <p:spPr>
          <a:xfrm>
            <a:off x="4456610" y="4231391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4" name="SegChip"/>
          <p:cNvSpPr txBox="1"/>
          <p:nvPr/>
        </p:nvSpPr>
        <p:spPr>
          <a:xfrm>
            <a:off x="5276172" y="4306858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5" name="SegChip"/>
          <p:cNvSpPr txBox="1"/>
          <p:nvPr/>
        </p:nvSpPr>
        <p:spPr>
          <a:xfrm>
            <a:off x="6095735" y="4409768"/>
            <a:ext cx="215000" cy="112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0" name="LegendSwatch"/>
          <p:cNvSpPr txBox="1"/>
          <p:nvPr/>
        </p:nvSpPr>
        <p:spPr>
          <a:xfrm>
            <a:off x="2400497" y="1824925"/>
            <a:ext cx="179388" cy="13335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LegendLabel"/>
          <p:cNvSpPr txBox="1"/>
          <p:nvPr/>
        </p:nvSpPr>
        <p:spPr>
          <a:xfrm>
            <a:off x="2639885" y="1758250"/>
            <a:ext cx="9012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52" name="LegendSwatch"/>
          <p:cNvSpPr txBox="1"/>
          <p:nvPr/>
        </p:nvSpPr>
        <p:spPr>
          <a:xfrm>
            <a:off x="3741135" y="1824925"/>
            <a:ext cx="179388" cy="13335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LegendLabel"/>
          <p:cNvSpPr txBox="1"/>
          <p:nvPr/>
        </p:nvSpPr>
        <p:spPr>
          <a:xfrm>
            <a:off x="3980523" y="1758250"/>
            <a:ext cx="3297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54" name="LegendSwatch"/>
          <p:cNvSpPr txBox="1"/>
          <p:nvPr/>
        </p:nvSpPr>
        <p:spPr>
          <a:xfrm>
            <a:off x="4510273" y="1824925"/>
            <a:ext cx="179388" cy="13335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5" name="LegendLabel"/>
          <p:cNvSpPr txBox="1"/>
          <p:nvPr/>
        </p:nvSpPr>
        <p:spPr>
          <a:xfrm>
            <a:off x="4749661" y="1758250"/>
            <a:ext cx="8060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30" name="Commentary"/>
          <p:cNvSpPr txBox="1"/>
          <p:nvPr/>
        </p:nvSpPr>
        <p:spPr>
          <a:xfrm>
            <a:off x="7783079" y="1741600"/>
            <a:ext cx="3952362" cy="352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buckets dominate the named supplier pool.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power, piping, and structural fabrication total ~$2.7B of the $4.2B TAM, led by $1,353M of electrical and power work.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Entity-resolved classification shifts the mix, not the TAM headline.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rises to $375M once VLS launcher-cell machining and LM2500 propulsion machinery are assigned to physical work type; combat electronics leave the supplier base.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remains visible outside named-bucket SAM.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$653M of supplier dollars lacks recoverable bucket evidence, so it stays in TAM while remaining outside broad SAM.</a:t>
            </a:r>
          </a:p>
        </p:txBody>
      </p:sp>
      <p:sp>
        <p:nvSpPr>
          <p:cNvPr id="40" name="TransitionLine"/>
          <p:cNvSpPr txBox="1"/>
          <p:nvPr/>
        </p:nvSpPr>
        <p:spPr>
          <a:xfrm>
            <a:off x="453079" y="5510000"/>
            <a:ext cx="9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component pool is not one thing; entry, qualification, and incumbent dynamics differ sharply by work type.</a:t>
            </a:r>
          </a:p>
        </p:txBody>
      </p:sp>
      <p:cxnSp>
        <p:nvCxnSpPr>
          <p:cNvPr id="41" name="BridgeRule"/>
          <p:cNvCxnSpPr/>
          <p:nvPr/>
        </p:nvCxnSpPr>
        <p:spPr>
          <a:xfrm>
            <a:off x="9750000" y="5690000"/>
            <a:ext cx="1985441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FFATA/FSRS subaward records and the operating-entity supplier registry, FY2017–FY2026; (2) Navy SCN and P-5c Basic Construction and AP/LLTM budget justification, FY2022–FY2027; (3) parent-prime PIID program-scope attribution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is the $3.5B envelope; HM&amp;E is the largest cut at $2.5B and modular is the smallest at $408M.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scenario SAM, $B, FY2022–FY2027; constant FY2026 dollars. Each scenario is an inclusion cut of one TAM, not additive.</a:t>
            </a:r>
          </a:p>
        </p:txBody>
      </p:sp>
      <p:graphicFrame>
        <p:nvGraphicFramePr>
          <p:cNvPr id="20" name="SamScenarioClusteredColumn"/>
          <p:cNvGraphicFramePr/>
          <p:nvPr/>
        </p:nvGraphicFramePr>
        <p:xfrm>
          <a:off x="453079" y="1741600"/>
          <a:ext cx="6950000" cy="29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Commentary"/>
          <p:cNvSpPr txBox="1"/>
          <p:nvPr/>
        </p:nvSpPr>
        <p:spPr>
          <a:xfrm>
            <a:off x="7683079" y="1741600"/>
            <a:ext cx="4052362" cy="353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is the serviceable envelope, not another market.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 is $3.5B per year, equal to $4.2B of TAM less the $653M residual; every other scenario is a cut of that envelope.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is the largest overlapping cut.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reaches $2.5B because it includes electrical power, machining, piping/valves/pumps, and HVAC; electrical alone is $1.4B and metal is $1.2B.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is smaller but most aligned with distributed build.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$408M modular cut is entity-flagged module-assembly work, not a structural-and-coatings union.</a:t>
            </a:r>
          </a:p>
        </p:txBody>
      </p:sp>
      <p:sp>
        <p:nvSpPr>
          <p:cNvPr id="40" name="ScenarioCompositionLegend"/>
          <p:cNvSpPr txBox="1"/>
          <p:nvPr/>
        </p:nvSpPr>
        <p:spPr>
          <a:xfrm>
            <a:off x="453079" y="4750000"/>
            <a:ext cx="695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0000"/>
              </a:lnSpc>
              <a:buNone/>
            </a:pPr>
            <a:r>
              <a:rPr lang="en-US" sz="85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composition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all seven buckets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machining, piping/valves/pumps, electrical/power, and HVAC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electrical/power only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Metal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structural/pre-outfit, machining, and castings/forgings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entity-flagged module-assembly work, not a bucket union</a:t>
            </a:r>
          </a:p>
        </p:txBody>
      </p:sp>
      <p:sp>
        <p:nvSpPr>
          <p:cNvPr id="50" name="DoNotSumCaveat"/>
          <p:cNvSpPr txBox="1"/>
          <p:nvPr/>
        </p:nvSpPr>
        <p:spPr>
          <a:xfrm>
            <a:off x="7683079" y="5350000"/>
            <a:ext cx="4052362" cy="52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Scenarios are overlapping cuts of one TAM.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FFATA/FSRS subaward records and the operating-entity supplier registry; (3) DDG and submarine SAM scenario inclusion-cut definitions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Evidence and Implications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Assessing opportunities and the current supplier landscape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Evidence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Visibility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Visibility | Visible suppliers prove the layer exists, but first-tier filings capture only a floor.</a:t>
            </a:r>
          </a:p>
        </p:txBody>
      </p:sp>
      <p:sp>
        <p:nvSpPr>
          <p:cNvPr id="10" name="PanelHeader"/>
          <p:cNvSpPr txBox="1"/>
          <p:nvPr/>
        </p:nvSpPr>
        <p:spPr>
          <a:xfrm>
            <a:off x="453079" y="1371600"/>
            <a:ext cx="5501181" cy="33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60000" tIns="30000" rIns="160000" bIns="3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VISIBLE SUPPLIERS</a:t>
            </a:r>
          </a:p>
        </p:txBody>
      </p:sp>
      <p:sp>
        <p:nvSpPr>
          <p:cNvPr id="11" name="PanelHeader"/>
          <p:cNvSpPr txBox="1"/>
          <p:nvPr/>
        </p:nvSpPr>
        <p:spPr>
          <a:xfrm>
            <a:off x="6234260" y="1371600"/>
            <a:ext cx="5501181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60000" tIns="30000" rIns="160000" bIns="3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VISIBLE SUPPLIERS</a:t>
            </a:r>
          </a:p>
        </p:txBody>
      </p:sp>
      <p:sp>
        <p:nvSpPr>
          <p:cNvPr id="100" name="NameChip"/>
          <p:cNvSpPr txBox="1"/>
          <p:nvPr/>
        </p:nvSpPr>
        <p:spPr>
          <a:xfrm>
            <a:off x="453079" y="1761600"/>
            <a:ext cx="6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Leonardo</a:t>
            </a:r>
          </a:p>
        </p:txBody>
      </p:sp>
      <p:sp>
        <p:nvSpPr>
          <p:cNvPr id="101" name="NameChip"/>
          <p:cNvSpPr txBox="1"/>
          <p:nvPr/>
        </p:nvSpPr>
        <p:spPr>
          <a:xfrm>
            <a:off x="1146079" y="1761600"/>
            <a:ext cx="847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Arctic Slope</a:t>
            </a:r>
          </a:p>
        </p:txBody>
      </p:sp>
      <p:sp>
        <p:nvSpPr>
          <p:cNvPr id="102" name="NameChip"/>
          <p:cNvSpPr txBox="1"/>
          <p:nvPr/>
        </p:nvSpPr>
        <p:spPr>
          <a:xfrm>
            <a:off x="2063079" y="1761600"/>
            <a:ext cx="735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Major Tool</a:t>
            </a:r>
          </a:p>
        </p:txBody>
      </p:sp>
      <p:sp>
        <p:nvSpPr>
          <p:cNvPr id="103" name="NameChip"/>
          <p:cNvSpPr txBox="1"/>
          <p:nvPr/>
        </p:nvSpPr>
        <p:spPr>
          <a:xfrm>
            <a:off x="2868079" y="1761600"/>
            <a:ext cx="287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</a:t>
            </a:r>
          </a:p>
        </p:txBody>
      </p:sp>
      <p:sp>
        <p:nvSpPr>
          <p:cNvPr id="104" name="NameChip"/>
          <p:cNvSpPr txBox="1"/>
          <p:nvPr/>
        </p:nvSpPr>
        <p:spPr>
          <a:xfrm>
            <a:off x="3225079" y="1761600"/>
            <a:ext cx="79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Rolls-Royce</a:t>
            </a:r>
          </a:p>
        </p:txBody>
      </p:sp>
      <p:sp>
        <p:nvSpPr>
          <p:cNvPr id="105" name="NameChip"/>
          <p:cNvSpPr txBox="1"/>
          <p:nvPr/>
        </p:nvSpPr>
        <p:spPr>
          <a:xfrm>
            <a:off x="4086079" y="1761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Grumman</a:t>
            </a:r>
          </a:p>
        </p:txBody>
      </p:sp>
      <p:sp>
        <p:nvSpPr>
          <p:cNvPr id="106" name="NameChip"/>
          <p:cNvSpPr txBox="1"/>
          <p:nvPr/>
        </p:nvSpPr>
        <p:spPr>
          <a:xfrm>
            <a:off x="453079" y="2060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Johnson Controls</a:t>
            </a:r>
          </a:p>
        </p:txBody>
      </p:sp>
      <p:sp>
        <p:nvSpPr>
          <p:cNvPr id="120" name="NameChip"/>
          <p:cNvSpPr txBox="1"/>
          <p:nvPr/>
        </p:nvSpPr>
        <p:spPr>
          <a:xfrm>
            <a:off x="6234260" y="1761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Grumman</a:t>
            </a:r>
          </a:p>
        </p:txBody>
      </p:sp>
      <p:sp>
        <p:nvSpPr>
          <p:cNvPr id="121" name="NameChip"/>
          <p:cNvSpPr txBox="1"/>
          <p:nvPr/>
        </p:nvSpPr>
        <p:spPr>
          <a:xfrm>
            <a:off x="7375260" y="1761600"/>
            <a:ext cx="6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Leonardo</a:t>
            </a:r>
          </a:p>
        </p:txBody>
      </p:sp>
      <p:sp>
        <p:nvSpPr>
          <p:cNvPr id="122" name="NameChip"/>
          <p:cNvSpPr txBox="1"/>
          <p:nvPr/>
        </p:nvSpPr>
        <p:spPr>
          <a:xfrm>
            <a:off x="8068260" y="1761600"/>
            <a:ext cx="20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Curtiss-Wright Electro-Mechanical</a:t>
            </a:r>
          </a:p>
        </p:txBody>
      </p:sp>
      <p:sp>
        <p:nvSpPr>
          <p:cNvPr id="123" name="NameChip"/>
          <p:cNvSpPr txBox="1"/>
          <p:nvPr/>
        </p:nvSpPr>
        <p:spPr>
          <a:xfrm>
            <a:off x="10161260" y="1761600"/>
            <a:ext cx="735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Scot Forge</a:t>
            </a:r>
          </a:p>
        </p:txBody>
      </p:sp>
      <p:sp>
        <p:nvSpPr>
          <p:cNvPr id="124" name="NameChip"/>
          <p:cNvSpPr txBox="1"/>
          <p:nvPr/>
        </p:nvSpPr>
        <p:spPr>
          <a:xfrm>
            <a:off x="6234260" y="2060600"/>
            <a:ext cx="959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DC Fabricators</a:t>
            </a:r>
          </a:p>
        </p:txBody>
      </p:sp>
      <p:sp>
        <p:nvSpPr>
          <p:cNvPr id="125" name="NameChip"/>
          <p:cNvSpPr txBox="1"/>
          <p:nvPr/>
        </p:nvSpPr>
        <p:spPr>
          <a:xfrm>
            <a:off x="7263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Rhoads</a:t>
            </a:r>
          </a:p>
        </p:txBody>
      </p:sp>
      <p:sp>
        <p:nvSpPr>
          <p:cNvPr id="126" name="NameChip"/>
          <p:cNvSpPr txBox="1"/>
          <p:nvPr/>
        </p:nvSpPr>
        <p:spPr>
          <a:xfrm>
            <a:off x="7844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Graham</a:t>
            </a:r>
          </a:p>
        </p:txBody>
      </p:sp>
      <p:sp>
        <p:nvSpPr>
          <p:cNvPr id="127" name="NameChip"/>
          <p:cNvSpPr txBox="1"/>
          <p:nvPr/>
        </p:nvSpPr>
        <p:spPr>
          <a:xfrm>
            <a:off x="8425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Austal</a:t>
            </a:r>
          </a:p>
        </p:txBody>
      </p:sp>
      <p:sp>
        <p:nvSpPr>
          <p:cNvPr id="20" name="EvidenceMetricCard"/>
          <p:cNvSpPr txBox="1"/>
          <p:nvPr/>
        </p:nvSpPr>
        <p:spPr>
          <a:xfrm>
            <a:off x="453079" y="2901600"/>
            <a:ext cx="5501181" cy="90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FFATA-VISIBLE YARD-SIDE FLOW</a:t>
            </a:r>
          </a:p>
          <a:p>
            <a:pPr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~$2.7B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vs estimated yard-side outsourcing midpoint ~$13.6B</a:t>
            </a:r>
          </a:p>
        </p:txBody>
      </p:sp>
      <p:sp>
        <p:nvSpPr>
          <p:cNvPr id="21" name="EvidenceMetricCard"/>
          <p:cNvSpPr txBox="1"/>
          <p:nvPr/>
        </p:nvSpPr>
        <p:spPr>
          <a:xfrm>
            <a:off x="6234260" y="2901600"/>
            <a:ext cx="5501181" cy="9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SUPPLIER-ADDRESSABLE VISIBLE VALUE</a:t>
            </a:r>
          </a:p>
          <a:p>
            <a:pPr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~$5.5B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across ~150 classified recipients; broader visible parent universe ~759</a:t>
            </a:r>
          </a:p>
        </p:txBody>
      </p:sp>
      <p:sp>
        <p:nvSpPr>
          <p:cNvPr id="30" name="MissedFlowGroup"/>
          <p:cNvSpPr txBox="1"/>
          <p:nvPr/>
        </p:nvSpPr>
        <p:spPr>
          <a:xfrm>
            <a:off x="453079" y="3981600"/>
            <a:ext cx="11282362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limits: 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threshold and lag; yard filing differences; HII Newport News visibility gap</a:t>
            </a:r>
          </a:p>
        </p:txBody>
      </p:sp>
      <p:sp>
        <p:nvSpPr>
          <p:cNvPr id="31" name="MissedFlowGroup"/>
          <p:cNvSpPr txBox="1"/>
          <p:nvPr/>
        </p:nvSpPr>
        <p:spPr>
          <a:xfrm>
            <a:off x="453079" y="4367600"/>
            <a:ext cx="11282362" cy="34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Supply-chain depth: 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material booked as direct cost; lower-tier subcontracting; standing agreements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4907600"/>
            <a:ext cx="5501181" cy="922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supplier names prove the layer exists, not the target list.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filings identify real suppliers and work-type cues, but some visible names are services, prime-affiliated, or outside the physical-component boundary.</a:t>
            </a:r>
          </a:p>
        </p:txBody>
      </p:sp>
      <p:sp>
        <p:nvSpPr>
          <p:cNvPr id="41" name="Commentary"/>
          <p:cNvSpPr txBox="1"/>
          <p:nvPr/>
        </p:nvSpPr>
        <p:spPr>
          <a:xfrm>
            <a:off x="6234260" y="4907600"/>
            <a:ext cx="5501181" cy="922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filings set a floor, not the market size.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Visibility thins below tier one and varies by yard, so TAM is sized from the budget base rather than by summing subawards.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FFATA/FSRS subaward records and the operating-entity supplier registry, FY2017–FY2026; (2) DDG MYP-corrected outside-yards place-of-performance evidence; (3) submarine visible-supplier classification and parent-universe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Appendix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 Roadmap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(1/5) | TAM creates the fixed supplier pool; SAM slices it without resizing the market.</a:t>
            </a:r>
          </a:p>
        </p:txBody>
      </p:sp>
      <p:cxnSp>
        <p:nvCxnSpPr>
          <p:cNvPr id="40" name="Arrow1"/>
          <p:cNvCxnSpPr/>
          <p:nvPr/>
        </p:nvCxnSpPr>
        <p:spPr>
          <a:xfrm>
            <a:off x="2349551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1" name="Arrow2"/>
          <p:cNvCxnSpPr/>
          <p:nvPr/>
        </p:nvCxnSpPr>
        <p:spPr>
          <a:xfrm>
            <a:off x="4546023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2" name="Arrow3"/>
          <p:cNvCxnSpPr/>
          <p:nvPr/>
        </p:nvCxnSpPr>
        <p:spPr>
          <a:xfrm>
            <a:off x="7342495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3" name="Arrow4"/>
          <p:cNvCxnSpPr/>
          <p:nvPr/>
        </p:nvCxnSpPr>
        <p:spPr>
          <a:xfrm>
            <a:off x="9538967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" name="ChapterBand"/>
          <p:cNvSpPr txBox="1"/>
          <p:nvPr/>
        </p:nvSpPr>
        <p:spPr>
          <a:xfrm>
            <a:off x="453079" y="1701600"/>
            <a:ext cx="4092944" cy="3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CHAPTER — BUILD THE FIXED DOLLAR POOL</a:t>
            </a:r>
          </a:p>
        </p:txBody>
      </p:sp>
      <p:sp>
        <p:nvSpPr>
          <p:cNvPr id="12" name="ChapterBand"/>
          <p:cNvSpPr txBox="1"/>
          <p:nvPr/>
        </p:nvSpPr>
        <p:spPr>
          <a:xfrm>
            <a:off x="7642495" y="1701600"/>
            <a:ext cx="4092946" cy="3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CHAPTER — ALLOCATE THE FIXED POOL</a:t>
            </a:r>
          </a:p>
        </p:txBody>
      </p:sp>
      <p:sp>
        <p:nvSpPr>
          <p:cNvPr id="20" name="MethodNode"/>
          <p:cNvSpPr txBox="1"/>
          <p:nvPr/>
        </p:nvSpPr>
        <p:spPr>
          <a:xfrm>
            <a:off x="453079" y="2151600"/>
            <a:ext cx="1896472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budget base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streams + scope gates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and AP/LLTM treatment</a:t>
            </a:r>
          </a:p>
        </p:txBody>
      </p:sp>
      <p:sp>
        <p:nvSpPr>
          <p:cNvPr id="21" name="MethodNode"/>
          <p:cNvSpPr txBox="1"/>
          <p:nvPr/>
        </p:nvSpPr>
        <p:spPr>
          <a:xfrm>
            <a:off x="2649551" y="2151600"/>
            <a:ext cx="1896472" cy="86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conversion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evidence estimates outsourced share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Program-specific TAM build</a:t>
            </a:r>
          </a:p>
        </p:txBody>
      </p:sp>
      <p:sp>
        <p:nvSpPr>
          <p:cNvPr id="22" name="MethodNode"/>
          <p:cNvSpPr txBox="1"/>
          <p:nvPr/>
        </p:nvSpPr>
        <p:spPr>
          <a:xfrm>
            <a:off x="7642495" y="2151600"/>
            <a:ext cx="1896472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classifier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→ PIID scope → UEI entity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filter + work-type home</a:t>
            </a:r>
          </a:p>
        </p:txBody>
      </p:sp>
      <p:sp>
        <p:nvSpPr>
          <p:cNvPr id="23" name="MethodNode"/>
          <p:cNvSpPr txBox="1"/>
          <p:nvPr/>
        </p:nvSpPr>
        <p:spPr>
          <a:xfrm>
            <a:off x="9838967" y="2151600"/>
            <a:ext cx="1896472" cy="86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Allocation + scenarios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TAM × bucket share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views from one pool</a:t>
            </a:r>
          </a:p>
        </p:txBody>
      </p:sp>
      <p:sp>
        <p:nvSpPr>
          <p:cNvPr id="30" name="FixedSupplierTAM"/>
          <p:cNvSpPr txBox="1"/>
          <p:nvPr/>
        </p:nvSpPr>
        <p:spPr>
          <a:xfrm>
            <a:off x="4846023" y="2041600"/>
            <a:ext cx="2496472" cy="108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only dollar pool SAM can slice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sizing window FY2022–FY2027; SAM evidence window FY2017–FY2026. Budget and POP evidence size the dollar pool; award evidence allocates the pool.</a:t>
            </a:r>
          </a:p>
        </p:txBody>
      </p:sp>
      <p:sp>
        <p:nvSpPr>
          <p:cNvPr id="31" name="HandoffCaption"/>
          <p:cNvSpPr txBox="1"/>
          <p:nvPr/>
        </p:nvSpPr>
        <p:spPr>
          <a:xfrm>
            <a:off x="4846023" y="3145600"/>
            <a:ext cx="249647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ends here; SAM starts here.</a:t>
            </a:r>
          </a:p>
        </p:txBody>
      </p:sp>
      <p:sp>
        <p:nvSpPr>
          <p:cNvPr id="50" name="ReaderKeyChip"/>
          <p:cNvSpPr txBox="1"/>
          <p:nvPr/>
        </p:nvSpPr>
        <p:spPr>
          <a:xfrm>
            <a:off x="453079" y="3455600"/>
            <a:ext cx="369412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Conversion rate showing how many cents of each retained budget dollar become outsourced supplier work.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51" name="ReaderKeyChip"/>
          <p:cNvSpPr txBox="1"/>
          <p:nvPr/>
        </p:nvSpPr>
        <p:spPr>
          <a:xfrm>
            <a:off x="4247199" y="3455600"/>
            <a:ext cx="3694120" cy="9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mutually exclusive classification for each retained supplier dollar; unresolved supplier work stays residual.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52" name="ReaderKeyChip"/>
          <p:cNvSpPr txBox="1"/>
          <p:nvPr/>
        </p:nvSpPr>
        <p:spPr>
          <a:xfrm>
            <a:off x="8041319" y="3455600"/>
            <a:ext cx="369412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view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overlapping leadership lens on the same fixed TAM pool; broad, HM&amp;E, metal, electrical, and modular should not be added.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SUMPRODUCT(bucket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TAM,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inclusion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flag)</a:t>
            </a:r>
          </a:p>
        </p:txBody>
      </p:sp>
      <p:sp>
        <p:nvSpPr>
          <p:cNvPr id="60" name="Commentary"/>
          <p:cNvSpPr txBox="1"/>
          <p:nvPr/>
        </p:nvSpPr>
        <p:spPr>
          <a:xfrm>
            <a:off x="453079" y="4545600"/>
            <a:ext cx="5511181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and SAM answer different questions.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sizes how much outsourced supplier-addressable new-construction work exists; SAM identifies which work-type slices are serviceable inside that fixed pool.</a:t>
            </a:r>
          </a:p>
        </p:txBody>
      </p:sp>
      <p:sp>
        <p:nvSpPr>
          <p:cNvPr id="61" name="Commentary"/>
          <p:cNvSpPr txBox="1"/>
          <p:nvPr/>
        </p:nvSpPr>
        <p:spPr>
          <a:xfrm>
            <a:off x="6224260" y="4545600"/>
            <a:ext cx="5511181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evidence moves allocation, not headline size.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PIID, UEI, registry, role filters, residual treatment, and scenario flags can move bucket shares and scenario SAM, but not budget-derived TAM.</a:t>
            </a:r>
          </a:p>
        </p:txBody>
      </p:sp>
      <p:sp>
        <p:nvSpPr>
          <p:cNvPr id="70" name="Guardrails"/>
          <p:cNvSpPr txBox="1"/>
          <p:nvPr/>
        </p:nvSpPr>
        <p:spPr>
          <a:xfrm>
            <a:off x="453079" y="5370000"/>
            <a:ext cx="11282362" cy="5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Guardrails: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 evidence creates supplier-share factors, not a summed award numerator. FFATA / FSRS evidence creates mix percentages, not market size. Scenario views overlap and should not be added.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budget justification books, FY2022–FY2027; (2) DoD/DoW contract-announcement POP corpus, CY2022–CY2026; (3) SAM.gov FSRS / FFATA subawards and SAM.gov / USAspending UEI / NAICS enrichment, FY2017–FY2026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Budget Base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(2/5) | Scope gates define the retained budget base before supplier-share conversion.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constant FY2026 dollars. DDG and submarine are run separately; this page stops at the retained budget stream bases sent to the supplier-share step.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619600"/>
            <a:ext cx="11282362" cy="3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38000" rIns="140000" bIns="38000"/>
          <a:lstStyle/>
          <a:p>
            <a:pPr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Retained-base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stream bases by program: DDG Basic Construction (incl. OBBBA mandatory) + additive AP/LLTM base; submarine Basic Construction + OBBBA mandatory stream + $0 additive AP/LLTM base. Supplier-share factors are applied next.</a:t>
            </a:r>
          </a:p>
        </p:txBody>
      </p:sp>
      <p:sp>
        <p:nvSpPr>
          <p:cNvPr id="20" name="TableLabel"/>
          <p:cNvSpPr txBox="1"/>
          <p:nvPr/>
        </p:nvSpPr>
        <p:spPr>
          <a:xfrm>
            <a:off x="453079" y="2025600"/>
            <a:ext cx="7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Retained-base ledger: what survives into supplier-share conversion</a:t>
            </a:r>
          </a:p>
        </p:txBody>
      </p:sp>
      <p:graphicFrame>
        <p:nvGraphicFramePr>
          <p:cNvPr id="21" name="RetainedBaseLedger"/>
          <p:cNvGraphicFramePr>
            <a:graphicFrameLocks noGrp="1"/>
          </p:cNvGraphicFramePr>
          <p:nvPr/>
        </p:nvGraphicFramePr>
        <p:xfrm>
          <a:off x="453079" y="2275600"/>
          <a:ext cx="7000000" cy="2438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60000"/>
                <a:gridCol w="2380000"/>
                <a:gridCol w="1960000"/>
                <a:gridCol w="140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FIELDS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Program budget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Program; FY; appropriation; SCN / P-5c line; P-10 AP / LLTM / EOQ fields; OBBBA Sec. 20002 mandatory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Build the budget base by program and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is the sizing base; award flow is not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Scope &amp; cost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estimate; GFE / GFP; ordnance; plans; nuclear; sustainment / depot; design-only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 the new-construction component boundary; remove non-component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cost stays context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Basic Construction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Basic Construction; program flag; FY flag; non-GFE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 Basic Construction as the core retained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retained base by 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AP/LLTM incrementality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/ LLTM / EOQ amount; overlap &amp; incrementality flags; DDG construction share; submarine AP-bridge exclusions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 only where incremental to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 additive; submarine nets to $0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Handoff to next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Retained BC base; retained AP/LLTM base; stream flag; program flag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Send the bases to supplier-share conversion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blended supplier-share factors; no supplier TAM yet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ProgramRailHeader"/>
          <p:cNvSpPr txBox="1"/>
          <p:nvPr/>
        </p:nvSpPr>
        <p:spPr>
          <a:xfrm>
            <a:off x="7723079" y="2025600"/>
            <a:ext cx="4012362" cy="25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 TREATMENT: RUN SEPARATELY</a:t>
            </a:r>
          </a:p>
        </p:txBody>
      </p:sp>
      <p:sp>
        <p:nvSpPr>
          <p:cNvPr id="31" name="ProgramRibbon"/>
          <p:cNvSpPr txBox="1"/>
          <p:nvPr/>
        </p:nvSpPr>
        <p:spPr>
          <a:xfrm>
            <a:off x="7723079" y="2325600"/>
            <a:ext cx="4012362" cy="19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32" name="ProgramBody"/>
          <p:cNvSpPr txBox="1"/>
          <p:nvPr/>
        </p:nvSpPr>
        <p:spPr>
          <a:xfrm>
            <a:off x="7723079" y="2515600"/>
            <a:ext cx="4012362" cy="6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20000" tIns="70000" rIns="120000" bIns="60000"/>
          <a:lstStyle/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base: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Construction, LI 2122; OBBBA Sec. 20002(17) mandatory BC folds into the BC stream.</a:t>
            </a:r>
          </a:p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additive, ship-construction-share filtered.</a:t>
            </a:r>
          </a:p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(incl. OBBBA) + additive AP/LLTM base.</a:t>
            </a:r>
          </a:p>
        </p:txBody>
      </p:sp>
      <p:sp>
        <p:nvSpPr>
          <p:cNvPr id="33" name="ProgramRibbon"/>
          <p:cNvSpPr txBox="1"/>
          <p:nvPr/>
        </p:nvSpPr>
        <p:spPr>
          <a:xfrm>
            <a:off x="7723079" y="3191600"/>
            <a:ext cx="4012362" cy="19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34" name="ProgramBody"/>
          <p:cNvSpPr txBox="1"/>
          <p:nvPr/>
        </p:nvSpPr>
        <p:spPr>
          <a:xfrm>
            <a:off x="7723079" y="3381600"/>
            <a:ext cx="4012362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20000" tIns="70000" rIns="120000" bIns="60000"/>
          <a:lstStyle/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base: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+ Columbia Basic Construction; OBBBA Sec. 20002(16) runs as its own stream.</a:t>
            </a:r>
          </a:p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reference-only; additive base = $0.</a:t>
            </a:r>
          </a:p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+ OBBBA stream + $0 additive AP/LLTM base.</a:t>
            </a:r>
          </a:p>
        </p:txBody>
      </p:sp>
      <p:sp>
        <p:nvSpPr>
          <p:cNvPr id="50" name="RailCommentary"/>
          <p:cNvSpPr txBox="1"/>
          <p:nvPr/>
        </p:nvSpPr>
        <p:spPr>
          <a:xfrm>
            <a:off x="7723079" y="4041600"/>
            <a:ext cx="4012362" cy="788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0000" rIns="30000" bIns="0"/>
          <a:lstStyle/>
          <a:p>
            <a:pPr>
              <a:lnSpc>
                <a:spcPct val="104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base stays program-specific.</a:t>
            </a:r>
          </a:p>
          <a:p>
            <a:pPr marL="142875" indent="-142875">
              <a:lnSpc>
                <a:spcPct val="102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stay separate because AP/LLTM rules and supplier-share evidence differ.</a:t>
            </a:r>
          </a:p>
          <a:p>
            <a:pPr>
              <a:lnSpc>
                <a:spcPct val="104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Conversion happens next.</a:t>
            </a:r>
          </a:p>
          <a:p>
            <a:pPr marL="142875" indent="-142875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page sizes eligible retained budget dollars; the next page applies supplier-share factors.</a:t>
            </a:r>
          </a:p>
        </p:txBody>
      </p:sp>
      <p:sp>
        <p:nvSpPr>
          <p:cNvPr id="40" name="APLLTMStrip"/>
          <p:cNvSpPr txBox="1"/>
          <p:nvPr/>
        </p:nvSpPr>
        <p:spPr>
          <a:xfrm>
            <a:off x="453079" y="4960000"/>
            <a:ext cx="11282362" cy="9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1" name="StripTitle"/>
          <p:cNvSpPr txBox="1"/>
          <p:nvPr/>
        </p:nvSpPr>
        <p:spPr>
          <a:xfrm>
            <a:off x="573079" y="4996000"/>
            <a:ext cx="11042362" cy="17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incrementality test: add only when not already inside the Basic Construction boundary</a:t>
            </a:r>
          </a:p>
        </p:txBody>
      </p:sp>
      <p:cxnSp>
        <p:nvCxnSpPr>
          <p:cNvPr id="42" name="StripDivider"/>
          <p:cNvCxnSpPr/>
          <p:nvPr/>
        </p:nvCxnSpPr>
        <p:spPr>
          <a:xfrm>
            <a:off x="6094260" y="5175000"/>
            <a:ext cx="0" cy="59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0" name="FormulaCard"/>
          <p:cNvSpPr txBox="1"/>
          <p:nvPr/>
        </p:nvSpPr>
        <p:spPr>
          <a:xfrm>
            <a:off x="57307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 AP in window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$1.8B</a:t>
            </a:r>
          </a:p>
        </p:txBody>
      </p:sp>
      <p:sp>
        <p:nvSpPr>
          <p:cNvPr id="202" name="MathOperator mathMultiply"/>
          <p:cNvSpPr>
            <a:spLocks noGrp="1"/>
          </p:cNvSpPr>
          <p:nvPr/>
        </p:nvSpPr>
        <p:spPr>
          <a:xfrm>
            <a:off x="2255139" y="5335000"/>
            <a:ext cx="150000" cy="15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03" name="FormulaCard"/>
          <p:cNvSpPr txBox="1"/>
          <p:nvPr/>
        </p:nvSpPr>
        <p:spPr>
          <a:xfrm>
            <a:off x="248013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Ship-construction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205" name="MathOperator mathEqual"/>
          <p:cNvSpPr>
            <a:spLocks noGrp="1"/>
          </p:cNvSpPr>
          <p:nvPr/>
        </p:nvSpPr>
        <p:spPr>
          <a:xfrm>
            <a:off x="4162199" y="5335000"/>
            <a:ext cx="150000" cy="15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06" name="FormulaCard"/>
          <p:cNvSpPr txBox="1"/>
          <p:nvPr/>
        </p:nvSpPr>
        <p:spPr>
          <a:xfrm>
            <a:off x="438719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AP/LLTM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240" name="FormulaCard"/>
          <p:cNvSpPr txBox="1"/>
          <p:nvPr/>
        </p:nvSpPr>
        <p:spPr>
          <a:xfrm>
            <a:off x="6194260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P-10 AP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$44.7B</a:t>
            </a:r>
          </a:p>
        </p:txBody>
      </p:sp>
      <p:sp>
        <p:nvSpPr>
          <p:cNvPr id="242" name="MathOperator mathMinus"/>
          <p:cNvSpPr>
            <a:spLocks noGrp="1"/>
          </p:cNvSpPr>
          <p:nvPr/>
        </p:nvSpPr>
        <p:spPr>
          <a:xfrm>
            <a:off x="7113496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3" name="FormulaCard"/>
          <p:cNvSpPr txBox="1"/>
          <p:nvPr/>
        </p:nvSpPr>
        <p:spPr>
          <a:xfrm>
            <a:off x="7338496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/ design / weapons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$27.3B</a:t>
            </a:r>
          </a:p>
        </p:txBody>
      </p:sp>
      <p:sp>
        <p:nvSpPr>
          <p:cNvPr id="245" name="MathOperator mathMinus"/>
          <p:cNvSpPr>
            <a:spLocks noGrp="1"/>
          </p:cNvSpPr>
          <p:nvPr/>
        </p:nvSpPr>
        <p:spPr>
          <a:xfrm>
            <a:off x="8257732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6" name="FormulaCard"/>
          <p:cNvSpPr txBox="1"/>
          <p:nvPr/>
        </p:nvSpPr>
        <p:spPr>
          <a:xfrm>
            <a:off x="8482732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Already in BC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$16.8B</a:t>
            </a:r>
          </a:p>
        </p:txBody>
      </p:sp>
      <p:sp>
        <p:nvSpPr>
          <p:cNvPr id="248" name="MathOperator mathMinus"/>
          <p:cNvSpPr>
            <a:spLocks noGrp="1"/>
          </p:cNvSpPr>
          <p:nvPr/>
        </p:nvSpPr>
        <p:spPr>
          <a:xfrm>
            <a:off x="9401968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9" name="FormulaCard"/>
          <p:cNvSpPr txBox="1"/>
          <p:nvPr/>
        </p:nvSpPr>
        <p:spPr>
          <a:xfrm>
            <a:off x="9626968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$0.6B</a:t>
            </a:r>
          </a:p>
        </p:txBody>
      </p:sp>
      <p:sp>
        <p:nvSpPr>
          <p:cNvPr id="251" name="MathOperator mathEqual"/>
          <p:cNvSpPr>
            <a:spLocks noGrp="1"/>
          </p:cNvSpPr>
          <p:nvPr/>
        </p:nvSpPr>
        <p:spPr>
          <a:xfrm>
            <a:off x="10546204" y="5335000"/>
            <a:ext cx="150000" cy="15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52" name="FormulaCard"/>
          <p:cNvSpPr txBox="1"/>
          <p:nvPr/>
        </p:nvSpPr>
        <p:spPr>
          <a:xfrm>
            <a:off x="10771204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AP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260" name="StripSubnote"/>
          <p:cNvSpPr txBox="1"/>
          <p:nvPr/>
        </p:nvSpPr>
        <p:spPr>
          <a:xfrm>
            <a:off x="573079" y="5650000"/>
            <a:ext cx="5421181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6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step applies the AP/LLTM supplier-share factor; this page stops at the retained base.</a:t>
            </a:r>
          </a:p>
        </p:txBody>
      </p:sp>
      <p:sp>
        <p:nvSpPr>
          <p:cNvPr id="261" name="StripSubnote"/>
          <p:cNvSpPr txBox="1"/>
          <p:nvPr/>
        </p:nvSpPr>
        <p:spPr>
          <a:xfrm>
            <a:off x="6194260" y="5650000"/>
            <a:ext cx="5421181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6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stays useful evidence for supplier-share context, but it is not an incremental base.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budget justification books, FY2022–FY2027; (2) P-5c Basic Construction and P-10 AP/LLTM budget exhibits; (3) DDG-51, Virginia, and Columbia scope-exclusion reconciliations; (4) FY 2026 Mandatory Funding Allocation Plan, PL 119-21 Sec. 20002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Supplier Share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(3/5) | POP evidence converts retained budget into fixed outsourced supplier TAM.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453079" y="1371600"/>
            <a:ext cx="11282362" cy="17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retained budget bases from the budget-base step. POP records estimate supplier share; they are not summed as the TAM numerator.</a:t>
            </a:r>
          </a:p>
        </p:txBody>
      </p:sp>
      <p:sp>
        <p:nvSpPr>
          <p:cNvPr id="10" name="DefinitionStrip"/>
          <p:cNvSpPr txBox="1"/>
          <p:nvPr/>
        </p:nvSpPr>
        <p:spPr>
          <a:xfrm>
            <a:off x="453079" y="1578600"/>
            <a:ext cx="11282362" cy="36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conversion rate that turns retained budget dollars into outsourced supplier TAM. It answers: 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every $1 of retained budget base, how many cents become supplier work?</a:t>
            </a:r>
          </a:p>
        </p:txBody>
      </p:sp>
      <p:sp>
        <p:nvSpPr>
          <p:cNvPr id="20" name="FormulaTitle"/>
          <p:cNvSpPr txBox="1"/>
          <p:nvPr/>
        </p:nvSpPr>
        <p:spPr>
          <a:xfrm>
            <a:off x="453079" y="1987600"/>
            <a:ext cx="11282362" cy="165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POP evidence becomes the supplier-share factor</a:t>
            </a:r>
          </a:p>
        </p:txBody>
      </p:sp>
      <p:sp>
        <p:nvSpPr>
          <p:cNvPr id="100" name="Card"/>
          <p:cNvSpPr txBox="1"/>
          <p:nvPr/>
        </p:nvSpPr>
        <p:spPr>
          <a:xfrm>
            <a:off x="453079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 POP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Confirmed gated in-scope</a:t>
            </a:r>
          </a:p>
        </p:txBody>
      </p:sp>
      <p:sp>
        <p:nvSpPr>
          <p:cNvPr id="102" name="MathOperator mathMultiply"/>
          <p:cNvSpPr>
            <a:spLocks noGrp="1"/>
          </p:cNvSpPr>
          <p:nvPr/>
        </p:nvSpPr>
        <p:spPr>
          <a:xfrm>
            <a:off x="2550051" y="2268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Card"/>
          <p:cNvSpPr txBox="1"/>
          <p:nvPr/>
        </p:nvSpPr>
        <p:spPr>
          <a:xfrm>
            <a:off x="2767551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Supplier-location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US + Foreign POP %</a:t>
            </a:r>
          </a:p>
        </p:txBody>
      </p:sp>
      <p:sp>
        <p:nvSpPr>
          <p:cNvPr id="105" name="MathOperator mathEqual"/>
          <p:cNvSpPr>
            <a:spLocks noGrp="1"/>
          </p:cNvSpPr>
          <p:nvPr/>
        </p:nvSpPr>
        <p:spPr>
          <a:xfrm>
            <a:off x="4864523" y="2268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6" name="Card"/>
          <p:cNvSpPr txBox="1"/>
          <p:nvPr/>
        </p:nvSpPr>
        <p:spPr>
          <a:xfrm>
            <a:off x="5082023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supplier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Dollar-weighted footprint</a:t>
            </a:r>
          </a:p>
        </p:txBody>
      </p:sp>
      <p:sp>
        <p:nvSpPr>
          <p:cNvPr id="108" name="MathOperator mathDivide"/>
          <p:cNvSpPr>
            <a:spLocks noGrp="1"/>
          </p:cNvSpPr>
          <p:nvPr/>
        </p:nvSpPr>
        <p:spPr>
          <a:xfrm>
            <a:off x="7178995" y="2268600"/>
            <a:ext cx="145000" cy="145000"/>
          </a:xfrm>
          <a:prstGeom prst="mathDivid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9" name="Card"/>
          <p:cNvSpPr txBox="1"/>
          <p:nvPr/>
        </p:nvSpPr>
        <p:spPr>
          <a:xfrm>
            <a:off x="7396495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 POP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gated denominator</a:t>
            </a:r>
          </a:p>
        </p:txBody>
      </p:sp>
      <p:sp>
        <p:nvSpPr>
          <p:cNvPr id="111" name="MathOperator mathEqual"/>
          <p:cNvSpPr>
            <a:spLocks noGrp="1"/>
          </p:cNvSpPr>
          <p:nvPr/>
        </p:nvSpPr>
        <p:spPr>
          <a:xfrm>
            <a:off x="9493467" y="2268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2" name="Card"/>
          <p:cNvSpPr txBox="1"/>
          <p:nvPr/>
        </p:nvSpPr>
        <p:spPr>
          <a:xfrm>
            <a:off x="9710967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to retained base</a:t>
            </a:r>
          </a:p>
        </p:txBody>
      </p:sp>
      <p:sp>
        <p:nvSpPr>
          <p:cNvPr id="30" name="DDGFootprint"/>
          <p:cNvSpPr txBox="1"/>
          <p:nvPr/>
        </p:nvSpPr>
        <p:spPr>
          <a:xfrm>
            <a:off x="453079" y="2535600"/>
            <a:ext cx="5501181" cy="1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footprint: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BIW % + Ingalls % excluded; Other US % + Foreign % counted as supplier share.</a:t>
            </a:r>
          </a:p>
        </p:txBody>
      </p:sp>
      <p:sp>
        <p:nvSpPr>
          <p:cNvPr id="31" name="SubFootprint"/>
          <p:cNvSpPr txBox="1"/>
          <p:nvPr/>
        </p:nvSpPr>
        <p:spPr>
          <a:xfrm>
            <a:off x="6234260" y="2535600"/>
            <a:ext cx="5501181" cy="1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footprint: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EB % + HII % excluded; Other US % + Foreign % counted as supplier share.</a:t>
            </a:r>
          </a:p>
        </p:txBody>
      </p:sp>
      <p:sp>
        <p:nvSpPr>
          <p:cNvPr id="200" name="LaneRibbon"/>
          <p:cNvSpPr txBox="1"/>
          <p:nvPr/>
        </p:nvSpPr>
        <p:spPr>
          <a:xfrm>
            <a:off x="453079" y="2701600"/>
            <a:ext cx="5501181" cy="175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0000" tIns="12000" rIns="11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DDG: ADDITIVE AP/LLTM STREAM</a:t>
            </a:r>
          </a:p>
        </p:txBody>
      </p:sp>
      <p:sp>
        <p:nvSpPr>
          <p:cNvPr id="201" name="LanePanel"/>
          <p:cNvSpPr txBox="1"/>
          <p:nvPr/>
        </p:nvSpPr>
        <p:spPr>
          <a:xfrm>
            <a:off x="453079" y="2876600"/>
            <a:ext cx="5501181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0" name="Card"/>
          <p:cNvSpPr txBox="1"/>
          <p:nvPr/>
        </p:nvSpPr>
        <p:spPr>
          <a:xfrm>
            <a:off x="55307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+ OBBBA mandatory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$21.5B</a:t>
            </a:r>
          </a:p>
        </p:txBody>
      </p:sp>
      <p:sp>
        <p:nvSpPr>
          <p:cNvPr id="212" name="MathOperator mathMultiply"/>
          <p:cNvSpPr>
            <a:spLocks noGrp="1"/>
          </p:cNvSpPr>
          <p:nvPr/>
        </p:nvSpPr>
        <p:spPr>
          <a:xfrm>
            <a:off x="2200639" y="3081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3" name="Card"/>
          <p:cNvSpPr txBox="1"/>
          <p:nvPr/>
        </p:nvSpPr>
        <p:spPr>
          <a:xfrm>
            <a:off x="241413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15" name="MathOperator mathEqual"/>
          <p:cNvSpPr>
            <a:spLocks noGrp="1"/>
          </p:cNvSpPr>
          <p:nvPr/>
        </p:nvSpPr>
        <p:spPr>
          <a:xfrm>
            <a:off x="4061699" y="3081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6" name="Card"/>
          <p:cNvSpPr txBox="1"/>
          <p:nvPr/>
        </p:nvSpPr>
        <p:spPr>
          <a:xfrm>
            <a:off x="427519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$2.7B</a:t>
            </a:r>
          </a:p>
        </p:txBody>
      </p:sp>
      <p:sp>
        <p:nvSpPr>
          <p:cNvPr id="219" name="MathOperator mathPlus"/>
          <p:cNvSpPr>
            <a:spLocks noGrp="1"/>
          </p:cNvSpPr>
          <p:nvPr/>
        </p:nvSpPr>
        <p:spPr>
          <a:xfrm>
            <a:off x="4992229" y="3394100"/>
            <a:ext cx="145000" cy="14500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0" name="Card"/>
          <p:cNvSpPr txBox="1"/>
          <p:nvPr/>
        </p:nvSpPr>
        <p:spPr>
          <a:xfrm>
            <a:off x="55307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AP/LLTM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222" name="MathOperator mathMultiply"/>
          <p:cNvSpPr>
            <a:spLocks noGrp="1"/>
          </p:cNvSpPr>
          <p:nvPr/>
        </p:nvSpPr>
        <p:spPr>
          <a:xfrm>
            <a:off x="2200639" y="3706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3" name="Card"/>
          <p:cNvSpPr txBox="1"/>
          <p:nvPr/>
        </p:nvSpPr>
        <p:spPr>
          <a:xfrm>
            <a:off x="241413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225" name="MathOperator mathEqual"/>
          <p:cNvSpPr>
            <a:spLocks noGrp="1"/>
          </p:cNvSpPr>
          <p:nvPr/>
        </p:nvSpPr>
        <p:spPr>
          <a:xfrm>
            <a:off x="4061699" y="3706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6" name="Card"/>
          <p:cNvSpPr txBox="1"/>
          <p:nvPr/>
        </p:nvSpPr>
        <p:spPr>
          <a:xfrm>
            <a:off x="427519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$1.2B</a:t>
            </a:r>
          </a:p>
        </p:txBody>
      </p:sp>
      <p:sp>
        <p:nvSpPr>
          <p:cNvPr id="230" name="LaneTotal"/>
          <p:cNvSpPr txBox="1"/>
          <p:nvPr/>
        </p:nvSpPr>
        <p:spPr>
          <a:xfrm>
            <a:off x="553079" y="4041600"/>
            <a:ext cx="5301181" cy="395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$4.0B cumulative / $659M per year</a:t>
            </a:r>
          </a:p>
        </p:txBody>
      </p:sp>
      <p:sp>
        <p:nvSpPr>
          <p:cNvPr id="240" name="EvidenceChip"/>
          <p:cNvSpPr txBox="1"/>
          <p:nvPr/>
        </p:nvSpPr>
        <p:spPr>
          <a:xfrm>
            <a:off x="453079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modeled POP actions</a:t>
            </a:r>
          </a:p>
        </p:txBody>
      </p:sp>
      <p:sp>
        <p:nvSpPr>
          <p:cNvPr id="241" name="EvidenceChip"/>
          <p:cNvSpPr txBox="1"/>
          <p:nvPr/>
        </p:nvSpPr>
        <p:spPr>
          <a:xfrm>
            <a:off x="1838374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$21.7B gated corpus</a:t>
            </a:r>
          </a:p>
        </p:txBody>
      </p:sp>
      <p:sp>
        <p:nvSpPr>
          <p:cNvPr id="242" name="EvidenceChip"/>
          <p:cNvSpPr txBox="1"/>
          <p:nvPr/>
        </p:nvSpPr>
        <p:spPr>
          <a:xfrm>
            <a:off x="3223669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excluded / GFE</a:t>
            </a:r>
          </a:p>
        </p:txBody>
      </p:sp>
      <p:sp>
        <p:nvSpPr>
          <p:cNvPr id="243" name="EvidenceChip"/>
          <p:cNvSpPr txBox="1"/>
          <p:nvPr/>
        </p:nvSpPr>
        <p:spPr>
          <a:xfrm>
            <a:off x="4608964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$14.6B MYP restored</a:t>
            </a:r>
          </a:p>
        </p:txBody>
      </p:sp>
      <p:sp>
        <p:nvSpPr>
          <p:cNvPr id="300" name="LaneRibbon"/>
          <p:cNvSpPr txBox="1"/>
          <p:nvPr/>
        </p:nvSpPr>
        <p:spPr>
          <a:xfrm>
            <a:off x="6234260" y="2701600"/>
            <a:ext cx="5501181" cy="175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0000" tIns="12000" rIns="11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SUBMARINE: AP/LLTM REFERENCE-ONLY</a:t>
            </a:r>
          </a:p>
        </p:txBody>
      </p:sp>
      <p:sp>
        <p:nvSpPr>
          <p:cNvPr id="301" name="LanePanel"/>
          <p:cNvSpPr txBox="1"/>
          <p:nvPr/>
        </p:nvSpPr>
        <p:spPr>
          <a:xfrm>
            <a:off x="6234260" y="2876600"/>
            <a:ext cx="5501181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0" name="Card"/>
          <p:cNvSpPr txBox="1"/>
          <p:nvPr/>
        </p:nvSpPr>
        <p:spPr>
          <a:xfrm>
            <a:off x="633426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+ OBBBA mandatory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$60.6B</a:t>
            </a:r>
          </a:p>
        </p:txBody>
      </p:sp>
      <p:sp>
        <p:nvSpPr>
          <p:cNvPr id="312" name="MathOperator mathMultiply"/>
          <p:cNvSpPr>
            <a:spLocks noGrp="1"/>
          </p:cNvSpPr>
          <p:nvPr/>
        </p:nvSpPr>
        <p:spPr>
          <a:xfrm>
            <a:off x="7981820" y="3081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3" name="Card"/>
          <p:cNvSpPr txBox="1"/>
          <p:nvPr/>
        </p:nvSpPr>
        <p:spPr>
          <a:xfrm>
            <a:off x="819532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315" name="MathOperator mathEqual"/>
          <p:cNvSpPr>
            <a:spLocks noGrp="1"/>
          </p:cNvSpPr>
          <p:nvPr/>
        </p:nvSpPr>
        <p:spPr>
          <a:xfrm>
            <a:off x="9842880" y="3081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6" name="Card"/>
          <p:cNvSpPr txBox="1"/>
          <p:nvPr/>
        </p:nvSpPr>
        <p:spPr>
          <a:xfrm>
            <a:off x="1005638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$21.2B</a:t>
            </a:r>
          </a:p>
        </p:txBody>
      </p:sp>
      <p:sp>
        <p:nvSpPr>
          <p:cNvPr id="320" name="Card"/>
          <p:cNvSpPr txBox="1"/>
          <p:nvPr/>
        </p:nvSpPr>
        <p:spPr>
          <a:xfrm>
            <a:off x="633426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additive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322" name="MathOperator mathMultiply"/>
          <p:cNvSpPr>
            <a:spLocks noGrp="1"/>
          </p:cNvSpPr>
          <p:nvPr/>
        </p:nvSpPr>
        <p:spPr>
          <a:xfrm>
            <a:off x="7981820" y="3566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23" name="Card"/>
          <p:cNvSpPr txBox="1"/>
          <p:nvPr/>
        </p:nvSpPr>
        <p:spPr>
          <a:xfrm>
            <a:off x="819532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48%</a:t>
            </a:r>
          </a:p>
        </p:txBody>
      </p:sp>
      <p:sp>
        <p:nvSpPr>
          <p:cNvPr id="325" name="MathOperator mathEqual"/>
          <p:cNvSpPr>
            <a:spLocks noGrp="1"/>
          </p:cNvSpPr>
          <p:nvPr/>
        </p:nvSpPr>
        <p:spPr>
          <a:xfrm>
            <a:off x="9842880" y="3566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26" name="Card"/>
          <p:cNvSpPr txBox="1"/>
          <p:nvPr/>
        </p:nvSpPr>
        <p:spPr>
          <a:xfrm>
            <a:off x="1005638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330" name="RefSubnote"/>
          <p:cNvSpPr txBox="1"/>
          <p:nvPr/>
        </p:nvSpPr>
        <p:spPr>
          <a:xfrm>
            <a:off x="6334260" y="3856600"/>
            <a:ext cx="5301181" cy="1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4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is supplier evidence, not incremental TAM: already inside BC or out of scope.</a:t>
            </a:r>
          </a:p>
        </p:txBody>
      </p:sp>
      <p:sp>
        <p:nvSpPr>
          <p:cNvPr id="340" name="LaneTotal"/>
          <p:cNvSpPr txBox="1"/>
          <p:nvPr/>
        </p:nvSpPr>
        <p:spPr>
          <a:xfrm>
            <a:off x="6334260" y="4041600"/>
            <a:ext cx="5301181" cy="395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$21.2B cumulative / $3.5B per year</a:t>
            </a:r>
          </a:p>
        </p:txBody>
      </p:sp>
      <p:sp>
        <p:nvSpPr>
          <p:cNvPr id="350" name="EvidenceChip"/>
          <p:cNvSpPr txBox="1"/>
          <p:nvPr/>
        </p:nvSpPr>
        <p:spPr>
          <a:xfrm>
            <a:off x="623426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658 POP rows</a:t>
            </a:r>
          </a:p>
        </p:txBody>
      </p:sp>
      <p:sp>
        <p:nvSpPr>
          <p:cNvPr id="351" name="EvidenceChip"/>
          <p:cNvSpPr txBox="1"/>
          <p:nvPr/>
        </p:nvSpPr>
        <p:spPr>
          <a:xfrm>
            <a:off x="808132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$25.4B gated corpus</a:t>
            </a:r>
          </a:p>
        </p:txBody>
      </p:sp>
      <p:sp>
        <p:nvSpPr>
          <p:cNvPr id="352" name="EvidenceChip"/>
          <p:cNvSpPr txBox="1"/>
          <p:nvPr/>
        </p:nvSpPr>
        <p:spPr>
          <a:xfrm>
            <a:off x="992838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excluded / GFE</a:t>
            </a:r>
          </a:p>
        </p:txBody>
      </p:sp>
      <p:sp>
        <p:nvSpPr>
          <p:cNvPr id="400" name="FixedTAMOutput"/>
          <p:cNvSpPr txBox="1"/>
          <p:nvPr/>
        </p:nvSpPr>
        <p:spPr>
          <a:xfrm>
            <a:off x="453079" y="4766600"/>
            <a:ext cx="5300000" cy="11034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60000" tIns="70000" rIns="160000" bIns="70000"/>
          <a:lstStyle/>
          <a:p>
            <a:pPr algn="ctr">
              <a:lnSpc>
                <a:spcPct val="104000"/>
              </a:lnSpc>
              <a:spcAft>
                <a:spcPts val="1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 OUTSOURCED SUPPLIER TAM</a:t>
            </a:r>
          </a:p>
          <a:p>
            <a:pPr algn="ctr">
              <a:lnSpc>
                <a:spcPct val="104000"/>
              </a:lnSpc>
              <a:spcAft>
                <a:spcPts val="15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$25.2B cumulative / $4.2B per year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is the fixed dollar pool the allocation step will slice; SAM does not resize it.</a:t>
            </a:r>
          </a:p>
        </p:txBody>
      </p:sp>
      <p:sp>
        <p:nvSpPr>
          <p:cNvPr id="410" name="Commentary"/>
          <p:cNvSpPr txBox="1"/>
          <p:nvPr/>
        </p:nvSpPr>
        <p:spPr>
          <a:xfrm>
            <a:off x="6033079" y="4766600"/>
            <a:ext cx="5702362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000" rIns="30000" bIns="18000"/>
          <a:lstStyle/>
          <a:p>
            <a:pPr>
              <a:lnSpc>
                <a:spcPct val="108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supplier-share factor is a conversion rate, not an award total.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records estimate the supplier share of retained budget dollars; the Navy budget base still supplies the TAM dollars.</a:t>
            </a:r>
          </a:p>
        </p:txBody>
      </p:sp>
      <p:sp>
        <p:nvSpPr>
          <p:cNvPr id="411" name="Commentary"/>
          <p:cNvSpPr txBox="1"/>
          <p:nvPr/>
        </p:nvSpPr>
        <p:spPr>
          <a:xfrm>
            <a:off x="6033079" y="5330600"/>
            <a:ext cx="5702362" cy="539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000" rIns="30000" bIns="18000"/>
          <a:lstStyle/>
          <a:p>
            <a:pPr>
              <a:lnSpc>
                <a:spcPct val="108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stay separate until outputs are summed.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two programs have different yard footprints and AP/LLTM treatment, so the model sums TAM dollars rather than blending supplier-share factors.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DoD/DoW contract-announcement POP corpus, CY2022–CY2026; (2) FPDS Atom feeds and DDG MYP master-total reconstruction; (3) Navy SCN P-5c / P-10 budget exhibits, FY2022–FY2027; (4) FY 2026 Mandatory Funding Allocation Plan, PL 119-21 Sec. 20002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Classifier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(4/5) | PIID scopes the award, UEI resolves the operating entity, and the registry assigns one work-type home.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15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FY2017–FY2026 FFATA / FSRS evidence window. Award records set supplier mix percentages; the fixed TAM dollar pool comes from the supplier-share step.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551600"/>
            <a:ext cx="11282362" cy="292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Classifier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program-specific modeled bucket shares, an excluded-role audit, and residual share. The allocation step applies these shares to fixed supplier TAM.</a:t>
            </a:r>
          </a:p>
        </p:txBody>
      </p:sp>
      <p:cxnSp>
        <p:nvCxnSpPr>
          <p:cNvPr id="41" name="SpineArrow1"/>
          <p:cNvCxnSpPr/>
          <p:nvPr/>
        </p:nvCxnSpPr>
        <p:spPr>
          <a:xfrm>
            <a:off x="1936273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2" name="SpineArrow2"/>
          <p:cNvCxnSpPr/>
          <p:nvPr/>
        </p:nvCxnSpPr>
        <p:spPr>
          <a:xfrm>
            <a:off x="3569467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3" name="SpineArrow3"/>
          <p:cNvCxnSpPr/>
          <p:nvPr/>
        </p:nvCxnSpPr>
        <p:spPr>
          <a:xfrm>
            <a:off x="5202661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4" name="SpineArrow4"/>
          <p:cNvCxnSpPr/>
          <p:nvPr/>
        </p:nvCxnSpPr>
        <p:spPr>
          <a:xfrm>
            <a:off x="6835855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5" name="SpineArrow5"/>
          <p:cNvCxnSpPr/>
          <p:nvPr/>
        </p:nvCxnSpPr>
        <p:spPr>
          <a:xfrm>
            <a:off x="8469049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6" name="SpineArrow6"/>
          <p:cNvCxnSpPr/>
          <p:nvPr/>
        </p:nvCxnSpPr>
        <p:spPr>
          <a:xfrm>
            <a:off x="10102243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" name="SpineNode"/>
          <p:cNvSpPr txBox="1"/>
          <p:nvPr/>
        </p:nvSpPr>
        <p:spPr>
          <a:xfrm>
            <a:off x="453079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record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Subaward $, recipient, NAICS</a:t>
            </a:r>
          </a:p>
        </p:txBody>
      </p:sp>
      <p:sp>
        <p:nvSpPr>
          <p:cNvPr id="21" name="SpineNode"/>
          <p:cNvSpPr txBox="1"/>
          <p:nvPr/>
        </p:nvSpPr>
        <p:spPr>
          <a:xfrm>
            <a:off x="2086273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Parent-prime PIID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 scope arbiter</a:t>
            </a:r>
          </a:p>
        </p:txBody>
      </p:sp>
      <p:sp>
        <p:nvSpPr>
          <p:cNvPr id="22" name="SpineNode"/>
          <p:cNvSpPr txBox="1"/>
          <p:nvPr/>
        </p:nvSpPr>
        <p:spPr>
          <a:xfrm>
            <a:off x="3719467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Recipient UEI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 identifier</a:t>
            </a:r>
          </a:p>
        </p:txBody>
      </p:sp>
      <p:sp>
        <p:nvSpPr>
          <p:cNvPr id="23" name="SpineNode"/>
          <p:cNvSpPr txBox="1"/>
          <p:nvPr/>
        </p:nvSpPr>
        <p:spPr>
          <a:xfrm>
            <a:off x="5352661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Operating entity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Legal name + NAICS</a:t>
            </a:r>
          </a:p>
        </p:txBody>
      </p:sp>
      <p:sp>
        <p:nvSpPr>
          <p:cNvPr id="24" name="SpineNode"/>
          <p:cNvSpPr txBox="1"/>
          <p:nvPr/>
        </p:nvSpPr>
        <p:spPr>
          <a:xfrm>
            <a:off x="6985855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filter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vs excluded</a:t>
            </a:r>
          </a:p>
        </p:txBody>
      </p:sp>
      <p:sp>
        <p:nvSpPr>
          <p:cNvPr id="25" name="SpineNode"/>
          <p:cNvSpPr txBox="1"/>
          <p:nvPr/>
        </p:nvSpPr>
        <p:spPr>
          <a:xfrm>
            <a:off x="8619049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 / override / NAICS-4</a:t>
            </a:r>
          </a:p>
        </p:txBody>
      </p:sp>
      <p:sp>
        <p:nvSpPr>
          <p:cNvPr id="26" name="SpineNode"/>
          <p:cNvSpPr txBox="1"/>
          <p:nvPr/>
        </p:nvSpPr>
        <p:spPr>
          <a:xfrm>
            <a:off x="10252243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shares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buckets + residual</a:t>
            </a:r>
          </a:p>
        </p:txBody>
      </p:sp>
      <p:sp>
        <p:nvSpPr>
          <p:cNvPr id="30" name="SpineNote"/>
          <p:cNvSpPr txBox="1"/>
          <p:nvPr/>
        </p:nvSpPr>
        <p:spPr>
          <a:xfrm>
            <a:off x="3719467" y="2305600"/>
            <a:ext cx="3116388" cy="1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UEI resolves the entity that received the dollars.</a:t>
            </a:r>
          </a:p>
        </p:txBody>
      </p:sp>
      <p:sp>
        <p:nvSpPr>
          <p:cNvPr id="50" name="TableLabel"/>
          <p:cNvSpPr txBox="1"/>
          <p:nvPr/>
        </p:nvSpPr>
        <p:spPr>
          <a:xfrm>
            <a:off x="453079" y="2465600"/>
            <a:ext cx="6950000" cy="214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Classification ledger: how a record becomes one work-type home</a:t>
            </a:r>
          </a:p>
        </p:txBody>
      </p:sp>
      <p:graphicFrame>
        <p:nvGraphicFramePr>
          <p:cNvPr id="51" name="ClassificationLedger"/>
          <p:cNvGraphicFramePr>
            <a:graphicFrameLocks noGrp="1"/>
          </p:cNvGraphicFramePr>
          <p:nvPr/>
        </p:nvGraphicFramePr>
        <p:xfrm>
          <a:off x="453079" y="2697600"/>
          <a:ext cx="6950000" cy="195833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10000"/>
                <a:gridCol w="2572000"/>
                <a:gridCol w="1948000"/>
                <a:gridCol w="1320000"/>
              </a:tblGrid>
              <a:tr h="22097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FIELDS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/ 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Award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ID, parent PIID, UEI, NAICS, $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Collect visible 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Mix, not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PIID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Parent-prime + discovered PIID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Scope to DDG or submarine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hull-level proof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Entity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sub_entity_uei, legal name, NAICS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the operating entity paid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parent brand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Role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Role, prime / co-prime, GFE, FMS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Drop non-supplier / non-component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roles leave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Work-type assign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Registry bucket, override, NAICS-4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clean match wins one home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QA, not classifier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 Residual discipline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Addressable, bucketed, unbucketed $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unresolved $ in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Dilutes named shares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 Share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$ over addressable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Modeled work-type and residual 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Feeds allocation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cxnSp>
        <p:nvCxnSpPr>
          <p:cNvPr id="52" name="RailDivider"/>
          <p:cNvCxnSpPr/>
          <p:nvPr/>
        </p:nvCxnSpPr>
        <p:spPr>
          <a:xfrm>
            <a:off x="7523079" y="2505600"/>
            <a:ext cx="0" cy="2136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</p:cxnSp>
      <p:sp>
        <p:nvSpPr>
          <p:cNvPr id="60" name="PrecedenceHeader"/>
          <p:cNvSpPr txBox="1"/>
          <p:nvPr/>
        </p:nvSpPr>
        <p:spPr>
          <a:xfrm>
            <a:off x="7643079" y="2465600"/>
            <a:ext cx="4092362" cy="258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6000" tIns="24000" rIns="96000" bIns="24000"/>
          <a:lstStyle/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PRECEDENCE: FIRST CLEAN MATCH WINS</a:t>
            </a:r>
          </a:p>
        </p:txBody>
      </p:sp>
      <p:sp>
        <p:nvSpPr>
          <p:cNvPr id="100" name="PrecedenceChip"/>
          <p:cNvSpPr txBox="1"/>
          <p:nvPr/>
        </p:nvSpPr>
        <p:spPr>
          <a:xfrm>
            <a:off x="7643079" y="274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 / operating-entity UEI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assigns role and bucket.</a:t>
            </a:r>
          </a:p>
        </p:txBody>
      </p:sp>
      <p:sp>
        <p:nvSpPr>
          <p:cNvPr id="102" name="PrecedenceChip"/>
          <p:cNvSpPr txBox="1"/>
          <p:nvPr/>
        </p:nvSpPr>
        <p:spPr>
          <a:xfrm>
            <a:off x="7643079" y="288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/ co-prime name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excludes final-assembly yards.</a:t>
            </a:r>
          </a:p>
        </p:txBody>
      </p:sp>
      <p:sp>
        <p:nvSpPr>
          <p:cNvPr id="104" name="PrecedenceChip"/>
          <p:cNvSpPr txBox="1"/>
          <p:nvPr/>
        </p:nvSpPr>
        <p:spPr>
          <a:xfrm>
            <a:off x="7643079" y="302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/ SIB / Navy-directed name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out of supplier SAM.</a:t>
            </a:r>
          </a:p>
        </p:txBody>
      </p:sp>
      <p:sp>
        <p:nvSpPr>
          <p:cNvPr id="106" name="PrecedenceChip"/>
          <p:cNvSpPr txBox="1"/>
          <p:nvPr/>
        </p:nvSpPr>
        <p:spPr>
          <a:xfrm>
            <a:off x="7643079" y="316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Vendor-name override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handles known exceptions.</a:t>
            </a:r>
          </a:p>
        </p:txBody>
      </p:sp>
      <p:sp>
        <p:nvSpPr>
          <p:cNvPr id="108" name="PrecedenceChip"/>
          <p:cNvSpPr txBox="1"/>
          <p:nvPr/>
        </p:nvSpPr>
        <p:spPr>
          <a:xfrm>
            <a:off x="7643079" y="330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NAICS-4 fallback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assigns a bucket where registry is missing.</a:t>
            </a:r>
          </a:p>
        </p:txBody>
      </p:sp>
      <p:sp>
        <p:nvSpPr>
          <p:cNvPr id="110" name="PrecedenceChip"/>
          <p:cNvSpPr txBox="1"/>
          <p:nvPr/>
        </p:nvSpPr>
        <p:spPr>
          <a:xfrm>
            <a:off x="7643079" y="344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Service / non-component NAICS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to excluded service.</a:t>
            </a:r>
          </a:p>
        </p:txBody>
      </p:sp>
      <p:sp>
        <p:nvSpPr>
          <p:cNvPr id="112" name="PrecedenceChip"/>
          <p:cNvSpPr txBox="1"/>
          <p:nvPr/>
        </p:nvSpPr>
        <p:spPr>
          <a:xfrm>
            <a:off x="7643079" y="358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Holding-company NAICS 5511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to excluded holding.</a:t>
            </a:r>
          </a:p>
        </p:txBody>
      </p:sp>
      <p:sp>
        <p:nvSpPr>
          <p:cNvPr id="114" name="PrecedenceChip"/>
          <p:cNvSpPr txBox="1"/>
          <p:nvPr/>
        </p:nvSpPr>
        <p:spPr>
          <a:xfrm>
            <a:off x="7643079" y="372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Foreign / FMS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out of U.S. supplier SAM.</a:t>
            </a:r>
          </a:p>
        </p:txBody>
      </p:sp>
      <p:sp>
        <p:nvSpPr>
          <p:cNvPr id="116" name="PrecedenceChip"/>
          <p:cNvSpPr txBox="1"/>
          <p:nvPr/>
        </p:nvSpPr>
        <p:spPr>
          <a:xfrm>
            <a:off x="7643079" y="386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stays supplier / unbucketed when unresolved.</a:t>
            </a:r>
          </a:p>
        </p:txBody>
      </p:sp>
      <p:sp>
        <p:nvSpPr>
          <p:cNvPr id="70" name="WorkTypeHeader"/>
          <p:cNvSpPr txBox="1"/>
          <p:nvPr/>
        </p:nvSpPr>
        <p:spPr>
          <a:xfrm>
            <a:off x="7643079" y="4037600"/>
            <a:ext cx="4092362" cy="128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homes: one per retained supplier dollar</a:t>
            </a:r>
          </a:p>
        </p:txBody>
      </p:sp>
      <p:sp>
        <p:nvSpPr>
          <p:cNvPr id="120" name="WorkTypeChip"/>
          <p:cNvSpPr txBox="1"/>
          <p:nvPr/>
        </p:nvSpPr>
        <p:spPr>
          <a:xfrm>
            <a:off x="764307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/ modules</a:t>
            </a:r>
          </a:p>
        </p:txBody>
      </p:sp>
      <p:sp>
        <p:nvSpPr>
          <p:cNvPr id="121" name="WorkTypeChip"/>
          <p:cNvSpPr txBox="1"/>
          <p:nvPr/>
        </p:nvSpPr>
        <p:spPr>
          <a:xfrm>
            <a:off x="867166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/ propulsion</a:t>
            </a:r>
          </a:p>
        </p:txBody>
      </p:sp>
      <p:sp>
        <p:nvSpPr>
          <p:cNvPr id="122" name="WorkTypeChip"/>
          <p:cNvSpPr txBox="1"/>
          <p:nvPr/>
        </p:nvSpPr>
        <p:spPr>
          <a:xfrm>
            <a:off x="970025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/ forgings</a:t>
            </a:r>
          </a:p>
        </p:txBody>
      </p:sp>
      <p:sp>
        <p:nvSpPr>
          <p:cNvPr id="123" name="WorkTypeChip"/>
          <p:cNvSpPr txBox="1"/>
          <p:nvPr/>
        </p:nvSpPr>
        <p:spPr>
          <a:xfrm>
            <a:off x="1072884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 / fluid handling</a:t>
            </a:r>
          </a:p>
        </p:txBody>
      </p:sp>
      <p:sp>
        <p:nvSpPr>
          <p:cNvPr id="124" name="WorkTypeChip"/>
          <p:cNvSpPr txBox="1"/>
          <p:nvPr/>
        </p:nvSpPr>
        <p:spPr>
          <a:xfrm>
            <a:off x="764307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</a:t>
            </a:r>
          </a:p>
        </p:txBody>
      </p:sp>
      <p:sp>
        <p:nvSpPr>
          <p:cNvPr id="125" name="WorkTypeChip"/>
          <p:cNvSpPr txBox="1"/>
          <p:nvPr/>
        </p:nvSpPr>
        <p:spPr>
          <a:xfrm>
            <a:off x="867166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/ chilled water</a:t>
            </a:r>
          </a:p>
        </p:txBody>
      </p:sp>
      <p:sp>
        <p:nvSpPr>
          <p:cNvPr id="126" name="WorkTypeChip"/>
          <p:cNvSpPr txBox="1"/>
          <p:nvPr/>
        </p:nvSpPr>
        <p:spPr>
          <a:xfrm>
            <a:off x="970025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/ insulation</a:t>
            </a:r>
          </a:p>
        </p:txBody>
      </p:sp>
      <p:sp>
        <p:nvSpPr>
          <p:cNvPr id="127" name="WorkTypeChip"/>
          <p:cNvSpPr txBox="1"/>
          <p:nvPr/>
        </p:nvSpPr>
        <p:spPr>
          <a:xfrm>
            <a:off x="1072884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300" name="Commentary"/>
          <p:cNvSpPr txBox="1"/>
          <p:nvPr/>
        </p:nvSpPr>
        <p:spPr>
          <a:xfrm>
            <a:off x="453079" y="4707600"/>
            <a:ext cx="5501181" cy="29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6000" rIns="24000" bIns="6000"/>
          <a:lstStyle/>
          <a:p>
            <a:pPr>
              <a:lnSpc>
                <a:spcPct val="102000"/>
              </a:lnSpc>
              <a:spcAft>
                <a:spcPts val="7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classifier is entity-first and role-first.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 scopes; UEI resolves the entity; roles filtered first.</a:t>
            </a:r>
          </a:p>
        </p:txBody>
      </p:sp>
      <p:sp>
        <p:nvSpPr>
          <p:cNvPr id="301" name="Commentary"/>
          <p:cNvSpPr txBox="1"/>
          <p:nvPr/>
        </p:nvSpPr>
        <p:spPr>
          <a:xfrm>
            <a:off x="6234260" y="4707600"/>
            <a:ext cx="5501181" cy="29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6000" rIns="24000" bIns="6000"/>
          <a:lstStyle/>
          <a:p>
            <a:pPr>
              <a:lnSpc>
                <a:spcPct val="102000"/>
              </a:lnSpc>
              <a:spcAft>
                <a:spcPts val="7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unclassified award spend.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dollars stay in the denominator, outside SAM.</a:t>
            </a:r>
          </a:p>
        </p:txBody>
      </p:sp>
      <p:cxnSp>
        <p:nvCxnSpPr>
          <p:cNvPr id="250" name="BottomRule"/>
          <p:cNvCxnSpPr/>
          <p:nvPr/>
        </p:nvCxnSpPr>
        <p:spPr>
          <a:xfrm>
            <a:off x="453079" y="5041600"/>
            <a:ext cx="1128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0" name="EvidenceHeader"/>
          <p:cNvSpPr txBox="1"/>
          <p:nvPr/>
        </p:nvSpPr>
        <p:spPr>
          <a:xfrm>
            <a:off x="453079" y="5081600"/>
            <a:ext cx="2555000" cy="17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54000" tIns="16000" rIns="54000" bIns="16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EVIDENCE BASE</a:t>
            </a:r>
          </a:p>
        </p:txBody>
      </p:sp>
      <p:sp>
        <p:nvSpPr>
          <p:cNvPr id="201" name="EvidenceBody"/>
          <p:cNvSpPr txBox="1"/>
          <p:nvPr/>
        </p:nvSpPr>
        <p:spPr>
          <a:xfrm>
            <a:off x="453079" y="5251600"/>
            <a:ext cx="2555000" cy="6184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4000" tIns="20000" rIns="60000" bIns="20000"/>
          <a:lstStyle/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22,867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records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118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discovered PIIDs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1,555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cleaned vendors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151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NAICS lookups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$6.0B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</a:t>
            </a:r>
          </a:p>
        </p:txBody>
      </p:sp>
      <p:sp>
        <p:nvSpPr>
          <p:cNvPr id="202" name="EvidenceHeader"/>
          <p:cNvSpPr txBox="1"/>
          <p:nvPr/>
        </p:nvSpPr>
        <p:spPr>
          <a:xfrm>
            <a:off x="3098079" y="5081600"/>
            <a:ext cx="2555000" cy="17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54000" tIns="16000" rIns="54000" bIns="16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EVIDENCE BASE</a:t>
            </a:r>
          </a:p>
        </p:txBody>
      </p:sp>
      <p:sp>
        <p:nvSpPr>
          <p:cNvPr id="203" name="EvidenceBody"/>
          <p:cNvSpPr txBox="1"/>
          <p:nvPr/>
        </p:nvSpPr>
        <p:spPr>
          <a:xfrm>
            <a:off x="3098079" y="5251600"/>
            <a:ext cx="2555000" cy="61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84000" tIns="20000" rIns="60000" bIns="20000"/>
          <a:lstStyle/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929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classified entity rows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all-recipient base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$5.5B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$664.8M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value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12%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210" name="ExamplesBoard"/>
          <p:cNvSpPr txBox="1"/>
          <p:nvPr/>
        </p:nvSpPr>
        <p:spPr>
          <a:xfrm>
            <a:off x="5953079" y="5081600"/>
            <a:ext cx="5782362" cy="78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1" name="ExamplesTitle"/>
          <p:cNvSpPr txBox="1"/>
          <p:nvPr/>
        </p:nvSpPr>
        <p:spPr>
          <a:xfrm>
            <a:off x="5953079" y="5097600"/>
            <a:ext cx="5782362" cy="146000"/>
          </a:xfrm>
          <a:prstGeom prst="rect">
            <a:avLst/>
          </a:prstGeom>
          <a:noFill/>
          <a:ln>
            <a:noFill/>
          </a:ln>
        </p:spPr>
        <p:txBody>
          <a:bodyPr wrap="square" anchor="t" lIns="94000" tIns="0" rIns="94000" bIns="0"/>
          <a:lstStyle/>
          <a:p>
            <a:pPr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Examples: why operating entity beats parent brand</a:t>
            </a:r>
          </a:p>
        </p:txBody>
      </p:sp>
      <p:sp>
        <p:nvSpPr>
          <p:cNvPr id="220" name="ExampleCell"/>
          <p:cNvSpPr txBox="1"/>
          <p:nvPr/>
        </p:nvSpPr>
        <p:spPr>
          <a:xfrm>
            <a:off x="6047079" y="52496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Sunnyvale generators</a:t>
            </a:r>
          </a:p>
        </p:txBody>
      </p:sp>
      <p:sp>
        <p:nvSpPr>
          <p:cNvPr id="221" name="ExampleCell"/>
          <p:cNvSpPr txBox="1"/>
          <p:nvPr/>
        </p:nvSpPr>
        <p:spPr>
          <a:xfrm>
            <a:off x="8284823" y="52496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Ship-power operating entity</a:t>
            </a:r>
          </a:p>
        </p:txBody>
      </p:sp>
      <p:sp>
        <p:nvSpPr>
          <p:cNvPr id="222" name="ExampleCell"/>
          <p:cNvSpPr txBox="1"/>
          <p:nvPr/>
        </p:nvSpPr>
        <p:spPr>
          <a:xfrm>
            <a:off x="10130962" y="52496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</a:t>
            </a:r>
          </a:p>
        </p:txBody>
      </p:sp>
      <p:cxnSp>
        <p:nvCxnSpPr>
          <p:cNvPr id="233" name="ExampleDivider"/>
          <p:cNvCxnSpPr/>
          <p:nvPr/>
        </p:nvCxnSpPr>
        <p:spPr>
          <a:xfrm>
            <a:off x="6047079" y="53957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3" name="ExampleCell"/>
          <p:cNvSpPr txBox="1"/>
          <p:nvPr/>
        </p:nvSpPr>
        <p:spPr>
          <a:xfrm>
            <a:off x="6047079" y="53957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Curtiss-Wright / Circor valves</a:t>
            </a:r>
          </a:p>
        </p:txBody>
      </p:sp>
      <p:sp>
        <p:nvSpPr>
          <p:cNvPr id="224" name="ExampleCell"/>
          <p:cNvSpPr txBox="1"/>
          <p:nvPr/>
        </p:nvSpPr>
        <p:spPr>
          <a:xfrm>
            <a:off x="8284823" y="53957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 fluid-handling</a:t>
            </a:r>
          </a:p>
        </p:txBody>
      </p:sp>
      <p:sp>
        <p:nvSpPr>
          <p:cNvPr id="225" name="ExampleCell"/>
          <p:cNvSpPr txBox="1"/>
          <p:nvPr/>
        </p:nvSpPr>
        <p:spPr>
          <a:xfrm>
            <a:off x="10130962" y="53957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 / fluid handling</a:t>
            </a:r>
          </a:p>
        </p:txBody>
      </p:sp>
      <p:cxnSp>
        <p:nvCxnSpPr>
          <p:cNvPr id="234" name="ExampleDivider"/>
          <p:cNvCxnSpPr/>
          <p:nvPr/>
        </p:nvCxnSpPr>
        <p:spPr>
          <a:xfrm>
            <a:off x="6047079" y="55418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6" name="ExampleCell"/>
          <p:cNvSpPr txBox="1"/>
          <p:nvPr/>
        </p:nvSpPr>
        <p:spPr>
          <a:xfrm>
            <a:off x="6047079" y="55418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Lockheed / Raytheon Aegis, SPY-6</a:t>
            </a:r>
          </a:p>
        </p:txBody>
      </p:sp>
      <p:sp>
        <p:nvSpPr>
          <p:cNvPr id="227" name="ExampleCell"/>
          <p:cNvSpPr txBox="1"/>
          <p:nvPr/>
        </p:nvSpPr>
        <p:spPr>
          <a:xfrm>
            <a:off x="8284823" y="55418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Navy-directed mission systems</a:t>
            </a:r>
          </a:p>
        </p:txBody>
      </p:sp>
      <p:sp>
        <p:nvSpPr>
          <p:cNvPr id="228" name="ExampleCell"/>
          <p:cNvSpPr txBox="1"/>
          <p:nvPr/>
        </p:nvSpPr>
        <p:spPr>
          <a:xfrm>
            <a:off x="10130962" y="55418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role</a:t>
            </a:r>
          </a:p>
        </p:txBody>
      </p:sp>
      <p:cxnSp>
        <p:nvCxnSpPr>
          <p:cNvPr id="235" name="ExampleDivider"/>
          <p:cNvCxnSpPr/>
          <p:nvPr/>
        </p:nvCxnSpPr>
        <p:spPr>
          <a:xfrm>
            <a:off x="6047079" y="56879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9" name="ExampleCell"/>
          <p:cNvSpPr txBox="1"/>
          <p:nvPr/>
        </p:nvSpPr>
        <p:spPr>
          <a:xfrm>
            <a:off x="6047079" y="56879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Blank NAICS, no registry match</a:t>
            </a:r>
          </a:p>
        </p:txBody>
      </p:sp>
      <p:sp>
        <p:nvSpPr>
          <p:cNvPr id="230" name="ExampleCell"/>
          <p:cNvSpPr txBox="1"/>
          <p:nvPr/>
        </p:nvSpPr>
        <p:spPr>
          <a:xfrm>
            <a:off x="8284823" y="56879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evidence, unresolved</a:t>
            </a:r>
          </a:p>
        </p:txBody>
      </p:sp>
      <p:sp>
        <p:nvSpPr>
          <p:cNvPr id="231" name="ExampleCell"/>
          <p:cNvSpPr txBox="1"/>
          <p:nvPr/>
        </p:nvSpPr>
        <p:spPr>
          <a:xfrm>
            <a:off x="10130962" y="56879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FSRS / FFATA first-tier subaward records, FY2017–FY2026; (2) SAM.gov Entity API and USAspending UEI / NAICS enrichment; (3) FPDS / DoD PIID records and program scope-exclusion registers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Allocation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(5/5) | Fixed TAM is sliced into work-type homes and overlapping scenario views.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average annual TAM and SAM; constant FY2026 dollars. The supplier-share step supplies the fixed TAM dollar pool; the evidence classifier supplies modeled work-type shares and residual.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637600"/>
            <a:ext cx="11282362" cy="256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32000" rIns="140000" bIns="3200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Allocation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TAM, broad component SAM, and scenario SAM views. Scenario views overlap; they are not additive markets.</a:t>
            </a:r>
          </a:p>
        </p:txBody>
      </p:sp>
      <p:sp>
        <p:nvSpPr>
          <p:cNvPr id="12" name="FormulaStrip"/>
          <p:cNvSpPr txBox="1"/>
          <p:nvPr/>
        </p:nvSpPr>
        <p:spPr>
          <a:xfrm>
            <a:off x="453079" y="1949600"/>
            <a:ext cx="11282362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0" name="FormulaCard"/>
          <p:cNvSpPr txBox="1"/>
          <p:nvPr/>
        </p:nvSpPr>
        <p:spPr>
          <a:xfrm>
            <a:off x="573079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$4.2B / yr</a:t>
            </a:r>
          </a:p>
        </p:txBody>
      </p:sp>
      <p:sp>
        <p:nvSpPr>
          <p:cNvPr id="102" name="MathOperator mathMultiply"/>
          <p:cNvSpPr>
            <a:spLocks noGrp="1"/>
          </p:cNvSpPr>
          <p:nvPr/>
        </p:nvSpPr>
        <p:spPr>
          <a:xfrm>
            <a:off x="2231806" y="2174600"/>
            <a:ext cx="170000" cy="17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FormulaCard"/>
          <p:cNvSpPr txBox="1"/>
          <p:nvPr/>
        </p:nvSpPr>
        <p:spPr>
          <a:xfrm>
            <a:off x="2496806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bucket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per work type</a:t>
            </a:r>
          </a:p>
        </p:txBody>
      </p:sp>
      <p:sp>
        <p:nvSpPr>
          <p:cNvPr id="105" name="MathOperator mathEqual"/>
          <p:cNvSpPr>
            <a:spLocks noGrp="1"/>
          </p:cNvSpPr>
          <p:nvPr/>
        </p:nvSpPr>
        <p:spPr>
          <a:xfrm>
            <a:off x="4155533" y="2174600"/>
            <a:ext cx="170000" cy="17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6" name="FormulaCard"/>
          <p:cNvSpPr txBox="1"/>
          <p:nvPr/>
        </p:nvSpPr>
        <p:spPr>
          <a:xfrm>
            <a:off x="4420533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home per dollar</a:t>
            </a:r>
          </a:p>
        </p:txBody>
      </p:sp>
      <p:sp>
        <p:nvSpPr>
          <p:cNvPr id="120" name="FormulaCard"/>
          <p:cNvSpPr txBox="1"/>
          <p:nvPr/>
        </p:nvSpPr>
        <p:spPr>
          <a:xfrm>
            <a:off x="6204260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Named-bucket SAM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$3.5B / yr</a:t>
            </a:r>
          </a:p>
        </p:txBody>
      </p:sp>
      <p:sp>
        <p:nvSpPr>
          <p:cNvPr id="122" name="MathOperator mathPlus"/>
          <p:cNvSpPr>
            <a:spLocks noGrp="1"/>
          </p:cNvSpPr>
          <p:nvPr/>
        </p:nvSpPr>
        <p:spPr>
          <a:xfrm>
            <a:off x="7862987" y="2174600"/>
            <a:ext cx="170000" cy="17000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3" name="FormulaCard"/>
          <p:cNvSpPr txBox="1"/>
          <p:nvPr/>
        </p:nvSpPr>
        <p:spPr>
          <a:xfrm>
            <a:off x="8127987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$0.7B / yr</a:t>
            </a:r>
          </a:p>
        </p:txBody>
      </p:sp>
      <p:sp>
        <p:nvSpPr>
          <p:cNvPr id="125" name="MathOperator mathEqual"/>
          <p:cNvSpPr>
            <a:spLocks noGrp="1"/>
          </p:cNvSpPr>
          <p:nvPr/>
        </p:nvSpPr>
        <p:spPr>
          <a:xfrm>
            <a:off x="9786714" y="2174600"/>
            <a:ext cx="170000" cy="17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6" name="FormulaCard"/>
          <p:cNvSpPr txBox="1"/>
          <p:nvPr/>
        </p:nvSpPr>
        <p:spPr>
          <a:xfrm>
            <a:off x="10051714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$4.2B / yr</a:t>
            </a:r>
          </a:p>
        </p:txBody>
      </p:sp>
      <p:sp>
        <p:nvSpPr>
          <p:cNvPr id="20" name="TableLabel"/>
          <p:cNvSpPr txBox="1"/>
          <p:nvPr/>
        </p:nvSpPr>
        <p:spPr>
          <a:xfrm>
            <a:off x="453079" y="2641600"/>
            <a:ext cx="68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allocation: mutually exclusive homes mapped into overlapping scenario views</a:t>
            </a:r>
          </a:p>
        </p:txBody>
      </p:sp>
      <p:graphicFrame>
        <p:nvGraphicFramePr>
          <p:cNvPr id="21" name="WorkTypeScenarioCrosswalk"/>
          <p:cNvGraphicFramePr>
            <a:graphicFrameLocks noGrp="1"/>
          </p:cNvGraphicFramePr>
          <p:nvPr/>
        </p:nvGraphicFramePr>
        <p:xfrm>
          <a:off x="453079" y="2897600"/>
          <a:ext cx="6800000" cy="194097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84000"/>
                <a:gridCol w="1156000"/>
                <a:gridCol w="748000"/>
                <a:gridCol w="748000"/>
                <a:gridCol w="748000"/>
                <a:gridCol w="816000"/>
              </a:tblGrid>
              <a:tr h="22097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WORK-TYPE HOME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TAM ($M)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power / distribution / generation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$1,353M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/ valves /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$710M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fabrication / modules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$633M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 / mechanical / propulsion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$375M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/ insulation / decking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$206M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/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/ ventilation / chilled water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$102M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 / unbucketed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$653M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2" name="TableFootnote"/>
          <p:cNvSpPr txBox="1"/>
          <p:nvPr/>
        </p:nvSpPr>
        <p:spPr>
          <a:xfrm>
            <a:off x="453079" y="4878579"/>
            <a:ext cx="68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4000" rIns="40000" bIns="14000"/>
          <a:lstStyle/>
          <a:p>
            <a:pPr>
              <a:lnSpc>
                <a:spcPct val="106000"/>
              </a:lnSpc>
              <a:buNone/>
            </a:pPr>
            <a:r>
              <a:rPr lang="en-US" sz="78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treatment: </a:t>
            </a: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stays inside fixed TAM and dilutes named-bucket shares, but stays outside broad and targeted scenario SAM.</a:t>
            </a:r>
          </a:p>
        </p:txBody>
      </p:sp>
      <p:sp>
        <p:nvSpPr>
          <p:cNvPr id="23" name="TableFootnote"/>
          <p:cNvSpPr txBox="1"/>
          <p:nvPr/>
        </p:nvSpPr>
        <p:spPr>
          <a:xfrm>
            <a:off x="453079" y="5042579"/>
            <a:ext cx="68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4000" rIns="40000" bIns="14000"/>
          <a:lstStyle/>
          <a:p>
            <a:pPr>
              <a:lnSpc>
                <a:spcPct val="106000"/>
              </a:lnSpc>
              <a:buNone/>
            </a:pPr>
            <a:r>
              <a:rPr lang="en-US" sz="78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treatment: </a:t>
            </a: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 come from registry entity flags, not from summing one or more work-type rows.</a:t>
            </a:r>
          </a:p>
        </p:txBody>
      </p:sp>
      <p:sp>
        <p:nvSpPr>
          <p:cNvPr id="30" name="ScenarioRailHeader"/>
          <p:cNvSpPr txBox="1"/>
          <p:nvPr/>
        </p:nvSpPr>
        <p:spPr>
          <a:xfrm>
            <a:off x="7553079" y="2641600"/>
            <a:ext cx="4182362" cy="2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VIEWS: CUTS OF ONE TAM POOL</a:t>
            </a:r>
          </a:p>
        </p:txBody>
      </p:sp>
      <p:sp>
        <p:nvSpPr>
          <p:cNvPr id="31" name="ScenarioBroad"/>
          <p:cNvSpPr txBox="1"/>
          <p:nvPr/>
        </p:nvSpPr>
        <p:spPr>
          <a:xfrm>
            <a:off x="7553079" y="2981600"/>
            <a:ext cx="4182362" cy="6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50000" tIns="80000" rIns="150000" bIns="800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MFG</a:t>
            </a:r>
          </a:p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$3.5B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$21.2B cumulative; all seven named work-type homes</a:t>
            </a:r>
          </a:p>
        </p:txBody>
      </p:sp>
      <p:sp>
        <p:nvSpPr>
          <p:cNvPr id="32" name="ScenarioCut"/>
          <p:cNvSpPr txBox="1"/>
          <p:nvPr/>
        </p:nvSpPr>
        <p:spPr>
          <a:xfrm>
            <a:off x="7553079" y="36856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HM&amp;E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$2.5B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machining + piping + electrical + HVAC</a:t>
            </a:r>
          </a:p>
        </p:txBody>
      </p:sp>
      <p:sp>
        <p:nvSpPr>
          <p:cNvPr id="33" name="ScenarioCut"/>
          <p:cNvSpPr txBox="1"/>
          <p:nvPr/>
        </p:nvSpPr>
        <p:spPr>
          <a:xfrm>
            <a:off x="9689260" y="36856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ELECTRICAL / POWER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$1.4B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 power, distribution, generation only</a:t>
            </a:r>
          </a:p>
        </p:txBody>
      </p:sp>
      <p:sp>
        <p:nvSpPr>
          <p:cNvPr id="34" name="ScenarioCut"/>
          <p:cNvSpPr txBox="1"/>
          <p:nvPr/>
        </p:nvSpPr>
        <p:spPr>
          <a:xfrm>
            <a:off x="7553079" y="43078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METAL COMPONENTS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$1.2B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 + machining + castings</a:t>
            </a:r>
          </a:p>
        </p:txBody>
      </p:sp>
      <p:sp>
        <p:nvSpPr>
          <p:cNvPr id="35" name="ScenarioCut"/>
          <p:cNvSpPr txBox="1"/>
          <p:nvPr/>
        </p:nvSpPr>
        <p:spPr>
          <a:xfrm>
            <a:off x="9689260" y="43078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$408M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entity-flagged suppliers, not bucket union</a:t>
            </a:r>
          </a:p>
        </p:txBody>
      </p:sp>
      <p:sp>
        <p:nvSpPr>
          <p:cNvPr id="36" name="CaveatChip"/>
          <p:cNvSpPr txBox="1"/>
          <p:nvPr/>
        </p:nvSpPr>
        <p:spPr>
          <a:xfrm>
            <a:off x="7553079" y="4900000"/>
            <a:ext cx="4182362" cy="3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scenarios: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broad, HM&amp;E, electrical, metal, and modular are overlapping leadership views of one fixed supplier TAM pool.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5350000"/>
            <a:ext cx="5511181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08000"/>
              </a:lnSpc>
              <a:spcAft>
                <a:spcPts val="24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types classify dollars once; scenarios re-cut them multiple ways.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supplier dollar is assigned one work-type home or residual, but Broad, HM&amp;E, Metal, Electrical, and Modular are overlapping views built from those homes and flags.</a:t>
            </a:r>
          </a:p>
        </p:txBody>
      </p:sp>
      <p:sp>
        <p:nvSpPr>
          <p:cNvPr id="41" name="Commentary"/>
          <p:cNvSpPr txBox="1"/>
          <p:nvPr/>
        </p:nvSpPr>
        <p:spPr>
          <a:xfrm>
            <a:off x="6224260" y="5350000"/>
            <a:ext cx="5511181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08000"/>
              </a:lnSpc>
              <a:spcAft>
                <a:spcPts val="24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keeps the allocation conservative.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supplier dollars remain in the fixed TAM reconciliation, but they stay outside named scenario SAM until registry, NAICS, or override evidence supports assignment.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FSRS / FFATA subaward records, FY2017–FY2026; (2) SAM.gov Entity API / USAspending NAICS enrichment and work-type evidence; (3) DoD/DoW POP corpus and Navy SCN budget books supporting fixed supplier TAM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deck_consolidated</Application>
  <PresentationFormat>Widescreen</PresentationFormat>
  <Slides>25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Consolidated - Outsourced Construction TAM &amp; SAM</dc:title>
  <dc:creator>deck_consolidated build_deck.py</dc:creator>
  <cp:lastModifiedBy>deck_consolidated build_deck.py</cp:lastModifiedBy>
  <cp:revision>1</cp:revision>
  <dcterms:created xsi:type="dcterms:W3CDTF">2026-06-15T14:10:48Z</dcterms:created>
  <dcterms:modified xsi:type="dcterms:W3CDTF">2026-06-15T14:10:48Z</dcterms:modified>
</cp:coreProperties>
</file>