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svg" ContentType="image/svg+xml"/>
  <Default Extension="emf" ContentType="image/x-emf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embeddings/Microsoft_Excel_BinaryWorksheet1.xlsb" ContentType="application/vnd.ms-excel.sheet.binary.macroEnabled.12"/>
  <Override PartName="/ppt/embeddings/Microsoft_Excel_BinaryWorksheet2.xlsb" ContentType="application/vnd.ms-excel.sheet.binary.macroEnabled.12"/>
  <Override PartName="/ppt/embeddings/Microsoft_Excel_Worksheet3.xlsx" ContentType="application/vnd.openxmlformats-officedocument.spreadsheetml.sheet"/>
  <Override PartName="/ppt/embeddings/Microsoft_Excel_BinaryWorksheet4.xlsb" ContentType="application/vnd.ms-excel.sheet.binary.macroEnabled.12"/>
  <Override PartName="/ppt/embeddings/Microsoft_Excel_Worksheet5.xlsx" ContentType="application/vnd.openxmlformats-officedocument.spreadsheetml.sheet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934200" cy="9220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972"/>
    <a:srgbClr val="6E91B1"/>
    <a:srgbClr val="B6C8D8"/>
    <a:srgbClr val="E2E9EF"/>
    <a:srgbClr val="F2F2F2"/>
    <a:srgbClr val="447BB2"/>
    <a:srgbClr val="D1D1D1"/>
    <a:srgbClr val="BFBFBF"/>
    <a:srgbClr val="1D4D68"/>
    <a:srgbClr val="798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Worksheet1.xlsb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Worksheet2.xlsb"/></Relationships>
</file>

<file path=ppt/charts/_rels/chart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Worksheet4.xlsb"/></Relationships>
</file>

<file path=ppt/charts/_rels/chart5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0057803468208091E-2"/>
          <c:y val="5.2052785923753668E-2"/>
          <c:w val="0.93988439306358385"/>
          <c:h val="0.89589442815249265"/>
        </c:manualLayout>
      </c:layout>
      <c:barChart>
        <c:barDir val="bar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2D0E-4053-98A3-9A79FB46A0C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D0E-4053-98A3-9A79FB46A0C2}"/>
              </c:ext>
            </c:extLst>
          </c:dPt>
          <c:dPt>
            <c:idx val="6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2D0E-4053-98A3-9A79FB46A0C2}"/>
              </c:ext>
            </c:extLst>
          </c:dPt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2D0E-4053-98A3-9A79FB46A0C2}"/>
                </c:ext>
              </c:extLst>
            </c:dLbl>
            <c:dLbl>
              <c:idx val="3"/>
              <c:layout>
                <c:manualLayout>
                  <c:x val="0"/>
                  <c:y val="0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2D0E-4053-98A3-9A79FB46A0C2}"/>
                </c:ext>
              </c:extLst>
            </c:dLbl>
            <c:dLbl>
              <c:idx val="6"/>
              <c:layout>
                <c:manualLayout>
                  <c:x val="0"/>
                  <c:y val="0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2D0E-4053-98A3-9A79FB46A0C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Sheet1!$A$1:$G$1</c:f>
              <c:numCache>
                <c:formatCode>General</c:formatCode>
                <c:ptCount val="7"/>
                <c:pt idx="0">
                  <c:v>90.223471970000006</c:v>
                </c:pt>
                <c:pt idx="1">
                  <c:v>71.05496661892461</c:v>
                </c:pt>
                <c:pt idx="2">
                  <c:v>60.565462798924614</c:v>
                </c:pt>
                <c:pt idx="3">
                  <c:v>60.565462798924614</c:v>
                </c:pt>
                <c:pt idx="4">
                  <c:v>18.133846531924611</c:v>
                </c:pt>
                <c:pt idx="6">
                  <c:v>18.133846531924611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D0E-4053-98A3-9A79FB46A0C2}"/>
            </c:ext>
          </c:extLst>
        </c:ser>
        <c:ser>
          <c:idx val="1"/>
          <c:order val="1"/>
          <c:spPr>
            <a:solidFill>
              <a:schemeClr val="accent3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2D0E-4053-98A3-9A79FB46A0C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2D0E-4053-98A3-9A79FB46A0C2}"/>
              </c:ext>
            </c:extLst>
          </c:dPt>
          <c:dLbls>
            <c:dLbl>
              <c:idx val="1"/>
              <c:layout>
                <c:manualLayout>
                  <c:x val="0"/>
                  <c:y val="0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2D0E-4053-98A3-9A79FB46A0C2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2D0E-4053-98A3-9A79FB46A0C2}"/>
                </c:ext>
              </c:extLst>
            </c:dLbl>
            <c:dLbl>
              <c:idx val="4"/>
              <c:layout>
                <c:manualLayout>
                  <c:x val="0"/>
                  <c:y val="0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2D0E-4053-98A3-9A79FB46A0C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Sheet1!$A$2:$G$2</c:f>
              <c:numCache>
                <c:formatCode>General</c:formatCode>
                <c:ptCount val="7"/>
                <c:pt idx="1">
                  <c:v>19.168505351075396</c:v>
                </c:pt>
                <c:pt idx="2">
                  <c:v>10.489503819999996</c:v>
                </c:pt>
                <c:pt idx="4">
                  <c:v>42.431616267000003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D0E-4053-98A3-9A79FB46A0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909047344"/>
        <c:axId val="1"/>
      </c:barChart>
      <c:catAx>
        <c:axId val="1909047344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90.223471970000006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090473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0057803468208091E-2"/>
          <c:y val="5.2052785923753668E-2"/>
          <c:w val="0.93988439306358385"/>
          <c:h val="0.89589442815249265"/>
        </c:manualLayout>
      </c:layout>
      <c:barChart>
        <c:barDir val="bar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F470-4C54-B7A9-5CE2E3705EEB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470-4C54-B7A9-5CE2E3705EEB}"/>
              </c:ext>
            </c:extLst>
          </c:dPt>
          <c:dPt>
            <c:idx val="6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F470-4C54-B7A9-5CE2E3705EEB}"/>
              </c:ext>
            </c:extLst>
          </c:dPt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470-4C54-B7A9-5CE2E3705EEB}"/>
                </c:ext>
              </c:extLst>
            </c:dLbl>
            <c:dLbl>
              <c:idx val="6"/>
              <c:layout>
                <c:manualLayout>
                  <c:x val="0.10809248554913295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470-4C54-B7A9-5CE2E3705EE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Sheet1!$A$1:$G$1</c:f>
              <c:numCache>
                <c:formatCode>General</c:formatCode>
                <c:ptCount val="7"/>
                <c:pt idx="0">
                  <c:v>36.592092200000003</c:v>
                </c:pt>
                <c:pt idx="1">
                  <c:v>24.866334960000003</c:v>
                </c:pt>
                <c:pt idx="2">
                  <c:v>22.590654890000003</c:v>
                </c:pt>
                <c:pt idx="3">
                  <c:v>22.590654890000003</c:v>
                </c:pt>
                <c:pt idx="4">
                  <c:v>6.4217296800000021</c:v>
                </c:pt>
                <c:pt idx="6">
                  <c:v>6.4217296800000057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470-4C54-B7A9-5CE2E3705EEB}"/>
            </c:ext>
          </c:extLst>
        </c:ser>
        <c:ser>
          <c:idx val="1"/>
          <c:order val="1"/>
          <c:spPr>
            <a:solidFill>
              <a:schemeClr val="accent3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F470-4C54-B7A9-5CE2E3705EEB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F470-4C54-B7A9-5CE2E3705EEB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F470-4C54-B7A9-5CE2E3705EEB}"/>
              </c:ext>
            </c:extLst>
          </c:dPt>
          <c:dLbls>
            <c:dLbl>
              <c:idx val="1"/>
              <c:layout>
                <c:manualLayout>
                  <c:x val="0"/>
                  <c:y val="0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F470-4C54-B7A9-5CE2E3705EEB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F470-4C54-B7A9-5CE2E3705EEB}"/>
                </c:ext>
              </c:extLst>
            </c:dLbl>
            <c:dLbl>
              <c:idx val="4"/>
              <c:layout>
                <c:manualLayout>
                  <c:x val="-5.7803468208092489E-4"/>
                  <c:y val="0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F470-4C54-B7A9-5CE2E3705EE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Sheet1!$A$2:$G$2</c:f>
              <c:numCache>
                <c:formatCode>General</c:formatCode>
                <c:ptCount val="7"/>
                <c:pt idx="0">
                  <c:v>1.0423299999999998</c:v>
                </c:pt>
                <c:pt idx="1">
                  <c:v>12.76808724</c:v>
                </c:pt>
                <c:pt idx="2">
                  <c:v>2.2756800699999999</c:v>
                </c:pt>
                <c:pt idx="4">
                  <c:v>16.168925210000001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470-4C54-B7A9-5CE2E3705E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75489231"/>
        <c:axId val="1"/>
      </c:barChart>
      <c:catAx>
        <c:axId val="675489231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7.634422200000003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67548923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D1 · Hull &amp; structures</c:v>
                </c:pt>
              </c:strCache>
            </c:strRef>
          </c:tx>
          <c:spPr>
            <a:solidFill>
              <a:srgbClr val="1D4D68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Columbia</c:v>
                </c:pt>
                <c:pt idx="2">
                  <c:v>Virginia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0.173</c:v>
                </c:pt>
                <c:pt idx="1">
                  <c:v>0.6539</c:v>
                </c:pt>
                <c:pt idx="2">
                  <c:v>1.4284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D2 · Propulsion machinery</c:v>
                </c:pt>
              </c:strCache>
            </c:strRef>
          </c:tx>
          <c:spPr>
            <a:solidFill>
              <a:srgbClr val="6E91B1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Columbia</c:v>
                </c:pt>
                <c:pt idx="2">
                  <c:v>Virginia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1.8948</c:v>
                </c:pt>
                <c:pt idx="1">
                  <c:v>0.8547</c:v>
                </c:pt>
                <c:pt idx="2">
                  <c:v>5.5385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D3 · Electrical power</c:v>
                </c:pt>
              </c:strCache>
            </c:strRef>
          </c:tx>
          <c:spPr>
            <a:solidFill>
              <a:srgbClr val="486D82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Columbia</c:v>
                </c:pt>
                <c:pt idx="2">
                  <c:v>Virginia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0.865</c:v>
                </c:pt>
                <c:pt idx="1">
                  <c:v>0.3181</c:v>
                </c:pt>
                <c:pt idx="2">
                  <c:v>0.3627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D4 · Fluid &amp; piping</c:v>
                </c:pt>
              </c:strCache>
            </c:strRef>
          </c:tx>
          <c:spPr>
            <a:solidFill>
              <a:srgbClr val="89A2B0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Columbia</c:v>
                </c:pt>
                <c:pt idx="2">
                  <c:v>Virginia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0.7859</c:v>
                </c:pt>
                <c:pt idx="1">
                  <c:v>0.5628</c:v>
                </c:pt>
                <c:pt idx="2">
                  <c:v>2.1187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D5 · Thermal / HVAC</c:v>
                </c:pt>
              </c:strCache>
            </c:strRef>
          </c:tx>
          <c:spPr>
            <a:solidFill>
              <a:srgbClr val="3D5972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Columbia</c:v>
                </c:pt>
                <c:pt idx="2">
                  <c:v>Virginia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1.0267</c:v>
                </c:pt>
                <c:pt idx="1">
                  <c:v>0.1553</c:v>
                </c:pt>
                <c:pt idx="2">
                  <c:v>0.8552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D6 · Mission &amp; combat</c:v>
                </c:pt>
              </c:strCache>
            </c:strRef>
          </c:tx>
          <c:spPr>
            <a:solidFill>
              <a:srgbClr val="B6C8D8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Columbia</c:v>
                </c:pt>
                <c:pt idx="2">
                  <c:v>Virginia</c:v>
                </c:pt>
              </c:strCache>
            </c: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0.2846</c:v>
                </c:pt>
                <c:pt idx="1">
                  <c:v>1.0329</c:v>
                </c:pt>
                <c:pt idx="2">
                  <c:v>0.179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D7 · Electronic components</c:v>
                </c:pt>
              </c:strCache>
            </c:strRef>
          </c:tx>
          <c:spPr>
            <a:solidFill>
              <a:srgbClr val="AFC2CC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Columbia</c:v>
                </c:pt>
                <c:pt idx="2">
                  <c:v>Virginia</c:v>
                </c:pt>
              </c:strCache>
            </c:strRef>
          </c:cat>
          <c:val>
            <c:numRef>
              <c:f>Sheet1!$H$2:$H$4</c:f>
              <c:numCache>
                <c:formatCode>General</c:formatCode>
                <c:ptCount val="3"/>
                <c:pt idx="0">
                  <c:v>0.1465</c:v>
                </c:pt>
                <c:pt idx="1">
                  <c:v>0.1105</c:v>
                </c:pt>
                <c:pt idx="2">
                  <c:v>0.7115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D8 · Mechanical handling</c:v>
                </c:pt>
              </c:strCache>
            </c:strRef>
          </c:tx>
          <c:spPr>
            <a:solidFill>
              <a:srgbClr val="263746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Columbia</c:v>
                </c:pt>
                <c:pt idx="2">
                  <c:v>Virginia</c:v>
                </c:pt>
              </c:strCache>
            </c:strRef>
          </c:cat>
          <c:val>
            <c:numRef>
              <c:f>Sheet1!$I$2:$I$4</c:f>
              <c:numCache>
                <c:formatCode>General</c:formatCode>
                <c:ptCount val="3"/>
                <c:pt idx="0">
                  <c:v>0.2753</c:v>
                </c:pt>
                <c:pt idx="1">
                  <c:v>0.0612</c:v>
                </c:pt>
                <c:pt idx="2">
                  <c:v>0.0292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D9 · Specialty materials</c:v>
                </c:pt>
              </c:strCache>
            </c:strRef>
          </c:tx>
          <c:spPr>
            <a:solidFill>
              <a:srgbClr val="79838F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Columbia</c:v>
                </c:pt>
                <c:pt idx="2">
                  <c:v>Virginia</c:v>
                </c:pt>
              </c:strCache>
            </c:strRef>
          </c:cat>
          <c:val>
            <c:numRef>
              <c:f>Sheet1!$J$2:$J$4</c:f>
              <c:numCache>
                <c:formatCode>General</c:formatCode>
                <c:ptCount val="3"/>
                <c:pt idx="0">
                  <c:v>0.2549</c:v>
                </c:pt>
                <c:pt idx="1">
                  <c:v>0.3387</c:v>
                </c:pt>
                <c:pt idx="2">
                  <c:v>1.3147</c:v>
                </c:pt>
              </c:numCache>
            </c:numRef>
          </c:val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D10 · Interiors &amp; outfitting</c:v>
                </c:pt>
              </c:strCache>
            </c:strRef>
          </c:tx>
          <c:spPr>
            <a:solidFill>
              <a:srgbClr val="D8E3EB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Columbia</c:v>
                </c:pt>
                <c:pt idx="2">
                  <c:v>Virginia</c:v>
                </c:pt>
              </c:strCache>
            </c:strRef>
          </c:cat>
          <c:val>
            <c:numRef>
              <c:f>Sheet1!$K$2:$K$4</c:f>
              <c:numCache>
                <c:formatCode>General</c:formatCode>
                <c:ptCount val="3"/>
                <c:pt idx="0">
                  <c:v>0.1382</c:v>
                </c:pt>
                <c:pt idx="1">
                  <c:v>0.0051</c:v>
                </c:pt>
                <c:pt idx="2">
                  <c:v>0.1579</c:v>
                </c:pt>
              </c:numCache>
            </c:numRef>
          </c:val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D11 · Services</c:v>
                </c:pt>
              </c:strCache>
            </c:strRef>
          </c:tx>
          <c:spPr>
            <a:solidFill>
              <a:srgbClr val="7F7F7F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Columbia</c:v>
                </c:pt>
                <c:pt idx="2">
                  <c:v>Virginia</c:v>
                </c:pt>
              </c:strCache>
            </c:strRef>
          </c:cat>
          <c:val>
            <c:numRef>
              <c:f>Sheet1!$L$2:$L$4</c:f>
              <c:numCache>
                <c:formatCode>General</c:formatCode>
                <c:ptCount val="3"/>
                <c:pt idx="0">
                  <c:v>0.0502</c:v>
                </c:pt>
                <c:pt idx="1">
                  <c:v>0.0708</c:v>
                </c:pt>
                <c:pt idx="2">
                  <c:v>0.0968</c:v>
                </c:pt>
              </c:numCache>
            </c:numRef>
          </c:val>
        </c:ser>
        <c:ser>
          <c:idx val="11"/>
          <c:order val="11"/>
          <c:tx>
            <c:strRef>
              <c:f>Sheet1!$M$1</c:f>
              <c:strCache>
                <c:ptCount val="1"/>
                <c:pt idx="0">
                  <c:v>D0 · Unresolved</c:v>
                </c:pt>
              </c:strCache>
            </c:strRef>
          </c:tx>
          <c:spPr>
            <a:solidFill>
              <a:srgbClr val="D9D9D9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Columbia</c:v>
                </c:pt>
                <c:pt idx="2">
                  <c:v>Virginia</c:v>
                </c:pt>
              </c:strCache>
            </c:strRef>
          </c:cat>
          <c:val>
            <c:numRef>
              <c:f>Sheet1!$M$2:$M$4</c:f>
              <c:numCache>
                <c:formatCode>General</c:formatCode>
                <c:ptCount val="3"/>
                <c:pt idx="0">
                  <c:v>0.5266</c:v>
                </c:pt>
                <c:pt idx="1">
                  <c:v>0.343</c:v>
                </c:pt>
                <c:pt idx="2">
                  <c:v>0.8439</c:v>
                </c:pt>
              </c:numCache>
            </c:numRef>
          </c:val>
        </c:ser>
        <c:gapWidth val="14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one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legend>
      <c:legendPos val="r"/>
      <c:overlay val="0"/>
      <c:txPr>
        <a:bodyPr rot="0" spcFirstLastPara="1" vertOverflow="ellipsis" wrap="square" anchor="ctr" anchorCtr="1"/>
        <a:lstStyle/>
        <a:p>
          <a:pPr>
            <a:defRPr sz="900" b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3385647025253248E-2"/>
          <c:y val="9.1259640102827763E-2"/>
          <c:w val="0.95919532030246824"/>
          <c:h val="0.8174807197943444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3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DF20-4971-848F-1DAC26978B78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F20-4971-848F-1DAC26978B78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DF20-4971-848F-1DAC26978B78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F20-4971-848F-1DAC26978B78}"/>
              </c:ext>
            </c:extLst>
          </c:dPt>
          <c:dPt>
            <c:idx val="12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DF20-4971-848F-1DAC26978B78}"/>
              </c:ext>
            </c:extLst>
          </c:dPt>
          <c:dPt>
            <c:idx val="16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DF20-4971-848F-1DAC26978B78}"/>
              </c:ext>
            </c:extLst>
          </c:dPt>
          <c:dPt>
            <c:idx val="18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DF20-4971-848F-1DAC26978B78}"/>
              </c:ext>
            </c:extLst>
          </c:dPt>
          <c:dPt>
            <c:idx val="2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DF20-4971-848F-1DAC26978B78}"/>
              </c:ext>
            </c:extLst>
          </c:dPt>
          <c:dPt>
            <c:idx val="2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DF20-4971-848F-1DAC26978B78}"/>
              </c:ext>
            </c:extLst>
          </c:dPt>
          <c:dPt>
            <c:idx val="24"/>
            <c:invertIfNegative val="0"/>
            <c:bubble3D val="0"/>
            <c:spPr>
              <a:solidFill>
                <a:srgbClr val="BEBEB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DF20-4971-848F-1DAC26978B78}"/>
              </c:ext>
            </c:extLst>
          </c:dPt>
          <c:dPt>
            <c:idx val="25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A-DF20-4971-848F-1DAC26978B78}"/>
              </c:ext>
            </c:extLst>
          </c:dPt>
          <c:dPt>
            <c:idx val="26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DF20-4971-848F-1DAC26978B78}"/>
              </c:ext>
            </c:extLst>
          </c:dPt>
          <c:dPt>
            <c:idx val="28"/>
            <c:invertIfNegative val="0"/>
            <c:bubble3D val="0"/>
            <c:spPr>
              <a:solidFill>
                <a:srgbClr val="BEBEB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C-DF20-4971-848F-1DAC26978B78}"/>
              </c:ext>
            </c:extLst>
          </c:dPt>
          <c:dPt>
            <c:idx val="29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DF20-4971-848F-1DAC26978B78}"/>
              </c:ext>
            </c:extLst>
          </c:dPt>
          <c:dPt>
            <c:idx val="30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E-DF20-4971-848F-1DAC26978B78}"/>
              </c:ext>
            </c:extLst>
          </c:dPt>
          <c:dPt>
            <c:idx val="32"/>
            <c:invertIfNegative val="0"/>
            <c:bubble3D val="0"/>
            <c:spPr>
              <a:solidFill>
                <a:srgbClr val="BEBEB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DF20-4971-848F-1DAC26978B78}"/>
              </c:ext>
            </c:extLst>
          </c:dPt>
          <c:dPt>
            <c:idx val="33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0-DF20-4971-848F-1DAC26978B78}"/>
              </c:ext>
            </c:extLst>
          </c:dPt>
          <c:dPt>
            <c:idx val="34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1-DF20-4971-848F-1DAC26978B78}"/>
              </c:ext>
            </c:extLst>
          </c:dPt>
          <c:dPt>
            <c:idx val="36"/>
            <c:invertIfNegative val="0"/>
            <c:bubble3D val="0"/>
            <c:spPr>
              <a:solidFill>
                <a:srgbClr val="BEBEB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2-DF20-4971-848F-1DAC26978B78}"/>
              </c:ext>
            </c:extLst>
          </c:dPt>
          <c:dPt>
            <c:idx val="37"/>
            <c:invertIfNegative val="0"/>
            <c:bubble3D val="0"/>
            <c:spPr>
              <a:solidFill>
                <a:srgbClr val="A1A1A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3-DF20-4971-848F-1DAC26978B78}"/>
              </c:ext>
            </c:extLst>
          </c:dPt>
          <c:dPt>
            <c:idx val="38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4-DF20-4971-848F-1DAC26978B78}"/>
              </c:ext>
            </c:extLst>
          </c:dPt>
          <c:dLbls>
            <c:dLbl>
              <c:idx val="1"/>
              <c:layout>
                <c:manualLayout>
                  <c:x val="0"/>
                  <c:y val="-6.426735218508997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DF20-4971-848F-1DAC26978B78}"/>
                </c:ext>
              </c:extLst>
            </c:dLbl>
            <c:dLbl>
              <c:idx val="4"/>
              <c:layout>
                <c:manualLayout>
                  <c:x val="0"/>
                  <c:y val="-6.426735218508997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DF20-4971-848F-1DAC26978B78}"/>
                </c:ext>
              </c:extLst>
            </c:dLbl>
            <c:dLbl>
              <c:idx val="5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DF20-4971-848F-1DAC26978B78}"/>
                </c:ext>
              </c:extLst>
            </c:dLbl>
            <c:dLbl>
              <c:idx val="9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7-DF20-4971-848F-1DAC26978B78}"/>
                </c:ext>
              </c:extLst>
            </c:dLbl>
            <c:dLbl>
              <c:idx val="10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DF20-4971-848F-1DAC26978B78}"/>
                </c:ext>
              </c:extLst>
            </c:dLbl>
            <c:dLbl>
              <c:idx val="12"/>
              <c:layout>
                <c:manualLayout>
                  <c:x val="0"/>
                  <c:y val="-6.426735218508997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DF20-4971-848F-1DAC26978B78}"/>
                </c:ext>
              </c:extLst>
            </c:dLbl>
            <c:dLbl>
              <c:idx val="13"/>
              <c:layout>
                <c:manualLayout>
                  <c:x val="0"/>
                  <c:y val="-6.426735218508997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8-DF20-4971-848F-1DAC26978B78}"/>
                </c:ext>
              </c:extLst>
            </c:dLbl>
            <c:dLbl>
              <c:idx val="16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DF20-4971-848F-1DAC26978B78}"/>
                </c:ext>
              </c:extLst>
            </c:dLbl>
            <c:dLbl>
              <c:idx val="17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9-DF20-4971-848F-1DAC26978B78}"/>
                </c:ext>
              </c:extLst>
            </c:dLbl>
            <c:dLbl>
              <c:idx val="18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DF20-4971-848F-1DAC26978B78}"/>
                </c:ext>
              </c:extLst>
            </c:dLbl>
            <c:dLbl>
              <c:idx val="21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A-DF20-4971-848F-1DAC26978B78}"/>
                </c:ext>
              </c:extLst>
            </c:dLbl>
            <c:dLbl>
              <c:idx val="22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DF20-4971-848F-1DAC26978B78}"/>
                </c:ext>
              </c:extLst>
            </c:dLbl>
            <c:dLbl>
              <c:idx val="25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DF20-4971-848F-1DAC26978B78}"/>
                </c:ext>
              </c:extLst>
            </c:dLbl>
            <c:dLbl>
              <c:idx val="26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DF20-4971-848F-1DAC26978B78}"/>
                </c:ext>
              </c:extLst>
            </c:dLbl>
            <c:dLbl>
              <c:idx val="29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DF20-4971-848F-1DAC26978B78}"/>
                </c:ext>
              </c:extLst>
            </c:dLbl>
            <c:dLbl>
              <c:idx val="30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DF20-4971-848F-1DAC26978B78}"/>
                </c:ext>
              </c:extLst>
            </c:dLbl>
            <c:dLbl>
              <c:idx val="32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DF20-4971-848F-1DAC26978B78}"/>
                </c:ext>
              </c:extLst>
            </c:dLbl>
            <c:dLbl>
              <c:idx val="33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DF20-4971-848F-1DAC26978B78}"/>
                </c:ext>
              </c:extLst>
            </c:dLbl>
            <c:dLbl>
              <c:idx val="34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DF20-4971-848F-1DAC26978B78}"/>
                </c:ext>
              </c:extLst>
            </c:dLbl>
            <c:dLbl>
              <c:idx val="36"/>
              <c:layout>
                <c:manualLayout>
                  <c:x val="0"/>
                  <c:y val="-6.426735218508997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DF20-4971-848F-1DAC26978B78}"/>
                </c:ext>
              </c:extLst>
            </c:dLbl>
            <c:dLbl>
              <c:idx val="37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DF20-4971-848F-1DAC26978B78}"/>
                </c:ext>
              </c:extLst>
            </c:dLbl>
            <c:dLbl>
              <c:idx val="38"/>
              <c:layout>
                <c:manualLayout>
                  <c:x val="0"/>
                  <c:y val="-6.426735218508997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DF20-4971-848F-1DAC26978B7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Sheet1!$A$1:$AM$1</c:f>
              <c:numCache>
                <c:formatCode>General</c:formatCode>
                <c:ptCount val="39"/>
                <c:pt idx="0">
                  <c:v>0.47436499799999998</c:v>
                </c:pt>
                <c:pt idx="1">
                  <c:v>1.779597842</c:v>
                </c:pt>
                <c:pt idx="4">
                  <c:v>1.2336318879999999</c:v>
                </c:pt>
                <c:pt idx="5">
                  <c:v>1.853723982</c:v>
                </c:pt>
                <c:pt idx="8">
                  <c:v>0.87398664500000001</c:v>
                </c:pt>
                <c:pt idx="9">
                  <c:v>3.2074214429999999</c:v>
                </c:pt>
                <c:pt idx="10">
                  <c:v>1.454272706</c:v>
                </c:pt>
                <c:pt idx="12">
                  <c:v>1.236388123</c:v>
                </c:pt>
                <c:pt idx="13">
                  <c:v>1.847245459</c:v>
                </c:pt>
                <c:pt idx="16">
                  <c:v>1.9292400940000001</c:v>
                </c:pt>
                <c:pt idx="17">
                  <c:v>1.9768532139999999</c:v>
                </c:pt>
                <c:pt idx="18">
                  <c:v>1.5751489599999999</c:v>
                </c:pt>
                <c:pt idx="20">
                  <c:v>0.67411793200000003</c:v>
                </c:pt>
                <c:pt idx="21">
                  <c:v>2.9619180919999999</c:v>
                </c:pt>
                <c:pt idx="22">
                  <c:v>1.4776648349999999</c:v>
                </c:pt>
                <c:pt idx="24">
                  <c:v>0.57735821</c:v>
                </c:pt>
                <c:pt idx="25">
                  <c:v>2.724439839400433</c:v>
                </c:pt>
                <c:pt idx="26">
                  <c:v>1.3594178717035803</c:v>
                </c:pt>
                <c:pt idx="28">
                  <c:v>0.61374443</c:v>
                </c:pt>
                <c:pt idx="29">
                  <c:v>2.8014719698262818</c:v>
                </c:pt>
                <c:pt idx="30">
                  <c:v>1.4527277602531905</c:v>
                </c:pt>
                <c:pt idx="32">
                  <c:v>0.98094076</c:v>
                </c:pt>
                <c:pt idx="33">
                  <c:v>2.6898411862948204</c:v>
                </c:pt>
                <c:pt idx="34">
                  <c:v>1.5299265978967191</c:v>
                </c:pt>
                <c:pt idx="36">
                  <c:v>1.05152976</c:v>
                </c:pt>
                <c:pt idx="37">
                  <c:v>2.9193127222999999</c:v>
                </c:pt>
                <c:pt idx="38">
                  <c:v>1.6367105235000001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DF20-4971-848F-1DAC26978B78}"/>
            </c:ext>
          </c:extLst>
        </c:ser>
        <c:ser>
          <c:idx val="1"/>
          <c:order val="1"/>
          <c:spPr>
            <a:noFill/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C-DF20-4971-848F-1DAC26978B78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D-DF20-4971-848F-1DAC26978B78}"/>
                </c:ext>
              </c:extLst>
            </c:dLbl>
            <c:dLbl>
              <c:idx val="4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E-DF20-4971-848F-1DAC26978B78}"/>
                </c:ext>
              </c:extLst>
            </c:dLbl>
            <c:dLbl>
              <c:idx val="5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F-DF20-4971-848F-1DAC26978B78}"/>
                </c:ext>
              </c:extLst>
            </c:dLbl>
            <c:dLbl>
              <c:idx val="8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0-DF20-4971-848F-1DAC26978B78}"/>
                </c:ext>
              </c:extLst>
            </c:dLbl>
            <c:dLbl>
              <c:idx val="9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1-DF20-4971-848F-1DAC26978B78}"/>
                </c:ext>
              </c:extLst>
            </c:dLbl>
            <c:dLbl>
              <c:idx val="10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2-DF20-4971-848F-1DAC26978B78}"/>
                </c:ext>
              </c:extLst>
            </c:dLbl>
            <c:dLbl>
              <c:idx val="12"/>
              <c:layout>
                <c:manualLayout>
                  <c:x val="0"/>
                  <c:y val="-6.426735218508997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3-DF20-4971-848F-1DAC26978B78}"/>
                </c:ext>
              </c:extLst>
            </c:dLbl>
            <c:dLbl>
              <c:idx val="13"/>
              <c:layout>
                <c:manualLayout>
                  <c:x val="0"/>
                  <c:y val="-6.426735218508997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4-DF20-4971-848F-1DAC26978B78}"/>
                </c:ext>
              </c:extLst>
            </c:dLbl>
            <c:dLbl>
              <c:idx val="16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5-DF20-4971-848F-1DAC26978B78}"/>
                </c:ext>
              </c:extLst>
            </c:dLbl>
            <c:dLbl>
              <c:idx val="17"/>
              <c:layout>
                <c:manualLayout>
                  <c:x val="0"/>
                  <c:y val="-6.426735218508997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6-DF20-4971-848F-1DAC26978B78}"/>
                </c:ext>
              </c:extLst>
            </c:dLbl>
            <c:dLbl>
              <c:idx val="18"/>
              <c:layout>
                <c:manualLayout>
                  <c:x val="0"/>
                  <c:y val="-6.426735218508997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7-DF20-4971-848F-1DAC26978B78}"/>
                </c:ext>
              </c:extLst>
            </c:dLbl>
            <c:dLbl>
              <c:idx val="20"/>
              <c:layout>
                <c:manualLayout>
                  <c:x val="0"/>
                  <c:y val="-6.426735218508997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8-DF20-4971-848F-1DAC26978B78}"/>
                </c:ext>
              </c:extLst>
            </c:dLbl>
            <c:dLbl>
              <c:idx val="21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9-DF20-4971-848F-1DAC26978B78}"/>
                </c:ext>
              </c:extLst>
            </c:dLbl>
            <c:dLbl>
              <c:idx val="22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A-DF20-4971-848F-1DAC26978B78}"/>
                </c:ext>
              </c:extLst>
            </c:dLbl>
            <c:dLbl>
              <c:idx val="24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B-DF20-4971-848F-1DAC26978B78}"/>
                </c:ext>
              </c:extLst>
            </c:dLbl>
            <c:dLbl>
              <c:idx val="25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C-DF20-4971-848F-1DAC26978B78}"/>
                </c:ext>
              </c:extLst>
            </c:dLbl>
            <c:dLbl>
              <c:idx val="26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D-DF20-4971-848F-1DAC26978B78}"/>
                </c:ext>
              </c:extLst>
            </c:dLbl>
            <c:dLbl>
              <c:idx val="28"/>
              <c:layout>
                <c:manualLayout>
                  <c:x val="0"/>
                  <c:y val="-6.426735218508997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E-DF20-4971-848F-1DAC26978B78}"/>
                </c:ext>
              </c:extLst>
            </c:dLbl>
            <c:dLbl>
              <c:idx val="29"/>
              <c:layout>
                <c:manualLayout>
                  <c:x val="0"/>
                  <c:y val="-6.426735218508997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F-DF20-4971-848F-1DAC26978B78}"/>
                </c:ext>
              </c:extLst>
            </c:dLbl>
            <c:dLbl>
              <c:idx val="30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0-DF20-4971-848F-1DAC26978B78}"/>
                </c:ext>
              </c:extLst>
            </c:dLbl>
            <c:dLbl>
              <c:idx val="32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1-DF20-4971-848F-1DAC26978B78}"/>
                </c:ext>
              </c:extLst>
            </c:dLbl>
            <c:dLbl>
              <c:idx val="33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2-DF20-4971-848F-1DAC26978B78}"/>
                </c:ext>
              </c:extLst>
            </c:dLbl>
            <c:dLbl>
              <c:idx val="34"/>
              <c:layout>
                <c:manualLayout>
                  <c:x val="0"/>
                  <c:y val="-6.426735218508997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3-DF20-4971-848F-1DAC26978B78}"/>
                </c:ext>
              </c:extLst>
            </c:dLbl>
            <c:dLbl>
              <c:idx val="36"/>
              <c:layout>
                <c:manualLayout>
                  <c:x val="0"/>
                  <c:y val="-6.426735218508997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4-DF20-4971-848F-1DAC26978B78}"/>
                </c:ext>
              </c:extLst>
            </c:dLbl>
            <c:dLbl>
              <c:idx val="37"/>
              <c:layout>
                <c:manualLayout>
                  <c:x val="0"/>
                  <c:y val="-6.426735218508997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5-DF20-4971-848F-1DAC26978B78}"/>
                </c:ext>
              </c:extLst>
            </c:dLbl>
            <c:dLbl>
              <c:idx val="38"/>
              <c:layout>
                <c:manualLayout>
                  <c:x val="0"/>
                  <c:y val="-6.426735218508997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6-DF20-4971-848F-1DAC26978B7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Sheet1!$A$2:$AM$2</c:f>
              <c:numCache>
                <c:formatCode>General</c:formatCode>
                <c:ptCount val="39"/>
                <c:pt idx="0">
                  <c:v>4.0058052019999995</c:v>
                </c:pt>
                <c:pt idx="1">
                  <c:v>5.8277348580000004</c:v>
                </c:pt>
                <c:pt idx="4">
                  <c:v>7.2723759120000011</c:v>
                </c:pt>
                <c:pt idx="5">
                  <c:v>5.9043955480000001</c:v>
                </c:pt>
                <c:pt idx="8">
                  <c:v>4.8380365550000004</c:v>
                </c:pt>
                <c:pt idx="9">
                  <c:v>8.6253272770000002</c:v>
                </c:pt>
                <c:pt idx="10">
                  <c:v>9.6620907339999995</c:v>
                </c:pt>
                <c:pt idx="12">
                  <c:v>6.7796021570000002</c:v>
                </c:pt>
                <c:pt idx="13">
                  <c:v>7.8432992210000005</c:v>
                </c:pt>
                <c:pt idx="16">
                  <c:v>3.7768849060000003</c:v>
                </c:pt>
                <c:pt idx="17">
                  <c:v>8.0122557860000008</c:v>
                </c:pt>
                <c:pt idx="18">
                  <c:v>9.1691680400000006</c:v>
                </c:pt>
                <c:pt idx="20">
                  <c:v>3.4976577880000002</c:v>
                </c:pt>
                <c:pt idx="21">
                  <c:v>8.2463771880000003</c:v>
                </c:pt>
                <c:pt idx="22">
                  <c:v>8.7989767850000007</c:v>
                </c:pt>
                <c:pt idx="24">
                  <c:v>3.287794751642135</c:v>
                </c:pt>
                <c:pt idx="25">
                  <c:v>8.1089912165420053</c:v>
                </c:pt>
                <c:pt idx="26">
                  <c:v>8.3721770314501534</c:v>
                </c:pt>
                <c:pt idx="28">
                  <c:v>3.3431291679445443</c:v>
                </c:pt>
                <c:pt idx="29">
                  <c:v>7.6310484848887308</c:v>
                </c:pt>
                <c:pt idx="30">
                  <c:v>8.286610386118376</c:v>
                </c:pt>
                <c:pt idx="32">
                  <c:v>5.1031581608136305</c:v>
                </c:pt>
                <c:pt idx="33">
                  <c:v>6.6910427869811659</c:v>
                </c:pt>
                <c:pt idx="34">
                  <c:v>8.0757943495272233</c:v>
                </c:pt>
                <c:pt idx="36">
                  <c:v>5.216266439324437</c:v>
                </c:pt>
                <c:pt idx="37">
                  <c:v>6.6154942894631121</c:v>
                </c:pt>
                <c:pt idx="38">
                  <c:v>7.9870632997925348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7-DF20-4971-848F-1DAC26978B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1885925088"/>
        <c:axId val="1"/>
      </c:barChart>
      <c:catAx>
        <c:axId val="188592508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5925088"/>
        <c:crosses val="min"/>
        <c:crossBetween val="between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D1 · Hull &amp; structures</c:v>
                </c:pt>
              </c:strCache>
            </c:strRef>
          </c:tx>
          <c:spPr>
            <a:solidFill>
              <a:srgbClr val="1D4D68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Sheet1!$A$2:$A$13</c:f>
              <c:strCache>
                <c:ptCount val="12"/>
                <c:pt idx="0">
                  <c:v>DDG-51 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Virginia FY22</c:v>
                </c:pt>
                <c:pt idx="5">
                  <c:v>FY23</c:v>
                </c:pt>
                <c:pt idx="6">
                  <c:v>FY24</c:v>
                </c:pt>
                <c:pt idx="7">
                  <c:v>FY25</c:v>
                </c:pt>
                <c:pt idx="8">
                  <c:v>Columbia FY22</c:v>
                </c:pt>
                <c:pt idx="9">
                  <c:v>FY23</c:v>
                </c:pt>
                <c:pt idx="10">
                  <c:v>FY24</c:v>
                </c:pt>
                <c:pt idx="11">
                  <c:v>FY25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10.8</c:v>
                </c:pt>
                <c:pt idx="1">
                  <c:v>7.9</c:v>
                </c:pt>
                <c:pt idx="2">
                  <c:v>10.5</c:v>
                </c:pt>
                <c:pt idx="3">
                  <c:v>36.1</c:v>
                </c:pt>
                <c:pt idx="4">
                  <c:v>40.0</c:v>
                </c:pt>
                <c:pt idx="5">
                  <c:v>141.4</c:v>
                </c:pt>
                <c:pt idx="6">
                  <c:v>62.9</c:v>
                </c:pt>
                <c:pt idx="7">
                  <c:v>46.2</c:v>
                </c:pt>
                <c:pt idx="8">
                  <c:v>32.3</c:v>
                </c:pt>
                <c:pt idx="9">
                  <c:v>229.7</c:v>
                </c:pt>
                <c:pt idx="10">
                  <c:v>84.9</c:v>
                </c:pt>
                <c:pt idx="11">
                  <c:v>30.1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D2 · Propulsion machinery</c:v>
                </c:pt>
              </c:strCache>
            </c:strRef>
          </c:tx>
          <c:spPr>
            <a:solidFill>
              <a:srgbClr val="6E91B1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Sheet1!$A$2:$A$13</c:f>
              <c:strCache>
                <c:ptCount val="12"/>
                <c:pt idx="0">
                  <c:v>DDG-51 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Virginia FY22</c:v>
                </c:pt>
                <c:pt idx="5">
                  <c:v>FY23</c:v>
                </c:pt>
                <c:pt idx="6">
                  <c:v>FY24</c:v>
                </c:pt>
                <c:pt idx="7">
                  <c:v>FY25</c:v>
                </c:pt>
                <c:pt idx="8">
                  <c:v>Columbia FY22</c:v>
                </c:pt>
                <c:pt idx="9">
                  <c:v>FY23</c:v>
                </c:pt>
                <c:pt idx="10">
                  <c:v>FY24</c:v>
                </c:pt>
                <c:pt idx="11">
                  <c:v>FY25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49.4</c:v>
                </c:pt>
                <c:pt idx="1">
                  <c:v>118.7</c:v>
                </c:pt>
                <c:pt idx="2">
                  <c:v>140.9</c:v>
                </c:pt>
                <c:pt idx="3">
                  <c:v>295.2</c:v>
                </c:pt>
                <c:pt idx="4">
                  <c:v>74.8</c:v>
                </c:pt>
                <c:pt idx="5">
                  <c:v>472.8</c:v>
                </c:pt>
                <c:pt idx="6">
                  <c:v>126.1</c:v>
                </c:pt>
                <c:pt idx="7">
                  <c:v>31.4</c:v>
                </c:pt>
                <c:pt idx="8">
                  <c:v>30.7</c:v>
                </c:pt>
                <c:pt idx="9">
                  <c:v>309.6</c:v>
                </c:pt>
                <c:pt idx="10">
                  <c:v>241.0</c:v>
                </c:pt>
                <c:pt idx="11">
                  <c:v>21.4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D3 · Electrical power</c:v>
                </c:pt>
              </c:strCache>
            </c:strRef>
          </c:tx>
          <c:spPr>
            <a:solidFill>
              <a:srgbClr val="486D82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Sheet1!$A$2:$A$13</c:f>
              <c:strCache>
                <c:ptCount val="12"/>
                <c:pt idx="0">
                  <c:v>DDG-51 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Virginia FY22</c:v>
                </c:pt>
                <c:pt idx="5">
                  <c:v>FY23</c:v>
                </c:pt>
                <c:pt idx="6">
                  <c:v>FY24</c:v>
                </c:pt>
                <c:pt idx="7">
                  <c:v>FY25</c:v>
                </c:pt>
                <c:pt idx="8">
                  <c:v>Columbia FY22</c:v>
                </c:pt>
                <c:pt idx="9">
                  <c:v>FY23</c:v>
                </c:pt>
                <c:pt idx="10">
                  <c:v>FY24</c:v>
                </c:pt>
                <c:pt idx="11">
                  <c:v>FY25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15.5</c:v>
                </c:pt>
                <c:pt idx="1">
                  <c:v>15.8</c:v>
                </c:pt>
                <c:pt idx="2">
                  <c:v>122.5</c:v>
                </c:pt>
                <c:pt idx="3">
                  <c:v>74.4</c:v>
                </c:pt>
                <c:pt idx="4">
                  <c:v>3.7</c:v>
                </c:pt>
                <c:pt idx="5">
                  <c:v>12.9</c:v>
                </c:pt>
                <c:pt idx="6">
                  <c:v>20.4</c:v>
                </c:pt>
                <c:pt idx="7">
                  <c:v>15.8</c:v>
                </c:pt>
                <c:pt idx="8">
                  <c:v>45.3</c:v>
                </c:pt>
                <c:pt idx="9">
                  <c:v>67.4</c:v>
                </c:pt>
                <c:pt idx="10">
                  <c:v>67.7</c:v>
                </c:pt>
                <c:pt idx="11">
                  <c:v>31.8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D4 · Fluid &amp; piping</c:v>
                </c:pt>
              </c:strCache>
            </c:strRef>
          </c:tx>
          <c:spPr>
            <a:solidFill>
              <a:srgbClr val="89A2B0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Sheet1!$A$2:$A$13</c:f>
              <c:strCache>
                <c:ptCount val="12"/>
                <c:pt idx="0">
                  <c:v>DDG-51 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Virginia FY22</c:v>
                </c:pt>
                <c:pt idx="5">
                  <c:v>FY23</c:v>
                </c:pt>
                <c:pt idx="6">
                  <c:v>FY24</c:v>
                </c:pt>
                <c:pt idx="7">
                  <c:v>FY25</c:v>
                </c:pt>
                <c:pt idx="8">
                  <c:v>Columbia FY22</c:v>
                </c:pt>
                <c:pt idx="9">
                  <c:v>FY23</c:v>
                </c:pt>
                <c:pt idx="10">
                  <c:v>FY24</c:v>
                </c:pt>
                <c:pt idx="11">
                  <c:v>FY25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20.7</c:v>
                </c:pt>
                <c:pt idx="1">
                  <c:v>32.6</c:v>
                </c:pt>
                <c:pt idx="2">
                  <c:v>70.7</c:v>
                </c:pt>
                <c:pt idx="3">
                  <c:v>82.0</c:v>
                </c:pt>
                <c:pt idx="4">
                  <c:v>31.2</c:v>
                </c:pt>
                <c:pt idx="5">
                  <c:v>90.7</c:v>
                </c:pt>
                <c:pt idx="6">
                  <c:v>137.2</c:v>
                </c:pt>
                <c:pt idx="7">
                  <c:v>70.6</c:v>
                </c:pt>
                <c:pt idx="8">
                  <c:v>57.2</c:v>
                </c:pt>
                <c:pt idx="9">
                  <c:v>121.7</c:v>
                </c:pt>
                <c:pt idx="10">
                  <c:v>125.5</c:v>
                </c:pt>
                <c:pt idx="11">
                  <c:v>43.2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D5 · Thermal / HVAC</c:v>
                </c:pt>
              </c:strCache>
            </c:strRef>
          </c:tx>
          <c:spPr>
            <a:solidFill>
              <a:srgbClr val="3D5972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Sheet1!$A$2:$A$13</c:f>
              <c:strCache>
                <c:ptCount val="12"/>
                <c:pt idx="0">
                  <c:v>DDG-51 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Virginia FY22</c:v>
                </c:pt>
                <c:pt idx="5">
                  <c:v>FY23</c:v>
                </c:pt>
                <c:pt idx="6">
                  <c:v>FY24</c:v>
                </c:pt>
                <c:pt idx="7">
                  <c:v>FY25</c:v>
                </c:pt>
                <c:pt idx="8">
                  <c:v>Columbia FY22</c:v>
                </c:pt>
                <c:pt idx="9">
                  <c:v>FY23</c:v>
                </c:pt>
                <c:pt idx="10">
                  <c:v>FY24</c:v>
                </c:pt>
                <c:pt idx="11">
                  <c:v>FY25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16.4</c:v>
                </c:pt>
                <c:pt idx="1">
                  <c:v>68.0</c:v>
                </c:pt>
                <c:pt idx="2">
                  <c:v>72.2</c:v>
                </c:pt>
                <c:pt idx="3">
                  <c:v>131.3</c:v>
                </c:pt>
                <c:pt idx="4">
                  <c:v>10.4</c:v>
                </c:pt>
                <c:pt idx="5">
                  <c:v>97.0</c:v>
                </c:pt>
                <c:pt idx="6">
                  <c:v>8.7</c:v>
                </c:pt>
                <c:pt idx="7">
                  <c:v>25.5</c:v>
                </c:pt>
                <c:pt idx="8">
                  <c:v>15.2</c:v>
                </c:pt>
                <c:pt idx="9">
                  <c:v>29.2</c:v>
                </c:pt>
                <c:pt idx="10">
                  <c:v>29.9</c:v>
                </c:pt>
                <c:pt idx="11">
                  <c:v>20.9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D6 · Mission &amp; combat</c:v>
                </c:pt>
              </c:strCache>
            </c:strRef>
          </c:tx>
          <c:spPr>
            <a:solidFill>
              <a:srgbClr val="B6C8D8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Sheet1!$A$2:$A$13</c:f>
              <c:strCache>
                <c:ptCount val="12"/>
                <c:pt idx="0">
                  <c:v>DDG-51 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Virginia FY22</c:v>
                </c:pt>
                <c:pt idx="5">
                  <c:v>FY23</c:v>
                </c:pt>
                <c:pt idx="6">
                  <c:v>FY24</c:v>
                </c:pt>
                <c:pt idx="7">
                  <c:v>FY25</c:v>
                </c:pt>
                <c:pt idx="8">
                  <c:v>Columbia FY22</c:v>
                </c:pt>
                <c:pt idx="9">
                  <c:v>FY23</c:v>
                </c:pt>
                <c:pt idx="10">
                  <c:v>FY24</c:v>
                </c:pt>
                <c:pt idx="11">
                  <c:v>FY25</c:v>
                </c:pt>
              </c:strCache>
            </c: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1.5</c:v>
                </c:pt>
                <c:pt idx="1">
                  <c:v>4.8</c:v>
                </c:pt>
                <c:pt idx="2">
                  <c:v>54.7</c:v>
                </c:pt>
                <c:pt idx="3">
                  <c:v>5.9</c:v>
                </c:pt>
                <c:pt idx="4">
                  <c:v>15.0</c:v>
                </c:pt>
                <c:pt idx="5">
                  <c:v>2.2</c:v>
                </c:pt>
                <c:pt idx="6">
                  <c:v>0.7</c:v>
                </c:pt>
                <c:pt idx="7">
                  <c:v>0.3</c:v>
                </c:pt>
                <c:pt idx="8">
                  <c:v>7.1</c:v>
                </c:pt>
                <c:pt idx="9">
                  <c:v>285.9</c:v>
                </c:pt>
                <c:pt idx="10">
                  <c:v>199.8</c:v>
                </c:pt>
                <c:pt idx="11">
                  <c:v>276.9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D7 · Electronic components</c:v>
                </c:pt>
              </c:strCache>
            </c:strRef>
          </c:tx>
          <c:spPr>
            <a:solidFill>
              <a:srgbClr val="AFC2CC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Sheet1!$A$2:$A$13</c:f>
              <c:strCache>
                <c:ptCount val="12"/>
                <c:pt idx="0">
                  <c:v>DDG-51 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Virginia FY22</c:v>
                </c:pt>
                <c:pt idx="5">
                  <c:v>FY23</c:v>
                </c:pt>
                <c:pt idx="6">
                  <c:v>FY24</c:v>
                </c:pt>
                <c:pt idx="7">
                  <c:v>FY25</c:v>
                </c:pt>
                <c:pt idx="8">
                  <c:v>Columbia FY22</c:v>
                </c:pt>
                <c:pt idx="9">
                  <c:v>FY23</c:v>
                </c:pt>
                <c:pt idx="10">
                  <c:v>FY24</c:v>
                </c:pt>
                <c:pt idx="11">
                  <c:v>FY25</c:v>
                </c:pt>
              </c:strCache>
            </c:strRef>
          </c:cat>
          <c:val>
            <c:numRef>
              <c:f>Sheet1!$H$2:$H$13</c:f>
              <c:numCache>
                <c:formatCode>General</c:formatCode>
                <c:ptCount val="12"/>
                <c:pt idx="0">
                  <c:v>19.4</c:v>
                </c:pt>
                <c:pt idx="1">
                  <c:v>5.4</c:v>
                </c:pt>
                <c:pt idx="2">
                  <c:v>5.8</c:v>
                </c:pt>
                <c:pt idx="3">
                  <c:v>4.0</c:v>
                </c:pt>
                <c:pt idx="4">
                  <c:v>16.1</c:v>
                </c:pt>
                <c:pt idx="5">
                  <c:v>24.1</c:v>
                </c:pt>
                <c:pt idx="6">
                  <c:v>11.4</c:v>
                </c:pt>
                <c:pt idx="7">
                  <c:v>14.0</c:v>
                </c:pt>
                <c:pt idx="8">
                  <c:v>6.0</c:v>
                </c:pt>
                <c:pt idx="9">
                  <c:v>34.2</c:v>
                </c:pt>
                <c:pt idx="10">
                  <c:v>12.3</c:v>
                </c:pt>
                <c:pt idx="11">
                  <c:v>4.8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D8 · Mechanical handling</c:v>
                </c:pt>
              </c:strCache>
            </c:strRef>
          </c:tx>
          <c:spPr>
            <a:solidFill>
              <a:srgbClr val="263746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Sheet1!$A$2:$A$13</c:f>
              <c:strCache>
                <c:ptCount val="12"/>
                <c:pt idx="0">
                  <c:v>DDG-51 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Virginia FY22</c:v>
                </c:pt>
                <c:pt idx="5">
                  <c:v>FY23</c:v>
                </c:pt>
                <c:pt idx="6">
                  <c:v>FY24</c:v>
                </c:pt>
                <c:pt idx="7">
                  <c:v>FY25</c:v>
                </c:pt>
                <c:pt idx="8">
                  <c:v>Columbia FY22</c:v>
                </c:pt>
                <c:pt idx="9">
                  <c:v>FY23</c:v>
                </c:pt>
                <c:pt idx="10">
                  <c:v>FY24</c:v>
                </c:pt>
                <c:pt idx="11">
                  <c:v>FY25</c:v>
                </c:pt>
              </c:strCache>
            </c:strRef>
          </c:cat>
          <c:val>
            <c:numRef>
              <c:f>Sheet1!$I$2:$I$13</c:f>
              <c:numCache>
                <c:formatCode>General</c:formatCode>
                <c:ptCount val="12"/>
                <c:pt idx="0">
                  <c:v>9.2</c:v>
                </c:pt>
                <c:pt idx="1">
                  <c:v>6.3</c:v>
                </c:pt>
                <c:pt idx="2">
                  <c:v>38.8</c:v>
                </c:pt>
                <c:pt idx="3">
                  <c:v>19.8</c:v>
                </c:pt>
                <c:pt idx="4">
                  <c:v>0.3</c:v>
                </c:pt>
                <c:pt idx="5">
                  <c:v>1.0</c:v>
                </c:pt>
                <c:pt idx="6">
                  <c:v>3.3</c:v>
                </c:pt>
                <c:pt idx="7">
                  <c:v>0.2</c:v>
                </c:pt>
                <c:pt idx="8">
                  <c:v>36.4</c:v>
                </c:pt>
                <c:pt idx="9">
                  <c:v>0.0</c:v>
                </c:pt>
                <c:pt idx="10">
                  <c:v>2.9</c:v>
                </c:pt>
                <c:pt idx="11">
                  <c:v>7.8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D9 · Specialty materials</c:v>
                </c:pt>
              </c:strCache>
            </c:strRef>
          </c:tx>
          <c:spPr>
            <a:solidFill>
              <a:srgbClr val="79838F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Sheet1!$A$2:$A$13</c:f>
              <c:strCache>
                <c:ptCount val="12"/>
                <c:pt idx="0">
                  <c:v>DDG-51 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Virginia FY22</c:v>
                </c:pt>
                <c:pt idx="5">
                  <c:v>FY23</c:v>
                </c:pt>
                <c:pt idx="6">
                  <c:v>FY24</c:v>
                </c:pt>
                <c:pt idx="7">
                  <c:v>FY25</c:v>
                </c:pt>
                <c:pt idx="8">
                  <c:v>Columbia FY22</c:v>
                </c:pt>
                <c:pt idx="9">
                  <c:v>FY23</c:v>
                </c:pt>
                <c:pt idx="10">
                  <c:v>FY24</c:v>
                </c:pt>
                <c:pt idx="11">
                  <c:v>FY25</c:v>
                </c:pt>
              </c:strCache>
            </c:strRef>
          </c:cat>
          <c:val>
            <c:numRef>
              <c:f>Sheet1!$J$2:$J$13</c:f>
              <c:numCache>
                <c:formatCode>General</c:formatCode>
                <c:ptCount val="12"/>
                <c:pt idx="0">
                  <c:v>9.7</c:v>
                </c:pt>
                <c:pt idx="1">
                  <c:v>3.6</c:v>
                </c:pt>
                <c:pt idx="2">
                  <c:v>35.5</c:v>
                </c:pt>
                <c:pt idx="3">
                  <c:v>29.8</c:v>
                </c:pt>
                <c:pt idx="4">
                  <c:v>35.8</c:v>
                </c:pt>
                <c:pt idx="5">
                  <c:v>94.7</c:v>
                </c:pt>
                <c:pt idx="6">
                  <c:v>57.4</c:v>
                </c:pt>
                <c:pt idx="7">
                  <c:v>41.0</c:v>
                </c:pt>
                <c:pt idx="8">
                  <c:v>45.1</c:v>
                </c:pt>
                <c:pt idx="9">
                  <c:v>42.5</c:v>
                </c:pt>
                <c:pt idx="10">
                  <c:v>43.0</c:v>
                </c:pt>
                <c:pt idx="11">
                  <c:v>56.3</c:v>
                </c:pt>
              </c:numCache>
            </c:numRef>
          </c:val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D10 · Interiors &amp; outfitting</c:v>
                </c:pt>
              </c:strCache>
            </c:strRef>
          </c:tx>
          <c:spPr>
            <a:solidFill>
              <a:srgbClr val="D8E3EB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Sheet1!$A$2:$A$13</c:f>
              <c:strCache>
                <c:ptCount val="12"/>
                <c:pt idx="0">
                  <c:v>DDG-51 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Virginia FY22</c:v>
                </c:pt>
                <c:pt idx="5">
                  <c:v>FY23</c:v>
                </c:pt>
                <c:pt idx="6">
                  <c:v>FY24</c:v>
                </c:pt>
                <c:pt idx="7">
                  <c:v>FY25</c:v>
                </c:pt>
                <c:pt idx="8">
                  <c:v>Columbia FY22</c:v>
                </c:pt>
                <c:pt idx="9">
                  <c:v>FY23</c:v>
                </c:pt>
                <c:pt idx="10">
                  <c:v>FY24</c:v>
                </c:pt>
                <c:pt idx="11">
                  <c:v>FY25</c:v>
                </c:pt>
              </c:strCache>
            </c:strRef>
          </c:cat>
          <c:val>
            <c:numRef>
              <c:f>Sheet1!$K$2:$K$13</c:f>
              <c:numCache>
                <c:formatCode>General</c:formatCode>
                <c:ptCount val="12"/>
                <c:pt idx="0">
                  <c:v>3.6</c:v>
                </c:pt>
                <c:pt idx="1">
                  <c:v>8.2</c:v>
                </c:pt>
                <c:pt idx="2">
                  <c:v>5.1</c:v>
                </c:pt>
                <c:pt idx="3">
                  <c:v>3.9</c:v>
                </c:pt>
                <c:pt idx="4">
                  <c:v>6.8</c:v>
                </c:pt>
                <c:pt idx="5">
                  <c:v>3.9</c:v>
                </c:pt>
                <c:pt idx="6">
                  <c:v>3.5</c:v>
                </c:pt>
                <c:pt idx="7">
                  <c:v>0.4</c:v>
                </c:pt>
                <c:pt idx="8">
                  <c:v>0.6</c:v>
                </c:pt>
                <c:pt idx="9">
                  <c:v>0.5</c:v>
                </c:pt>
                <c:pt idx="10">
                  <c:v>0.5</c:v>
                </c:pt>
                <c:pt idx="11">
                  <c:v>0.1</c:v>
                </c:pt>
              </c:numCache>
            </c:numRef>
          </c:val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D11 · Services</c:v>
                </c:pt>
              </c:strCache>
            </c:strRef>
          </c:tx>
          <c:spPr>
            <a:solidFill>
              <a:srgbClr val="7F7F7F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Sheet1!$A$2:$A$13</c:f>
              <c:strCache>
                <c:ptCount val="12"/>
                <c:pt idx="0">
                  <c:v>DDG-51 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Virginia FY22</c:v>
                </c:pt>
                <c:pt idx="5">
                  <c:v>FY23</c:v>
                </c:pt>
                <c:pt idx="6">
                  <c:v>FY24</c:v>
                </c:pt>
                <c:pt idx="7">
                  <c:v>FY25</c:v>
                </c:pt>
                <c:pt idx="8">
                  <c:v>Columbia FY22</c:v>
                </c:pt>
                <c:pt idx="9">
                  <c:v>FY23</c:v>
                </c:pt>
                <c:pt idx="10">
                  <c:v>FY24</c:v>
                </c:pt>
                <c:pt idx="11">
                  <c:v>FY25</c:v>
                </c:pt>
              </c:strCache>
            </c:strRef>
          </c:cat>
          <c:val>
            <c:numRef>
              <c:f>Sheet1!$L$2:$L$13</c:f>
              <c:numCache>
                <c:formatCode>General</c:formatCode>
                <c:ptCount val="12"/>
                <c:pt idx="0">
                  <c:v>3.1</c:v>
                </c:pt>
                <c:pt idx="1">
                  <c:v>4.7</c:v>
                </c:pt>
                <c:pt idx="2">
                  <c:v>3.7</c:v>
                </c:pt>
                <c:pt idx="3">
                  <c:v>3.7</c:v>
                </c:pt>
                <c:pt idx="4">
                  <c:v>2.4</c:v>
                </c:pt>
                <c:pt idx="5">
                  <c:v>4.6</c:v>
                </c:pt>
                <c:pt idx="6">
                  <c:v>6.7</c:v>
                </c:pt>
                <c:pt idx="7">
                  <c:v>3.1</c:v>
                </c:pt>
                <c:pt idx="8">
                  <c:v>9.9</c:v>
                </c:pt>
                <c:pt idx="9">
                  <c:v>12.8</c:v>
                </c:pt>
                <c:pt idx="10">
                  <c:v>9.9</c:v>
                </c:pt>
                <c:pt idx="11">
                  <c:v>1.1</c:v>
                </c:pt>
              </c:numCache>
            </c:numRef>
          </c:val>
        </c:ser>
        <c:ser>
          <c:idx val="11"/>
          <c:order val="11"/>
          <c:tx>
            <c:strRef>
              <c:f>Sheet1!$M$1</c:f>
              <c:strCache>
                <c:ptCount val="1"/>
                <c:pt idx="0">
                  <c:v>D0 · Unresolved</c:v>
                </c:pt>
              </c:strCache>
            </c:strRef>
          </c:tx>
          <c:spPr>
            <a:solidFill>
              <a:srgbClr val="D9D9D9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Sheet1!$A$2:$A$13</c:f>
              <c:strCache>
                <c:ptCount val="12"/>
                <c:pt idx="0">
                  <c:v>DDG-51 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Virginia FY22</c:v>
                </c:pt>
                <c:pt idx="5">
                  <c:v>FY23</c:v>
                </c:pt>
                <c:pt idx="6">
                  <c:v>FY24</c:v>
                </c:pt>
                <c:pt idx="7">
                  <c:v>FY25</c:v>
                </c:pt>
                <c:pt idx="8">
                  <c:v>Columbia FY22</c:v>
                </c:pt>
                <c:pt idx="9">
                  <c:v>FY23</c:v>
                </c:pt>
                <c:pt idx="10">
                  <c:v>FY24</c:v>
                </c:pt>
                <c:pt idx="11">
                  <c:v>FY25</c:v>
                </c:pt>
              </c:strCache>
            </c:strRef>
          </c:cat>
          <c:val>
            <c:numRef>
              <c:f>Sheet1!$M$2:$M$13</c:f>
              <c:numCache>
                <c:formatCode>General</c:formatCode>
                <c:ptCount val="12"/>
                <c:pt idx="0">
                  <c:v>3.8</c:v>
                </c:pt>
                <c:pt idx="1">
                  <c:v>13.5</c:v>
                </c:pt>
                <c:pt idx="2">
                  <c:v>7.2</c:v>
                </c:pt>
                <c:pt idx="3">
                  <c:v>12.0</c:v>
                </c:pt>
                <c:pt idx="4">
                  <c:v>27.4</c:v>
                </c:pt>
                <c:pt idx="5">
                  <c:v>56.4</c:v>
                </c:pt>
                <c:pt idx="6">
                  <c:v>43.2</c:v>
                </c:pt>
                <c:pt idx="7">
                  <c:v>13.7</c:v>
                </c:pt>
                <c:pt idx="8">
                  <c:v>35.4</c:v>
                </c:pt>
                <c:pt idx="9">
                  <c:v>56.2</c:v>
                </c:pt>
                <c:pt idx="10">
                  <c:v>56.4</c:v>
                </c:pt>
                <c:pt idx="11">
                  <c:v>11.7</c:v>
                </c:pt>
              </c:numCache>
            </c:numRef>
          </c:val>
        </c:ser>
        <c:gapWidth val="4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one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legend>
      <c:legendPos val="r"/>
      <c:overlay val="0"/>
      <c:txPr>
        <a:bodyPr rot="0" spcFirstLastPara="1" vertOverflow="ellipsis" wrap="square" anchor="ctr" anchorCtr="1"/>
        <a:lstStyle/>
        <a:p>
          <a:pPr>
            <a:defRPr sz="900" b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r">
              <a:defRPr sz="1200"/>
            </a:lvl1pPr>
          </a:lstStyle>
          <a:p>
            <a:fld id="{8ACBDEED-51C7-9D44-8B0E-E5493C8A1496}" type="datetimeFigureOut">
              <a:rPr lang="en-US">
                <a:latin typeface="Arial" panose="020B0604020202020204" pitchFamily="34" charset="0"/>
              </a:rPr>
              <a:t>5/15/2026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r">
              <a:defRPr sz="1200"/>
            </a:lvl1pPr>
          </a:lstStyle>
          <a:p>
            <a:fld id="{89B20CC8-1D49-1F4A-B7DF-0C6E98397D09}" type="slidenum">
              <a:rPr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29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3080" y="5640670"/>
            <a:ext cx="7776391" cy="473423"/>
          </a:xfrm>
        </p:spPr>
        <p:txBody>
          <a:bodyPr anchor="t"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Date (16 PT)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3429000"/>
            <a:ext cx="0" cy="1365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0" y="3260838"/>
            <a:ext cx="7776399" cy="21621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(36 PT)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53080" y="743907"/>
            <a:ext cx="11230920" cy="1637662"/>
            <a:chOff x="588922" y="596464"/>
            <a:chExt cx="10697007" cy="1559809"/>
          </a:xfrm>
        </p:grpSpPr>
        <p:pic>
          <p:nvPicPr>
            <p:cNvPr id="5" name="Graphic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22" y="596464"/>
              <a:ext cx="7799041" cy="1559809"/>
            </a:xfrm>
            <a:prstGeom prst="rect">
              <a:avLst/>
            </a:prstGeom>
          </p:spPr>
        </p:pic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80882" y="913377"/>
              <a:ext cx="2305047" cy="914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12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1" hasCustomPrompt="1"/>
          </p:nvPr>
        </p:nvSpPr>
        <p:spPr>
          <a:xfrm>
            <a:off x="453082" y="2383743"/>
            <a:ext cx="9153537" cy="21052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Divider Title (36 PT)</a:t>
            </a:r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2" y="4715093"/>
            <a:ext cx="9153537" cy="499503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Subsections / Headline Paragraph (16 PT)</a:t>
            </a:r>
          </a:p>
        </p:txBody>
      </p: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4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% Bloc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6096000" cy="64007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838" y="566400"/>
            <a:ext cx="5181827" cy="56692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5460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6552217" y="1424682"/>
            <a:ext cx="5182583" cy="4712658"/>
          </a:xfrm>
        </p:spPr>
        <p:txBody>
          <a:bodyPr/>
          <a:lstStyle/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55460" y="1424682"/>
            <a:ext cx="5181827" cy="4712657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69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2701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079" y="566400"/>
            <a:ext cx="11282099" cy="5669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</p:spTree>
    <p:extLst>
      <p:ext uri="{BB962C8B-B14F-4D97-AF65-F5344CB8AC3E}">
        <p14:creationId xmlns:p14="http://schemas.microsoft.com/office/powerpoint/2010/main" val="366529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ss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435E64-C67E-B7D2-F1D2-3FF5E4CADA9A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90092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5" progId="TCLayout.ActiveDocument.1">
                  <p:embed/>
                </p:oleObj>
              </mc:Choice>
              <mc:Fallback>
                <p:oleObj name="think-cell Slide" r:id="rId9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702" y="566399"/>
            <a:ext cx="11282100" cy="5669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(20 PT)</a:t>
            </a:r>
            <a:br>
              <a:rPr lang="en-US"/>
            </a:b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/>
          <p:cNvSpPr>
            <a:spLocks noGrp="1"/>
          </p:cNvSpPr>
          <p:nvPr>
            <p:ph type="body" idx="1"/>
          </p:nvPr>
        </p:nvSpPr>
        <p:spPr>
          <a:xfrm>
            <a:off x="452701" y="1424682"/>
            <a:ext cx="11282099" cy="4712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tx2"/>
                </a:solidFill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cxnSp>
        <p:nvCxnSpPr>
          <p:cNvPr id="20" name="Straight Connector 19"/>
          <p:cNvCxnSpPr>
            <a:cxnSpLocks/>
          </p:cNvCxnSpPr>
          <p:nvPr userDrawn="1"/>
        </p:nvCxnSpPr>
        <p:spPr>
          <a:xfrm>
            <a:off x="457193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11724461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4" r:id="rId2"/>
    <p:sldLayoutId id="2147483658" r:id="rId3"/>
    <p:sldLayoutId id="2147483661" r:id="rId4"/>
    <p:sldLayoutId id="2147483691" r:id="rId5"/>
    <p:sldLayoutId id="214748369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50" indent="-120650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•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233363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-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350838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463550" indent="-111125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573088" indent="-109538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0" name="StepRationaleLedger"/>
          <p:cNvGraphicFramePr>
            <a:graphicFrameLocks noGrp="1"/>
          </p:cNvGraphicFramePr>
          <p:nvPr/>
        </p:nvGraphicFramePr>
        <p:xfrm>
          <a:off x="7435441" y="1266825"/>
          <a:ext cx="4300000" cy="4875684"/>
        </p:xfrm>
        <a:graphic>
          <a:graphicData uri="http://schemas.openxmlformats.org/drawingml/2006/table">
            <a:tbl>
              <a:tblPr firstRow="1" firstCol="1">
                <a:tableStyleId>{2D5ABB26-0587-4C30-8999-92F81FD0307C}</a:tableStyleId>
              </a:tblPr>
              <a:tblGrid>
                <a:gridCol w="1281269"/>
                <a:gridCol w="3018731"/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Rationale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 Ship Spend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838F"/>
                    </a:solidFill>
                  </a:tcPr>
                </a:tc>
                <a:tc>
                  <a:txBody>
                    <a:bodyPr/>
                    <a:lstStyle/>
                    <a:p>
                      <a:pPr marL="142875" indent="-142875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1" u="sng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In-Year Spend: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FY2022–FY2027 SCN end cost (P-5c discretionary); OBBBA adds two FY2026 DDG-51s ($5.4B) and a second FY2026 </a:t>
                      </a:r>
                      <a:r>
                        <a:rPr lang="en-US" sz="900" i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Virginia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$4.6B)</a:t>
                      </a:r>
                    </a:p>
                    <a:p>
                      <a:pPr marL="142875" indent="-142875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1" u="sng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Advanced Procurement / Long-Lead Time Materials:</a:t>
                      </a:r>
                      <a:r>
                        <a:rPr lang="en-US" sz="900" b="1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DDG-51 adds incremental FY2026 AP/LLTM ($1.8B); submarines add none (supplier long-lead is already inside Basic Construction)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Less: Government-Furnished Equipment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2CC"/>
                    </a:solidFill>
                  </a:tcPr>
                </a:tc>
                <a:tc>
                  <a:txBody>
                    <a:bodyPr/>
                    <a:lstStyle/>
                    <a:p>
                      <a:pPr marL="142875" indent="-142875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Removes GFE (propulsion, electronics, and ordnance) the Navy buys directly and furnished to Primes </a:t>
                      </a:r>
                    </a:p>
                    <a:p>
                      <a:pPr marL="142875" indent="-142875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GFE is non-addressable to outsourced Basic Construction players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Less: Other non-BC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A2B0"/>
                    </a:solidFill>
                  </a:tcPr>
                </a:tc>
                <a:tc>
                  <a:txBody>
                    <a:bodyPr/>
                    <a:lstStyle/>
                    <a:p>
                      <a:pPr marL="142875" indent="-142875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Removes engineering and program costs (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Arial"/>
                        </a:rPr>
                        <a:t>e.g., plans, change orders, and other non-construction activities) 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as these generally conducted by Primes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491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Basic Construction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838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0" i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Calculation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018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Less: Prime BC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6D82"/>
                    </a:solidFill>
                  </a:tcPr>
                </a:tc>
                <a:tc>
                  <a:txBody>
                    <a:bodyPr/>
                    <a:lstStyle/>
                    <a:p>
                      <a:pPr marL="142875" indent="-142875" algn="l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Arial"/>
                        </a:rPr>
                        <a:t>Removes construction the Primes perform in their own yards.</a:t>
                      </a:r>
                    </a:p>
                    <a:p>
                      <a:pPr marL="142875" indent="-142875" algn="l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Arial"/>
                        </a:rPr>
                        <a:t>BC spend x the announced outside-yard share from DoD award place-of-performance data: ~25% DDG-51 (FY22 ships 22%), 34% </a:t>
                      </a:r>
                      <a:r>
                        <a:rPr lang="en-US" sz="900" i="1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Arial"/>
                        </a:rPr>
                        <a:t>Virginia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Arial"/>
                        </a:rPr>
                        <a:t> / 22% </a:t>
                      </a:r>
                      <a:r>
                        <a:rPr lang="en-US" sz="900" i="1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Arial"/>
                        </a:rPr>
                        <a:t>Columbia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Arial"/>
                        </a:rPr>
                        <a:t>.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5025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Less: Prime AP/LLTM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D68"/>
                    </a:solidFill>
                  </a:tcPr>
                </a:tc>
                <a:tc>
                  <a:txBody>
                    <a:bodyPr/>
                    <a:lstStyle/>
                    <a:p>
                      <a:pPr marL="142875" indent="-142875" algn="l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1" u="sng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Arial"/>
                        </a:rPr>
                        <a:t>DDG-51: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Arial"/>
                        </a:rPr>
                        <a:t> The P-10 EOQ base is vendor-purchased material, so Primes retain none — $0 removed; the full $1.0B flows to Outsourced BC.</a:t>
                      </a:r>
                    </a:p>
                    <a:p>
                      <a:pPr marL="142875" indent="-142875" algn="l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1" u="sng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Arial"/>
                        </a:rPr>
                        <a:t>Submarines: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Arial"/>
                        </a:rPr>
                        <a:t> No AP/LLTM stream exists, so there is nothing to remove.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Outsourced BC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620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0" i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Calculation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14" name="StepRationaleLedger"/>
          <p:cNvGraphicFramePr>
            <a:graphicFrameLocks noGrp="1"/>
          </p:cNvGraphicFramePr>
          <p:nvPr/>
        </p:nvGraphicFramePr>
        <p:xfrm>
          <a:off x="453079" y="1266825"/>
          <a:ext cx="6712362" cy="235712"/>
        </p:xfrm>
        <a:graphic>
          <a:graphicData uri="http://schemas.openxmlformats.org/drawingml/2006/table">
            <a:tbl>
              <a:tblPr firstRow="1" firstCol="1">
                <a:tableStyleId>{2D5ABB26-0587-4C30-8999-92F81FD0307C}</a:tableStyleId>
              </a:tblPr>
              <a:tblGrid>
                <a:gridCol w="6712362"/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Arial"/>
                          <a:cs typeface="Arial"/>
                        </a:rPr>
                        <a:t>Walk to Outsourced Basic Construction Spend ($B, cumulative FY22-FY27, FY26 $)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71" name="Chart 70"/>
          <p:cNvGraphicFramePr/>
          <p:nvPr/>
        </p:nvGraphicFramePr>
        <p:xfrm>
          <a:off x="4214813" y="1809750"/>
          <a:ext cx="2746375" cy="4330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78" name="Chart 77"/>
          <p:cNvGraphicFramePr/>
          <p:nvPr/>
        </p:nvGraphicFramePr>
        <p:xfrm>
          <a:off x="1422400" y="1811338"/>
          <a:ext cx="2746375" cy="4330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317" name="Straight Connector 16"/>
          <p:cNvCxnSpPr/>
          <p:nvPr/>
        </p:nvCxnSpPr>
        <p:spPr bwMode="auto">
          <a:xfrm>
            <a:off x="6878638" y="2465388"/>
            <a:ext cx="0" cy="2460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5" name="Straight Connector 24"/>
          <p:cNvCxnSpPr/>
          <p:nvPr/>
        </p:nvCxnSpPr>
        <p:spPr bwMode="auto">
          <a:xfrm>
            <a:off x="6330950" y="3019425"/>
            <a:ext cx="0" cy="2460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6" name="Straight Connector 25"/>
          <p:cNvCxnSpPr/>
          <p:nvPr/>
        </p:nvCxnSpPr>
        <p:spPr bwMode="auto">
          <a:xfrm>
            <a:off x="6030913" y="3573463"/>
            <a:ext cx="0" cy="2460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1" name="Straight Connector 40"/>
          <p:cNvCxnSpPr/>
          <p:nvPr/>
        </p:nvCxnSpPr>
        <p:spPr bwMode="auto">
          <a:xfrm>
            <a:off x="6030913" y="4129088"/>
            <a:ext cx="0" cy="2460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3" name="Straight Connector 42"/>
          <p:cNvCxnSpPr/>
          <p:nvPr/>
        </p:nvCxnSpPr>
        <p:spPr bwMode="auto">
          <a:xfrm>
            <a:off x="4816475" y="4683125"/>
            <a:ext cx="0" cy="2460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4" name="Straight Connector 43"/>
          <p:cNvCxnSpPr/>
          <p:nvPr/>
        </p:nvCxnSpPr>
        <p:spPr bwMode="auto">
          <a:xfrm>
            <a:off x="4816475" y="5237163"/>
            <a:ext cx="0" cy="2460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5" name="Rectangle 44"/>
          <p:cNvSpPr/>
          <p:nvPr/>
        </p:nvSpPr>
        <p:spPr bwMode="auto">
          <a:xfrm>
            <a:off x="4813300" y="4929188"/>
            <a:ext cx="6350" cy="307975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8" name="Straight Connector 27"/>
          <p:cNvCxnSpPr/>
          <p:nvPr/>
        </p:nvCxnSpPr>
        <p:spPr bwMode="auto">
          <a:xfrm>
            <a:off x="4086225" y="2466975"/>
            <a:ext cx="0" cy="2460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9" name="Straight Connector 28"/>
          <p:cNvCxnSpPr/>
          <p:nvPr/>
        </p:nvCxnSpPr>
        <p:spPr bwMode="auto">
          <a:xfrm>
            <a:off x="3209925" y="3021013"/>
            <a:ext cx="0" cy="2460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7" name="Straight Connector 36"/>
          <p:cNvCxnSpPr/>
          <p:nvPr/>
        </p:nvCxnSpPr>
        <p:spPr bwMode="auto">
          <a:xfrm>
            <a:off x="3054350" y="3575050"/>
            <a:ext cx="0" cy="2460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8" name="Straight Connector 37"/>
          <p:cNvCxnSpPr/>
          <p:nvPr/>
        </p:nvCxnSpPr>
        <p:spPr bwMode="auto">
          <a:xfrm>
            <a:off x="3054350" y="4130675"/>
            <a:ext cx="0" cy="2460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9" name="Straight Connector 38"/>
          <p:cNvCxnSpPr/>
          <p:nvPr/>
        </p:nvCxnSpPr>
        <p:spPr bwMode="auto">
          <a:xfrm>
            <a:off x="1944688" y="4684713"/>
            <a:ext cx="0" cy="2460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0" name="Straight Connector 39"/>
          <p:cNvCxnSpPr/>
          <p:nvPr/>
        </p:nvCxnSpPr>
        <p:spPr bwMode="auto">
          <a:xfrm>
            <a:off x="1944688" y="5238750"/>
            <a:ext cx="0" cy="2460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9" name="Rectangle 48"/>
          <p:cNvSpPr/>
          <p:nvPr/>
        </p:nvSpPr>
        <p:spPr bwMode="auto">
          <a:xfrm>
            <a:off x="1941513" y="4930775"/>
            <a:ext cx="6350" cy="307975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6" name="Text Placeholder 25"/>
          <p:cNvSpPr>
            <a:spLocks/>
          </p:cNvSpPr>
          <p:nvPr/>
        </p:nvSpPr>
        <p:spPr bwMode="gray">
          <a:xfrm>
            <a:off x="3997325" y="2236788"/>
            <a:ext cx="104775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effectLst/>
              </a:rPr>
              <a:t>1</a:t>
            </a:r>
            <a:endParaRPr lang="en-US" sz="1000"/>
          </a:p>
        </p:txBody>
      </p:sp>
      <p:sp>
        <p:nvSpPr>
          <p:cNvPr id="30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>
                <a:solidFill>
                  <a:srgbClr val="44505C"/>
                </a:solidFill>
                <a:latin typeface="Arial"/>
                <a:ea typeface="Arial"/>
                <a:cs typeface="Arial"/>
              </a:rPr>
              <a:t>Executive Summary</a:t>
            </a:r>
            <a:r>
              <a:rPr lang="en-US" sz="1000" kern="120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TAM and SAM</a:t>
            </a:r>
          </a:p>
        </p:txBody>
      </p:sp>
      <p:sp>
        <p:nvSpPr>
          <p:cNvPr id="30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lIns="45720" tIns="9144" rIns="45720" bIns="9144" anchor="ctr"/>
          <a:lstStyle/>
          <a:p>
            <a:pPr algn="ctr"/>
            <a:r>
              <a:rPr lang="en-US" sz="1200" b="1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0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vert="horz" rIns="0"/>
          <a:lstStyle/>
          <a:p>
            <a:r>
              <a:rPr lang="en-US" sz="2000" kern="1200">
                <a:solidFill>
                  <a:srgbClr val="162029"/>
                </a:solidFill>
                <a:latin typeface="Arial"/>
                <a:ea typeface="Arial"/>
                <a:cs typeface="Arial"/>
              </a:rPr>
              <a:t>Outsourced Basic Construction | </a:t>
            </a:r>
            <a:r>
              <a:rPr lang="en-US">
                <a:solidFill>
                  <a:srgbClr val="162029"/>
                </a:solidFill>
                <a:ea typeface="Arial"/>
                <a:cs typeface="Arial"/>
              </a:rPr>
              <a:t>Across FY22-FY27, total ship spend narrows to an annualized ~$1.1B of outsourced work for DDG-51 and ~$3.0B for submarines.</a:t>
            </a:r>
            <a:endParaRPr lang="en-US" sz="2000" kern="1200">
              <a:solidFill>
                <a:srgbClr val="16202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0" name="ProgramChip"/>
          <p:cNvSpPr txBox="1"/>
          <p:nvPr/>
        </p:nvSpPr>
        <p:spPr>
          <a:xfrm>
            <a:off x="2046799" y="1587500"/>
            <a:ext cx="1900000" cy="19834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DDG-51</a:t>
            </a:r>
          </a:p>
        </p:txBody>
      </p:sp>
      <p:sp>
        <p:nvSpPr>
          <p:cNvPr id="321" name="ProgramChip"/>
          <p:cNvSpPr txBox="1"/>
          <p:nvPr/>
        </p:nvSpPr>
        <p:spPr>
          <a:xfrm>
            <a:off x="4952350" y="1587500"/>
            <a:ext cx="1900000" cy="19834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 / Columbia-class</a:t>
            </a:r>
          </a:p>
        </p:txBody>
      </p:sp>
      <p:sp>
        <p:nvSpPr>
          <p:cNvPr id="322" name="StreamCaption"/>
          <p:cNvSpPr txBox="1"/>
          <p:nvPr/>
        </p:nvSpPr>
        <p:spPr>
          <a:xfrm>
            <a:off x="2571826" y="1836738"/>
            <a:ext cx="80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In-Year</a:t>
            </a:r>
          </a:p>
        </p:txBody>
      </p:sp>
      <p:sp>
        <p:nvSpPr>
          <p:cNvPr id="324" name="StreamCaption"/>
          <p:cNvSpPr txBox="1"/>
          <p:nvPr/>
        </p:nvSpPr>
        <p:spPr>
          <a:xfrm>
            <a:off x="5439385" y="1836738"/>
            <a:ext cx="80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In-Year</a:t>
            </a:r>
          </a:p>
        </p:txBody>
      </p:sp>
      <p:sp>
        <p:nvSpPr>
          <p:cNvPr id="305" name="Sources"/>
          <p:cNvSpPr txBox="1"/>
          <p:nvPr/>
        </p:nvSpPr>
        <p:spPr>
          <a:xfrm>
            <a:off x="453079" y="6122985"/>
            <a:ext cx="11282362" cy="31666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US" sz="800">
                <a:solidFill>
                  <a:srgbClr val="162029"/>
                </a:solidFill>
                <a:ea typeface="Arial"/>
                <a:cs typeface="Arial"/>
              </a:rPr>
              <a:t>Sources: Navy SCN P-5c / P-40 budget justification, FY22–FY27, and PB27 FYDP outyears (FY28–FY31); FY26, PL 119-21 Sec. 20002; PB27 SCN, Columbia P-10 Strategic Outsourcing narrative; OUSD(C) Green Book Procurement deflators; Navy Shipbuilding Plan; PB27 SCN Exhibit P-10, LI 2122 (AP/LLTM Ship Construction EOQ); DoD contract award announcements (announced place-of-performance)</a:t>
            </a:r>
          </a:p>
        </p:txBody>
      </p:sp>
      <p:sp>
        <p:nvSpPr>
          <p:cNvPr id="306" name="StreamCaption"/>
          <p:cNvSpPr txBox="1"/>
          <p:nvPr/>
        </p:nvSpPr>
        <p:spPr>
          <a:xfrm>
            <a:off x="3520283" y="1836738"/>
            <a:ext cx="80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</a:t>
            </a:r>
          </a:p>
        </p:txBody>
      </p:sp>
      <p:sp>
        <p:nvSpPr>
          <p:cNvPr id="307" name="AnnualizedCallout"/>
          <p:cNvSpPr txBox="1"/>
          <p:nvPr/>
        </p:nvSpPr>
        <p:spPr>
          <a:xfrm>
            <a:off x="2992410" y="5224463"/>
            <a:ext cx="115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spcAft>
                <a:spcPts val="20"/>
              </a:spcAft>
              <a:buNone/>
            </a:pPr>
            <a:r>
              <a:rPr lang="en-US"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~$1.1B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annualized</a:t>
            </a:r>
          </a:p>
        </p:txBody>
      </p:sp>
      <p:sp>
        <p:nvSpPr>
          <p:cNvPr id="308" name="AnnualizedCallout"/>
          <p:cNvSpPr txBox="1"/>
          <p:nvPr/>
        </p:nvSpPr>
        <p:spPr>
          <a:xfrm>
            <a:off x="6093101" y="5224463"/>
            <a:ext cx="115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spcAft>
                <a:spcPts val="20"/>
              </a:spcAft>
              <a:buNone/>
            </a:pPr>
            <a:r>
              <a:rPr lang="en-US"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~$3.0B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annualized</a:t>
            </a:r>
          </a:p>
        </p:txBody>
      </p:sp>
      <p:cxnSp>
        <p:nvCxnSpPr>
          <p:cNvPr id="309" name="Straight Connector 18"/>
          <p:cNvCxnSpPr>
            <a:cxnSpLocks/>
          </p:cNvCxnSpPr>
          <p:nvPr/>
        </p:nvCxnSpPr>
        <p:spPr>
          <a:xfrm flipV="1">
            <a:off x="4191795" y="2040000"/>
            <a:ext cx="0" cy="3845180"/>
          </a:xfrm>
          <a:prstGeom prst="line">
            <a:avLst/>
          </a:prstGeom>
          <a:ln w="6350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StepLabel"/>
          <p:cNvSpPr txBox="1"/>
          <p:nvPr/>
        </p:nvSpPr>
        <p:spPr>
          <a:xfrm>
            <a:off x="453079" y="2197100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Ship Spend</a:t>
            </a:r>
          </a:p>
        </p:txBody>
      </p:sp>
      <p:sp>
        <p:nvSpPr>
          <p:cNvPr id="312" name="StepLabel"/>
          <p:cNvSpPr txBox="1"/>
          <p:nvPr/>
        </p:nvSpPr>
        <p:spPr>
          <a:xfrm>
            <a:off x="453079" y="2752725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Less: GFE</a:t>
            </a:r>
          </a:p>
        </p:txBody>
      </p:sp>
      <p:sp>
        <p:nvSpPr>
          <p:cNvPr id="313" name="StepLabel"/>
          <p:cNvSpPr txBox="1"/>
          <p:nvPr/>
        </p:nvSpPr>
        <p:spPr>
          <a:xfrm>
            <a:off x="453079" y="3308350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Less: Other non-BC</a:t>
            </a:r>
          </a:p>
        </p:txBody>
      </p:sp>
      <p:sp>
        <p:nvSpPr>
          <p:cNvPr id="315" name="StepLabel"/>
          <p:cNvSpPr txBox="1"/>
          <p:nvPr/>
        </p:nvSpPr>
        <p:spPr>
          <a:xfrm>
            <a:off x="453079" y="3863975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</a:t>
            </a:r>
          </a:p>
        </p:txBody>
      </p:sp>
      <p:sp>
        <p:nvSpPr>
          <p:cNvPr id="318" name="StepLabel"/>
          <p:cNvSpPr txBox="1"/>
          <p:nvPr/>
        </p:nvSpPr>
        <p:spPr>
          <a:xfrm>
            <a:off x="453079" y="4421188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Less: Prime BC</a:t>
            </a:r>
          </a:p>
        </p:txBody>
      </p:sp>
      <p:sp>
        <p:nvSpPr>
          <p:cNvPr id="327" name="StepLabel"/>
          <p:cNvSpPr txBox="1"/>
          <p:nvPr/>
        </p:nvSpPr>
        <p:spPr>
          <a:xfrm>
            <a:off x="453079" y="4976813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Less: Prime</a:t>
            </a:r>
            <a:b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</a:rPr>
            </a:b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</a:t>
            </a:r>
          </a:p>
        </p:txBody>
      </p:sp>
      <p:sp>
        <p:nvSpPr>
          <p:cNvPr id="342" name="StepLabel"/>
          <p:cNvSpPr txBox="1"/>
          <p:nvPr/>
        </p:nvSpPr>
        <p:spPr>
          <a:xfrm>
            <a:off x="453079" y="5532438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Outsourced BC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Executive Summary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TAM and SAM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Outsourced spend by capability domain, by program | Cumulative outsourced Basic Construction TAM (FY22–27, FY26$), apportioned by vendor Capability Domain.</a:t>
            </a:r>
          </a:p>
        </p:txBody>
      </p:sp>
      <p:graphicFrame>
        <p:nvGraphicFramePr>
          <p:cNvPr id="352" name="DomainByProgram"/>
          <p:cNvGraphicFramePr/>
          <p:nvPr/>
        </p:nvGraphicFramePr>
        <p:xfrm>
          <a:off x="457200" y="1463040"/>
          <a:ext cx="11274552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00" name="Sources"/>
          <p:cNvSpPr txBox="1"/>
          <p:nvPr/>
        </p:nvSpPr>
        <p:spPr>
          <a:xfrm>
            <a:off x="457200" y="5989320"/>
            <a:ext cx="11274552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Capability-Domain shares from FFATA/FSRS first-tier subawards on hull-builder new-construction PIIDs (GDEB; BIW + Ingalls), classified per vendor; applied to each program's cumulative outsourced-BC TAM (FY22–27, FY26$). Bars total the program TAM ($6.4B DDG-51 / $4.5B Columbia / $13.6B Virginia).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2" name="BandCommentary"/>
          <p:cNvGraphicFramePr>
            <a:graphicFrameLocks noGrp="1"/>
          </p:cNvGraphicFramePr>
          <p:nvPr/>
        </p:nvGraphicFramePr>
        <p:xfrm>
          <a:off x="453078" y="4996171"/>
          <a:ext cx="11282361" cy="1420876"/>
        </p:xfrm>
        <a:graphic>
          <a:graphicData uri="http://schemas.openxmlformats.org/drawingml/2006/table">
            <a:tbl>
              <a:tblPr firstRow="1" firstCol="1">
                <a:tableStyleId>{2D5ABB26-0587-4C30-8999-92F81FD0307C}</a:tableStyleId>
              </a:tblPr>
              <a:tblGrid>
                <a:gridCol w="768899"/>
                <a:gridCol w="3945924"/>
                <a:gridCol w="6567538"/>
              </a:tblGrid>
              <a:tr h="61344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Submarines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u="sng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 Funding: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800" i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Virginia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funds annually (2/yr; 1x in FY25); </a:t>
                      </a:r>
                      <a:r>
                        <a:rPr lang="en-US" sz="800" i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Columbia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funds biennially (FY24 in window)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u="sng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Outsourcing: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800" i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Virginia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outsourced ~19-27% per year (FY22-25 avg. ~24%); </a:t>
                      </a:r>
                      <a:r>
                        <a:rPr lang="en-US" sz="800" i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Columbia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~13% (FY24)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u="sng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 Funding: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OBBBA adds $4.6B for a second </a:t>
                      </a:r>
                      <a:r>
                        <a:rPr lang="en-US" sz="800" i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Virginia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in FY26 (Sec. 20002(16)); FYDP calls for 1x </a:t>
                      </a:r>
                      <a:r>
                        <a:rPr lang="en-US" sz="800" i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Columbia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p.a. from FY26 and 2x </a:t>
                      </a:r>
                      <a:r>
                        <a:rPr lang="en-US" sz="800" i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Virginia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p.a. from FY27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u="sng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Outsourcing: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Lower bound reflects FY22–25 avg. rate; Upper bound assumes penetration grows ~1.8 ppts p.a. for </a:t>
                      </a:r>
                      <a:r>
                        <a:rPr lang="en-US" sz="800" i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Virginia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and ~1.0 ppts p.a. for </a:t>
                      </a:r>
                      <a:r>
                        <a:rPr lang="en-US" sz="800" i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Columbia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(~7% CAGR), towards ~31% (</a:t>
                      </a:r>
                      <a:r>
                        <a:rPr lang="en-US" sz="800" i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Virginia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) / ~17% (</a:t>
                      </a:r>
                      <a:r>
                        <a:rPr lang="en-US" sz="800" i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Columbia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) targets, driven by “strategically outsourcing workload to qualified suppliers” (PB27 SCN, Columbia P-10)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16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DDG-51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u="sng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 Funding: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Procuring at 2-3x per year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u="sng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Outsourcing: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Outsourced 11-15% per year (FY22–25 avg. ~14%)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u="sng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Arial"/>
                        </a:rPr>
                        <a:t>Total Funding: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Arial"/>
                        </a:rPr>
                        <a:t> OBBBA adds $5.4B for two additional DDG-51s in FY26 (Sec. 20002(17)); FYDP calls for ~1.5-ship buys p.a. FY27-FY31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u="sng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Arial"/>
                        </a:rPr>
                        <a:t>Outsourcing: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Arial"/>
                        </a:rPr>
                        <a:t> FY26 spike driven by OBBBA-related EOQ AP/LLTM (vendor-purchased LLTM bought ahead of the FY27-31 ramp flows almost entirely to suppliers); FY27–31 lower bound reflects FY22–25 avg. rate (i.e., reversion to mean); FY27-31 upper bound assumes ~1.1 ppts p.a. (~7% CAGR) towards a ~19% target using FY22-25 avg. as baseline, driven by stated intent to grow outsourced manhours ~30%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37" name="Chart 36"/>
          <p:cNvGraphicFramePr/>
          <p:nvPr/>
        </p:nvGraphicFramePr>
        <p:xfrm>
          <a:off x="646113" y="1574800"/>
          <a:ext cx="11126787" cy="2470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b="1">
                <a:solidFill>
                  <a:srgbClr val="44505C"/>
                </a:solidFill>
                <a:latin typeface="Arial"/>
                <a:ea typeface="Arial"/>
                <a:cs typeface="Arial"/>
              </a:rPr>
              <a:t>Executive Summary</a:t>
            </a:r>
            <a:r>
              <a:rPr lang="en-US" sz="1000" kern="120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Outsourced BC Annual TAM</a:t>
            </a:r>
          </a:p>
        </p:txBody>
      </p:sp>
      <p:sp>
        <p:nvSpPr>
          <p:cNvPr id="30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lIns="45720" tIns="9144" rIns="45720" bIns="9144" anchor="ctr"/>
          <a:lstStyle/>
          <a:p>
            <a:pPr algn="ctr"/>
            <a:r>
              <a:rPr lang="en-US" sz="1200" b="1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0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vert="horz" rIns="0"/>
          <a:lstStyle/>
          <a:p>
            <a:r>
              <a:rPr lang="en-US">
                <a:solidFill>
                  <a:srgbClr val="162029"/>
                </a:solidFill>
                <a:ea typeface="Arial"/>
                <a:cs typeface="Arial"/>
              </a:rPr>
              <a:t>Outsourced Basic Construction (Annual TAM) | After averaging ~$3.5B through FY2025, demand peaks at ~$5.5B in FY2024 and FY2026 and is expected to hold ~$4.3-5.7B a year through FY2031.</a:t>
            </a:r>
            <a:endParaRPr lang="en-US" sz="2000" kern="1200">
              <a:solidFill>
                <a:srgbClr val="16202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9" name="Text Placeholder 25"/>
          <p:cNvSpPr>
            <a:spLocks/>
          </p:cNvSpPr>
          <p:nvPr/>
        </p:nvSpPr>
        <p:spPr bwMode="auto">
          <a:xfrm>
            <a:off x="749300" y="1317625"/>
            <a:ext cx="297815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b">
            <a:no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 b="1">
                <a:solidFill>
                  <a:srgbClr val="000000"/>
                </a:solidFill>
              </a:rPr>
              <a:t>Outsourced Basic Construction TAM ($B, FY26 $)</a:t>
            </a:r>
            <a:endParaRPr lang="en-US" sz="1000" baseline="30000">
              <a:solidFill>
                <a:srgbClr val="000000"/>
              </a:solidFill>
            </a:endParaRPr>
          </a:p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endParaRPr lang="en-US" sz="1000"/>
          </a:p>
        </p:txBody>
      </p:sp>
      <p:sp>
        <p:nvSpPr>
          <p:cNvPr id="362" name="Sources"/>
          <p:cNvSpPr txBox="1"/>
          <p:nvPr/>
        </p:nvSpPr>
        <p:spPr>
          <a:xfrm>
            <a:off x="453079" y="6380252"/>
            <a:ext cx="4630550" cy="46768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US" sz="800" kern="120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Navy SCN P-5c / P-40 budget justification, FY22–FY27, and PB27 FYDP outyears (FY28–FY31); FY26, PL 119-21 Sec. 20002; OUSD(C) Green Book Procurement deflators; Navy Shipbuilding Plan; HII FY24 Q3 / FY25 Q4 / FY26 Q1 earnings calls</a:t>
            </a:r>
          </a:p>
        </p:txBody>
      </p:sp>
      <p:sp>
        <p:nvSpPr>
          <p:cNvPr id="1509" name="ProgramChip"/>
          <p:cNvSpPr txBox="1"/>
          <p:nvPr/>
        </p:nvSpPr>
        <p:spPr>
          <a:xfrm>
            <a:off x="5144475" y="1697716"/>
            <a:ext cx="6668163" cy="3254425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</a:ln>
        </p:spPr>
        <p:txBody>
          <a:bodyPr wrap="square" lIns="0" tIns="0" rIns="0" bIns="0" anchor="t" anchorCtr="1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Forecasted</a:t>
            </a:r>
          </a:p>
        </p:txBody>
      </p:sp>
      <p:cxnSp>
        <p:nvCxnSpPr>
          <p:cNvPr id="1234" name="Straight Connector 933"/>
          <p:cNvCxnSpPr/>
          <p:nvPr/>
        </p:nvCxnSpPr>
        <p:spPr bwMode="auto">
          <a:xfrm>
            <a:off x="11417300" y="2524125"/>
            <a:ext cx="2730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5" name="Straight Connector 934"/>
          <p:cNvCxnSpPr/>
          <p:nvPr/>
        </p:nvCxnSpPr>
        <p:spPr bwMode="auto">
          <a:xfrm>
            <a:off x="11417300" y="3598863"/>
            <a:ext cx="2730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9" name="Straight Connector 948"/>
          <p:cNvCxnSpPr/>
          <p:nvPr/>
        </p:nvCxnSpPr>
        <p:spPr bwMode="auto">
          <a:xfrm>
            <a:off x="11417300" y="3425825"/>
            <a:ext cx="0" cy="1730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6" name="Straight Connector 935"/>
          <p:cNvCxnSpPr/>
          <p:nvPr/>
        </p:nvCxnSpPr>
        <p:spPr bwMode="auto">
          <a:xfrm>
            <a:off x="11417300" y="2524125"/>
            <a:ext cx="0" cy="111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7" name="Straight Connector 936"/>
          <p:cNvCxnSpPr/>
          <p:nvPr/>
        </p:nvCxnSpPr>
        <p:spPr bwMode="auto">
          <a:xfrm>
            <a:off x="11690350" y="2524125"/>
            <a:ext cx="0" cy="10747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9" name="Straight Connector 1068"/>
          <p:cNvCxnSpPr/>
          <p:nvPr/>
        </p:nvCxnSpPr>
        <p:spPr bwMode="auto">
          <a:xfrm>
            <a:off x="11142663" y="2535238"/>
            <a:ext cx="274637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0" name="Straight Connector 1069"/>
          <p:cNvCxnSpPr/>
          <p:nvPr/>
        </p:nvCxnSpPr>
        <p:spPr bwMode="auto">
          <a:xfrm>
            <a:off x="11142663" y="3425825"/>
            <a:ext cx="274637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1" name="Straight Connector 1070"/>
          <p:cNvCxnSpPr/>
          <p:nvPr/>
        </p:nvCxnSpPr>
        <p:spPr bwMode="auto">
          <a:xfrm>
            <a:off x="11142663" y="2535238"/>
            <a:ext cx="0" cy="4397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2" name="Straight Connector 1071"/>
          <p:cNvCxnSpPr/>
          <p:nvPr/>
        </p:nvCxnSpPr>
        <p:spPr bwMode="auto">
          <a:xfrm>
            <a:off x="11417300" y="2535238"/>
            <a:ext cx="0" cy="890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68" name="Rectangle 1067"/>
          <p:cNvSpPr/>
          <p:nvPr/>
        </p:nvSpPr>
        <p:spPr bwMode="auto">
          <a:xfrm>
            <a:off x="10869613" y="2974975"/>
            <a:ext cx="273050" cy="687388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30" name="Straight Connector 929"/>
          <p:cNvCxnSpPr/>
          <p:nvPr/>
        </p:nvCxnSpPr>
        <p:spPr bwMode="auto">
          <a:xfrm>
            <a:off x="10321925" y="2525713"/>
            <a:ext cx="2730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1" name="Straight Connector 930"/>
          <p:cNvCxnSpPr/>
          <p:nvPr/>
        </p:nvCxnSpPr>
        <p:spPr bwMode="auto">
          <a:xfrm>
            <a:off x="10321925" y="3613150"/>
            <a:ext cx="2730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2" name="Straight Connector 931"/>
          <p:cNvCxnSpPr/>
          <p:nvPr/>
        </p:nvCxnSpPr>
        <p:spPr bwMode="auto">
          <a:xfrm>
            <a:off x="10321925" y="2525713"/>
            <a:ext cx="0" cy="3175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8" name="Straight Connector 947"/>
          <p:cNvCxnSpPr/>
          <p:nvPr/>
        </p:nvCxnSpPr>
        <p:spPr bwMode="auto">
          <a:xfrm>
            <a:off x="10321925" y="3457575"/>
            <a:ext cx="0" cy="1555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3" name="Straight Connector 932"/>
          <p:cNvCxnSpPr/>
          <p:nvPr/>
        </p:nvCxnSpPr>
        <p:spPr bwMode="auto">
          <a:xfrm>
            <a:off x="10594975" y="2525713"/>
            <a:ext cx="0" cy="10874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4" name="Straight Connector 1063"/>
          <p:cNvCxnSpPr/>
          <p:nvPr/>
        </p:nvCxnSpPr>
        <p:spPr bwMode="auto">
          <a:xfrm>
            <a:off x="10048875" y="2557463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6" name="Straight Connector 1065"/>
          <p:cNvCxnSpPr/>
          <p:nvPr/>
        </p:nvCxnSpPr>
        <p:spPr bwMode="auto">
          <a:xfrm>
            <a:off x="10048875" y="2557463"/>
            <a:ext cx="0" cy="4429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7" name="Straight Connector 1066"/>
          <p:cNvCxnSpPr/>
          <p:nvPr/>
        </p:nvCxnSpPr>
        <p:spPr bwMode="auto">
          <a:xfrm>
            <a:off x="10321925" y="2557463"/>
            <a:ext cx="0" cy="9001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5" name="Straight Connector 1064"/>
          <p:cNvCxnSpPr/>
          <p:nvPr/>
        </p:nvCxnSpPr>
        <p:spPr bwMode="auto">
          <a:xfrm>
            <a:off x="10048875" y="3457575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63" name="Rectangle 1062"/>
          <p:cNvSpPr/>
          <p:nvPr/>
        </p:nvSpPr>
        <p:spPr bwMode="auto">
          <a:xfrm>
            <a:off x="9774238" y="3000375"/>
            <a:ext cx="274637" cy="67627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27" name="Straight Connector 926"/>
          <p:cNvCxnSpPr/>
          <p:nvPr/>
        </p:nvCxnSpPr>
        <p:spPr bwMode="auto">
          <a:xfrm>
            <a:off x="9228138" y="2508250"/>
            <a:ext cx="2730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8" name="Straight Connector 927"/>
          <p:cNvCxnSpPr/>
          <p:nvPr/>
        </p:nvCxnSpPr>
        <p:spPr bwMode="auto">
          <a:xfrm>
            <a:off x="9228138" y="3624263"/>
            <a:ext cx="2730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7" name="Straight Connector 946"/>
          <p:cNvCxnSpPr/>
          <p:nvPr/>
        </p:nvCxnSpPr>
        <p:spPr bwMode="auto">
          <a:xfrm>
            <a:off x="9228138" y="3441700"/>
            <a:ext cx="0" cy="1825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9" name="Straight Connector 928"/>
          <p:cNvCxnSpPr/>
          <p:nvPr/>
        </p:nvCxnSpPr>
        <p:spPr bwMode="auto">
          <a:xfrm>
            <a:off x="9501188" y="2508250"/>
            <a:ext cx="0" cy="11160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9" name="Straight Connector 1058"/>
          <p:cNvCxnSpPr/>
          <p:nvPr/>
        </p:nvCxnSpPr>
        <p:spPr bwMode="auto">
          <a:xfrm>
            <a:off x="8953500" y="2414588"/>
            <a:ext cx="2746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0" name="Straight Connector 1059"/>
          <p:cNvCxnSpPr/>
          <p:nvPr/>
        </p:nvCxnSpPr>
        <p:spPr bwMode="auto">
          <a:xfrm>
            <a:off x="8953500" y="3441700"/>
            <a:ext cx="2746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1" name="Straight Connector 1060"/>
          <p:cNvCxnSpPr/>
          <p:nvPr/>
        </p:nvCxnSpPr>
        <p:spPr bwMode="auto">
          <a:xfrm>
            <a:off x="8953500" y="2414588"/>
            <a:ext cx="0" cy="8715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2" name="Straight Connector 1061"/>
          <p:cNvCxnSpPr/>
          <p:nvPr/>
        </p:nvCxnSpPr>
        <p:spPr bwMode="auto">
          <a:xfrm>
            <a:off x="9228138" y="2414588"/>
            <a:ext cx="0" cy="10271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8" name="Rectangle 1057"/>
          <p:cNvSpPr/>
          <p:nvPr/>
        </p:nvSpPr>
        <p:spPr bwMode="auto">
          <a:xfrm>
            <a:off x="8680450" y="3286125"/>
            <a:ext cx="273050" cy="446088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26" name="Straight Connector 925"/>
          <p:cNvCxnSpPr/>
          <p:nvPr/>
        </p:nvCxnSpPr>
        <p:spPr bwMode="auto">
          <a:xfrm>
            <a:off x="8405813" y="2509838"/>
            <a:ext cx="0" cy="112712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6" name="Straight Connector 945"/>
          <p:cNvCxnSpPr/>
          <p:nvPr/>
        </p:nvCxnSpPr>
        <p:spPr bwMode="auto">
          <a:xfrm>
            <a:off x="8132763" y="3452813"/>
            <a:ext cx="0" cy="18415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5" name="Straight Connector 924"/>
          <p:cNvCxnSpPr/>
          <p:nvPr/>
        </p:nvCxnSpPr>
        <p:spPr bwMode="auto">
          <a:xfrm>
            <a:off x="8132763" y="3636963"/>
            <a:ext cx="2730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4" name="Straight Connector 923"/>
          <p:cNvCxnSpPr/>
          <p:nvPr/>
        </p:nvCxnSpPr>
        <p:spPr bwMode="auto">
          <a:xfrm>
            <a:off x="8132763" y="2509838"/>
            <a:ext cx="2730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7" name="Straight Connector 1056"/>
          <p:cNvCxnSpPr/>
          <p:nvPr/>
        </p:nvCxnSpPr>
        <p:spPr bwMode="auto">
          <a:xfrm>
            <a:off x="8132763" y="2360613"/>
            <a:ext cx="0" cy="10922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6" name="Straight Connector 1055"/>
          <p:cNvCxnSpPr/>
          <p:nvPr/>
        </p:nvCxnSpPr>
        <p:spPr bwMode="auto">
          <a:xfrm>
            <a:off x="7859713" y="2360613"/>
            <a:ext cx="0" cy="9382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5" name="Straight Connector 1054"/>
          <p:cNvCxnSpPr/>
          <p:nvPr/>
        </p:nvCxnSpPr>
        <p:spPr bwMode="auto">
          <a:xfrm>
            <a:off x="7859713" y="3452813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4" name="Straight Connector 1053"/>
          <p:cNvCxnSpPr/>
          <p:nvPr/>
        </p:nvCxnSpPr>
        <p:spPr bwMode="auto">
          <a:xfrm>
            <a:off x="7859713" y="2360613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3" name="Rectangle 1052"/>
          <p:cNvSpPr/>
          <p:nvPr/>
        </p:nvSpPr>
        <p:spPr bwMode="auto">
          <a:xfrm>
            <a:off x="7585075" y="3298825"/>
            <a:ext cx="274638" cy="44132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22" name="Straight Connector 921"/>
          <p:cNvCxnSpPr/>
          <p:nvPr/>
        </p:nvCxnSpPr>
        <p:spPr bwMode="auto">
          <a:xfrm>
            <a:off x="7037388" y="3621088"/>
            <a:ext cx="274637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3" name="Straight Connector 942"/>
          <p:cNvCxnSpPr/>
          <p:nvPr/>
        </p:nvCxnSpPr>
        <p:spPr bwMode="auto">
          <a:xfrm>
            <a:off x="7037388" y="3421063"/>
            <a:ext cx="0" cy="20002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3" name="Straight Connector 922"/>
          <p:cNvCxnSpPr/>
          <p:nvPr/>
        </p:nvCxnSpPr>
        <p:spPr bwMode="auto">
          <a:xfrm>
            <a:off x="7312025" y="2436813"/>
            <a:ext cx="0" cy="11842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1" name="Straight Connector 920"/>
          <p:cNvCxnSpPr/>
          <p:nvPr/>
        </p:nvCxnSpPr>
        <p:spPr bwMode="auto">
          <a:xfrm>
            <a:off x="7037388" y="2436813"/>
            <a:ext cx="274637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2" name="Straight Connector 1051"/>
          <p:cNvCxnSpPr/>
          <p:nvPr/>
        </p:nvCxnSpPr>
        <p:spPr bwMode="auto">
          <a:xfrm>
            <a:off x="7037388" y="2311400"/>
            <a:ext cx="0" cy="110966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1" name="Straight Connector 1050"/>
          <p:cNvCxnSpPr/>
          <p:nvPr/>
        </p:nvCxnSpPr>
        <p:spPr bwMode="auto">
          <a:xfrm>
            <a:off x="6764338" y="2311400"/>
            <a:ext cx="0" cy="9461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0" name="Straight Connector 1049"/>
          <p:cNvCxnSpPr/>
          <p:nvPr/>
        </p:nvCxnSpPr>
        <p:spPr bwMode="auto">
          <a:xfrm>
            <a:off x="6764338" y="3421063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9" name="Straight Connector 1048"/>
          <p:cNvCxnSpPr/>
          <p:nvPr/>
        </p:nvCxnSpPr>
        <p:spPr bwMode="auto">
          <a:xfrm>
            <a:off x="6764338" y="2311400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8" name="Rectangle 1047"/>
          <p:cNvSpPr/>
          <p:nvPr/>
        </p:nvSpPr>
        <p:spPr bwMode="auto">
          <a:xfrm>
            <a:off x="6491288" y="3257550"/>
            <a:ext cx="273050" cy="471488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20" name="Straight Connector 919"/>
          <p:cNvCxnSpPr/>
          <p:nvPr/>
        </p:nvCxnSpPr>
        <p:spPr bwMode="auto">
          <a:xfrm>
            <a:off x="6216650" y="2373313"/>
            <a:ext cx="0" cy="123348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2" name="Straight Connector 941"/>
          <p:cNvCxnSpPr/>
          <p:nvPr/>
        </p:nvCxnSpPr>
        <p:spPr bwMode="auto">
          <a:xfrm>
            <a:off x="5943600" y="3552825"/>
            <a:ext cx="0" cy="539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9" name="Straight Connector 918"/>
          <p:cNvCxnSpPr/>
          <p:nvPr/>
        </p:nvCxnSpPr>
        <p:spPr bwMode="auto">
          <a:xfrm>
            <a:off x="5943600" y="2373313"/>
            <a:ext cx="0" cy="1016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8" name="Straight Connector 917"/>
          <p:cNvCxnSpPr/>
          <p:nvPr/>
        </p:nvCxnSpPr>
        <p:spPr bwMode="auto">
          <a:xfrm>
            <a:off x="5943600" y="3606800"/>
            <a:ext cx="2730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7" name="Straight Connector 916"/>
          <p:cNvCxnSpPr/>
          <p:nvPr/>
        </p:nvCxnSpPr>
        <p:spPr bwMode="auto">
          <a:xfrm>
            <a:off x="5943600" y="2373313"/>
            <a:ext cx="2730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4" name="Straight Connector 1043"/>
          <p:cNvCxnSpPr/>
          <p:nvPr/>
        </p:nvCxnSpPr>
        <p:spPr bwMode="auto">
          <a:xfrm>
            <a:off x="5670550" y="2474913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5" name="Straight Connector 1044"/>
          <p:cNvCxnSpPr/>
          <p:nvPr/>
        </p:nvCxnSpPr>
        <p:spPr bwMode="auto">
          <a:xfrm>
            <a:off x="5670550" y="3552825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7" name="Straight Connector 1046"/>
          <p:cNvCxnSpPr/>
          <p:nvPr/>
        </p:nvCxnSpPr>
        <p:spPr bwMode="auto">
          <a:xfrm>
            <a:off x="5943600" y="2474913"/>
            <a:ext cx="0" cy="10779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6" name="Straight Connector 1045"/>
          <p:cNvCxnSpPr/>
          <p:nvPr/>
        </p:nvCxnSpPr>
        <p:spPr bwMode="auto">
          <a:xfrm>
            <a:off x="5670550" y="2474913"/>
            <a:ext cx="0" cy="57626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4" name="Rectangle 1013"/>
          <p:cNvSpPr/>
          <p:nvPr/>
        </p:nvSpPr>
        <p:spPr bwMode="auto">
          <a:xfrm>
            <a:off x="5395913" y="3051175"/>
            <a:ext cx="274637" cy="5080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11" name="Straight Connector 1010"/>
          <p:cNvCxnSpPr/>
          <p:nvPr/>
        </p:nvCxnSpPr>
        <p:spPr bwMode="auto">
          <a:xfrm>
            <a:off x="4575175" y="3570288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2" name="Straight Connector 1011"/>
          <p:cNvCxnSpPr/>
          <p:nvPr/>
        </p:nvCxnSpPr>
        <p:spPr bwMode="auto">
          <a:xfrm>
            <a:off x="4575175" y="2514600"/>
            <a:ext cx="0" cy="22542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3" name="Straight Connector 1012"/>
          <p:cNvCxnSpPr/>
          <p:nvPr/>
        </p:nvCxnSpPr>
        <p:spPr bwMode="auto">
          <a:xfrm>
            <a:off x="4848225" y="2514600"/>
            <a:ext cx="0" cy="10556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0" name="Straight Connector 1009"/>
          <p:cNvCxnSpPr/>
          <p:nvPr/>
        </p:nvCxnSpPr>
        <p:spPr bwMode="auto">
          <a:xfrm>
            <a:off x="4575175" y="2514600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9" name="Rectangle 1008"/>
          <p:cNvSpPr/>
          <p:nvPr/>
        </p:nvSpPr>
        <p:spPr bwMode="auto">
          <a:xfrm>
            <a:off x="4302125" y="2740025"/>
            <a:ext cx="273050" cy="91281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14" name="Straight Connector 913"/>
          <p:cNvCxnSpPr/>
          <p:nvPr/>
        </p:nvCxnSpPr>
        <p:spPr bwMode="auto">
          <a:xfrm>
            <a:off x="3754438" y="2322513"/>
            <a:ext cx="2730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5" name="Straight Connector 914"/>
          <p:cNvCxnSpPr/>
          <p:nvPr/>
        </p:nvCxnSpPr>
        <p:spPr bwMode="auto">
          <a:xfrm>
            <a:off x="3754438" y="3624263"/>
            <a:ext cx="2730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1" name="Straight Connector 940"/>
          <p:cNvCxnSpPr/>
          <p:nvPr/>
        </p:nvCxnSpPr>
        <p:spPr bwMode="auto">
          <a:xfrm>
            <a:off x="3754438" y="3387725"/>
            <a:ext cx="0" cy="2365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6" name="Straight Connector 915"/>
          <p:cNvCxnSpPr/>
          <p:nvPr/>
        </p:nvCxnSpPr>
        <p:spPr bwMode="auto">
          <a:xfrm>
            <a:off x="4027488" y="2322513"/>
            <a:ext cx="0" cy="130175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5" name="Straight Connector 994"/>
          <p:cNvCxnSpPr/>
          <p:nvPr/>
        </p:nvCxnSpPr>
        <p:spPr bwMode="auto">
          <a:xfrm>
            <a:off x="3479800" y="2227263"/>
            <a:ext cx="2746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0" name="Straight Connector 999"/>
          <p:cNvCxnSpPr/>
          <p:nvPr/>
        </p:nvCxnSpPr>
        <p:spPr bwMode="auto">
          <a:xfrm>
            <a:off x="3479800" y="2227263"/>
            <a:ext cx="0" cy="8239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4" name="Straight Connector 1003"/>
          <p:cNvCxnSpPr/>
          <p:nvPr/>
        </p:nvCxnSpPr>
        <p:spPr bwMode="auto">
          <a:xfrm>
            <a:off x="3754438" y="2227263"/>
            <a:ext cx="0" cy="116046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9" name="Straight Connector 998"/>
          <p:cNvCxnSpPr/>
          <p:nvPr/>
        </p:nvCxnSpPr>
        <p:spPr bwMode="auto">
          <a:xfrm>
            <a:off x="3479800" y="3387725"/>
            <a:ext cx="2746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94" name="Rectangle 993"/>
          <p:cNvSpPr/>
          <p:nvPr/>
        </p:nvSpPr>
        <p:spPr bwMode="auto">
          <a:xfrm>
            <a:off x="3206750" y="3051175"/>
            <a:ext cx="273050" cy="65087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64" name="Straight Connector 963"/>
          <p:cNvCxnSpPr/>
          <p:nvPr/>
        </p:nvCxnSpPr>
        <p:spPr bwMode="auto">
          <a:xfrm>
            <a:off x="2659063" y="2774950"/>
            <a:ext cx="0" cy="7953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3" name="Straight Connector 962"/>
          <p:cNvCxnSpPr/>
          <p:nvPr/>
        </p:nvCxnSpPr>
        <p:spPr bwMode="auto">
          <a:xfrm>
            <a:off x="2386013" y="3570288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2" name="Straight Connector 961"/>
          <p:cNvCxnSpPr/>
          <p:nvPr/>
        </p:nvCxnSpPr>
        <p:spPr bwMode="auto">
          <a:xfrm>
            <a:off x="2386013" y="2774950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61" name="Rectangle 960"/>
          <p:cNvSpPr/>
          <p:nvPr/>
        </p:nvSpPr>
        <p:spPr bwMode="auto">
          <a:xfrm>
            <a:off x="2112963" y="2674938"/>
            <a:ext cx="273050" cy="9779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54" name="Straight Connector 953"/>
          <p:cNvCxnSpPr/>
          <p:nvPr/>
        </p:nvCxnSpPr>
        <p:spPr bwMode="auto">
          <a:xfrm>
            <a:off x="1290638" y="2795588"/>
            <a:ext cx="274637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5" name="Straight Connector 954"/>
          <p:cNvCxnSpPr/>
          <p:nvPr/>
        </p:nvCxnSpPr>
        <p:spPr bwMode="auto">
          <a:xfrm>
            <a:off x="1290638" y="3579813"/>
            <a:ext cx="274637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8" name="Straight Connector 957"/>
          <p:cNvCxnSpPr/>
          <p:nvPr/>
        </p:nvCxnSpPr>
        <p:spPr bwMode="auto">
          <a:xfrm>
            <a:off x="1290638" y="2795588"/>
            <a:ext cx="0" cy="4206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0" name="Straight Connector 959"/>
          <p:cNvCxnSpPr/>
          <p:nvPr/>
        </p:nvCxnSpPr>
        <p:spPr bwMode="auto">
          <a:xfrm>
            <a:off x="1565275" y="2795588"/>
            <a:ext cx="0" cy="78422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2" name="Rectangle 951"/>
          <p:cNvSpPr/>
          <p:nvPr/>
        </p:nvSpPr>
        <p:spPr bwMode="auto">
          <a:xfrm>
            <a:off x="1017588" y="3216275"/>
            <a:ext cx="273050" cy="53975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6" name="Text Placeholder 25"/>
          <p:cNvSpPr>
            <a:spLocks/>
          </p:cNvSpPr>
          <p:nvPr/>
        </p:nvSpPr>
        <p:spPr bwMode="auto">
          <a:xfrm>
            <a:off x="1200150" y="3906838"/>
            <a:ext cx="454025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FY2022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059" name="Text Placeholder 25"/>
          <p:cNvSpPr>
            <a:spLocks/>
          </p:cNvSpPr>
          <p:nvPr/>
        </p:nvSpPr>
        <p:spPr bwMode="auto">
          <a:xfrm>
            <a:off x="2295525" y="3906838"/>
            <a:ext cx="454025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FY2023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107" name="Text Placeholder 25"/>
          <p:cNvSpPr>
            <a:spLocks/>
          </p:cNvSpPr>
          <p:nvPr/>
        </p:nvSpPr>
        <p:spPr bwMode="auto">
          <a:xfrm>
            <a:off x="5580063" y="3906838"/>
            <a:ext cx="454025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FY2026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073" name="Text Placeholder 25"/>
          <p:cNvSpPr>
            <a:spLocks/>
          </p:cNvSpPr>
          <p:nvPr/>
        </p:nvSpPr>
        <p:spPr bwMode="auto">
          <a:xfrm>
            <a:off x="4484688" y="3906838"/>
            <a:ext cx="454025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FY2025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111" name="Text Placeholder 25"/>
          <p:cNvSpPr>
            <a:spLocks/>
          </p:cNvSpPr>
          <p:nvPr/>
        </p:nvSpPr>
        <p:spPr bwMode="auto">
          <a:xfrm>
            <a:off x="9958388" y="3906838"/>
            <a:ext cx="454025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FY2030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112" name="Text Placeholder 25"/>
          <p:cNvSpPr>
            <a:spLocks/>
          </p:cNvSpPr>
          <p:nvPr/>
        </p:nvSpPr>
        <p:spPr bwMode="auto">
          <a:xfrm>
            <a:off x="11052175" y="3906838"/>
            <a:ext cx="454025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FY2031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110" name="Text Placeholder 25"/>
          <p:cNvSpPr>
            <a:spLocks/>
          </p:cNvSpPr>
          <p:nvPr/>
        </p:nvSpPr>
        <p:spPr bwMode="auto">
          <a:xfrm>
            <a:off x="8863013" y="3906838"/>
            <a:ext cx="454025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FY2029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108" name="Text Placeholder 25"/>
          <p:cNvSpPr>
            <a:spLocks/>
          </p:cNvSpPr>
          <p:nvPr/>
        </p:nvSpPr>
        <p:spPr bwMode="auto">
          <a:xfrm>
            <a:off x="6673850" y="3906838"/>
            <a:ext cx="454025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FY2027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109" name="Text Placeholder 25"/>
          <p:cNvSpPr>
            <a:spLocks/>
          </p:cNvSpPr>
          <p:nvPr/>
        </p:nvSpPr>
        <p:spPr bwMode="auto">
          <a:xfrm>
            <a:off x="7769225" y="3906838"/>
            <a:ext cx="454025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FY2028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064" name="Text Placeholder 25"/>
          <p:cNvSpPr>
            <a:spLocks/>
          </p:cNvSpPr>
          <p:nvPr/>
        </p:nvSpPr>
        <p:spPr bwMode="auto">
          <a:xfrm>
            <a:off x="3389313" y="3906838"/>
            <a:ext cx="454025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FY2024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310" name="Text Placeholder 25"/>
          <p:cNvSpPr>
            <a:spLocks/>
          </p:cNvSpPr>
          <p:nvPr/>
        </p:nvSpPr>
        <p:spPr bwMode="gray">
          <a:xfrm>
            <a:off x="1049338" y="3711575"/>
            <a:ext cx="209550" cy="1524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chemeClr val="bg1"/>
                </a:solidFill>
                <a:effectLst/>
              </a:rPr>
              <a:t>0.5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15" name="Text Placeholder 25"/>
          <p:cNvSpPr>
            <a:spLocks/>
          </p:cNvSpPr>
          <p:nvPr/>
        </p:nvSpPr>
        <p:spPr bwMode="gray">
          <a:xfrm>
            <a:off x="8712200" y="3698875"/>
            <a:ext cx="209550" cy="152400"/>
          </a:xfrm>
          <a:prstGeom prst="rect">
            <a:avLst/>
          </a:prstGeom>
          <a:solidFill>
            <a:srgbClr val="BEBEBE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effectLst/>
              </a:rPr>
              <a:t>0.6</a:t>
            </a:r>
            <a:endParaRPr lang="en-US" sz="1000"/>
          </a:p>
        </p:txBody>
      </p:sp>
      <p:sp>
        <p:nvSpPr>
          <p:cNvPr id="313" name="Text Placeholder 25"/>
          <p:cNvSpPr>
            <a:spLocks/>
          </p:cNvSpPr>
          <p:nvPr/>
        </p:nvSpPr>
        <p:spPr bwMode="gray">
          <a:xfrm>
            <a:off x="6523038" y="3697288"/>
            <a:ext cx="209550" cy="1524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chemeClr val="bg1"/>
                </a:solidFill>
                <a:effectLst/>
              </a:rPr>
              <a:t>0.7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14" name="Text Placeholder 25"/>
          <p:cNvSpPr>
            <a:spLocks/>
          </p:cNvSpPr>
          <p:nvPr/>
        </p:nvSpPr>
        <p:spPr bwMode="gray">
          <a:xfrm>
            <a:off x="7616825" y="3703638"/>
            <a:ext cx="209550" cy="152400"/>
          </a:xfrm>
          <a:prstGeom prst="rect">
            <a:avLst/>
          </a:prstGeom>
          <a:solidFill>
            <a:srgbClr val="BEBEBE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effectLst/>
              </a:rPr>
              <a:t>0.6</a:t>
            </a:r>
            <a:endParaRPr lang="en-US" sz="1000"/>
          </a:p>
        </p:txBody>
      </p:sp>
      <p:sp>
        <p:nvSpPr>
          <p:cNvPr id="1077" name="Text Placeholder 25"/>
          <p:cNvSpPr>
            <a:spLocks/>
          </p:cNvSpPr>
          <p:nvPr/>
        </p:nvSpPr>
        <p:spPr bwMode="gray">
          <a:xfrm>
            <a:off x="1049338" y="3038475"/>
            <a:ext cx="20955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4.5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078" name="Text Placeholder 25"/>
          <p:cNvSpPr>
            <a:spLocks/>
          </p:cNvSpPr>
          <p:nvPr/>
        </p:nvSpPr>
        <p:spPr bwMode="gray">
          <a:xfrm>
            <a:off x="1322388" y="2617788"/>
            <a:ext cx="20955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7.6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080" name="Text Placeholder 25"/>
          <p:cNvSpPr>
            <a:spLocks/>
          </p:cNvSpPr>
          <p:nvPr/>
        </p:nvSpPr>
        <p:spPr bwMode="gray">
          <a:xfrm>
            <a:off x="2144713" y="2497138"/>
            <a:ext cx="20955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8.5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081" name="Text Placeholder 25"/>
          <p:cNvSpPr>
            <a:spLocks/>
          </p:cNvSpPr>
          <p:nvPr/>
        </p:nvSpPr>
        <p:spPr bwMode="gray">
          <a:xfrm>
            <a:off x="2417763" y="2597150"/>
            <a:ext cx="20955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7.8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083" name="Text Placeholder 25"/>
          <p:cNvSpPr>
            <a:spLocks/>
          </p:cNvSpPr>
          <p:nvPr/>
        </p:nvSpPr>
        <p:spPr bwMode="gray">
          <a:xfrm>
            <a:off x="3238500" y="2873375"/>
            <a:ext cx="20955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5.7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089" name="Text Placeholder 25"/>
          <p:cNvSpPr>
            <a:spLocks/>
          </p:cNvSpPr>
          <p:nvPr/>
        </p:nvSpPr>
        <p:spPr bwMode="gray">
          <a:xfrm>
            <a:off x="3476625" y="2049463"/>
            <a:ext cx="27940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11.8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085" name="Text Placeholder 25"/>
          <p:cNvSpPr>
            <a:spLocks/>
          </p:cNvSpPr>
          <p:nvPr/>
        </p:nvSpPr>
        <p:spPr bwMode="gray">
          <a:xfrm>
            <a:off x="3751263" y="2144713"/>
            <a:ext cx="27940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11.1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086" name="Text Placeholder 25"/>
          <p:cNvSpPr>
            <a:spLocks/>
          </p:cNvSpPr>
          <p:nvPr/>
        </p:nvSpPr>
        <p:spPr bwMode="gray">
          <a:xfrm>
            <a:off x="4333875" y="2562225"/>
            <a:ext cx="20955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8.0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087" name="Text Placeholder 25"/>
          <p:cNvSpPr>
            <a:spLocks/>
          </p:cNvSpPr>
          <p:nvPr/>
        </p:nvSpPr>
        <p:spPr bwMode="gray">
          <a:xfrm>
            <a:off x="4606925" y="2336800"/>
            <a:ext cx="20955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9.7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121" name="Text Placeholder 25"/>
          <p:cNvSpPr>
            <a:spLocks/>
          </p:cNvSpPr>
          <p:nvPr/>
        </p:nvSpPr>
        <p:spPr bwMode="gray">
          <a:xfrm>
            <a:off x="5427663" y="2873375"/>
            <a:ext cx="20955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5.7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123" name="Text Placeholder 25"/>
          <p:cNvSpPr>
            <a:spLocks/>
          </p:cNvSpPr>
          <p:nvPr/>
        </p:nvSpPr>
        <p:spPr bwMode="gray">
          <a:xfrm>
            <a:off x="5667375" y="2297113"/>
            <a:ext cx="27940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10.0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125" name="Text Placeholder 25"/>
          <p:cNvSpPr>
            <a:spLocks/>
          </p:cNvSpPr>
          <p:nvPr/>
        </p:nvSpPr>
        <p:spPr bwMode="gray">
          <a:xfrm>
            <a:off x="5940425" y="2195513"/>
            <a:ext cx="27940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10.7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128" name="Text Placeholder 25"/>
          <p:cNvSpPr>
            <a:spLocks/>
          </p:cNvSpPr>
          <p:nvPr/>
        </p:nvSpPr>
        <p:spPr bwMode="gray">
          <a:xfrm>
            <a:off x="6523038" y="3079750"/>
            <a:ext cx="20955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4.2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132" name="Text Placeholder 25"/>
          <p:cNvSpPr>
            <a:spLocks/>
          </p:cNvSpPr>
          <p:nvPr/>
        </p:nvSpPr>
        <p:spPr bwMode="gray">
          <a:xfrm>
            <a:off x="7034213" y="2259013"/>
            <a:ext cx="27940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10.3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135" name="Text Placeholder 25"/>
          <p:cNvSpPr>
            <a:spLocks/>
          </p:cNvSpPr>
          <p:nvPr/>
        </p:nvSpPr>
        <p:spPr bwMode="gray">
          <a:xfrm>
            <a:off x="7616825" y="3121025"/>
            <a:ext cx="20955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3.9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137" name="Text Placeholder 25"/>
          <p:cNvSpPr>
            <a:spLocks/>
          </p:cNvSpPr>
          <p:nvPr/>
        </p:nvSpPr>
        <p:spPr bwMode="gray">
          <a:xfrm>
            <a:off x="7856538" y="2182813"/>
            <a:ext cx="27940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10.8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140" name="Text Placeholder 25"/>
          <p:cNvSpPr>
            <a:spLocks/>
          </p:cNvSpPr>
          <p:nvPr/>
        </p:nvSpPr>
        <p:spPr bwMode="gray">
          <a:xfrm>
            <a:off x="8164513" y="2332038"/>
            <a:ext cx="20955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9.7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143" name="Text Placeholder 25"/>
          <p:cNvSpPr>
            <a:spLocks/>
          </p:cNvSpPr>
          <p:nvPr/>
        </p:nvSpPr>
        <p:spPr bwMode="gray">
          <a:xfrm>
            <a:off x="8712200" y="3108325"/>
            <a:ext cx="20955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4.0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145" name="Text Placeholder 25"/>
          <p:cNvSpPr>
            <a:spLocks/>
          </p:cNvSpPr>
          <p:nvPr/>
        </p:nvSpPr>
        <p:spPr bwMode="gray">
          <a:xfrm>
            <a:off x="8950325" y="2236788"/>
            <a:ext cx="27940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10.4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148" name="Text Placeholder 25"/>
          <p:cNvSpPr>
            <a:spLocks/>
          </p:cNvSpPr>
          <p:nvPr/>
        </p:nvSpPr>
        <p:spPr bwMode="gray">
          <a:xfrm>
            <a:off x="9259888" y="2330450"/>
            <a:ext cx="20955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9.7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151" name="Text Placeholder 25"/>
          <p:cNvSpPr>
            <a:spLocks/>
          </p:cNvSpPr>
          <p:nvPr/>
        </p:nvSpPr>
        <p:spPr bwMode="gray">
          <a:xfrm>
            <a:off x="9805988" y="2822575"/>
            <a:ext cx="20955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6.1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153" name="Text Placeholder 25"/>
          <p:cNvSpPr>
            <a:spLocks/>
          </p:cNvSpPr>
          <p:nvPr/>
        </p:nvSpPr>
        <p:spPr bwMode="gray">
          <a:xfrm>
            <a:off x="10080625" y="2379663"/>
            <a:ext cx="20955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9.4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156" name="Text Placeholder 25"/>
          <p:cNvSpPr>
            <a:spLocks/>
          </p:cNvSpPr>
          <p:nvPr/>
        </p:nvSpPr>
        <p:spPr bwMode="gray">
          <a:xfrm>
            <a:off x="10353675" y="2347913"/>
            <a:ext cx="20955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9.6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159" name="Text Placeholder 25"/>
          <p:cNvSpPr>
            <a:spLocks/>
          </p:cNvSpPr>
          <p:nvPr/>
        </p:nvSpPr>
        <p:spPr bwMode="gray">
          <a:xfrm>
            <a:off x="10901363" y="2797175"/>
            <a:ext cx="20955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6.3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161" name="Text Placeholder 25"/>
          <p:cNvSpPr>
            <a:spLocks/>
          </p:cNvSpPr>
          <p:nvPr/>
        </p:nvSpPr>
        <p:spPr bwMode="gray">
          <a:xfrm>
            <a:off x="11174413" y="2357438"/>
            <a:ext cx="20955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9.5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525" name="Text Placeholder 25"/>
          <p:cNvSpPr>
            <a:spLocks/>
          </p:cNvSpPr>
          <p:nvPr/>
        </p:nvSpPr>
        <p:spPr bwMode="gray">
          <a:xfrm>
            <a:off x="11449050" y="2346325"/>
            <a:ext cx="20955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9.6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335" name="Text Placeholder 25"/>
          <p:cNvSpPr>
            <a:spLocks/>
          </p:cNvSpPr>
          <p:nvPr/>
        </p:nvSpPr>
        <p:spPr bwMode="gray">
          <a:xfrm>
            <a:off x="3238500" y="3684588"/>
            <a:ext cx="209550" cy="1524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chemeClr val="bg1"/>
                </a:solidFill>
                <a:effectLst/>
              </a:rPr>
              <a:t>0.9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130" name="Text Placeholder 25"/>
          <p:cNvSpPr>
            <a:spLocks/>
          </p:cNvSpPr>
          <p:nvPr/>
        </p:nvSpPr>
        <p:spPr bwMode="gray">
          <a:xfrm>
            <a:off x="6761163" y="2133600"/>
            <a:ext cx="27940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solidFill>
                  <a:srgbClr val="000000"/>
                </a:solidFill>
              </a:rPr>
              <a:t>11.2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339" name="PenOval"/>
          <p:cNvSpPr txBox="1"/>
          <p:nvPr/>
        </p:nvSpPr>
        <p:spPr>
          <a:xfrm>
            <a:off x="1165285" y="1796488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$2.3B</a:t>
            </a:r>
          </a:p>
        </p:txBody>
      </p:sp>
      <p:sp>
        <p:nvSpPr>
          <p:cNvPr id="340" name="PenOval"/>
          <p:cNvSpPr txBox="1"/>
          <p:nvPr/>
        </p:nvSpPr>
        <p:spPr>
          <a:xfrm>
            <a:off x="2258806" y="180632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$3.1B</a:t>
            </a:r>
          </a:p>
        </p:txBody>
      </p:sp>
      <p:sp>
        <p:nvSpPr>
          <p:cNvPr id="341" name="PenOval"/>
          <p:cNvSpPr txBox="1"/>
          <p:nvPr/>
        </p:nvSpPr>
        <p:spPr>
          <a:xfrm>
            <a:off x="3352327" y="1796488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$5.5B</a:t>
            </a:r>
          </a:p>
        </p:txBody>
      </p:sp>
      <p:sp>
        <p:nvSpPr>
          <p:cNvPr id="342" name="PenOval"/>
          <p:cNvSpPr txBox="1"/>
          <p:nvPr/>
        </p:nvSpPr>
        <p:spPr>
          <a:xfrm>
            <a:off x="4434912" y="17822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$3.1B</a:t>
            </a:r>
          </a:p>
        </p:txBody>
      </p:sp>
      <p:sp>
        <p:nvSpPr>
          <p:cNvPr id="1090" name="Rectangle 789"/>
          <p:cNvSpPr/>
          <p:nvPr/>
        </p:nvSpPr>
        <p:spPr bwMode="auto">
          <a:xfrm>
            <a:off x="7127875" y="1184275"/>
            <a:ext cx="142875" cy="106363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1" name="Rectangle 790"/>
          <p:cNvSpPr/>
          <p:nvPr/>
        </p:nvSpPr>
        <p:spPr bwMode="auto">
          <a:xfrm>
            <a:off x="7127875" y="1357313"/>
            <a:ext cx="142875" cy="106363"/>
          </a:xfrm>
          <a:prstGeom prst="rect">
            <a:avLst/>
          </a:prstGeom>
          <a:solidFill>
            <a:srgbClr val="000000"/>
          </a:solidFill>
          <a:ln w="6350" cap="flat" cmpd="sng" algn="ctr">
            <a:noFill/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2" name="Rectangle 791"/>
          <p:cNvSpPr/>
          <p:nvPr/>
        </p:nvSpPr>
        <p:spPr bwMode="auto">
          <a:xfrm>
            <a:off x="7127875" y="1530350"/>
            <a:ext cx="142875" cy="106363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Rectangle 792"/>
          <p:cNvSpPr/>
          <p:nvPr/>
        </p:nvSpPr>
        <p:spPr bwMode="auto">
          <a:xfrm>
            <a:off x="8648700" y="1184275"/>
            <a:ext cx="142875" cy="106363"/>
          </a:xfrm>
          <a:prstGeom prst="rect">
            <a:avLst/>
          </a:prstGeom>
          <a:solidFill>
            <a:schemeClr val="accent3"/>
          </a:solidFill>
          <a:ln w="6350" cap="flat" cmpd="sng" algn="ctr">
            <a:noFill/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4" name="Rectangle 793"/>
          <p:cNvSpPr/>
          <p:nvPr/>
        </p:nvSpPr>
        <p:spPr bwMode="auto">
          <a:xfrm>
            <a:off x="8648700" y="1357313"/>
            <a:ext cx="142875" cy="106363"/>
          </a:xfrm>
          <a:prstGeom prst="rect">
            <a:avLst/>
          </a:prstGeom>
          <a:solidFill>
            <a:srgbClr val="A1A1A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Rectangle 794"/>
          <p:cNvSpPr/>
          <p:nvPr/>
        </p:nvSpPr>
        <p:spPr bwMode="auto">
          <a:xfrm>
            <a:off x="8648700" y="1530350"/>
            <a:ext cx="142875" cy="106363"/>
          </a:xfrm>
          <a:prstGeom prst="rect">
            <a:avLst/>
          </a:prstGeom>
          <a:noFill/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6" name="Rectangle 795"/>
          <p:cNvSpPr/>
          <p:nvPr/>
        </p:nvSpPr>
        <p:spPr bwMode="auto">
          <a:xfrm>
            <a:off x="10079038" y="1184275"/>
            <a:ext cx="142875" cy="106363"/>
          </a:xfrm>
          <a:prstGeom prst="rect">
            <a:avLst/>
          </a:prstGeom>
          <a:solidFill>
            <a:schemeClr val="accent4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7" name="Rectangle 896"/>
          <p:cNvSpPr/>
          <p:nvPr/>
        </p:nvSpPr>
        <p:spPr bwMode="auto">
          <a:xfrm>
            <a:off x="10079038" y="1357313"/>
            <a:ext cx="142875" cy="106363"/>
          </a:xfrm>
          <a:prstGeom prst="rect">
            <a:avLst/>
          </a:prstGeom>
          <a:solidFill>
            <a:srgbClr val="BEBEBE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8" name="Rectangle 897"/>
          <p:cNvSpPr/>
          <p:nvPr/>
        </p:nvSpPr>
        <p:spPr bwMode="auto">
          <a:xfrm>
            <a:off x="10079038" y="1530350"/>
            <a:ext cx="142875" cy="10636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Text Placeholder 25"/>
          <p:cNvSpPr>
            <a:spLocks/>
          </p:cNvSpPr>
          <p:nvPr/>
        </p:nvSpPr>
        <p:spPr bwMode="auto">
          <a:xfrm>
            <a:off x="7321550" y="1179513"/>
            <a:ext cx="965200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rgbClr val="000000"/>
                </a:solidFill>
              </a:rPr>
              <a:t>Columbia outsourced</a:t>
            </a: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1098" name="Text Placeholder 25"/>
          <p:cNvSpPr>
            <a:spLocks/>
          </p:cNvSpPr>
          <p:nvPr/>
        </p:nvSpPr>
        <p:spPr bwMode="auto">
          <a:xfrm>
            <a:off x="7321550" y="1352550"/>
            <a:ext cx="1225550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rgbClr val="000000"/>
                </a:solidFill>
              </a:rPr>
              <a:t>Columbia outsourced (est.)</a:t>
            </a: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1099" name="Text Placeholder 25"/>
          <p:cNvSpPr>
            <a:spLocks/>
          </p:cNvSpPr>
          <p:nvPr/>
        </p:nvSpPr>
        <p:spPr bwMode="auto">
          <a:xfrm>
            <a:off x="7321550" y="1525588"/>
            <a:ext cx="1136650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rgbClr val="000000"/>
                </a:solidFill>
              </a:rPr>
              <a:t>Columbia retained spend</a:t>
            </a: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1100" name="Text Placeholder 25"/>
          <p:cNvSpPr>
            <a:spLocks/>
          </p:cNvSpPr>
          <p:nvPr/>
        </p:nvSpPr>
        <p:spPr bwMode="auto">
          <a:xfrm>
            <a:off x="8842375" y="1179513"/>
            <a:ext cx="87471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rgbClr val="000000"/>
                </a:solidFill>
              </a:rPr>
              <a:t>Virginia outsourced</a:t>
            </a: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1101" name="Text Placeholder 25"/>
          <p:cNvSpPr>
            <a:spLocks/>
          </p:cNvSpPr>
          <p:nvPr/>
        </p:nvSpPr>
        <p:spPr bwMode="auto">
          <a:xfrm>
            <a:off x="8842375" y="1352550"/>
            <a:ext cx="113506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rgbClr val="000000"/>
                </a:solidFill>
              </a:rPr>
              <a:t>Virginia outsourced (est.)</a:t>
            </a: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1102" name="Text Placeholder 25"/>
          <p:cNvSpPr>
            <a:spLocks/>
          </p:cNvSpPr>
          <p:nvPr/>
        </p:nvSpPr>
        <p:spPr bwMode="auto">
          <a:xfrm>
            <a:off x="8842375" y="1525588"/>
            <a:ext cx="104616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rgbClr val="000000"/>
                </a:solidFill>
              </a:rPr>
              <a:t>Virginia retained spend</a:t>
            </a: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1103" name="Text Placeholder 25"/>
          <p:cNvSpPr>
            <a:spLocks/>
          </p:cNvSpPr>
          <p:nvPr/>
        </p:nvSpPr>
        <p:spPr bwMode="auto">
          <a:xfrm>
            <a:off x="10272713" y="1179513"/>
            <a:ext cx="908050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rgbClr val="000000"/>
                </a:solidFill>
              </a:rPr>
              <a:t>DDG-51 outsourced</a:t>
            </a: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1113" name="Text Placeholder 25"/>
          <p:cNvSpPr>
            <a:spLocks/>
          </p:cNvSpPr>
          <p:nvPr/>
        </p:nvSpPr>
        <p:spPr bwMode="auto">
          <a:xfrm>
            <a:off x="10272713" y="1352550"/>
            <a:ext cx="1168400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rgbClr val="000000"/>
                </a:solidFill>
              </a:rPr>
              <a:t>DDG-51 outsourced (est.)</a:t>
            </a: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1114" name="Text Placeholder 25"/>
          <p:cNvSpPr>
            <a:spLocks/>
          </p:cNvSpPr>
          <p:nvPr/>
        </p:nvSpPr>
        <p:spPr bwMode="auto">
          <a:xfrm>
            <a:off x="10272713" y="1525588"/>
            <a:ext cx="1079500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rgbClr val="000000"/>
                </a:solidFill>
              </a:rPr>
              <a:t>DDG-51 retained spend</a:t>
            </a: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9001" name="StripHeader"/>
          <p:cNvSpPr txBox="1"/>
          <p:nvPr/>
        </p:nvSpPr>
        <p:spPr>
          <a:xfrm>
            <a:off x="149796" y="3691687"/>
            <a:ext cx="251637" cy="1322801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anchor="t" anchorCtr="0"/>
          <a:lstStyle/>
          <a:p>
            <a:pPr algn="l">
              <a:lnSpc>
                <a:spcPct val="115000"/>
              </a:lnSpc>
              <a:buNone/>
            </a:pPr>
            <a:r>
              <a:rPr lang="en-US" sz="8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Outsourced penetration %</a:t>
            </a:r>
          </a:p>
        </p:txBody>
      </p:sp>
      <p:sp>
        <p:nvSpPr>
          <p:cNvPr id="9002" name="StripLabel"/>
          <p:cNvSpPr txBox="1"/>
          <p:nvPr/>
        </p:nvSpPr>
        <p:spPr>
          <a:xfrm>
            <a:off x="9737" y="4095505"/>
            <a:ext cx="976921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buNone/>
            </a:pPr>
            <a:r>
              <a:rPr lang="en-US" sz="8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DDG-51 %</a:t>
            </a:r>
          </a:p>
        </p:txBody>
      </p:sp>
      <p:sp>
        <p:nvSpPr>
          <p:cNvPr id="9003" name="PenPillRange"/>
          <p:cNvSpPr txBox="1"/>
          <p:nvPr/>
        </p:nvSpPr>
        <p:spPr>
          <a:xfrm>
            <a:off x="6512891" y="4118005"/>
            <a:ext cx="5104156" cy="175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14–19% (assumed)</a:t>
            </a:r>
          </a:p>
        </p:txBody>
      </p:sp>
      <p:sp>
        <p:nvSpPr>
          <p:cNvPr id="9004" name="PenOval"/>
          <p:cNvSpPr txBox="1"/>
          <p:nvPr/>
        </p:nvSpPr>
        <p:spPr>
          <a:xfrm>
            <a:off x="1165285" y="4118005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11%</a:t>
            </a:r>
          </a:p>
        </p:txBody>
      </p:sp>
      <p:sp>
        <p:nvSpPr>
          <p:cNvPr id="9005" name="PenOval"/>
          <p:cNvSpPr txBox="1"/>
          <p:nvPr/>
        </p:nvSpPr>
        <p:spPr>
          <a:xfrm>
            <a:off x="2258806" y="4118005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9006" name="PenOval"/>
          <p:cNvSpPr txBox="1"/>
          <p:nvPr/>
        </p:nvSpPr>
        <p:spPr>
          <a:xfrm>
            <a:off x="3352327" y="4118005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9007" name="PenOval"/>
          <p:cNvSpPr txBox="1"/>
          <p:nvPr/>
        </p:nvSpPr>
        <p:spPr>
          <a:xfrm>
            <a:off x="4434912" y="4118005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9008" name="PenOval"/>
          <p:cNvSpPr txBox="1"/>
          <p:nvPr/>
        </p:nvSpPr>
        <p:spPr>
          <a:xfrm>
            <a:off x="5539370" y="4118005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34%</a:t>
            </a:r>
          </a:p>
        </p:txBody>
      </p:sp>
      <p:sp>
        <p:nvSpPr>
          <p:cNvPr id="9009" name="StripLabel"/>
          <p:cNvSpPr txBox="1"/>
          <p:nvPr/>
        </p:nvSpPr>
        <p:spPr>
          <a:xfrm>
            <a:off x="9737" y="4330505"/>
            <a:ext cx="976921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buNone/>
            </a:pPr>
            <a:r>
              <a:rPr lang="en-US" sz="8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 %</a:t>
            </a:r>
          </a:p>
        </p:txBody>
      </p:sp>
      <p:sp>
        <p:nvSpPr>
          <p:cNvPr id="9010" name="PenPillRange"/>
          <p:cNvSpPr txBox="1"/>
          <p:nvPr/>
        </p:nvSpPr>
        <p:spPr>
          <a:xfrm>
            <a:off x="6512891" y="4353005"/>
            <a:ext cx="5104156" cy="175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24–31% (assumed)</a:t>
            </a:r>
          </a:p>
        </p:txBody>
      </p:sp>
      <p:sp>
        <p:nvSpPr>
          <p:cNvPr id="9011" name="PenOval"/>
          <p:cNvSpPr txBox="1"/>
          <p:nvPr/>
        </p:nvSpPr>
        <p:spPr>
          <a:xfrm>
            <a:off x="1165285" y="4353005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23%</a:t>
            </a:r>
          </a:p>
        </p:txBody>
      </p:sp>
      <p:sp>
        <p:nvSpPr>
          <p:cNvPr id="9012" name="PenOval"/>
          <p:cNvSpPr txBox="1"/>
          <p:nvPr/>
        </p:nvSpPr>
        <p:spPr>
          <a:xfrm>
            <a:off x="2258806" y="4353005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24%</a:t>
            </a:r>
          </a:p>
        </p:txBody>
      </p:sp>
      <p:sp>
        <p:nvSpPr>
          <p:cNvPr id="9013" name="PenOval"/>
          <p:cNvSpPr txBox="1"/>
          <p:nvPr/>
        </p:nvSpPr>
        <p:spPr>
          <a:xfrm>
            <a:off x="3352327" y="4353005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27%</a:t>
            </a:r>
          </a:p>
        </p:txBody>
      </p:sp>
      <p:sp>
        <p:nvSpPr>
          <p:cNvPr id="9014" name="PenOval"/>
          <p:cNvSpPr txBox="1"/>
          <p:nvPr/>
        </p:nvSpPr>
        <p:spPr>
          <a:xfrm>
            <a:off x="4445849" y="4353005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19%</a:t>
            </a:r>
          </a:p>
        </p:txBody>
      </p:sp>
      <p:sp>
        <p:nvSpPr>
          <p:cNvPr id="9015" name="PenOval"/>
          <p:cNvSpPr txBox="1"/>
          <p:nvPr/>
        </p:nvSpPr>
        <p:spPr>
          <a:xfrm>
            <a:off x="5539370" y="4353005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9016" name="StripLabel"/>
          <p:cNvSpPr txBox="1"/>
          <p:nvPr/>
        </p:nvSpPr>
        <p:spPr>
          <a:xfrm>
            <a:off x="9737" y="4565505"/>
            <a:ext cx="976921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buNone/>
            </a:pPr>
            <a:r>
              <a:rPr lang="en-US" sz="8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Columbia %</a:t>
            </a:r>
          </a:p>
        </p:txBody>
      </p:sp>
      <p:sp>
        <p:nvSpPr>
          <p:cNvPr id="9017" name="PenPillRange"/>
          <p:cNvSpPr txBox="1"/>
          <p:nvPr/>
        </p:nvSpPr>
        <p:spPr>
          <a:xfrm>
            <a:off x="6512891" y="4588005"/>
            <a:ext cx="5104156" cy="175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13–17% (assumed)</a:t>
            </a:r>
          </a:p>
        </p:txBody>
      </p:sp>
      <p:sp>
        <p:nvSpPr>
          <p:cNvPr id="9018" name="PenOval"/>
          <p:cNvSpPr txBox="1"/>
          <p:nvPr/>
        </p:nvSpPr>
        <p:spPr>
          <a:xfrm>
            <a:off x="1165285" y="4588005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9019" name="PenOval"/>
          <p:cNvSpPr txBox="1"/>
          <p:nvPr/>
        </p:nvSpPr>
        <p:spPr>
          <a:xfrm>
            <a:off x="2258806" y="4588005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9020" name="PenOval"/>
          <p:cNvSpPr txBox="1"/>
          <p:nvPr/>
        </p:nvSpPr>
        <p:spPr>
          <a:xfrm>
            <a:off x="3352327" y="4588005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13%</a:t>
            </a:r>
          </a:p>
        </p:txBody>
      </p:sp>
      <p:sp>
        <p:nvSpPr>
          <p:cNvPr id="9021" name="PenOval"/>
          <p:cNvSpPr txBox="1"/>
          <p:nvPr/>
        </p:nvSpPr>
        <p:spPr>
          <a:xfrm>
            <a:off x="4445849" y="4588005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9022" name="PenOval"/>
          <p:cNvSpPr txBox="1"/>
          <p:nvPr/>
        </p:nvSpPr>
        <p:spPr>
          <a:xfrm>
            <a:off x="5539370" y="4588005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5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9023" name="ColumbiaNote"/>
          <p:cNvSpPr txBox="1"/>
          <p:nvPr/>
        </p:nvSpPr>
        <p:spPr>
          <a:xfrm>
            <a:off x="406859" y="4830373"/>
            <a:ext cx="4480560" cy="1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buNone/>
            </a:pPr>
            <a:r>
              <a:rPr lang="en-US" sz="80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Note: Columbia had no hull authorized in FY22/23/25 (hull costs shown in year of authorization)</a:t>
            </a:r>
          </a:p>
        </p:txBody>
      </p:sp>
      <p:sp>
        <p:nvSpPr>
          <p:cNvPr id="9024" name="ForecastNoteStrip"/>
          <p:cNvSpPr txBox="1"/>
          <p:nvPr/>
        </p:nvSpPr>
        <p:spPr>
          <a:xfrm>
            <a:off x="4965793" y="4800172"/>
            <a:ext cx="2800000" cy="1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buNone/>
            </a:pPr>
            <a:r>
              <a:rPr lang="en-US" sz="80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FY26/FY27 budgets known, penetration assumed.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>
                <a:solidFill>
                  <a:srgbClr val="44505C"/>
                </a:solidFill>
                <a:latin typeface="Arial"/>
                <a:ea typeface="Arial"/>
                <a:cs typeface="Arial"/>
              </a:rPr>
              <a:t>Executive Summary</a:t>
            </a:r>
            <a:r>
              <a:rPr lang="en-US" sz="1000" kern="120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TAM and SAM</a:t>
            </a:r>
          </a:p>
        </p:txBody>
      </p:sp>
      <p:sp>
        <p:nvSpPr>
          <p:cNvPr id="30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lIns="45720" tIns="9144" rIns="45720" bIns="9144" anchor="ctr"/>
          <a:lstStyle/>
          <a:p>
            <a:pPr algn="ctr"/>
            <a:r>
              <a:rPr lang="en-US" sz="1200" b="1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0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vert="horz" rIns="0"/>
          <a:lstStyle/>
          <a:p>
            <a:r>
              <a:rPr lang="en-US">
                <a:solidFill>
                  <a:srgbClr val="162029"/>
                </a:solidFill>
                <a:ea typeface="Arial"/>
                <a:cs typeface="Arial"/>
              </a:rPr>
              <a:t>Penetration Rate Outlook | …</a:t>
            </a:r>
            <a:endParaRPr lang="en-US" sz="2000" kern="1200">
              <a:solidFill>
                <a:srgbClr val="16202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5" name="Sources"/>
          <p:cNvSpPr txBox="1"/>
          <p:nvPr/>
        </p:nvSpPr>
        <p:spPr>
          <a:xfrm>
            <a:off x="453079" y="6085448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US" sz="800" kern="120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Navy SCN P-5c / P-40 budget justification, FY22–FY27, and PB27 FYDP outyears (FY28–FY31); FY26, PL 119-21 Sec. 20002; PB27 SCN, Columbia P-10 Strategic Outsourcing narrative; OUSD(C) Green Book Procurement deflators; Navy Shipbuilding Plan; PB27 SCN Exhibit P-10, LI 2122 (AP/LLTM Ship Construction EOQ); FFATA/FSRS subaward records, yard-prime construction PIIDs, FY22–FY25 action years (work-type shares)</a:t>
            </a:r>
          </a:p>
        </p:txBody>
      </p:sp>
      <p:sp>
        <p:nvSpPr>
          <p:cNvPr id="333" name="PrelimChip"/>
          <p:cNvSpPr txBox="1"/>
          <p:nvPr/>
        </p:nvSpPr>
        <p:spPr>
          <a:xfrm>
            <a:off x="176981" y="1111045"/>
            <a:ext cx="11808542" cy="5279923"/>
          </a:xfrm>
          <a:prstGeom prst="rect">
            <a:avLst/>
          </a:prstGeom>
          <a:solidFill>
            <a:srgbClr val="D9D9D9"/>
          </a:solidFill>
          <a:ln w="19050">
            <a:solidFill>
              <a:srgbClr val="000000"/>
            </a:solidFill>
          </a:ln>
        </p:spPr>
        <p:txBody>
          <a:bodyPr wrap="square" lIns="45720" tIns="9144" rIns="45720" bIns="9144" anchor="ctr"/>
          <a:lstStyle/>
          <a:p>
            <a:pPr algn="ctr"/>
            <a:r>
              <a:rPr lang="en-US" sz="1600" b="1" i="1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Placeholder – Line chart (LHS 2/3) + Commentary (RHS 1/3) </a:t>
            </a:r>
            <a:br>
              <a:rPr lang="en-US" sz="1600" b="1" i="1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</a:br>
            <a:r>
              <a:rPr lang="en-US" sz="1600" b="1" i="1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X-axis: </a:t>
            </a:r>
          </a:p>
          <a:p>
            <a:pPr algn="ctr"/>
            <a:r>
              <a:rPr lang="en-US" sz="16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Y-axis: </a:t>
            </a:r>
            <a:r>
              <a:rPr lang="en-US" sz="1600" b="1" i="1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FY22 – FY31</a:t>
            </a:r>
          </a:p>
          <a:p>
            <a:pPr algn="ctr"/>
            <a:r>
              <a:rPr lang="en-US" sz="16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Lines: </a:t>
            </a:r>
            <a:r>
              <a:rPr lang="en-US" sz="1600" b="1" i="1">
                <a:solidFill>
                  <a:srgbClr val="000000"/>
                </a:solidFill>
                <a:ea typeface="Arial"/>
                <a:cs typeface="Arial"/>
              </a:rPr>
              <a:t>DDG, Virginia, Columbia pen rate (delineate historical with solid lines and forecast with dashed lines)</a:t>
            </a:r>
          </a:p>
          <a:p>
            <a:pPr algn="ctr"/>
            <a:r>
              <a:rPr lang="en-US" sz="1600" b="1" i="1">
                <a:solidFill>
                  <a:srgbClr val="000000"/>
                </a:solidFill>
                <a:ea typeface="Arial"/>
                <a:cs typeface="Arial"/>
              </a:rPr>
              <a:t>Overlay: Penetration “ceiling” as lines for each platform</a:t>
            </a:r>
          </a:p>
          <a:p>
            <a:pPr algn="ctr"/>
            <a:r>
              <a:rPr lang="en-US" sz="1600" b="1" i="1">
                <a:solidFill>
                  <a:srgbClr val="000000"/>
                </a:solidFill>
                <a:ea typeface="Arial"/>
                <a:cs typeface="Arial"/>
              </a:rPr>
              <a:t>Commentary: Explanation of curve shape + ceilings</a:t>
            </a:r>
          </a:p>
          <a:p>
            <a:pPr algn="ctr"/>
            <a:endParaRPr lang="en-US" sz="1600" b="1" i="1">
              <a:solidFill>
                <a:srgbClr val="000000"/>
              </a:solidFill>
              <a:ea typeface="Arial"/>
              <a:cs typeface="Arial"/>
            </a:endParaRPr>
          </a:p>
          <a:p>
            <a:pPr algn="ctr"/>
            <a:r>
              <a:rPr lang="en-US" sz="1600" b="1" i="1">
                <a:solidFill>
                  <a:srgbClr val="000000"/>
                </a:solidFill>
                <a:ea typeface="Arial"/>
                <a:cs typeface="Arial"/>
              </a:rPr>
              <a:t>To understand how the Navy thinks about “outsourcing” – defined as hours or $ or combination?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Executive Summary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TAM and SAM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Outsourced spend mix by capability domain, by fiscal year | Capability-Domain composition of program-year subaward dollars (FY22–25, each bar = 100%).</a:t>
            </a:r>
          </a:p>
        </p:txBody>
      </p:sp>
      <p:graphicFrame>
        <p:nvGraphicFramePr>
          <p:cNvPr id="843" name="DomainByFY"/>
          <p:cNvGraphicFramePr/>
          <p:nvPr/>
        </p:nvGraphicFramePr>
        <p:xfrm>
          <a:off x="457200" y="1463040"/>
          <a:ext cx="11274552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00" name="Sources"/>
          <p:cNvSpPr txBox="1"/>
          <p:nvPr/>
        </p:nvSpPr>
        <p:spPr>
          <a:xfrm>
            <a:off x="457200" y="5989320"/>
            <a:ext cx="11274552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Capability-Domain composition of FFATA/FSRS first-tier subawards on hull-builder new-construction PIIDs (GDEB; BIW + Ingalls), by program and federal fiscal year of the subaward action (net $, each bar normalized to 100%). DDG-51 subawards also span FY13–21 (not shown).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3" name="Table 12"/>
          <p:cNvGraphicFramePr>
            <a:graphicFrameLocks noGrp="1"/>
          </p:cNvGraphicFramePr>
          <p:nvPr/>
        </p:nvGraphicFramePr>
        <p:xfrm>
          <a:off x="452818" y="1496364"/>
          <a:ext cx="11315609" cy="36862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6044"/>
                <a:gridCol w="1155037"/>
                <a:gridCol w="1310325"/>
                <a:gridCol w="2173146"/>
                <a:gridCol w="1877019"/>
                <a:gridCol w="1877019"/>
                <a:gridCol w="1877019"/>
              </a:tblGrid>
              <a:tr h="26514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Platform</a:t>
                      </a:r>
                    </a:p>
                  </a:txBody>
                  <a:tcP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Contract</a:t>
                      </a:r>
                    </a:p>
                  </a:txBody>
                  <a:tcP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Amount</a:t>
                      </a:r>
                    </a:p>
                  </a:txBody>
                  <a:tcP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Details</a:t>
                      </a:r>
                    </a:p>
                  </a:txBody>
                  <a:tcP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lang="en-US" sz="1200" b="1" u="none">
                          <a:solidFill>
                            <a:srgbClr val="000000"/>
                          </a:solidFill>
                          <a:latin typeface="+mj-lt"/>
                          <a:ea typeface="Inter" panose="02000503000000020004" pitchFamily="2" charset="0"/>
                        </a:rPr>
                        <a:t>Recompete Date</a:t>
                      </a:r>
                      <a:endParaRPr lang="en-US" sz="1200" b="0" u="none">
                        <a:solidFill>
                          <a:srgbClr val="000000"/>
                        </a:solidFill>
                        <a:latin typeface="+mj-lt"/>
                        <a:ea typeface="Inter" panose="02000503000000020004" pitchFamily="2" charset="0"/>
                      </a:endParaRPr>
                    </a:p>
                  </a:txBody>
                  <a:tcPr marL="45720" marR="4572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200" b="1" u="none">
                          <a:solidFill>
                            <a:srgbClr val="000000"/>
                          </a:solidFill>
                          <a:latin typeface="+mj-lt"/>
                        </a:rPr>
                        <a:t>Current Player</a:t>
                      </a:r>
                      <a:endParaRPr lang="en-US" sz="1200" b="0" i="1" u="non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45720" marR="4572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en-US" sz="1200" b="1" u="none">
                          <a:solidFill>
                            <a:srgbClr val="000000"/>
                          </a:solidFill>
                          <a:latin typeface="+mj-lt"/>
                        </a:rPr>
                        <a:t>Budget Alignment</a:t>
                      </a:r>
                      <a:endParaRPr lang="en-US" sz="1200" b="0" u="non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45720" marR="4572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6496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Platform 1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Contract 1</a:t>
                      </a:r>
                    </a:p>
                  </a:txBody>
                  <a:tcPr marL="45720" marR="45720"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$###M</a:t>
                      </a:r>
                    </a:p>
                  </a:txBody>
                  <a:tcPr marL="45720" marR="45720"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…</a:t>
                      </a:r>
                    </a:p>
                  </a:txBody>
                  <a:tcPr marL="45720" marR="45720"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 ## / ## / 202#</a:t>
                      </a:r>
                    </a:p>
                  </a:txBody>
                  <a:tcPr marL="45720" marR="45720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200" b="0" i="1">
                          <a:solidFill>
                            <a:srgbClr val="000000"/>
                          </a:solidFill>
                          <a:latin typeface="+mj-lt"/>
                        </a:rPr>
                        <a:t>Player A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8A57"/>
                    </a:solidFill>
                  </a:tcPr>
                </a:tc>
              </a:tr>
              <a:tr h="426496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Inter" panose="02000503000000020004" pitchFamily="2" charset="0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Contract 2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$###M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…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 ## / ## / 202#</a:t>
                      </a:r>
                    </a:p>
                  </a:txBody>
                  <a:tcPr marL="45720" marR="45720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200" b="0" i="1">
                          <a:solidFill>
                            <a:srgbClr val="000000"/>
                          </a:solidFill>
                          <a:latin typeface="+mj-lt"/>
                        </a:rPr>
                        <a:t>Player B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</a:tr>
              <a:tr h="426496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Inter" panose="02000503000000020004" pitchFamily="2" charset="0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Contract 3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$###M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…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 ## / ## / 202#</a:t>
                      </a:r>
                    </a:p>
                  </a:txBody>
                  <a:tcPr marL="45720" marR="45720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200" b="0" i="1">
                          <a:solidFill>
                            <a:srgbClr val="000000"/>
                          </a:solidFill>
                          <a:latin typeface="+mj-lt"/>
                        </a:rPr>
                        <a:t>Player C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3124"/>
                    </a:solidFill>
                  </a:tcPr>
                </a:tc>
              </a:tr>
              <a:tr h="426496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Inter" panose="02000503000000020004" pitchFamily="2" charset="0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Contract 4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$###M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…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 ## / ## / 202#</a:t>
                      </a:r>
                    </a:p>
                  </a:txBody>
                  <a:tcPr marL="45720" marR="45720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200" b="0" i="1">
                          <a:solidFill>
                            <a:srgbClr val="000000"/>
                          </a:solidFill>
                          <a:latin typeface="+mj-lt"/>
                        </a:rPr>
                        <a:t>Player D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3124"/>
                    </a:solidFill>
                  </a:tcPr>
                </a:tc>
              </a:tr>
              <a:tr h="426496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Platform 2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Contract 1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$###M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…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 ## / ## / 202#</a:t>
                      </a:r>
                    </a:p>
                  </a:txBody>
                  <a:tcPr marL="45720" marR="45720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200" b="0" i="1">
                          <a:solidFill>
                            <a:srgbClr val="000000"/>
                          </a:solidFill>
                          <a:latin typeface="+mj-lt"/>
                        </a:rPr>
                        <a:t>Player E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8A57"/>
                    </a:solidFill>
                  </a:tcPr>
                </a:tc>
              </a:tr>
              <a:tr h="426496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Inter" panose="02000503000000020004" pitchFamily="2" charset="0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Contract 2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$###M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…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 ## / ## / 202#</a:t>
                      </a:r>
                    </a:p>
                  </a:txBody>
                  <a:tcPr marL="45720" marR="45720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200" b="0" i="1">
                          <a:solidFill>
                            <a:srgbClr val="000000"/>
                          </a:solidFill>
                          <a:latin typeface="+mj-lt"/>
                        </a:rPr>
                        <a:t>Player F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8A57"/>
                    </a:solidFill>
                  </a:tcPr>
                </a:tc>
              </a:tr>
              <a:tr h="426496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Inter" panose="02000503000000020004" pitchFamily="2" charset="0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Contract 3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$###M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…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 ## / ## / 202#</a:t>
                      </a:r>
                    </a:p>
                  </a:txBody>
                  <a:tcPr marL="45720" marR="45720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200" b="0" i="1">
                          <a:solidFill>
                            <a:srgbClr val="000000"/>
                          </a:solidFill>
                          <a:latin typeface="+mj-lt"/>
                        </a:rPr>
                        <a:t>Player G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</a:tr>
              <a:tr h="426496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Inter" panose="02000503000000020004" pitchFamily="2" charset="0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Contract 4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$###M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…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Inter" panose="02000503000000020004" pitchFamily="2" charset="0"/>
                          <a:cs typeface="+mn-cs"/>
                        </a:rPr>
                        <a:t> ## / ## / 202#</a:t>
                      </a:r>
                    </a:p>
                  </a:txBody>
                  <a:tcPr marL="45720" marR="45720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US" sz="1200" b="0" i="1">
                          <a:solidFill>
                            <a:srgbClr val="000000"/>
                          </a:solidFill>
                          <a:latin typeface="+mj-lt"/>
                        </a:rPr>
                        <a:t>Player H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sp>
        <p:nvSpPr>
          <p:cNvPr id="305" name="Text 2"/>
          <p:cNvSpPr/>
          <p:nvPr/>
        </p:nvSpPr>
        <p:spPr>
          <a:xfrm>
            <a:off x="7955280" y="1203152"/>
            <a:ext cx="944880" cy="16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i="1">
                <a:solidFill>
                  <a:srgbClr val="000000"/>
                </a:solidFill>
                <a:latin typeface="+mj-lt"/>
                <a:ea typeface="Calibri" pitchFamily="34" charset="-122"/>
                <a:cs typeface="Calibri" pitchFamily="34" charset="-120"/>
              </a:rPr>
              <a:t>Budget outlook:	</a:t>
            </a:r>
            <a:endParaRPr lang="en-US" sz="800" i="1">
              <a:solidFill>
                <a:srgbClr val="000000"/>
              </a:solidFill>
              <a:latin typeface="+mj-lt"/>
            </a:endParaRPr>
          </a:p>
        </p:txBody>
      </p:sp>
      <p:sp>
        <p:nvSpPr>
          <p:cNvPr id="306" name="Shape 3"/>
          <p:cNvSpPr/>
          <p:nvPr/>
        </p:nvSpPr>
        <p:spPr>
          <a:xfrm>
            <a:off x="8927592" y="1203152"/>
            <a:ext cx="539496" cy="164880"/>
          </a:xfrm>
          <a:prstGeom prst="rect">
            <a:avLst/>
          </a:prstGeom>
          <a:solidFill>
            <a:srgbClr val="1B8A57"/>
          </a:solidFill>
          <a:ln/>
        </p:spPr>
        <p:txBody>
          <a:bodyPr/>
          <a:lstStyle/>
          <a:p>
            <a:endParaRPr lang="en-US" sz="800">
              <a:latin typeface="+mj-lt"/>
            </a:endParaRPr>
          </a:p>
        </p:txBody>
      </p:sp>
      <p:sp>
        <p:nvSpPr>
          <p:cNvPr id="307" name="Text 4"/>
          <p:cNvSpPr/>
          <p:nvPr/>
        </p:nvSpPr>
        <p:spPr>
          <a:xfrm>
            <a:off x="8927592" y="1203152"/>
            <a:ext cx="539496" cy="16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≤6</a:t>
            </a:r>
            <a:endParaRPr lang="en-US" sz="800">
              <a:latin typeface="+mj-lt"/>
            </a:endParaRPr>
          </a:p>
        </p:txBody>
      </p:sp>
      <p:sp>
        <p:nvSpPr>
          <p:cNvPr id="308" name="Shape 3"/>
          <p:cNvSpPr/>
          <p:nvPr/>
        </p:nvSpPr>
        <p:spPr>
          <a:xfrm>
            <a:off x="10854027" y="1203152"/>
            <a:ext cx="914400" cy="164880"/>
          </a:xfrm>
          <a:prstGeom prst="rect">
            <a:avLst/>
          </a:prstGeom>
          <a:solidFill>
            <a:srgbClr val="1B8A57"/>
          </a:solidFill>
          <a:ln/>
        </p:spPr>
        <p:txBody>
          <a:bodyPr anchor="ctr"/>
          <a:lstStyle/>
          <a:p>
            <a:pPr algn="ctr"/>
            <a:r>
              <a:rPr lang="en-US" sz="800" b="1">
                <a:solidFill>
                  <a:schemeClr val="bg1"/>
                </a:solidFill>
                <a:latin typeface="+mj-lt"/>
              </a:rPr>
              <a:t>Favorable</a:t>
            </a:r>
          </a:p>
        </p:txBody>
      </p:sp>
      <p:sp>
        <p:nvSpPr>
          <p:cNvPr id="309" name="Text 4"/>
          <p:cNvSpPr/>
          <p:nvPr/>
        </p:nvSpPr>
        <p:spPr>
          <a:xfrm>
            <a:off x="8927592" y="1203152"/>
            <a:ext cx="539496" cy="16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≤6</a:t>
            </a:r>
            <a:endParaRPr lang="en-US" sz="800">
              <a:latin typeface="+mj-lt"/>
            </a:endParaRPr>
          </a:p>
        </p:txBody>
      </p:sp>
      <p:sp>
        <p:nvSpPr>
          <p:cNvPr id="310" name="Shape 7"/>
          <p:cNvSpPr/>
          <p:nvPr/>
        </p:nvSpPr>
        <p:spPr>
          <a:xfrm>
            <a:off x="10061448" y="1203152"/>
            <a:ext cx="539496" cy="16488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US" sz="800">
              <a:latin typeface="+mj-lt"/>
            </a:endParaRPr>
          </a:p>
        </p:txBody>
      </p:sp>
      <p:sp>
        <p:nvSpPr>
          <p:cNvPr id="311" name="Text 8"/>
          <p:cNvSpPr/>
          <p:nvPr/>
        </p:nvSpPr>
        <p:spPr>
          <a:xfrm>
            <a:off x="9890809" y="1203152"/>
            <a:ext cx="914400" cy="164880"/>
          </a:xfrm>
          <a:prstGeom prst="rect">
            <a:avLst/>
          </a:prstGeom>
          <a:solidFill>
            <a:srgbClr val="BFBFBF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Unknown</a:t>
            </a:r>
            <a:endParaRPr lang="en-US" sz="800">
              <a:latin typeface="+mj-lt"/>
            </a:endParaRPr>
          </a:p>
        </p:txBody>
      </p:sp>
      <p:sp>
        <p:nvSpPr>
          <p:cNvPr id="312" name="Text 12"/>
          <p:cNvSpPr/>
          <p:nvPr/>
        </p:nvSpPr>
        <p:spPr>
          <a:xfrm>
            <a:off x="8927592" y="1203152"/>
            <a:ext cx="914400" cy="164880"/>
          </a:xfrm>
          <a:prstGeom prst="rect">
            <a:avLst/>
          </a:prstGeom>
          <a:solidFill>
            <a:srgbClr val="A33124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Unfavorable</a:t>
            </a:r>
            <a:endParaRPr lang="en-US" sz="800">
              <a:latin typeface="+mj-lt"/>
            </a:endParaRPr>
          </a:p>
        </p:txBody>
      </p:sp>
      <p:sp>
        <p:nvSpPr>
          <p:cNvPr id="30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>
                <a:solidFill>
                  <a:srgbClr val="44505C"/>
                </a:solidFill>
                <a:latin typeface="Arial"/>
                <a:ea typeface="Arial"/>
                <a:cs typeface="Arial"/>
              </a:rPr>
              <a:t>Executive Summary</a:t>
            </a:r>
            <a:r>
              <a:rPr lang="en-US" sz="1000" kern="120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TAM and SAM</a:t>
            </a:r>
          </a:p>
        </p:txBody>
      </p:sp>
      <p:sp>
        <p:nvSpPr>
          <p:cNvPr id="30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lIns="45720" tIns="9144" rIns="45720" bIns="9144" anchor="ctr"/>
          <a:lstStyle/>
          <a:p>
            <a:pPr algn="ctr"/>
            <a:r>
              <a:rPr lang="en-US" sz="1200" b="1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03" name="Title"/>
          <p:cNvSpPr>
            <a:spLocks noGrp="1"/>
          </p:cNvSpPr>
          <p:nvPr>
            <p:ph type="title"/>
          </p:nvPr>
        </p:nvSpPr>
        <p:spPr>
          <a:xfrm>
            <a:off x="453080" y="554500"/>
            <a:ext cx="11282362" cy="640080"/>
          </a:xfrm>
        </p:spPr>
        <p:txBody>
          <a:bodyPr vert="horz" rIns="0"/>
          <a:lstStyle/>
          <a:p>
            <a:r>
              <a:rPr lang="en-US">
                <a:solidFill>
                  <a:srgbClr val="162029"/>
                </a:solidFill>
                <a:ea typeface="Arial"/>
                <a:cs typeface="Arial"/>
              </a:rPr>
              <a:t>Contracts Outlook | …</a:t>
            </a:r>
            <a:endParaRPr lang="en-US" sz="2000" kern="1200">
              <a:solidFill>
                <a:srgbClr val="16202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5" name="Sources"/>
          <p:cNvSpPr txBox="1"/>
          <p:nvPr/>
        </p:nvSpPr>
        <p:spPr>
          <a:xfrm>
            <a:off x="453079" y="6085448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US" sz="800" kern="120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Navy SCN P-5c / P-40 budget justification, FY22–FY27, and PB27 FYDP outyears (FY28–FY31); FY26, PL 119-21 Sec. 20002; PB27 SCN, Columbia P-10 Strategic Outsourcing narrative; OUSD(C) Green Book Procurement deflators; Navy Shipbuilding Plan; PB27 SCN Exhibit P-10, LI 2122 (AP/LLTM Ship Construction EOQ); FFATA/FSRS subaward records, yard-prime construction PIIDs, FY22–FY25 action years (work-type shares)</a:t>
            </a:r>
          </a:p>
        </p:txBody>
      </p:sp>
      <p:sp>
        <p:nvSpPr>
          <p:cNvPr id="322" name="PrelimChip"/>
          <p:cNvSpPr txBox="1"/>
          <p:nvPr/>
        </p:nvSpPr>
        <p:spPr>
          <a:xfrm>
            <a:off x="176981" y="1111045"/>
            <a:ext cx="11808542" cy="5279923"/>
          </a:xfrm>
          <a:prstGeom prst="rect">
            <a:avLst/>
          </a:prstGeom>
          <a:solidFill>
            <a:srgbClr val="D9D9D9"/>
          </a:solidFill>
          <a:ln w="19050">
            <a:solidFill>
              <a:srgbClr val="000000"/>
            </a:solidFill>
          </a:ln>
        </p:spPr>
        <p:txBody>
          <a:bodyPr wrap="square" lIns="45720" tIns="9144" rIns="45720" bIns="9144" anchor="ctr"/>
          <a:lstStyle/>
          <a:p>
            <a:pPr algn="ctr"/>
            <a:r>
              <a:rPr lang="en-US" sz="1600" b="1" i="1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Placeholder – Table</a:t>
            </a:r>
          </a:p>
          <a:p>
            <a:pPr algn="ctr"/>
            <a:r>
              <a:rPr lang="en-US" sz="16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Rows: Specific Contracts</a:t>
            </a:r>
            <a:br>
              <a:rPr lang="en-US" sz="16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</a:br>
            <a:r>
              <a:rPr lang="en-US" sz="16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Columns: Contract, amount, recompete date, current awardee, budget alignment</a:t>
            </a:r>
            <a:br>
              <a:rPr lang="en-US" sz="16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</a:br>
            <a:r>
              <a:rPr lang="en-US" sz="16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Organized by platform</a:t>
            </a:r>
            <a:endParaRPr lang="en-US" sz="1600" b="1" i="1">
              <a:solidFill>
                <a:srgbClr val="000000"/>
              </a:solidFill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SAM Methodology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Outsourcing Ceiling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Outsourcing Ceiling | Discussion questions test whether the ceiling logic reflects shipbuilding reality.</a:t>
            </a:r>
          </a:p>
        </p:txBody>
      </p:sp>
      <p:graphicFrame>
        <p:nvGraphicFramePr>
          <p:cNvPr id="100" name="sam_methodology_outsourcing_ceiling_questions"/>
          <p:cNvGraphicFramePr>
            <a:graphicFrameLocks noGrp="1"/>
          </p:cNvGraphicFramePr>
          <p:nvPr/>
        </p:nvGraphicFramePr>
        <p:xfrm>
          <a:off x="452628" y="1822399"/>
          <a:ext cx="11282782" cy="3596335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080260"/>
                <a:gridCol w="6659575"/>
                <a:gridCol w="2542032"/>
              </a:tblGrid>
              <a:tr h="274320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Question area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Question to discuss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Model implication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Overall frame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Is an upper-bound ceiling a fair way to frame the question, separate from current outsourcing?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Confirms the output is an upside boundary, not a current-state estimate.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5935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Addressable base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Does Basic Construction capture the controllable build work, or does it exclude important supplier opportunities?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Validates the denominator before comparing classes or sizing headroom.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5935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Current baseline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How reliable is place-of-performance as a floor for work already distributed away from the prime yard?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Calibrates the starting point for the headroom comparison.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5935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Yard-bound core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What work truly cannot leave the yard because of integration, nuclear controls, alignment, test, certification, or yard know-how?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Sets the irreducible core that limits the ceiling.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5935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Movable work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Which build tasks can practically move outside the yard, and which are only theoretically movable?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Tests whether distributed labor is realistic capacity relief.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5935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Package economics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When work moves outside the yard, does material usually move with the package, or mainly labor / fabrication?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Translates movable work into supplier-dollar opportunity.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5935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Program differences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Where should Virginia, Columbia, and DDG-51 be treated differently: yard, class, block maturity, GFE mix, or supplier base?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Determines whether one model shape can travel across programs.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5935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Constraints + readout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What most limits more outsourcing, and should the gap to the ceiling read as opportunity, capacity headroom, or a screen?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Frames feasibility caveats and the external wording.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Award Analysis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Data Reference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Data Reference | Scope PIIDs, the Capability-Domain and Primary-Output archetypes, and the native subaward fields the analysis reads.</a:t>
            </a:r>
          </a:p>
        </p:txBody>
      </p:sp>
      <p:graphicFrame>
        <p:nvGraphicFramePr>
          <p:cNvPr id="100" name="data_ref_piids"/>
          <p:cNvGraphicFramePr>
            <a:graphicFrameLocks noGrp="1"/>
          </p:cNvGraphicFramePr>
          <p:nvPr/>
        </p:nvGraphicFramePr>
        <p:xfrm>
          <a:off x="452628" y="1280160"/>
          <a:ext cx="11282782" cy="9144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499616"/>
                <a:gridCol w="9782251"/>
              </a:tblGrid>
              <a:tr h="213055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Platform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Hull-builder new-construction contract PIIDs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3055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SSN · Virginia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N0002409C2104, N0002410C2118, N0002412C2115, N0002416C2111, N0002417C2100, N0002424C2110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3055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SSBN · Columbia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N0002417C2117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3055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 · DDG-51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N0002402C2303, N0002402C2304, N0002403C2306, N0002409C2302, N0002411C2305, N0002411C2307, N0002411C2309, N0002413C2305, N0002413C2307, N0002418C2305, N0002418C2307, N0002423C2305, N0002423C2307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1" name="data_ref_domains"/>
          <p:cNvGraphicFramePr>
            <a:graphicFrameLocks noGrp="1"/>
          </p:cNvGraphicFramePr>
          <p:nvPr/>
        </p:nvGraphicFramePr>
        <p:xfrm>
          <a:off x="452628" y="2331720"/>
          <a:ext cx="5486400" cy="237744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365760"/>
                <a:gridCol w="2560320"/>
                <a:gridCol w="2560320"/>
              </a:tblGrid>
              <a:tr h="182880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800"/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Capability Domain (D)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What it covers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D1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Hull, Structures &amp; Marine Fabrication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Hull, decks, weldments, foundations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D2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Propulsion &amp; Power-Transmission Machinery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Turbines, gears, shafting, propulsors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D3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 Power — Generation, Conversion &amp; Distribution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Generators, switchboards, switchgear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D4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Fluid, Pressure &amp; Piping Systems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Valves, pumps, manifolds, piping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D5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Thermal, HVAC &amp; Life-Support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Chillers, HVAC, heat exchangers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D6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Mission, Combat &amp; Communications Systems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Sonar, radar, fire-control, ordnance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D7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Electronic Components, Interconnect &amp; Cable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Penetrators, connectors, cable, harnesses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D8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Mechanical Handling &amp; Deck Machinery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Davits, cranes, hoists, handling gear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D9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Specialty Materials &amp; Precision Processes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Forging, casting, machining, composites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D10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Interiors, Habitability &amp; Outfitting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Furniture, berthing outfit, insulation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D11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Services &amp; Non-Material Support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Engineering, repair, logistics, software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D0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Unresolved / Insufficient Evidence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 single domain defensible; thin evidence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2" name="data_ref_outputs"/>
          <p:cNvGraphicFramePr>
            <a:graphicFrameLocks noGrp="1"/>
          </p:cNvGraphicFramePr>
          <p:nvPr/>
        </p:nvGraphicFramePr>
        <p:xfrm>
          <a:off x="6249010" y="2331720"/>
          <a:ext cx="5486400" cy="146304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365760"/>
                <a:gridCol w="2560320"/>
                <a:gridCol w="2560320"/>
              </a:tblGrid>
              <a:tr h="182880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800"/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Primary Output (P)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What it covers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P1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Materials, Stock &amp; Bulk Inputs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Plate, bar, forgings, castings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P2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Finished Parts &amp; Fabricated Components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Machined parts, fittings, pipe spools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P3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Functional Equipment &amp; Machinery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Engines, pumps, valves, switchboards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P4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Integrated Systems &amp; Configured Shipsets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Sonar shipsets, drive packages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P5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Outfitted Structures &amp; Ship Modules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Hull units, outfitted modules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P6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Services &amp; Technical Work Products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Engineering, test, install, repair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5448"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P0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Unresolved / Attribution-Only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 defensible output; attribution-only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3" name="data_ref_award_fields"/>
          <p:cNvGraphicFramePr>
            <a:graphicFrameLocks noGrp="1"/>
          </p:cNvGraphicFramePr>
          <p:nvPr/>
        </p:nvGraphicFramePr>
        <p:xfrm>
          <a:off x="452628" y="4846320"/>
          <a:ext cx="11282782" cy="1067105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499616"/>
                <a:gridCol w="3050438"/>
                <a:gridCol w="1499616"/>
                <a:gridCol w="1249985"/>
                <a:gridCol w="850392"/>
                <a:gridCol w="1000354"/>
                <a:gridCol w="2132381"/>
              </a:tblGrid>
              <a:tr h="213055"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PIID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Subawardee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Subawardee UEI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Award date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$M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NAICS-4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Report ID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3055"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N0002412C2115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BAKER SHEET METAL CORPORATION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RYRLL49HWN65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2016-02-03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0.085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3323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20692413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3055"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N0002412C2115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ARNOLD MAGNETICS CORPORATION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RK6GKSXPC8W7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2016-02-03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0.134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3359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20692322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3055"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N0002417C2117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SCOT FORGE COMPANY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N1PJDANWUJ61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2022-10-28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0.081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3321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20960134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3055"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N0002411C2307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WESTLAND TECHNOLOGIES, INC.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HMBSX7Z72UK4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2013-05-09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0.106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3262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algn="t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20684452</a:t>
                      </a:r>
                    </a:p>
                  </a:txBody>
                  <a:tcPr marL="45720" marR="4572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" name="Sources"/>
          <p:cNvSpPr txBox="1"/>
          <p:nvPr/>
        </p:nvSpPr>
        <p:spPr>
          <a:xfrm>
            <a:off x="452628" y="6172200"/>
            <a:ext cx="11282782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FSRS / SAM.gov first-tier subaward pull, hull-builder new-construction PIIDs (GDEB submarines; GD-BIW + HII-Ingalls DDG-51). Design-engineering, ship-alteration, planning-yard and GFE-prime contracts are out of scope — leaving Columbia one in-scope construction PIID. Capability Domain and Primary Output are classified downstream from the vendor, not the award text.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ronic Theme">
  <a:themeElements>
    <a:clrScheme name="Saronic">
      <a:dk1>
        <a:srgbClr val="162029"/>
      </a:dk1>
      <a:lt1>
        <a:srgbClr val="FFFFFF"/>
      </a:lt1>
      <a:dk2>
        <a:srgbClr val="44505C"/>
      </a:dk2>
      <a:lt2>
        <a:srgbClr val="F2F6FA"/>
      </a:lt2>
      <a:accent1>
        <a:srgbClr val="79838F"/>
      </a:accent1>
      <a:accent2>
        <a:srgbClr val="1D4D68"/>
      </a:accent2>
      <a:accent3>
        <a:srgbClr val="486D82"/>
      </a:accent3>
      <a:accent4>
        <a:srgbClr val="89A2B0"/>
      </a:accent4>
      <a:accent5>
        <a:srgbClr val="AFC2CC"/>
      </a:accent5>
      <a:accent6>
        <a:srgbClr val="D8E3EB"/>
      </a:accent6>
      <a:hlink>
        <a:srgbClr val="1D4D68"/>
      </a:hlink>
      <a:folHlink>
        <a:srgbClr val="89A2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799b1f-9a79-4131-92f4-d7e1a1e8fbf9}" enabled="0" method="" siteId="{97799b1f-9a79-4131-92f4-d7e1a1e8fb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deck_primary</Application>
  <PresentationFormat>Widescreen</PresentationFormat>
  <Slides>8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Distributed Shipbuilding - New Construction</dc:title>
  <dc:creator>deck_primary build_deck.py</dc:creator>
  <cp:lastModifiedBy>deck_primary build_deck.py</cp:lastModifiedBy>
  <cp:revision>1</cp:revision>
  <dcterms:created xsi:type="dcterms:W3CDTF">2026-06-26T13:45:45Z</dcterms:created>
  <dcterms:modified xsi:type="dcterms:W3CDTF">2026-06-26T13:45:45Z</dcterms:modified>
</cp:coreProperties>
</file>