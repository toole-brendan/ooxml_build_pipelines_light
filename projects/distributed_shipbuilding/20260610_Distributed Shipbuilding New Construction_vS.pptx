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jpg" ContentType="image/jpeg"/>
  <Default Extension="png" ContentType="image/png"/>
  <Default Extension="svg" ContentType="image/svg+xml"/>
  <Default Extension="emf" ContentType="image/x-emf"/>
  <Default Extension="bin" ContentType="application/vnd.openxmlformats-officedocument.oleObjec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embeddings/Microsoft_Excel_BinaryWorksheet1.xlsb" ContentType="application/vnd.ms-excel.sheet.binary.macroEnabled.12"/>
  <Override PartName="/ppt/embeddings/Microsoft_Excel_BinaryWorksheet2.xlsb" ContentType="application/vnd.ms-excel.sheet.binary.macroEnabled.12"/>
  <Override PartName="/ppt/embeddings/Microsoft_Excel_BinaryWorksheet3.xlsb" ContentType="application/vnd.ms-excel.sheet.binary.macroEnabled.12"/>
  <Override PartName="/ppt/embeddings/Microsoft_Excel_BinaryWorksheet4.xlsb" ContentType="application/vnd.ms-excel.sheet.binary.macroEnabled.12"/>
  <Override PartName="/ppt/embeddings/Microsoft_Excel_BinaryWorksheet5.xlsb" ContentType="application/vnd.ms-excel.sheet.binary.macroEnabled.12"/>
  <Override PartName="/ppt/embeddings/Microsoft_Excel_Worksheet6.xlsx" ContentType="application/vnd.openxmlformats-officedocument.spreadsheetml.sheet"/>
  <Override PartName="/ppt/theme/theme1.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handoutMasterIdLst>
    <p:handoutMasterId r:id="rId1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934200" cy="9220200"/>
  <p:defaultTextStyle>
    <a:defPPr>
      <a:defRPr lang="en-US"/>
    </a:defPPr>
    <a:lvl1pPr marL="0" algn="l" defTabSz="914400" rtl="0" eaLnBrk="1" latinLnBrk="0" hangingPunct="1">
      <a:defRPr sz="1800" kern="1200">
        <a:solidFill>
          <a:schemeClr val="tx1"/>
        </a:solidFill>
        <a:latin typeface="+mn-lt"/>
        <a:ea typeface="+mn-ea"/>
        <a:cs typeface="+mn-cs"/>
      </a:defRPr>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5972"/>
    <a:srgbClr val="6E91B1"/>
    <a:srgbClr val="B6C8D8"/>
    <a:srgbClr val="E2E9EF"/>
    <a:srgbClr val="F2F2F2"/>
    <a:srgbClr val="447BB2"/>
    <a:srgbClr val="D1D1D1"/>
    <a:srgbClr val="BFBFBF"/>
    <a:srgbClr val="1D4D68"/>
    <a:srgbClr val="7983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varScale="1">
        <p:scale>
          <a:sx n="97" d="100"/>
          <a:sy n="97" d="100"/>
        </p:scale>
        <p:origin x="1038" y="6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handoutMaster" Target="handoutMasters/handout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Worksheet1.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Worksheet2.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Worksheet3.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Worksheet4.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Worksheet5.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0057803468208091E-2"/>
          <c:y val="5.2052785923753668E-2"/>
          <c:w val="0.93988439306358385"/>
          <c:h val="0.89589442815249265"/>
        </c:manualLayout>
      </c:layout>
      <c:barChart>
        <c:barDir val="bar"/>
        <c:grouping val="stacked"/>
        <c:varyColors val="0"/>
        <c:ser>
          <c:idx val="0"/>
          <c:order val="0"/>
          <c:spPr>
            <a:no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00-2D0E-4053-98A3-9A79FB46A0C2}"/>
              </c:ext>
            </c:extLst>
          </c:dPt>
          <c:dPt>
            <c:idx val="3"/>
            <c:invertIfNegative val="0"/>
            <c:bubble3D val="0"/>
            <c:spPr>
              <a:solidFill>
                <a:schemeClr val="accent1"/>
              </a:solidFill>
              <a:ln>
                <a:noFill/>
              </a:ln>
            </c:spPr>
            <c:extLst>
              <c:ext xmlns:c16="http://schemas.microsoft.com/office/drawing/2014/chart" uri="{C3380CC4-5D6E-409C-BE32-E72D297353CC}">
                <c16:uniqueId val="{00000001-2D0E-4053-98A3-9A79FB46A0C2}"/>
              </c:ext>
            </c:extLst>
          </c:dPt>
          <c:dPt>
            <c:idx val="6"/>
            <c:invertIfNegative val="0"/>
            <c:bubble3D val="0"/>
            <c:spPr>
              <a:solidFill>
                <a:srgbClr val="000000"/>
              </a:solidFill>
              <a:ln>
                <a:noFill/>
              </a:ln>
            </c:spPr>
            <c:extLst>
              <c:ext xmlns:c16="http://schemas.microsoft.com/office/drawing/2014/chart" uri="{C3380CC4-5D6E-409C-BE32-E72D297353CC}">
                <c16:uniqueId val="{00000002-2D0E-4053-98A3-9A79FB46A0C2}"/>
              </c:ext>
            </c:extLst>
          </c:dPt>
          <c:dLbls>
            <c:dLbl>
              <c:idx val="0"/>
              <c:layout>
                <c:manualLayout>
                  <c:x val="0"/>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D0E-4053-98A3-9A79FB46A0C2}"/>
                </c:ext>
              </c:extLst>
            </c:dLbl>
            <c:dLbl>
              <c:idx val="3"/>
              <c:layout>
                <c:manualLayout>
                  <c:x val="0"/>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D0E-4053-98A3-9A79FB46A0C2}"/>
                </c:ext>
              </c:extLst>
            </c:dLbl>
            <c:dLbl>
              <c:idx val="6"/>
              <c:layout>
                <c:manualLayout>
                  <c:x val="0"/>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2D0E-4053-98A3-9A79FB46A0C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90.223471970000006</c:v>
                </c:pt>
                <c:pt idx="1">
                  <c:v>71.05496661892461</c:v>
                </c:pt>
                <c:pt idx="2">
                  <c:v>60.565462798924614</c:v>
                </c:pt>
                <c:pt idx="3">
                  <c:v>60.565462798924614</c:v>
                </c:pt>
                <c:pt idx="4">
                  <c:v>18.133846531924611</c:v>
                </c:pt>
                <c:pt idx="6">
                  <c:v>18.133846531924611</c:v>
                </c:pt>
              </c:numCache>
            </c:numRef>
          </c:val>
          <c:extLst>
            <c:ext xmlns:c16="http://schemas.microsoft.com/office/drawing/2014/chart" uri="{C3380CC4-5D6E-409C-BE32-E72D297353CC}">
              <c16:uniqueId val="{00000003-2D0E-4053-98A3-9A79FB46A0C2}"/>
            </c:ext>
          </c:extLst>
        </c:ser>
        <c:ser>
          <c:idx val="1"/>
          <c:order val="1"/>
          <c:spPr>
            <a:solidFill>
              <a:schemeClr val="accent3"/>
            </a:solidFill>
            <a:ln>
              <a:noFill/>
            </a:ln>
          </c:spPr>
          <c:invertIfNegative val="0"/>
          <c:dPt>
            <c:idx val="1"/>
            <c:invertIfNegative val="0"/>
            <c:bubble3D val="0"/>
            <c:spPr>
              <a:solidFill>
                <a:schemeClr val="accent5"/>
              </a:solidFill>
              <a:ln>
                <a:noFill/>
              </a:ln>
            </c:spPr>
            <c:extLst>
              <c:ext xmlns:c16="http://schemas.microsoft.com/office/drawing/2014/chart" uri="{C3380CC4-5D6E-409C-BE32-E72D297353CC}">
                <c16:uniqueId val="{00000004-2D0E-4053-98A3-9A79FB46A0C2}"/>
              </c:ext>
            </c:extLst>
          </c:dPt>
          <c:dPt>
            <c:idx val="2"/>
            <c:invertIfNegative val="0"/>
            <c:bubble3D val="0"/>
            <c:spPr>
              <a:solidFill>
                <a:schemeClr val="accent4"/>
              </a:solidFill>
              <a:ln>
                <a:noFill/>
              </a:ln>
            </c:spPr>
            <c:extLst>
              <c:ext xmlns:c16="http://schemas.microsoft.com/office/drawing/2014/chart" uri="{C3380CC4-5D6E-409C-BE32-E72D297353CC}">
                <c16:uniqueId val="{00000005-2D0E-4053-98A3-9A79FB46A0C2}"/>
              </c:ext>
            </c:extLst>
          </c:dPt>
          <c:dLbls>
            <c:dLbl>
              <c:idx val="1"/>
              <c:layout>
                <c:manualLayout>
                  <c:x val="0"/>
                  <c:y val="0"/>
                </c:manualLayout>
              </c:layout>
              <c:numFmt formatCode="#,##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2D0E-4053-98A3-9A79FB46A0C2}"/>
                </c:ext>
              </c:extLst>
            </c:dLbl>
            <c:dLbl>
              <c:idx val="2"/>
              <c:layout>
                <c:manualLayout>
                  <c:x val="0"/>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2D0E-4053-98A3-9A79FB46A0C2}"/>
                </c:ext>
              </c:extLst>
            </c:dLbl>
            <c:dLbl>
              <c:idx val="4"/>
              <c:layout>
                <c:manualLayout>
                  <c:x val="0"/>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2D0E-4053-98A3-9A79FB46A0C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1">
                  <c:v>19.168505351075396</c:v>
                </c:pt>
                <c:pt idx="2">
                  <c:v>10.489503819999996</c:v>
                </c:pt>
                <c:pt idx="4">
                  <c:v>42.431616267000003</c:v>
                </c:pt>
              </c:numCache>
            </c:numRef>
          </c:val>
          <c:extLst>
            <c:ext xmlns:c16="http://schemas.microsoft.com/office/drawing/2014/chart" uri="{C3380CC4-5D6E-409C-BE32-E72D297353CC}">
              <c16:uniqueId val="{00000007-2D0E-4053-98A3-9A79FB46A0C2}"/>
            </c:ext>
          </c:extLst>
        </c:ser>
        <c:dLbls>
          <c:showLegendKey val="0"/>
          <c:showVal val="0"/>
          <c:showCatName val="0"/>
          <c:showSerName val="0"/>
          <c:showPercent val="0"/>
          <c:showBubbleSize val="0"/>
        </c:dLbls>
        <c:gapWidth val="80"/>
        <c:overlap val="100"/>
        <c:axId val="1909047344"/>
        <c:axId val="1"/>
      </c:barChart>
      <c:catAx>
        <c:axId val="1909047344"/>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90.223471970000006"/>
          <c:min val="0"/>
        </c:scaling>
        <c:delete val="0"/>
        <c:axPos val="t"/>
        <c:majorGridlines>
          <c:spPr>
            <a:ln>
              <a:noFill/>
            </a:ln>
          </c:spPr>
        </c:majorGridlines>
        <c:numFmt formatCode="General" sourceLinked="1"/>
        <c:majorTickMark val="none"/>
        <c:minorTickMark val="none"/>
        <c:tickLblPos val="none"/>
        <c:spPr>
          <a:ln>
            <a:noFill/>
          </a:ln>
        </c:spPr>
        <c:crossAx val="1909047344"/>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0057803468208091E-2"/>
          <c:y val="5.2052785923753668E-2"/>
          <c:w val="0.93988439306358385"/>
          <c:h val="0.89589442815249265"/>
        </c:manualLayout>
      </c:layout>
      <c:barChart>
        <c:barDir val="bar"/>
        <c:grouping val="stacked"/>
        <c:varyColors val="0"/>
        <c:ser>
          <c:idx val="0"/>
          <c:order val="0"/>
          <c:spPr>
            <a:no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00-F470-4C54-B7A9-5CE2E3705EEB}"/>
              </c:ext>
            </c:extLst>
          </c:dPt>
          <c:dPt>
            <c:idx val="3"/>
            <c:invertIfNegative val="0"/>
            <c:bubble3D val="0"/>
            <c:spPr>
              <a:solidFill>
                <a:schemeClr val="accent1"/>
              </a:solidFill>
              <a:ln>
                <a:noFill/>
              </a:ln>
            </c:spPr>
            <c:extLst>
              <c:ext xmlns:c16="http://schemas.microsoft.com/office/drawing/2014/chart" uri="{C3380CC4-5D6E-409C-BE32-E72D297353CC}">
                <c16:uniqueId val="{00000001-F470-4C54-B7A9-5CE2E3705EEB}"/>
              </c:ext>
            </c:extLst>
          </c:dPt>
          <c:dPt>
            <c:idx val="6"/>
            <c:invertIfNegative val="0"/>
            <c:bubble3D val="0"/>
            <c:spPr>
              <a:solidFill>
                <a:srgbClr val="000000"/>
              </a:solidFill>
              <a:ln>
                <a:noFill/>
              </a:ln>
            </c:spPr>
            <c:extLst>
              <c:ext xmlns:c16="http://schemas.microsoft.com/office/drawing/2014/chart" uri="{C3380CC4-5D6E-409C-BE32-E72D297353CC}">
                <c16:uniqueId val="{00000002-F470-4C54-B7A9-5CE2E3705EEB}"/>
              </c:ext>
            </c:extLst>
          </c:dPt>
          <c:dLbls>
            <c:dLbl>
              <c:idx val="0"/>
              <c:layout>
                <c:manualLayout>
                  <c:x val="0"/>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470-4C54-B7A9-5CE2E3705EEB}"/>
                </c:ext>
              </c:extLst>
            </c:dLbl>
            <c:dLbl>
              <c:idx val="6"/>
              <c:layout>
                <c:manualLayout>
                  <c:x val="0.10809248554913295"/>
                  <c:y val="0"/>
                </c:manualLayout>
              </c:layout>
              <c:numFmt formatCode="#,##0;&quot;-&quot;#,##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F470-4C54-B7A9-5CE2E3705EE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36.592092200000003</c:v>
                </c:pt>
                <c:pt idx="1">
                  <c:v>24.866334960000003</c:v>
                </c:pt>
                <c:pt idx="2">
                  <c:v>22.590654890000003</c:v>
                </c:pt>
                <c:pt idx="3">
                  <c:v>22.590654890000003</c:v>
                </c:pt>
                <c:pt idx="4">
                  <c:v>6.4217296800000021</c:v>
                </c:pt>
                <c:pt idx="6">
                  <c:v>6.4217296800000057</c:v>
                </c:pt>
              </c:numCache>
            </c:numRef>
          </c:val>
          <c:extLst>
            <c:ext xmlns:c16="http://schemas.microsoft.com/office/drawing/2014/chart" uri="{C3380CC4-5D6E-409C-BE32-E72D297353CC}">
              <c16:uniqueId val="{00000003-F470-4C54-B7A9-5CE2E3705EEB}"/>
            </c:ext>
          </c:extLst>
        </c:ser>
        <c:ser>
          <c:idx val="1"/>
          <c:order val="1"/>
          <c:spPr>
            <a:solidFill>
              <a:schemeClr val="accent3"/>
            </a:solidFill>
            <a:ln>
              <a:noFill/>
            </a:ln>
          </c:spPr>
          <c:invertIfNegative val="0"/>
          <c:dPt>
            <c:idx val="0"/>
            <c:invertIfNegative val="0"/>
            <c:bubble3D val="0"/>
            <c:spPr>
              <a:pattFill prst="ltUpDiag">
                <a:fgClr>
                  <a:schemeClr val="tx1"/>
                </a:fgClr>
                <a:bgClr>
                  <a:schemeClr val="bg1"/>
                </a:bgClr>
              </a:pattFill>
              <a:ln>
                <a:noFill/>
              </a:ln>
            </c:spPr>
            <c:extLst>
              <c:ext xmlns:c16="http://schemas.microsoft.com/office/drawing/2014/chart" uri="{C3380CC4-5D6E-409C-BE32-E72D297353CC}">
                <c16:uniqueId val="{00000004-F470-4C54-B7A9-5CE2E3705EEB}"/>
              </c:ext>
            </c:extLst>
          </c:dPt>
          <c:dPt>
            <c:idx val="1"/>
            <c:invertIfNegative val="0"/>
            <c:bubble3D val="0"/>
            <c:spPr>
              <a:solidFill>
                <a:schemeClr val="accent5"/>
              </a:solidFill>
              <a:ln>
                <a:noFill/>
              </a:ln>
            </c:spPr>
            <c:extLst>
              <c:ext xmlns:c16="http://schemas.microsoft.com/office/drawing/2014/chart" uri="{C3380CC4-5D6E-409C-BE32-E72D297353CC}">
                <c16:uniqueId val="{00000005-F470-4C54-B7A9-5CE2E3705EEB}"/>
              </c:ext>
            </c:extLst>
          </c:dPt>
          <c:dPt>
            <c:idx val="2"/>
            <c:invertIfNegative val="0"/>
            <c:bubble3D val="0"/>
            <c:spPr>
              <a:solidFill>
                <a:schemeClr val="accent4"/>
              </a:solidFill>
              <a:ln>
                <a:noFill/>
              </a:ln>
            </c:spPr>
            <c:extLst>
              <c:ext xmlns:c16="http://schemas.microsoft.com/office/drawing/2014/chart" uri="{C3380CC4-5D6E-409C-BE32-E72D297353CC}">
                <c16:uniqueId val="{00000006-F470-4C54-B7A9-5CE2E3705EEB}"/>
              </c:ext>
            </c:extLst>
          </c:dPt>
          <c:dLbls>
            <c:dLbl>
              <c:idx val="1"/>
              <c:layout>
                <c:manualLayout>
                  <c:x val="0"/>
                  <c:y val="0"/>
                </c:manualLayout>
              </c:layout>
              <c:numFmt formatCode="#,##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F470-4C54-B7A9-5CE2E3705EEB}"/>
                </c:ext>
              </c:extLst>
            </c:dLbl>
            <c:dLbl>
              <c:idx val="2"/>
              <c:layout>
                <c:manualLayout>
                  <c:x val="0"/>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F470-4C54-B7A9-5CE2E3705EEB}"/>
                </c:ext>
              </c:extLst>
            </c:dLbl>
            <c:dLbl>
              <c:idx val="4"/>
              <c:layout>
                <c:manualLayout>
                  <c:x val="-5.7803468208092489E-4"/>
                  <c:y val="0"/>
                </c:manualLayout>
              </c:layout>
              <c:numFmt formatCode="#,##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F470-4C54-B7A9-5CE2E3705EE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0">
                  <c:v>1.0423299999999998</c:v>
                </c:pt>
                <c:pt idx="1">
                  <c:v>12.76808724</c:v>
                </c:pt>
                <c:pt idx="2">
                  <c:v>2.2756800699999999</c:v>
                </c:pt>
                <c:pt idx="4">
                  <c:v>16.168925210000001</c:v>
                </c:pt>
              </c:numCache>
            </c:numRef>
          </c:val>
          <c:extLst>
            <c:ext xmlns:c16="http://schemas.microsoft.com/office/drawing/2014/chart" uri="{C3380CC4-5D6E-409C-BE32-E72D297353CC}">
              <c16:uniqueId val="{00000008-F470-4C54-B7A9-5CE2E3705EEB}"/>
            </c:ext>
          </c:extLst>
        </c:ser>
        <c:dLbls>
          <c:showLegendKey val="0"/>
          <c:showVal val="0"/>
          <c:showCatName val="0"/>
          <c:showSerName val="0"/>
          <c:showPercent val="0"/>
          <c:showBubbleSize val="0"/>
        </c:dLbls>
        <c:gapWidth val="80"/>
        <c:overlap val="100"/>
        <c:axId val="675489231"/>
        <c:axId val="1"/>
      </c:barChart>
      <c:catAx>
        <c:axId val="675489231"/>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7.634422200000003"/>
          <c:min val="0"/>
        </c:scaling>
        <c:delete val="0"/>
        <c:axPos val="t"/>
        <c:majorGridlines>
          <c:spPr>
            <a:ln>
              <a:noFill/>
            </a:ln>
          </c:spPr>
        </c:majorGridlines>
        <c:numFmt formatCode="General" sourceLinked="1"/>
        <c:majorTickMark val="none"/>
        <c:minorTickMark val="none"/>
        <c:tickLblPos val="none"/>
        <c:spPr>
          <a:ln>
            <a:noFill/>
          </a:ln>
        </c:spPr>
        <c:crossAx val="675489231"/>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5557586837294336E-2"/>
          <c:y val="5.1505259339862171E-2"/>
          <c:w val="0.8954296160877514"/>
          <c:h val="0.89698948132027567"/>
        </c:manualLayout>
      </c:layout>
      <c:barChart>
        <c:barDir val="col"/>
        <c:grouping val="stacked"/>
        <c:varyColors val="0"/>
        <c:ser>
          <c:idx val="0"/>
          <c:order val="0"/>
          <c:spPr>
            <a:solidFill>
              <a:schemeClr val="accent1"/>
            </a:solidFill>
            <a:ln>
              <a:noFill/>
            </a:ln>
          </c:spPr>
          <c:invertIfNegative val="0"/>
          <c:dLbls>
            <c:dLbl>
              <c:idx val="0"/>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77EE-46FF-BF6B-B260BDD9C016}"/>
                </c:ext>
              </c:extLst>
            </c:dLbl>
            <c:dLbl>
              <c:idx val="1"/>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7EE-46FF-BF6B-B260BDD9C016}"/>
                </c:ext>
              </c:extLst>
            </c:dLbl>
            <c:dLbl>
              <c:idx val="2"/>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77EE-46FF-BF6B-B260BDD9C01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0.68784013200000005</c:v>
                </c:pt>
                <c:pt idx="1">
                  <c:v>2.0152642570000001</c:v>
                </c:pt>
                <c:pt idx="2">
                  <c:v>3.5796119719999999</c:v>
                </c:pt>
              </c:numCache>
            </c:numRef>
          </c:val>
          <c:extLst>
            <c:ext xmlns:c16="http://schemas.microsoft.com/office/drawing/2014/chart" uri="{C3380CC4-5D6E-409C-BE32-E72D297353CC}">
              <c16:uniqueId val="{00000003-77EE-46FF-BF6B-B260BDD9C016}"/>
            </c:ext>
          </c:extLst>
        </c:ser>
        <c:ser>
          <c:idx val="1"/>
          <c:order val="1"/>
          <c:spPr>
            <a:solidFill>
              <a:schemeClr val="accent2"/>
            </a:solidFill>
            <a:ln>
              <a:noFill/>
            </a:ln>
          </c:spPr>
          <c:invertIfNegative val="0"/>
          <c:dLbls>
            <c:dLbl>
              <c:idx val="0"/>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77EE-46FF-BF6B-B260BDD9C016}"/>
                </c:ext>
              </c:extLst>
            </c:dLbl>
            <c:dLbl>
              <c:idx val="1"/>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77EE-46FF-BF6B-B260BDD9C016}"/>
                </c:ext>
              </c:extLst>
            </c:dLbl>
            <c:dLbl>
              <c:idx val="2"/>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77EE-46FF-BF6B-B260BDD9C01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0.60391566499999993</c:v>
                </c:pt>
                <c:pt idx="1">
                  <c:v>0.91896297599999999</c:v>
                </c:pt>
                <c:pt idx="2">
                  <c:v>2.7926330600000004</c:v>
                </c:pt>
              </c:numCache>
            </c:numRef>
          </c:val>
          <c:extLst>
            <c:ext xmlns:c16="http://schemas.microsoft.com/office/drawing/2014/chart" uri="{C3380CC4-5D6E-409C-BE32-E72D297353CC}">
              <c16:uniqueId val="{00000007-77EE-46FF-BF6B-B260BDD9C016}"/>
            </c:ext>
          </c:extLst>
        </c:ser>
        <c:ser>
          <c:idx val="2"/>
          <c:order val="2"/>
          <c:spPr>
            <a:solidFill>
              <a:schemeClr val="accent3"/>
            </a:solidFill>
            <a:ln>
              <a:noFill/>
            </a:ln>
          </c:spPr>
          <c:invertIfNegative val="0"/>
          <c:dLbls>
            <c:dLbl>
              <c:idx val="1"/>
              <c:layout>
                <c:manualLayout>
                  <c:x val="-4.1316270566727605E-2"/>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77EE-46FF-BF6B-B260BDD9C016}"/>
                </c:ext>
              </c:extLst>
            </c:dLbl>
            <c:dLbl>
              <c:idx val="2"/>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77EE-46FF-BF6B-B260BDD9C01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Sheet1!$A$3:$C$3</c:f>
              <c:numCache>
                <c:formatCode>General</c:formatCode>
                <c:ptCount val="3"/>
                <c:pt idx="0">
                  <c:v>0.37146878000000005</c:v>
                </c:pt>
                <c:pt idx="1">
                  <c:v>0.69112669100000002</c:v>
                </c:pt>
                <c:pt idx="2">
                  <c:v>2.9251053250000005</c:v>
                </c:pt>
              </c:numCache>
            </c:numRef>
          </c:val>
          <c:extLst>
            <c:ext xmlns:c16="http://schemas.microsoft.com/office/drawing/2014/chart" uri="{C3380CC4-5D6E-409C-BE32-E72D297353CC}">
              <c16:uniqueId val="{0000000A-77EE-46FF-BF6B-B260BDD9C016}"/>
            </c:ext>
          </c:extLst>
        </c:ser>
        <c:ser>
          <c:idx val="3"/>
          <c:order val="3"/>
          <c:spPr>
            <a:solidFill>
              <a:schemeClr val="accent4"/>
            </a:solidFill>
            <a:ln>
              <a:noFill/>
            </a:ln>
          </c:spPr>
          <c:invertIfNegative val="0"/>
          <c:dLbls>
            <c:dLbl>
              <c:idx val="0"/>
              <c:layout>
                <c:manualLayout>
                  <c:x val="0"/>
                  <c:y val="-3.6271309394269132E-4"/>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77EE-46FF-BF6B-B260BDD9C016}"/>
                </c:ext>
              </c:extLst>
            </c:dLbl>
            <c:dLbl>
              <c:idx val="2"/>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77EE-46FF-BF6B-B260BDD9C01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Sheet1!$A$4:$C$4</c:f>
              <c:numCache>
                <c:formatCode>General</c:formatCode>
                <c:ptCount val="3"/>
                <c:pt idx="0">
                  <c:v>2.2607818750000002</c:v>
                </c:pt>
                <c:pt idx="1">
                  <c:v>0.10813463999999984</c:v>
                </c:pt>
                <c:pt idx="2">
                  <c:v>0.60014579999999995</c:v>
                </c:pt>
              </c:numCache>
            </c:numRef>
          </c:val>
          <c:extLst>
            <c:ext xmlns:c16="http://schemas.microsoft.com/office/drawing/2014/chart" uri="{C3380CC4-5D6E-409C-BE32-E72D297353CC}">
              <c16:uniqueId val="{0000000D-77EE-46FF-BF6B-B260BDD9C016}"/>
            </c:ext>
          </c:extLst>
        </c:ser>
        <c:ser>
          <c:idx val="4"/>
          <c:order val="4"/>
          <c:spPr>
            <a:solidFill>
              <a:schemeClr val="accent5"/>
            </a:solidFill>
            <a:ln>
              <a:noFill/>
            </a:ln>
          </c:spPr>
          <c:invertIfNegative val="0"/>
          <c:dLbls>
            <c:dLbl>
              <c:idx val="1"/>
              <c:layout>
                <c:manualLayout>
                  <c:x val="0.11078610603290677"/>
                  <c:y val="9.4305404425099743E-3"/>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77EE-46FF-BF6B-B260BDD9C016}"/>
                </c:ext>
              </c:extLst>
            </c:dLbl>
            <c:dLbl>
              <c:idx val="2"/>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77EE-46FF-BF6B-B260BDD9C01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Sheet1!$A$5:$C$5</c:f>
              <c:numCache>
                <c:formatCode>General</c:formatCode>
                <c:ptCount val="3"/>
                <c:pt idx="0">
                  <c:v>9.6669270000000473E-3</c:v>
                </c:pt>
                <c:pt idx="1">
                  <c:v>6.8406289999999981E-2</c:v>
                </c:pt>
                <c:pt idx="2">
                  <c:v>0.89459187900000003</c:v>
                </c:pt>
              </c:numCache>
            </c:numRef>
          </c:val>
          <c:extLst>
            <c:ext xmlns:c16="http://schemas.microsoft.com/office/drawing/2014/chart" uri="{C3380CC4-5D6E-409C-BE32-E72D297353CC}">
              <c16:uniqueId val="{00000010-77EE-46FF-BF6B-B260BDD9C016}"/>
            </c:ext>
          </c:extLst>
        </c:ser>
        <c:ser>
          <c:idx val="5"/>
          <c:order val="5"/>
          <c:spPr>
            <a:solidFill>
              <a:schemeClr val="accent6"/>
            </a:solidFill>
            <a:ln>
              <a:noFill/>
            </a:ln>
          </c:spPr>
          <c:invertIfNegative val="0"/>
          <c:dLbls>
            <c:dLbl>
              <c:idx val="2"/>
              <c:layout>
                <c:manualLayout>
                  <c:x val="-4.1316270566727605E-2"/>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77EE-46FF-BF6B-B260BDD9C01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Sheet1!$A$6:$C$6</c:f>
              <c:numCache>
                <c:formatCode>General</c:formatCode>
                <c:ptCount val="3"/>
                <c:pt idx="0">
                  <c:v>0.14655910400000005</c:v>
                </c:pt>
                <c:pt idx="1">
                  <c:v>0.17871781699999989</c:v>
                </c:pt>
                <c:pt idx="2">
                  <c:v>0.60710954199999989</c:v>
                </c:pt>
              </c:numCache>
            </c:numRef>
          </c:val>
          <c:extLst>
            <c:ext xmlns:c16="http://schemas.microsoft.com/office/drawing/2014/chart" uri="{C3380CC4-5D6E-409C-BE32-E72D297353CC}">
              <c16:uniqueId val="{00000012-77EE-46FF-BF6B-B260BDD9C016}"/>
            </c:ext>
          </c:extLst>
        </c:ser>
        <c:ser>
          <c:idx val="6"/>
          <c:order val="6"/>
          <c:spPr>
            <a:solidFill>
              <a:schemeClr val="hlink"/>
            </a:solidFill>
            <a:ln>
              <a:noFill/>
            </a:ln>
          </c:spPr>
          <c:invertIfNegative val="0"/>
          <c:dLbls>
            <c:dLbl>
              <c:idx val="0"/>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77EE-46FF-BF6B-B260BDD9C016}"/>
                </c:ext>
              </c:extLst>
            </c:dLbl>
            <c:dLbl>
              <c:idx val="1"/>
              <c:layout>
                <c:manualLayout>
                  <c:x val="0.11078610603290677"/>
                  <c:y val="-9.0678273485672832E-3"/>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77EE-46FF-BF6B-B260BDD9C01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Sheet1!$A$7:$C$7</c:f>
              <c:numCache>
                <c:formatCode>General</c:formatCode>
                <c:ptCount val="3"/>
                <c:pt idx="0">
                  <c:v>0.98415003800000012</c:v>
                </c:pt>
                <c:pt idx="1">
                  <c:v>8.6917623000000166E-2</c:v>
                </c:pt>
                <c:pt idx="2">
                  <c:v>0.10459976900000001</c:v>
                </c:pt>
              </c:numCache>
            </c:numRef>
          </c:val>
          <c:extLst>
            <c:ext xmlns:c16="http://schemas.microsoft.com/office/drawing/2014/chart" uri="{C3380CC4-5D6E-409C-BE32-E72D297353CC}">
              <c16:uniqueId val="{00000015-77EE-46FF-BF6B-B260BDD9C016}"/>
            </c:ext>
          </c:extLst>
        </c:ser>
        <c:ser>
          <c:idx val="7"/>
          <c:order val="7"/>
          <c:spPr>
            <a:pattFill prst="ltUpDiag">
              <a:fgClr>
                <a:schemeClr val="tx1"/>
              </a:fgClr>
              <a:bgClr>
                <a:schemeClr val="bg1"/>
              </a:bgClr>
            </a:pattFill>
            <a:ln>
              <a:noFill/>
            </a:ln>
          </c:spPr>
          <c:invertIfNegative val="0"/>
          <c:val>
            <c:numRef>
              <c:f>Sheet1!$A$8:$C$8</c:f>
              <c:numCache>
                <c:formatCode>General</c:formatCode>
                <c:ptCount val="3"/>
                <c:pt idx="0">
                  <c:v>1.3573471589999997</c:v>
                </c:pt>
                <c:pt idx="1">
                  <c:v>0.43955620699999987</c:v>
                </c:pt>
                <c:pt idx="2">
                  <c:v>2.1229626849999992</c:v>
                </c:pt>
              </c:numCache>
            </c:numRef>
          </c:val>
          <c:extLst>
            <c:ext xmlns:c16="http://schemas.microsoft.com/office/drawing/2014/chart" uri="{C3380CC4-5D6E-409C-BE32-E72D297353CC}">
              <c16:uniqueId val="{00000016-77EE-46FF-BF6B-B260BDD9C016}"/>
            </c:ext>
          </c:extLst>
        </c:ser>
        <c:dLbls>
          <c:showLegendKey val="0"/>
          <c:showVal val="0"/>
          <c:showCatName val="0"/>
          <c:showSerName val="0"/>
          <c:showPercent val="0"/>
          <c:showBubbleSize val="0"/>
        </c:dLbls>
        <c:gapWidth val="80"/>
        <c:overlap val="100"/>
        <c:axId val="1607055904"/>
        <c:axId val="1"/>
      </c:barChart>
      <c:catAx>
        <c:axId val="1607055904"/>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4"/>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000" kern="1200">
                <a:solidFill>
                  <a:schemeClr val="tx2"/>
                </a:solidFill>
                <a:latin typeface="+mn-lt"/>
                <a:ea typeface="+mn-ea"/>
                <a:cs typeface="+mn-cs"/>
              </a:defRPr>
            </a:pPr>
            <a:endParaRPr lang="en-US"/>
          </a:p>
        </c:txPr>
        <c:crossAx val="1607055904"/>
        <c:crosses val="min"/>
        <c:crossBetween val="between"/>
        <c:majorUnit val="1"/>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3385647025253248E-2"/>
          <c:y val="9.1259640102827763E-2"/>
          <c:w val="0.95919532030246824"/>
          <c:h val="0.81748071979434445"/>
        </c:manualLayout>
      </c:layout>
      <c:barChart>
        <c:barDir val="col"/>
        <c:grouping val="stacked"/>
        <c:varyColors val="0"/>
        <c:ser>
          <c:idx val="0"/>
          <c:order val="0"/>
          <c:spPr>
            <a:solidFill>
              <a:schemeClr val="accent3"/>
            </a:solidFill>
            <a:ln>
              <a:noFill/>
            </a:ln>
          </c:spPr>
          <c:invertIfNegative val="0"/>
          <c:dPt>
            <c:idx val="0"/>
            <c:invertIfNegative val="0"/>
            <c:bubble3D val="0"/>
            <c:spPr>
              <a:solidFill>
                <a:schemeClr val="accent4"/>
              </a:solidFill>
              <a:ln>
                <a:noFill/>
              </a:ln>
            </c:spPr>
            <c:extLst>
              <c:ext xmlns:c16="http://schemas.microsoft.com/office/drawing/2014/chart" uri="{C3380CC4-5D6E-409C-BE32-E72D297353CC}">
                <c16:uniqueId val="{00000000-DF20-4971-848F-1DAC26978B78}"/>
              </c:ext>
            </c:extLst>
          </c:dPt>
          <c:dPt>
            <c:idx val="4"/>
            <c:invertIfNegative val="0"/>
            <c:bubble3D val="0"/>
            <c:spPr>
              <a:solidFill>
                <a:schemeClr val="accent4"/>
              </a:solidFill>
              <a:ln>
                <a:noFill/>
              </a:ln>
            </c:spPr>
            <c:extLst>
              <c:ext xmlns:c16="http://schemas.microsoft.com/office/drawing/2014/chart" uri="{C3380CC4-5D6E-409C-BE32-E72D297353CC}">
                <c16:uniqueId val="{00000001-DF20-4971-848F-1DAC26978B78}"/>
              </c:ext>
            </c:extLst>
          </c:dPt>
          <c:dPt>
            <c:idx val="8"/>
            <c:invertIfNegative val="0"/>
            <c:bubble3D val="0"/>
            <c:spPr>
              <a:solidFill>
                <a:schemeClr val="accent4"/>
              </a:solidFill>
              <a:ln>
                <a:noFill/>
              </a:ln>
            </c:spPr>
            <c:extLst>
              <c:ext xmlns:c16="http://schemas.microsoft.com/office/drawing/2014/chart" uri="{C3380CC4-5D6E-409C-BE32-E72D297353CC}">
                <c16:uniqueId val="{00000002-DF20-4971-848F-1DAC26978B78}"/>
              </c:ext>
            </c:extLst>
          </c:dPt>
          <c:dPt>
            <c:idx val="10"/>
            <c:invertIfNegative val="0"/>
            <c:bubble3D val="0"/>
            <c:spPr>
              <a:solidFill>
                <a:schemeClr val="accent2"/>
              </a:solidFill>
              <a:ln>
                <a:noFill/>
              </a:ln>
            </c:spPr>
            <c:extLst>
              <c:ext xmlns:c16="http://schemas.microsoft.com/office/drawing/2014/chart" uri="{C3380CC4-5D6E-409C-BE32-E72D297353CC}">
                <c16:uniqueId val="{00000003-DF20-4971-848F-1DAC26978B78}"/>
              </c:ext>
            </c:extLst>
          </c:dPt>
          <c:dPt>
            <c:idx val="12"/>
            <c:invertIfNegative val="0"/>
            <c:bubble3D val="0"/>
            <c:spPr>
              <a:solidFill>
                <a:schemeClr val="accent4"/>
              </a:solidFill>
              <a:ln>
                <a:noFill/>
              </a:ln>
            </c:spPr>
            <c:extLst>
              <c:ext xmlns:c16="http://schemas.microsoft.com/office/drawing/2014/chart" uri="{C3380CC4-5D6E-409C-BE32-E72D297353CC}">
                <c16:uniqueId val="{00000004-DF20-4971-848F-1DAC26978B78}"/>
              </c:ext>
            </c:extLst>
          </c:dPt>
          <c:dPt>
            <c:idx val="16"/>
            <c:invertIfNegative val="0"/>
            <c:bubble3D val="0"/>
            <c:spPr>
              <a:solidFill>
                <a:schemeClr val="accent4"/>
              </a:solidFill>
              <a:ln>
                <a:noFill/>
              </a:ln>
            </c:spPr>
            <c:extLst>
              <c:ext xmlns:c16="http://schemas.microsoft.com/office/drawing/2014/chart" uri="{C3380CC4-5D6E-409C-BE32-E72D297353CC}">
                <c16:uniqueId val="{00000005-DF20-4971-848F-1DAC26978B78}"/>
              </c:ext>
            </c:extLst>
          </c:dPt>
          <c:dPt>
            <c:idx val="18"/>
            <c:invertIfNegative val="0"/>
            <c:bubble3D val="0"/>
            <c:spPr>
              <a:solidFill>
                <a:schemeClr val="accent2"/>
              </a:solidFill>
              <a:ln>
                <a:noFill/>
              </a:ln>
            </c:spPr>
            <c:extLst>
              <c:ext xmlns:c16="http://schemas.microsoft.com/office/drawing/2014/chart" uri="{C3380CC4-5D6E-409C-BE32-E72D297353CC}">
                <c16:uniqueId val="{00000006-DF20-4971-848F-1DAC26978B78}"/>
              </c:ext>
            </c:extLst>
          </c:dPt>
          <c:dPt>
            <c:idx val="20"/>
            <c:invertIfNegative val="0"/>
            <c:bubble3D val="0"/>
            <c:spPr>
              <a:solidFill>
                <a:schemeClr val="accent4"/>
              </a:solidFill>
              <a:ln>
                <a:noFill/>
              </a:ln>
            </c:spPr>
            <c:extLst>
              <c:ext xmlns:c16="http://schemas.microsoft.com/office/drawing/2014/chart" uri="{C3380CC4-5D6E-409C-BE32-E72D297353CC}">
                <c16:uniqueId val="{00000007-DF20-4971-848F-1DAC26978B78}"/>
              </c:ext>
            </c:extLst>
          </c:dPt>
          <c:dPt>
            <c:idx val="22"/>
            <c:invertIfNegative val="0"/>
            <c:bubble3D val="0"/>
            <c:spPr>
              <a:solidFill>
                <a:schemeClr val="accent2"/>
              </a:solidFill>
              <a:ln>
                <a:noFill/>
              </a:ln>
            </c:spPr>
            <c:extLst>
              <c:ext xmlns:c16="http://schemas.microsoft.com/office/drawing/2014/chart" uri="{C3380CC4-5D6E-409C-BE32-E72D297353CC}">
                <c16:uniqueId val="{00000008-DF20-4971-848F-1DAC26978B78}"/>
              </c:ext>
            </c:extLst>
          </c:dPt>
          <c:dPt>
            <c:idx val="24"/>
            <c:invertIfNegative val="0"/>
            <c:bubble3D val="0"/>
            <c:spPr>
              <a:solidFill>
                <a:srgbClr val="BEBEBE"/>
              </a:solidFill>
              <a:ln>
                <a:noFill/>
              </a:ln>
            </c:spPr>
            <c:extLst>
              <c:ext xmlns:c16="http://schemas.microsoft.com/office/drawing/2014/chart" uri="{C3380CC4-5D6E-409C-BE32-E72D297353CC}">
                <c16:uniqueId val="{00000009-DF20-4971-848F-1DAC26978B78}"/>
              </c:ext>
            </c:extLst>
          </c:dPt>
          <c:dPt>
            <c:idx val="25"/>
            <c:invertIfNegative val="0"/>
            <c:bubble3D val="0"/>
            <c:spPr>
              <a:solidFill>
                <a:srgbClr val="A1A1A1"/>
              </a:solidFill>
              <a:ln>
                <a:noFill/>
              </a:ln>
            </c:spPr>
            <c:extLst>
              <c:ext xmlns:c16="http://schemas.microsoft.com/office/drawing/2014/chart" uri="{C3380CC4-5D6E-409C-BE32-E72D297353CC}">
                <c16:uniqueId val="{0000000A-DF20-4971-848F-1DAC26978B78}"/>
              </c:ext>
            </c:extLst>
          </c:dPt>
          <c:dPt>
            <c:idx val="26"/>
            <c:invertIfNegative val="0"/>
            <c:bubble3D val="0"/>
            <c:spPr>
              <a:solidFill>
                <a:srgbClr val="000000"/>
              </a:solidFill>
              <a:ln>
                <a:noFill/>
              </a:ln>
            </c:spPr>
            <c:extLst>
              <c:ext xmlns:c16="http://schemas.microsoft.com/office/drawing/2014/chart" uri="{C3380CC4-5D6E-409C-BE32-E72D297353CC}">
                <c16:uniqueId val="{0000000B-DF20-4971-848F-1DAC26978B78}"/>
              </c:ext>
            </c:extLst>
          </c:dPt>
          <c:dPt>
            <c:idx val="28"/>
            <c:invertIfNegative val="0"/>
            <c:bubble3D val="0"/>
            <c:spPr>
              <a:solidFill>
                <a:srgbClr val="BEBEBE"/>
              </a:solidFill>
              <a:ln>
                <a:noFill/>
              </a:ln>
            </c:spPr>
            <c:extLst>
              <c:ext xmlns:c16="http://schemas.microsoft.com/office/drawing/2014/chart" uri="{C3380CC4-5D6E-409C-BE32-E72D297353CC}">
                <c16:uniqueId val="{0000000C-DF20-4971-848F-1DAC26978B78}"/>
              </c:ext>
            </c:extLst>
          </c:dPt>
          <c:dPt>
            <c:idx val="29"/>
            <c:invertIfNegative val="0"/>
            <c:bubble3D val="0"/>
            <c:spPr>
              <a:solidFill>
                <a:srgbClr val="A1A1A1"/>
              </a:solidFill>
              <a:ln>
                <a:noFill/>
              </a:ln>
            </c:spPr>
            <c:extLst>
              <c:ext xmlns:c16="http://schemas.microsoft.com/office/drawing/2014/chart" uri="{C3380CC4-5D6E-409C-BE32-E72D297353CC}">
                <c16:uniqueId val="{0000000D-DF20-4971-848F-1DAC26978B78}"/>
              </c:ext>
            </c:extLst>
          </c:dPt>
          <c:dPt>
            <c:idx val="30"/>
            <c:invertIfNegative val="0"/>
            <c:bubble3D val="0"/>
            <c:spPr>
              <a:solidFill>
                <a:srgbClr val="000000"/>
              </a:solidFill>
              <a:ln>
                <a:noFill/>
              </a:ln>
            </c:spPr>
            <c:extLst>
              <c:ext xmlns:c16="http://schemas.microsoft.com/office/drawing/2014/chart" uri="{C3380CC4-5D6E-409C-BE32-E72D297353CC}">
                <c16:uniqueId val="{0000000E-DF20-4971-848F-1DAC26978B78}"/>
              </c:ext>
            </c:extLst>
          </c:dPt>
          <c:dPt>
            <c:idx val="32"/>
            <c:invertIfNegative val="0"/>
            <c:bubble3D val="0"/>
            <c:spPr>
              <a:solidFill>
                <a:srgbClr val="BEBEBE"/>
              </a:solidFill>
              <a:ln>
                <a:noFill/>
              </a:ln>
            </c:spPr>
            <c:extLst>
              <c:ext xmlns:c16="http://schemas.microsoft.com/office/drawing/2014/chart" uri="{C3380CC4-5D6E-409C-BE32-E72D297353CC}">
                <c16:uniqueId val="{0000000F-DF20-4971-848F-1DAC26978B78}"/>
              </c:ext>
            </c:extLst>
          </c:dPt>
          <c:dPt>
            <c:idx val="33"/>
            <c:invertIfNegative val="0"/>
            <c:bubble3D val="0"/>
            <c:spPr>
              <a:solidFill>
                <a:srgbClr val="A1A1A1"/>
              </a:solidFill>
              <a:ln>
                <a:noFill/>
              </a:ln>
            </c:spPr>
            <c:extLst>
              <c:ext xmlns:c16="http://schemas.microsoft.com/office/drawing/2014/chart" uri="{C3380CC4-5D6E-409C-BE32-E72D297353CC}">
                <c16:uniqueId val="{00000010-DF20-4971-848F-1DAC26978B78}"/>
              </c:ext>
            </c:extLst>
          </c:dPt>
          <c:dPt>
            <c:idx val="34"/>
            <c:invertIfNegative val="0"/>
            <c:bubble3D val="0"/>
            <c:spPr>
              <a:solidFill>
                <a:srgbClr val="000000"/>
              </a:solidFill>
              <a:ln>
                <a:noFill/>
              </a:ln>
            </c:spPr>
            <c:extLst>
              <c:ext xmlns:c16="http://schemas.microsoft.com/office/drawing/2014/chart" uri="{C3380CC4-5D6E-409C-BE32-E72D297353CC}">
                <c16:uniqueId val="{00000011-DF20-4971-848F-1DAC26978B78}"/>
              </c:ext>
            </c:extLst>
          </c:dPt>
          <c:dPt>
            <c:idx val="36"/>
            <c:invertIfNegative val="0"/>
            <c:bubble3D val="0"/>
            <c:spPr>
              <a:solidFill>
                <a:srgbClr val="BEBEBE"/>
              </a:solidFill>
              <a:ln>
                <a:noFill/>
              </a:ln>
            </c:spPr>
            <c:extLst>
              <c:ext xmlns:c16="http://schemas.microsoft.com/office/drawing/2014/chart" uri="{C3380CC4-5D6E-409C-BE32-E72D297353CC}">
                <c16:uniqueId val="{00000012-DF20-4971-848F-1DAC26978B78}"/>
              </c:ext>
            </c:extLst>
          </c:dPt>
          <c:dPt>
            <c:idx val="37"/>
            <c:invertIfNegative val="0"/>
            <c:bubble3D val="0"/>
            <c:spPr>
              <a:solidFill>
                <a:srgbClr val="A1A1A1"/>
              </a:solidFill>
              <a:ln>
                <a:noFill/>
              </a:ln>
            </c:spPr>
            <c:extLst>
              <c:ext xmlns:c16="http://schemas.microsoft.com/office/drawing/2014/chart" uri="{C3380CC4-5D6E-409C-BE32-E72D297353CC}">
                <c16:uniqueId val="{00000013-DF20-4971-848F-1DAC26978B78}"/>
              </c:ext>
            </c:extLst>
          </c:dPt>
          <c:dPt>
            <c:idx val="38"/>
            <c:invertIfNegative val="0"/>
            <c:bubble3D val="0"/>
            <c:spPr>
              <a:solidFill>
                <a:srgbClr val="000000"/>
              </a:solidFill>
              <a:ln>
                <a:noFill/>
              </a:ln>
            </c:spPr>
            <c:extLst>
              <c:ext xmlns:c16="http://schemas.microsoft.com/office/drawing/2014/chart" uri="{C3380CC4-5D6E-409C-BE32-E72D297353CC}">
                <c16:uniqueId val="{00000014-DF20-4971-848F-1DAC26978B78}"/>
              </c:ext>
            </c:extLst>
          </c:dPt>
          <c:dLbls>
            <c:dLbl>
              <c:idx val="1"/>
              <c:layout>
                <c:manualLayout>
                  <c:x val="0"/>
                  <c:y val="-6.426735218508997E-4"/>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5-DF20-4971-848F-1DAC26978B78}"/>
                </c:ext>
              </c:extLst>
            </c:dLbl>
            <c:dLbl>
              <c:idx val="4"/>
              <c:layout>
                <c:manualLayout>
                  <c:x val="0"/>
                  <c:y val="-6.426735218508997E-4"/>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F20-4971-848F-1DAC26978B78}"/>
                </c:ext>
              </c:extLst>
            </c:dLbl>
            <c:dLbl>
              <c:idx val="5"/>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DF20-4971-848F-1DAC26978B78}"/>
                </c:ext>
              </c:extLst>
            </c:dLbl>
            <c:dLbl>
              <c:idx val="9"/>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DF20-4971-848F-1DAC26978B78}"/>
                </c:ext>
              </c:extLst>
            </c:dLbl>
            <c:dLbl>
              <c:idx val="10"/>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F20-4971-848F-1DAC26978B78}"/>
                </c:ext>
              </c:extLst>
            </c:dLbl>
            <c:dLbl>
              <c:idx val="12"/>
              <c:layout>
                <c:manualLayout>
                  <c:x val="0"/>
                  <c:y val="-6.426735218508997E-4"/>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DF20-4971-848F-1DAC26978B78}"/>
                </c:ext>
              </c:extLst>
            </c:dLbl>
            <c:dLbl>
              <c:idx val="13"/>
              <c:layout>
                <c:manualLayout>
                  <c:x val="0"/>
                  <c:y val="-6.426735218508997E-4"/>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8-DF20-4971-848F-1DAC26978B78}"/>
                </c:ext>
              </c:extLst>
            </c:dLbl>
            <c:dLbl>
              <c:idx val="16"/>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DF20-4971-848F-1DAC26978B78}"/>
                </c:ext>
              </c:extLst>
            </c:dLbl>
            <c:dLbl>
              <c:idx val="17"/>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DF20-4971-848F-1DAC26978B78}"/>
                </c:ext>
              </c:extLst>
            </c:dLbl>
            <c:dLbl>
              <c:idx val="18"/>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DF20-4971-848F-1DAC26978B78}"/>
                </c:ext>
              </c:extLst>
            </c:dLbl>
            <c:dLbl>
              <c:idx val="21"/>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A-DF20-4971-848F-1DAC26978B78}"/>
                </c:ext>
              </c:extLst>
            </c:dLbl>
            <c:dLbl>
              <c:idx val="22"/>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DF20-4971-848F-1DAC26978B78}"/>
                </c:ext>
              </c:extLst>
            </c:dLbl>
            <c:dLbl>
              <c:idx val="25"/>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DF20-4971-848F-1DAC26978B78}"/>
                </c:ext>
              </c:extLst>
            </c:dLbl>
            <c:dLbl>
              <c:idx val="26"/>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DF20-4971-848F-1DAC26978B78}"/>
                </c:ext>
              </c:extLst>
            </c:dLbl>
            <c:dLbl>
              <c:idx val="29"/>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DF20-4971-848F-1DAC26978B78}"/>
                </c:ext>
              </c:extLst>
            </c:dLbl>
            <c:dLbl>
              <c:idx val="30"/>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DF20-4971-848F-1DAC26978B78}"/>
                </c:ext>
              </c:extLst>
            </c:dLbl>
            <c:dLbl>
              <c:idx val="32"/>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DF20-4971-848F-1DAC26978B78}"/>
                </c:ext>
              </c:extLst>
            </c:dLbl>
            <c:dLbl>
              <c:idx val="33"/>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DF20-4971-848F-1DAC26978B78}"/>
                </c:ext>
              </c:extLst>
            </c:dLbl>
            <c:dLbl>
              <c:idx val="34"/>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DF20-4971-848F-1DAC26978B78}"/>
                </c:ext>
              </c:extLst>
            </c:dLbl>
            <c:dLbl>
              <c:idx val="36"/>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DF20-4971-848F-1DAC26978B78}"/>
                </c:ext>
              </c:extLst>
            </c:dLbl>
            <c:dLbl>
              <c:idx val="37"/>
              <c:layout>
                <c:manualLayout>
                  <c:x val="0"/>
                  <c:y val="0"/>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DF20-4971-848F-1DAC26978B78}"/>
                </c:ext>
              </c:extLst>
            </c:dLbl>
            <c:dLbl>
              <c:idx val="38"/>
              <c:layout>
                <c:manualLayout>
                  <c:x val="0"/>
                  <c:y val="-6.426735218508997E-4"/>
                </c:manualLayout>
              </c:layout>
              <c:numFmt formatCode="#,##0.0;&quot;-&quot;#,##0.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DF20-4971-848F-1DAC26978B7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Sheet1!$A$1:$AM$1</c:f>
              <c:numCache>
                <c:formatCode>General</c:formatCode>
                <c:ptCount val="39"/>
                <c:pt idx="0">
                  <c:v>0.47436499799999998</c:v>
                </c:pt>
                <c:pt idx="1">
                  <c:v>1.779597842</c:v>
                </c:pt>
                <c:pt idx="4">
                  <c:v>1.2336318879999999</c:v>
                </c:pt>
                <c:pt idx="5">
                  <c:v>1.853723982</c:v>
                </c:pt>
                <c:pt idx="8">
                  <c:v>0.87398664500000001</c:v>
                </c:pt>
                <c:pt idx="9">
                  <c:v>3.2074214429999999</c:v>
                </c:pt>
                <c:pt idx="10">
                  <c:v>1.454272706</c:v>
                </c:pt>
                <c:pt idx="12">
                  <c:v>1.236388123</c:v>
                </c:pt>
                <c:pt idx="13">
                  <c:v>1.847245459</c:v>
                </c:pt>
                <c:pt idx="16">
                  <c:v>1.9292400940000001</c:v>
                </c:pt>
                <c:pt idx="17">
                  <c:v>1.9768532139999999</c:v>
                </c:pt>
                <c:pt idx="18">
                  <c:v>1.5751489599999999</c:v>
                </c:pt>
                <c:pt idx="20">
                  <c:v>0.67411793200000003</c:v>
                </c:pt>
                <c:pt idx="21">
                  <c:v>2.9619180919999999</c:v>
                </c:pt>
                <c:pt idx="22">
                  <c:v>1.4776648349999999</c:v>
                </c:pt>
                <c:pt idx="24">
                  <c:v>0.58991397740804807</c:v>
                </c:pt>
                <c:pt idx="25">
                  <c:v>2.724439839400433</c:v>
                </c:pt>
                <c:pt idx="26">
                  <c:v>1.3594178717035803</c:v>
                </c:pt>
                <c:pt idx="28">
                  <c:v>0.64485194770451282</c:v>
                </c:pt>
                <c:pt idx="29">
                  <c:v>2.8014719698262818</c:v>
                </c:pt>
                <c:pt idx="30">
                  <c:v>1.4527277602531905</c:v>
                </c:pt>
                <c:pt idx="32">
                  <c:v>1.0587415169185364</c:v>
                </c:pt>
                <c:pt idx="33">
                  <c:v>2.6898411862948204</c:v>
                </c:pt>
                <c:pt idx="34">
                  <c:v>1.5299265978967191</c:v>
                </c:pt>
                <c:pt idx="36">
                  <c:v>1.1646471863000001</c:v>
                </c:pt>
                <c:pt idx="37">
                  <c:v>2.9193127222999999</c:v>
                </c:pt>
                <c:pt idx="38">
                  <c:v>1.6367105235000001</c:v>
                </c:pt>
              </c:numCache>
            </c:numRef>
          </c:val>
          <c:extLst>
            <c:ext xmlns:c16="http://schemas.microsoft.com/office/drawing/2014/chart" uri="{C3380CC4-5D6E-409C-BE32-E72D297353CC}">
              <c16:uniqueId val="{0000001B-DF20-4971-848F-1DAC26978B78}"/>
            </c:ext>
          </c:extLst>
        </c:ser>
        <c:ser>
          <c:idx val="1"/>
          <c:order val="1"/>
          <c:spPr>
            <a:noFill/>
            <a:ln>
              <a:noFill/>
            </a:ln>
          </c:spPr>
          <c:invertIfNegative val="0"/>
          <c:dLbls>
            <c:dLbl>
              <c:idx val="0"/>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C-DF20-4971-848F-1DAC26978B78}"/>
                </c:ext>
              </c:extLst>
            </c:dLbl>
            <c:dLbl>
              <c:idx val="1"/>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D-DF20-4971-848F-1DAC26978B78}"/>
                </c:ext>
              </c:extLst>
            </c:dLbl>
            <c:dLbl>
              <c:idx val="4"/>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E-DF20-4971-848F-1DAC26978B78}"/>
                </c:ext>
              </c:extLst>
            </c:dLbl>
            <c:dLbl>
              <c:idx val="5"/>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F-DF20-4971-848F-1DAC26978B78}"/>
                </c:ext>
              </c:extLst>
            </c:dLbl>
            <c:dLbl>
              <c:idx val="8"/>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0-DF20-4971-848F-1DAC26978B78}"/>
                </c:ext>
              </c:extLst>
            </c:dLbl>
            <c:dLbl>
              <c:idx val="9"/>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1-DF20-4971-848F-1DAC26978B78}"/>
                </c:ext>
              </c:extLst>
            </c:dLbl>
            <c:dLbl>
              <c:idx val="10"/>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2-DF20-4971-848F-1DAC26978B78}"/>
                </c:ext>
              </c:extLst>
            </c:dLbl>
            <c:dLbl>
              <c:idx val="12"/>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3-DF20-4971-848F-1DAC26978B78}"/>
                </c:ext>
              </c:extLst>
            </c:dLbl>
            <c:dLbl>
              <c:idx val="13"/>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4-DF20-4971-848F-1DAC26978B78}"/>
                </c:ext>
              </c:extLst>
            </c:dLbl>
            <c:dLbl>
              <c:idx val="16"/>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5-DF20-4971-848F-1DAC26978B78}"/>
                </c:ext>
              </c:extLst>
            </c:dLbl>
            <c:dLbl>
              <c:idx val="17"/>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6-DF20-4971-848F-1DAC26978B78}"/>
                </c:ext>
              </c:extLst>
            </c:dLbl>
            <c:dLbl>
              <c:idx val="18"/>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7-DF20-4971-848F-1DAC26978B78}"/>
                </c:ext>
              </c:extLst>
            </c:dLbl>
            <c:dLbl>
              <c:idx val="20"/>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8-DF20-4971-848F-1DAC26978B78}"/>
                </c:ext>
              </c:extLst>
            </c:dLbl>
            <c:dLbl>
              <c:idx val="21"/>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9-DF20-4971-848F-1DAC26978B78}"/>
                </c:ext>
              </c:extLst>
            </c:dLbl>
            <c:dLbl>
              <c:idx val="22"/>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A-DF20-4971-848F-1DAC26978B78}"/>
                </c:ext>
              </c:extLst>
            </c:dLbl>
            <c:dLbl>
              <c:idx val="24"/>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B-DF20-4971-848F-1DAC26978B78}"/>
                </c:ext>
              </c:extLst>
            </c:dLbl>
            <c:dLbl>
              <c:idx val="25"/>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C-DF20-4971-848F-1DAC26978B78}"/>
                </c:ext>
              </c:extLst>
            </c:dLbl>
            <c:dLbl>
              <c:idx val="26"/>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D-DF20-4971-848F-1DAC26978B78}"/>
                </c:ext>
              </c:extLst>
            </c:dLbl>
            <c:dLbl>
              <c:idx val="28"/>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E-DF20-4971-848F-1DAC26978B78}"/>
                </c:ext>
              </c:extLst>
            </c:dLbl>
            <c:dLbl>
              <c:idx val="29"/>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F-DF20-4971-848F-1DAC26978B78}"/>
                </c:ext>
              </c:extLst>
            </c:dLbl>
            <c:dLbl>
              <c:idx val="30"/>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0-DF20-4971-848F-1DAC26978B78}"/>
                </c:ext>
              </c:extLst>
            </c:dLbl>
            <c:dLbl>
              <c:idx val="32"/>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1-DF20-4971-848F-1DAC26978B78}"/>
                </c:ext>
              </c:extLst>
            </c:dLbl>
            <c:dLbl>
              <c:idx val="33"/>
              <c:layout>
                <c:manualLayout>
                  <c:x val="0"/>
                  <c:y val="0"/>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2-DF20-4971-848F-1DAC26978B78}"/>
                </c:ext>
              </c:extLst>
            </c:dLbl>
            <c:dLbl>
              <c:idx val="34"/>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3-DF20-4971-848F-1DAC26978B78}"/>
                </c:ext>
              </c:extLst>
            </c:dLbl>
            <c:dLbl>
              <c:idx val="36"/>
              <c:layout>
                <c:manualLayout>
                  <c:x val="0"/>
                  <c:y val="-6.426735218508997E-4"/>
                </c:manualLayout>
              </c:layout>
              <c:numFmt formatCode="#,##0.0;&quot;-&quot;#,##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4-DF20-4971-848F-1DAC26978B78}"/>
                </c:ext>
              </c:extLst>
            </c:dLbl>
            <c:dLbl>
              <c:idx val="37"/>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5-DF20-4971-848F-1DAC26978B78}"/>
                </c:ext>
              </c:extLst>
            </c:dLbl>
            <c:dLbl>
              <c:idx val="38"/>
              <c:layout>
                <c:manualLayout>
                  <c:x val="0"/>
                  <c:y val="-6.426735218508997E-4"/>
                </c:manualLayout>
              </c:layout>
              <c:numFmt formatCode="#,##0.0;&quot;-&quot;#,##0.0"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6-DF20-4971-848F-1DAC26978B7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Sheet1!$A$2:$AM$2</c:f>
              <c:numCache>
                <c:formatCode>General</c:formatCode>
                <c:ptCount val="39"/>
                <c:pt idx="0">
                  <c:v>4.0058052019999995</c:v>
                </c:pt>
                <c:pt idx="1">
                  <c:v>5.8277348580000004</c:v>
                </c:pt>
                <c:pt idx="4">
                  <c:v>7.2723759120000011</c:v>
                </c:pt>
                <c:pt idx="5">
                  <c:v>5.9043955480000001</c:v>
                </c:pt>
                <c:pt idx="8">
                  <c:v>4.8380365550000004</c:v>
                </c:pt>
                <c:pt idx="9">
                  <c:v>8.6253272770000002</c:v>
                </c:pt>
                <c:pt idx="10">
                  <c:v>9.6620907339999995</c:v>
                </c:pt>
                <c:pt idx="12">
                  <c:v>6.7796021570000002</c:v>
                </c:pt>
                <c:pt idx="13">
                  <c:v>7.8432992210000005</c:v>
                </c:pt>
                <c:pt idx="16">
                  <c:v>3.7768849060000003</c:v>
                </c:pt>
                <c:pt idx="17">
                  <c:v>8.0122557860000008</c:v>
                </c:pt>
                <c:pt idx="18">
                  <c:v>9.1691680400000006</c:v>
                </c:pt>
                <c:pt idx="20">
                  <c:v>3.4976577880000002</c:v>
                </c:pt>
                <c:pt idx="21">
                  <c:v>8.2463771880000003</c:v>
                </c:pt>
                <c:pt idx="22">
                  <c:v>8.7989767850000007</c:v>
                </c:pt>
                <c:pt idx="24">
                  <c:v>3.275238984234087</c:v>
                </c:pt>
                <c:pt idx="25">
                  <c:v>8.1089912165420053</c:v>
                </c:pt>
                <c:pt idx="26">
                  <c:v>8.3721770314501534</c:v>
                </c:pt>
                <c:pt idx="28">
                  <c:v>3.3120216502400317</c:v>
                </c:pt>
                <c:pt idx="29">
                  <c:v>7.6310484848887308</c:v>
                </c:pt>
                <c:pt idx="30">
                  <c:v>8.286610386118376</c:v>
                </c:pt>
                <c:pt idx="32">
                  <c:v>5.0253574038950948</c:v>
                </c:pt>
                <c:pt idx="33">
                  <c:v>6.6910427869811659</c:v>
                </c:pt>
                <c:pt idx="34">
                  <c:v>8.0757943495272233</c:v>
                </c:pt>
                <c:pt idx="36">
                  <c:v>5.1031490130244377</c:v>
                </c:pt>
                <c:pt idx="37">
                  <c:v>6.6154942894631121</c:v>
                </c:pt>
                <c:pt idx="38">
                  <c:v>7.9870632997925348</c:v>
                </c:pt>
              </c:numCache>
            </c:numRef>
          </c:val>
          <c:extLst>
            <c:ext xmlns:c16="http://schemas.microsoft.com/office/drawing/2014/chart" uri="{C3380CC4-5D6E-409C-BE32-E72D297353CC}">
              <c16:uniqueId val="{00000037-DF20-4971-848F-1DAC26978B78}"/>
            </c:ext>
          </c:extLst>
        </c:ser>
        <c:dLbls>
          <c:showLegendKey val="0"/>
          <c:showVal val="0"/>
          <c:showCatName val="0"/>
          <c:showSerName val="0"/>
          <c:showPercent val="0"/>
          <c:showBubbleSize val="0"/>
        </c:dLbls>
        <c:gapWidth val="0"/>
        <c:overlap val="100"/>
        <c:axId val="1885925088"/>
        <c:axId val="1"/>
      </c:barChart>
      <c:catAx>
        <c:axId val="1885925088"/>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5"/>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000" kern="1200">
                <a:solidFill>
                  <a:srgbClr val="000000"/>
                </a:solidFill>
                <a:latin typeface="+mn-lt"/>
                <a:ea typeface="+mn-ea"/>
                <a:cs typeface="+mn-cs"/>
              </a:defRPr>
            </a:pPr>
            <a:endParaRPr lang="en-US"/>
          </a:p>
        </c:txPr>
        <c:crossAx val="1885925088"/>
        <c:crosses val="min"/>
        <c:crossBetween val="between"/>
        <c:majorUnit val="5"/>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9044406970207982E-2"/>
          <c:y val="6.7458432304038002E-2"/>
          <c:w val="0.94364811691961781"/>
          <c:h val="0.86508313539192394"/>
        </c:manualLayout>
      </c:layout>
      <c:barChart>
        <c:barDir val="col"/>
        <c:grouping val="stacked"/>
        <c:varyColors val="0"/>
        <c:ser>
          <c:idx val="0"/>
          <c:order val="0"/>
          <c:spPr>
            <a:solidFill>
              <a:schemeClr val="accent1"/>
            </a:solidFill>
            <a:ln>
              <a:noFill/>
            </a:ln>
          </c:spPr>
          <c:invertIfNegative val="0"/>
          <c:dLbls>
            <c:dLbl>
              <c:idx val="0"/>
              <c:layout>
                <c:manualLayout>
                  <c:x val="0"/>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E29-4A3D-A133-B53D9B4C9BE0}"/>
                </c:ext>
              </c:extLst>
            </c:dLbl>
            <c:dLbl>
              <c:idx val="1"/>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E29-4A3D-A133-B53D9B4C9BE0}"/>
                </c:ext>
              </c:extLst>
            </c:dLbl>
            <c:dLbl>
              <c:idx val="2"/>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CE29-4A3D-A133-B53D9B4C9BE0}"/>
                </c:ext>
              </c:extLst>
            </c:dLbl>
            <c:dLbl>
              <c:idx val="3"/>
              <c:layout>
                <c:manualLayout>
                  <c:x val="0"/>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CE29-4A3D-A133-B53D9B4C9BE0}"/>
                </c:ext>
              </c:extLst>
            </c:dLbl>
            <c:dLbl>
              <c:idx val="5"/>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CE29-4A3D-A133-B53D9B4C9BE0}"/>
                </c:ext>
              </c:extLst>
            </c:dLbl>
            <c:dLbl>
              <c:idx val="6"/>
              <c:layout>
                <c:manualLayout>
                  <c:x val="0"/>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CE29-4A3D-A133-B53D9B4C9BE0}"/>
                </c:ext>
              </c:extLst>
            </c:dLbl>
            <c:dLbl>
              <c:idx val="7"/>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CE29-4A3D-A133-B53D9B4C9BE0}"/>
                </c:ext>
              </c:extLst>
            </c:dLbl>
            <c:dLbl>
              <c:idx val="10"/>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CE29-4A3D-A133-B53D9B4C9B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Sheet1!$A$1:$K$1</c:f>
              <c:numCache>
                <c:formatCode>General</c:formatCode>
                <c:ptCount val="11"/>
                <c:pt idx="0">
                  <c:v>5.7386942361605939</c:v>
                </c:pt>
                <c:pt idx="1">
                  <c:v>4.5773045454818932</c:v>
                </c:pt>
                <c:pt idx="2">
                  <c:v>21.956178072149335</c:v>
                </c:pt>
                <c:pt idx="3">
                  <c:v>8.5982914060327182</c:v>
                </c:pt>
                <c:pt idx="5">
                  <c:v>20.706699968729957</c:v>
                </c:pt>
                <c:pt idx="6">
                  <c:v>46.709153247886668</c:v>
                </c:pt>
                <c:pt idx="7">
                  <c:v>22.957577039261079</c:v>
                </c:pt>
                <c:pt idx="8">
                  <c:v>1.9054019074910205</c:v>
                </c:pt>
                <c:pt idx="10">
                  <c:v>43.242400026174998</c:v>
                </c:pt>
              </c:numCache>
            </c:numRef>
          </c:val>
          <c:extLst>
            <c:ext xmlns:c16="http://schemas.microsoft.com/office/drawing/2014/chart" uri="{C3380CC4-5D6E-409C-BE32-E72D297353CC}">
              <c16:uniqueId val="{00000008-CE29-4A3D-A133-B53D9B4C9BE0}"/>
            </c:ext>
          </c:extLst>
        </c:ser>
        <c:ser>
          <c:idx val="1"/>
          <c:order val="1"/>
          <c:spPr>
            <a:solidFill>
              <a:schemeClr val="accent2"/>
            </a:solidFill>
            <a:ln>
              <a:noFill/>
            </a:ln>
          </c:spPr>
          <c:invertIfNegative val="0"/>
          <c:dLbls>
            <c:dLbl>
              <c:idx val="0"/>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CE29-4A3D-A133-B53D9B4C9BE0}"/>
                </c:ext>
              </c:extLst>
            </c:dLbl>
            <c:dLbl>
              <c:idx val="1"/>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CE29-4A3D-A133-B53D9B4C9BE0}"/>
                </c:ext>
              </c:extLst>
            </c:dLbl>
            <c:dLbl>
              <c:idx val="2"/>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CE29-4A3D-A133-B53D9B4C9BE0}"/>
                </c:ext>
              </c:extLst>
            </c:dLbl>
            <c:dLbl>
              <c:idx val="3"/>
              <c:layout>
                <c:manualLayout>
                  <c:x val="0"/>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CE29-4A3D-A133-B53D9B4C9BE0}"/>
                </c:ext>
              </c:extLst>
            </c:dLbl>
            <c:dLbl>
              <c:idx val="5"/>
              <c:layout>
                <c:manualLayout>
                  <c:x val="0"/>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CE29-4A3D-A133-B53D9B4C9BE0}"/>
                </c:ext>
              </c:extLst>
            </c:dLbl>
            <c:dLbl>
              <c:idx val="6"/>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CE29-4A3D-A133-B53D9B4C9BE0}"/>
                </c:ext>
              </c:extLst>
            </c:dLbl>
            <c:dLbl>
              <c:idx val="7"/>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CE29-4A3D-A133-B53D9B4C9BE0}"/>
                </c:ext>
              </c:extLst>
            </c:dLbl>
            <c:dLbl>
              <c:idx val="8"/>
              <c:layout>
                <c:manualLayout>
                  <c:x val="0"/>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CE29-4A3D-A133-B53D9B4C9BE0}"/>
                </c:ext>
              </c:extLst>
            </c:dLbl>
            <c:dLbl>
              <c:idx val="10"/>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CE29-4A3D-A133-B53D9B4C9B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Sheet1!$A$2:$K$2</c:f>
              <c:numCache>
                <c:formatCode>General</c:formatCode>
                <c:ptCount val="11"/>
                <c:pt idx="0">
                  <c:v>10.661489291530899</c:v>
                </c:pt>
                <c:pt idx="1">
                  <c:v>7.0958071377496754</c:v>
                </c:pt>
                <c:pt idx="2">
                  <c:v>14.063285954086947</c:v>
                </c:pt>
                <c:pt idx="3">
                  <c:v>7.341392688255902</c:v>
                </c:pt>
                <c:pt idx="5">
                  <c:v>15.309599979100453</c:v>
                </c:pt>
                <c:pt idx="6">
                  <c:v>9.0544909419633886</c:v>
                </c:pt>
                <c:pt idx="7">
                  <c:v>29.392870601028775</c:v>
                </c:pt>
                <c:pt idx="8">
                  <c:v>29.620129621333419</c:v>
                </c:pt>
                <c:pt idx="10">
                  <c:v>24.110500015118895</c:v>
                </c:pt>
              </c:numCache>
            </c:numRef>
          </c:val>
          <c:extLst>
            <c:ext xmlns:c16="http://schemas.microsoft.com/office/drawing/2014/chart" uri="{C3380CC4-5D6E-409C-BE32-E72D297353CC}">
              <c16:uniqueId val="{00000012-CE29-4A3D-A133-B53D9B4C9BE0}"/>
            </c:ext>
          </c:extLst>
        </c:ser>
        <c:ser>
          <c:idx val="2"/>
          <c:order val="2"/>
          <c:spPr>
            <a:solidFill>
              <a:schemeClr val="accent3"/>
            </a:solidFill>
            <a:ln>
              <a:noFill/>
            </a:ln>
          </c:spPr>
          <c:invertIfNegative val="0"/>
          <c:dLbls>
            <c:dLbl>
              <c:idx val="2"/>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CE29-4A3D-A133-B53D9B4C9BE0}"/>
                </c:ext>
              </c:extLst>
            </c:dLbl>
            <c:dLbl>
              <c:idx val="3"/>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CE29-4A3D-A133-B53D9B4C9BE0}"/>
                </c:ext>
              </c:extLst>
            </c:dLbl>
            <c:dLbl>
              <c:idx val="5"/>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5-CE29-4A3D-A133-B53D9B4C9BE0}"/>
                </c:ext>
              </c:extLst>
            </c:dLbl>
            <c:dLbl>
              <c:idx val="6"/>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CE29-4A3D-A133-B53D9B4C9BE0}"/>
                </c:ext>
              </c:extLst>
            </c:dLbl>
            <c:dLbl>
              <c:idx val="7"/>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CE29-4A3D-A133-B53D9B4C9BE0}"/>
                </c:ext>
              </c:extLst>
            </c:dLbl>
            <c:dLbl>
              <c:idx val="8"/>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8-CE29-4A3D-A133-B53D9B4C9BE0}"/>
                </c:ext>
              </c:extLst>
            </c:dLbl>
            <c:dLbl>
              <c:idx val="10"/>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CE29-4A3D-A133-B53D9B4C9B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Sheet1!$A$3:$K$3</c:f>
              <c:numCache>
                <c:formatCode>General</c:formatCode>
                <c:ptCount val="11"/>
                <c:pt idx="0">
                  <c:v>3.5069963945436573</c:v>
                </c:pt>
                <c:pt idx="1">
                  <c:v>3.5309035049318731</c:v>
                </c:pt>
                <c:pt idx="2">
                  <c:v>7.3884925809792943</c:v>
                </c:pt>
                <c:pt idx="3">
                  <c:v>6.9867929848464518</c:v>
                </c:pt>
                <c:pt idx="5">
                  <c:v>28.855599989620806</c:v>
                </c:pt>
                <c:pt idx="6">
                  <c:v>18.593781406090415</c:v>
                </c:pt>
                <c:pt idx="7">
                  <c:v>17.351982656864607</c:v>
                </c:pt>
                <c:pt idx="8">
                  <c:v>26.678326673611657</c:v>
                </c:pt>
                <c:pt idx="10">
                  <c:v>14.05589998056389</c:v>
                </c:pt>
              </c:numCache>
            </c:numRef>
          </c:val>
          <c:extLst>
            <c:ext xmlns:c16="http://schemas.microsoft.com/office/drawing/2014/chart" uri="{C3380CC4-5D6E-409C-BE32-E72D297353CC}">
              <c16:uniqueId val="{0000001A-CE29-4A3D-A133-B53D9B4C9BE0}"/>
            </c:ext>
          </c:extLst>
        </c:ser>
        <c:ser>
          <c:idx val="3"/>
          <c:order val="3"/>
          <c:spPr>
            <a:solidFill>
              <a:schemeClr val="accent4"/>
            </a:solidFill>
            <a:ln>
              <a:noFill/>
            </a:ln>
          </c:spPr>
          <c:invertIfNegative val="0"/>
          <c:dLbls>
            <c:dLbl>
              <c:idx val="0"/>
              <c:layout>
                <c:manualLayout>
                  <c:x val="0"/>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B-CE29-4A3D-A133-B53D9B4C9BE0}"/>
                </c:ext>
              </c:extLst>
            </c:dLbl>
            <c:dLbl>
              <c:idx val="1"/>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C-CE29-4A3D-A133-B53D9B4C9BE0}"/>
                </c:ext>
              </c:extLst>
            </c:dLbl>
            <c:dLbl>
              <c:idx val="2"/>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D-CE29-4A3D-A133-B53D9B4C9BE0}"/>
                </c:ext>
              </c:extLst>
            </c:dLbl>
            <c:dLbl>
              <c:idx val="3"/>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E-CE29-4A3D-A133-B53D9B4C9BE0}"/>
                </c:ext>
              </c:extLst>
            </c:dLbl>
            <c:dLbl>
              <c:idx val="5"/>
              <c:layout>
                <c:manualLayout>
                  <c:x val="-1.1944912872400225E-2"/>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F-CE29-4A3D-A133-B53D9B4C9BE0}"/>
                </c:ext>
              </c:extLst>
            </c:dLbl>
            <c:dLbl>
              <c:idx val="7"/>
              <c:layout>
                <c:manualLayout>
                  <c:x val="-1.1944912872400225E-2"/>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0-CE29-4A3D-A133-B53D9B4C9BE0}"/>
                </c:ext>
              </c:extLst>
            </c:dLbl>
            <c:dLbl>
              <c:idx val="8"/>
              <c:layout>
                <c:manualLayout>
                  <c:x val="-1.1804384485666104E-2"/>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1-CE29-4A3D-A133-B53D9B4C9B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Sheet1!$A$4:$K$4</c:f>
              <c:numCache>
                <c:formatCode>General</c:formatCode>
                <c:ptCount val="11"/>
                <c:pt idx="0">
                  <c:v>31.598668505114127</c:v>
                </c:pt>
                <c:pt idx="1">
                  <c:v>33.067333052831216</c:v>
                </c:pt>
                <c:pt idx="2">
                  <c:v>27.180672816907808</c:v>
                </c:pt>
                <c:pt idx="3">
                  <c:v>43.739756255860833</c:v>
                </c:pt>
                <c:pt idx="5">
                  <c:v>6.0865000160600928</c:v>
                </c:pt>
                <c:pt idx="6">
                  <c:v>0.80879921403393951</c:v>
                </c:pt>
                <c:pt idx="7">
                  <c:v>6.0555939482475507</c:v>
                </c:pt>
                <c:pt idx="8">
                  <c:v>6.1631061719233049</c:v>
                </c:pt>
                <c:pt idx="10">
                  <c:v>3.1212000206514268</c:v>
                </c:pt>
              </c:numCache>
            </c:numRef>
          </c:val>
          <c:extLst>
            <c:ext xmlns:c16="http://schemas.microsoft.com/office/drawing/2014/chart" uri="{C3380CC4-5D6E-409C-BE32-E72D297353CC}">
              <c16:uniqueId val="{00000022-CE29-4A3D-A133-B53D9B4C9BE0}"/>
            </c:ext>
          </c:extLst>
        </c:ser>
        <c:ser>
          <c:idx val="4"/>
          <c:order val="4"/>
          <c:spPr>
            <a:solidFill>
              <a:schemeClr val="accent5"/>
            </a:solidFill>
            <a:ln>
              <a:noFill/>
            </a:ln>
          </c:spPr>
          <c:invertIfNegative val="0"/>
          <c:dLbls>
            <c:dLbl>
              <c:idx val="0"/>
              <c:layout>
                <c:manualLayout>
                  <c:x val="0"/>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3-CE29-4A3D-A133-B53D9B4C9BE0}"/>
                </c:ext>
              </c:extLst>
            </c:dLbl>
            <c:dLbl>
              <c:idx val="1"/>
              <c:layout>
                <c:manualLayout>
                  <c:x val="0"/>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4-CE29-4A3D-A133-B53D9B4C9BE0}"/>
                </c:ext>
              </c:extLst>
            </c:dLbl>
            <c:dLbl>
              <c:idx val="2"/>
              <c:layout>
                <c:manualLayout>
                  <c:x val="0"/>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5-CE29-4A3D-A133-B53D9B4C9BE0}"/>
                </c:ext>
              </c:extLst>
            </c:dLbl>
            <c:dLbl>
              <c:idx val="3"/>
              <c:layout>
                <c:manualLayout>
                  <c:x val="0"/>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6-CE29-4A3D-A133-B53D9B4C9BE0}"/>
                </c:ext>
              </c:extLst>
            </c:dLbl>
            <c:dLbl>
              <c:idx val="10"/>
              <c:layout>
                <c:manualLayout>
                  <c:x val="3.4851039910061832E-2"/>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7-CE29-4A3D-A133-B53D9B4C9B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Sheet1!$A$5:$K$5</c:f>
              <c:numCache>
                <c:formatCode>General</c:formatCode>
                <c:ptCount val="11"/>
                <c:pt idx="0">
                  <c:v>10.067389980694042</c:v>
                </c:pt>
                <c:pt idx="1">
                  <c:v>20.729920756330355</c:v>
                </c:pt>
                <c:pt idx="2">
                  <c:v>10.023689937842239</c:v>
                </c:pt>
                <c:pt idx="3">
                  <c:v>16.780083190605978</c:v>
                </c:pt>
                <c:pt idx="5">
                  <c:v>0.21059999677691676</c:v>
                </c:pt>
                <c:pt idx="6">
                  <c:v>1.6789983383071361</c:v>
                </c:pt>
                <c:pt idx="7">
                  <c:v>8.4299907092122428E-2</c:v>
                </c:pt>
                <c:pt idx="8">
                  <c:v>0.90620088765325235</c:v>
                </c:pt>
                <c:pt idx="10">
                  <c:v>1.1565999919137537</c:v>
                </c:pt>
              </c:numCache>
            </c:numRef>
          </c:val>
          <c:extLst>
            <c:ext xmlns:c16="http://schemas.microsoft.com/office/drawing/2014/chart" uri="{C3380CC4-5D6E-409C-BE32-E72D297353CC}">
              <c16:uniqueId val="{00000028-CE29-4A3D-A133-B53D9B4C9BE0}"/>
            </c:ext>
          </c:extLst>
        </c:ser>
        <c:ser>
          <c:idx val="5"/>
          <c:order val="5"/>
          <c:spPr>
            <a:solidFill>
              <a:schemeClr val="accent6"/>
            </a:solidFill>
            <a:ln>
              <a:noFill/>
            </a:ln>
          </c:spPr>
          <c:invertIfNegative val="0"/>
          <c:dPt>
            <c:idx val="3"/>
            <c:invertIfNegative val="0"/>
            <c:bubble3D val="0"/>
            <c:spPr>
              <a:solidFill>
                <a:schemeClr val="accent1"/>
              </a:solidFill>
              <a:ln>
                <a:noFill/>
              </a:ln>
            </c:spPr>
            <c:extLst>
              <c:ext xmlns:c16="http://schemas.microsoft.com/office/drawing/2014/chart" uri="{C3380CC4-5D6E-409C-BE32-E72D297353CC}">
                <c16:uniqueId val="{00000029-CE29-4A3D-A133-B53D9B4C9BE0}"/>
              </c:ext>
            </c:extLst>
          </c:dPt>
          <c:dLbls>
            <c:dLbl>
              <c:idx val="5"/>
              <c:layout>
                <c:manualLayout>
                  <c:x val="-1.1944912872400225E-2"/>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A-CE29-4A3D-A133-B53D9B4C9BE0}"/>
                </c:ext>
              </c:extLst>
            </c:dLbl>
            <c:dLbl>
              <c:idx val="6"/>
              <c:layout>
                <c:manualLayout>
                  <c:x val="-1.1804384485666104E-2"/>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B-CE29-4A3D-A133-B53D9B4C9BE0}"/>
                </c:ext>
              </c:extLst>
            </c:dLbl>
            <c:dLbl>
              <c:idx val="7"/>
              <c:layout>
                <c:manualLayout>
                  <c:x val="-1.1944912872400225E-2"/>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C-CE29-4A3D-A133-B53D9B4C9BE0}"/>
                </c:ext>
              </c:extLst>
            </c:dLbl>
            <c:dLbl>
              <c:idx val="8"/>
              <c:layout>
                <c:manualLayout>
                  <c:x val="-1.1804384485666104E-2"/>
                  <c:y val="0"/>
                </c:manualLayout>
              </c:layout>
              <c:numFmt formatCode="#,##0&quot;%&quot;;&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D-CE29-4A3D-A133-B53D9B4C9B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Sheet1!$A$6:$K$6</c:f>
              <c:numCache>
                <c:formatCode>General</c:formatCode>
                <c:ptCount val="11"/>
                <c:pt idx="0">
                  <c:v>0.51319945141369283</c:v>
                </c:pt>
                <c:pt idx="1">
                  <c:v>0.2629002440466266</c:v>
                </c:pt>
                <c:pt idx="2">
                  <c:v>9.039991794207447E-2</c:v>
                </c:pt>
                <c:pt idx="3">
                  <c:v>2.1332978812865999</c:v>
                </c:pt>
                <c:pt idx="5">
                  <c:v>4.3096000201209517</c:v>
                </c:pt>
                <c:pt idx="6">
                  <c:v>7.3804925879122907</c:v>
                </c:pt>
                <c:pt idx="7">
                  <c:v>7.1472928600208929</c:v>
                </c:pt>
                <c:pt idx="8">
                  <c:v>6.2548062590105253</c:v>
                </c:pt>
                <c:pt idx="10">
                  <c:v>1.7656000070732314</c:v>
                </c:pt>
              </c:numCache>
            </c:numRef>
          </c:val>
          <c:extLst>
            <c:ext xmlns:c16="http://schemas.microsoft.com/office/drawing/2014/chart" uri="{C3380CC4-5D6E-409C-BE32-E72D297353CC}">
              <c16:uniqueId val="{0000002E-CE29-4A3D-A133-B53D9B4C9BE0}"/>
            </c:ext>
          </c:extLst>
        </c:ser>
        <c:ser>
          <c:idx val="6"/>
          <c:order val="6"/>
          <c:spPr>
            <a:solidFill>
              <a:schemeClr val="accent1"/>
            </a:solidFill>
            <a:ln>
              <a:noFill/>
            </a:ln>
          </c:spPr>
          <c:invertIfNegative val="0"/>
          <c:dPt>
            <c:idx val="0"/>
            <c:invertIfNegative val="0"/>
            <c:bubble3D val="0"/>
            <c:spPr>
              <a:pattFill prst="ltUpDiag">
                <a:fgClr>
                  <a:schemeClr val="tx1"/>
                </a:fgClr>
                <a:bgClr>
                  <a:schemeClr val="bg1"/>
                </a:bgClr>
              </a:pattFill>
              <a:ln>
                <a:noFill/>
              </a:ln>
            </c:spPr>
            <c:extLst>
              <c:ext xmlns:c16="http://schemas.microsoft.com/office/drawing/2014/chart" uri="{C3380CC4-5D6E-409C-BE32-E72D297353CC}">
                <c16:uniqueId val="{0000002F-CE29-4A3D-A133-B53D9B4C9BE0}"/>
              </c:ext>
            </c:extLst>
          </c:dPt>
          <c:dPt>
            <c:idx val="1"/>
            <c:invertIfNegative val="0"/>
            <c:bubble3D val="0"/>
            <c:spPr>
              <a:pattFill prst="ltUpDiag">
                <a:fgClr>
                  <a:schemeClr val="tx1"/>
                </a:fgClr>
                <a:bgClr>
                  <a:schemeClr val="bg1"/>
                </a:bgClr>
              </a:pattFill>
              <a:ln>
                <a:noFill/>
              </a:ln>
            </c:spPr>
            <c:extLst>
              <c:ext xmlns:c16="http://schemas.microsoft.com/office/drawing/2014/chart" uri="{C3380CC4-5D6E-409C-BE32-E72D297353CC}">
                <c16:uniqueId val="{00000030-CE29-4A3D-A133-B53D9B4C9BE0}"/>
              </c:ext>
            </c:extLst>
          </c:dPt>
          <c:dPt>
            <c:idx val="3"/>
            <c:invertIfNegative val="0"/>
            <c:bubble3D val="0"/>
            <c:spPr>
              <a:pattFill prst="ltUpDiag">
                <a:fgClr>
                  <a:schemeClr val="tx1"/>
                </a:fgClr>
                <a:bgClr>
                  <a:schemeClr val="bg1"/>
                </a:bgClr>
              </a:pattFill>
              <a:ln>
                <a:noFill/>
              </a:ln>
            </c:spPr>
            <c:extLst>
              <c:ext xmlns:c16="http://schemas.microsoft.com/office/drawing/2014/chart" uri="{C3380CC4-5D6E-409C-BE32-E72D297353CC}">
                <c16:uniqueId val="{00000031-CE29-4A3D-A133-B53D9B4C9BE0}"/>
              </c:ext>
            </c:extLst>
          </c:dPt>
          <c:dLbls>
            <c:dLbl>
              <c:idx val="2"/>
              <c:layout>
                <c:manualLayout>
                  <c:x val="1.1944912872400225E-2"/>
                  <c:y val="-4.7505938242280285E-4"/>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2-CE29-4A3D-A133-B53D9B4C9BE0}"/>
                </c:ext>
              </c:extLst>
            </c:dLbl>
            <c:dLbl>
              <c:idx val="8"/>
              <c:layout>
                <c:manualLayout>
                  <c:x val="0"/>
                  <c:y val="0"/>
                </c:manualLayout>
              </c:layout>
              <c:numFmt formatCode="#,##0&quot;%&quot;;&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33-CE29-4A3D-A133-B53D9B4C9B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Sheet1!$A$7:$K$7</c:f>
              <c:numCache>
                <c:formatCode>General</c:formatCode>
                <c:ptCount val="11"/>
                <c:pt idx="0">
                  <c:v>37.913562140542979</c:v>
                </c:pt>
                <c:pt idx="1">
                  <c:v>30.735830758628346</c:v>
                </c:pt>
                <c:pt idx="2">
                  <c:v>5.7727942222479234</c:v>
                </c:pt>
                <c:pt idx="3">
                  <c:v>14.42038559311154</c:v>
                </c:pt>
                <c:pt idx="5">
                  <c:v>2.5896000144792319</c:v>
                </c:pt>
                <c:pt idx="6">
                  <c:v>2.5459974748142877</c:v>
                </c:pt>
                <c:pt idx="7">
                  <c:v>2.6047974034245858</c:v>
                </c:pt>
                <c:pt idx="8">
                  <c:v>12.739512731220371</c:v>
                </c:pt>
                <c:pt idx="10">
                  <c:v>2.6831999829886044</c:v>
                </c:pt>
              </c:numCache>
            </c:numRef>
          </c:val>
          <c:extLst>
            <c:ext xmlns:c16="http://schemas.microsoft.com/office/drawing/2014/chart" uri="{C3380CC4-5D6E-409C-BE32-E72D297353CC}">
              <c16:uniqueId val="{00000034-CE29-4A3D-A133-B53D9B4C9BE0}"/>
            </c:ext>
          </c:extLst>
        </c:ser>
        <c:ser>
          <c:idx val="7"/>
          <c:order val="7"/>
          <c:spPr>
            <a:pattFill prst="ltUpDiag">
              <a:fgClr>
                <a:schemeClr val="tx1"/>
              </a:fgClr>
              <a:bgClr>
                <a:schemeClr val="bg1"/>
              </a:bgClr>
            </a:pattFill>
            <a:ln>
              <a:noFill/>
            </a:ln>
          </c:spPr>
          <c:invertIfNegative val="0"/>
          <c:val>
            <c:numRef>
              <c:f>Sheet1!$A$8:$K$8</c:f>
              <c:numCache>
                <c:formatCode>General</c:formatCode>
                <c:ptCount val="11"/>
                <c:pt idx="2">
                  <c:v>13.524486497844368</c:v>
                </c:pt>
                <c:pt idx="5">
                  <c:v>21.931800015111612</c:v>
                </c:pt>
                <c:pt idx="6">
                  <c:v>13.228286788991872</c:v>
                </c:pt>
                <c:pt idx="7">
                  <c:v>14.405585584060409</c:v>
                </c:pt>
                <c:pt idx="8">
                  <c:v>15.732515747756448</c:v>
                </c:pt>
                <c:pt idx="10">
                  <c:v>9.8645999755151763</c:v>
                </c:pt>
              </c:numCache>
            </c:numRef>
          </c:val>
          <c:extLst>
            <c:ext xmlns:c16="http://schemas.microsoft.com/office/drawing/2014/chart" uri="{C3380CC4-5D6E-409C-BE32-E72D297353CC}">
              <c16:uniqueId val="{00000035-CE29-4A3D-A133-B53D9B4C9BE0}"/>
            </c:ext>
          </c:extLst>
        </c:ser>
        <c:dLbls>
          <c:showLegendKey val="0"/>
          <c:showVal val="0"/>
          <c:showCatName val="0"/>
          <c:showSerName val="0"/>
          <c:showPercent val="0"/>
          <c:showBubbleSize val="0"/>
        </c:dLbls>
        <c:gapWidth val="80"/>
        <c:overlap val="100"/>
        <c:axId val="405951935"/>
        <c:axId val="1"/>
      </c:barChart>
      <c:catAx>
        <c:axId val="405951935"/>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0&quot;%&quot;;&quot;-&quot;#,##0&quot;%&quot;" sourceLinked="0"/>
        <c:majorTickMark val="out"/>
        <c:minorTickMark val="none"/>
        <c:tickLblPos val="nextTo"/>
        <c:spPr>
          <a:ln w="9525" cmpd="sng" algn="ctr">
            <a:solidFill>
              <a:schemeClr val="tx1"/>
            </a:solidFill>
            <a:prstDash val="solid"/>
          </a:ln>
        </c:spPr>
        <c:txPr>
          <a:bodyPr wrap="none"/>
          <a:lstStyle/>
          <a:p>
            <a:pPr>
              <a:defRPr sz="1000" kern="1200">
                <a:solidFill>
                  <a:schemeClr val="tx2"/>
                </a:solidFill>
                <a:latin typeface="+mn-lt"/>
                <a:ea typeface="+mn-ea"/>
                <a:cs typeface="+mn-cs"/>
              </a:defRPr>
            </a:pPr>
            <a:endParaRPr lang="en-US"/>
          </a:p>
        </c:txPr>
        <c:crossAx val="405951935"/>
        <c:crosses val="min"/>
        <c:crossBetween val="between"/>
        <c:majorUnit val="10"/>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layout/>
      <c:barChart>
        <c:barDir val="col"/>
        <c:grouping val="clustered"/>
        <c:varyColors val="0"/>
        <c:ser>
          <c:idx val="0"/>
          <c:order val="0"/>
          <c:tx>
            <c:strRef>
              <c:f>Sheet1!$B$1</c:f>
              <c:strCache>
                <c:ptCount val="1"/>
                <c:pt idx="0">
                  <c:v>Current floor</c:v>
                </c:pt>
              </c:strCache>
            </c:strRef>
          </c:tx>
          <c:spPr>
            <a:solidFill>
              <a:srgbClr val="89A2B0"/>
            </a:solidFill>
            <a:ln>
              <a:noFill/>
            </a:ln>
          </c:spPr>
          <c:invertIfNegative val="0"/>
          <c:dLbls>
            <c:txPr>
              <a:bodyPr rot="0" spcFirstLastPara="1" vertOverflow="ellipsis" wrap="square" anchor="ctr" anchorCtr="1"/>
              <a:lstStyle/>
              <a:p>
                <a:pPr>
                  <a:defRPr sz="1000" b="0">
                    <a:solidFill>
                      <a:srgbClr val="000000"/>
                    </a:solidFill>
                    <a:latin typeface="Arial"/>
                    <a:ea typeface="Arial"/>
                    <a:cs typeface="Arial"/>
                  </a:defRPr>
                </a:pPr>
                <a:endParaRPr lang="en-US"/>
              </a:p>
            </c:txPr>
            <c:dLblPos val="outEnd"/>
            <c:showLegendKey val="0"/>
            <c:showVal val="1"/>
            <c:showCatName val="0"/>
            <c:showSerName val="0"/>
            <c:showPercent val="0"/>
            <c:showBubbleSize val="0"/>
          </c:dLbls>
          <c:cat>
            <c:strRef>
              <c:f>Sheet1!$A$2:$A$5</c:f>
              <c:strCache>
                <c:ptCount val="4"/>
                <c:pt idx="0">
                  <c:v>Virginia</c:v>
                </c:pt>
                <c:pt idx="1">
                  <c:v>Columbia</c:v>
                </c:pt>
                <c:pt idx="2">
                  <c:v>DDG-51</c:v>
                </c:pt>
                <c:pt idx="3">
                  <c:v>Portfolio</c:v>
                </c:pt>
              </c:strCache>
            </c:strRef>
          </c:cat>
          <c:val>
            <c:numRef>
              <c:f>Sheet1!$B$2:$B$5</c:f>
              <c:numCache>
                <c:formatCode>0%</c:formatCode>
                <c:ptCount val="4"/>
                <c:pt idx="0">
                  <c:v>0.34</c:v>
                </c:pt>
                <c:pt idx="1">
                  <c:v>0.22</c:v>
                </c:pt>
                <c:pt idx="2">
                  <c:v>0.13</c:v>
                </c:pt>
                <c:pt idx="3">
                  <c:v>0.26</c:v>
                </c:pt>
              </c:numCache>
            </c:numRef>
          </c:val>
        </c:ser>
        <c:ser>
          <c:idx val="1"/>
          <c:order val="1"/>
          <c:tx>
            <c:strRef>
              <c:f>Sheet1!$C$1</c:f>
              <c:strCache>
                <c:ptCount val="1"/>
                <c:pt idx="0">
                  <c:v>Selected case</c:v>
                </c:pt>
              </c:strCache>
            </c:strRef>
          </c:tx>
          <c:spPr>
            <a:solidFill>
              <a:srgbClr val="486D82"/>
            </a:solidFill>
            <a:ln>
              <a:noFill/>
            </a:ln>
          </c:spPr>
          <c:invertIfNegative val="0"/>
          <c:dLbls>
            <c:txPr>
              <a:bodyPr rot="0" spcFirstLastPara="1" vertOverflow="ellipsis" wrap="square" anchor="ctr" anchorCtr="1"/>
              <a:lstStyle/>
              <a:p>
                <a:pPr>
                  <a:defRPr sz="1000" b="0">
                    <a:solidFill>
                      <a:srgbClr val="000000"/>
                    </a:solidFill>
                    <a:latin typeface="Arial"/>
                    <a:ea typeface="Arial"/>
                    <a:cs typeface="Arial"/>
                  </a:defRPr>
                </a:pPr>
                <a:endParaRPr lang="en-US"/>
              </a:p>
            </c:txPr>
            <c:dLblPos val="outEnd"/>
            <c:showLegendKey val="0"/>
            <c:showVal val="1"/>
            <c:showCatName val="0"/>
            <c:showSerName val="0"/>
            <c:showPercent val="0"/>
            <c:showBubbleSize val="0"/>
          </c:dLbls>
          <c:cat>
            <c:strRef>
              <c:f>Sheet1!$A$2:$A$5</c:f>
              <c:strCache>
                <c:ptCount val="4"/>
                <c:pt idx="0">
                  <c:v>Virginia</c:v>
                </c:pt>
                <c:pt idx="1">
                  <c:v>Columbia</c:v>
                </c:pt>
                <c:pt idx="2">
                  <c:v>DDG-51</c:v>
                </c:pt>
                <c:pt idx="3">
                  <c:v>Portfolio</c:v>
                </c:pt>
              </c:strCache>
            </c:strRef>
          </c:cat>
          <c:val>
            <c:numRef>
              <c:f>Sheet1!$C$2:$C$5</c:f>
              <c:numCache>
                <c:formatCode>0%</c:formatCode>
                <c:ptCount val="4"/>
                <c:pt idx="0">
                  <c:v>0.5</c:v>
                </c:pt>
                <c:pt idx="1">
                  <c:v>0.5</c:v>
                </c:pt>
                <c:pt idx="2">
                  <c:v>0.52</c:v>
                </c:pt>
                <c:pt idx="3">
                  <c:v>0.51</c:v>
                </c:pt>
              </c:numCache>
            </c:numRef>
          </c:val>
        </c:ser>
        <c:ser>
          <c:idx val="2"/>
          <c:order val="2"/>
          <c:tx>
            <c:strRef>
              <c:f>Sheet1!$D$1</c:f>
              <c:strCache>
                <c:ptCount val="1"/>
                <c:pt idx="0">
                  <c:v>Structural ceiling</c:v>
                </c:pt>
              </c:strCache>
            </c:strRef>
          </c:tx>
          <c:spPr>
            <a:solidFill>
              <a:srgbClr val="1D4D68"/>
            </a:solidFill>
            <a:ln>
              <a:noFill/>
            </a:ln>
          </c:spPr>
          <c:invertIfNegative val="0"/>
          <c:dLbls>
            <c:txPr>
              <a:bodyPr rot="0" spcFirstLastPara="1" vertOverflow="ellipsis" wrap="square" anchor="ctr" anchorCtr="1"/>
              <a:lstStyle/>
              <a:p>
                <a:pPr>
                  <a:defRPr sz="1000" b="0">
                    <a:solidFill>
                      <a:srgbClr val="000000"/>
                    </a:solidFill>
                    <a:latin typeface="Arial"/>
                    <a:ea typeface="Arial"/>
                    <a:cs typeface="Arial"/>
                  </a:defRPr>
                </a:pPr>
                <a:endParaRPr lang="en-US"/>
              </a:p>
            </c:txPr>
            <c:dLblPos val="outEnd"/>
            <c:showLegendKey val="0"/>
            <c:showVal val="1"/>
            <c:showCatName val="0"/>
            <c:showSerName val="0"/>
            <c:showPercent val="0"/>
            <c:showBubbleSize val="0"/>
          </c:dLbls>
          <c:cat>
            <c:strRef>
              <c:f>Sheet1!$A$2:$A$5</c:f>
              <c:strCache>
                <c:ptCount val="4"/>
                <c:pt idx="0">
                  <c:v>Virginia</c:v>
                </c:pt>
                <c:pt idx="1">
                  <c:v>Columbia</c:v>
                </c:pt>
                <c:pt idx="2">
                  <c:v>DDG-51</c:v>
                </c:pt>
                <c:pt idx="3">
                  <c:v>Portfolio</c:v>
                </c:pt>
              </c:strCache>
            </c:strRef>
          </c:cat>
          <c:val>
            <c:numRef>
              <c:f>Sheet1!$D$2:$D$5</c:f>
              <c:numCache>
                <c:formatCode>0%</c:formatCode>
                <c:ptCount val="4"/>
                <c:pt idx="0">
                  <c:v>0.75</c:v>
                </c:pt>
                <c:pt idx="1">
                  <c:v>0.75</c:v>
                </c:pt>
                <c:pt idx="2">
                  <c:v>0.8</c:v>
                </c:pt>
                <c:pt idx="3">
                  <c:v>0.76</c:v>
                </c:pt>
              </c:numCache>
            </c:numRef>
          </c:val>
        </c:ser>
        <c:gapWidth val="80"/>
        <c:overlap val="-27"/>
        <c:axId val="111111111"/>
        <c:axId val="222222222"/>
      </c:barChart>
      <c:catAx>
        <c:axId val="111111111"/>
        <c:scaling>
          <c:orientation val="minMax"/>
        </c:scaling>
        <c:delete val="0"/>
        <c:axPos val="b"/>
        <c:numFmt formatCode="General" sourceLinked="1"/>
        <c:majorTickMark val="out"/>
        <c:minorTickMark val="none"/>
        <c:tickLblPos val="nextTo"/>
        <c:spPr>
          <a:ln w="9525" cap="flat">
            <a:solidFill>
              <a:srgbClr val="162029"/>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222222222"/>
        <c:crosses val="autoZero"/>
        <c:auto val="1"/>
        <c:lblAlgn val="ctr"/>
        <c:lblOffset val="100"/>
        <c:noMultiLvlLbl val="0"/>
      </c:catAx>
      <c:valAx>
        <c:axId val="222222222"/>
        <c:scaling>
          <c:orientation val="minMax"/>
          <c:max val="1"/>
          <c:min val="0"/>
        </c:scaling>
        <c:delete val="0"/>
        <c:axPos val="l"/>
        <c:numFmt formatCode="0%" sourceLinked="0"/>
        <c:majorTickMark val="out"/>
        <c:minorTickMark val="none"/>
        <c:tickLblPos val="nextTo"/>
        <c:spPr>
          <a:ln w="9525" cap="flat">
            <a:solidFill>
              <a:srgbClr val="162029"/>
            </a:solidFill>
            <a:prstDash val="solid"/>
          </a:ln>
        </c:spPr>
        <c:txPr>
          <a:bodyPr rot="0" spcFirstLastPara="1" vertOverflow="ellipsis" wrap="square" anchor="ctr" anchorCtr="1"/>
          <a:lstStyle/>
          <a:p>
            <a:pPr>
              <a:defRPr sz="1000" b="0">
                <a:solidFill>
                  <a:srgbClr val="000000"/>
                </a:solidFill>
                <a:latin typeface="Arial"/>
                <a:ea typeface="Arial"/>
                <a:cs typeface="Arial"/>
              </a:defRPr>
            </a:pPr>
            <a:endParaRPr lang="en-US"/>
          </a:p>
        </c:txPr>
        <c:crossAx val="111111111"/>
        <c:crosses val="autoZero"/>
        <c:crossBetween val="between"/>
        <c:majorUnit val="0.25"/>
      </c:valAx>
    </c:plotArea>
    <c:plotVisOnly val="1"/>
    <c:dispBlanksAs val="gap"/>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2612"/>
          </a:xfrm>
          <a:prstGeom prst="rect">
            <a:avLst/>
          </a:prstGeom>
        </p:spPr>
        <p:txBody>
          <a:bodyPr vert="horz" lIns="92307" tIns="46153" rIns="92307" bIns="46153" rtlCol="0"/>
          <a:lstStyle>
            <a:lvl1pPr algn="l">
              <a:defRPr sz="12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927776" y="0"/>
            <a:ext cx="3004820" cy="462612"/>
          </a:xfrm>
          <a:prstGeom prst="rect">
            <a:avLst/>
          </a:prstGeom>
        </p:spPr>
        <p:txBody>
          <a:bodyPr vert="horz" lIns="92307" tIns="46153" rIns="92307" bIns="46153" rtlCol="0"/>
          <a:lstStyle>
            <a:lvl1pPr algn="r">
              <a:defRPr sz="1200"/>
            </a:lvl1pPr>
          </a:lstStyle>
          <a:p>
            <a:fld id="{8ACBDEED-51C7-9D44-8B0E-E5493C8A1496}" type="datetimeFigureOut">
              <a:rPr lang="en-US">
                <a:latin typeface="Arial" panose="020B0604020202020204" pitchFamily="34" charset="0"/>
              </a:rPr>
              <a:t>5/15/2026</a:t>
            </a:fld>
            <a:endParaRPr lang="en-US">
              <a:latin typeface="Arial" panose="020B0604020202020204" pitchFamily="34" charset="0"/>
            </a:endParaRPr>
          </a:p>
        </p:txBody>
      </p:sp>
      <p:sp>
        <p:nvSpPr>
          <p:cNvPr id="4" name="Footer Placeholder 3"/>
          <p:cNvSpPr>
            <a:spLocks noGrp="1"/>
          </p:cNvSpPr>
          <p:nvPr>
            <p:ph type="ftr" sz="quarter" idx="2"/>
          </p:nvPr>
        </p:nvSpPr>
        <p:spPr>
          <a:xfrm>
            <a:off x="0" y="8757591"/>
            <a:ext cx="3004820" cy="462611"/>
          </a:xfrm>
          <a:prstGeom prst="rect">
            <a:avLst/>
          </a:prstGeom>
        </p:spPr>
        <p:txBody>
          <a:bodyPr vert="horz" lIns="92307" tIns="46153" rIns="92307" bIns="46153" rtlCol="0" anchor="b"/>
          <a:lstStyle>
            <a:lvl1pPr algn="l">
              <a:defRPr sz="12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3927776" y="8757591"/>
            <a:ext cx="3004820" cy="462611"/>
          </a:xfrm>
          <a:prstGeom prst="rect">
            <a:avLst/>
          </a:prstGeom>
        </p:spPr>
        <p:txBody>
          <a:bodyPr vert="horz" lIns="92307" tIns="46153" rIns="92307" bIns="46153" rtlCol="0" anchor="b"/>
          <a:lstStyle>
            <a:lvl1pPr algn="r">
              <a:defRPr sz="1200"/>
            </a:lvl1pPr>
          </a:lstStyle>
          <a:p>
            <a:fld id="{89B20CC8-1D49-1F4A-B7DF-0C6E98397D09}" type="slidenum">
              <a:rPr>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36022943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p:bg>
      <p:bgPr>
        <a:solidFill>
          <a:schemeClr val="tx2"/>
        </a:solidFill>
        <a:effectLst/>
      </p:bgPr>
    </p:bg>
    <p:spTree>
      <p:nvGrpSpPr>
        <p:cNvPr id="1" name=""/>
        <p:cNvGrpSpPr/>
        <p:nvPr/>
      </p:nvGrpSpPr>
      <p:grpSpPr>
        <a:xfrm>
          <a:off x="0" y="0"/>
          <a:ext cx="0" cy="0"/>
          <a:chOff x="0" y="0"/>
          <a:chExt cx="0" cy="0"/>
        </a:xfrm>
      </p:grpSpPr>
      <p:sp>
        <p:nvSpPr>
          <p:cNvPr id="8"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p:cNvSpPr>
            <a:spLocks noGrp="1"/>
          </p:cNvSpPr>
          <p:nvPr>
            <p:ph type="title" hasCustomPrompt="1"/>
          </p:nvPr>
        </p:nvSpPr>
        <p:spPr>
          <a:xfrm>
            <a:off x="453080" y="5640670"/>
            <a:ext cx="7776391" cy="473423"/>
          </a:xfrm>
        </p:spPr>
        <p:txBody>
          <a:bodyPr anchor="t"/>
          <a:lstStyle>
            <a:lvl1pPr>
              <a:defRPr sz="1600">
                <a:solidFill>
                  <a:schemeClr val="bg2"/>
                </a:solidFill>
              </a:defRPr>
            </a:lvl1pPr>
          </a:lstStyle>
          <a:p>
            <a:r>
              <a:rPr lang="en-US"/>
              <a:t>Date (16 PT)</a:t>
            </a:r>
          </a:p>
        </p:txBody>
      </p:sp>
      <p:cxnSp>
        <p:nvCxnSpPr>
          <p:cNvPr id="12" name="Straight Connector 11"/>
          <p:cNvCxnSpPr/>
          <p:nvPr userDrawn="1"/>
        </p:nvCxnSpPr>
        <p:spPr>
          <a:xfrm>
            <a:off x="0" y="6400800"/>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solidFill>
                <a:effectLst/>
                <a:uLnTx/>
                <a:uFillTx/>
                <a:latin typeface="Arial" panose="020B0604020202020204"/>
                <a:ea typeface="+mn-ea"/>
                <a:cs typeface="+mn-cs"/>
              </a:rPr>
              <a:t>SARONIC PROPRIETARY AND CONFIDENTIAL</a:t>
            </a:r>
          </a:p>
        </p:txBody>
      </p:sp>
      <p:sp>
        <p:nvSpPr>
          <p:cNvPr id="9" name="Rectangle 8"/>
          <p:cNvSpPr/>
          <p:nvPr userDrawn="1"/>
        </p:nvSpPr>
        <p:spPr>
          <a:xfrm>
            <a:off x="0" y="3429000"/>
            <a:ext cx="0" cy="136506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6"/>
          <p:cNvSpPr>
            <a:spLocks noGrp="1"/>
          </p:cNvSpPr>
          <p:nvPr>
            <p:ph type="body" sz="quarter" idx="12" hasCustomPrompt="1"/>
          </p:nvPr>
        </p:nvSpPr>
        <p:spPr>
          <a:xfrm>
            <a:off x="453080" y="3260838"/>
            <a:ext cx="7776399" cy="2162129"/>
          </a:xfrm>
        </p:spPr>
        <p:txBody>
          <a:bodyPr anchor="b">
            <a:noAutofit/>
          </a:bodyPr>
          <a:lstStyle>
            <a:lvl1pPr marL="0" indent="0">
              <a:lnSpc>
                <a:spcPct val="100000"/>
              </a:lnSpc>
              <a:spcBef>
                <a:spcPts val="0"/>
              </a:spcBef>
              <a:buNone/>
              <a:defRPr sz="3600">
                <a:solidFill>
                  <a:schemeClr val="bg2"/>
                </a:solidFill>
              </a:defRPr>
            </a:lvl1pPr>
          </a:lstStyle>
          <a:p>
            <a:pPr lvl="0"/>
            <a:r>
              <a:rPr lang="en-US"/>
              <a:t>Title (36 PT)</a:t>
            </a:r>
          </a:p>
        </p:txBody>
      </p:sp>
      <p:grpSp>
        <p:nvGrpSpPr>
          <p:cNvPr id="4" name="Group 3"/>
          <p:cNvGrpSpPr/>
          <p:nvPr userDrawn="1"/>
        </p:nvGrpSpPr>
        <p:grpSpPr>
          <a:xfrm>
            <a:off x="453080" y="743907"/>
            <a:ext cx="11230920" cy="1637662"/>
            <a:chOff x="588922" y="596464"/>
            <a:chExt cx="10697007" cy="1559809"/>
          </a:xfrm>
        </p:grpSpPr>
        <p:pic>
          <p:nvPicPr>
            <p:cNvPr id="5" name="Graphic 4"/>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8922" y="596464"/>
              <a:ext cx="7799041" cy="1559809"/>
            </a:xfrm>
            <a:prstGeom prst="rect">
              <a:avLst/>
            </a:prstGeom>
          </p:spPr>
        </p:pic>
        <p:pic>
          <p:nvPicPr>
            <p:cNvPr id="6" name="Graphic 5"/>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80882" y="913377"/>
              <a:ext cx="2305047" cy="914399"/>
            </a:xfrm>
            <a:prstGeom prst="rect">
              <a:avLst/>
            </a:prstGeom>
          </p:spPr>
        </p:pic>
      </p:grpSp>
    </p:spTree>
    <p:extLst>
      <p:ext uri="{BB962C8B-B14F-4D97-AF65-F5344CB8AC3E}">
        <p14:creationId xmlns:p14="http://schemas.microsoft.com/office/powerpoint/2010/main" val="24071211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tx2"/>
        </a:solidFill>
        <a:effectLst/>
      </p:bgPr>
    </p:bg>
    <p:spTree>
      <p:nvGrpSpPr>
        <p:cNvPr id="1" name=""/>
        <p:cNvGrpSpPr/>
        <p:nvPr/>
      </p:nvGrpSpPr>
      <p:grpSpPr>
        <a:xfrm>
          <a:off x="0" y="0"/>
          <a:ext cx="0" cy="0"/>
          <a:chOff x="0" y="0"/>
          <a:chExt cx="0" cy="0"/>
        </a:xfrm>
      </p:grpSpPr>
      <p:sp>
        <p:nvSpPr>
          <p:cNvPr id="10"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solidFill>
                <a:effectLst/>
                <a:uLnTx/>
                <a:uFillTx/>
                <a:latin typeface="Arial" panose="020B0604020202020204"/>
                <a:ea typeface="+mn-ea"/>
                <a:cs typeface="+mn-cs"/>
              </a:rPr>
              <a:t>SARONIC PROPRIETARY AND CONFIDENTIAL</a:t>
            </a:r>
          </a:p>
        </p:txBody>
      </p:sp>
      <p:sp>
        <p:nvSpPr>
          <p:cNvPr id="7" name="Text Placeholder 26"/>
          <p:cNvSpPr>
            <a:spLocks noGrp="1"/>
          </p:cNvSpPr>
          <p:nvPr>
            <p:ph type="body" sz="quarter" idx="11" hasCustomPrompt="1"/>
          </p:nvPr>
        </p:nvSpPr>
        <p:spPr>
          <a:xfrm>
            <a:off x="453082" y="2383743"/>
            <a:ext cx="9153537" cy="2105200"/>
          </a:xfrm>
        </p:spPr>
        <p:txBody>
          <a:bodyPr anchor="b">
            <a:noAutofit/>
          </a:bodyPr>
          <a:lstStyle>
            <a:lvl1pPr marL="0" indent="0">
              <a:lnSpc>
                <a:spcPct val="100000"/>
              </a:lnSpc>
              <a:spcBef>
                <a:spcPts val="0"/>
              </a:spcBef>
              <a:buNone/>
              <a:defRPr sz="3600">
                <a:solidFill>
                  <a:schemeClr val="bg2"/>
                </a:solidFill>
              </a:defRPr>
            </a:lvl1pPr>
          </a:lstStyle>
          <a:p>
            <a:pPr lvl="0"/>
            <a:r>
              <a:rPr lang="en-US"/>
              <a:t>Section Divider Title (36 PT)</a:t>
            </a:r>
          </a:p>
        </p:txBody>
      </p:sp>
      <p:sp>
        <p:nvSpPr>
          <p:cNvPr id="8" name="Text Placeholder 26"/>
          <p:cNvSpPr>
            <a:spLocks noGrp="1"/>
          </p:cNvSpPr>
          <p:nvPr>
            <p:ph type="body" sz="quarter" idx="12" hasCustomPrompt="1"/>
          </p:nvPr>
        </p:nvSpPr>
        <p:spPr>
          <a:xfrm>
            <a:off x="453082" y="4715093"/>
            <a:ext cx="9153537" cy="499503"/>
          </a:xfrm>
        </p:spPr>
        <p:txBody>
          <a:bodyPr anchor="t">
            <a:noAutofit/>
          </a:bodyPr>
          <a:lstStyle>
            <a:lvl1pPr marL="0" marR="0" indent="0" algn="l" defTabSz="914400" rtl="0" eaLnBrk="1" fontAlgn="auto" latinLnBrk="0" hangingPunct="1">
              <a:lnSpc>
                <a:spcPct val="100000"/>
              </a:lnSpc>
              <a:spcBef>
                <a:spcPts val="0"/>
              </a:spcBef>
              <a:spcAft>
                <a:spcPts val="0"/>
              </a:spcAft>
              <a:buClr>
                <a:schemeClr val="tx2"/>
              </a:buClr>
              <a:buSzPct val="120000"/>
              <a:buFont typeface="Arial" panose="020B0604020202020204" pitchFamily="34" charset="0"/>
              <a:buNone/>
              <a:tabLst/>
              <a:defRPr sz="1600">
                <a:solidFill>
                  <a:schemeClr val="bg2"/>
                </a:solidFill>
              </a:defRPr>
            </a:lvl1pPr>
          </a:lstStyle>
          <a:p>
            <a:pPr lvl="0"/>
            <a:r>
              <a:rPr lang="en-US"/>
              <a:t>Subsections / Headline Paragraph (16 PT)</a:t>
            </a:r>
          </a:p>
        </p:txBody>
      </p:sp>
      <p:pic>
        <p:nvPicPr>
          <p:cNvPr id="29" name="Graphic 28"/>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439" y="6477927"/>
            <a:ext cx="226315" cy="301753"/>
          </a:xfrm>
          <a:prstGeom prst="rect">
            <a:avLst/>
          </a:prstGeom>
        </p:spPr>
      </p:pic>
      <p:sp>
        <p:nvSpPr>
          <p:cNvPr id="2" name="TextBox 1"/>
          <p:cNvSpPr txBox="1"/>
          <p:nvPr userDrawn="1"/>
        </p:nvSpPr>
        <p:spPr>
          <a:xfrm>
            <a:off x="11724460" y="6567249"/>
            <a:ext cx="467539" cy="123111"/>
          </a:xfrm>
          <a:prstGeom prst="rect">
            <a:avLst/>
          </a:prstGeom>
          <a:noFill/>
        </p:spPr>
        <p:txBody>
          <a:bodyPr wrap="square" lIns="0" tIns="0" rIns="0" bIns="0" rtlCol="0">
            <a:spAutoFit/>
          </a:bodyPr>
          <a:lstStyle/>
          <a:p>
            <a:pPr algn="ctr"/>
            <a:fld id="{F8FBCD80-1BA2-9C4B-8FD8-FBEEFF13001D}" type="slidenum">
              <a:rPr lang="en-US" sz="800" smtClean="0">
                <a:solidFill>
                  <a:schemeClr val="accent4"/>
                </a:solidFill>
              </a:rPr>
              <a:pPr algn="ctr"/>
              <a:t>‹#›</a:t>
            </a:fld>
            <a:endParaRPr lang="en-US" sz="800">
              <a:solidFill>
                <a:schemeClr val="accent4"/>
              </a:solidFill>
            </a:endParaRPr>
          </a:p>
        </p:txBody>
      </p:sp>
    </p:spTree>
    <p:extLst>
      <p:ext uri="{BB962C8B-B14F-4D97-AF65-F5344CB8AC3E}">
        <p14:creationId xmlns:p14="http://schemas.microsoft.com/office/powerpoint/2010/main" val="36690492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0% Block + Title">
    <p:spTree>
      <p:nvGrpSpPr>
        <p:cNvPr id="1" name=""/>
        <p:cNvGrpSpPr/>
        <p:nvPr/>
      </p:nvGrpSpPr>
      <p:grpSpPr>
        <a:xfrm>
          <a:off x="0" y="0"/>
          <a:ext cx="0" cy="0"/>
          <a:chOff x="0" y="0"/>
          <a:chExt cx="0" cy="0"/>
        </a:xfrm>
      </p:grpSpPr>
      <p:sp>
        <p:nvSpPr>
          <p:cNvPr id="8"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userDrawn="1"/>
        </p:nvSpPr>
        <p:spPr>
          <a:xfrm>
            <a:off x="0" y="0"/>
            <a:ext cx="6096000" cy="640079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55838" y="566400"/>
            <a:ext cx="5181827" cy="566928"/>
          </a:xfrm>
        </p:spPr>
        <p:txBody>
          <a:bodyPr/>
          <a:lstStyle>
            <a:lvl1pPr>
              <a:defRPr>
                <a:solidFill>
                  <a:schemeClr val="bg2"/>
                </a:solidFill>
              </a:defRPr>
            </a:lvl1pPr>
          </a:lstStyle>
          <a:p>
            <a:r>
              <a:rPr lang="en-US"/>
              <a:t>Click to edit Title (20 PT)</a:t>
            </a:r>
          </a:p>
        </p:txBody>
      </p:sp>
      <p:sp>
        <p:nvSpPr>
          <p:cNvPr id="5" name="Text Placeholder 4"/>
          <p:cNvSpPr>
            <a:spLocks noGrp="1"/>
          </p:cNvSpPr>
          <p:nvPr>
            <p:ph type="body" sz="quarter" idx="10" hasCustomPrompt="1"/>
          </p:nvPr>
        </p:nvSpPr>
        <p:spPr>
          <a:xfrm>
            <a:off x="455460" y="263452"/>
            <a:ext cx="4874834" cy="153888"/>
          </a:xfrm>
          <a:prstGeom prst="rect">
            <a:avLst/>
          </a:prstGeom>
        </p:spPr>
        <p:txBody>
          <a:bodyPr wrap="square" lIns="0" tIns="0" rIns="0" bIns="0">
            <a:spAutoFit/>
          </a:bodyPr>
          <a:lstStyle>
            <a:lvl1pPr marL="0" indent="0">
              <a:buNone/>
              <a:defRPr sz="1000">
                <a:solidFill>
                  <a:schemeClr val="bg2"/>
                </a:solidFill>
              </a:defRPr>
            </a:lvl1pPr>
          </a:lstStyle>
          <a:p>
            <a:pPr lvl="0"/>
            <a:r>
              <a:rPr lang="en-US"/>
              <a:t>Category / Description (10 PT)</a:t>
            </a:r>
          </a:p>
        </p:txBody>
      </p:sp>
      <p:sp>
        <p:nvSpPr>
          <p:cNvPr id="3" name="Content Placeholder 5"/>
          <p:cNvSpPr>
            <a:spLocks noGrp="1"/>
          </p:cNvSpPr>
          <p:nvPr>
            <p:ph sz="quarter" idx="15" hasCustomPrompt="1"/>
          </p:nvPr>
        </p:nvSpPr>
        <p:spPr>
          <a:xfrm>
            <a:off x="6552217" y="1424682"/>
            <a:ext cx="5182583" cy="4712658"/>
          </a:xfrm>
        </p:spPr>
        <p:txBody>
          <a:body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16" hasCustomPrompt="1"/>
          </p:nvPr>
        </p:nvSpPr>
        <p:spPr>
          <a:xfrm>
            <a:off x="455460" y="1424682"/>
            <a:ext cx="5181827" cy="4712657"/>
          </a:xfrm>
        </p:spPr>
        <p:txBody>
          <a:bodyPr/>
          <a:lstStyle>
            <a:lvl1pPr>
              <a:buClr>
                <a:schemeClr val="bg2"/>
              </a:buClr>
              <a:defRPr>
                <a:solidFill>
                  <a:schemeClr val="bg2"/>
                </a:solidFill>
              </a:defRPr>
            </a:lvl1pPr>
            <a:lvl2pPr>
              <a:buClr>
                <a:schemeClr val="bg2"/>
              </a:buClr>
              <a:defRPr>
                <a:solidFill>
                  <a:schemeClr val="bg2"/>
                </a:solidFill>
              </a:defRPr>
            </a:lvl2pPr>
            <a:lvl3pPr>
              <a:buClr>
                <a:schemeClr val="bg2"/>
              </a:buCl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stStyle>
          <a:p>
            <a:pPr lvl="0"/>
            <a:r>
              <a:rPr lang="en-US"/>
              <a:t>Click to edit Content (12 PT)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596963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 Blank">
    <p:spTree>
      <p:nvGrpSpPr>
        <p:cNvPr id="1" name=""/>
        <p:cNvGrpSpPr/>
        <p:nvPr/>
      </p:nvGrpSpPr>
      <p:grpSpPr>
        <a:xfrm>
          <a:off x="0" y="0"/>
          <a:ext cx="0" cy="0"/>
          <a:chOff x="0" y="0"/>
          <a:chExt cx="0" cy="0"/>
        </a:xfrm>
      </p:grpSpPr>
      <p:sp>
        <p:nvSpPr>
          <p:cNvPr id="5"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4"/>
          <p:cNvSpPr>
            <a:spLocks noGrp="1"/>
          </p:cNvSpPr>
          <p:nvPr>
            <p:ph type="body" sz="quarter" idx="10" hasCustomPrompt="1"/>
          </p:nvPr>
        </p:nvSpPr>
        <p:spPr>
          <a:xfrm>
            <a:off x="452701" y="263452"/>
            <a:ext cx="4874834" cy="153888"/>
          </a:xfrm>
          <a:prstGeom prst="rect">
            <a:avLst/>
          </a:prstGeom>
        </p:spPr>
        <p:txBody>
          <a:bodyPr wrap="square" lIns="0" tIns="0" rIns="0" bIns="0">
            <a:spAutoFit/>
          </a:bodyPr>
          <a:lstStyle>
            <a:lvl1pPr marL="0" indent="0">
              <a:buNone/>
              <a:defRPr sz="1000">
                <a:solidFill>
                  <a:schemeClr val="tx2"/>
                </a:solidFill>
              </a:defRPr>
            </a:lvl1pPr>
          </a:lstStyle>
          <a:p>
            <a:pPr lvl="0"/>
            <a:r>
              <a:rPr lang="en-US"/>
              <a:t>Category / Description (10 PT)</a:t>
            </a:r>
          </a:p>
        </p:txBody>
      </p:sp>
      <p:sp>
        <p:nvSpPr>
          <p:cNvPr id="2" name="Title 1"/>
          <p:cNvSpPr>
            <a:spLocks noGrp="1"/>
          </p:cNvSpPr>
          <p:nvPr>
            <p:ph type="title" hasCustomPrompt="1"/>
          </p:nvPr>
        </p:nvSpPr>
        <p:spPr>
          <a:xfrm>
            <a:off x="453079" y="566400"/>
            <a:ext cx="11282099" cy="566928"/>
          </a:xfrm>
        </p:spPr>
        <p:txBody>
          <a:bodyPr/>
          <a:lstStyle>
            <a:lvl1pPr>
              <a:defRPr>
                <a:solidFill>
                  <a:schemeClr val="tx1"/>
                </a:solidFill>
              </a:defRPr>
            </a:lvl1pPr>
          </a:lstStyle>
          <a:p>
            <a:r>
              <a:rPr lang="en-US"/>
              <a:t>Click to edit Title (20 PT)</a:t>
            </a:r>
          </a:p>
        </p:txBody>
      </p:sp>
    </p:spTree>
    <p:extLst>
      <p:ext uri="{BB962C8B-B14F-4D97-AF65-F5344CB8AC3E}">
        <p14:creationId xmlns:p14="http://schemas.microsoft.com/office/powerpoint/2010/main" val="36652981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o not remove" hidden="1"/>
          <p:cNvSpPr/>
          <p:nvPr userDrawn="1"/>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5712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Glossary">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5435E64-C67E-B7D2-F1D2-3FF5E4CADA9A}"/>
              </a:ext>
            </a:extLst>
          </p:cNvPr>
          <p:cNvGraphicFramePr>
            <a:graphicFrameLocks/>
          </p:cNvGraphicFramePr>
          <p:nvPr userDrawn="1">
            <p:custDataLst>
              <p:tags r:id="rId8"/>
            </p:custDataLst>
            <p:extLst>
              <p:ext uri="{D42A27DB-BD31-4B8C-83A1-F6EECF244321}">
                <p14:modId xmlns:p14="http://schemas.microsoft.com/office/powerpoint/2010/main" val="12900928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04" imgH="405" progId="TCLayout.ActiveDocument.1">
                  <p:embed/>
                </p:oleObj>
              </mc:Choice>
              <mc:Fallback>
                <p:oleObj name="think-cell Slide" r:id="rId9" imgW="404" imgH="405" progId="TCLayout.ActiveDocument.1">
                  <p:embed/>
                  <p:pic>
                    <p:nvPicPr>
                      <p:cNvPr id="0" name=""/>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52702" y="566399"/>
            <a:ext cx="11282100" cy="566919"/>
          </a:xfrm>
          <a:prstGeom prst="rect">
            <a:avLst/>
          </a:prstGeom>
        </p:spPr>
        <p:txBody>
          <a:bodyPr vert="horz" wrap="square" lIns="0" tIns="0" rIns="0" bIns="0" rtlCol="0" anchor="t">
            <a:noAutofit/>
          </a:bodyPr>
          <a:lstStyle/>
          <a:p>
            <a:r>
              <a:rPr lang="en-US"/>
              <a:t>Click to edit Master Title (20 PT)</a:t>
            </a:r>
            <a:br>
              <a:rPr lang="en-US"/>
            </a:br>
            <a:br>
              <a:rPr lang="en-US"/>
            </a:br>
            <a:endParaRPr lang="en-US"/>
          </a:p>
        </p:txBody>
      </p:sp>
      <p:cxnSp>
        <p:nvCxnSpPr>
          <p:cNvPr id="10" name="Straight Connector 9"/>
          <p:cNvCxnSpPr/>
          <p:nvPr userDrawn="1"/>
        </p:nvCxnSpPr>
        <p:spPr>
          <a:xfrm>
            <a:off x="0" y="6400800"/>
            <a:ext cx="12192000" cy="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26" name="Text Placeholder 25"/>
          <p:cNvSpPr>
            <a:spLocks noGrp="1"/>
          </p:cNvSpPr>
          <p:nvPr>
            <p:ph type="body" idx="1"/>
          </p:nvPr>
        </p:nvSpPr>
        <p:spPr>
          <a:xfrm>
            <a:off x="452701" y="1424682"/>
            <a:ext cx="11282099" cy="4712654"/>
          </a:xfrm>
          <a:prstGeom prst="rect">
            <a:avLst/>
          </a:prstGeom>
        </p:spPr>
        <p:txBody>
          <a:bodyPr vert="horz" lIns="0" tIns="0" rIns="0" bIns="0" rtlCol="0">
            <a:noAutofit/>
          </a:bodyPr>
          <a:lstStyle/>
          <a:p>
            <a:pPr lvl="0"/>
            <a:r>
              <a:rPr lang="en-US"/>
              <a:t>Click to edit Master text styles (12 PT)</a:t>
            </a:r>
          </a:p>
          <a:p>
            <a:pPr lvl="1"/>
            <a:r>
              <a:rPr lang="en-US"/>
              <a:t>Second level</a:t>
            </a:r>
          </a:p>
          <a:p>
            <a:pPr lvl="2"/>
            <a:r>
              <a:rPr lang="en-US"/>
              <a:t>Third level</a:t>
            </a:r>
          </a:p>
          <a:p>
            <a:pPr lvl="3"/>
            <a:r>
              <a:rPr lang="en-US"/>
              <a:t>Fourth level</a:t>
            </a:r>
          </a:p>
          <a:p>
            <a:pPr lvl="4"/>
            <a:r>
              <a:rPr lang="en-US"/>
              <a:t>Fifth level</a:t>
            </a:r>
          </a:p>
        </p:txBody>
      </p:sp>
      <p:sp>
        <p:nvSpPr>
          <p:cNvPr id="11" name="TextBox 10"/>
          <p:cNvSpPr txBox="1"/>
          <p:nvPr userDrawn="1"/>
        </p:nvSpPr>
        <p:spPr>
          <a:xfrm>
            <a:off x="4220848" y="6521083"/>
            <a:ext cx="375030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solidFill>
                <a:effectLst/>
                <a:uLnTx/>
                <a:uFillTx/>
                <a:latin typeface="Arial" panose="020B0604020202020204"/>
                <a:ea typeface="+mn-ea"/>
                <a:cs typeface="+mn-cs"/>
              </a:rPr>
              <a:t>SARONIC PROPRIETARY AND CONFIDENTIAL</a:t>
            </a:r>
          </a:p>
        </p:txBody>
      </p:sp>
      <p:sp>
        <p:nvSpPr>
          <p:cNvPr id="12" name="TextBox 11"/>
          <p:cNvSpPr txBox="1"/>
          <p:nvPr userDrawn="1"/>
        </p:nvSpPr>
        <p:spPr>
          <a:xfrm>
            <a:off x="11724460" y="6567249"/>
            <a:ext cx="467539" cy="123111"/>
          </a:xfrm>
          <a:prstGeom prst="rect">
            <a:avLst/>
          </a:prstGeom>
          <a:noFill/>
        </p:spPr>
        <p:txBody>
          <a:bodyPr wrap="square" lIns="0" tIns="0" rIns="0" bIns="0" rtlCol="0">
            <a:spAutoFit/>
          </a:bodyPr>
          <a:lstStyle/>
          <a:p>
            <a:pPr algn="ctr"/>
            <a:fld id="{F8FBCD80-1BA2-9C4B-8FD8-FBEEFF13001D}" type="slidenum">
              <a:rPr lang="en-US" sz="800" smtClean="0">
                <a:solidFill>
                  <a:schemeClr val="tx2"/>
                </a:solidFill>
              </a:rPr>
              <a:pPr algn="ctr"/>
              <a:t>‹#›</a:t>
            </a:fld>
            <a:endParaRPr lang="en-US" sz="800">
              <a:solidFill>
                <a:schemeClr val="tx2"/>
              </a:solidFill>
            </a:endParaRPr>
          </a:p>
        </p:txBody>
      </p:sp>
      <p:cxnSp>
        <p:nvCxnSpPr>
          <p:cNvPr id="20" name="Straight Connector 19"/>
          <p:cNvCxnSpPr>
            <a:cxnSpLocks/>
          </p:cNvCxnSpPr>
          <p:nvPr userDrawn="1"/>
        </p:nvCxnSpPr>
        <p:spPr>
          <a:xfrm>
            <a:off x="457193" y="6400800"/>
            <a:ext cx="0" cy="45720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cxnSpLocks/>
          </p:cNvCxnSpPr>
          <p:nvPr userDrawn="1"/>
        </p:nvCxnSpPr>
        <p:spPr>
          <a:xfrm>
            <a:off x="11724461" y="6400800"/>
            <a:ext cx="0" cy="457200"/>
          </a:xfrm>
          <a:prstGeom prst="line">
            <a:avLst/>
          </a:prstGeom>
          <a:ln w="6350">
            <a:solidFill>
              <a:schemeClr val="tx2">
                <a:lumMod val="40000"/>
                <a:lumOff val="60000"/>
              </a:schemeClr>
            </a:solidFill>
          </a:ln>
        </p:spPr>
        <p:style>
          <a:lnRef idx="2">
            <a:schemeClr val="accent1"/>
          </a:lnRef>
          <a:fillRef idx="0">
            <a:schemeClr val="accent1"/>
          </a:fillRef>
          <a:effectRef idx="1">
            <a:schemeClr val="accent1"/>
          </a:effectRef>
          <a:fontRef idx="minor">
            <a:schemeClr val="tx1"/>
          </a:fontRef>
        </p:style>
      </p:cxnSp>
      <p:pic>
        <p:nvPicPr>
          <p:cNvPr id="29" name="Graphic 28"/>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15439" y="6477927"/>
            <a:ext cx="226315" cy="301753"/>
          </a:xfrm>
          <a:prstGeom prst="rect">
            <a:avLst/>
          </a:prstGeom>
        </p:spPr>
      </p:pic>
    </p:spTree>
    <p:extLst>
      <p:ext uri="{BB962C8B-B14F-4D97-AF65-F5344CB8AC3E}">
        <p14:creationId xmlns:p14="http://schemas.microsoft.com/office/powerpoint/2010/main" val="833979895"/>
      </p:ext>
    </p:extLst>
  </p:cSld>
  <p:clrMap bg1="lt1" tx1="dk1" bg2="lt2" tx2="dk2" accent1="accent1" accent2="accent2" accent3="accent3" accent4="accent4" accent5="accent5" accent6="accent6" hlink="hlink" folHlink="folHlink"/>
  <p:sldLayoutIdLst>
    <p:sldLayoutId id="2147483674" r:id="rId1"/>
    <p:sldLayoutId id="2147483654" r:id="rId2"/>
    <p:sldLayoutId id="2147483658" r:id="rId3"/>
    <p:sldLayoutId id="2147483661" r:id="rId4"/>
    <p:sldLayoutId id="2147483691" r:id="rId5"/>
    <p:sldLayoutId id="2147483696" r:id="rId6"/>
  </p:sldLayoutIdLst>
  <p:txStyles>
    <p:titleStyle>
      <a:lvl1pPr algn="l" defTabSz="914400" rtl="0" eaLnBrk="1" latinLnBrk="0" hangingPunct="1">
        <a:lnSpc>
          <a:spcPct val="100000"/>
        </a:lnSpc>
        <a:spcBef>
          <a:spcPct val="0"/>
        </a:spcBef>
        <a:buNone/>
        <a:defRPr sz="2000" kern="1200">
          <a:solidFill>
            <a:schemeClr val="tx1"/>
          </a:solidFill>
          <a:latin typeface="+mj-lt"/>
          <a:ea typeface="+mj-ea"/>
          <a:cs typeface="+mj-cs"/>
        </a:defRPr>
      </a:lvl1pPr>
    </p:titleStyle>
    <p:bodyStyle>
      <a:lvl1pPr marL="120650" indent="-120650" algn="l" defTabSz="914400" rtl="0" eaLnBrk="1" latinLnBrk="0" hangingPunct="1">
        <a:lnSpc>
          <a:spcPct val="100000"/>
        </a:lnSpc>
        <a:spcBef>
          <a:spcPts val="800"/>
        </a:spcBef>
        <a:buClr>
          <a:schemeClr val="tx2"/>
        </a:buClr>
        <a:buSzPct val="120000"/>
        <a:buFont typeface="Arial" panose="020B0604020202020204" pitchFamily="34" charset="0"/>
        <a:buChar char="•"/>
        <a:tabLst/>
        <a:defRPr sz="1200" kern="1200">
          <a:solidFill>
            <a:schemeClr val="tx2"/>
          </a:solidFill>
          <a:latin typeface="+mn-lt"/>
          <a:ea typeface="+mn-ea"/>
          <a:cs typeface="+mn-cs"/>
        </a:defRPr>
      </a:lvl1pPr>
      <a:lvl2pPr marL="233363" indent="-117475" algn="l" defTabSz="914400" rtl="0" eaLnBrk="1" latinLnBrk="0" hangingPunct="1">
        <a:lnSpc>
          <a:spcPct val="100000"/>
        </a:lnSpc>
        <a:spcBef>
          <a:spcPts val="800"/>
        </a:spcBef>
        <a:buClr>
          <a:schemeClr val="tx2"/>
        </a:buClr>
        <a:buSzPct val="120000"/>
        <a:buFont typeface="Arial" panose="020B0604020202020204" pitchFamily="34" charset="0"/>
        <a:buChar char="-"/>
        <a:tabLst/>
        <a:defRPr sz="1200" kern="1200">
          <a:solidFill>
            <a:schemeClr val="tx2"/>
          </a:solidFill>
          <a:latin typeface="+mn-lt"/>
          <a:ea typeface="+mn-ea"/>
          <a:cs typeface="+mn-cs"/>
        </a:defRPr>
      </a:lvl2pPr>
      <a:lvl3pPr marL="350838" indent="-117475" algn="l" defTabSz="914400" rtl="0" eaLnBrk="1" latinLnBrk="0" hangingPunct="1">
        <a:lnSpc>
          <a:spcPct val="100000"/>
        </a:lnSpc>
        <a:spcBef>
          <a:spcPts val="800"/>
        </a:spcBef>
        <a:buClr>
          <a:schemeClr val="tx2"/>
        </a:buClr>
        <a:buSzPct val="90000"/>
        <a:buFont typeface="Wingdings" pitchFamily="2" charset="2"/>
        <a:buChar char="§"/>
        <a:tabLst/>
        <a:defRPr sz="1200" kern="1200">
          <a:solidFill>
            <a:schemeClr val="tx2"/>
          </a:solidFill>
          <a:latin typeface="+mn-lt"/>
          <a:ea typeface="+mn-ea"/>
          <a:cs typeface="+mn-cs"/>
        </a:defRPr>
      </a:lvl3pPr>
      <a:lvl4pPr marL="463550" indent="-111125" algn="l" defTabSz="914400" rtl="0" eaLnBrk="1" latinLnBrk="0" hangingPunct="1">
        <a:lnSpc>
          <a:spcPct val="100000"/>
        </a:lnSpc>
        <a:spcBef>
          <a:spcPts val="800"/>
        </a:spcBef>
        <a:buSzPct val="90000"/>
        <a:buFont typeface="Wingdings" pitchFamily="2" charset="2"/>
        <a:buChar char="§"/>
        <a:tabLst/>
        <a:defRPr sz="1200" kern="1200">
          <a:solidFill>
            <a:schemeClr val="tx2"/>
          </a:solidFill>
          <a:latin typeface="+mn-lt"/>
          <a:ea typeface="+mn-ea"/>
          <a:cs typeface="+mn-cs"/>
        </a:defRPr>
      </a:lvl4pPr>
      <a:lvl5pPr marL="573088" indent="-109538" algn="l" defTabSz="914400" rtl="0" eaLnBrk="1" latinLnBrk="0" hangingPunct="1">
        <a:lnSpc>
          <a:spcPct val="100000"/>
        </a:lnSpc>
        <a:spcBef>
          <a:spcPts val="800"/>
        </a:spcBef>
        <a:buSzPct val="90000"/>
        <a:buFont typeface="Wingdings" pitchFamily="2" charset="2"/>
        <a:buChar char="§"/>
        <a:tabLst/>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chart" Target="../charts/char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0" name="StepRationaleLedger"/>
          <p:cNvGraphicFramePr>
            <a:graphicFrameLocks noGrp="1"/>
          </p:cNvGraphicFramePr>
          <p:nvPr/>
        </p:nvGraphicFramePr>
        <p:xfrm>
          <a:off x="7435441" y="1266825"/>
          <a:ext cx="4300000" cy="4875684"/>
        </p:xfrm>
        <a:graphic>
          <a:graphicData uri="http://schemas.openxmlformats.org/drawingml/2006/table">
            <a:tbl>
              <a:tblPr firstRow="1" firstCol="1">
                <a:tableStyleId>{2D5ABB26-0587-4C30-8999-92F81FD0307C}</a:tableStyleId>
              </a:tblPr>
              <a:tblGrid>
                <a:gridCol w="1281269"/>
                <a:gridCol w="3018731"/>
              </a:tblGrid>
              <a:tr h="0">
                <a:tc>
                  <a:txBody>
                    <a:bodyPr/>
                    <a:lstStyle/>
                    <a:p>
                      <a:pPr algn="l">
                        <a:lnSpc>
                          <a:spcPct val="115000"/>
                        </a:lnSpc>
                      </a:pPr>
                      <a:r>
                        <a:rPr lang="en-US" sz="900" b="1">
                          <a:solidFill>
                            <a:srgbClr val="000000"/>
                          </a:solidFill>
                          <a:latin typeface="Arial"/>
                          <a:ea typeface="Arial"/>
                          <a:cs typeface="Arial"/>
                        </a:rPr>
                        <a:t>Step</a:t>
                      </a:r>
                    </a:p>
                  </a:txBody>
                  <a:tcPr marL="45720" marR="4572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a:lnSpc>
                          <a:spcPct val="115000"/>
                        </a:lnSpc>
                      </a:pPr>
                      <a:r>
                        <a:rPr lang="en-US" sz="900" b="1">
                          <a:solidFill>
                            <a:srgbClr val="000000"/>
                          </a:solidFill>
                          <a:latin typeface="Arial"/>
                          <a:ea typeface="Arial"/>
                          <a:cs typeface="Arial"/>
                        </a:rPr>
                        <a:t>Rationale</a:t>
                      </a:r>
                    </a:p>
                  </a:txBody>
                  <a:tcPr marL="45720" marR="45720" anchor="ctr">
                    <a:lnL>
                      <a:noFill/>
                    </a:lnL>
                    <a:lnR>
                      <a:noFill/>
                    </a:lnR>
                    <a:lnT>
                      <a:noFill/>
                    </a:lnT>
                    <a:lnB w="12700" cap="flat" cmpd="sng" algn="ctr">
                      <a:solidFill>
                        <a:srgbClr val="000000"/>
                      </a:solidFill>
                      <a:prstDash val="solid"/>
                      <a:round/>
                      <a:headEnd type="none" w="med" len="med"/>
                      <a:tailEnd type="none" w="med" len="med"/>
                    </a:lnB>
                    <a:noFill/>
                  </a:tcPr>
                </a:tc>
              </a:tr>
              <a:tr h="1097280">
                <a:tc>
                  <a:txBody>
                    <a:bodyPr/>
                    <a:lstStyle/>
                    <a:p>
                      <a:pPr algn="l">
                        <a:lnSpc>
                          <a:spcPct val="115000"/>
                        </a:lnSpc>
                      </a:pPr>
                      <a:r>
                        <a:rPr lang="en-US" sz="900" b="1">
                          <a:solidFill>
                            <a:srgbClr val="FFFFFF"/>
                          </a:solidFill>
                          <a:latin typeface="Arial"/>
                          <a:ea typeface="Arial"/>
                          <a:cs typeface="Arial"/>
                        </a:rPr>
                        <a:t>Total Ship Spend</a:t>
                      </a:r>
                    </a:p>
                  </a:txBody>
                  <a:tcPr marL="45720" marR="45720" anchor="ctr">
                    <a:lnL>
                      <a:noFill/>
                    </a:lnL>
                    <a:lnR>
                      <a:noFill/>
                    </a:lnR>
                    <a:lnT w="12700" cap="flat" cmpd="sng" algn="ctr">
                      <a:solidFill>
                        <a:srgbClr val="000000"/>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9838F"/>
                    </a:solidFill>
                  </a:tcPr>
                </a:tc>
                <a:tc>
                  <a:txBody>
                    <a:bodyPr/>
                    <a:lstStyle/>
                    <a:p>
                      <a:pPr marL="142875" indent="-142875" algn="l">
                        <a:lnSpc>
                          <a:spcPct val="100000"/>
                        </a:lnSpc>
                        <a:buFont typeface="Arial" panose="020B0604020202020204" pitchFamily="34" charset="0"/>
                        <a:buChar char="•"/>
                      </a:pPr>
                      <a:r>
                        <a:rPr lang="en-US" sz="900" b="1" u="sng">
                          <a:solidFill>
                            <a:srgbClr val="000000"/>
                          </a:solidFill>
                          <a:latin typeface="Arial"/>
                          <a:ea typeface="Arial"/>
                          <a:cs typeface="Arial"/>
                        </a:rPr>
                        <a:t>In-Year Spend:</a:t>
                      </a:r>
                      <a:r>
                        <a:rPr lang="en-US" sz="900">
                          <a:solidFill>
                            <a:srgbClr val="000000"/>
                          </a:solidFill>
                          <a:latin typeface="Arial"/>
                          <a:ea typeface="Arial"/>
                          <a:cs typeface="Arial"/>
                        </a:rPr>
                        <a:t> FY2022–FY2027 SCN end cost (P-5c discretionary); OBBBA adds two FY2026 DDG-51s ($5.4B) and a second FY2026 </a:t>
                      </a:r>
                      <a:r>
                        <a:rPr lang="en-US" sz="900" i="1">
                          <a:solidFill>
                            <a:srgbClr val="000000"/>
                          </a:solidFill>
                          <a:latin typeface="Arial"/>
                          <a:ea typeface="Arial"/>
                          <a:cs typeface="Arial"/>
                        </a:rPr>
                        <a:t>Virginia</a:t>
                      </a:r>
                      <a:r>
                        <a:rPr lang="en-US" sz="900">
                          <a:solidFill>
                            <a:srgbClr val="000000"/>
                          </a:solidFill>
                          <a:latin typeface="Arial"/>
                          <a:ea typeface="Arial"/>
                          <a:cs typeface="Arial"/>
                        </a:rPr>
                        <a:t> $4.6B)</a:t>
                      </a:r>
                    </a:p>
                    <a:p>
                      <a:pPr marL="142875" indent="-142875" algn="l">
                        <a:lnSpc>
                          <a:spcPct val="100000"/>
                        </a:lnSpc>
                        <a:buFont typeface="Arial" panose="020B0604020202020204" pitchFamily="34" charset="0"/>
                        <a:buChar char="•"/>
                      </a:pPr>
                      <a:r>
                        <a:rPr lang="en-US" sz="900" b="1" u="sng">
                          <a:solidFill>
                            <a:srgbClr val="000000"/>
                          </a:solidFill>
                          <a:latin typeface="Arial"/>
                          <a:ea typeface="Arial"/>
                          <a:cs typeface="Arial"/>
                        </a:rPr>
                        <a:t>Advanced Procurement / Long-Lead Time Materials:</a:t>
                      </a:r>
                      <a:r>
                        <a:rPr lang="en-US" sz="900" b="1" u="none">
                          <a:solidFill>
                            <a:srgbClr val="000000"/>
                          </a:solidFill>
                          <a:latin typeface="Arial"/>
                          <a:ea typeface="Arial"/>
                          <a:cs typeface="Arial"/>
                        </a:rPr>
                        <a:t> </a:t>
                      </a:r>
                      <a:r>
                        <a:rPr lang="en-US" sz="900">
                          <a:solidFill>
                            <a:srgbClr val="000000"/>
                          </a:solidFill>
                          <a:latin typeface="Arial"/>
                          <a:ea typeface="Arial"/>
                          <a:cs typeface="Arial"/>
                        </a:rPr>
                        <a:t>DDG-51 adds incremental FY2026 AP/LLTM ($1.8B); submarines add none (supplier long-lead is already inside Basic Construction)</a:t>
                      </a:r>
                    </a:p>
                  </a:txBody>
                  <a:tcPr marL="45720" marR="45720" anchor="ctr">
                    <a:lnL>
                      <a:noFill/>
                    </a:lnL>
                    <a:lnR>
                      <a:noFill/>
                    </a:lnR>
                    <a:lnT w="1270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594360">
                <a:tc>
                  <a:txBody>
                    <a:bodyPr/>
                    <a:lstStyle/>
                    <a:p>
                      <a:pPr algn="l">
                        <a:lnSpc>
                          <a:spcPct val="115000"/>
                        </a:lnSpc>
                      </a:pPr>
                      <a:r>
                        <a:rPr lang="en-US" sz="900" b="1">
                          <a:solidFill>
                            <a:srgbClr val="000000"/>
                          </a:solidFill>
                          <a:latin typeface="Arial"/>
                          <a:ea typeface="Arial"/>
                          <a:cs typeface="Arial"/>
                        </a:rPr>
                        <a:t>Less: Government-Furnished Equipment</a:t>
                      </a:r>
                    </a:p>
                  </a:txBody>
                  <a:tcPr marL="45720" marR="4572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FC2CC"/>
                    </a:solidFill>
                  </a:tcPr>
                </a:tc>
                <a:tc>
                  <a:txBody>
                    <a:bodyPr/>
                    <a:lstStyle/>
                    <a:p>
                      <a:pPr marL="142875" indent="-142875" algn="l">
                        <a:lnSpc>
                          <a:spcPct val="100000"/>
                        </a:lnSpc>
                        <a:buFont typeface="Arial" panose="020B0604020202020204" pitchFamily="34" charset="0"/>
                        <a:buChar char="•"/>
                      </a:pPr>
                      <a:r>
                        <a:rPr lang="en-US" sz="900">
                          <a:solidFill>
                            <a:srgbClr val="000000"/>
                          </a:solidFill>
                          <a:latin typeface="Arial"/>
                          <a:ea typeface="Arial"/>
                          <a:cs typeface="Arial"/>
                        </a:rPr>
                        <a:t>Removes GFE (propulsion, electronics, and ordnance) the Navy buys directly and furnished to Primes </a:t>
                      </a:r>
                    </a:p>
                    <a:p>
                      <a:pPr marL="142875" indent="-142875" algn="l">
                        <a:lnSpc>
                          <a:spcPct val="100000"/>
                        </a:lnSpc>
                        <a:buFont typeface="Arial" panose="020B0604020202020204" pitchFamily="34" charset="0"/>
                        <a:buChar char="•"/>
                      </a:pPr>
                      <a:r>
                        <a:rPr lang="en-US" sz="900">
                          <a:solidFill>
                            <a:srgbClr val="000000"/>
                          </a:solidFill>
                          <a:latin typeface="Arial"/>
                          <a:ea typeface="Arial"/>
                          <a:cs typeface="Arial"/>
                        </a:rPr>
                        <a:t>GFE is non-addressable to outsourced Basic Construction players</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640080">
                <a:tc>
                  <a:txBody>
                    <a:bodyPr/>
                    <a:lstStyle/>
                    <a:p>
                      <a:pPr algn="l">
                        <a:lnSpc>
                          <a:spcPct val="115000"/>
                        </a:lnSpc>
                      </a:pPr>
                      <a:r>
                        <a:rPr lang="en-US" sz="900" b="1">
                          <a:solidFill>
                            <a:schemeClr val="bg1"/>
                          </a:solidFill>
                          <a:latin typeface="Arial"/>
                          <a:ea typeface="Arial"/>
                          <a:cs typeface="Arial"/>
                        </a:rPr>
                        <a:t>Less: Other non-BC</a:t>
                      </a:r>
                    </a:p>
                  </a:txBody>
                  <a:tcPr marL="45720" marR="4572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9A2B0"/>
                    </a:solidFill>
                  </a:tcPr>
                </a:tc>
                <a:tc>
                  <a:txBody>
                    <a:bodyPr/>
                    <a:lstStyle/>
                    <a:p>
                      <a:pPr marL="142875" indent="-142875" algn="l">
                        <a:lnSpc>
                          <a:spcPct val="100000"/>
                        </a:lnSpc>
                        <a:buFont typeface="Arial" panose="020B0604020202020204" pitchFamily="34" charset="0"/>
                        <a:buChar char="•"/>
                      </a:pPr>
                      <a:r>
                        <a:rPr lang="en-US" sz="900">
                          <a:solidFill>
                            <a:srgbClr val="000000"/>
                          </a:solidFill>
                          <a:latin typeface="Arial"/>
                          <a:ea typeface="Arial"/>
                          <a:cs typeface="Arial"/>
                        </a:rPr>
                        <a:t>Removes engineering and program costs (</a:t>
                      </a:r>
                      <a:r>
                        <a:rPr lang="en-US" sz="900">
                          <a:solidFill>
                            <a:srgbClr val="000000"/>
                          </a:solidFill>
                          <a:latin typeface="+mn-lt"/>
                          <a:ea typeface="Arial"/>
                          <a:cs typeface="Arial"/>
                        </a:rPr>
                        <a:t>e.g., plans, change orders, and other non-construction activities) </a:t>
                      </a:r>
                      <a:r>
                        <a:rPr lang="en-US" sz="900">
                          <a:solidFill>
                            <a:srgbClr val="000000"/>
                          </a:solidFill>
                          <a:latin typeface="Arial"/>
                          <a:ea typeface="Arial"/>
                          <a:cs typeface="Arial"/>
                        </a:rPr>
                        <a:t>as these generally conducted by Primes</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254916">
                <a:tc>
                  <a:txBody>
                    <a:bodyPr/>
                    <a:lstStyle/>
                    <a:p>
                      <a:pPr algn="l">
                        <a:lnSpc>
                          <a:spcPct val="115000"/>
                        </a:lnSpc>
                      </a:pPr>
                      <a:r>
                        <a:rPr lang="en-US" sz="900" b="1">
                          <a:solidFill>
                            <a:srgbClr val="FFFFFF"/>
                          </a:solidFill>
                          <a:latin typeface="Arial"/>
                          <a:ea typeface="Arial"/>
                          <a:cs typeface="Arial"/>
                        </a:rPr>
                        <a:t>Basic Construction</a:t>
                      </a:r>
                    </a:p>
                  </a:txBody>
                  <a:tcPr marL="45720" marR="4572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9838F"/>
                    </a:solidFill>
                  </a:tcPr>
                </a:tc>
                <a:tc>
                  <a:txBody>
                    <a:bodyPr/>
                    <a:lstStyle/>
                    <a:p>
                      <a:pPr algn="l">
                        <a:lnSpc>
                          <a:spcPct val="100000"/>
                        </a:lnSpc>
                      </a:pPr>
                      <a:r>
                        <a:rPr lang="en-US" sz="900" b="0" i="1">
                          <a:solidFill>
                            <a:srgbClr val="000000"/>
                          </a:solidFill>
                          <a:latin typeface="Arial"/>
                          <a:ea typeface="Arial"/>
                          <a:cs typeface="Arial"/>
                        </a:rPr>
                        <a:t>Calculation</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720188">
                <a:tc>
                  <a:txBody>
                    <a:bodyPr/>
                    <a:lstStyle/>
                    <a:p>
                      <a:pPr algn="l">
                        <a:lnSpc>
                          <a:spcPct val="115000"/>
                        </a:lnSpc>
                      </a:pPr>
                      <a:r>
                        <a:rPr lang="en-US" sz="900" b="1">
                          <a:solidFill>
                            <a:srgbClr val="FFFFFF"/>
                          </a:solidFill>
                          <a:latin typeface="Arial"/>
                          <a:ea typeface="Arial"/>
                          <a:cs typeface="Arial"/>
                        </a:rPr>
                        <a:t>Less: Prime BC</a:t>
                      </a:r>
                    </a:p>
                  </a:txBody>
                  <a:tcPr marL="45720" marR="4572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86D82"/>
                    </a:solidFill>
                  </a:tcPr>
                </a:tc>
                <a:tc>
                  <a:txBody>
                    <a:bodyPr/>
                    <a:lstStyle/>
                    <a:p>
                      <a:pPr marL="142875" indent="-142875" algn="l">
                        <a:lnSpc>
                          <a:spcPct val="115000"/>
                        </a:lnSpc>
                        <a:buFont typeface="Arial" panose="020B0604020202020204" pitchFamily="34" charset="0"/>
                        <a:buChar char="•"/>
                      </a:pPr>
                      <a:r>
                        <a:rPr lang="en-US" sz="900">
                          <a:solidFill>
                            <a:srgbClr val="000000"/>
                          </a:solidFill>
                          <a:latin typeface="+mn-lt"/>
                          <a:ea typeface="Arial"/>
                          <a:cs typeface="Arial"/>
                        </a:rPr>
                        <a:t>Removes construction the Primes perform in their own yards.</a:t>
                      </a:r>
                    </a:p>
                    <a:p>
                      <a:pPr marL="142875" indent="-142875" algn="l">
                        <a:lnSpc>
                          <a:spcPct val="115000"/>
                        </a:lnSpc>
                        <a:buFont typeface="Arial" panose="020B0604020202020204" pitchFamily="34" charset="0"/>
                        <a:buChar char="•"/>
                      </a:pPr>
                      <a:r>
                        <a:rPr lang="en-US" sz="900">
                          <a:solidFill>
                            <a:srgbClr val="000000"/>
                          </a:solidFill>
                          <a:latin typeface="+mn-lt"/>
                          <a:ea typeface="Arial"/>
                          <a:cs typeface="Arial"/>
                        </a:rPr>
                        <a:t>BC spend x the announced outside-yard share from DoD award place-of-performance data: ~25% DDG-51 (FY22 ships 22%), 34% </a:t>
                      </a:r>
                      <a:r>
                        <a:rPr lang="en-US" sz="900" i="1">
                          <a:solidFill>
                            <a:srgbClr val="000000"/>
                          </a:solidFill>
                          <a:latin typeface="+mn-lt"/>
                          <a:ea typeface="Arial"/>
                          <a:cs typeface="Arial"/>
                        </a:rPr>
                        <a:t>Virginia</a:t>
                      </a:r>
                      <a:r>
                        <a:rPr lang="en-US" sz="900">
                          <a:solidFill>
                            <a:srgbClr val="000000"/>
                          </a:solidFill>
                          <a:latin typeface="+mn-lt"/>
                          <a:ea typeface="Arial"/>
                          <a:cs typeface="Arial"/>
                        </a:rPr>
                        <a:t> / 22% </a:t>
                      </a:r>
                      <a:r>
                        <a:rPr lang="en-US" sz="900" i="1">
                          <a:solidFill>
                            <a:srgbClr val="000000"/>
                          </a:solidFill>
                          <a:latin typeface="+mn-lt"/>
                          <a:ea typeface="Arial"/>
                          <a:cs typeface="Arial"/>
                        </a:rPr>
                        <a:t>Columbia</a:t>
                      </a:r>
                      <a:r>
                        <a:rPr lang="en-US" sz="900">
                          <a:solidFill>
                            <a:srgbClr val="000000"/>
                          </a:solidFill>
                          <a:latin typeface="+mn-lt"/>
                          <a:ea typeface="Arial"/>
                          <a:cs typeface="Arial"/>
                        </a:rPr>
                        <a:t>.</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650259">
                <a:tc>
                  <a:txBody>
                    <a:bodyPr/>
                    <a:lstStyle/>
                    <a:p>
                      <a:pPr algn="l">
                        <a:lnSpc>
                          <a:spcPct val="115000"/>
                        </a:lnSpc>
                      </a:pPr>
                      <a:r>
                        <a:rPr lang="en-US" sz="900" b="1">
                          <a:solidFill>
                            <a:srgbClr val="FFFFFF"/>
                          </a:solidFill>
                          <a:latin typeface="Arial"/>
                          <a:ea typeface="Arial"/>
                          <a:cs typeface="Arial"/>
                        </a:rPr>
                        <a:t>Less: Prime AP/LLTM</a:t>
                      </a:r>
                    </a:p>
                  </a:txBody>
                  <a:tcPr marL="45720" marR="4572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D4D68"/>
                    </a:solidFill>
                  </a:tcPr>
                </a:tc>
                <a:tc>
                  <a:txBody>
                    <a:bodyPr/>
                    <a:lstStyle/>
                    <a:p>
                      <a:pPr marL="142875" indent="-142875" algn="l">
                        <a:lnSpc>
                          <a:spcPct val="115000"/>
                        </a:lnSpc>
                        <a:buFont typeface="Arial" panose="020B0604020202020204" pitchFamily="34" charset="0"/>
                        <a:buChar char="•"/>
                      </a:pPr>
                      <a:r>
                        <a:rPr lang="en-US" sz="900" b="1" u="sng">
                          <a:solidFill>
                            <a:srgbClr val="000000"/>
                          </a:solidFill>
                          <a:latin typeface="+mn-lt"/>
                          <a:ea typeface="Arial"/>
                          <a:cs typeface="Arial"/>
                        </a:rPr>
                        <a:t>DDG-51:</a:t>
                      </a:r>
                      <a:r>
                        <a:rPr lang="en-US" sz="900">
                          <a:solidFill>
                            <a:srgbClr val="000000"/>
                          </a:solidFill>
                          <a:latin typeface="+mn-lt"/>
                          <a:ea typeface="Arial"/>
                          <a:cs typeface="Arial"/>
                        </a:rPr>
                        <a:t> The P-10 EOQ base is vendor-purchased material, so Primes retain none — $0 removed; the full $1.0B flows to Outsourced BC.</a:t>
                      </a:r>
                    </a:p>
                    <a:p>
                      <a:pPr marL="142875" indent="-142875" algn="l">
                        <a:lnSpc>
                          <a:spcPct val="115000"/>
                        </a:lnSpc>
                        <a:buFont typeface="Arial" panose="020B0604020202020204" pitchFamily="34" charset="0"/>
                        <a:buChar char="•"/>
                      </a:pPr>
                      <a:r>
                        <a:rPr lang="en-US" sz="900" b="1" u="sng">
                          <a:solidFill>
                            <a:srgbClr val="000000"/>
                          </a:solidFill>
                          <a:latin typeface="+mn-lt"/>
                          <a:ea typeface="Arial"/>
                          <a:cs typeface="Arial"/>
                        </a:rPr>
                        <a:t>Submarines:</a:t>
                      </a:r>
                      <a:r>
                        <a:rPr lang="en-US" sz="900">
                          <a:solidFill>
                            <a:srgbClr val="000000"/>
                          </a:solidFill>
                          <a:latin typeface="+mn-lt"/>
                          <a:ea typeface="Arial"/>
                          <a:cs typeface="Arial"/>
                        </a:rPr>
                        <a:t> No AP/LLTM stream exists, so there is nothing to remove.</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274320">
                <a:tc>
                  <a:txBody>
                    <a:bodyPr/>
                    <a:lstStyle/>
                    <a:p>
                      <a:pPr algn="l">
                        <a:lnSpc>
                          <a:spcPct val="115000"/>
                        </a:lnSpc>
                      </a:pPr>
                      <a:r>
                        <a:rPr lang="en-US" sz="900" b="1">
                          <a:solidFill>
                            <a:srgbClr val="FFFFFF"/>
                          </a:solidFill>
                          <a:latin typeface="Arial"/>
                          <a:ea typeface="Arial"/>
                          <a:cs typeface="Arial"/>
                        </a:rPr>
                        <a:t>Outsourced BC</a:t>
                      </a:r>
                    </a:p>
                  </a:txBody>
                  <a:tcPr marL="45720" marR="45720" anchor="ctr">
                    <a:lnL>
                      <a:noFill/>
                    </a:lnL>
                    <a:lnR>
                      <a:noFill/>
                    </a:lnR>
                    <a:lnT w="6350" cap="flat" cmpd="sng" algn="ctr">
                      <a:solidFill>
                        <a:schemeClr val="bg1"/>
                      </a:solidFill>
                      <a:prstDash val="solid"/>
                      <a:round/>
                      <a:headEnd type="none" w="med" len="med"/>
                      <a:tailEnd type="none" w="med" len="med"/>
                    </a:lnT>
                    <a:lnB>
                      <a:noFill/>
                    </a:lnB>
                    <a:solidFill>
                      <a:srgbClr val="162029"/>
                    </a:solidFill>
                  </a:tcPr>
                </a:tc>
                <a:tc>
                  <a:txBody>
                    <a:bodyPr/>
                    <a:lstStyle/>
                    <a:p>
                      <a:pPr algn="l">
                        <a:lnSpc>
                          <a:spcPct val="100000"/>
                        </a:lnSpc>
                      </a:pPr>
                      <a:r>
                        <a:rPr lang="en-US" sz="900" b="0" i="1">
                          <a:solidFill>
                            <a:srgbClr val="000000"/>
                          </a:solidFill>
                          <a:latin typeface="Arial"/>
                          <a:ea typeface="Arial"/>
                          <a:cs typeface="Arial"/>
                        </a:rPr>
                        <a:t>Calculation</a:t>
                      </a:r>
                    </a:p>
                  </a:txBody>
                  <a:tcPr marL="45720" marR="45720" anchor="ctr">
                    <a:lnL>
                      <a:noFill/>
                    </a:lnL>
                    <a:lnR>
                      <a:noFill/>
                    </a:lnR>
                    <a:lnT w="6350" cap="flat" cmpd="sng" algn="ctr">
                      <a:solidFill>
                        <a:srgbClr val="808080"/>
                      </a:solidFill>
                      <a:prstDash val="solid"/>
                      <a:round/>
                      <a:headEnd type="none" w="med" len="med"/>
                      <a:tailEnd type="none" w="med" len="med"/>
                    </a:lnT>
                    <a:lnB>
                      <a:noFill/>
                    </a:lnB>
                    <a:noFill/>
                  </a:tcPr>
                </a:tc>
              </a:tr>
            </a:tbl>
          </a:graphicData>
        </a:graphic>
      </p:graphicFrame>
      <p:graphicFrame>
        <p:nvGraphicFramePr>
          <p:cNvPr id="314" name="StepRationaleLedger"/>
          <p:cNvGraphicFramePr>
            <a:graphicFrameLocks noGrp="1"/>
          </p:cNvGraphicFramePr>
          <p:nvPr/>
        </p:nvGraphicFramePr>
        <p:xfrm>
          <a:off x="453079" y="1266825"/>
          <a:ext cx="6712362" cy="235712"/>
        </p:xfrm>
        <a:graphic>
          <a:graphicData uri="http://schemas.openxmlformats.org/drawingml/2006/table">
            <a:tbl>
              <a:tblPr firstRow="1" firstCol="1">
                <a:tableStyleId>{2D5ABB26-0587-4C30-8999-92F81FD0307C}</a:tableStyleId>
              </a:tblPr>
              <a:tblGrid>
                <a:gridCol w="6712362"/>
              </a:tblGrid>
              <a:tr h="0">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Arial"/>
                          <a:ea typeface="Arial"/>
                          <a:cs typeface="Arial"/>
                        </a:rPr>
                        <a:t>Walk to Outsourced Basic Construction Spend ($B, cumulative FY22-FY27, FY26 $)</a:t>
                      </a:r>
                    </a:p>
                  </a:txBody>
                  <a:tcPr marL="45720" marR="45720" anchor="ctr">
                    <a:lnL>
                      <a:noFill/>
                    </a:lnL>
                    <a:lnR>
                      <a:noFill/>
                    </a:lnR>
                    <a:lnT>
                      <a:noFill/>
                    </a:lnT>
                    <a:lnB w="12700" cap="flat" cmpd="sng" algn="ctr">
                      <a:solidFill>
                        <a:srgbClr val="000000"/>
                      </a:solidFill>
                      <a:prstDash val="solid"/>
                      <a:round/>
                      <a:headEnd type="none" w="med" len="med"/>
                      <a:tailEnd type="none" w="med" len="med"/>
                    </a:lnB>
                    <a:noFill/>
                  </a:tcPr>
                </a:tc>
              </a:tr>
            </a:tbl>
          </a:graphicData>
        </a:graphic>
      </p:graphicFrame>
      <p:graphicFrame>
        <p:nvGraphicFramePr>
          <p:cNvPr id="371" name="Chart 70"/>
          <p:cNvGraphicFramePr/>
          <p:nvPr/>
        </p:nvGraphicFramePr>
        <p:xfrm>
          <a:off x="4214813" y="1809750"/>
          <a:ext cx="2746375" cy="43307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78" name="Chart 77"/>
          <p:cNvGraphicFramePr/>
          <p:nvPr/>
        </p:nvGraphicFramePr>
        <p:xfrm>
          <a:off x="1422400" y="1811338"/>
          <a:ext cx="2746375" cy="4330700"/>
        </p:xfrm>
        <a:graphic>
          <a:graphicData uri="http://schemas.openxmlformats.org/drawingml/2006/chart">
            <c:chart xmlns:c="http://schemas.openxmlformats.org/drawingml/2006/chart" xmlns:r="http://schemas.openxmlformats.org/officeDocument/2006/relationships" r:id="rId3"/>
          </a:graphicData>
        </a:graphic>
      </p:graphicFrame>
      <p:cxnSp>
        <p:nvCxnSpPr>
          <p:cNvPr id="317" name="Straight Connector 16"/>
          <p:cNvCxnSpPr/>
          <p:nvPr/>
        </p:nvCxnSpPr>
        <p:spPr bwMode="auto">
          <a:xfrm>
            <a:off x="6878638" y="2465388"/>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5" name="Straight Connector 24"/>
          <p:cNvCxnSpPr/>
          <p:nvPr/>
        </p:nvCxnSpPr>
        <p:spPr bwMode="auto">
          <a:xfrm>
            <a:off x="6330950" y="3019425"/>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6" name="Straight Connector 25"/>
          <p:cNvCxnSpPr/>
          <p:nvPr/>
        </p:nvCxnSpPr>
        <p:spPr bwMode="auto">
          <a:xfrm>
            <a:off x="6030913" y="3573463"/>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1" name="Straight Connector 40"/>
          <p:cNvCxnSpPr/>
          <p:nvPr/>
        </p:nvCxnSpPr>
        <p:spPr bwMode="auto">
          <a:xfrm>
            <a:off x="6030913" y="4129088"/>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3" name="Straight Connector 42"/>
          <p:cNvCxnSpPr/>
          <p:nvPr/>
        </p:nvCxnSpPr>
        <p:spPr bwMode="auto">
          <a:xfrm>
            <a:off x="4816475" y="4683125"/>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4" name="Straight Connector 43"/>
          <p:cNvCxnSpPr/>
          <p:nvPr/>
        </p:nvCxnSpPr>
        <p:spPr bwMode="auto">
          <a:xfrm>
            <a:off x="4816475" y="5237163"/>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45" name="Rectangle 44"/>
          <p:cNvSpPr/>
          <p:nvPr/>
        </p:nvSpPr>
        <p:spPr bwMode="auto">
          <a:xfrm>
            <a:off x="4813300" y="4929188"/>
            <a:ext cx="6350" cy="307975"/>
          </a:xfrm>
          <a:prstGeom prst="rect">
            <a:avLst/>
          </a:prstGeom>
          <a:solidFill>
            <a:schemeClr val="accent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8" name="Straight Connector 27"/>
          <p:cNvCxnSpPr/>
          <p:nvPr/>
        </p:nvCxnSpPr>
        <p:spPr bwMode="auto">
          <a:xfrm>
            <a:off x="4086225" y="2466975"/>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9" name="Straight Connector 28"/>
          <p:cNvCxnSpPr/>
          <p:nvPr/>
        </p:nvCxnSpPr>
        <p:spPr bwMode="auto">
          <a:xfrm>
            <a:off x="3209925" y="3021013"/>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37" name="Straight Connector 36"/>
          <p:cNvCxnSpPr/>
          <p:nvPr/>
        </p:nvCxnSpPr>
        <p:spPr bwMode="auto">
          <a:xfrm>
            <a:off x="3054350" y="3575050"/>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38" name="Straight Connector 37"/>
          <p:cNvCxnSpPr/>
          <p:nvPr/>
        </p:nvCxnSpPr>
        <p:spPr bwMode="auto">
          <a:xfrm>
            <a:off x="3054350" y="4130675"/>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39" name="Straight Connector 38"/>
          <p:cNvCxnSpPr/>
          <p:nvPr/>
        </p:nvCxnSpPr>
        <p:spPr bwMode="auto">
          <a:xfrm>
            <a:off x="1944688" y="4684713"/>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0" name="Straight Connector 39"/>
          <p:cNvCxnSpPr/>
          <p:nvPr/>
        </p:nvCxnSpPr>
        <p:spPr bwMode="auto">
          <a:xfrm>
            <a:off x="1944688" y="5238750"/>
            <a:ext cx="0" cy="2460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49" name="Rectangle 48"/>
          <p:cNvSpPr/>
          <p:nvPr/>
        </p:nvSpPr>
        <p:spPr bwMode="auto">
          <a:xfrm>
            <a:off x="1941513" y="4930775"/>
            <a:ext cx="6350" cy="307975"/>
          </a:xfrm>
          <a:prstGeom prst="rect">
            <a:avLst/>
          </a:prstGeom>
          <a:solidFill>
            <a:schemeClr val="accent2"/>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Text Placeholder 25"/>
          <p:cNvSpPr>
            <a:spLocks/>
          </p:cNvSpPr>
          <p:nvPr/>
        </p:nvSpPr>
        <p:spPr bwMode="gray">
          <a:xfrm>
            <a:off x="3997325" y="2236788"/>
            <a:ext cx="104775"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a:t>
            </a:r>
            <a:endParaRPr lang="en-US" sz="1000"/>
          </a:p>
        </p:txBody>
      </p:sp>
      <p:sp>
        <p:nvSpPr>
          <p:cNvPr id="302" name="Breadcrumb"/>
          <p:cNvSpPr>
            <a:spLocks noGrp="1"/>
          </p:cNvSpPr>
          <p:nvPr>
            <p:ph type="body" sz="quarter" idx="10"/>
          </p:nvPr>
        </p:nvSpPr>
        <p:spPr>
          <a:xfrm>
            <a:off x="453079" y="263452"/>
            <a:ext cx="11282362" cy="153888"/>
          </a:xfrm>
        </p:spPr>
        <p:txBody>
          <a:bodyPr/>
          <a:lstStyle/>
          <a:p>
            <a:r>
              <a:rPr lang="en-US" sz="1000" b="1" kern="1200">
                <a:solidFill>
                  <a:srgbClr val="44505C"/>
                </a:solidFill>
                <a:latin typeface="Arial"/>
                <a:ea typeface="Arial"/>
                <a:cs typeface="Arial"/>
              </a:rPr>
              <a:t>Executive Summary</a:t>
            </a:r>
            <a:r>
              <a:rPr lang="en-US" sz="1000" kern="1200">
                <a:solidFill>
                  <a:srgbClr val="44505C"/>
                </a:solidFill>
                <a:latin typeface="Arial"/>
                <a:ea typeface="Arial"/>
                <a:cs typeface="Arial"/>
              </a:rPr>
              <a:t> / Supplier TAM and SAM</a:t>
            </a:r>
          </a:p>
        </p:txBody>
      </p:sp>
      <p:sp>
        <p:nvSpPr>
          <p:cNvPr id="304" name="PrelimChip"/>
          <p:cNvSpPr txBox="1"/>
          <p:nvPr/>
        </p:nvSpPr>
        <p:spPr>
          <a:xfrm>
            <a:off x="10267829" y="111556"/>
            <a:ext cx="1467612" cy="290000"/>
          </a:xfrm>
          <a:prstGeom prst="rect">
            <a:avLst/>
          </a:prstGeom>
          <a:solidFill>
            <a:srgbClr val="FFFFCC"/>
          </a:solidFill>
          <a:ln w="19050">
            <a:solidFill>
              <a:srgbClr val="000000"/>
            </a:solidFill>
          </a:ln>
        </p:spPr>
        <p:txBody>
          <a:bodyPr wrap="square" lIns="45720" tIns="9144" rIns="45720" bIns="9144" anchor="ctr"/>
          <a:lstStyle/>
          <a:p>
            <a:pPr algn="ctr"/>
            <a:r>
              <a:rPr lang="en-US" sz="1200" b="1" kern="1200">
                <a:solidFill>
                  <a:srgbClr val="000000"/>
                </a:solidFill>
                <a:latin typeface="Arial"/>
                <a:ea typeface="Arial"/>
                <a:cs typeface="Arial"/>
              </a:rPr>
              <a:t>Preliminary</a:t>
            </a:r>
          </a:p>
        </p:txBody>
      </p:sp>
      <p:sp>
        <p:nvSpPr>
          <p:cNvPr id="303" name="Title"/>
          <p:cNvSpPr>
            <a:spLocks noGrp="1"/>
          </p:cNvSpPr>
          <p:nvPr>
            <p:ph type="title"/>
          </p:nvPr>
        </p:nvSpPr>
        <p:spPr>
          <a:xfrm>
            <a:off x="453079" y="554500"/>
            <a:ext cx="11282362" cy="640080"/>
          </a:xfrm>
        </p:spPr>
        <p:txBody>
          <a:bodyPr vert="horz" rIns="0"/>
          <a:lstStyle/>
          <a:p>
            <a:r>
              <a:rPr lang="en-US" sz="2000" kern="1200">
                <a:solidFill>
                  <a:srgbClr val="162029"/>
                </a:solidFill>
                <a:latin typeface="Arial"/>
                <a:ea typeface="Arial"/>
                <a:cs typeface="Arial"/>
              </a:rPr>
              <a:t>Outsourced Basic Construction | </a:t>
            </a:r>
            <a:r>
              <a:rPr lang="en-US">
                <a:solidFill>
                  <a:srgbClr val="162029"/>
                </a:solidFill>
                <a:ea typeface="Arial"/>
                <a:cs typeface="Arial"/>
              </a:rPr>
              <a:t>Across FY22-FY27, total ship spend narrows to an annualized ~$1.1B of outsourced work for DDG-51 and ~$3.0B for submarines.</a:t>
            </a:r>
            <a:endParaRPr lang="en-US" sz="2000" kern="1200">
              <a:solidFill>
                <a:srgbClr val="162029"/>
              </a:solidFill>
              <a:latin typeface="Arial"/>
              <a:ea typeface="Arial"/>
              <a:cs typeface="Arial"/>
            </a:endParaRPr>
          </a:p>
        </p:txBody>
      </p:sp>
      <p:sp>
        <p:nvSpPr>
          <p:cNvPr id="320" name="ProgramChip"/>
          <p:cNvSpPr txBox="1"/>
          <p:nvPr/>
        </p:nvSpPr>
        <p:spPr>
          <a:xfrm>
            <a:off x="2046799" y="1587500"/>
            <a:ext cx="1900000" cy="198347"/>
          </a:xfrm>
          <a:prstGeom prst="rect">
            <a:avLst/>
          </a:prstGeom>
          <a:noFill/>
          <a:ln w="12700">
            <a:solidFill>
              <a:srgbClr val="000000"/>
            </a:solidFill>
          </a:ln>
        </p:spPr>
        <p:txBody>
          <a:bodyPr wrap="square" lIns="0" tIns="0" rIns="0" bIns="0" anchor="ctr"/>
          <a:lstStyle/>
          <a:p>
            <a:pPr algn="ctr">
              <a:lnSpc>
                <a:spcPct val="115000"/>
              </a:lnSpc>
              <a:buNone/>
            </a:pPr>
            <a:r>
              <a:rPr lang="en-US" sz="900" b="1" i="1">
                <a:solidFill>
                  <a:srgbClr val="000000"/>
                </a:solidFill>
                <a:latin typeface="Arial"/>
                <a:ea typeface="Arial"/>
                <a:cs typeface="Arial"/>
              </a:rPr>
              <a:t>DDG-51</a:t>
            </a:r>
          </a:p>
        </p:txBody>
      </p:sp>
      <p:sp>
        <p:nvSpPr>
          <p:cNvPr id="321" name="ProgramChip"/>
          <p:cNvSpPr txBox="1"/>
          <p:nvPr/>
        </p:nvSpPr>
        <p:spPr>
          <a:xfrm>
            <a:off x="4952350" y="1587500"/>
            <a:ext cx="1900000" cy="198347"/>
          </a:xfrm>
          <a:prstGeom prst="rect">
            <a:avLst/>
          </a:prstGeom>
          <a:noFill/>
          <a:ln w="12700">
            <a:solidFill>
              <a:srgbClr val="000000"/>
            </a:solidFill>
          </a:ln>
        </p:spPr>
        <p:txBody>
          <a:bodyPr wrap="square" lIns="0" tIns="0" rIns="0" bIns="0" anchor="ctr"/>
          <a:lstStyle/>
          <a:p>
            <a:pPr algn="ctr">
              <a:lnSpc>
                <a:spcPct val="115000"/>
              </a:lnSpc>
              <a:buNone/>
            </a:pPr>
            <a:r>
              <a:rPr lang="en-US" sz="1000" b="1" i="1">
                <a:solidFill>
                  <a:srgbClr val="000000"/>
                </a:solidFill>
                <a:latin typeface="Arial"/>
                <a:ea typeface="Arial"/>
                <a:cs typeface="Arial"/>
              </a:rPr>
              <a:t>Virginia / Columbia-class</a:t>
            </a:r>
          </a:p>
        </p:txBody>
      </p:sp>
      <p:sp>
        <p:nvSpPr>
          <p:cNvPr id="322" name="StreamCaption"/>
          <p:cNvSpPr txBox="1"/>
          <p:nvPr/>
        </p:nvSpPr>
        <p:spPr>
          <a:xfrm>
            <a:off x="2571826" y="1836738"/>
            <a:ext cx="800000" cy="170000"/>
          </a:xfrm>
          <a:prstGeom prst="rect">
            <a:avLst/>
          </a:prstGeom>
          <a:noFill/>
          <a:ln>
            <a:noFill/>
          </a:ln>
        </p:spPr>
        <p:txBody>
          <a:bodyPr wrap="square" lIns="0" tIns="0" rIns="0" bIns="0" anchor="b"/>
          <a:lstStyle/>
          <a:p>
            <a:pPr algn="ctr">
              <a:lnSpc>
                <a:spcPct val="115000"/>
              </a:lnSpc>
              <a:buNone/>
            </a:pPr>
            <a:r>
              <a:rPr lang="en-US" sz="850" i="1">
                <a:solidFill>
                  <a:srgbClr val="000000"/>
                </a:solidFill>
                <a:latin typeface="Arial"/>
                <a:ea typeface="Arial"/>
                <a:cs typeface="Arial"/>
              </a:rPr>
              <a:t>In-Year</a:t>
            </a:r>
          </a:p>
        </p:txBody>
      </p:sp>
      <p:sp>
        <p:nvSpPr>
          <p:cNvPr id="324" name="StreamCaption"/>
          <p:cNvSpPr txBox="1"/>
          <p:nvPr/>
        </p:nvSpPr>
        <p:spPr>
          <a:xfrm>
            <a:off x="5439385" y="1836738"/>
            <a:ext cx="800000" cy="170000"/>
          </a:xfrm>
          <a:prstGeom prst="rect">
            <a:avLst/>
          </a:prstGeom>
          <a:noFill/>
          <a:ln>
            <a:noFill/>
          </a:ln>
        </p:spPr>
        <p:txBody>
          <a:bodyPr wrap="square" lIns="0" tIns="0" rIns="0" bIns="0" anchor="b"/>
          <a:lstStyle/>
          <a:p>
            <a:pPr algn="ctr">
              <a:lnSpc>
                <a:spcPct val="115000"/>
              </a:lnSpc>
              <a:buNone/>
            </a:pPr>
            <a:r>
              <a:rPr lang="en-US" sz="850" i="1">
                <a:solidFill>
                  <a:srgbClr val="000000"/>
                </a:solidFill>
                <a:latin typeface="Arial"/>
                <a:ea typeface="Arial"/>
                <a:cs typeface="Arial"/>
              </a:rPr>
              <a:t>In-Year</a:t>
            </a:r>
          </a:p>
        </p:txBody>
      </p:sp>
      <p:sp>
        <p:nvSpPr>
          <p:cNvPr id="305" name="Sources"/>
          <p:cNvSpPr txBox="1"/>
          <p:nvPr/>
        </p:nvSpPr>
        <p:spPr>
          <a:xfrm>
            <a:off x="453079" y="6122985"/>
            <a:ext cx="11282362" cy="316666"/>
          </a:xfrm>
          <a:prstGeom prst="rect">
            <a:avLst/>
          </a:prstGeom>
          <a:noFill/>
          <a:ln>
            <a:noFill/>
          </a:ln>
        </p:spPr>
        <p:txBody>
          <a:bodyPr wrap="square" lIns="91440" tIns="45720" rIns="91440" bIns="45720" anchor="t"/>
          <a:lstStyle/>
          <a:p>
            <a:r>
              <a:rPr lang="en-US" sz="800">
                <a:solidFill>
                  <a:srgbClr val="162029"/>
                </a:solidFill>
                <a:ea typeface="Arial"/>
                <a:cs typeface="Arial"/>
              </a:rPr>
              <a:t>Sources: Navy SCN P-5c / P-40 budget justification, FY22–FY27, and PB27 FYDP outyears (FY28–FY31); FY26, PL 119-21 Sec. 20002; PB27 SCN, Columbia P-10 Strategic Outsourcing narrative; OUSD(C) Green Book Procurement deflators; Navy Shipbuilding Plan; PB27 SCN Exhibit P-10, LI 2122 (AP/LLTM Ship Construction EOQ); DoD contract award announcements (announced place-of-performance)</a:t>
            </a:r>
          </a:p>
        </p:txBody>
      </p:sp>
      <p:sp>
        <p:nvSpPr>
          <p:cNvPr id="306" name="StreamCaption"/>
          <p:cNvSpPr txBox="1"/>
          <p:nvPr/>
        </p:nvSpPr>
        <p:spPr>
          <a:xfrm>
            <a:off x="3520283" y="1836738"/>
            <a:ext cx="800000" cy="170000"/>
          </a:xfrm>
          <a:prstGeom prst="rect">
            <a:avLst/>
          </a:prstGeom>
          <a:noFill/>
          <a:ln>
            <a:noFill/>
          </a:ln>
        </p:spPr>
        <p:txBody>
          <a:bodyPr wrap="square" lIns="0" tIns="0" rIns="0" bIns="0" anchor="b"/>
          <a:lstStyle/>
          <a:p>
            <a:pPr algn="ctr">
              <a:lnSpc>
                <a:spcPct val="115000"/>
              </a:lnSpc>
              <a:buNone/>
            </a:pPr>
            <a:r>
              <a:rPr lang="en-US" sz="850" i="1">
                <a:solidFill>
                  <a:srgbClr val="000000"/>
                </a:solidFill>
                <a:latin typeface="Arial"/>
                <a:ea typeface="Arial"/>
                <a:cs typeface="Arial"/>
              </a:rPr>
              <a:t>AP/LLTM</a:t>
            </a:r>
          </a:p>
        </p:txBody>
      </p:sp>
      <p:sp>
        <p:nvSpPr>
          <p:cNvPr id="307" name="AnnualizedCallout"/>
          <p:cNvSpPr txBox="1"/>
          <p:nvPr/>
        </p:nvSpPr>
        <p:spPr>
          <a:xfrm>
            <a:off x="2992410" y="5224463"/>
            <a:ext cx="1150000" cy="430000"/>
          </a:xfrm>
          <a:prstGeom prst="rect">
            <a:avLst/>
          </a:prstGeom>
          <a:solidFill>
            <a:srgbClr val="FFFFFF"/>
          </a:solidFill>
          <a:ln w="12700">
            <a:solidFill>
              <a:srgbClr val="000000"/>
            </a:solidFill>
          </a:ln>
        </p:spPr>
        <p:txBody>
          <a:bodyPr wrap="square" lIns="0" tIns="0" rIns="0" bIns="0" anchor="ctr"/>
          <a:lstStyle/>
          <a:p>
            <a:pPr algn="ctr">
              <a:lnSpc>
                <a:spcPct val="115000"/>
              </a:lnSpc>
              <a:spcAft>
                <a:spcPts val="20"/>
              </a:spcAft>
              <a:buNone/>
            </a:pPr>
            <a:r>
              <a:rPr lang="en-US" sz="1400" b="1">
                <a:solidFill>
                  <a:srgbClr val="000000"/>
                </a:solidFill>
                <a:latin typeface="Arial"/>
                <a:ea typeface="Arial"/>
                <a:cs typeface="Arial"/>
              </a:rPr>
              <a:t>~$1.1B</a:t>
            </a:r>
          </a:p>
          <a:p>
            <a:pPr algn="ctr">
              <a:lnSpc>
                <a:spcPct val="115000"/>
              </a:lnSpc>
              <a:buNone/>
            </a:pPr>
            <a:r>
              <a:rPr lang="en-US" sz="900" i="1">
                <a:solidFill>
                  <a:srgbClr val="000000"/>
                </a:solidFill>
                <a:latin typeface="Arial"/>
                <a:ea typeface="Arial"/>
                <a:cs typeface="Arial"/>
              </a:rPr>
              <a:t>annualized</a:t>
            </a:r>
          </a:p>
        </p:txBody>
      </p:sp>
      <p:sp>
        <p:nvSpPr>
          <p:cNvPr id="308" name="AnnualizedCallout"/>
          <p:cNvSpPr txBox="1"/>
          <p:nvPr/>
        </p:nvSpPr>
        <p:spPr>
          <a:xfrm>
            <a:off x="6093101" y="5224463"/>
            <a:ext cx="1150000" cy="430000"/>
          </a:xfrm>
          <a:prstGeom prst="rect">
            <a:avLst/>
          </a:prstGeom>
          <a:solidFill>
            <a:srgbClr val="FFFFFF"/>
          </a:solidFill>
          <a:ln w="12700">
            <a:solidFill>
              <a:srgbClr val="000000"/>
            </a:solidFill>
          </a:ln>
        </p:spPr>
        <p:txBody>
          <a:bodyPr wrap="square" lIns="0" tIns="0" rIns="0" bIns="0" anchor="ctr"/>
          <a:lstStyle/>
          <a:p>
            <a:pPr algn="ctr">
              <a:lnSpc>
                <a:spcPct val="115000"/>
              </a:lnSpc>
              <a:spcAft>
                <a:spcPts val="20"/>
              </a:spcAft>
              <a:buNone/>
            </a:pPr>
            <a:r>
              <a:rPr lang="en-US" sz="1400" b="1">
                <a:solidFill>
                  <a:srgbClr val="000000"/>
                </a:solidFill>
                <a:latin typeface="Arial"/>
                <a:ea typeface="Arial"/>
                <a:cs typeface="Arial"/>
              </a:rPr>
              <a:t>~$3.0B</a:t>
            </a:r>
          </a:p>
          <a:p>
            <a:pPr algn="ctr">
              <a:lnSpc>
                <a:spcPct val="115000"/>
              </a:lnSpc>
              <a:buNone/>
            </a:pPr>
            <a:r>
              <a:rPr lang="en-US" sz="900" i="1">
                <a:solidFill>
                  <a:srgbClr val="000000"/>
                </a:solidFill>
                <a:latin typeface="Arial"/>
                <a:ea typeface="Arial"/>
                <a:cs typeface="Arial"/>
              </a:rPr>
              <a:t>annualized</a:t>
            </a:r>
          </a:p>
        </p:txBody>
      </p:sp>
      <p:cxnSp>
        <p:nvCxnSpPr>
          <p:cNvPr id="309" name="Straight Connector 18"/>
          <p:cNvCxnSpPr>
            <a:cxnSpLocks/>
          </p:cNvCxnSpPr>
          <p:nvPr/>
        </p:nvCxnSpPr>
        <p:spPr>
          <a:xfrm flipV="1">
            <a:off x="4191795" y="2040000"/>
            <a:ext cx="0" cy="3845180"/>
          </a:xfrm>
          <a:prstGeom prst="line">
            <a:avLst/>
          </a:prstGeom>
          <a:ln w="635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311" name="StepLabel"/>
          <p:cNvSpPr txBox="1"/>
          <p:nvPr/>
        </p:nvSpPr>
        <p:spPr>
          <a:xfrm>
            <a:off x="453079" y="2197100"/>
            <a:ext cx="1400000" cy="220000"/>
          </a:xfrm>
          <a:prstGeom prst="rect">
            <a:avLst/>
          </a:prstGeom>
          <a:noFill/>
          <a:ln>
            <a:noFill/>
          </a:ln>
        </p:spPr>
        <p:txBody>
          <a:bodyPr wrap="square" lIns="0" tIns="0" rIns="0" bIns="0" anchor="ctr"/>
          <a:lstStyle/>
          <a:p>
            <a:pPr algn="l">
              <a:lnSpc>
                <a:spcPct val="115000"/>
              </a:lnSpc>
              <a:buNone/>
            </a:pPr>
            <a:r>
              <a:rPr lang="en-US" sz="900">
                <a:solidFill>
                  <a:srgbClr val="000000"/>
                </a:solidFill>
                <a:latin typeface="Arial"/>
                <a:ea typeface="Arial"/>
                <a:cs typeface="Arial"/>
              </a:rPr>
              <a:t>Total Ship Spend</a:t>
            </a:r>
          </a:p>
        </p:txBody>
      </p:sp>
      <p:sp>
        <p:nvSpPr>
          <p:cNvPr id="312" name="StepLabel"/>
          <p:cNvSpPr txBox="1"/>
          <p:nvPr/>
        </p:nvSpPr>
        <p:spPr>
          <a:xfrm>
            <a:off x="453079" y="2752725"/>
            <a:ext cx="1400000" cy="220000"/>
          </a:xfrm>
          <a:prstGeom prst="rect">
            <a:avLst/>
          </a:prstGeom>
          <a:noFill/>
          <a:ln>
            <a:noFill/>
          </a:ln>
        </p:spPr>
        <p:txBody>
          <a:bodyPr wrap="square" lIns="0" tIns="0" rIns="0" bIns="0" anchor="ctr"/>
          <a:lstStyle/>
          <a:p>
            <a:pPr algn="l">
              <a:lnSpc>
                <a:spcPct val="115000"/>
              </a:lnSpc>
              <a:buNone/>
            </a:pPr>
            <a:r>
              <a:rPr lang="en-US" sz="900">
                <a:solidFill>
                  <a:srgbClr val="000000"/>
                </a:solidFill>
                <a:latin typeface="Arial"/>
                <a:ea typeface="Arial"/>
                <a:cs typeface="Arial"/>
              </a:rPr>
              <a:t>Less: GFE</a:t>
            </a:r>
          </a:p>
        </p:txBody>
      </p:sp>
      <p:sp>
        <p:nvSpPr>
          <p:cNvPr id="313" name="StepLabel"/>
          <p:cNvSpPr txBox="1"/>
          <p:nvPr/>
        </p:nvSpPr>
        <p:spPr>
          <a:xfrm>
            <a:off x="453079" y="3308350"/>
            <a:ext cx="1400000" cy="220000"/>
          </a:xfrm>
          <a:prstGeom prst="rect">
            <a:avLst/>
          </a:prstGeom>
          <a:noFill/>
          <a:ln>
            <a:noFill/>
          </a:ln>
        </p:spPr>
        <p:txBody>
          <a:bodyPr wrap="square" lIns="0" tIns="0" rIns="0" bIns="0" anchor="ctr"/>
          <a:lstStyle/>
          <a:p>
            <a:pPr algn="l">
              <a:lnSpc>
                <a:spcPct val="115000"/>
              </a:lnSpc>
              <a:buNone/>
            </a:pPr>
            <a:r>
              <a:rPr lang="en-US" sz="900">
                <a:solidFill>
                  <a:srgbClr val="000000"/>
                </a:solidFill>
                <a:latin typeface="Arial"/>
                <a:ea typeface="Arial"/>
                <a:cs typeface="Arial"/>
              </a:rPr>
              <a:t>Less: Other non-BC</a:t>
            </a:r>
          </a:p>
        </p:txBody>
      </p:sp>
      <p:sp>
        <p:nvSpPr>
          <p:cNvPr id="315" name="StepLabel"/>
          <p:cNvSpPr txBox="1"/>
          <p:nvPr/>
        </p:nvSpPr>
        <p:spPr>
          <a:xfrm>
            <a:off x="453079" y="3863975"/>
            <a:ext cx="1400000" cy="220000"/>
          </a:xfrm>
          <a:prstGeom prst="rect">
            <a:avLst/>
          </a:prstGeom>
          <a:noFill/>
          <a:ln>
            <a:noFill/>
          </a:ln>
        </p:spPr>
        <p:txBody>
          <a:bodyPr wrap="square" lIns="0" tIns="0" rIns="0" bIns="0" anchor="ctr"/>
          <a:lstStyle/>
          <a:p>
            <a:pPr algn="l">
              <a:lnSpc>
                <a:spcPct val="115000"/>
              </a:lnSpc>
              <a:buNone/>
            </a:pPr>
            <a:r>
              <a:rPr lang="en-US" sz="900">
                <a:solidFill>
                  <a:srgbClr val="000000"/>
                </a:solidFill>
                <a:latin typeface="Arial"/>
                <a:ea typeface="Arial"/>
                <a:cs typeface="Arial"/>
              </a:rPr>
              <a:t>Basic Construction</a:t>
            </a:r>
          </a:p>
        </p:txBody>
      </p:sp>
      <p:sp>
        <p:nvSpPr>
          <p:cNvPr id="318" name="StepLabel"/>
          <p:cNvSpPr txBox="1"/>
          <p:nvPr/>
        </p:nvSpPr>
        <p:spPr>
          <a:xfrm>
            <a:off x="453079" y="4421188"/>
            <a:ext cx="1400000" cy="220000"/>
          </a:xfrm>
          <a:prstGeom prst="rect">
            <a:avLst/>
          </a:prstGeom>
          <a:noFill/>
          <a:ln>
            <a:noFill/>
          </a:ln>
        </p:spPr>
        <p:txBody>
          <a:bodyPr wrap="square" lIns="0" tIns="0" rIns="0" bIns="0" anchor="ctr"/>
          <a:lstStyle/>
          <a:p>
            <a:pPr algn="l">
              <a:lnSpc>
                <a:spcPct val="115000"/>
              </a:lnSpc>
              <a:buNone/>
            </a:pPr>
            <a:r>
              <a:rPr lang="en-US" sz="900">
                <a:solidFill>
                  <a:srgbClr val="000000"/>
                </a:solidFill>
                <a:latin typeface="Arial"/>
                <a:ea typeface="Arial"/>
                <a:cs typeface="Arial"/>
              </a:rPr>
              <a:t>Less: Prime BC</a:t>
            </a:r>
          </a:p>
        </p:txBody>
      </p:sp>
      <p:sp>
        <p:nvSpPr>
          <p:cNvPr id="327" name="StepLabel"/>
          <p:cNvSpPr txBox="1"/>
          <p:nvPr/>
        </p:nvSpPr>
        <p:spPr>
          <a:xfrm>
            <a:off x="453079" y="4976813"/>
            <a:ext cx="1400000" cy="220000"/>
          </a:xfrm>
          <a:prstGeom prst="rect">
            <a:avLst/>
          </a:prstGeom>
          <a:noFill/>
          <a:ln>
            <a:noFill/>
          </a:ln>
        </p:spPr>
        <p:txBody>
          <a:bodyPr wrap="square" lIns="0" tIns="0" rIns="0" bIns="0" anchor="ctr"/>
          <a:lstStyle/>
          <a:p>
            <a:pPr algn="l">
              <a:lnSpc>
                <a:spcPct val="115000"/>
              </a:lnSpc>
              <a:buNone/>
            </a:pPr>
            <a:r>
              <a:rPr lang="en-US" sz="900">
                <a:solidFill>
                  <a:srgbClr val="000000"/>
                </a:solidFill>
                <a:latin typeface="Arial"/>
                <a:ea typeface="Arial"/>
                <a:cs typeface="Arial"/>
              </a:rPr>
              <a:t>Less: Prime</a:t>
            </a:r>
            <a:br>
              <a:rPr lang="en-US" sz="900">
                <a:solidFill>
                  <a:srgbClr val="000000"/>
                </a:solidFill>
                <a:latin typeface="Arial"/>
                <a:ea typeface="Arial"/>
                <a:cs typeface="Arial"/>
              </a:rPr>
            </a:br>
            <a:r>
              <a:rPr lang="en-US" sz="900">
                <a:solidFill>
                  <a:srgbClr val="000000"/>
                </a:solidFill>
                <a:latin typeface="Arial"/>
                <a:ea typeface="Arial"/>
                <a:cs typeface="Arial"/>
              </a:rPr>
              <a:t>AP/LLTM</a:t>
            </a:r>
          </a:p>
        </p:txBody>
      </p:sp>
      <p:sp>
        <p:nvSpPr>
          <p:cNvPr id="342" name="StepLabel"/>
          <p:cNvSpPr txBox="1"/>
          <p:nvPr/>
        </p:nvSpPr>
        <p:spPr>
          <a:xfrm>
            <a:off x="453079" y="5532438"/>
            <a:ext cx="1400000" cy="220000"/>
          </a:xfrm>
          <a:prstGeom prst="rect">
            <a:avLst/>
          </a:prstGeom>
          <a:noFill/>
          <a:ln>
            <a:noFill/>
          </a:ln>
        </p:spPr>
        <p:txBody>
          <a:bodyPr wrap="square" lIns="0" tIns="0" rIns="0" bIns="0" anchor="ctr"/>
          <a:lstStyle/>
          <a:p>
            <a:pPr algn="l">
              <a:lnSpc>
                <a:spcPct val="115000"/>
              </a:lnSpc>
              <a:buNone/>
            </a:pPr>
            <a:r>
              <a:rPr lang="en-US" sz="900">
                <a:solidFill>
                  <a:srgbClr val="000000"/>
                </a:solidFill>
                <a:latin typeface="Arial"/>
                <a:ea typeface="Arial"/>
                <a:cs typeface="Arial"/>
              </a:rPr>
              <a:t>Outsourced BC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6" name="ClassifierLedger"/>
          <p:cNvGraphicFramePr>
            <a:graphicFrameLocks noGrp="1"/>
          </p:cNvGraphicFramePr>
          <p:nvPr/>
        </p:nvGraphicFramePr>
        <p:xfrm>
          <a:off x="7040880" y="1544832"/>
          <a:ext cx="4694238" cy="3416304"/>
        </p:xfrm>
        <a:graphic>
          <a:graphicData uri="http://schemas.openxmlformats.org/drawingml/2006/table">
            <a:tbl>
              <a:tblPr firstRow="1" firstCol="1">
                <a:tableStyleId>{2D5ABB26-0587-4C30-8999-92F81FD0307C}</a:tableStyleId>
              </a:tblPr>
              <a:tblGrid>
                <a:gridCol w="914400"/>
                <a:gridCol w="3779838"/>
              </a:tblGrid>
              <a:tr h="229088">
                <a:tc>
                  <a:txBody>
                    <a:bodyPr/>
                    <a:lstStyle/>
                    <a:p>
                      <a:pPr algn="l">
                        <a:lnSpc>
                          <a:spcPct val="115000"/>
                        </a:lnSpc>
                      </a:pPr>
                      <a:r>
                        <a:rPr lang="en-US" sz="1000" b="1">
                          <a:solidFill>
                            <a:srgbClr val="000000"/>
                          </a:solidFill>
                          <a:latin typeface="Arial"/>
                          <a:ea typeface="Arial"/>
                          <a:cs typeface="Arial"/>
                        </a:rPr>
                        <a:t>Stage</a:t>
                      </a:r>
                    </a:p>
                  </a:txBody>
                  <a:tcPr marL="45720" marR="45720" anchor="ctr">
                    <a:lnL>
                      <a:noFill/>
                    </a:lnL>
                    <a:lnR>
                      <a:noFill/>
                    </a:lnR>
                    <a:lnT>
                      <a:noFill/>
                    </a:lnT>
                    <a:lnB w="19050" cap="flat" cmpd="sng" algn="ctr">
                      <a:solidFill>
                        <a:srgbClr val="000000"/>
                      </a:solidFill>
                      <a:prstDash val="solid"/>
                    </a:lnB>
                    <a:noFill/>
                  </a:tcPr>
                </a:tc>
                <a:tc>
                  <a:txBody>
                    <a:bodyPr/>
                    <a:lstStyle/>
                    <a:p>
                      <a:pPr algn="l">
                        <a:lnSpc>
                          <a:spcPct val="115000"/>
                        </a:lnSpc>
                      </a:pPr>
                      <a:r>
                        <a:rPr lang="en-US" sz="1000" b="1">
                          <a:solidFill>
                            <a:srgbClr val="000000"/>
                          </a:solidFill>
                          <a:latin typeface="Arial"/>
                          <a:ea typeface="Arial"/>
                          <a:cs typeface="Arial"/>
                        </a:rPr>
                        <a:t>Rule applied</a:t>
                      </a:r>
                    </a:p>
                  </a:txBody>
                  <a:tcPr marL="45720" marR="45720" anchor="ctr">
                    <a:lnL>
                      <a:noFill/>
                    </a:lnL>
                    <a:lnR>
                      <a:noFill/>
                    </a:lnR>
                    <a:lnT>
                      <a:noFill/>
                    </a:lnT>
                    <a:lnB w="19050" cap="flat" cmpd="sng" algn="ctr">
                      <a:solidFill>
                        <a:srgbClr val="000000"/>
                      </a:solidFill>
                      <a:prstDash val="solid"/>
                    </a:lnB>
                    <a:noFill/>
                  </a:tcPr>
                </a:tc>
              </a:tr>
              <a:tr h="356625">
                <a:tc>
                  <a:txBody>
                    <a:bodyPr/>
                    <a:lstStyle/>
                    <a:p>
                      <a:pPr algn="l">
                        <a:lnSpc>
                          <a:spcPct val="115000"/>
                        </a:lnSpc>
                      </a:pPr>
                      <a:r>
                        <a:rPr lang="en-US" sz="1000" b="1">
                          <a:solidFill>
                            <a:srgbClr val="000000"/>
                          </a:solidFill>
                          <a:latin typeface="Arial"/>
                          <a:ea typeface="Arial"/>
                          <a:cs typeface="Arial"/>
                        </a:rPr>
                        <a:t>1. Award pull</a:t>
                      </a:r>
                    </a:p>
                  </a:txBody>
                  <a:tcPr marL="45720" marR="45720" anchor="ctr">
                    <a:lnL>
                      <a:noFill/>
                    </a:lnL>
                    <a:lnR>
                      <a:noFill/>
                    </a:lnR>
                    <a:lnT w="190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a:lnSpc>
                          <a:spcPct val="115000"/>
                        </a:lnSpc>
                      </a:pPr>
                      <a:r>
                        <a:rPr lang="en-US" sz="1000" b="0">
                          <a:solidFill>
                            <a:srgbClr val="000000"/>
                          </a:solidFill>
                          <a:latin typeface="Arial"/>
                          <a:ea typeface="Arial"/>
                          <a:cs typeface="Arial"/>
                        </a:rPr>
                        <a:t>Pull FFATA/FSRS subawards; collect visible supplier evidence (mix, not TAM)</a:t>
                      </a:r>
                    </a:p>
                  </a:txBody>
                  <a:tcPr marL="45720" marR="45720" anchor="ctr">
                    <a:lnL>
                      <a:noFill/>
                    </a:lnL>
                    <a:lnR>
                      <a:noFill/>
                    </a:lnR>
                    <a:lnT w="190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356625">
                <a:tc>
                  <a:txBody>
                    <a:bodyPr/>
                    <a:lstStyle/>
                    <a:p>
                      <a:pPr algn="l">
                        <a:lnSpc>
                          <a:spcPct val="115000"/>
                        </a:lnSpc>
                      </a:pPr>
                      <a:r>
                        <a:rPr lang="en-US" sz="1000" b="1">
                          <a:solidFill>
                            <a:srgbClr val="000000"/>
                          </a:solidFill>
                          <a:latin typeface="Arial"/>
                          <a:ea typeface="Arial"/>
                          <a:cs typeface="Arial"/>
                        </a:rPr>
                        <a:t>2. PIID gate</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a:lnSpc>
                          <a:spcPct val="115000"/>
                        </a:lnSpc>
                      </a:pPr>
                      <a:r>
                        <a:rPr lang="en-US" sz="1000" b="0">
                          <a:solidFill>
                            <a:srgbClr val="000000"/>
                          </a:solidFill>
                          <a:latin typeface="Arial"/>
                          <a:ea typeface="Arial"/>
                          <a:cs typeface="Arial"/>
                        </a:rPr>
                        <a:t>Gate to yard construction PIIDs per program (BIW / Ingalls; GDEB); GFE chains drop out</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356625">
                <a:tc>
                  <a:txBody>
                    <a:bodyPr/>
                    <a:lstStyle/>
                    <a:p>
                      <a:pPr algn="l">
                        <a:lnSpc>
                          <a:spcPct val="115000"/>
                        </a:lnSpc>
                      </a:pPr>
                      <a:r>
                        <a:rPr lang="en-US" sz="1000" b="1">
                          <a:solidFill>
                            <a:srgbClr val="000000"/>
                          </a:solidFill>
                          <a:latin typeface="Arial"/>
                          <a:ea typeface="Arial"/>
                          <a:cs typeface="Arial"/>
                        </a:rPr>
                        <a:t>3. Entity resolution</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a:lnSpc>
                          <a:spcPct val="115000"/>
                        </a:lnSpc>
                      </a:pPr>
                      <a:r>
                        <a:rPr lang="en-US" sz="1000" b="0">
                          <a:solidFill>
                            <a:srgbClr val="000000"/>
                          </a:solidFill>
                          <a:latin typeface="Arial"/>
                          <a:ea typeface="Arial"/>
                          <a:cs typeface="Arial"/>
                        </a:rPr>
                        <a:t>Resolve the operating entity paid (UEI), not the parent brand</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356625">
                <a:tc>
                  <a:txBody>
                    <a:bodyPr/>
                    <a:lstStyle/>
                    <a:p>
                      <a:pPr algn="l">
                        <a:lnSpc>
                          <a:spcPct val="115000"/>
                        </a:lnSpc>
                      </a:pPr>
                      <a:r>
                        <a:rPr lang="en-US" sz="1000" b="1">
                          <a:solidFill>
                            <a:srgbClr val="000000"/>
                          </a:solidFill>
                          <a:latin typeface="Arial"/>
                          <a:ea typeface="Arial"/>
                          <a:cs typeface="Arial"/>
                        </a:rPr>
                        <a:t>4. Role filter</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a:lnSpc>
                          <a:spcPct val="115000"/>
                        </a:lnSpc>
                      </a:pPr>
                      <a:r>
                        <a:rPr lang="en-US" sz="1000" b="0">
                          <a:solidFill>
                            <a:srgbClr val="000000"/>
                          </a:solidFill>
                          <a:latin typeface="Arial"/>
                          <a:ea typeface="Arial"/>
                          <a:cs typeface="Arial"/>
                        </a:rPr>
                        <a:t>Drop non-supplier / non-component roles from the addressable base</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356625">
                <a:tc>
                  <a:txBody>
                    <a:bodyPr/>
                    <a:lstStyle/>
                    <a:p>
                      <a:pPr algn="l">
                        <a:lnSpc>
                          <a:spcPct val="115000"/>
                        </a:lnSpc>
                      </a:pPr>
                      <a:r>
                        <a:rPr lang="en-US" sz="1000" b="1">
                          <a:solidFill>
                            <a:srgbClr val="000000"/>
                          </a:solidFill>
                          <a:latin typeface="Arial"/>
                          <a:ea typeface="Arial"/>
                          <a:cs typeface="Arial"/>
                        </a:rPr>
                        <a:t>5. Work-type assign</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a:lnSpc>
                          <a:spcPct val="115000"/>
                        </a:lnSpc>
                      </a:pPr>
                      <a:r>
                        <a:rPr lang="en-US" sz="1000" b="0">
                          <a:solidFill>
                            <a:srgbClr val="000000"/>
                          </a:solidFill>
                          <a:latin typeface="Arial"/>
                          <a:ea typeface="Arial"/>
                          <a:cs typeface="Arial"/>
                        </a:rPr>
                        <a:t>First clean match wins one work-type home (vendor registry, NAICS-4)</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356625">
                <a:tc>
                  <a:txBody>
                    <a:bodyPr/>
                    <a:lstStyle/>
                    <a:p>
                      <a:pPr algn="l">
                        <a:lnSpc>
                          <a:spcPct val="115000"/>
                        </a:lnSpc>
                      </a:pPr>
                      <a:r>
                        <a:rPr lang="en-US" sz="1000" b="1">
                          <a:solidFill>
                            <a:srgbClr val="000000"/>
                          </a:solidFill>
                          <a:latin typeface="Arial"/>
                          <a:ea typeface="Arial"/>
                          <a:cs typeface="Arial"/>
                        </a:rPr>
                        <a:t>6. Residual discipline</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a:lnSpc>
                          <a:spcPct val="115000"/>
                        </a:lnSpc>
                      </a:pPr>
                      <a:r>
                        <a:rPr lang="en-US" sz="1000" b="0">
                          <a:solidFill>
                            <a:srgbClr val="000000"/>
                          </a:solidFill>
                          <a:latin typeface="Arial"/>
                          <a:ea typeface="Arial"/>
                          <a:cs typeface="Arial"/>
                        </a:rPr>
                        <a:t>Keep unresolved dollars in the addressable base; residual dilutes named shares</a:t>
                      </a:r>
                    </a:p>
                  </a:txBody>
                  <a:tcPr marL="45720" marR="45720" anchor="ctr">
                    <a:lnL>
                      <a:noFill/>
                    </a:lnL>
                    <a:lnR>
                      <a:noFill/>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502987">
                <a:tc>
                  <a:txBody>
                    <a:bodyPr/>
                    <a:lstStyle/>
                    <a:p>
                      <a:pPr algn="l">
                        <a:lnSpc>
                          <a:spcPct val="115000"/>
                        </a:lnSpc>
                      </a:pPr>
                      <a:r>
                        <a:rPr lang="en-US" sz="1000" b="1">
                          <a:solidFill>
                            <a:srgbClr val="000000"/>
                          </a:solidFill>
                          <a:latin typeface="Arial"/>
                          <a:ea typeface="Arial"/>
                          <a:cs typeface="Arial"/>
                        </a:rPr>
                        <a:t>7. Share output</a:t>
                      </a:r>
                    </a:p>
                  </a:txBody>
                  <a:tcPr marL="45720" marR="45720" anchor="ctr">
                    <a:lnL>
                      <a:noFill/>
                    </a:lnL>
                    <a:lnR>
                      <a:noFill/>
                    </a:lnR>
                    <a:lnT w="6350" cap="flat" cmpd="sng" algn="ctr">
                      <a:solidFill>
                        <a:srgbClr val="808080"/>
                      </a:solidFill>
                      <a:prstDash val="solid"/>
                      <a:round/>
                      <a:headEnd type="none" w="med" len="med"/>
                      <a:tailEnd type="none" w="med" len="med"/>
                    </a:lnT>
                    <a:lnB>
                      <a:noFill/>
                    </a:lnB>
                    <a:noFill/>
                  </a:tcPr>
                </a:tc>
                <a:tc>
                  <a:txBody>
                    <a:bodyPr/>
                    <a:lstStyle/>
                    <a:p>
                      <a:pPr algn="l">
                        <a:lnSpc>
                          <a:spcPct val="115000"/>
                        </a:lnSpc>
                      </a:pPr>
                      <a:r>
                        <a:rPr lang="en-US" sz="1000" b="0">
                          <a:solidFill>
                            <a:srgbClr val="000000"/>
                          </a:solidFill>
                          <a:latin typeface="+mn-lt"/>
                          <a:ea typeface="Arial"/>
                          <a:cs typeface="Arial"/>
                        </a:rPr>
                        <a:t>Bucket dollars over the addressable base set the modeled work-type and residual shares, per class and per FY; FY26–27 share assumed at historical rate.</a:t>
                      </a:r>
                    </a:p>
                  </a:txBody>
                  <a:tcPr marL="45720" marR="45720" anchor="ctr">
                    <a:lnL>
                      <a:noFill/>
                    </a:lnL>
                    <a:lnR>
                      <a:noFill/>
                    </a:lnR>
                    <a:lnT w="6350" cap="flat" cmpd="sng" algn="ctr">
                      <a:solidFill>
                        <a:srgbClr val="808080"/>
                      </a:solidFill>
                      <a:prstDash val="solid"/>
                      <a:round/>
                      <a:headEnd type="none" w="med" len="med"/>
                      <a:tailEnd type="none" w="med" len="med"/>
                    </a:lnT>
                    <a:lnB>
                      <a:noFill/>
                    </a:lnB>
                    <a:noFill/>
                  </a:tcPr>
                </a:tc>
              </a:tr>
            </a:tbl>
          </a:graphicData>
        </a:graphic>
      </p:graphicFrame>
      <p:graphicFrame>
        <p:nvGraphicFramePr>
          <p:cNvPr id="353" name="StepRationaleLedger"/>
          <p:cNvGraphicFramePr>
            <a:graphicFrameLocks noGrp="1"/>
          </p:cNvGraphicFramePr>
          <p:nvPr/>
        </p:nvGraphicFramePr>
        <p:xfrm>
          <a:off x="453079" y="1266825"/>
          <a:ext cx="6373171" cy="251778"/>
        </p:xfrm>
        <a:graphic>
          <a:graphicData uri="http://schemas.openxmlformats.org/drawingml/2006/table">
            <a:tbl>
              <a:tblPr firstRow="1" firstCol="1">
                <a:tableStyleId>{2D5ABB26-0587-4C30-8999-92F81FD0307C}</a:tableStyleId>
              </a:tblPr>
              <a:tblGrid>
                <a:gridCol w="6373171"/>
              </a:tblGrid>
              <a:tr h="0">
                <a:tc>
                  <a:txBody>
                    <a:bodyPr/>
                    <a:lstStyle/>
                    <a:p>
                      <a:pPr>
                        <a:lnSpc>
                          <a:spcPct val="115000"/>
                        </a:lnSpc>
                        <a:buNone/>
                      </a:pPr>
                      <a:r>
                        <a:rPr lang="en-US" sz="1000" b="1">
                          <a:solidFill>
                            <a:srgbClr val="000000"/>
                          </a:solidFill>
                          <a:latin typeface="+mn-lt"/>
                          <a:ea typeface="Arial"/>
                          <a:cs typeface="Arial"/>
                        </a:rPr>
                        <a:t>Outsourced Basic Construction Spend by Work Type ($B, cumulative FY22–FY27, FY26 $)</a:t>
                      </a:r>
                    </a:p>
                  </a:txBody>
                  <a:tcPr marL="45720" marR="45720" anchor="ctr">
                    <a:lnL>
                      <a:noFill/>
                    </a:lnL>
                    <a:lnR>
                      <a:noFill/>
                    </a:lnR>
                    <a:lnT>
                      <a:noFill/>
                    </a:lnT>
                    <a:lnB w="12700" cap="flat" cmpd="sng" algn="ctr">
                      <a:solidFill>
                        <a:srgbClr val="000000"/>
                      </a:solidFill>
                      <a:prstDash val="solid"/>
                      <a:round/>
                      <a:headEnd type="none" w="med" len="med"/>
                      <a:tailEnd type="none" w="med" len="med"/>
                    </a:lnB>
                    <a:noFill/>
                  </a:tcPr>
                </a:tc>
              </a:tr>
            </a:tbl>
          </a:graphicData>
        </a:graphic>
      </p:graphicFrame>
      <p:graphicFrame>
        <p:nvGraphicFramePr>
          <p:cNvPr id="354" name="StepRationaleLedger"/>
          <p:cNvGraphicFramePr>
            <a:graphicFrameLocks noGrp="1"/>
          </p:cNvGraphicFramePr>
          <p:nvPr/>
        </p:nvGraphicFramePr>
        <p:xfrm>
          <a:off x="7040880" y="1266825"/>
          <a:ext cx="4694561" cy="251778"/>
        </p:xfrm>
        <a:graphic>
          <a:graphicData uri="http://schemas.openxmlformats.org/drawingml/2006/table">
            <a:tbl>
              <a:tblPr firstRow="1" firstCol="1">
                <a:tableStyleId>{2D5ABB26-0587-4C30-8999-92F81FD0307C}</a:tableStyleId>
              </a:tblPr>
              <a:tblGrid>
                <a:gridCol w="4694561"/>
              </a:tblGrid>
              <a:tr h="0">
                <a:tc>
                  <a:txBody>
                    <a:bodyPr/>
                    <a:lstStyle/>
                    <a:p>
                      <a:pPr>
                        <a:lnSpc>
                          <a:spcPct val="115000"/>
                        </a:lnSpc>
                        <a:buNone/>
                      </a:pPr>
                      <a:r>
                        <a:rPr lang="en-US" sz="1000" b="1">
                          <a:solidFill>
                            <a:srgbClr val="000000"/>
                          </a:solidFill>
                          <a:latin typeface="+mn-lt"/>
                          <a:ea typeface="Arial"/>
                          <a:cs typeface="Arial"/>
                        </a:rPr>
                        <a:t>Methodology</a:t>
                      </a:r>
                    </a:p>
                  </a:txBody>
                  <a:tcPr marL="45720" marR="45720" anchor="ctr">
                    <a:lnL>
                      <a:noFill/>
                    </a:lnL>
                    <a:lnR>
                      <a:noFill/>
                    </a:lnR>
                    <a:lnT>
                      <a:noFill/>
                    </a:lnT>
                    <a:lnB w="12700" cap="flat" cmpd="sng" algn="ctr">
                      <a:solidFill>
                        <a:srgbClr val="000000"/>
                      </a:solidFill>
                      <a:prstDash val="solid"/>
                      <a:round/>
                      <a:headEnd type="none" w="med" len="med"/>
                      <a:tailEnd type="none" w="med" len="med"/>
                    </a:lnB>
                    <a:noFill/>
                  </a:tcPr>
                </a:tc>
              </a:tr>
            </a:tbl>
          </a:graphicData>
        </a:graphic>
      </p:graphicFrame>
      <p:graphicFrame>
        <p:nvGraphicFramePr>
          <p:cNvPr id="352" name="Chart 51"/>
          <p:cNvGraphicFramePr/>
          <p:nvPr/>
        </p:nvGraphicFramePr>
        <p:xfrm>
          <a:off x="349250" y="1665288"/>
          <a:ext cx="4341813" cy="4376737"/>
        </p:xfrm>
        <a:graphic>
          <a:graphicData uri="http://schemas.openxmlformats.org/drawingml/2006/chart">
            <c:chart xmlns:c="http://schemas.openxmlformats.org/drawingml/2006/chart" xmlns:r="http://schemas.openxmlformats.org/officeDocument/2006/relationships" r:id="rId2"/>
          </a:graphicData>
        </a:graphic>
      </p:graphicFrame>
      <p:sp>
        <p:nvSpPr>
          <p:cNvPr id="302" name="Breadcrumb"/>
          <p:cNvSpPr>
            <a:spLocks noGrp="1"/>
          </p:cNvSpPr>
          <p:nvPr>
            <p:ph type="body" sz="quarter" idx="10"/>
          </p:nvPr>
        </p:nvSpPr>
        <p:spPr>
          <a:xfrm>
            <a:off x="453079" y="263452"/>
            <a:ext cx="11282362" cy="153888"/>
          </a:xfrm>
        </p:spPr>
        <p:txBody>
          <a:bodyPr/>
          <a:lstStyle/>
          <a:p>
            <a:r>
              <a:rPr lang="en-US" sz="1000" b="1" kern="1200">
                <a:solidFill>
                  <a:srgbClr val="44505C"/>
                </a:solidFill>
                <a:latin typeface="Arial"/>
                <a:ea typeface="Arial"/>
                <a:cs typeface="Arial"/>
              </a:rPr>
              <a:t>Executive Summary</a:t>
            </a:r>
            <a:r>
              <a:rPr lang="en-US" sz="1000" kern="1200">
                <a:solidFill>
                  <a:srgbClr val="44505C"/>
                </a:solidFill>
                <a:latin typeface="Arial"/>
                <a:ea typeface="Arial"/>
                <a:cs typeface="Arial"/>
              </a:rPr>
              <a:t> / Supplier TAM and SAM</a:t>
            </a:r>
          </a:p>
        </p:txBody>
      </p:sp>
      <p:sp>
        <p:nvSpPr>
          <p:cNvPr id="304" name="PrelimChip"/>
          <p:cNvSpPr txBox="1"/>
          <p:nvPr/>
        </p:nvSpPr>
        <p:spPr>
          <a:xfrm>
            <a:off x="10267829" y="111556"/>
            <a:ext cx="1467612" cy="290000"/>
          </a:xfrm>
          <a:prstGeom prst="rect">
            <a:avLst/>
          </a:prstGeom>
          <a:solidFill>
            <a:srgbClr val="FFFFCC"/>
          </a:solidFill>
          <a:ln w="19050">
            <a:solidFill>
              <a:srgbClr val="000000"/>
            </a:solidFill>
          </a:ln>
        </p:spPr>
        <p:txBody>
          <a:bodyPr wrap="square" lIns="45720" tIns="9144" rIns="45720" bIns="9144" anchor="ctr"/>
          <a:lstStyle/>
          <a:p>
            <a:pPr algn="ctr"/>
            <a:r>
              <a:rPr lang="en-US" sz="1200" b="1" kern="1200">
                <a:solidFill>
                  <a:srgbClr val="000000"/>
                </a:solidFill>
                <a:latin typeface="Arial"/>
                <a:ea typeface="Arial"/>
                <a:cs typeface="Arial"/>
              </a:rPr>
              <a:t>Preliminary</a:t>
            </a:r>
          </a:p>
        </p:txBody>
      </p:sp>
      <p:sp>
        <p:nvSpPr>
          <p:cNvPr id="303" name="Title"/>
          <p:cNvSpPr>
            <a:spLocks noGrp="1"/>
          </p:cNvSpPr>
          <p:nvPr>
            <p:ph type="title"/>
          </p:nvPr>
        </p:nvSpPr>
        <p:spPr>
          <a:xfrm>
            <a:off x="453079" y="554500"/>
            <a:ext cx="11282362" cy="640080"/>
          </a:xfrm>
        </p:spPr>
        <p:txBody>
          <a:bodyPr vert="horz" rIns="0"/>
          <a:lstStyle/>
          <a:p>
            <a:r>
              <a:rPr lang="en-US">
                <a:solidFill>
                  <a:srgbClr val="162029"/>
                </a:solidFill>
                <a:ea typeface="Arial"/>
                <a:cs typeface="Arial"/>
              </a:rPr>
              <a:t>Outsourced Spend by Work Type | Electrical power leads the ~$18.1B submarine pool; machining leads the ~$6.4B DDG-51 pool.</a:t>
            </a:r>
            <a:endParaRPr lang="en-US" sz="2000" kern="1200">
              <a:solidFill>
                <a:srgbClr val="162029"/>
              </a:solidFill>
              <a:latin typeface="Arial"/>
              <a:ea typeface="Arial"/>
              <a:cs typeface="Arial"/>
            </a:endParaRPr>
          </a:p>
        </p:txBody>
      </p:sp>
      <p:cxnSp>
        <p:nvCxnSpPr>
          <p:cNvPr id="341" name="Straight Connector 40"/>
          <p:cNvCxnSpPr>
            <a:cxnSpLocks/>
          </p:cNvCxnSpPr>
          <p:nvPr/>
        </p:nvCxnSpPr>
        <p:spPr bwMode="gray">
          <a:xfrm flipH="1" flipV="1">
            <a:off x="2947988" y="4759325"/>
            <a:ext cx="92075" cy="41275"/>
          </a:xfrm>
          <a:prstGeom prst="line">
            <a:avLst/>
          </a:prstGeom>
          <a:ln w="6350" cap="flat" cmpd="sng" algn="ctr">
            <a:solidFill>
              <a:schemeClr val="tx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0" name="Straight Connector 39"/>
          <p:cNvCxnSpPr>
            <a:cxnSpLocks/>
          </p:cNvCxnSpPr>
          <p:nvPr/>
        </p:nvCxnSpPr>
        <p:spPr bwMode="gray">
          <a:xfrm flipH="1">
            <a:off x="2947988" y="4648200"/>
            <a:ext cx="92075" cy="39688"/>
          </a:xfrm>
          <a:prstGeom prst="line">
            <a:avLst/>
          </a:prstGeom>
          <a:ln w="6350" cap="flat" cmpd="sng" algn="ctr">
            <a:solidFill>
              <a:schemeClr val="tx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34" name="Text Placeholder 25"/>
          <p:cNvSpPr>
            <a:spLocks/>
          </p:cNvSpPr>
          <p:nvPr/>
        </p:nvSpPr>
        <p:spPr bwMode="gray">
          <a:xfrm>
            <a:off x="1263650" y="5326063"/>
            <a:ext cx="209550" cy="152400"/>
          </a:xfrm>
          <a:prstGeom prst="rect">
            <a:avLst/>
          </a:prstGeom>
          <a:solidFill>
            <a:schemeClr val="accent3"/>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0.4</a:t>
            </a:r>
            <a:endParaRPr lang="en-US" sz="1000">
              <a:solidFill>
                <a:schemeClr val="bg1"/>
              </a:solidFill>
            </a:endParaRPr>
          </a:p>
        </p:txBody>
      </p:sp>
      <p:sp>
        <p:nvSpPr>
          <p:cNvPr id="343" name="Text Placeholder 25"/>
          <p:cNvSpPr>
            <a:spLocks/>
          </p:cNvSpPr>
          <p:nvPr/>
        </p:nvSpPr>
        <p:spPr bwMode="gray">
          <a:xfrm>
            <a:off x="1084263" y="4638675"/>
            <a:ext cx="209550" cy="152400"/>
          </a:xfrm>
          <a:prstGeom prst="rect">
            <a:avLst/>
          </a:prstGeom>
          <a:solidFill>
            <a:schemeClr val="accent5"/>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0.0</a:t>
            </a:r>
            <a:endParaRPr lang="en-US" sz="1000"/>
          </a:p>
        </p:txBody>
      </p:sp>
      <p:sp>
        <p:nvSpPr>
          <p:cNvPr id="335" name="Text Placeholder 25"/>
          <p:cNvSpPr>
            <a:spLocks/>
          </p:cNvSpPr>
          <p:nvPr/>
        </p:nvSpPr>
        <p:spPr bwMode="gray">
          <a:xfrm>
            <a:off x="1444625" y="4616450"/>
            <a:ext cx="209550" cy="152400"/>
          </a:xfrm>
          <a:prstGeom prst="rect">
            <a:avLst/>
          </a:prstGeom>
          <a:solidFill>
            <a:schemeClr val="accent6"/>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0.1</a:t>
            </a:r>
            <a:endParaRPr lang="en-US" sz="1000"/>
          </a:p>
        </p:txBody>
      </p:sp>
      <p:sp>
        <p:nvSpPr>
          <p:cNvPr id="318" name="Text Placeholder 25"/>
          <p:cNvSpPr>
            <a:spLocks/>
          </p:cNvSpPr>
          <p:nvPr/>
        </p:nvSpPr>
        <p:spPr bwMode="gray">
          <a:xfrm>
            <a:off x="1263650" y="4129088"/>
            <a:ext cx="209550"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1.4</a:t>
            </a:r>
            <a:endParaRPr lang="en-US" sz="1000"/>
          </a:p>
        </p:txBody>
      </p:sp>
      <p:sp>
        <p:nvSpPr>
          <p:cNvPr id="308" name="Text Placeholder 25"/>
          <p:cNvSpPr>
            <a:spLocks/>
          </p:cNvSpPr>
          <p:nvPr/>
        </p:nvSpPr>
        <p:spPr bwMode="auto">
          <a:xfrm>
            <a:off x="1130300" y="5859463"/>
            <a:ext cx="477838"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DDG-51</a:t>
            </a:r>
            <a:endParaRPr lang="en-US" sz="1000">
              <a:solidFill>
                <a:srgbClr val="000000"/>
              </a:solidFill>
            </a:endParaRPr>
          </a:p>
        </p:txBody>
      </p:sp>
      <p:sp>
        <p:nvSpPr>
          <p:cNvPr id="336" name="Text Placeholder 25"/>
          <p:cNvSpPr>
            <a:spLocks/>
          </p:cNvSpPr>
          <p:nvPr/>
        </p:nvSpPr>
        <p:spPr bwMode="gray">
          <a:xfrm>
            <a:off x="2379663" y="4648200"/>
            <a:ext cx="209550" cy="152400"/>
          </a:xfrm>
          <a:prstGeom prst="rect">
            <a:avLst/>
          </a:prstGeom>
          <a:solidFill>
            <a:schemeClr val="accent6"/>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0.2</a:t>
            </a:r>
            <a:endParaRPr lang="en-US" sz="1000"/>
          </a:p>
        </p:txBody>
      </p:sp>
      <p:sp>
        <p:nvSpPr>
          <p:cNvPr id="319" name="Text Placeholder 25"/>
          <p:cNvSpPr>
            <a:spLocks/>
          </p:cNvSpPr>
          <p:nvPr/>
        </p:nvSpPr>
        <p:spPr bwMode="gray">
          <a:xfrm>
            <a:off x="2740025" y="4537075"/>
            <a:ext cx="209550"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0.4</a:t>
            </a:r>
            <a:endParaRPr lang="en-US" sz="1000"/>
          </a:p>
        </p:txBody>
      </p:sp>
      <p:sp>
        <p:nvSpPr>
          <p:cNvPr id="309" name="Text Placeholder 25"/>
          <p:cNvSpPr>
            <a:spLocks/>
          </p:cNvSpPr>
          <p:nvPr/>
        </p:nvSpPr>
        <p:spPr bwMode="auto">
          <a:xfrm>
            <a:off x="2390775" y="5859463"/>
            <a:ext cx="547688"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Columbia</a:t>
            </a:r>
            <a:endParaRPr lang="en-US" sz="1000">
              <a:solidFill>
                <a:srgbClr val="000000"/>
              </a:solidFill>
            </a:endParaRPr>
          </a:p>
        </p:txBody>
      </p:sp>
      <p:sp>
        <p:nvSpPr>
          <p:cNvPr id="337" name="Text Placeholder 25"/>
          <p:cNvSpPr>
            <a:spLocks/>
          </p:cNvSpPr>
          <p:nvPr/>
        </p:nvSpPr>
        <p:spPr bwMode="gray">
          <a:xfrm>
            <a:off x="4037013" y="2528888"/>
            <a:ext cx="209550" cy="152400"/>
          </a:xfrm>
          <a:prstGeom prst="rect">
            <a:avLst/>
          </a:prstGeom>
          <a:solidFill>
            <a:schemeClr val="hlink"/>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0.1</a:t>
            </a:r>
            <a:endParaRPr lang="en-US" sz="1000">
              <a:solidFill>
                <a:schemeClr val="bg1"/>
              </a:solidFill>
            </a:endParaRPr>
          </a:p>
        </p:txBody>
      </p:sp>
      <p:sp>
        <p:nvSpPr>
          <p:cNvPr id="332" name="Text Placeholder 25"/>
          <p:cNvSpPr>
            <a:spLocks/>
          </p:cNvSpPr>
          <p:nvPr/>
        </p:nvSpPr>
        <p:spPr bwMode="gray">
          <a:xfrm>
            <a:off x="3856038" y="2216150"/>
            <a:ext cx="209550"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2.1</a:t>
            </a:r>
            <a:endParaRPr lang="en-US" sz="1000"/>
          </a:p>
        </p:txBody>
      </p:sp>
      <p:sp>
        <p:nvSpPr>
          <p:cNvPr id="317" name="Text Placeholder 25"/>
          <p:cNvSpPr>
            <a:spLocks/>
          </p:cNvSpPr>
          <p:nvPr/>
        </p:nvSpPr>
        <p:spPr bwMode="auto">
          <a:xfrm>
            <a:off x="3743325" y="5859463"/>
            <a:ext cx="43497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Virginia</a:t>
            </a:r>
            <a:endParaRPr lang="en-US" sz="1000">
              <a:solidFill>
                <a:srgbClr val="000000"/>
              </a:solidFill>
            </a:endParaRPr>
          </a:p>
        </p:txBody>
      </p:sp>
      <p:sp>
        <p:nvSpPr>
          <p:cNvPr id="314" name="Text Placeholder 25"/>
          <p:cNvSpPr>
            <a:spLocks/>
          </p:cNvSpPr>
          <p:nvPr/>
        </p:nvSpPr>
        <p:spPr bwMode="gray">
          <a:xfrm>
            <a:off x="1263650" y="38385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6.4</a:t>
            </a:r>
            <a:endParaRPr lang="en-US" sz="1000"/>
          </a:p>
        </p:txBody>
      </p:sp>
      <p:sp>
        <p:nvSpPr>
          <p:cNvPr id="315" name="Text Placeholder 25"/>
          <p:cNvSpPr>
            <a:spLocks/>
          </p:cNvSpPr>
          <p:nvPr/>
        </p:nvSpPr>
        <p:spPr bwMode="gray">
          <a:xfrm>
            <a:off x="2559050" y="4375150"/>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4.5</a:t>
            </a:r>
            <a:endParaRPr lang="en-US" sz="1000"/>
          </a:p>
        </p:txBody>
      </p:sp>
      <p:sp>
        <p:nvSpPr>
          <p:cNvPr id="331" name="Text Placeholder 25"/>
          <p:cNvSpPr>
            <a:spLocks/>
          </p:cNvSpPr>
          <p:nvPr/>
        </p:nvSpPr>
        <p:spPr bwMode="gray">
          <a:xfrm>
            <a:off x="3821113" y="1817688"/>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13.6</a:t>
            </a:r>
            <a:endParaRPr lang="en-US" sz="1000"/>
          </a:p>
        </p:txBody>
      </p:sp>
      <p:sp>
        <p:nvSpPr>
          <p:cNvPr id="350" name="Text Placeholder 25"/>
          <p:cNvSpPr>
            <a:spLocks/>
          </p:cNvSpPr>
          <p:nvPr/>
        </p:nvSpPr>
        <p:spPr bwMode="gray">
          <a:xfrm>
            <a:off x="2740025" y="4708525"/>
            <a:ext cx="209550" cy="152400"/>
          </a:xfrm>
          <a:prstGeom prst="rect">
            <a:avLst/>
          </a:prstGeom>
          <a:solidFill>
            <a:schemeClr val="accent4"/>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0.1</a:t>
            </a:r>
            <a:endParaRPr lang="en-US" sz="1000">
              <a:solidFill>
                <a:schemeClr val="bg1"/>
              </a:solidFill>
            </a:endParaRPr>
          </a:p>
        </p:txBody>
      </p:sp>
      <p:sp>
        <p:nvSpPr>
          <p:cNvPr id="346" name="Rectangle 45"/>
          <p:cNvSpPr/>
          <p:nvPr/>
        </p:nvSpPr>
        <p:spPr bwMode="auto">
          <a:xfrm>
            <a:off x="4659313" y="4202113"/>
            <a:ext cx="179388" cy="133350"/>
          </a:xfrm>
          <a:prstGeom prst="rect">
            <a:avLst/>
          </a:prstGeom>
          <a:pattFill prst="ltUpDiag">
            <a:fgClr>
              <a:schemeClr val="tx1"/>
            </a:fgClr>
            <a:bgClr>
              <a:schemeClr val="bg1"/>
            </a:bgClr>
          </a:patt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Rectangle 28"/>
          <p:cNvSpPr/>
          <p:nvPr/>
        </p:nvSpPr>
        <p:spPr bwMode="auto">
          <a:xfrm>
            <a:off x="4659313" y="4405313"/>
            <a:ext cx="179388" cy="133350"/>
          </a:xfrm>
          <a:prstGeom prst="rect">
            <a:avLst/>
          </a:prstGeom>
          <a:solidFill>
            <a:schemeClr val="hlink"/>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27"/>
          <p:cNvSpPr/>
          <p:nvPr/>
        </p:nvSpPr>
        <p:spPr bwMode="auto">
          <a:xfrm>
            <a:off x="4659313" y="4608513"/>
            <a:ext cx="179388" cy="133350"/>
          </a:xfrm>
          <a:prstGeom prst="rect">
            <a:avLst/>
          </a:prstGeom>
          <a:solidFill>
            <a:schemeClr val="accent6"/>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26"/>
          <p:cNvSpPr/>
          <p:nvPr/>
        </p:nvSpPr>
        <p:spPr bwMode="auto">
          <a:xfrm>
            <a:off x="4659313" y="4811713"/>
            <a:ext cx="179388" cy="133350"/>
          </a:xfrm>
          <a:prstGeom prst="rect">
            <a:avLst/>
          </a:prstGeom>
          <a:solidFill>
            <a:schemeClr val="accent5"/>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25"/>
          <p:cNvSpPr/>
          <p:nvPr/>
        </p:nvSpPr>
        <p:spPr bwMode="auto">
          <a:xfrm>
            <a:off x="4659313" y="5014913"/>
            <a:ext cx="179388" cy="133350"/>
          </a:xfrm>
          <a:prstGeom prst="rect">
            <a:avLst/>
          </a:prstGeom>
          <a:solidFill>
            <a:schemeClr val="accent4"/>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24"/>
          <p:cNvSpPr/>
          <p:nvPr/>
        </p:nvSpPr>
        <p:spPr bwMode="auto">
          <a:xfrm>
            <a:off x="4659313" y="5218113"/>
            <a:ext cx="179388" cy="133350"/>
          </a:xfrm>
          <a:prstGeom prst="rect">
            <a:avLst/>
          </a:prstGeom>
          <a:solidFill>
            <a:schemeClr val="accent3"/>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23"/>
          <p:cNvSpPr/>
          <p:nvPr/>
        </p:nvSpPr>
        <p:spPr bwMode="auto">
          <a:xfrm>
            <a:off x="4659313" y="5421313"/>
            <a:ext cx="179388" cy="133350"/>
          </a:xfrm>
          <a:prstGeom prst="rect">
            <a:avLst/>
          </a:prstGeom>
          <a:solidFill>
            <a:schemeClr val="accent2"/>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22"/>
          <p:cNvSpPr/>
          <p:nvPr/>
        </p:nvSpPr>
        <p:spPr bwMode="auto">
          <a:xfrm>
            <a:off x="4659313" y="5624513"/>
            <a:ext cx="179388" cy="133350"/>
          </a:xfrm>
          <a:prstGeom prst="rect">
            <a:avLst/>
          </a:prstGeom>
          <a:solidFill>
            <a:schemeClr val="accent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Text Placeholder 25"/>
          <p:cNvSpPr>
            <a:spLocks/>
          </p:cNvSpPr>
          <p:nvPr/>
        </p:nvSpPr>
        <p:spPr bwMode="auto">
          <a:xfrm>
            <a:off x="4889500" y="4197350"/>
            <a:ext cx="1895475"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Residual (incl. unassigned spend)</a:t>
            </a:r>
            <a:endParaRPr lang="en-US" sz="1000">
              <a:solidFill>
                <a:srgbClr val="000000"/>
              </a:solidFill>
            </a:endParaRPr>
          </a:p>
        </p:txBody>
      </p:sp>
      <p:sp>
        <p:nvSpPr>
          <p:cNvPr id="358" name="Text Placeholder 25"/>
          <p:cNvSpPr>
            <a:spLocks/>
          </p:cNvSpPr>
          <p:nvPr/>
        </p:nvSpPr>
        <p:spPr bwMode="auto">
          <a:xfrm>
            <a:off x="4889500" y="4400550"/>
            <a:ext cx="1200150"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HVAC and ventilation</a:t>
            </a:r>
            <a:endParaRPr lang="en-US" sz="1000">
              <a:solidFill>
                <a:srgbClr val="000000"/>
              </a:solidFill>
            </a:endParaRPr>
          </a:p>
        </p:txBody>
      </p:sp>
      <p:sp>
        <p:nvSpPr>
          <p:cNvPr id="347" name="Text Placeholder 25"/>
          <p:cNvSpPr>
            <a:spLocks/>
          </p:cNvSpPr>
          <p:nvPr/>
        </p:nvSpPr>
        <p:spPr bwMode="auto">
          <a:xfrm>
            <a:off x="4889500" y="4603750"/>
            <a:ext cx="1220788"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Castings and forgings</a:t>
            </a:r>
            <a:endParaRPr lang="en-US" sz="1000">
              <a:solidFill>
                <a:srgbClr val="000000"/>
              </a:solidFill>
            </a:endParaRPr>
          </a:p>
        </p:txBody>
      </p:sp>
      <p:sp>
        <p:nvSpPr>
          <p:cNvPr id="348" name="Text Placeholder 25"/>
          <p:cNvSpPr>
            <a:spLocks/>
          </p:cNvSpPr>
          <p:nvPr/>
        </p:nvSpPr>
        <p:spPr bwMode="auto">
          <a:xfrm>
            <a:off x="4889500" y="4806950"/>
            <a:ext cx="1311275"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Coatings and insulation</a:t>
            </a:r>
            <a:endParaRPr lang="en-US" sz="1000">
              <a:solidFill>
                <a:srgbClr val="000000"/>
              </a:solidFill>
            </a:endParaRPr>
          </a:p>
        </p:txBody>
      </p:sp>
      <p:sp>
        <p:nvSpPr>
          <p:cNvPr id="377" name="Text Placeholder 25"/>
          <p:cNvSpPr>
            <a:spLocks/>
          </p:cNvSpPr>
          <p:nvPr/>
        </p:nvSpPr>
        <p:spPr bwMode="auto">
          <a:xfrm>
            <a:off x="4889500" y="5010150"/>
            <a:ext cx="576263"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Machining</a:t>
            </a:r>
            <a:endParaRPr lang="en-US" sz="1000">
              <a:solidFill>
                <a:srgbClr val="000000"/>
              </a:solidFill>
            </a:endParaRPr>
          </a:p>
        </p:txBody>
      </p:sp>
      <p:sp>
        <p:nvSpPr>
          <p:cNvPr id="376" name="Text Placeholder 25"/>
          <p:cNvSpPr>
            <a:spLocks/>
          </p:cNvSpPr>
          <p:nvPr/>
        </p:nvSpPr>
        <p:spPr bwMode="auto">
          <a:xfrm>
            <a:off x="4889500" y="5213350"/>
            <a:ext cx="1936750"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Structural fabrication and pre-outfit</a:t>
            </a:r>
            <a:endParaRPr lang="en-US" sz="1000">
              <a:solidFill>
                <a:srgbClr val="000000"/>
              </a:solidFill>
            </a:endParaRPr>
          </a:p>
        </p:txBody>
      </p:sp>
      <p:sp>
        <p:nvSpPr>
          <p:cNvPr id="359" name="Text Placeholder 25"/>
          <p:cNvSpPr>
            <a:spLocks/>
          </p:cNvSpPr>
          <p:nvPr/>
        </p:nvSpPr>
        <p:spPr bwMode="auto">
          <a:xfrm>
            <a:off x="4889500" y="5416550"/>
            <a:ext cx="1473200"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Piping, valves, and pumps</a:t>
            </a:r>
            <a:endParaRPr lang="en-US" sz="1000">
              <a:solidFill>
                <a:srgbClr val="000000"/>
              </a:solidFill>
            </a:endParaRPr>
          </a:p>
        </p:txBody>
      </p:sp>
      <p:sp>
        <p:nvSpPr>
          <p:cNvPr id="349" name="Text Placeholder 25"/>
          <p:cNvSpPr>
            <a:spLocks/>
          </p:cNvSpPr>
          <p:nvPr/>
        </p:nvSpPr>
        <p:spPr bwMode="auto">
          <a:xfrm>
            <a:off x="4889500" y="5619750"/>
            <a:ext cx="1138238"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solidFill>
                  <a:srgbClr val="000000"/>
                </a:solidFill>
              </a:rPr>
              <a:t>Electrical and power</a:t>
            </a:r>
            <a:endParaRPr lang="en-US" sz="1000">
              <a:solidFill>
                <a:srgbClr val="000000"/>
              </a:solidFill>
            </a:endParaRPr>
          </a:p>
        </p:txBody>
      </p:sp>
      <p:sp>
        <p:nvSpPr>
          <p:cNvPr id="355" name="Sources"/>
          <p:cNvSpPr txBox="1"/>
          <p:nvPr/>
        </p:nvSpPr>
        <p:spPr>
          <a:xfrm>
            <a:off x="453079" y="6108308"/>
            <a:ext cx="11282362" cy="294714"/>
          </a:xfrm>
          <a:prstGeom prst="rect">
            <a:avLst/>
          </a:prstGeom>
          <a:noFill/>
          <a:ln>
            <a:noFill/>
          </a:ln>
        </p:spPr>
        <p:txBody>
          <a:bodyPr wrap="square" lIns="91440" tIns="45720" rIns="91440" bIns="45720" anchor="t"/>
          <a:lstStyle/>
          <a:p>
            <a:r>
              <a:rPr lang="en-US" sz="800" kern="1200">
                <a:solidFill>
                  <a:srgbClr val="162029"/>
                </a:solidFill>
                <a:latin typeface="Arial"/>
                <a:ea typeface="Arial"/>
                <a:cs typeface="Arial"/>
              </a:rPr>
              <a:t>Sources: Navy SCN P-5c / P-40 budget justification, FY22–FY27, and PB27 FYDP outyears (FY28–FY31); FY26, PL 119-21 Sec. 20002; PB27 SCN, Columbia P-10 Strategic Outsourcing narrative; OUSD(C) Green Book Procurement deflators; Navy Shipbuilding Plan; PB27 SCN Exhibit P-10, LI 2122 (AP/LLTM Ship Construction EOQ); FFATA/FSRS subaward records, yard-prime construction PIIDs, FY22–FY25 action years (work-type shares)</a:t>
            </a:r>
          </a:p>
        </p:txBody>
      </p:sp>
      <p:sp>
        <p:nvSpPr>
          <p:cNvPr id="339" name="MethodFindings"/>
          <p:cNvSpPr txBox="1"/>
          <p:nvPr/>
        </p:nvSpPr>
        <p:spPr>
          <a:xfrm>
            <a:off x="7040880" y="5022671"/>
            <a:ext cx="4694238" cy="1100000"/>
          </a:xfrm>
          <a:prstGeom prst="rect">
            <a:avLst/>
          </a:prstGeom>
          <a:solidFill>
            <a:srgbClr val="F2F2F2"/>
          </a:solidFill>
          <a:ln w="12700">
            <a:solidFill>
              <a:srgbClr val="000000"/>
            </a:solidFill>
          </a:ln>
        </p:spPr>
        <p:txBody>
          <a:bodyPr wrap="square" lIns="45720" tIns="54864" rIns="45720" bIns="54864" anchor="ctr"/>
          <a:lstStyle/>
          <a:p>
            <a:pPr algn="ctr">
              <a:lnSpc>
                <a:spcPct val="105000"/>
              </a:lnSpc>
              <a:spcAft>
                <a:spcPts val="600"/>
              </a:spcAft>
              <a:buNone/>
            </a:pPr>
            <a:r>
              <a:rPr lang="en-US" sz="1000" i="1">
                <a:solidFill>
                  <a:srgbClr val="000000"/>
                </a:solidFill>
                <a:latin typeface="Arial"/>
                <a:ea typeface="Arial"/>
                <a:cs typeface="Arial"/>
              </a:rPr>
              <a:t>Subaward dollars are reported against program-specific yard construction contracts (PIIDs) — block-level masters for Virginia and Columbia, per-yard multiyear blocks for DDG-51 — with program identity confirmed in FPDS and the SCN contract-data exhibits.</a:t>
            </a:r>
          </a:p>
          <a:p>
            <a:pPr algn="ctr">
              <a:lnSpc>
                <a:spcPct val="105000"/>
              </a:lnSpc>
              <a:spcAft>
                <a:spcPts val="90"/>
              </a:spcAft>
              <a:buNone/>
            </a:pPr>
            <a:r>
              <a:rPr lang="en-US" sz="1000" i="1">
                <a:solidFill>
                  <a:srgbClr val="000000"/>
                </a:solidFill>
                <a:latin typeface="Arial"/>
                <a:ea typeface="Arial"/>
                <a:cs typeface="Arial"/>
              </a:rPr>
              <a:t>Dollars book in full to the fiscal year the order is placed (the FFATA action date): order timing across the block, not per-hull spend or in-year payment.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2" name="BandCommentary"/>
          <p:cNvGraphicFramePr>
            <a:graphicFrameLocks noGrp="1"/>
          </p:cNvGraphicFramePr>
          <p:nvPr/>
        </p:nvGraphicFramePr>
        <p:xfrm>
          <a:off x="453078" y="4996171"/>
          <a:ext cx="11282361" cy="1420876"/>
        </p:xfrm>
        <a:graphic>
          <a:graphicData uri="http://schemas.openxmlformats.org/drawingml/2006/table">
            <a:tbl>
              <a:tblPr firstRow="1" firstCol="1">
                <a:tableStyleId>{2D5ABB26-0587-4C30-8999-92F81FD0307C}</a:tableStyleId>
              </a:tblPr>
              <a:tblGrid>
                <a:gridCol w="768899"/>
                <a:gridCol w="3945924"/>
                <a:gridCol w="6567538"/>
              </a:tblGrid>
              <a:tr h="613446">
                <a:tc>
                  <a:txBody>
                    <a:bodyPr/>
                    <a:lstStyle/>
                    <a:p>
                      <a:pPr algn="l">
                        <a:lnSpc>
                          <a:spcPct val="115000"/>
                        </a:lnSpc>
                      </a:pPr>
                      <a:r>
                        <a:rPr lang="en-US" sz="800" b="1">
                          <a:solidFill>
                            <a:srgbClr val="000000"/>
                          </a:solidFill>
                          <a:latin typeface="Arial"/>
                          <a:ea typeface="Arial"/>
                          <a:cs typeface="Arial"/>
                        </a:rPr>
                        <a:t>Submarines</a:t>
                      </a:r>
                    </a:p>
                  </a:txBody>
                  <a:tcPr marL="45720" marR="45720" anchor="ctr">
                    <a:lnL>
                      <a:noFill/>
                    </a:lnL>
                    <a:lnR>
                      <a:noFill/>
                    </a:lnR>
                    <a:lnT>
                      <a:noFill/>
                    </a:lnT>
                    <a:lnB w="9525" cap="flat" cmpd="sng" algn="ctr">
                      <a:solidFill>
                        <a:srgbClr val="000000"/>
                      </a:solidFill>
                      <a:prstDash val="solid"/>
                    </a:lnB>
                    <a:noFill/>
                  </a:tcPr>
                </a:tc>
                <a:tc>
                  <a:txBody>
                    <a:bodyPr/>
                    <a:lstStyle/>
                    <a:p>
                      <a:pPr algn="l">
                        <a:lnSpc>
                          <a:spcPct val="115000"/>
                        </a:lnSpc>
                      </a:pPr>
                      <a:r>
                        <a:rPr lang="en-US" sz="800" b="1" u="sng">
                          <a:solidFill>
                            <a:srgbClr val="000000"/>
                          </a:solidFill>
                          <a:latin typeface="Arial"/>
                          <a:ea typeface="Arial"/>
                          <a:cs typeface="Arial"/>
                        </a:rPr>
                        <a:t>Total Funding:</a:t>
                      </a:r>
                      <a:r>
                        <a:rPr lang="en-US" sz="800">
                          <a:solidFill>
                            <a:srgbClr val="000000"/>
                          </a:solidFill>
                          <a:latin typeface="Arial"/>
                          <a:ea typeface="Arial"/>
                          <a:cs typeface="Arial"/>
                        </a:rPr>
                        <a:t> </a:t>
                      </a:r>
                      <a:r>
                        <a:rPr lang="en-US" sz="800" i="1">
                          <a:solidFill>
                            <a:srgbClr val="000000"/>
                          </a:solidFill>
                          <a:latin typeface="Arial"/>
                          <a:ea typeface="Arial"/>
                          <a:cs typeface="Arial"/>
                        </a:rPr>
                        <a:t>Virginia</a:t>
                      </a:r>
                      <a:r>
                        <a:rPr lang="en-US" sz="800">
                          <a:solidFill>
                            <a:srgbClr val="000000"/>
                          </a:solidFill>
                          <a:latin typeface="Arial"/>
                          <a:ea typeface="Arial"/>
                          <a:cs typeface="Arial"/>
                        </a:rPr>
                        <a:t> funds annually (2/yr; 1x in FY25); </a:t>
                      </a:r>
                      <a:r>
                        <a:rPr lang="en-US" sz="800" i="1">
                          <a:solidFill>
                            <a:srgbClr val="000000"/>
                          </a:solidFill>
                          <a:latin typeface="Arial"/>
                          <a:ea typeface="Arial"/>
                          <a:cs typeface="Arial"/>
                        </a:rPr>
                        <a:t>Columbia</a:t>
                      </a:r>
                      <a:r>
                        <a:rPr lang="en-US" sz="800">
                          <a:solidFill>
                            <a:srgbClr val="000000"/>
                          </a:solidFill>
                          <a:latin typeface="Arial"/>
                          <a:ea typeface="Arial"/>
                          <a:cs typeface="Arial"/>
                        </a:rPr>
                        <a:t> funds biennially (FY24 in window)</a:t>
                      </a:r>
                    </a:p>
                    <a:p>
                      <a:pPr algn="l">
                        <a:lnSpc>
                          <a:spcPct val="115000"/>
                        </a:lnSpc>
                      </a:pPr>
                      <a:r>
                        <a:rPr lang="en-US" sz="800" b="1" u="sng">
                          <a:solidFill>
                            <a:srgbClr val="000000"/>
                          </a:solidFill>
                          <a:latin typeface="Arial"/>
                          <a:ea typeface="Arial"/>
                          <a:cs typeface="Arial"/>
                        </a:rPr>
                        <a:t>Outsourcing:</a:t>
                      </a:r>
                      <a:r>
                        <a:rPr lang="en-US" sz="800">
                          <a:solidFill>
                            <a:srgbClr val="000000"/>
                          </a:solidFill>
                          <a:latin typeface="Arial"/>
                          <a:ea typeface="Arial"/>
                          <a:cs typeface="Arial"/>
                        </a:rPr>
                        <a:t> </a:t>
                      </a:r>
                      <a:r>
                        <a:rPr lang="en-US" sz="800" i="1">
                          <a:solidFill>
                            <a:srgbClr val="000000"/>
                          </a:solidFill>
                          <a:latin typeface="Arial"/>
                          <a:ea typeface="Arial"/>
                          <a:cs typeface="Arial"/>
                        </a:rPr>
                        <a:t>Virginia</a:t>
                      </a:r>
                      <a:r>
                        <a:rPr lang="en-US" sz="800">
                          <a:solidFill>
                            <a:srgbClr val="000000"/>
                          </a:solidFill>
                          <a:latin typeface="Arial"/>
                          <a:ea typeface="Arial"/>
                          <a:cs typeface="Arial"/>
                        </a:rPr>
                        <a:t> outsourced ~19-27% per year (FY22-25 avg. ~24%); </a:t>
                      </a:r>
                      <a:r>
                        <a:rPr lang="en-US" sz="800" i="1">
                          <a:solidFill>
                            <a:srgbClr val="000000"/>
                          </a:solidFill>
                          <a:latin typeface="Arial"/>
                          <a:ea typeface="Arial"/>
                          <a:cs typeface="Arial"/>
                        </a:rPr>
                        <a:t>Columbia</a:t>
                      </a:r>
                      <a:r>
                        <a:rPr lang="en-US" sz="800">
                          <a:solidFill>
                            <a:srgbClr val="000000"/>
                          </a:solidFill>
                          <a:latin typeface="Arial"/>
                          <a:ea typeface="Arial"/>
                          <a:cs typeface="Arial"/>
                        </a:rPr>
                        <a:t> ~13% (FY24)</a:t>
                      </a:r>
                    </a:p>
                  </a:txBody>
                  <a:tcPr marL="45720" marR="45720" anchor="ctr">
                    <a:lnL>
                      <a:noFill/>
                    </a:lnL>
                    <a:lnR>
                      <a:noFill/>
                    </a:lnR>
                    <a:lnT>
                      <a:noFill/>
                    </a:lnT>
                    <a:lnB w="9525" cap="flat" cmpd="sng" algn="ctr">
                      <a:solidFill>
                        <a:srgbClr val="000000"/>
                      </a:solidFill>
                      <a:prstDash val="solid"/>
                    </a:lnB>
                    <a:noFill/>
                  </a:tcPr>
                </a:tc>
                <a:tc>
                  <a:txBody>
                    <a:bodyPr/>
                    <a:lstStyle/>
                    <a:p>
                      <a:pPr algn="l">
                        <a:lnSpc>
                          <a:spcPct val="115000"/>
                        </a:lnSpc>
                      </a:pPr>
                      <a:r>
                        <a:rPr lang="en-US" sz="800" b="1" u="sng">
                          <a:solidFill>
                            <a:srgbClr val="000000"/>
                          </a:solidFill>
                          <a:latin typeface="Arial"/>
                          <a:ea typeface="Arial"/>
                          <a:cs typeface="Arial"/>
                        </a:rPr>
                        <a:t>Total Funding:</a:t>
                      </a:r>
                      <a:r>
                        <a:rPr lang="en-US" sz="800">
                          <a:solidFill>
                            <a:srgbClr val="000000"/>
                          </a:solidFill>
                          <a:latin typeface="Arial"/>
                          <a:ea typeface="Arial"/>
                          <a:cs typeface="Arial"/>
                        </a:rPr>
                        <a:t> OBBBA adds $4.6B for a second </a:t>
                      </a:r>
                      <a:r>
                        <a:rPr lang="en-US" sz="800" i="1">
                          <a:solidFill>
                            <a:srgbClr val="000000"/>
                          </a:solidFill>
                          <a:latin typeface="Arial"/>
                          <a:ea typeface="Arial"/>
                          <a:cs typeface="Arial"/>
                        </a:rPr>
                        <a:t>Virginia</a:t>
                      </a:r>
                      <a:r>
                        <a:rPr lang="en-US" sz="800">
                          <a:solidFill>
                            <a:srgbClr val="000000"/>
                          </a:solidFill>
                          <a:latin typeface="Arial"/>
                          <a:ea typeface="Arial"/>
                          <a:cs typeface="Arial"/>
                        </a:rPr>
                        <a:t> in FY26 (Sec. 20002(16)); FYDP calls for 1x </a:t>
                      </a:r>
                      <a:r>
                        <a:rPr lang="en-US" sz="800" i="1">
                          <a:solidFill>
                            <a:srgbClr val="000000"/>
                          </a:solidFill>
                          <a:latin typeface="Arial"/>
                          <a:ea typeface="Arial"/>
                          <a:cs typeface="Arial"/>
                        </a:rPr>
                        <a:t>Columbia</a:t>
                      </a:r>
                      <a:r>
                        <a:rPr lang="en-US" sz="800">
                          <a:solidFill>
                            <a:srgbClr val="000000"/>
                          </a:solidFill>
                          <a:latin typeface="Arial"/>
                          <a:ea typeface="Arial"/>
                          <a:cs typeface="Arial"/>
                        </a:rPr>
                        <a:t> p.a. from FY26 and 2x </a:t>
                      </a:r>
                      <a:r>
                        <a:rPr lang="en-US" sz="800" i="1">
                          <a:solidFill>
                            <a:srgbClr val="000000"/>
                          </a:solidFill>
                          <a:latin typeface="Arial"/>
                          <a:ea typeface="Arial"/>
                          <a:cs typeface="Arial"/>
                        </a:rPr>
                        <a:t>Virginia</a:t>
                      </a:r>
                      <a:r>
                        <a:rPr lang="en-US" sz="800">
                          <a:solidFill>
                            <a:srgbClr val="000000"/>
                          </a:solidFill>
                          <a:latin typeface="Arial"/>
                          <a:ea typeface="Arial"/>
                          <a:cs typeface="Arial"/>
                        </a:rPr>
                        <a:t> p.a. from FY27</a:t>
                      </a:r>
                    </a:p>
                    <a:p>
                      <a:pPr algn="l">
                        <a:lnSpc>
                          <a:spcPct val="115000"/>
                        </a:lnSpc>
                      </a:pPr>
                      <a:r>
                        <a:rPr lang="en-US" sz="800" b="1" u="sng">
                          <a:solidFill>
                            <a:srgbClr val="000000"/>
                          </a:solidFill>
                          <a:latin typeface="Arial"/>
                          <a:ea typeface="Arial"/>
                          <a:cs typeface="Arial"/>
                        </a:rPr>
                        <a:t>Outsourcing:</a:t>
                      </a:r>
                      <a:r>
                        <a:rPr lang="en-US" sz="800">
                          <a:solidFill>
                            <a:srgbClr val="000000"/>
                          </a:solidFill>
                          <a:latin typeface="Arial"/>
                          <a:ea typeface="Arial"/>
                          <a:cs typeface="Arial"/>
                        </a:rPr>
                        <a:t> Lower bound reflects FY22–25 avg. rate; Upper bound assumes penetration grows ~1.8 ppts p.a. for </a:t>
                      </a:r>
                      <a:r>
                        <a:rPr lang="en-US" sz="800" i="1">
                          <a:solidFill>
                            <a:srgbClr val="000000"/>
                          </a:solidFill>
                          <a:latin typeface="Arial"/>
                          <a:ea typeface="Arial"/>
                          <a:cs typeface="Arial"/>
                        </a:rPr>
                        <a:t>Virginia</a:t>
                      </a:r>
                      <a:r>
                        <a:rPr lang="en-US" sz="800">
                          <a:solidFill>
                            <a:srgbClr val="000000"/>
                          </a:solidFill>
                          <a:latin typeface="Arial"/>
                          <a:ea typeface="Arial"/>
                          <a:cs typeface="Arial"/>
                        </a:rPr>
                        <a:t> and ~1.0 ppts p.a. for </a:t>
                      </a:r>
                      <a:r>
                        <a:rPr lang="en-US" sz="800" i="1">
                          <a:solidFill>
                            <a:srgbClr val="000000"/>
                          </a:solidFill>
                          <a:latin typeface="Arial"/>
                          <a:ea typeface="Arial"/>
                          <a:cs typeface="Arial"/>
                        </a:rPr>
                        <a:t>Columbia</a:t>
                      </a:r>
                      <a:r>
                        <a:rPr lang="en-US" sz="800">
                          <a:solidFill>
                            <a:srgbClr val="000000"/>
                          </a:solidFill>
                          <a:latin typeface="Arial"/>
                          <a:ea typeface="Arial"/>
                          <a:cs typeface="Arial"/>
                        </a:rPr>
                        <a:t> (~7% CAGR), towards ~31% (</a:t>
                      </a:r>
                      <a:r>
                        <a:rPr lang="en-US" sz="800" i="1">
                          <a:solidFill>
                            <a:srgbClr val="000000"/>
                          </a:solidFill>
                          <a:latin typeface="Arial"/>
                          <a:ea typeface="Arial"/>
                          <a:cs typeface="Arial"/>
                        </a:rPr>
                        <a:t>Virginia</a:t>
                      </a:r>
                      <a:r>
                        <a:rPr lang="en-US" sz="800">
                          <a:solidFill>
                            <a:srgbClr val="000000"/>
                          </a:solidFill>
                          <a:latin typeface="Arial"/>
                          <a:ea typeface="Arial"/>
                          <a:cs typeface="Arial"/>
                        </a:rPr>
                        <a:t>) / ~17% (</a:t>
                      </a:r>
                      <a:r>
                        <a:rPr lang="en-US" sz="800" i="1">
                          <a:solidFill>
                            <a:srgbClr val="000000"/>
                          </a:solidFill>
                          <a:latin typeface="Arial"/>
                          <a:ea typeface="Arial"/>
                          <a:cs typeface="Arial"/>
                        </a:rPr>
                        <a:t>Columbia</a:t>
                      </a:r>
                      <a:r>
                        <a:rPr lang="en-US" sz="800">
                          <a:solidFill>
                            <a:srgbClr val="000000"/>
                          </a:solidFill>
                          <a:latin typeface="Arial"/>
                          <a:ea typeface="Arial"/>
                          <a:cs typeface="Arial"/>
                        </a:rPr>
                        <a:t>) targets, driven by “strategically outsourcing workload to qualified suppliers” (PB27 SCN, Columbia P-10)</a:t>
                      </a:r>
                    </a:p>
                  </a:txBody>
                  <a:tcPr marL="45720" marR="45720" anchor="ctr">
                    <a:lnL>
                      <a:noFill/>
                    </a:lnL>
                    <a:lnR>
                      <a:noFill/>
                    </a:lnR>
                    <a:lnT>
                      <a:noFill/>
                    </a:lnT>
                    <a:lnB w="9525" cap="flat" cmpd="sng" algn="ctr">
                      <a:solidFill>
                        <a:srgbClr val="000000"/>
                      </a:solidFill>
                      <a:prstDash val="solid"/>
                    </a:lnB>
                    <a:noFill/>
                  </a:tcPr>
                </a:tc>
              </a:tr>
              <a:tr h="541600">
                <a:tc>
                  <a:txBody>
                    <a:bodyPr/>
                    <a:lstStyle/>
                    <a:p>
                      <a:pPr algn="l">
                        <a:lnSpc>
                          <a:spcPct val="115000"/>
                        </a:lnSpc>
                      </a:pPr>
                      <a:r>
                        <a:rPr lang="en-US" sz="800" b="1">
                          <a:solidFill>
                            <a:srgbClr val="000000"/>
                          </a:solidFill>
                          <a:latin typeface="Arial"/>
                          <a:ea typeface="Arial"/>
                          <a:cs typeface="Arial"/>
                        </a:rPr>
                        <a:t>DDG-51</a:t>
                      </a:r>
                    </a:p>
                  </a:txBody>
                  <a:tcPr marL="45720" marR="45720"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l">
                        <a:lnSpc>
                          <a:spcPct val="115000"/>
                        </a:lnSpc>
                      </a:pPr>
                      <a:r>
                        <a:rPr lang="en-US" sz="800" b="1" u="sng">
                          <a:solidFill>
                            <a:srgbClr val="000000"/>
                          </a:solidFill>
                          <a:latin typeface="Arial"/>
                          <a:ea typeface="Arial"/>
                          <a:cs typeface="Arial"/>
                        </a:rPr>
                        <a:t>Total Funding:</a:t>
                      </a:r>
                      <a:r>
                        <a:rPr lang="en-US" sz="800">
                          <a:solidFill>
                            <a:srgbClr val="000000"/>
                          </a:solidFill>
                          <a:latin typeface="Arial"/>
                          <a:ea typeface="Arial"/>
                          <a:cs typeface="Arial"/>
                        </a:rPr>
                        <a:t> Procuring at 2-3x per year</a:t>
                      </a:r>
                    </a:p>
                    <a:p>
                      <a:pPr algn="l">
                        <a:lnSpc>
                          <a:spcPct val="115000"/>
                        </a:lnSpc>
                      </a:pPr>
                      <a:r>
                        <a:rPr lang="en-US" sz="800" b="1" u="sng">
                          <a:solidFill>
                            <a:srgbClr val="000000"/>
                          </a:solidFill>
                          <a:latin typeface="Arial"/>
                          <a:ea typeface="Arial"/>
                          <a:cs typeface="Arial"/>
                        </a:rPr>
                        <a:t>Outsourcing:</a:t>
                      </a:r>
                      <a:r>
                        <a:rPr lang="en-US" sz="800">
                          <a:solidFill>
                            <a:srgbClr val="000000"/>
                          </a:solidFill>
                          <a:latin typeface="Arial"/>
                          <a:ea typeface="Arial"/>
                          <a:cs typeface="Arial"/>
                        </a:rPr>
                        <a:t> Outsourced 11-15% per year (FY22–25 avg. ~14%)</a:t>
                      </a:r>
                    </a:p>
                  </a:txBody>
                  <a:tcPr marL="45720" marR="45720"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l">
                        <a:lnSpc>
                          <a:spcPct val="115000"/>
                        </a:lnSpc>
                      </a:pPr>
                      <a:r>
                        <a:rPr lang="en-US" sz="800" b="1" u="sng">
                          <a:solidFill>
                            <a:srgbClr val="000000"/>
                          </a:solidFill>
                          <a:latin typeface="+mn-lt"/>
                          <a:ea typeface="Arial"/>
                          <a:cs typeface="Arial"/>
                        </a:rPr>
                        <a:t>Total Funding:</a:t>
                      </a:r>
                      <a:r>
                        <a:rPr lang="en-US" sz="800">
                          <a:solidFill>
                            <a:srgbClr val="000000"/>
                          </a:solidFill>
                          <a:latin typeface="+mn-lt"/>
                          <a:ea typeface="Arial"/>
                          <a:cs typeface="Arial"/>
                        </a:rPr>
                        <a:t> OBBBA adds $5.4B for two additional DDG-51s in FY26 (Sec. 20002(17)); FYDP calls for ~1.5-ship buys p.a. FY27-FY31</a:t>
                      </a:r>
                    </a:p>
                    <a:p>
                      <a:pPr algn="l">
                        <a:lnSpc>
                          <a:spcPct val="115000"/>
                        </a:lnSpc>
                      </a:pPr>
                      <a:r>
                        <a:rPr lang="en-US" sz="800" b="1" u="sng">
                          <a:solidFill>
                            <a:srgbClr val="000000"/>
                          </a:solidFill>
                          <a:latin typeface="+mn-lt"/>
                          <a:ea typeface="Arial"/>
                          <a:cs typeface="Arial"/>
                        </a:rPr>
                        <a:t>Outsourcing:</a:t>
                      </a:r>
                      <a:r>
                        <a:rPr lang="en-US" sz="800">
                          <a:solidFill>
                            <a:srgbClr val="000000"/>
                          </a:solidFill>
                          <a:latin typeface="+mn-lt"/>
                          <a:ea typeface="Arial"/>
                          <a:cs typeface="Arial"/>
                        </a:rPr>
                        <a:t> FY26 spike driven by OBBBA-related EOQ AP/LLTM (vendor-purchased LLTM bought ahead of the FY27-31 ramp flows almost entirely to suppliers); FY27–31 lower bound reflects FY22–25 avg. rate (i.e., reversion to mean); FY27-31 upper bound assumes ~1.1 ppts p.a. (~7% CAGR) towards a ~19% target using FY22-25 avg. as baseline, driven by stated intent to grow outsourced manhours ~30%</a:t>
                      </a:r>
                    </a:p>
                  </a:txBody>
                  <a:tcPr marL="45720" marR="45720" anchor="ctr">
                    <a:lnL>
                      <a:noFill/>
                    </a:lnL>
                    <a:lnR>
                      <a:noFill/>
                    </a:lnR>
                    <a:lnT w="9525" cap="flat" cmpd="sng" algn="ctr">
                      <a:solidFill>
                        <a:srgbClr val="000000"/>
                      </a:solidFill>
                      <a:prstDash val="solid"/>
                      <a:round/>
                      <a:headEnd type="none" w="med" len="med"/>
                      <a:tailEnd type="none" w="med" len="med"/>
                    </a:lnT>
                    <a:lnB>
                      <a:noFill/>
                    </a:lnB>
                    <a:noFill/>
                  </a:tcPr>
                </a:tc>
              </a:tr>
            </a:tbl>
          </a:graphicData>
        </a:graphic>
      </p:graphicFrame>
      <p:graphicFrame>
        <p:nvGraphicFramePr>
          <p:cNvPr id="337" name="Chart 36"/>
          <p:cNvGraphicFramePr/>
          <p:nvPr/>
        </p:nvGraphicFramePr>
        <p:xfrm>
          <a:off x="646113" y="1574800"/>
          <a:ext cx="11126787" cy="2470150"/>
        </p:xfrm>
        <a:graphic>
          <a:graphicData uri="http://schemas.openxmlformats.org/drawingml/2006/chart">
            <c:chart xmlns:c="http://schemas.openxmlformats.org/drawingml/2006/chart" xmlns:r="http://schemas.openxmlformats.org/officeDocument/2006/relationships" r:id="rId2"/>
          </a:graphicData>
        </a:graphic>
      </p:graphicFrame>
      <p:sp>
        <p:nvSpPr>
          <p:cNvPr id="302" name="Breadcrumb"/>
          <p:cNvSpPr>
            <a:spLocks noGrp="1"/>
          </p:cNvSpPr>
          <p:nvPr>
            <p:ph type="body" sz="quarter" idx="10"/>
          </p:nvPr>
        </p:nvSpPr>
        <p:spPr>
          <a:xfrm>
            <a:off x="453079" y="263452"/>
            <a:ext cx="11282362" cy="153888"/>
          </a:xfrm>
        </p:spPr>
        <p:txBody>
          <a:bodyPr/>
          <a:lstStyle/>
          <a:p>
            <a:r>
              <a:rPr lang="en-US" b="1">
                <a:solidFill>
                  <a:srgbClr val="44505C"/>
                </a:solidFill>
                <a:latin typeface="Arial"/>
                <a:ea typeface="Arial"/>
                <a:cs typeface="Arial"/>
              </a:rPr>
              <a:t>Executive Summary</a:t>
            </a:r>
            <a:r>
              <a:rPr lang="en-US" sz="1000" kern="1200">
                <a:solidFill>
                  <a:srgbClr val="44505C"/>
                </a:solidFill>
                <a:latin typeface="Arial"/>
                <a:ea typeface="Arial"/>
                <a:cs typeface="Arial"/>
              </a:rPr>
              <a:t> / Outsourced BC Annual TAM</a:t>
            </a:r>
          </a:p>
        </p:txBody>
      </p:sp>
      <p:sp>
        <p:nvSpPr>
          <p:cNvPr id="304" name="PrelimChip"/>
          <p:cNvSpPr txBox="1"/>
          <p:nvPr/>
        </p:nvSpPr>
        <p:spPr>
          <a:xfrm>
            <a:off x="10267829" y="111556"/>
            <a:ext cx="1467612" cy="290000"/>
          </a:xfrm>
          <a:prstGeom prst="rect">
            <a:avLst/>
          </a:prstGeom>
          <a:solidFill>
            <a:srgbClr val="FFFFCC"/>
          </a:solidFill>
          <a:ln w="19050">
            <a:solidFill>
              <a:srgbClr val="000000"/>
            </a:solidFill>
          </a:ln>
        </p:spPr>
        <p:txBody>
          <a:bodyPr wrap="square" lIns="45720" tIns="9144" rIns="45720" bIns="9144" anchor="ctr"/>
          <a:lstStyle/>
          <a:p>
            <a:pPr algn="ctr"/>
            <a:r>
              <a:rPr lang="en-US" sz="1200" b="1" kern="1200">
                <a:solidFill>
                  <a:srgbClr val="000000"/>
                </a:solidFill>
                <a:latin typeface="Arial"/>
                <a:ea typeface="Arial"/>
                <a:cs typeface="Arial"/>
              </a:rPr>
              <a:t>Preliminary</a:t>
            </a:r>
          </a:p>
        </p:txBody>
      </p:sp>
      <p:sp>
        <p:nvSpPr>
          <p:cNvPr id="303" name="Title"/>
          <p:cNvSpPr>
            <a:spLocks noGrp="1"/>
          </p:cNvSpPr>
          <p:nvPr>
            <p:ph type="title"/>
          </p:nvPr>
        </p:nvSpPr>
        <p:spPr>
          <a:xfrm>
            <a:off x="453079" y="554500"/>
            <a:ext cx="11282362" cy="640080"/>
          </a:xfrm>
        </p:spPr>
        <p:txBody>
          <a:bodyPr vert="horz" rIns="0"/>
          <a:lstStyle/>
          <a:p>
            <a:r>
              <a:rPr lang="en-US">
                <a:solidFill>
                  <a:srgbClr val="162029"/>
                </a:solidFill>
                <a:ea typeface="Arial"/>
                <a:cs typeface="Arial"/>
              </a:rPr>
              <a:t>Outsourced Basic Construction (Annual TAM) | After averaging ~$3.5B through FY2025, demand peaks at ~$5.5B in FY2024 and FY2026 and is expected to hold ~$4.3-5.7B a year through FY2031.</a:t>
            </a:r>
            <a:endParaRPr lang="en-US" sz="2000" kern="1200">
              <a:solidFill>
                <a:srgbClr val="162029"/>
              </a:solidFill>
              <a:latin typeface="Arial"/>
              <a:ea typeface="Arial"/>
              <a:cs typeface="Arial"/>
            </a:endParaRPr>
          </a:p>
        </p:txBody>
      </p:sp>
      <p:sp>
        <p:nvSpPr>
          <p:cNvPr id="1079" name="Text Placeholder 25"/>
          <p:cNvSpPr>
            <a:spLocks/>
          </p:cNvSpPr>
          <p:nvPr/>
        </p:nvSpPr>
        <p:spPr bwMode="auto">
          <a:xfrm>
            <a:off x="749300" y="1317625"/>
            <a:ext cx="2978150" cy="304800"/>
          </a:xfrm>
          <a:prstGeom prst="rect">
            <a:avLst/>
          </a:prstGeom>
          <a:noFill/>
          <a:ln>
            <a:noFill/>
          </a:ln>
          <a:effectLst/>
        </p:spPr>
        <p:txBody>
          <a:bodyPr vert="horz" wrap="none" lIns="0" tIns="0" rIns="0" bIns="0" rtlCol="0" anchor="b">
            <a:noAutofit/>
          </a:bodyPr>
          <a:p>
            <a:pPr marL="0" indent="0">
              <a:spcBef>
                <a:spcPct val="0"/>
              </a:spcBef>
              <a:spcAft>
                <a:spcPct val="0"/>
              </a:spcAft>
              <a:buNone/>
            </a:pPr>
            <a:r>
              <a:rPr lang="en-US" sz="1000" b="1">
                <a:solidFill>
                  <a:srgbClr val="000000"/>
                </a:solidFill>
              </a:rPr>
              <a:t>Outsourced Basic Construction TAM ($B, FY26 $)</a:t>
            </a:r>
            <a:endParaRPr lang="en-US" sz="1000" baseline="30000">
              <a:solidFill>
                <a:srgbClr val="000000"/>
              </a:solidFill>
            </a:endParaRPr>
          </a:p>
          <a:p>
            <a:pPr marL="0" lvl="0" indent="0">
              <a:spcBef>
                <a:spcPct val="0"/>
              </a:spcBef>
              <a:spcAft>
                <a:spcPct val="0"/>
              </a:spcAft>
              <a:buNone/>
            </a:pPr>
            <a:endParaRPr lang="en-US" sz="1000"/>
          </a:p>
        </p:txBody>
      </p:sp>
      <p:sp>
        <p:nvSpPr>
          <p:cNvPr id="362" name="Sources"/>
          <p:cNvSpPr txBox="1"/>
          <p:nvPr/>
        </p:nvSpPr>
        <p:spPr>
          <a:xfrm>
            <a:off x="453079" y="6380252"/>
            <a:ext cx="4630550" cy="467686"/>
          </a:xfrm>
          <a:prstGeom prst="rect">
            <a:avLst/>
          </a:prstGeom>
          <a:noFill/>
          <a:ln>
            <a:noFill/>
          </a:ln>
        </p:spPr>
        <p:txBody>
          <a:bodyPr wrap="square" lIns="91440" tIns="45720" rIns="91440" bIns="45720" anchor="t"/>
          <a:lstStyle/>
          <a:p>
            <a:r>
              <a:rPr lang="en-US" sz="800" kern="1200">
                <a:solidFill>
                  <a:srgbClr val="162029"/>
                </a:solidFill>
                <a:latin typeface="Arial"/>
                <a:ea typeface="Arial"/>
                <a:cs typeface="Arial"/>
              </a:rPr>
              <a:t>Sources: Navy SCN P-5c / P-40 budget justification, FY22–FY27, and PB27 FYDP outyears (FY28–FY31); FY26, PL 119-21 Sec. 20002; OUSD(C) Green Book Procurement deflators; Navy Shipbuilding Plan; HII FY24 Q3 / FY25 Q4 / FY26 Q1 earnings calls</a:t>
            </a:r>
          </a:p>
        </p:txBody>
      </p:sp>
      <p:sp>
        <p:nvSpPr>
          <p:cNvPr id="1509" name="ProgramChip"/>
          <p:cNvSpPr txBox="1"/>
          <p:nvPr/>
        </p:nvSpPr>
        <p:spPr>
          <a:xfrm>
            <a:off x="5144475" y="1697716"/>
            <a:ext cx="6668163" cy="3254425"/>
          </a:xfrm>
          <a:prstGeom prst="rect">
            <a:avLst/>
          </a:prstGeom>
          <a:noFill/>
          <a:ln w="12700">
            <a:solidFill>
              <a:srgbClr val="000000"/>
            </a:solidFill>
            <a:prstDash val="dash"/>
          </a:ln>
        </p:spPr>
        <p:txBody>
          <a:bodyPr wrap="square" lIns="0" tIns="0" rIns="0" bIns="0" anchor="t" anchorCtr="1"/>
          <a:lstStyle/>
          <a:p>
            <a:pPr algn="ctr">
              <a:lnSpc>
                <a:spcPct val="115000"/>
              </a:lnSpc>
              <a:buNone/>
            </a:pPr>
            <a:r>
              <a:rPr lang="en-US" sz="900" b="1" i="1">
                <a:solidFill>
                  <a:srgbClr val="000000"/>
                </a:solidFill>
                <a:latin typeface="Arial"/>
                <a:ea typeface="Arial"/>
                <a:cs typeface="Arial"/>
              </a:rPr>
              <a:t>Forecasted</a:t>
            </a:r>
          </a:p>
        </p:txBody>
      </p:sp>
      <p:cxnSp>
        <p:nvCxnSpPr>
          <p:cNvPr id="1234" name="Straight Connector 933"/>
          <p:cNvCxnSpPr/>
          <p:nvPr/>
        </p:nvCxnSpPr>
        <p:spPr bwMode="auto">
          <a:xfrm>
            <a:off x="11417300" y="2524125"/>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35" name="Straight Connector 934"/>
          <p:cNvCxnSpPr/>
          <p:nvPr/>
        </p:nvCxnSpPr>
        <p:spPr bwMode="auto">
          <a:xfrm>
            <a:off x="11417300" y="3598863"/>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9" name="Straight Connector 948"/>
          <p:cNvCxnSpPr/>
          <p:nvPr/>
        </p:nvCxnSpPr>
        <p:spPr bwMode="auto">
          <a:xfrm>
            <a:off x="11417300" y="3425825"/>
            <a:ext cx="0" cy="1730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36" name="Straight Connector 935"/>
          <p:cNvCxnSpPr/>
          <p:nvPr/>
        </p:nvCxnSpPr>
        <p:spPr bwMode="auto">
          <a:xfrm>
            <a:off x="11417300" y="2524125"/>
            <a:ext cx="0" cy="111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37" name="Straight Connector 936"/>
          <p:cNvCxnSpPr/>
          <p:nvPr/>
        </p:nvCxnSpPr>
        <p:spPr bwMode="auto">
          <a:xfrm>
            <a:off x="11690350" y="2524125"/>
            <a:ext cx="0" cy="10747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9" name="Straight Connector 1068"/>
          <p:cNvCxnSpPr/>
          <p:nvPr/>
        </p:nvCxnSpPr>
        <p:spPr bwMode="auto">
          <a:xfrm>
            <a:off x="11142663" y="2535238"/>
            <a:ext cx="274637"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70" name="Straight Connector 1069"/>
          <p:cNvCxnSpPr/>
          <p:nvPr/>
        </p:nvCxnSpPr>
        <p:spPr bwMode="auto">
          <a:xfrm>
            <a:off x="11142663" y="3425825"/>
            <a:ext cx="274637"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71" name="Straight Connector 1070"/>
          <p:cNvCxnSpPr/>
          <p:nvPr/>
        </p:nvCxnSpPr>
        <p:spPr bwMode="auto">
          <a:xfrm>
            <a:off x="11142663" y="2535238"/>
            <a:ext cx="0" cy="439738"/>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72" name="Straight Connector 1071"/>
          <p:cNvCxnSpPr/>
          <p:nvPr/>
        </p:nvCxnSpPr>
        <p:spPr bwMode="auto">
          <a:xfrm>
            <a:off x="11417300" y="2535238"/>
            <a:ext cx="0" cy="890588"/>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68" name="Rectangle 1067"/>
          <p:cNvSpPr/>
          <p:nvPr/>
        </p:nvSpPr>
        <p:spPr bwMode="auto">
          <a:xfrm>
            <a:off x="10869613" y="2974975"/>
            <a:ext cx="273050" cy="687388"/>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30" name="Straight Connector 929"/>
          <p:cNvCxnSpPr/>
          <p:nvPr/>
        </p:nvCxnSpPr>
        <p:spPr bwMode="auto">
          <a:xfrm>
            <a:off x="10321925" y="2525713"/>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31" name="Straight Connector 930"/>
          <p:cNvCxnSpPr/>
          <p:nvPr/>
        </p:nvCxnSpPr>
        <p:spPr bwMode="auto">
          <a:xfrm>
            <a:off x="10321925" y="3613150"/>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32" name="Straight Connector 931"/>
          <p:cNvCxnSpPr/>
          <p:nvPr/>
        </p:nvCxnSpPr>
        <p:spPr bwMode="auto">
          <a:xfrm>
            <a:off x="10321925" y="2525713"/>
            <a:ext cx="0" cy="3175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8" name="Straight Connector 947"/>
          <p:cNvCxnSpPr/>
          <p:nvPr/>
        </p:nvCxnSpPr>
        <p:spPr bwMode="auto">
          <a:xfrm>
            <a:off x="10321925" y="3457575"/>
            <a:ext cx="0" cy="15557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33" name="Straight Connector 932"/>
          <p:cNvCxnSpPr/>
          <p:nvPr/>
        </p:nvCxnSpPr>
        <p:spPr bwMode="auto">
          <a:xfrm>
            <a:off x="10594975" y="2525713"/>
            <a:ext cx="0" cy="10874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4" name="Straight Connector 1063"/>
          <p:cNvCxnSpPr/>
          <p:nvPr/>
        </p:nvCxnSpPr>
        <p:spPr bwMode="auto">
          <a:xfrm>
            <a:off x="10048875" y="2557463"/>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6" name="Straight Connector 1065"/>
          <p:cNvCxnSpPr/>
          <p:nvPr/>
        </p:nvCxnSpPr>
        <p:spPr bwMode="auto">
          <a:xfrm>
            <a:off x="10048875" y="2557463"/>
            <a:ext cx="0" cy="44291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7" name="Straight Connector 1066"/>
          <p:cNvCxnSpPr/>
          <p:nvPr/>
        </p:nvCxnSpPr>
        <p:spPr bwMode="auto">
          <a:xfrm>
            <a:off x="10321925" y="2557463"/>
            <a:ext cx="0" cy="90011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5" name="Straight Connector 1064"/>
          <p:cNvCxnSpPr/>
          <p:nvPr/>
        </p:nvCxnSpPr>
        <p:spPr bwMode="auto">
          <a:xfrm>
            <a:off x="10048875" y="3457575"/>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63" name="Rectangle 1062"/>
          <p:cNvSpPr/>
          <p:nvPr/>
        </p:nvSpPr>
        <p:spPr bwMode="auto">
          <a:xfrm>
            <a:off x="9774238" y="3000375"/>
            <a:ext cx="274637" cy="676275"/>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7" name="Straight Connector 926"/>
          <p:cNvCxnSpPr/>
          <p:nvPr/>
        </p:nvCxnSpPr>
        <p:spPr bwMode="auto">
          <a:xfrm>
            <a:off x="9228138" y="2508250"/>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8" name="Straight Connector 927"/>
          <p:cNvCxnSpPr/>
          <p:nvPr/>
        </p:nvCxnSpPr>
        <p:spPr bwMode="auto">
          <a:xfrm>
            <a:off x="9228138" y="3624263"/>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7" name="Straight Connector 946"/>
          <p:cNvCxnSpPr/>
          <p:nvPr/>
        </p:nvCxnSpPr>
        <p:spPr bwMode="auto">
          <a:xfrm>
            <a:off x="9228138" y="3441700"/>
            <a:ext cx="0" cy="18256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9" name="Straight Connector 928"/>
          <p:cNvCxnSpPr/>
          <p:nvPr/>
        </p:nvCxnSpPr>
        <p:spPr bwMode="auto">
          <a:xfrm>
            <a:off x="9501188" y="2508250"/>
            <a:ext cx="0" cy="11160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9" name="Straight Connector 1058"/>
          <p:cNvCxnSpPr/>
          <p:nvPr/>
        </p:nvCxnSpPr>
        <p:spPr bwMode="auto">
          <a:xfrm>
            <a:off x="8953500" y="2414588"/>
            <a:ext cx="274638"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0" name="Straight Connector 1059"/>
          <p:cNvCxnSpPr/>
          <p:nvPr/>
        </p:nvCxnSpPr>
        <p:spPr bwMode="auto">
          <a:xfrm>
            <a:off x="8953500" y="3441700"/>
            <a:ext cx="274638"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1" name="Straight Connector 1060"/>
          <p:cNvCxnSpPr/>
          <p:nvPr/>
        </p:nvCxnSpPr>
        <p:spPr bwMode="auto">
          <a:xfrm>
            <a:off x="8953500" y="2414588"/>
            <a:ext cx="0" cy="871538"/>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2" name="Straight Connector 1061"/>
          <p:cNvCxnSpPr/>
          <p:nvPr/>
        </p:nvCxnSpPr>
        <p:spPr bwMode="auto">
          <a:xfrm>
            <a:off x="9228138" y="2414588"/>
            <a:ext cx="0" cy="102711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58" name="Rectangle 1057"/>
          <p:cNvSpPr/>
          <p:nvPr/>
        </p:nvSpPr>
        <p:spPr bwMode="auto">
          <a:xfrm>
            <a:off x="8680450" y="3286125"/>
            <a:ext cx="273050" cy="446088"/>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6" name="Straight Connector 925"/>
          <p:cNvCxnSpPr/>
          <p:nvPr/>
        </p:nvCxnSpPr>
        <p:spPr bwMode="auto">
          <a:xfrm>
            <a:off x="8405813" y="2509838"/>
            <a:ext cx="0" cy="112712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6" name="Straight Connector 945"/>
          <p:cNvCxnSpPr/>
          <p:nvPr/>
        </p:nvCxnSpPr>
        <p:spPr bwMode="auto">
          <a:xfrm>
            <a:off x="8132763" y="3452813"/>
            <a:ext cx="0" cy="18415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5" name="Straight Connector 924"/>
          <p:cNvCxnSpPr/>
          <p:nvPr/>
        </p:nvCxnSpPr>
        <p:spPr bwMode="auto">
          <a:xfrm>
            <a:off x="8132763" y="3636963"/>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4" name="Straight Connector 923"/>
          <p:cNvCxnSpPr/>
          <p:nvPr/>
        </p:nvCxnSpPr>
        <p:spPr bwMode="auto">
          <a:xfrm>
            <a:off x="8132763" y="2509838"/>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7" name="Straight Connector 1056"/>
          <p:cNvCxnSpPr/>
          <p:nvPr/>
        </p:nvCxnSpPr>
        <p:spPr bwMode="auto">
          <a:xfrm>
            <a:off x="8132763" y="2360613"/>
            <a:ext cx="0" cy="109220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6" name="Straight Connector 1055"/>
          <p:cNvCxnSpPr/>
          <p:nvPr/>
        </p:nvCxnSpPr>
        <p:spPr bwMode="auto">
          <a:xfrm>
            <a:off x="7859713" y="2360613"/>
            <a:ext cx="0" cy="93821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5" name="Straight Connector 1054"/>
          <p:cNvCxnSpPr/>
          <p:nvPr/>
        </p:nvCxnSpPr>
        <p:spPr bwMode="auto">
          <a:xfrm>
            <a:off x="7859713" y="3452813"/>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4" name="Straight Connector 1053"/>
          <p:cNvCxnSpPr/>
          <p:nvPr/>
        </p:nvCxnSpPr>
        <p:spPr bwMode="auto">
          <a:xfrm>
            <a:off x="7859713" y="2360613"/>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53" name="Rectangle 1052"/>
          <p:cNvSpPr/>
          <p:nvPr/>
        </p:nvSpPr>
        <p:spPr bwMode="auto">
          <a:xfrm>
            <a:off x="7585075" y="3298825"/>
            <a:ext cx="274638" cy="441325"/>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2" name="Straight Connector 921"/>
          <p:cNvCxnSpPr/>
          <p:nvPr/>
        </p:nvCxnSpPr>
        <p:spPr bwMode="auto">
          <a:xfrm>
            <a:off x="7037388" y="3621088"/>
            <a:ext cx="274637"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3" name="Straight Connector 942"/>
          <p:cNvCxnSpPr/>
          <p:nvPr/>
        </p:nvCxnSpPr>
        <p:spPr bwMode="auto">
          <a:xfrm>
            <a:off x="7037388" y="3421063"/>
            <a:ext cx="0" cy="20002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3" name="Straight Connector 922"/>
          <p:cNvCxnSpPr/>
          <p:nvPr/>
        </p:nvCxnSpPr>
        <p:spPr bwMode="auto">
          <a:xfrm>
            <a:off x="7312025" y="2436813"/>
            <a:ext cx="0" cy="118427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1" name="Straight Connector 920"/>
          <p:cNvCxnSpPr/>
          <p:nvPr/>
        </p:nvCxnSpPr>
        <p:spPr bwMode="auto">
          <a:xfrm>
            <a:off x="7037388" y="2436813"/>
            <a:ext cx="274637"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2" name="Straight Connector 1051"/>
          <p:cNvCxnSpPr/>
          <p:nvPr/>
        </p:nvCxnSpPr>
        <p:spPr bwMode="auto">
          <a:xfrm>
            <a:off x="7037388" y="2311400"/>
            <a:ext cx="0" cy="110966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1" name="Straight Connector 1050"/>
          <p:cNvCxnSpPr/>
          <p:nvPr/>
        </p:nvCxnSpPr>
        <p:spPr bwMode="auto">
          <a:xfrm>
            <a:off x="6764338" y="2311400"/>
            <a:ext cx="0" cy="94615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0" name="Straight Connector 1049"/>
          <p:cNvCxnSpPr/>
          <p:nvPr/>
        </p:nvCxnSpPr>
        <p:spPr bwMode="auto">
          <a:xfrm>
            <a:off x="6764338" y="3421063"/>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49" name="Straight Connector 1048"/>
          <p:cNvCxnSpPr/>
          <p:nvPr/>
        </p:nvCxnSpPr>
        <p:spPr bwMode="auto">
          <a:xfrm>
            <a:off x="6764338" y="2311400"/>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48" name="Rectangle 1047"/>
          <p:cNvSpPr/>
          <p:nvPr/>
        </p:nvSpPr>
        <p:spPr bwMode="auto">
          <a:xfrm>
            <a:off x="6491288" y="3257550"/>
            <a:ext cx="273050" cy="471488"/>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0" name="Straight Connector 919"/>
          <p:cNvCxnSpPr/>
          <p:nvPr/>
        </p:nvCxnSpPr>
        <p:spPr bwMode="auto">
          <a:xfrm>
            <a:off x="6216650" y="2373313"/>
            <a:ext cx="0" cy="123348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2" name="Straight Connector 941"/>
          <p:cNvCxnSpPr/>
          <p:nvPr/>
        </p:nvCxnSpPr>
        <p:spPr bwMode="auto">
          <a:xfrm>
            <a:off x="5943600" y="3552825"/>
            <a:ext cx="0" cy="5397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19" name="Straight Connector 918"/>
          <p:cNvCxnSpPr/>
          <p:nvPr/>
        </p:nvCxnSpPr>
        <p:spPr bwMode="auto">
          <a:xfrm>
            <a:off x="5943600" y="2373313"/>
            <a:ext cx="0" cy="1016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18" name="Straight Connector 917"/>
          <p:cNvCxnSpPr/>
          <p:nvPr/>
        </p:nvCxnSpPr>
        <p:spPr bwMode="auto">
          <a:xfrm>
            <a:off x="5943600" y="3606800"/>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17" name="Straight Connector 916"/>
          <p:cNvCxnSpPr/>
          <p:nvPr/>
        </p:nvCxnSpPr>
        <p:spPr bwMode="auto">
          <a:xfrm>
            <a:off x="5943600" y="2373313"/>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44" name="Straight Connector 1043"/>
          <p:cNvCxnSpPr/>
          <p:nvPr/>
        </p:nvCxnSpPr>
        <p:spPr bwMode="auto">
          <a:xfrm>
            <a:off x="5670550" y="2474913"/>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45" name="Straight Connector 1044"/>
          <p:cNvCxnSpPr/>
          <p:nvPr/>
        </p:nvCxnSpPr>
        <p:spPr bwMode="auto">
          <a:xfrm>
            <a:off x="5670550" y="3552825"/>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47" name="Straight Connector 1046"/>
          <p:cNvCxnSpPr/>
          <p:nvPr/>
        </p:nvCxnSpPr>
        <p:spPr bwMode="auto">
          <a:xfrm>
            <a:off x="5943600" y="2474913"/>
            <a:ext cx="0" cy="107791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46" name="Straight Connector 1045"/>
          <p:cNvCxnSpPr/>
          <p:nvPr/>
        </p:nvCxnSpPr>
        <p:spPr bwMode="auto">
          <a:xfrm>
            <a:off x="5670550" y="2474913"/>
            <a:ext cx="0" cy="57626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14" name="Rectangle 1013"/>
          <p:cNvSpPr/>
          <p:nvPr/>
        </p:nvSpPr>
        <p:spPr bwMode="auto">
          <a:xfrm>
            <a:off x="5395913" y="3051175"/>
            <a:ext cx="274637" cy="508000"/>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11" name="Straight Connector 1010"/>
          <p:cNvCxnSpPr/>
          <p:nvPr/>
        </p:nvCxnSpPr>
        <p:spPr bwMode="auto">
          <a:xfrm>
            <a:off x="4575175" y="3570288"/>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12" name="Straight Connector 1011"/>
          <p:cNvCxnSpPr/>
          <p:nvPr/>
        </p:nvCxnSpPr>
        <p:spPr bwMode="auto">
          <a:xfrm>
            <a:off x="4575175" y="2514600"/>
            <a:ext cx="0" cy="225425"/>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13" name="Straight Connector 1012"/>
          <p:cNvCxnSpPr/>
          <p:nvPr/>
        </p:nvCxnSpPr>
        <p:spPr bwMode="auto">
          <a:xfrm>
            <a:off x="4848225" y="2514600"/>
            <a:ext cx="0" cy="1055688"/>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10" name="Straight Connector 1009"/>
          <p:cNvCxnSpPr/>
          <p:nvPr/>
        </p:nvCxnSpPr>
        <p:spPr bwMode="auto">
          <a:xfrm>
            <a:off x="4575175" y="2514600"/>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09" name="Rectangle 1008"/>
          <p:cNvSpPr/>
          <p:nvPr/>
        </p:nvSpPr>
        <p:spPr bwMode="auto">
          <a:xfrm>
            <a:off x="4302125" y="2740025"/>
            <a:ext cx="273050" cy="912813"/>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14" name="Straight Connector 913"/>
          <p:cNvCxnSpPr/>
          <p:nvPr/>
        </p:nvCxnSpPr>
        <p:spPr bwMode="auto">
          <a:xfrm>
            <a:off x="3754438" y="2322513"/>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15" name="Straight Connector 914"/>
          <p:cNvCxnSpPr/>
          <p:nvPr/>
        </p:nvCxnSpPr>
        <p:spPr bwMode="auto">
          <a:xfrm>
            <a:off x="3754438" y="3624263"/>
            <a:ext cx="27305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1" name="Straight Connector 940"/>
          <p:cNvCxnSpPr/>
          <p:nvPr/>
        </p:nvCxnSpPr>
        <p:spPr bwMode="auto">
          <a:xfrm>
            <a:off x="3754438" y="3387725"/>
            <a:ext cx="0" cy="236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16" name="Straight Connector 915"/>
          <p:cNvCxnSpPr/>
          <p:nvPr/>
        </p:nvCxnSpPr>
        <p:spPr bwMode="auto">
          <a:xfrm>
            <a:off x="4027488" y="2322513"/>
            <a:ext cx="0" cy="130175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95" name="Straight Connector 994"/>
          <p:cNvCxnSpPr/>
          <p:nvPr/>
        </p:nvCxnSpPr>
        <p:spPr bwMode="auto">
          <a:xfrm>
            <a:off x="3479800" y="2227263"/>
            <a:ext cx="274638"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00" name="Straight Connector 999"/>
          <p:cNvCxnSpPr/>
          <p:nvPr/>
        </p:nvCxnSpPr>
        <p:spPr bwMode="auto">
          <a:xfrm>
            <a:off x="3479800" y="2227263"/>
            <a:ext cx="0" cy="82391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04" name="Straight Connector 1003"/>
          <p:cNvCxnSpPr/>
          <p:nvPr/>
        </p:nvCxnSpPr>
        <p:spPr bwMode="auto">
          <a:xfrm>
            <a:off x="3754438" y="2227263"/>
            <a:ext cx="0" cy="1160463"/>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99" name="Straight Connector 998"/>
          <p:cNvCxnSpPr/>
          <p:nvPr/>
        </p:nvCxnSpPr>
        <p:spPr bwMode="auto">
          <a:xfrm>
            <a:off x="3479800" y="3387725"/>
            <a:ext cx="274638"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94" name="Rectangle 993"/>
          <p:cNvSpPr/>
          <p:nvPr/>
        </p:nvSpPr>
        <p:spPr bwMode="auto">
          <a:xfrm>
            <a:off x="3206750" y="3051175"/>
            <a:ext cx="273050" cy="650875"/>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64" name="Straight Connector 963"/>
          <p:cNvCxnSpPr/>
          <p:nvPr/>
        </p:nvCxnSpPr>
        <p:spPr bwMode="auto">
          <a:xfrm>
            <a:off x="2659063" y="2774950"/>
            <a:ext cx="0" cy="795338"/>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63" name="Straight Connector 962"/>
          <p:cNvCxnSpPr/>
          <p:nvPr/>
        </p:nvCxnSpPr>
        <p:spPr bwMode="auto">
          <a:xfrm>
            <a:off x="2386013" y="3570288"/>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62" name="Straight Connector 961"/>
          <p:cNvCxnSpPr/>
          <p:nvPr/>
        </p:nvCxnSpPr>
        <p:spPr bwMode="auto">
          <a:xfrm>
            <a:off x="2386013" y="2774950"/>
            <a:ext cx="273050"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61" name="Rectangle 960"/>
          <p:cNvSpPr/>
          <p:nvPr/>
        </p:nvSpPr>
        <p:spPr bwMode="auto">
          <a:xfrm>
            <a:off x="2112963" y="2674938"/>
            <a:ext cx="273050" cy="977900"/>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54" name="Straight Connector 953"/>
          <p:cNvCxnSpPr/>
          <p:nvPr/>
        </p:nvCxnSpPr>
        <p:spPr bwMode="auto">
          <a:xfrm>
            <a:off x="1290638" y="2795588"/>
            <a:ext cx="274637"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55" name="Straight Connector 954"/>
          <p:cNvCxnSpPr/>
          <p:nvPr/>
        </p:nvCxnSpPr>
        <p:spPr bwMode="auto">
          <a:xfrm>
            <a:off x="1290638" y="3579813"/>
            <a:ext cx="274637" cy="0"/>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58" name="Straight Connector 957"/>
          <p:cNvCxnSpPr/>
          <p:nvPr/>
        </p:nvCxnSpPr>
        <p:spPr bwMode="auto">
          <a:xfrm>
            <a:off x="1290638" y="2795588"/>
            <a:ext cx="0" cy="420688"/>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60" name="Straight Connector 959"/>
          <p:cNvCxnSpPr/>
          <p:nvPr/>
        </p:nvCxnSpPr>
        <p:spPr bwMode="auto">
          <a:xfrm>
            <a:off x="1565275" y="2795588"/>
            <a:ext cx="0" cy="784225"/>
          </a:xfrm>
          <a:prstGeom prst="line">
            <a:avLst/>
          </a:prstGeom>
          <a:ln w="6350"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52" name="Rectangle 951"/>
          <p:cNvSpPr/>
          <p:nvPr/>
        </p:nvSpPr>
        <p:spPr bwMode="auto">
          <a:xfrm>
            <a:off x="1017588" y="3216275"/>
            <a:ext cx="273050" cy="539750"/>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Text Placeholder 25"/>
          <p:cNvSpPr>
            <a:spLocks/>
          </p:cNvSpPr>
          <p:nvPr/>
        </p:nvSpPr>
        <p:spPr bwMode="auto">
          <a:xfrm>
            <a:off x="1200150"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FY2022</a:t>
            </a:r>
            <a:endParaRPr lang="en-US" sz="1000">
              <a:solidFill>
                <a:srgbClr val="000000"/>
              </a:solidFill>
            </a:endParaRPr>
          </a:p>
        </p:txBody>
      </p:sp>
      <p:sp>
        <p:nvSpPr>
          <p:cNvPr id="1059" name="Text Placeholder 25"/>
          <p:cNvSpPr>
            <a:spLocks/>
          </p:cNvSpPr>
          <p:nvPr/>
        </p:nvSpPr>
        <p:spPr bwMode="auto">
          <a:xfrm>
            <a:off x="2295525"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FY2023</a:t>
            </a:r>
            <a:endParaRPr lang="en-US" sz="1000">
              <a:solidFill>
                <a:srgbClr val="000000"/>
              </a:solidFill>
            </a:endParaRPr>
          </a:p>
        </p:txBody>
      </p:sp>
      <p:sp>
        <p:nvSpPr>
          <p:cNvPr id="1107" name="Text Placeholder 25"/>
          <p:cNvSpPr>
            <a:spLocks/>
          </p:cNvSpPr>
          <p:nvPr/>
        </p:nvSpPr>
        <p:spPr bwMode="auto">
          <a:xfrm>
            <a:off x="5580063"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FY2026</a:t>
            </a:r>
            <a:endParaRPr lang="en-US" sz="1000">
              <a:solidFill>
                <a:srgbClr val="000000"/>
              </a:solidFill>
            </a:endParaRPr>
          </a:p>
        </p:txBody>
      </p:sp>
      <p:sp>
        <p:nvSpPr>
          <p:cNvPr id="1073" name="Text Placeholder 25"/>
          <p:cNvSpPr>
            <a:spLocks/>
          </p:cNvSpPr>
          <p:nvPr/>
        </p:nvSpPr>
        <p:spPr bwMode="auto">
          <a:xfrm>
            <a:off x="4484688"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FY2025</a:t>
            </a:r>
            <a:endParaRPr lang="en-US" sz="1000">
              <a:solidFill>
                <a:srgbClr val="000000"/>
              </a:solidFill>
            </a:endParaRPr>
          </a:p>
        </p:txBody>
      </p:sp>
      <p:sp>
        <p:nvSpPr>
          <p:cNvPr id="1111" name="Text Placeholder 25"/>
          <p:cNvSpPr>
            <a:spLocks/>
          </p:cNvSpPr>
          <p:nvPr/>
        </p:nvSpPr>
        <p:spPr bwMode="auto">
          <a:xfrm>
            <a:off x="9958388"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FY2030</a:t>
            </a:r>
            <a:endParaRPr lang="en-US" sz="1000">
              <a:solidFill>
                <a:srgbClr val="000000"/>
              </a:solidFill>
            </a:endParaRPr>
          </a:p>
        </p:txBody>
      </p:sp>
      <p:sp>
        <p:nvSpPr>
          <p:cNvPr id="1112" name="Text Placeholder 25"/>
          <p:cNvSpPr>
            <a:spLocks/>
          </p:cNvSpPr>
          <p:nvPr/>
        </p:nvSpPr>
        <p:spPr bwMode="auto">
          <a:xfrm>
            <a:off x="11052175"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FY2031</a:t>
            </a:r>
            <a:endParaRPr lang="en-US" sz="1000">
              <a:solidFill>
                <a:srgbClr val="000000"/>
              </a:solidFill>
            </a:endParaRPr>
          </a:p>
        </p:txBody>
      </p:sp>
      <p:sp>
        <p:nvSpPr>
          <p:cNvPr id="1110" name="Text Placeholder 25"/>
          <p:cNvSpPr>
            <a:spLocks/>
          </p:cNvSpPr>
          <p:nvPr/>
        </p:nvSpPr>
        <p:spPr bwMode="auto">
          <a:xfrm>
            <a:off x="8863013"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FY2029</a:t>
            </a:r>
            <a:endParaRPr lang="en-US" sz="1000">
              <a:solidFill>
                <a:srgbClr val="000000"/>
              </a:solidFill>
            </a:endParaRPr>
          </a:p>
        </p:txBody>
      </p:sp>
      <p:sp>
        <p:nvSpPr>
          <p:cNvPr id="1108" name="Text Placeholder 25"/>
          <p:cNvSpPr>
            <a:spLocks/>
          </p:cNvSpPr>
          <p:nvPr/>
        </p:nvSpPr>
        <p:spPr bwMode="auto">
          <a:xfrm>
            <a:off x="6673850"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FY2027</a:t>
            </a:r>
            <a:endParaRPr lang="en-US" sz="1000">
              <a:solidFill>
                <a:srgbClr val="000000"/>
              </a:solidFill>
            </a:endParaRPr>
          </a:p>
        </p:txBody>
      </p:sp>
      <p:sp>
        <p:nvSpPr>
          <p:cNvPr id="1109" name="Text Placeholder 25"/>
          <p:cNvSpPr>
            <a:spLocks/>
          </p:cNvSpPr>
          <p:nvPr/>
        </p:nvSpPr>
        <p:spPr bwMode="auto">
          <a:xfrm>
            <a:off x="7769225"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FY2028</a:t>
            </a:r>
            <a:endParaRPr lang="en-US" sz="1000">
              <a:solidFill>
                <a:srgbClr val="000000"/>
              </a:solidFill>
            </a:endParaRPr>
          </a:p>
        </p:txBody>
      </p:sp>
      <p:sp>
        <p:nvSpPr>
          <p:cNvPr id="1064" name="Text Placeholder 25"/>
          <p:cNvSpPr>
            <a:spLocks/>
          </p:cNvSpPr>
          <p:nvPr/>
        </p:nvSpPr>
        <p:spPr bwMode="auto">
          <a:xfrm>
            <a:off x="3389313" y="3906838"/>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solidFill>
                  <a:srgbClr val="000000"/>
                </a:solidFill>
              </a:rPr>
              <a:t>FY2024</a:t>
            </a:r>
            <a:endParaRPr lang="en-US" sz="1000">
              <a:solidFill>
                <a:srgbClr val="000000"/>
              </a:solidFill>
            </a:endParaRPr>
          </a:p>
        </p:txBody>
      </p:sp>
      <p:sp>
        <p:nvSpPr>
          <p:cNvPr id="310" name="Text Placeholder 25"/>
          <p:cNvSpPr>
            <a:spLocks/>
          </p:cNvSpPr>
          <p:nvPr/>
        </p:nvSpPr>
        <p:spPr bwMode="gray">
          <a:xfrm>
            <a:off x="1049338" y="3711575"/>
            <a:ext cx="209550" cy="152400"/>
          </a:xfrm>
          <a:prstGeom prst="rect">
            <a:avLst/>
          </a:prstGeom>
          <a:solidFill>
            <a:schemeClr val="accent4"/>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0.5</a:t>
            </a:r>
            <a:endParaRPr lang="en-US" sz="1000">
              <a:solidFill>
                <a:schemeClr val="bg1"/>
              </a:solidFill>
            </a:endParaRPr>
          </a:p>
        </p:txBody>
      </p:sp>
      <p:sp>
        <p:nvSpPr>
          <p:cNvPr id="315" name="Text Placeholder 25"/>
          <p:cNvSpPr>
            <a:spLocks/>
          </p:cNvSpPr>
          <p:nvPr/>
        </p:nvSpPr>
        <p:spPr bwMode="gray">
          <a:xfrm>
            <a:off x="8712200" y="3698875"/>
            <a:ext cx="209550" cy="152400"/>
          </a:xfrm>
          <a:prstGeom prst="rect">
            <a:avLst/>
          </a:prstGeom>
          <a:solidFill>
            <a:srgbClr val="BEBEBE"/>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0.6</a:t>
            </a:r>
            <a:endParaRPr lang="en-US" sz="1000"/>
          </a:p>
        </p:txBody>
      </p:sp>
      <p:sp>
        <p:nvSpPr>
          <p:cNvPr id="313" name="Text Placeholder 25"/>
          <p:cNvSpPr>
            <a:spLocks/>
          </p:cNvSpPr>
          <p:nvPr/>
        </p:nvSpPr>
        <p:spPr bwMode="gray">
          <a:xfrm>
            <a:off x="6523038" y="3697288"/>
            <a:ext cx="209550" cy="152400"/>
          </a:xfrm>
          <a:prstGeom prst="rect">
            <a:avLst/>
          </a:prstGeom>
          <a:solidFill>
            <a:schemeClr val="accent4"/>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0.7</a:t>
            </a:r>
            <a:endParaRPr lang="en-US" sz="1000">
              <a:solidFill>
                <a:schemeClr val="bg1"/>
              </a:solidFill>
            </a:endParaRPr>
          </a:p>
        </p:txBody>
      </p:sp>
      <p:sp>
        <p:nvSpPr>
          <p:cNvPr id="314" name="Text Placeholder 25"/>
          <p:cNvSpPr>
            <a:spLocks/>
          </p:cNvSpPr>
          <p:nvPr/>
        </p:nvSpPr>
        <p:spPr bwMode="gray">
          <a:xfrm>
            <a:off x="7616825" y="3703638"/>
            <a:ext cx="209550" cy="152400"/>
          </a:xfrm>
          <a:prstGeom prst="rect">
            <a:avLst/>
          </a:prstGeom>
          <a:solidFill>
            <a:srgbClr val="BEBEBE"/>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0.6</a:t>
            </a:r>
            <a:endParaRPr lang="en-US" sz="1000"/>
          </a:p>
        </p:txBody>
      </p:sp>
      <p:sp>
        <p:nvSpPr>
          <p:cNvPr id="1077" name="Text Placeholder 25"/>
          <p:cNvSpPr>
            <a:spLocks/>
          </p:cNvSpPr>
          <p:nvPr/>
        </p:nvSpPr>
        <p:spPr bwMode="gray">
          <a:xfrm>
            <a:off x="1049338" y="30384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4.5</a:t>
            </a:r>
            <a:endParaRPr lang="en-US" sz="1000">
              <a:solidFill>
                <a:srgbClr val="000000"/>
              </a:solidFill>
            </a:endParaRPr>
          </a:p>
        </p:txBody>
      </p:sp>
      <p:sp>
        <p:nvSpPr>
          <p:cNvPr id="1078" name="Text Placeholder 25"/>
          <p:cNvSpPr>
            <a:spLocks/>
          </p:cNvSpPr>
          <p:nvPr/>
        </p:nvSpPr>
        <p:spPr bwMode="gray">
          <a:xfrm>
            <a:off x="1322388" y="2617788"/>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7.6</a:t>
            </a:r>
            <a:endParaRPr lang="en-US" sz="1000">
              <a:solidFill>
                <a:srgbClr val="000000"/>
              </a:solidFill>
            </a:endParaRPr>
          </a:p>
        </p:txBody>
      </p:sp>
      <p:sp>
        <p:nvSpPr>
          <p:cNvPr id="1080" name="Text Placeholder 25"/>
          <p:cNvSpPr>
            <a:spLocks/>
          </p:cNvSpPr>
          <p:nvPr/>
        </p:nvSpPr>
        <p:spPr bwMode="gray">
          <a:xfrm>
            <a:off x="2144713" y="2497138"/>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8.5</a:t>
            </a:r>
            <a:endParaRPr lang="en-US" sz="1000">
              <a:solidFill>
                <a:srgbClr val="000000"/>
              </a:solidFill>
            </a:endParaRPr>
          </a:p>
        </p:txBody>
      </p:sp>
      <p:sp>
        <p:nvSpPr>
          <p:cNvPr id="1081" name="Text Placeholder 25"/>
          <p:cNvSpPr>
            <a:spLocks/>
          </p:cNvSpPr>
          <p:nvPr/>
        </p:nvSpPr>
        <p:spPr bwMode="gray">
          <a:xfrm>
            <a:off x="2417763" y="2597150"/>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7.8</a:t>
            </a:r>
            <a:endParaRPr lang="en-US" sz="1000">
              <a:solidFill>
                <a:srgbClr val="000000"/>
              </a:solidFill>
            </a:endParaRPr>
          </a:p>
        </p:txBody>
      </p:sp>
      <p:sp>
        <p:nvSpPr>
          <p:cNvPr id="1083" name="Text Placeholder 25"/>
          <p:cNvSpPr>
            <a:spLocks/>
          </p:cNvSpPr>
          <p:nvPr/>
        </p:nvSpPr>
        <p:spPr bwMode="gray">
          <a:xfrm>
            <a:off x="3238500" y="28733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5.7</a:t>
            </a:r>
            <a:endParaRPr lang="en-US" sz="1000">
              <a:solidFill>
                <a:srgbClr val="000000"/>
              </a:solidFill>
            </a:endParaRPr>
          </a:p>
        </p:txBody>
      </p:sp>
      <p:sp>
        <p:nvSpPr>
          <p:cNvPr id="1089" name="Text Placeholder 25"/>
          <p:cNvSpPr>
            <a:spLocks/>
          </p:cNvSpPr>
          <p:nvPr/>
        </p:nvSpPr>
        <p:spPr bwMode="gray">
          <a:xfrm>
            <a:off x="3476625" y="2049463"/>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11.8</a:t>
            </a:r>
            <a:endParaRPr lang="en-US" sz="1000">
              <a:solidFill>
                <a:srgbClr val="000000"/>
              </a:solidFill>
            </a:endParaRPr>
          </a:p>
        </p:txBody>
      </p:sp>
      <p:sp>
        <p:nvSpPr>
          <p:cNvPr id="1085" name="Text Placeholder 25"/>
          <p:cNvSpPr>
            <a:spLocks/>
          </p:cNvSpPr>
          <p:nvPr/>
        </p:nvSpPr>
        <p:spPr bwMode="gray">
          <a:xfrm>
            <a:off x="3751263" y="2144713"/>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11.1</a:t>
            </a:r>
            <a:endParaRPr lang="en-US" sz="1000">
              <a:solidFill>
                <a:srgbClr val="000000"/>
              </a:solidFill>
            </a:endParaRPr>
          </a:p>
        </p:txBody>
      </p:sp>
      <p:sp>
        <p:nvSpPr>
          <p:cNvPr id="1086" name="Text Placeholder 25"/>
          <p:cNvSpPr>
            <a:spLocks/>
          </p:cNvSpPr>
          <p:nvPr/>
        </p:nvSpPr>
        <p:spPr bwMode="gray">
          <a:xfrm>
            <a:off x="4333875" y="256222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8.0</a:t>
            </a:r>
            <a:endParaRPr lang="en-US" sz="1000">
              <a:solidFill>
                <a:srgbClr val="000000"/>
              </a:solidFill>
            </a:endParaRPr>
          </a:p>
        </p:txBody>
      </p:sp>
      <p:sp>
        <p:nvSpPr>
          <p:cNvPr id="1087" name="Text Placeholder 25"/>
          <p:cNvSpPr>
            <a:spLocks/>
          </p:cNvSpPr>
          <p:nvPr/>
        </p:nvSpPr>
        <p:spPr bwMode="gray">
          <a:xfrm>
            <a:off x="4606925" y="2336800"/>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9.7</a:t>
            </a:r>
            <a:endParaRPr lang="en-US" sz="1000">
              <a:solidFill>
                <a:srgbClr val="000000"/>
              </a:solidFill>
            </a:endParaRPr>
          </a:p>
        </p:txBody>
      </p:sp>
      <p:sp>
        <p:nvSpPr>
          <p:cNvPr id="1121" name="Text Placeholder 25"/>
          <p:cNvSpPr>
            <a:spLocks/>
          </p:cNvSpPr>
          <p:nvPr/>
        </p:nvSpPr>
        <p:spPr bwMode="gray">
          <a:xfrm>
            <a:off x="5427663" y="28733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5.7</a:t>
            </a:r>
            <a:endParaRPr lang="en-US" sz="1000">
              <a:solidFill>
                <a:srgbClr val="000000"/>
              </a:solidFill>
            </a:endParaRPr>
          </a:p>
        </p:txBody>
      </p:sp>
      <p:sp>
        <p:nvSpPr>
          <p:cNvPr id="1123" name="Text Placeholder 25"/>
          <p:cNvSpPr>
            <a:spLocks/>
          </p:cNvSpPr>
          <p:nvPr/>
        </p:nvSpPr>
        <p:spPr bwMode="gray">
          <a:xfrm>
            <a:off x="5667375" y="2297113"/>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10.0</a:t>
            </a:r>
            <a:endParaRPr lang="en-US" sz="1000">
              <a:solidFill>
                <a:srgbClr val="000000"/>
              </a:solidFill>
            </a:endParaRPr>
          </a:p>
        </p:txBody>
      </p:sp>
      <p:sp>
        <p:nvSpPr>
          <p:cNvPr id="1125" name="Text Placeholder 25"/>
          <p:cNvSpPr>
            <a:spLocks/>
          </p:cNvSpPr>
          <p:nvPr/>
        </p:nvSpPr>
        <p:spPr bwMode="gray">
          <a:xfrm>
            <a:off x="5940425" y="2195513"/>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10.7</a:t>
            </a:r>
            <a:endParaRPr lang="en-US" sz="1000">
              <a:solidFill>
                <a:srgbClr val="000000"/>
              </a:solidFill>
            </a:endParaRPr>
          </a:p>
        </p:txBody>
      </p:sp>
      <p:sp>
        <p:nvSpPr>
          <p:cNvPr id="1128" name="Text Placeholder 25"/>
          <p:cNvSpPr>
            <a:spLocks/>
          </p:cNvSpPr>
          <p:nvPr/>
        </p:nvSpPr>
        <p:spPr bwMode="gray">
          <a:xfrm>
            <a:off x="6523038" y="3079750"/>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4.2</a:t>
            </a:r>
            <a:endParaRPr lang="en-US" sz="1000">
              <a:solidFill>
                <a:srgbClr val="000000"/>
              </a:solidFill>
            </a:endParaRPr>
          </a:p>
        </p:txBody>
      </p:sp>
      <p:sp>
        <p:nvSpPr>
          <p:cNvPr id="1132" name="Text Placeholder 25"/>
          <p:cNvSpPr>
            <a:spLocks/>
          </p:cNvSpPr>
          <p:nvPr/>
        </p:nvSpPr>
        <p:spPr bwMode="gray">
          <a:xfrm>
            <a:off x="7034213" y="2259013"/>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10.3</a:t>
            </a:r>
            <a:endParaRPr lang="en-US" sz="1000">
              <a:solidFill>
                <a:srgbClr val="000000"/>
              </a:solidFill>
            </a:endParaRPr>
          </a:p>
        </p:txBody>
      </p:sp>
      <p:sp>
        <p:nvSpPr>
          <p:cNvPr id="1135" name="Text Placeholder 25"/>
          <p:cNvSpPr>
            <a:spLocks/>
          </p:cNvSpPr>
          <p:nvPr/>
        </p:nvSpPr>
        <p:spPr bwMode="gray">
          <a:xfrm>
            <a:off x="7616825" y="312102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3.9</a:t>
            </a:r>
            <a:endParaRPr lang="en-US" sz="1000">
              <a:solidFill>
                <a:srgbClr val="000000"/>
              </a:solidFill>
            </a:endParaRPr>
          </a:p>
        </p:txBody>
      </p:sp>
      <p:sp>
        <p:nvSpPr>
          <p:cNvPr id="1137" name="Text Placeholder 25"/>
          <p:cNvSpPr>
            <a:spLocks/>
          </p:cNvSpPr>
          <p:nvPr/>
        </p:nvSpPr>
        <p:spPr bwMode="gray">
          <a:xfrm>
            <a:off x="7856538" y="2182813"/>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10.8</a:t>
            </a:r>
            <a:endParaRPr lang="en-US" sz="1000">
              <a:solidFill>
                <a:srgbClr val="000000"/>
              </a:solidFill>
            </a:endParaRPr>
          </a:p>
        </p:txBody>
      </p:sp>
      <p:sp>
        <p:nvSpPr>
          <p:cNvPr id="1140" name="Text Placeholder 25"/>
          <p:cNvSpPr>
            <a:spLocks/>
          </p:cNvSpPr>
          <p:nvPr/>
        </p:nvSpPr>
        <p:spPr bwMode="gray">
          <a:xfrm>
            <a:off x="8164513" y="2332038"/>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9.7</a:t>
            </a:r>
            <a:endParaRPr lang="en-US" sz="1000">
              <a:solidFill>
                <a:srgbClr val="000000"/>
              </a:solidFill>
            </a:endParaRPr>
          </a:p>
        </p:txBody>
      </p:sp>
      <p:sp>
        <p:nvSpPr>
          <p:cNvPr id="1143" name="Text Placeholder 25"/>
          <p:cNvSpPr>
            <a:spLocks/>
          </p:cNvSpPr>
          <p:nvPr/>
        </p:nvSpPr>
        <p:spPr bwMode="gray">
          <a:xfrm>
            <a:off x="8712200" y="310832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4.0</a:t>
            </a:r>
            <a:endParaRPr lang="en-US" sz="1000">
              <a:solidFill>
                <a:srgbClr val="000000"/>
              </a:solidFill>
            </a:endParaRPr>
          </a:p>
        </p:txBody>
      </p:sp>
      <p:sp>
        <p:nvSpPr>
          <p:cNvPr id="1145" name="Text Placeholder 25"/>
          <p:cNvSpPr>
            <a:spLocks/>
          </p:cNvSpPr>
          <p:nvPr/>
        </p:nvSpPr>
        <p:spPr bwMode="gray">
          <a:xfrm>
            <a:off x="8950325" y="2236788"/>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10.4</a:t>
            </a:r>
            <a:endParaRPr lang="en-US" sz="1000">
              <a:solidFill>
                <a:srgbClr val="000000"/>
              </a:solidFill>
            </a:endParaRPr>
          </a:p>
        </p:txBody>
      </p:sp>
      <p:sp>
        <p:nvSpPr>
          <p:cNvPr id="1148" name="Text Placeholder 25"/>
          <p:cNvSpPr>
            <a:spLocks/>
          </p:cNvSpPr>
          <p:nvPr/>
        </p:nvSpPr>
        <p:spPr bwMode="gray">
          <a:xfrm>
            <a:off x="9259888" y="2330450"/>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9.7</a:t>
            </a:r>
            <a:endParaRPr lang="en-US" sz="1000">
              <a:solidFill>
                <a:srgbClr val="000000"/>
              </a:solidFill>
            </a:endParaRPr>
          </a:p>
        </p:txBody>
      </p:sp>
      <p:sp>
        <p:nvSpPr>
          <p:cNvPr id="1151" name="Text Placeholder 25"/>
          <p:cNvSpPr>
            <a:spLocks/>
          </p:cNvSpPr>
          <p:nvPr/>
        </p:nvSpPr>
        <p:spPr bwMode="gray">
          <a:xfrm>
            <a:off x="9805988" y="28225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6.1</a:t>
            </a:r>
            <a:endParaRPr lang="en-US" sz="1000">
              <a:solidFill>
                <a:srgbClr val="000000"/>
              </a:solidFill>
            </a:endParaRPr>
          </a:p>
        </p:txBody>
      </p:sp>
      <p:sp>
        <p:nvSpPr>
          <p:cNvPr id="1153" name="Text Placeholder 25"/>
          <p:cNvSpPr>
            <a:spLocks/>
          </p:cNvSpPr>
          <p:nvPr/>
        </p:nvSpPr>
        <p:spPr bwMode="gray">
          <a:xfrm>
            <a:off x="10080625" y="2379663"/>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9.4</a:t>
            </a:r>
            <a:endParaRPr lang="en-US" sz="1000">
              <a:solidFill>
                <a:srgbClr val="000000"/>
              </a:solidFill>
            </a:endParaRPr>
          </a:p>
        </p:txBody>
      </p:sp>
      <p:sp>
        <p:nvSpPr>
          <p:cNvPr id="1156" name="Text Placeholder 25"/>
          <p:cNvSpPr>
            <a:spLocks/>
          </p:cNvSpPr>
          <p:nvPr/>
        </p:nvSpPr>
        <p:spPr bwMode="gray">
          <a:xfrm>
            <a:off x="10353675" y="2347913"/>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9.6</a:t>
            </a:r>
            <a:endParaRPr lang="en-US" sz="1000">
              <a:solidFill>
                <a:srgbClr val="000000"/>
              </a:solidFill>
            </a:endParaRPr>
          </a:p>
        </p:txBody>
      </p:sp>
      <p:sp>
        <p:nvSpPr>
          <p:cNvPr id="1159" name="Text Placeholder 25"/>
          <p:cNvSpPr>
            <a:spLocks/>
          </p:cNvSpPr>
          <p:nvPr/>
        </p:nvSpPr>
        <p:spPr bwMode="gray">
          <a:xfrm>
            <a:off x="10901363" y="27971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6.3</a:t>
            </a:r>
            <a:endParaRPr lang="en-US" sz="1000">
              <a:solidFill>
                <a:srgbClr val="000000"/>
              </a:solidFill>
            </a:endParaRPr>
          </a:p>
        </p:txBody>
      </p:sp>
      <p:sp>
        <p:nvSpPr>
          <p:cNvPr id="1161" name="Text Placeholder 25"/>
          <p:cNvSpPr>
            <a:spLocks/>
          </p:cNvSpPr>
          <p:nvPr/>
        </p:nvSpPr>
        <p:spPr bwMode="gray">
          <a:xfrm>
            <a:off x="11174413" y="2357438"/>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9.5</a:t>
            </a:r>
            <a:endParaRPr lang="en-US" sz="1000">
              <a:solidFill>
                <a:srgbClr val="000000"/>
              </a:solidFill>
            </a:endParaRPr>
          </a:p>
        </p:txBody>
      </p:sp>
      <p:sp>
        <p:nvSpPr>
          <p:cNvPr id="1525" name="Text Placeholder 25"/>
          <p:cNvSpPr>
            <a:spLocks/>
          </p:cNvSpPr>
          <p:nvPr/>
        </p:nvSpPr>
        <p:spPr bwMode="gray">
          <a:xfrm>
            <a:off x="11449050" y="234632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9.6</a:t>
            </a:r>
            <a:endParaRPr lang="en-US" sz="1000">
              <a:solidFill>
                <a:srgbClr val="000000"/>
              </a:solidFill>
            </a:endParaRPr>
          </a:p>
        </p:txBody>
      </p:sp>
      <p:sp>
        <p:nvSpPr>
          <p:cNvPr id="335" name="Text Placeholder 25"/>
          <p:cNvSpPr>
            <a:spLocks/>
          </p:cNvSpPr>
          <p:nvPr/>
        </p:nvSpPr>
        <p:spPr bwMode="gray">
          <a:xfrm>
            <a:off x="3238500" y="3684588"/>
            <a:ext cx="209550" cy="152400"/>
          </a:xfrm>
          <a:prstGeom prst="rect">
            <a:avLst/>
          </a:prstGeom>
          <a:solidFill>
            <a:schemeClr val="accent4"/>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0.9</a:t>
            </a:r>
            <a:endParaRPr lang="en-US" sz="1000">
              <a:solidFill>
                <a:schemeClr val="bg1"/>
              </a:solidFill>
            </a:endParaRPr>
          </a:p>
        </p:txBody>
      </p:sp>
      <p:sp>
        <p:nvSpPr>
          <p:cNvPr id="1130" name="Text Placeholder 25"/>
          <p:cNvSpPr>
            <a:spLocks/>
          </p:cNvSpPr>
          <p:nvPr/>
        </p:nvSpPr>
        <p:spPr bwMode="gray">
          <a:xfrm>
            <a:off x="6761163" y="2133600"/>
            <a:ext cx="27940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solidFill>
                  <a:srgbClr val="000000"/>
                </a:solidFill>
              </a:rPr>
              <a:t>11.2</a:t>
            </a:r>
            <a:endParaRPr lang="en-US" sz="1000">
              <a:solidFill>
                <a:srgbClr val="000000"/>
              </a:solidFill>
            </a:endParaRPr>
          </a:p>
        </p:txBody>
      </p:sp>
      <p:sp>
        <p:nvSpPr>
          <p:cNvPr id="339" name="PenOval"/>
          <p:cNvSpPr txBox="1"/>
          <p:nvPr/>
        </p:nvSpPr>
        <p:spPr>
          <a:xfrm>
            <a:off x="1165285" y="1796488"/>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$2.3B</a:t>
            </a:r>
          </a:p>
        </p:txBody>
      </p:sp>
      <p:sp>
        <p:nvSpPr>
          <p:cNvPr id="340" name="PenOval"/>
          <p:cNvSpPr txBox="1"/>
          <p:nvPr/>
        </p:nvSpPr>
        <p:spPr>
          <a:xfrm>
            <a:off x="2258806" y="1806320"/>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$3.1B</a:t>
            </a:r>
          </a:p>
        </p:txBody>
      </p:sp>
      <p:sp>
        <p:nvSpPr>
          <p:cNvPr id="341" name="PenOval"/>
          <p:cNvSpPr txBox="1"/>
          <p:nvPr/>
        </p:nvSpPr>
        <p:spPr>
          <a:xfrm>
            <a:off x="3352327" y="1796488"/>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$5.5B</a:t>
            </a:r>
          </a:p>
        </p:txBody>
      </p:sp>
      <p:sp>
        <p:nvSpPr>
          <p:cNvPr id="342" name="PenOval"/>
          <p:cNvSpPr txBox="1"/>
          <p:nvPr/>
        </p:nvSpPr>
        <p:spPr>
          <a:xfrm>
            <a:off x="4434912" y="1782200"/>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$3.1B</a:t>
            </a:r>
          </a:p>
        </p:txBody>
      </p:sp>
      <p:sp>
        <p:nvSpPr>
          <p:cNvPr id="1090" name="Rectangle 789"/>
          <p:cNvSpPr/>
          <p:nvPr/>
        </p:nvSpPr>
        <p:spPr bwMode="auto">
          <a:xfrm>
            <a:off x="7127875" y="1184275"/>
            <a:ext cx="142875" cy="106363"/>
          </a:xfrm>
          <a:prstGeom prst="rect">
            <a:avLst/>
          </a:prstGeom>
          <a:solidFill>
            <a:schemeClr val="accent2"/>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Rectangle 790"/>
          <p:cNvSpPr/>
          <p:nvPr/>
        </p:nvSpPr>
        <p:spPr bwMode="auto">
          <a:xfrm>
            <a:off x="7127875" y="1357313"/>
            <a:ext cx="142875" cy="106363"/>
          </a:xfrm>
          <a:prstGeom prst="rect">
            <a:avLst/>
          </a:prstGeom>
          <a:solidFill>
            <a:srgbClr val="000000"/>
          </a:solidFill>
          <a:ln w="6350" cap="flat" cmpd="sng" algn="ctr">
            <a:noFill/>
            <a:prstDash val="lgDash"/>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Rectangle 791"/>
          <p:cNvSpPr/>
          <p:nvPr/>
        </p:nvSpPr>
        <p:spPr bwMode="auto">
          <a:xfrm>
            <a:off x="7127875" y="1530350"/>
            <a:ext cx="142875" cy="106363"/>
          </a:xfrm>
          <a:prstGeom prst="rect">
            <a:avLst/>
          </a:prstGeom>
          <a:noFill/>
          <a:ln w="3175" cap="flat" cmpd="sng" algn="ctr">
            <a:solidFill>
              <a:schemeClr val="tx1"/>
            </a:solidFill>
            <a:prstDash val="lgDash"/>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Rectangle 792"/>
          <p:cNvSpPr/>
          <p:nvPr/>
        </p:nvSpPr>
        <p:spPr bwMode="auto">
          <a:xfrm>
            <a:off x="8648700" y="1184275"/>
            <a:ext cx="142875" cy="106363"/>
          </a:xfrm>
          <a:prstGeom prst="rect">
            <a:avLst/>
          </a:prstGeom>
          <a:solidFill>
            <a:schemeClr val="accent3"/>
          </a:solidFill>
          <a:ln w="6350" cap="flat" cmpd="sng" algn="ctr">
            <a:no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Rectangle 793"/>
          <p:cNvSpPr/>
          <p:nvPr/>
        </p:nvSpPr>
        <p:spPr bwMode="auto">
          <a:xfrm>
            <a:off x="8648700" y="1357313"/>
            <a:ext cx="142875" cy="106363"/>
          </a:xfrm>
          <a:prstGeom prst="rect">
            <a:avLst/>
          </a:prstGeom>
          <a:solidFill>
            <a:srgbClr val="A1A1A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Rectangle 794"/>
          <p:cNvSpPr/>
          <p:nvPr/>
        </p:nvSpPr>
        <p:spPr bwMode="auto">
          <a:xfrm>
            <a:off x="8648700" y="1530350"/>
            <a:ext cx="142875" cy="106363"/>
          </a:xfrm>
          <a:prstGeom prst="rect">
            <a:avLst/>
          </a:prstGeom>
          <a:noFill/>
          <a:ln w="6350" cap="flat" cmpd="sng" algn="ctr">
            <a:solidFill>
              <a:schemeClr val="tx1"/>
            </a:solidFill>
            <a:prstDash val="lgDash"/>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Rectangle 795"/>
          <p:cNvSpPr/>
          <p:nvPr/>
        </p:nvSpPr>
        <p:spPr bwMode="auto">
          <a:xfrm>
            <a:off x="10079038" y="1184275"/>
            <a:ext cx="142875" cy="106363"/>
          </a:xfrm>
          <a:prstGeom prst="rect">
            <a:avLst/>
          </a:prstGeom>
          <a:solidFill>
            <a:schemeClr val="accent4"/>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7" name="Rectangle 896"/>
          <p:cNvSpPr/>
          <p:nvPr/>
        </p:nvSpPr>
        <p:spPr bwMode="auto">
          <a:xfrm>
            <a:off x="10079038" y="1357313"/>
            <a:ext cx="142875" cy="106363"/>
          </a:xfrm>
          <a:prstGeom prst="rect">
            <a:avLst/>
          </a:prstGeom>
          <a:solidFill>
            <a:srgbClr val="BEBEBE"/>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8" name="Rectangle 897"/>
          <p:cNvSpPr/>
          <p:nvPr/>
        </p:nvSpPr>
        <p:spPr bwMode="auto">
          <a:xfrm>
            <a:off x="10079038" y="1530350"/>
            <a:ext cx="142875" cy="106363"/>
          </a:xfrm>
          <a:prstGeom prst="rect">
            <a:avLst/>
          </a:prstGeom>
          <a:noFill/>
          <a:ln w="12700" cap="flat" cmpd="sng" algn="ctr">
            <a:solidFill>
              <a:schemeClr val="tx1"/>
            </a:solidFill>
            <a:prstDash val="sysDot"/>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Text Placeholder 25"/>
          <p:cNvSpPr>
            <a:spLocks/>
          </p:cNvSpPr>
          <p:nvPr/>
        </p:nvSpPr>
        <p:spPr bwMode="auto">
          <a:xfrm>
            <a:off x="7321550" y="1179513"/>
            <a:ext cx="965200"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Columbia outsourced</a:t>
            </a:r>
            <a:endParaRPr lang="en-US" sz="800">
              <a:solidFill>
                <a:srgbClr val="000000"/>
              </a:solidFill>
            </a:endParaRPr>
          </a:p>
        </p:txBody>
      </p:sp>
      <p:sp>
        <p:nvSpPr>
          <p:cNvPr id="1098" name="Text Placeholder 25"/>
          <p:cNvSpPr>
            <a:spLocks/>
          </p:cNvSpPr>
          <p:nvPr/>
        </p:nvSpPr>
        <p:spPr bwMode="auto">
          <a:xfrm>
            <a:off x="7321550" y="1352550"/>
            <a:ext cx="1225550"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Columbia outsourced (est.)</a:t>
            </a:r>
            <a:endParaRPr lang="en-US" sz="800">
              <a:solidFill>
                <a:srgbClr val="000000"/>
              </a:solidFill>
            </a:endParaRPr>
          </a:p>
        </p:txBody>
      </p:sp>
      <p:sp>
        <p:nvSpPr>
          <p:cNvPr id="1099" name="Text Placeholder 25"/>
          <p:cNvSpPr>
            <a:spLocks/>
          </p:cNvSpPr>
          <p:nvPr/>
        </p:nvSpPr>
        <p:spPr bwMode="auto">
          <a:xfrm>
            <a:off x="7321550" y="1525588"/>
            <a:ext cx="1136650"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Columbia retained spend</a:t>
            </a:r>
            <a:endParaRPr lang="en-US" sz="800">
              <a:solidFill>
                <a:srgbClr val="000000"/>
              </a:solidFill>
            </a:endParaRPr>
          </a:p>
        </p:txBody>
      </p:sp>
      <p:sp>
        <p:nvSpPr>
          <p:cNvPr id="1100" name="Text Placeholder 25"/>
          <p:cNvSpPr>
            <a:spLocks/>
          </p:cNvSpPr>
          <p:nvPr/>
        </p:nvSpPr>
        <p:spPr bwMode="auto">
          <a:xfrm>
            <a:off x="8842375" y="1179513"/>
            <a:ext cx="874713"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Virginia outsourced</a:t>
            </a:r>
            <a:endParaRPr lang="en-US" sz="800">
              <a:solidFill>
                <a:srgbClr val="000000"/>
              </a:solidFill>
            </a:endParaRPr>
          </a:p>
        </p:txBody>
      </p:sp>
      <p:sp>
        <p:nvSpPr>
          <p:cNvPr id="1101" name="Text Placeholder 25"/>
          <p:cNvSpPr>
            <a:spLocks/>
          </p:cNvSpPr>
          <p:nvPr/>
        </p:nvSpPr>
        <p:spPr bwMode="auto">
          <a:xfrm>
            <a:off x="8842375" y="1352550"/>
            <a:ext cx="1135063"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Virginia outsourced (est.)</a:t>
            </a:r>
            <a:endParaRPr lang="en-US" sz="800">
              <a:solidFill>
                <a:srgbClr val="000000"/>
              </a:solidFill>
            </a:endParaRPr>
          </a:p>
        </p:txBody>
      </p:sp>
      <p:sp>
        <p:nvSpPr>
          <p:cNvPr id="1102" name="Text Placeholder 25"/>
          <p:cNvSpPr>
            <a:spLocks/>
          </p:cNvSpPr>
          <p:nvPr/>
        </p:nvSpPr>
        <p:spPr bwMode="auto">
          <a:xfrm>
            <a:off x="8842375" y="1525588"/>
            <a:ext cx="1046163"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Virginia retained spend</a:t>
            </a:r>
            <a:endParaRPr lang="en-US" sz="800">
              <a:solidFill>
                <a:srgbClr val="000000"/>
              </a:solidFill>
            </a:endParaRPr>
          </a:p>
        </p:txBody>
      </p:sp>
      <p:sp>
        <p:nvSpPr>
          <p:cNvPr id="1103" name="Text Placeholder 25"/>
          <p:cNvSpPr>
            <a:spLocks/>
          </p:cNvSpPr>
          <p:nvPr/>
        </p:nvSpPr>
        <p:spPr bwMode="auto">
          <a:xfrm>
            <a:off x="10272713" y="1179513"/>
            <a:ext cx="908050"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DDG-51 outsourced</a:t>
            </a:r>
            <a:endParaRPr lang="en-US" sz="800">
              <a:solidFill>
                <a:srgbClr val="000000"/>
              </a:solidFill>
            </a:endParaRPr>
          </a:p>
        </p:txBody>
      </p:sp>
      <p:sp>
        <p:nvSpPr>
          <p:cNvPr id="1113" name="Text Placeholder 25"/>
          <p:cNvSpPr>
            <a:spLocks/>
          </p:cNvSpPr>
          <p:nvPr/>
        </p:nvSpPr>
        <p:spPr bwMode="auto">
          <a:xfrm>
            <a:off x="10272713" y="1352550"/>
            <a:ext cx="1168400"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DDG-51 outsourced (est.)</a:t>
            </a:r>
            <a:endParaRPr lang="en-US" sz="800">
              <a:solidFill>
                <a:srgbClr val="000000"/>
              </a:solidFill>
            </a:endParaRPr>
          </a:p>
        </p:txBody>
      </p:sp>
      <p:sp>
        <p:nvSpPr>
          <p:cNvPr id="1114" name="Text Placeholder 25"/>
          <p:cNvSpPr>
            <a:spLocks/>
          </p:cNvSpPr>
          <p:nvPr/>
        </p:nvSpPr>
        <p:spPr bwMode="auto">
          <a:xfrm>
            <a:off x="10272713" y="1525588"/>
            <a:ext cx="1079500" cy="122238"/>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800" smtClean="0">
                <a:solidFill>
                  <a:srgbClr val="000000"/>
                </a:solidFill>
              </a:rPr>
              <a:t>DDG-51 retained spend</a:t>
            </a:r>
            <a:endParaRPr lang="en-US" sz="800">
              <a:solidFill>
                <a:srgbClr val="000000"/>
              </a:solidFill>
            </a:endParaRPr>
          </a:p>
        </p:txBody>
      </p:sp>
      <p:sp>
        <p:nvSpPr>
          <p:cNvPr id="9001" name="StripHeader"/>
          <p:cNvSpPr txBox="1"/>
          <p:nvPr/>
        </p:nvSpPr>
        <p:spPr>
          <a:xfrm>
            <a:off x="149796" y="3691687"/>
            <a:ext cx="251637" cy="1322801"/>
          </a:xfrm>
          <a:prstGeom prst="rect">
            <a:avLst/>
          </a:prstGeom>
          <a:noFill/>
          <a:ln>
            <a:noFill/>
          </a:ln>
        </p:spPr>
        <p:txBody>
          <a:bodyPr vert="vert270" wrap="square" lIns="0" tIns="0" rIns="0" bIns="0" anchor="t" anchorCtr="0"/>
          <a:lstStyle/>
          <a:p>
            <a:pPr algn="l">
              <a:lnSpc>
                <a:spcPct val="115000"/>
              </a:lnSpc>
              <a:buNone/>
            </a:pPr>
            <a:r>
              <a:rPr lang="en-US" sz="800" b="1" i="1">
                <a:solidFill>
                  <a:srgbClr val="000000"/>
                </a:solidFill>
                <a:latin typeface="Arial"/>
                <a:ea typeface="Arial"/>
                <a:cs typeface="Arial"/>
              </a:rPr>
              <a:t>Outsourced penetration %</a:t>
            </a:r>
          </a:p>
        </p:txBody>
      </p:sp>
      <p:sp>
        <p:nvSpPr>
          <p:cNvPr id="9002" name="StripLabel"/>
          <p:cNvSpPr txBox="1"/>
          <p:nvPr/>
        </p:nvSpPr>
        <p:spPr>
          <a:xfrm>
            <a:off x="9737" y="4095505"/>
            <a:ext cx="976921" cy="220000"/>
          </a:xfrm>
          <a:prstGeom prst="rect">
            <a:avLst/>
          </a:prstGeom>
          <a:noFill/>
          <a:ln>
            <a:noFill/>
          </a:ln>
        </p:spPr>
        <p:txBody>
          <a:bodyPr wrap="square" lIns="0" tIns="0" rIns="0" bIns="0" anchor="ctr"/>
          <a:lstStyle/>
          <a:p>
            <a:pPr algn="r">
              <a:lnSpc>
                <a:spcPct val="115000"/>
              </a:lnSpc>
              <a:buNone/>
            </a:pPr>
            <a:r>
              <a:rPr lang="en-US" sz="800" b="1" i="1">
                <a:solidFill>
                  <a:srgbClr val="000000"/>
                </a:solidFill>
                <a:latin typeface="Arial"/>
                <a:ea typeface="Arial"/>
                <a:cs typeface="Arial"/>
              </a:rPr>
              <a:t>DDG-51 %</a:t>
            </a:r>
          </a:p>
        </p:txBody>
      </p:sp>
      <p:sp>
        <p:nvSpPr>
          <p:cNvPr id="9003" name="PenPillRange"/>
          <p:cNvSpPr txBox="1"/>
          <p:nvPr/>
        </p:nvSpPr>
        <p:spPr>
          <a:xfrm>
            <a:off x="6512891" y="4118005"/>
            <a:ext cx="5104156" cy="175000"/>
          </a:xfrm>
          <a:prstGeom prst="roundRect">
            <a:avLst>
              <a:gd name="adj" fmla="val 50000"/>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14–19% (assumed)</a:t>
            </a:r>
          </a:p>
        </p:txBody>
      </p:sp>
      <p:sp>
        <p:nvSpPr>
          <p:cNvPr id="9004" name="PenOval"/>
          <p:cNvSpPr txBox="1"/>
          <p:nvPr/>
        </p:nvSpPr>
        <p:spPr>
          <a:xfrm>
            <a:off x="1165285" y="411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11%</a:t>
            </a:r>
          </a:p>
        </p:txBody>
      </p:sp>
      <p:sp>
        <p:nvSpPr>
          <p:cNvPr id="9005" name="PenOval"/>
          <p:cNvSpPr txBox="1"/>
          <p:nvPr/>
        </p:nvSpPr>
        <p:spPr>
          <a:xfrm>
            <a:off x="2258806" y="411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15%</a:t>
            </a:r>
          </a:p>
        </p:txBody>
      </p:sp>
      <p:sp>
        <p:nvSpPr>
          <p:cNvPr id="9006" name="PenOval"/>
          <p:cNvSpPr txBox="1"/>
          <p:nvPr/>
        </p:nvSpPr>
        <p:spPr>
          <a:xfrm>
            <a:off x="3352327" y="411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15%</a:t>
            </a:r>
          </a:p>
        </p:txBody>
      </p:sp>
      <p:sp>
        <p:nvSpPr>
          <p:cNvPr id="9007" name="PenOval"/>
          <p:cNvSpPr txBox="1"/>
          <p:nvPr/>
        </p:nvSpPr>
        <p:spPr>
          <a:xfrm>
            <a:off x="4434912" y="411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15%</a:t>
            </a:r>
          </a:p>
        </p:txBody>
      </p:sp>
      <p:sp>
        <p:nvSpPr>
          <p:cNvPr id="9008" name="PenOval"/>
          <p:cNvSpPr txBox="1"/>
          <p:nvPr/>
        </p:nvSpPr>
        <p:spPr>
          <a:xfrm>
            <a:off x="5539370" y="411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34%</a:t>
            </a:r>
          </a:p>
        </p:txBody>
      </p:sp>
      <p:sp>
        <p:nvSpPr>
          <p:cNvPr id="9009" name="StripLabel"/>
          <p:cNvSpPr txBox="1"/>
          <p:nvPr/>
        </p:nvSpPr>
        <p:spPr>
          <a:xfrm>
            <a:off x="9737" y="4330505"/>
            <a:ext cx="976921" cy="220000"/>
          </a:xfrm>
          <a:prstGeom prst="rect">
            <a:avLst/>
          </a:prstGeom>
          <a:noFill/>
          <a:ln>
            <a:noFill/>
          </a:ln>
        </p:spPr>
        <p:txBody>
          <a:bodyPr wrap="square" lIns="0" tIns="0" rIns="0" bIns="0" anchor="ctr"/>
          <a:lstStyle/>
          <a:p>
            <a:pPr algn="r">
              <a:lnSpc>
                <a:spcPct val="115000"/>
              </a:lnSpc>
              <a:buNone/>
            </a:pPr>
            <a:r>
              <a:rPr lang="en-US" sz="800" b="1" i="1">
                <a:solidFill>
                  <a:srgbClr val="000000"/>
                </a:solidFill>
                <a:latin typeface="Arial"/>
                <a:ea typeface="Arial"/>
                <a:cs typeface="Arial"/>
              </a:rPr>
              <a:t>Virginia %</a:t>
            </a:r>
          </a:p>
        </p:txBody>
      </p:sp>
      <p:sp>
        <p:nvSpPr>
          <p:cNvPr id="9010" name="PenPillRange"/>
          <p:cNvSpPr txBox="1"/>
          <p:nvPr/>
        </p:nvSpPr>
        <p:spPr>
          <a:xfrm>
            <a:off x="6512891" y="4353005"/>
            <a:ext cx="5104156" cy="175000"/>
          </a:xfrm>
          <a:prstGeom prst="roundRect">
            <a:avLst>
              <a:gd name="adj" fmla="val 50000"/>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24–31% (assumed)</a:t>
            </a:r>
          </a:p>
        </p:txBody>
      </p:sp>
      <p:sp>
        <p:nvSpPr>
          <p:cNvPr id="9011" name="PenOval"/>
          <p:cNvSpPr txBox="1"/>
          <p:nvPr/>
        </p:nvSpPr>
        <p:spPr>
          <a:xfrm>
            <a:off x="1165285" y="4353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23%</a:t>
            </a:r>
          </a:p>
        </p:txBody>
      </p:sp>
      <p:sp>
        <p:nvSpPr>
          <p:cNvPr id="9012" name="PenOval"/>
          <p:cNvSpPr txBox="1"/>
          <p:nvPr/>
        </p:nvSpPr>
        <p:spPr>
          <a:xfrm>
            <a:off x="2258806" y="4353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24%</a:t>
            </a:r>
          </a:p>
        </p:txBody>
      </p:sp>
      <p:sp>
        <p:nvSpPr>
          <p:cNvPr id="9013" name="PenOval"/>
          <p:cNvSpPr txBox="1"/>
          <p:nvPr/>
        </p:nvSpPr>
        <p:spPr>
          <a:xfrm>
            <a:off x="3352327" y="4353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27%</a:t>
            </a:r>
          </a:p>
        </p:txBody>
      </p:sp>
      <p:sp>
        <p:nvSpPr>
          <p:cNvPr id="9014" name="PenOval"/>
          <p:cNvSpPr txBox="1"/>
          <p:nvPr/>
        </p:nvSpPr>
        <p:spPr>
          <a:xfrm>
            <a:off x="4445849" y="4353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19%</a:t>
            </a:r>
          </a:p>
        </p:txBody>
      </p:sp>
      <p:sp>
        <p:nvSpPr>
          <p:cNvPr id="9015" name="PenOval"/>
          <p:cNvSpPr txBox="1"/>
          <p:nvPr/>
        </p:nvSpPr>
        <p:spPr>
          <a:xfrm>
            <a:off x="5539370" y="4353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20%</a:t>
            </a:r>
          </a:p>
        </p:txBody>
      </p:sp>
      <p:sp>
        <p:nvSpPr>
          <p:cNvPr id="9016" name="StripLabel"/>
          <p:cNvSpPr txBox="1"/>
          <p:nvPr/>
        </p:nvSpPr>
        <p:spPr>
          <a:xfrm>
            <a:off x="9737" y="4565505"/>
            <a:ext cx="976921" cy="220000"/>
          </a:xfrm>
          <a:prstGeom prst="rect">
            <a:avLst/>
          </a:prstGeom>
          <a:noFill/>
          <a:ln>
            <a:noFill/>
          </a:ln>
        </p:spPr>
        <p:txBody>
          <a:bodyPr wrap="square" lIns="0" tIns="0" rIns="0" bIns="0" anchor="ctr"/>
          <a:lstStyle/>
          <a:p>
            <a:pPr algn="r">
              <a:lnSpc>
                <a:spcPct val="115000"/>
              </a:lnSpc>
              <a:buNone/>
            </a:pPr>
            <a:r>
              <a:rPr lang="en-US" sz="800" b="1" i="1">
                <a:solidFill>
                  <a:srgbClr val="000000"/>
                </a:solidFill>
                <a:latin typeface="Arial"/>
                <a:ea typeface="Arial"/>
                <a:cs typeface="Arial"/>
              </a:rPr>
              <a:t>Columbia %</a:t>
            </a:r>
          </a:p>
        </p:txBody>
      </p:sp>
      <p:sp>
        <p:nvSpPr>
          <p:cNvPr id="9017" name="PenPillRange"/>
          <p:cNvSpPr txBox="1"/>
          <p:nvPr/>
        </p:nvSpPr>
        <p:spPr>
          <a:xfrm>
            <a:off x="6512891" y="4588005"/>
            <a:ext cx="5104156" cy="175000"/>
          </a:xfrm>
          <a:prstGeom prst="roundRect">
            <a:avLst>
              <a:gd name="adj" fmla="val 50000"/>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13–17% (assumed)</a:t>
            </a:r>
          </a:p>
        </p:txBody>
      </p:sp>
      <p:sp>
        <p:nvSpPr>
          <p:cNvPr id="9018" name="PenOval"/>
          <p:cNvSpPr txBox="1"/>
          <p:nvPr/>
        </p:nvSpPr>
        <p:spPr>
          <a:xfrm>
            <a:off x="1165285" y="458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n/a</a:t>
            </a:r>
          </a:p>
        </p:txBody>
      </p:sp>
      <p:sp>
        <p:nvSpPr>
          <p:cNvPr id="9019" name="PenOval"/>
          <p:cNvSpPr txBox="1"/>
          <p:nvPr/>
        </p:nvSpPr>
        <p:spPr>
          <a:xfrm>
            <a:off x="2258806" y="458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n/a</a:t>
            </a:r>
          </a:p>
        </p:txBody>
      </p:sp>
      <p:sp>
        <p:nvSpPr>
          <p:cNvPr id="9020" name="PenOval"/>
          <p:cNvSpPr txBox="1"/>
          <p:nvPr/>
        </p:nvSpPr>
        <p:spPr>
          <a:xfrm>
            <a:off x="3352327" y="458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13%</a:t>
            </a:r>
          </a:p>
        </p:txBody>
      </p:sp>
      <p:sp>
        <p:nvSpPr>
          <p:cNvPr id="9021" name="PenOval"/>
          <p:cNvSpPr txBox="1"/>
          <p:nvPr/>
        </p:nvSpPr>
        <p:spPr>
          <a:xfrm>
            <a:off x="4445849" y="458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n/a</a:t>
            </a:r>
          </a:p>
        </p:txBody>
      </p:sp>
      <p:sp>
        <p:nvSpPr>
          <p:cNvPr id="9022" name="PenOval"/>
          <p:cNvSpPr txBox="1"/>
          <p:nvPr/>
        </p:nvSpPr>
        <p:spPr>
          <a:xfrm>
            <a:off x="5539370" y="4588005"/>
            <a:ext cx="520000" cy="175000"/>
          </a:xfrm>
          <a:prstGeom prst="ellipse">
            <a:avLst/>
          </a:prstGeom>
          <a:solidFill>
            <a:srgbClr val="FFFFFF"/>
          </a:solidFill>
          <a:ln w="12700">
            <a:solidFill>
              <a:srgbClr val="000000"/>
            </a:solidFill>
          </a:ln>
        </p:spPr>
        <p:txBody>
          <a:bodyPr wrap="square" lIns="0" tIns="0" rIns="0" bIns="0" anchor="ctr"/>
          <a:lstStyle/>
          <a:p>
            <a:pPr algn="ctr">
              <a:lnSpc>
                <a:spcPct val="115000"/>
              </a:lnSpc>
              <a:buNone/>
            </a:pPr>
            <a:r>
              <a:rPr lang="en-US" sz="850" i="1">
                <a:solidFill>
                  <a:srgbClr val="000000"/>
                </a:solidFill>
                <a:latin typeface="Arial"/>
                <a:ea typeface="Arial"/>
                <a:cs typeface="Arial"/>
              </a:rPr>
              <a:t>15%</a:t>
            </a:r>
          </a:p>
        </p:txBody>
      </p:sp>
      <p:sp>
        <p:nvSpPr>
          <p:cNvPr id="9023" name="ColumbiaNote"/>
          <p:cNvSpPr txBox="1"/>
          <p:nvPr/>
        </p:nvSpPr>
        <p:spPr>
          <a:xfrm>
            <a:off x="406859" y="4830373"/>
            <a:ext cx="4480560" cy="120000"/>
          </a:xfrm>
          <a:prstGeom prst="rect">
            <a:avLst/>
          </a:prstGeom>
          <a:noFill/>
          <a:ln>
            <a:noFill/>
          </a:ln>
        </p:spPr>
        <p:txBody>
          <a:bodyPr wrap="square" lIns="0" tIns="0" rIns="0" bIns="0" anchor="ctr"/>
          <a:lstStyle/>
          <a:p>
            <a:pPr algn="l">
              <a:lnSpc>
                <a:spcPct val="115000"/>
              </a:lnSpc>
              <a:buNone/>
            </a:pPr>
            <a:r>
              <a:rPr lang="en-US" sz="800" i="1">
                <a:solidFill>
                  <a:srgbClr val="000000"/>
                </a:solidFill>
                <a:latin typeface="Arial"/>
                <a:ea typeface="Arial"/>
                <a:cs typeface="Arial"/>
              </a:rPr>
              <a:t>Note: Columbia had no hull authorized in FY22/23/25 (hull costs shown in year of authorization)</a:t>
            </a:r>
          </a:p>
        </p:txBody>
      </p:sp>
      <p:sp>
        <p:nvSpPr>
          <p:cNvPr id="9024" name="ForecastNoteStrip"/>
          <p:cNvSpPr txBox="1"/>
          <p:nvPr/>
        </p:nvSpPr>
        <p:spPr>
          <a:xfrm>
            <a:off x="4965793" y="4800172"/>
            <a:ext cx="2800000" cy="120000"/>
          </a:xfrm>
          <a:prstGeom prst="rect">
            <a:avLst/>
          </a:prstGeom>
          <a:noFill/>
          <a:ln>
            <a:noFill/>
          </a:ln>
        </p:spPr>
        <p:txBody>
          <a:bodyPr wrap="square" lIns="0" tIns="0" rIns="0" bIns="0" anchor="ctr"/>
          <a:lstStyle/>
          <a:p>
            <a:pPr algn="ctr">
              <a:lnSpc>
                <a:spcPct val="115000"/>
              </a:lnSpc>
              <a:buNone/>
            </a:pPr>
            <a:r>
              <a:rPr lang="en-US" sz="800" i="1">
                <a:solidFill>
                  <a:srgbClr val="000000"/>
                </a:solidFill>
                <a:latin typeface="Arial"/>
                <a:ea typeface="Arial"/>
                <a:cs typeface="Arial"/>
              </a:rPr>
              <a:t>FY26/FY27 budgets known, penetration assumed.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Breadcrumb"/>
          <p:cNvSpPr>
            <a:spLocks noGrp="1"/>
          </p:cNvSpPr>
          <p:nvPr>
            <p:ph type="body" sz="quarter" idx="10"/>
          </p:nvPr>
        </p:nvSpPr>
        <p:spPr>
          <a:xfrm>
            <a:off x="453079" y="263452"/>
            <a:ext cx="11282362" cy="153888"/>
          </a:xfrm>
        </p:spPr>
        <p:txBody>
          <a:bodyPr/>
          <a:lstStyle/>
          <a:p>
            <a:r>
              <a:rPr lang="en-US" sz="1000" b="1" kern="1200">
                <a:solidFill>
                  <a:srgbClr val="44505C"/>
                </a:solidFill>
                <a:latin typeface="Arial"/>
                <a:ea typeface="Arial"/>
                <a:cs typeface="Arial"/>
              </a:rPr>
              <a:t>Executive Summary</a:t>
            </a:r>
            <a:r>
              <a:rPr lang="en-US" sz="1000" kern="1200">
                <a:solidFill>
                  <a:srgbClr val="44505C"/>
                </a:solidFill>
                <a:latin typeface="Arial"/>
                <a:ea typeface="Arial"/>
                <a:cs typeface="Arial"/>
              </a:rPr>
              <a:t> / Supplier TAM and SAM</a:t>
            </a:r>
          </a:p>
        </p:txBody>
      </p:sp>
      <p:sp>
        <p:nvSpPr>
          <p:cNvPr id="304" name="PrelimChip"/>
          <p:cNvSpPr txBox="1"/>
          <p:nvPr/>
        </p:nvSpPr>
        <p:spPr>
          <a:xfrm>
            <a:off x="10267829" y="111556"/>
            <a:ext cx="1467612" cy="290000"/>
          </a:xfrm>
          <a:prstGeom prst="rect">
            <a:avLst/>
          </a:prstGeom>
          <a:solidFill>
            <a:srgbClr val="FFFFCC"/>
          </a:solidFill>
          <a:ln w="19050">
            <a:solidFill>
              <a:srgbClr val="000000"/>
            </a:solidFill>
          </a:ln>
        </p:spPr>
        <p:txBody>
          <a:bodyPr wrap="square" lIns="45720" tIns="9144" rIns="45720" bIns="9144" anchor="ctr"/>
          <a:lstStyle/>
          <a:p>
            <a:pPr algn="ctr"/>
            <a:r>
              <a:rPr lang="en-US" sz="1200" b="1" kern="1200">
                <a:solidFill>
                  <a:srgbClr val="000000"/>
                </a:solidFill>
                <a:latin typeface="Arial"/>
                <a:ea typeface="Arial"/>
                <a:cs typeface="Arial"/>
              </a:rPr>
              <a:t>Preliminary</a:t>
            </a:r>
          </a:p>
        </p:txBody>
      </p:sp>
      <p:sp>
        <p:nvSpPr>
          <p:cNvPr id="303" name="Title"/>
          <p:cNvSpPr>
            <a:spLocks noGrp="1"/>
          </p:cNvSpPr>
          <p:nvPr>
            <p:ph type="title"/>
          </p:nvPr>
        </p:nvSpPr>
        <p:spPr>
          <a:xfrm>
            <a:off x="453079" y="554500"/>
            <a:ext cx="11282362" cy="640080"/>
          </a:xfrm>
        </p:spPr>
        <p:txBody>
          <a:bodyPr vert="horz" rIns="0"/>
          <a:lstStyle/>
          <a:p>
            <a:r>
              <a:rPr lang="en-US">
                <a:solidFill>
                  <a:srgbClr val="162029"/>
                </a:solidFill>
                <a:ea typeface="Arial"/>
                <a:cs typeface="Arial"/>
              </a:rPr>
              <a:t>Penetration Rate Outlook | …</a:t>
            </a:r>
            <a:endParaRPr lang="en-US" sz="2000" kern="1200">
              <a:solidFill>
                <a:srgbClr val="162029"/>
              </a:solidFill>
              <a:latin typeface="Arial"/>
              <a:ea typeface="Arial"/>
              <a:cs typeface="Arial"/>
            </a:endParaRPr>
          </a:p>
        </p:txBody>
      </p:sp>
      <p:sp>
        <p:nvSpPr>
          <p:cNvPr id="355" name="Sources"/>
          <p:cNvSpPr txBox="1"/>
          <p:nvPr/>
        </p:nvSpPr>
        <p:spPr>
          <a:xfrm>
            <a:off x="453079" y="6085448"/>
            <a:ext cx="11282362" cy="540000"/>
          </a:xfrm>
          <a:prstGeom prst="rect">
            <a:avLst/>
          </a:prstGeom>
          <a:noFill/>
          <a:ln>
            <a:noFill/>
          </a:ln>
        </p:spPr>
        <p:txBody>
          <a:bodyPr wrap="square" lIns="91440" tIns="45720" rIns="91440" bIns="45720" anchor="t"/>
          <a:lstStyle/>
          <a:p>
            <a:r>
              <a:rPr lang="en-US" sz="800" kern="1200">
                <a:solidFill>
                  <a:srgbClr val="162029"/>
                </a:solidFill>
                <a:latin typeface="Arial"/>
                <a:ea typeface="Arial"/>
                <a:cs typeface="Arial"/>
              </a:rPr>
              <a:t>Sources: Navy SCN P-5c / P-40 budget justification, FY22–FY27, and PB27 FYDP outyears (FY28–FY31); FY26, PL 119-21 Sec. 20002; PB27 SCN, Columbia P-10 Strategic Outsourcing narrative; OUSD(C) Green Book Procurement deflators; Navy Shipbuilding Plan; PB27 SCN Exhibit P-10, LI 2122 (AP/LLTM Ship Construction EOQ); FFATA/FSRS subaward records, yard-prime construction PIIDs, FY22–FY25 action years (work-type shares)</a:t>
            </a:r>
          </a:p>
        </p:txBody>
      </p:sp>
      <p:sp>
        <p:nvSpPr>
          <p:cNvPr id="333" name="PrelimChip"/>
          <p:cNvSpPr txBox="1"/>
          <p:nvPr/>
        </p:nvSpPr>
        <p:spPr>
          <a:xfrm>
            <a:off x="176981" y="1111045"/>
            <a:ext cx="11808542" cy="5279923"/>
          </a:xfrm>
          <a:prstGeom prst="rect">
            <a:avLst/>
          </a:prstGeom>
          <a:solidFill>
            <a:srgbClr val="D9D9D9"/>
          </a:solidFill>
          <a:ln w="19050">
            <a:solidFill>
              <a:srgbClr val="000000"/>
            </a:solidFill>
          </a:ln>
        </p:spPr>
        <p:txBody>
          <a:bodyPr wrap="square" lIns="45720" tIns="9144" rIns="45720" bIns="9144" anchor="ctr"/>
          <a:lstStyle/>
          <a:p>
            <a:pPr algn="ctr"/>
            <a:r>
              <a:rPr lang="en-US" sz="1600" b="1" i="1" kern="1200">
                <a:solidFill>
                  <a:srgbClr val="000000"/>
                </a:solidFill>
                <a:latin typeface="Arial"/>
                <a:ea typeface="Arial"/>
                <a:cs typeface="Arial"/>
              </a:rPr>
              <a:t>Placeholder – Line chart (LHS 2/3) + Commentary (RHS 1/3) </a:t>
            </a:r>
            <a:br>
              <a:rPr lang="en-US" sz="1600" b="1" i="1" kern="1200">
                <a:solidFill>
                  <a:srgbClr val="000000"/>
                </a:solidFill>
                <a:latin typeface="Arial"/>
                <a:ea typeface="Arial"/>
                <a:cs typeface="Arial"/>
              </a:rPr>
            </a:br>
            <a:r>
              <a:rPr lang="en-US" sz="1600" b="1" i="1" kern="1200">
                <a:solidFill>
                  <a:srgbClr val="000000"/>
                </a:solidFill>
                <a:latin typeface="Arial"/>
                <a:ea typeface="Arial"/>
                <a:cs typeface="Arial"/>
              </a:rPr>
              <a:t>X-axis: </a:t>
            </a:r>
          </a:p>
          <a:p>
            <a:pPr algn="ctr"/>
            <a:r>
              <a:rPr lang="en-US" sz="1600" b="1" i="1">
                <a:solidFill>
                  <a:srgbClr val="000000"/>
                </a:solidFill>
                <a:latin typeface="Arial"/>
                <a:ea typeface="Arial"/>
                <a:cs typeface="Arial"/>
              </a:rPr>
              <a:t>Y-axis: </a:t>
            </a:r>
            <a:r>
              <a:rPr lang="en-US" sz="1600" b="1" i="1" kern="1200">
                <a:solidFill>
                  <a:srgbClr val="000000"/>
                </a:solidFill>
                <a:latin typeface="Arial"/>
                <a:ea typeface="Arial"/>
                <a:cs typeface="Arial"/>
              </a:rPr>
              <a:t>FY22 – FY31</a:t>
            </a:r>
          </a:p>
          <a:p>
            <a:pPr algn="ctr"/>
            <a:r>
              <a:rPr lang="en-US" sz="1600" b="1" i="1">
                <a:solidFill>
                  <a:srgbClr val="000000"/>
                </a:solidFill>
                <a:latin typeface="Arial"/>
                <a:ea typeface="Arial"/>
                <a:cs typeface="Arial"/>
              </a:rPr>
              <a:t>Lines: </a:t>
            </a:r>
            <a:r>
              <a:rPr lang="en-US" sz="1600" b="1" i="1">
                <a:solidFill>
                  <a:srgbClr val="000000"/>
                </a:solidFill>
                <a:ea typeface="Arial"/>
                <a:cs typeface="Arial"/>
              </a:rPr>
              <a:t>DDG, Virginia, Columbia pen rate (delineate historical with solid lines and forecast with dashed lines)</a:t>
            </a:r>
          </a:p>
          <a:p>
            <a:pPr algn="ctr"/>
            <a:r>
              <a:rPr lang="en-US" sz="1600" b="1" i="1">
                <a:solidFill>
                  <a:srgbClr val="000000"/>
                </a:solidFill>
                <a:ea typeface="Arial"/>
                <a:cs typeface="Arial"/>
              </a:rPr>
              <a:t>Overlay: Penetration “ceiling” as lines for each platform</a:t>
            </a:r>
          </a:p>
          <a:p>
            <a:pPr algn="ctr"/>
            <a:r>
              <a:rPr lang="en-US" sz="1600" b="1" i="1">
                <a:solidFill>
                  <a:srgbClr val="000000"/>
                </a:solidFill>
                <a:ea typeface="Arial"/>
                <a:cs typeface="Arial"/>
              </a:rPr>
              <a:t>Commentary: Explanation of curve shape + ceilings</a:t>
            </a:r>
          </a:p>
          <a:p>
            <a:pPr algn="ctr"/>
            <a:endParaRPr lang="en-US" sz="1600" b="1" i="1">
              <a:solidFill>
                <a:srgbClr val="000000"/>
              </a:solidFill>
              <a:ea typeface="Arial"/>
              <a:cs typeface="Arial"/>
            </a:endParaRPr>
          </a:p>
          <a:p>
            <a:pPr algn="ctr"/>
            <a:r>
              <a:rPr lang="en-US" sz="1600" b="1" i="1">
                <a:solidFill>
                  <a:srgbClr val="000000"/>
                </a:solidFill>
                <a:ea typeface="Arial"/>
                <a:cs typeface="Arial"/>
              </a:rPr>
              <a:t>To understand how the Navy thinks about “outsourcing” – defined as hours or $ or combination?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3" name="Chart 542"/>
          <p:cNvGraphicFramePr/>
          <p:nvPr/>
        </p:nvGraphicFramePr>
        <p:xfrm>
          <a:off x="349250" y="2216150"/>
          <a:ext cx="11296650" cy="3341688"/>
        </p:xfrm>
        <a:graphic>
          <a:graphicData uri="http://schemas.openxmlformats.org/drawingml/2006/chart">
            <c:chart xmlns:c="http://schemas.openxmlformats.org/drawingml/2006/chart" xmlns:r="http://schemas.openxmlformats.org/officeDocument/2006/relationships" r:id="rId2"/>
          </a:graphicData>
        </a:graphic>
      </p:graphicFrame>
      <p:sp>
        <p:nvSpPr>
          <p:cNvPr id="302" name="Breadcrumb"/>
          <p:cNvSpPr>
            <a:spLocks noGrp="1"/>
          </p:cNvSpPr>
          <p:nvPr>
            <p:ph type="body" sz="quarter" idx="10"/>
          </p:nvPr>
        </p:nvSpPr>
        <p:spPr>
          <a:xfrm>
            <a:off x="453079" y="263452"/>
            <a:ext cx="11282362" cy="153888"/>
          </a:xfrm>
        </p:spPr>
        <p:txBody>
          <a:bodyPr/>
          <a:lstStyle/>
          <a:p>
            <a:r>
              <a:rPr lang="en-US" b="1">
                <a:solidFill>
                  <a:srgbClr val="44505C"/>
                </a:solidFill>
                <a:latin typeface="Arial"/>
                <a:ea typeface="Arial"/>
                <a:cs typeface="Arial"/>
              </a:rPr>
              <a:t>Executive Summary</a:t>
            </a:r>
            <a:r>
              <a:rPr lang="en-US" sz="1000" kern="1200">
                <a:solidFill>
                  <a:srgbClr val="44505C"/>
                </a:solidFill>
                <a:latin typeface="Arial"/>
                <a:ea typeface="Arial"/>
                <a:cs typeface="Arial"/>
              </a:rPr>
              <a:t> / Outsourced BC Annual TAM</a:t>
            </a:r>
          </a:p>
        </p:txBody>
      </p:sp>
      <p:sp>
        <p:nvSpPr>
          <p:cNvPr id="304" name="PrelimChip"/>
          <p:cNvSpPr txBox="1"/>
          <p:nvPr/>
        </p:nvSpPr>
        <p:spPr>
          <a:xfrm>
            <a:off x="10267829" y="111556"/>
            <a:ext cx="1467612" cy="290000"/>
          </a:xfrm>
          <a:prstGeom prst="rect">
            <a:avLst/>
          </a:prstGeom>
          <a:solidFill>
            <a:srgbClr val="FFFFCC"/>
          </a:solidFill>
          <a:ln w="19050">
            <a:solidFill>
              <a:srgbClr val="000000"/>
            </a:solidFill>
          </a:ln>
        </p:spPr>
        <p:txBody>
          <a:bodyPr wrap="square" lIns="45720" tIns="9144" rIns="45720" bIns="9144" anchor="ctr"/>
          <a:lstStyle/>
          <a:p>
            <a:pPr algn="ctr"/>
            <a:r>
              <a:rPr lang="en-US" sz="1200" b="1" kern="1200">
                <a:solidFill>
                  <a:srgbClr val="000000"/>
                </a:solidFill>
                <a:latin typeface="Arial"/>
                <a:ea typeface="Arial"/>
                <a:cs typeface="Arial"/>
              </a:rPr>
              <a:t>Preliminary</a:t>
            </a:r>
          </a:p>
        </p:txBody>
      </p:sp>
      <p:sp>
        <p:nvSpPr>
          <p:cNvPr id="303" name="Title"/>
          <p:cNvSpPr>
            <a:spLocks noGrp="1"/>
          </p:cNvSpPr>
          <p:nvPr>
            <p:ph type="title"/>
          </p:nvPr>
        </p:nvSpPr>
        <p:spPr>
          <a:xfrm>
            <a:off x="453079" y="554500"/>
            <a:ext cx="11282362" cy="640080"/>
          </a:xfrm>
        </p:spPr>
        <p:txBody>
          <a:bodyPr vert="horz" rIns="0"/>
          <a:lstStyle/>
          <a:p>
            <a:r>
              <a:rPr lang="en-US" dirty="0">
                <a:solidFill>
                  <a:srgbClr val="162029"/>
                </a:solidFill>
                <a:ea typeface="Arial"/>
                <a:cs typeface="Arial"/>
              </a:rPr>
              <a:t>Outsourced Basic Construction Spend by Work Type | Machining anchors a third or more of DDG-51 demand every year, while the submarine lead rotates among structural, electrical, and piping work with award timing.</a:t>
            </a:r>
            <a:endParaRPr lang="en-US" sz="2000" kern="1200" dirty="0">
              <a:solidFill>
                <a:srgbClr val="162029"/>
              </a:solidFill>
              <a:latin typeface="Arial"/>
              <a:ea typeface="Arial"/>
              <a:cs typeface="Arial"/>
            </a:endParaRPr>
          </a:p>
        </p:txBody>
      </p:sp>
      <p:cxnSp>
        <p:nvCxnSpPr>
          <p:cNvPr id="802" name="Straight Connector 501"/>
          <p:cNvCxnSpPr>
            <a:cxnSpLocks/>
          </p:cNvCxnSpPr>
          <p:nvPr/>
        </p:nvCxnSpPr>
        <p:spPr bwMode="gray">
          <a:xfrm flipH="1">
            <a:off x="11279188" y="2871788"/>
            <a:ext cx="84138" cy="0"/>
          </a:xfrm>
          <a:prstGeom prst="line">
            <a:avLst/>
          </a:prstGeom>
          <a:ln w="6350" cap="flat" cmpd="sng" algn="ctr">
            <a:solidFill>
              <a:schemeClr val="tx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76" name="Text Placeholder 25"/>
          <p:cNvSpPr>
            <a:spLocks/>
          </p:cNvSpPr>
          <p:nvPr/>
        </p:nvSpPr>
        <p:spPr bwMode="auto">
          <a:xfrm>
            <a:off x="2128838"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FY2023</a:t>
            </a:r>
            <a:endParaRPr lang="en-US" sz="1000" dirty="0"/>
          </a:p>
        </p:txBody>
      </p:sp>
      <p:sp>
        <p:nvSpPr>
          <p:cNvPr id="677" name="Text Placeholder 25"/>
          <p:cNvSpPr>
            <a:spLocks/>
          </p:cNvSpPr>
          <p:nvPr/>
        </p:nvSpPr>
        <p:spPr bwMode="auto">
          <a:xfrm>
            <a:off x="3097213"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FY2024</a:t>
            </a:r>
            <a:endParaRPr lang="en-US" sz="1000" dirty="0"/>
          </a:p>
        </p:txBody>
      </p:sp>
      <p:sp>
        <p:nvSpPr>
          <p:cNvPr id="682" name="Text Placeholder 25"/>
          <p:cNvSpPr>
            <a:spLocks/>
          </p:cNvSpPr>
          <p:nvPr/>
        </p:nvSpPr>
        <p:spPr bwMode="gray">
          <a:xfrm>
            <a:off x="1281113"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0.5</a:t>
            </a:r>
            <a:endParaRPr lang="en-US" sz="1000" dirty="0"/>
          </a:p>
        </p:txBody>
      </p:sp>
      <p:sp>
        <p:nvSpPr>
          <p:cNvPr id="684" name="Text Placeholder 25"/>
          <p:cNvSpPr>
            <a:spLocks/>
          </p:cNvSpPr>
          <p:nvPr/>
        </p:nvSpPr>
        <p:spPr bwMode="gray">
          <a:xfrm>
            <a:off x="2251075"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1.2</a:t>
            </a:r>
            <a:endParaRPr lang="en-US" sz="1000" dirty="0"/>
          </a:p>
        </p:txBody>
      </p:sp>
      <p:sp>
        <p:nvSpPr>
          <p:cNvPr id="685" name="Text Placeholder 25"/>
          <p:cNvSpPr>
            <a:spLocks/>
          </p:cNvSpPr>
          <p:nvPr/>
        </p:nvSpPr>
        <p:spPr bwMode="gray">
          <a:xfrm>
            <a:off x="3219450"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0.9</a:t>
            </a:r>
            <a:endParaRPr lang="en-US" sz="1000" dirty="0"/>
          </a:p>
        </p:txBody>
      </p:sp>
      <p:sp>
        <p:nvSpPr>
          <p:cNvPr id="688" name="Text Placeholder 25"/>
          <p:cNvSpPr>
            <a:spLocks/>
          </p:cNvSpPr>
          <p:nvPr/>
        </p:nvSpPr>
        <p:spPr bwMode="auto">
          <a:xfrm>
            <a:off x="4067175"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FY2025</a:t>
            </a:r>
            <a:endParaRPr lang="en-US" sz="1000" dirty="0"/>
          </a:p>
        </p:txBody>
      </p:sp>
      <p:sp>
        <p:nvSpPr>
          <p:cNvPr id="689" name="Text Placeholder 25"/>
          <p:cNvSpPr>
            <a:spLocks/>
          </p:cNvSpPr>
          <p:nvPr/>
        </p:nvSpPr>
        <p:spPr bwMode="auto">
          <a:xfrm>
            <a:off x="6005513"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FY2022</a:t>
            </a:r>
            <a:endParaRPr lang="en-US" sz="1000" dirty="0"/>
          </a:p>
        </p:txBody>
      </p:sp>
      <p:sp>
        <p:nvSpPr>
          <p:cNvPr id="690" name="Text Placeholder 25"/>
          <p:cNvSpPr>
            <a:spLocks/>
          </p:cNvSpPr>
          <p:nvPr/>
        </p:nvSpPr>
        <p:spPr bwMode="auto">
          <a:xfrm>
            <a:off x="6973888"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FY2023</a:t>
            </a:r>
            <a:endParaRPr lang="en-US" sz="1000" dirty="0"/>
          </a:p>
        </p:txBody>
      </p:sp>
      <p:sp>
        <p:nvSpPr>
          <p:cNvPr id="691" name="Text Placeholder 25"/>
          <p:cNvSpPr>
            <a:spLocks/>
          </p:cNvSpPr>
          <p:nvPr/>
        </p:nvSpPr>
        <p:spPr bwMode="auto">
          <a:xfrm>
            <a:off x="7943850"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FY2024</a:t>
            </a:r>
            <a:endParaRPr lang="en-US" sz="1000" dirty="0"/>
          </a:p>
        </p:txBody>
      </p:sp>
      <p:sp>
        <p:nvSpPr>
          <p:cNvPr id="692" name="Text Placeholder 25"/>
          <p:cNvSpPr>
            <a:spLocks/>
          </p:cNvSpPr>
          <p:nvPr/>
        </p:nvSpPr>
        <p:spPr bwMode="auto">
          <a:xfrm>
            <a:off x="8912225"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FY2025</a:t>
            </a:r>
            <a:endParaRPr lang="en-US" sz="1000" dirty="0"/>
          </a:p>
        </p:txBody>
      </p:sp>
      <p:sp>
        <p:nvSpPr>
          <p:cNvPr id="693" name="Text Placeholder 25"/>
          <p:cNvSpPr>
            <a:spLocks/>
          </p:cNvSpPr>
          <p:nvPr/>
        </p:nvSpPr>
        <p:spPr bwMode="auto">
          <a:xfrm>
            <a:off x="10850563"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FY2024</a:t>
            </a:r>
            <a:endParaRPr lang="en-US" sz="1000" dirty="0"/>
          </a:p>
        </p:txBody>
      </p:sp>
      <p:sp>
        <p:nvSpPr>
          <p:cNvPr id="699" name="Text Placeholder 25"/>
          <p:cNvSpPr>
            <a:spLocks/>
          </p:cNvSpPr>
          <p:nvPr/>
        </p:nvSpPr>
        <p:spPr bwMode="gray">
          <a:xfrm>
            <a:off x="4189413"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1.2</a:t>
            </a:r>
            <a:endParaRPr lang="en-US" sz="1000" dirty="0"/>
          </a:p>
        </p:txBody>
      </p:sp>
      <p:sp>
        <p:nvSpPr>
          <p:cNvPr id="700" name="Text Placeholder 25"/>
          <p:cNvSpPr>
            <a:spLocks/>
          </p:cNvSpPr>
          <p:nvPr/>
        </p:nvSpPr>
        <p:spPr bwMode="gray">
          <a:xfrm>
            <a:off x="6127750"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1.8</a:t>
            </a:r>
            <a:endParaRPr lang="en-US" sz="1000" dirty="0"/>
          </a:p>
        </p:txBody>
      </p:sp>
      <p:sp>
        <p:nvSpPr>
          <p:cNvPr id="701" name="Text Placeholder 25"/>
          <p:cNvSpPr>
            <a:spLocks/>
          </p:cNvSpPr>
          <p:nvPr/>
        </p:nvSpPr>
        <p:spPr bwMode="gray">
          <a:xfrm>
            <a:off x="7096125"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1.9</a:t>
            </a:r>
            <a:endParaRPr lang="en-US" sz="1000" dirty="0"/>
          </a:p>
        </p:txBody>
      </p:sp>
      <p:sp>
        <p:nvSpPr>
          <p:cNvPr id="702" name="Text Placeholder 25"/>
          <p:cNvSpPr>
            <a:spLocks/>
          </p:cNvSpPr>
          <p:nvPr/>
        </p:nvSpPr>
        <p:spPr bwMode="gray">
          <a:xfrm>
            <a:off x="8066088"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3.2</a:t>
            </a:r>
            <a:endParaRPr lang="en-US" sz="1000" dirty="0"/>
          </a:p>
        </p:txBody>
      </p:sp>
      <p:sp>
        <p:nvSpPr>
          <p:cNvPr id="703" name="Text Placeholder 25"/>
          <p:cNvSpPr>
            <a:spLocks/>
          </p:cNvSpPr>
          <p:nvPr/>
        </p:nvSpPr>
        <p:spPr bwMode="gray">
          <a:xfrm>
            <a:off x="9034463"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1.8</a:t>
            </a:r>
            <a:endParaRPr lang="en-US" sz="1000" dirty="0"/>
          </a:p>
        </p:txBody>
      </p:sp>
      <p:sp>
        <p:nvSpPr>
          <p:cNvPr id="704" name="Text Placeholder 25"/>
          <p:cNvSpPr>
            <a:spLocks/>
          </p:cNvSpPr>
          <p:nvPr/>
        </p:nvSpPr>
        <p:spPr bwMode="gray">
          <a:xfrm>
            <a:off x="10972800" y="2263775"/>
            <a:ext cx="209550" cy="152400"/>
          </a:xfrm>
          <a:prstGeom prst="rect">
            <a:avLst/>
          </a:prstGeom>
          <a:noFill/>
          <a:ln>
            <a:noFill/>
          </a:ln>
          <a:effectLst/>
        </p:spPr>
        <p:txBody>
          <a:bodyPr vert="horz" wrap="none" lIns="17463" tIns="0" rIns="17463" bIns="0" rtlCol="0" anchor="b">
            <a:noAutofit/>
          </a:bodyPr>
          <a:p>
            <a:pPr marL="0" lvl="0" indent="0" algn="ctr">
              <a:spcBef>
                <a:spcPct val="0"/>
              </a:spcBef>
              <a:spcAft>
                <a:spcPct val="0"/>
              </a:spcAft>
              <a:buNone/>
            </a:pPr>
            <a:r>
              <a:rPr lang="en-US" altLang="en-US" sz="1000" smtClean="0"/>
              <a:t>1.5</a:t>
            </a:r>
            <a:endParaRPr lang="en-US" sz="1000" dirty="0"/>
          </a:p>
        </p:txBody>
      </p:sp>
      <p:sp>
        <p:nvSpPr>
          <p:cNvPr id="785" name="Text Placeholder 25"/>
          <p:cNvSpPr>
            <a:spLocks/>
          </p:cNvSpPr>
          <p:nvPr/>
        </p:nvSpPr>
        <p:spPr bwMode="gray">
          <a:xfrm>
            <a:off x="1243013" y="2913063"/>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38%</a:t>
            </a:r>
            <a:endParaRPr lang="en-US" sz="1000" dirty="0"/>
          </a:p>
        </p:txBody>
      </p:sp>
      <p:sp>
        <p:nvSpPr>
          <p:cNvPr id="787" name="Text Placeholder 25"/>
          <p:cNvSpPr>
            <a:spLocks/>
          </p:cNvSpPr>
          <p:nvPr/>
        </p:nvSpPr>
        <p:spPr bwMode="gray">
          <a:xfrm>
            <a:off x="2212975" y="2809875"/>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31%</a:t>
            </a:r>
            <a:endParaRPr lang="en-US" sz="1000" dirty="0"/>
          </a:p>
        </p:txBody>
      </p:sp>
      <p:sp>
        <p:nvSpPr>
          <p:cNvPr id="788" name="Text Placeholder 25"/>
          <p:cNvSpPr>
            <a:spLocks/>
          </p:cNvSpPr>
          <p:nvPr/>
        </p:nvSpPr>
        <p:spPr bwMode="gray">
          <a:xfrm>
            <a:off x="3181350" y="2560638"/>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14%</a:t>
            </a:r>
            <a:endParaRPr lang="en-US" sz="1000" dirty="0"/>
          </a:p>
        </p:txBody>
      </p:sp>
      <p:sp>
        <p:nvSpPr>
          <p:cNvPr id="789" name="Text Placeholder 25"/>
          <p:cNvSpPr>
            <a:spLocks/>
          </p:cNvSpPr>
          <p:nvPr/>
        </p:nvSpPr>
        <p:spPr bwMode="gray">
          <a:xfrm>
            <a:off x="4151313" y="2573338"/>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14%</a:t>
            </a:r>
            <a:endParaRPr lang="en-US" sz="1000" dirty="0"/>
          </a:p>
        </p:txBody>
      </p:sp>
      <p:sp>
        <p:nvSpPr>
          <p:cNvPr id="721" name="Text Placeholder 25"/>
          <p:cNvSpPr>
            <a:spLocks/>
          </p:cNvSpPr>
          <p:nvPr/>
        </p:nvSpPr>
        <p:spPr bwMode="gray">
          <a:xfrm>
            <a:off x="10836275" y="2857500"/>
            <a:ext cx="217488" cy="152400"/>
          </a:xfrm>
          <a:prstGeom prst="rect">
            <a:avLst/>
          </a:prstGeom>
          <a:solidFill>
            <a:schemeClr val="accent4"/>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3%</a:t>
            </a:r>
            <a:endParaRPr lang="en-US" sz="1000" dirty="0">
              <a:solidFill>
                <a:schemeClr val="bg1"/>
              </a:solidFill>
            </a:endParaRPr>
          </a:p>
        </p:txBody>
      </p:sp>
      <p:sp>
        <p:nvSpPr>
          <p:cNvPr id="791" name="Text Placeholder 25"/>
          <p:cNvSpPr>
            <a:spLocks/>
          </p:cNvSpPr>
          <p:nvPr/>
        </p:nvSpPr>
        <p:spPr bwMode="gray">
          <a:xfrm>
            <a:off x="7058025" y="2555875"/>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13%</a:t>
            </a:r>
            <a:endParaRPr lang="en-US" sz="1000" dirty="0"/>
          </a:p>
        </p:txBody>
      </p:sp>
      <p:sp>
        <p:nvSpPr>
          <p:cNvPr id="792" name="Text Placeholder 25"/>
          <p:cNvSpPr>
            <a:spLocks/>
          </p:cNvSpPr>
          <p:nvPr/>
        </p:nvSpPr>
        <p:spPr bwMode="gray">
          <a:xfrm>
            <a:off x="8027988" y="2573338"/>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14%</a:t>
            </a:r>
            <a:endParaRPr lang="en-US" sz="1000" dirty="0"/>
          </a:p>
        </p:txBody>
      </p:sp>
      <p:sp>
        <p:nvSpPr>
          <p:cNvPr id="793" name="Text Placeholder 25"/>
          <p:cNvSpPr>
            <a:spLocks/>
          </p:cNvSpPr>
          <p:nvPr/>
        </p:nvSpPr>
        <p:spPr bwMode="gray">
          <a:xfrm>
            <a:off x="8996363" y="2592388"/>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16%</a:t>
            </a:r>
            <a:endParaRPr lang="en-US" sz="1000" dirty="0"/>
          </a:p>
        </p:txBody>
      </p:sp>
      <p:sp>
        <p:nvSpPr>
          <p:cNvPr id="794" name="Text Placeholder 25"/>
          <p:cNvSpPr>
            <a:spLocks/>
          </p:cNvSpPr>
          <p:nvPr/>
        </p:nvSpPr>
        <p:spPr bwMode="gray">
          <a:xfrm>
            <a:off x="10934700" y="2508250"/>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10%</a:t>
            </a:r>
            <a:endParaRPr lang="en-US" sz="1000" dirty="0"/>
          </a:p>
        </p:txBody>
      </p:sp>
      <p:sp>
        <p:nvSpPr>
          <p:cNvPr id="790" name="Text Placeholder 25"/>
          <p:cNvSpPr>
            <a:spLocks/>
          </p:cNvSpPr>
          <p:nvPr/>
        </p:nvSpPr>
        <p:spPr bwMode="gray">
          <a:xfrm>
            <a:off x="6089650" y="2681288"/>
            <a:ext cx="287338" cy="152400"/>
          </a:xfrm>
          <a:prstGeom prst="rect">
            <a:avLst/>
          </a:prstGeom>
          <a:solidFill>
            <a:schemeClr val="bg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22%</a:t>
            </a:r>
            <a:endParaRPr lang="en-US" sz="1000" dirty="0"/>
          </a:p>
        </p:txBody>
      </p:sp>
      <p:sp>
        <p:nvSpPr>
          <p:cNvPr id="806" name="Text Placeholder 25"/>
          <p:cNvSpPr>
            <a:spLocks/>
          </p:cNvSpPr>
          <p:nvPr/>
        </p:nvSpPr>
        <p:spPr bwMode="gray">
          <a:xfrm>
            <a:off x="2247900" y="3257550"/>
            <a:ext cx="217488" cy="152400"/>
          </a:xfrm>
          <a:prstGeom prst="rect">
            <a:avLst/>
          </a:prstGeom>
          <a:solidFill>
            <a:schemeClr val="accent6"/>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a:t>
            </a:r>
            <a:endParaRPr lang="en-US" sz="1000" dirty="0"/>
          </a:p>
        </p:txBody>
      </p:sp>
      <p:sp>
        <p:nvSpPr>
          <p:cNvPr id="807" name="Text Placeholder 25"/>
          <p:cNvSpPr>
            <a:spLocks/>
          </p:cNvSpPr>
          <p:nvPr/>
        </p:nvSpPr>
        <p:spPr bwMode="gray">
          <a:xfrm>
            <a:off x="4186238" y="2813050"/>
            <a:ext cx="217488" cy="152400"/>
          </a:xfrm>
          <a:prstGeom prst="rect">
            <a:avLst/>
          </a:prstGeom>
          <a:solidFill>
            <a:schemeClr val="accent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2%</a:t>
            </a:r>
            <a:endParaRPr lang="en-US" sz="1000" dirty="0">
              <a:solidFill>
                <a:schemeClr val="bg1"/>
              </a:solidFill>
            </a:endParaRPr>
          </a:p>
        </p:txBody>
      </p:sp>
      <p:sp>
        <p:nvSpPr>
          <p:cNvPr id="808" name="Text Placeholder 25"/>
          <p:cNvSpPr>
            <a:spLocks/>
          </p:cNvSpPr>
          <p:nvPr/>
        </p:nvSpPr>
        <p:spPr bwMode="gray">
          <a:xfrm>
            <a:off x="9031288" y="5227638"/>
            <a:ext cx="217488" cy="152400"/>
          </a:xfrm>
          <a:prstGeom prst="rect">
            <a:avLst/>
          </a:prstGeom>
          <a:solidFill>
            <a:schemeClr val="accent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2%</a:t>
            </a:r>
            <a:endParaRPr lang="en-US" sz="1000" dirty="0">
              <a:solidFill>
                <a:schemeClr val="bg1"/>
              </a:solidFill>
            </a:endParaRPr>
          </a:p>
        </p:txBody>
      </p:sp>
      <p:sp>
        <p:nvSpPr>
          <p:cNvPr id="814" name="Text Placeholder 25"/>
          <p:cNvSpPr>
            <a:spLocks/>
          </p:cNvSpPr>
          <p:nvPr/>
        </p:nvSpPr>
        <p:spPr bwMode="gray">
          <a:xfrm>
            <a:off x="6259513" y="3036888"/>
            <a:ext cx="217488" cy="152400"/>
          </a:xfrm>
          <a:prstGeom prst="rect">
            <a:avLst/>
          </a:prstGeom>
          <a:solidFill>
            <a:schemeClr val="accent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3%</a:t>
            </a:r>
            <a:endParaRPr lang="en-US" sz="1000" dirty="0">
              <a:solidFill>
                <a:schemeClr val="bg1"/>
              </a:solidFill>
            </a:endParaRPr>
          </a:p>
        </p:txBody>
      </p:sp>
      <p:sp>
        <p:nvSpPr>
          <p:cNvPr id="815" name="Text Placeholder 25"/>
          <p:cNvSpPr>
            <a:spLocks/>
          </p:cNvSpPr>
          <p:nvPr/>
        </p:nvSpPr>
        <p:spPr bwMode="gray">
          <a:xfrm>
            <a:off x="6959600" y="3094038"/>
            <a:ext cx="217488" cy="152400"/>
          </a:xfrm>
          <a:prstGeom prst="rect">
            <a:avLst/>
          </a:prstGeom>
          <a:solidFill>
            <a:schemeClr val="accent4"/>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1%</a:t>
            </a:r>
            <a:endParaRPr lang="en-US" sz="1000" dirty="0">
              <a:solidFill>
                <a:schemeClr val="bg1"/>
              </a:solidFill>
            </a:endParaRPr>
          </a:p>
        </p:txBody>
      </p:sp>
      <p:sp>
        <p:nvSpPr>
          <p:cNvPr id="816" name="Text Placeholder 25"/>
          <p:cNvSpPr>
            <a:spLocks/>
          </p:cNvSpPr>
          <p:nvPr/>
        </p:nvSpPr>
        <p:spPr bwMode="gray">
          <a:xfrm>
            <a:off x="7227888" y="3059113"/>
            <a:ext cx="217488" cy="152400"/>
          </a:xfrm>
          <a:prstGeom prst="rect">
            <a:avLst/>
          </a:prstGeom>
          <a:solidFill>
            <a:schemeClr val="accent5"/>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2%</a:t>
            </a:r>
            <a:endParaRPr lang="en-US" sz="1000" dirty="0"/>
          </a:p>
        </p:txBody>
      </p:sp>
      <p:sp>
        <p:nvSpPr>
          <p:cNvPr id="817" name="Text Placeholder 25"/>
          <p:cNvSpPr>
            <a:spLocks/>
          </p:cNvSpPr>
          <p:nvPr/>
        </p:nvSpPr>
        <p:spPr bwMode="gray">
          <a:xfrm>
            <a:off x="7092950" y="2784475"/>
            <a:ext cx="217488" cy="152400"/>
          </a:xfrm>
          <a:prstGeom prst="rect">
            <a:avLst/>
          </a:prstGeom>
          <a:solidFill>
            <a:schemeClr val="accent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3%</a:t>
            </a:r>
            <a:endParaRPr lang="en-US" sz="1000" dirty="0">
              <a:solidFill>
                <a:schemeClr val="bg1"/>
              </a:solidFill>
            </a:endParaRPr>
          </a:p>
        </p:txBody>
      </p:sp>
      <p:sp>
        <p:nvSpPr>
          <p:cNvPr id="674" name="Text Placeholder 25"/>
          <p:cNvSpPr>
            <a:spLocks/>
          </p:cNvSpPr>
          <p:nvPr/>
        </p:nvSpPr>
        <p:spPr bwMode="auto">
          <a:xfrm>
            <a:off x="1158875" y="5422900"/>
            <a:ext cx="454025" cy="152400"/>
          </a:xfrm>
          <a:prstGeom prst="rect">
            <a:avLst/>
          </a:prstGeom>
          <a:noFill/>
          <a:ln>
            <a:noFill/>
          </a:ln>
          <a:effectLst/>
        </p:spPr>
        <p:txBody>
          <a:bodyPr vert="horz" wrap="none" lIns="0" tIns="0" rIns="0" bIns="0" rtlCol="0">
            <a:noAutofit/>
          </a:bodyPr>
          <a:p>
            <a:pPr marL="0" lvl="0" indent="0" algn="ctr">
              <a:spcBef>
                <a:spcPct val="0"/>
              </a:spcBef>
              <a:spcAft>
                <a:spcPct val="0"/>
              </a:spcAft>
              <a:buNone/>
            </a:pPr>
            <a:r>
              <a:rPr lang="en-US" altLang="en-US" sz="1000" smtClean="0"/>
              <a:t>FY2022</a:t>
            </a:r>
            <a:endParaRPr lang="en-US" sz="1000" dirty="0"/>
          </a:p>
        </p:txBody>
      </p:sp>
      <p:sp>
        <p:nvSpPr>
          <p:cNvPr id="819" name="Text Placeholder 25"/>
          <p:cNvSpPr>
            <a:spLocks/>
          </p:cNvSpPr>
          <p:nvPr/>
        </p:nvSpPr>
        <p:spPr bwMode="gray">
          <a:xfrm>
            <a:off x="8062913" y="2819400"/>
            <a:ext cx="217488" cy="152400"/>
          </a:xfrm>
          <a:prstGeom prst="rect">
            <a:avLst/>
          </a:prstGeom>
          <a:solidFill>
            <a:schemeClr val="accent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3%</a:t>
            </a:r>
            <a:endParaRPr lang="en-US" sz="1000" dirty="0">
              <a:solidFill>
                <a:schemeClr val="bg1"/>
              </a:solidFill>
            </a:endParaRPr>
          </a:p>
        </p:txBody>
      </p:sp>
      <p:sp>
        <p:nvSpPr>
          <p:cNvPr id="820" name="Text Placeholder 25"/>
          <p:cNvSpPr>
            <a:spLocks/>
          </p:cNvSpPr>
          <p:nvPr/>
        </p:nvSpPr>
        <p:spPr bwMode="gray">
          <a:xfrm>
            <a:off x="9166225" y="3381375"/>
            <a:ext cx="217488" cy="152400"/>
          </a:xfrm>
          <a:prstGeom prst="rect">
            <a:avLst/>
          </a:prstGeom>
          <a:solidFill>
            <a:schemeClr val="accent5"/>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a:t>
            </a:r>
            <a:endParaRPr lang="en-US" sz="1000" dirty="0"/>
          </a:p>
        </p:txBody>
      </p:sp>
      <p:sp>
        <p:nvSpPr>
          <p:cNvPr id="821" name="Text Placeholder 25"/>
          <p:cNvSpPr>
            <a:spLocks/>
          </p:cNvSpPr>
          <p:nvPr/>
        </p:nvSpPr>
        <p:spPr bwMode="gray">
          <a:xfrm>
            <a:off x="11104563" y="2752725"/>
            <a:ext cx="217488" cy="152400"/>
          </a:xfrm>
          <a:prstGeom prst="rect">
            <a:avLst/>
          </a:prstGeom>
          <a:solidFill>
            <a:schemeClr val="accent6"/>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2%</a:t>
            </a:r>
            <a:endParaRPr lang="en-US" sz="1000" dirty="0"/>
          </a:p>
        </p:txBody>
      </p:sp>
      <p:sp>
        <p:nvSpPr>
          <p:cNvPr id="825" name="Text Placeholder 25"/>
          <p:cNvSpPr>
            <a:spLocks/>
          </p:cNvSpPr>
          <p:nvPr/>
        </p:nvSpPr>
        <p:spPr bwMode="gray">
          <a:xfrm>
            <a:off x="1277938" y="3468688"/>
            <a:ext cx="217488" cy="152400"/>
          </a:xfrm>
          <a:prstGeom prst="rect">
            <a:avLst/>
          </a:prstGeom>
          <a:solidFill>
            <a:schemeClr val="accent6"/>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1%</a:t>
            </a:r>
            <a:endParaRPr lang="en-US" sz="1000" dirty="0"/>
          </a:p>
        </p:txBody>
      </p:sp>
      <p:sp>
        <p:nvSpPr>
          <p:cNvPr id="818" name="Text Placeholder 25"/>
          <p:cNvSpPr>
            <a:spLocks/>
          </p:cNvSpPr>
          <p:nvPr/>
        </p:nvSpPr>
        <p:spPr bwMode="gray">
          <a:xfrm>
            <a:off x="8197850" y="3063875"/>
            <a:ext cx="217488" cy="152400"/>
          </a:xfrm>
          <a:prstGeom prst="rect">
            <a:avLst/>
          </a:prstGeom>
          <a:solidFill>
            <a:schemeClr val="accent5"/>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a:t>
            </a:r>
            <a:endParaRPr lang="en-US" sz="1000" dirty="0"/>
          </a:p>
        </p:txBody>
      </p:sp>
      <p:sp>
        <p:nvSpPr>
          <p:cNvPr id="827" name="Text Placeholder 25"/>
          <p:cNvSpPr>
            <a:spLocks/>
          </p:cNvSpPr>
          <p:nvPr/>
        </p:nvSpPr>
        <p:spPr bwMode="gray">
          <a:xfrm>
            <a:off x="6259513" y="3201988"/>
            <a:ext cx="217488" cy="152400"/>
          </a:xfrm>
          <a:prstGeom prst="rect">
            <a:avLst/>
          </a:prstGeom>
          <a:solidFill>
            <a:schemeClr val="accent5"/>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a:t>
            </a:r>
            <a:endParaRPr lang="en-US" sz="1000" dirty="0"/>
          </a:p>
        </p:txBody>
      </p:sp>
      <p:sp>
        <p:nvSpPr>
          <p:cNvPr id="828" name="Text Placeholder 25"/>
          <p:cNvSpPr>
            <a:spLocks/>
          </p:cNvSpPr>
          <p:nvPr/>
        </p:nvSpPr>
        <p:spPr bwMode="gray">
          <a:xfrm>
            <a:off x="10836275" y="2689225"/>
            <a:ext cx="217488" cy="152400"/>
          </a:xfrm>
          <a:prstGeom prst="rect">
            <a:avLst/>
          </a:prstGeom>
          <a:solidFill>
            <a:schemeClr val="accent1"/>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3%</a:t>
            </a:r>
            <a:endParaRPr lang="en-US" sz="1000" dirty="0">
              <a:solidFill>
                <a:schemeClr val="bg1"/>
              </a:solidFill>
            </a:endParaRPr>
          </a:p>
        </p:txBody>
      </p:sp>
      <p:sp>
        <p:nvSpPr>
          <p:cNvPr id="838" name="Text Placeholder 25"/>
          <p:cNvSpPr>
            <a:spLocks/>
          </p:cNvSpPr>
          <p:nvPr/>
        </p:nvSpPr>
        <p:spPr bwMode="gray">
          <a:xfrm>
            <a:off x="1277938" y="4730750"/>
            <a:ext cx="217488" cy="152400"/>
          </a:xfrm>
          <a:prstGeom prst="rect">
            <a:avLst/>
          </a:prstGeom>
          <a:solidFill>
            <a:schemeClr val="accent3"/>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4%</a:t>
            </a:r>
            <a:endParaRPr lang="en-US" sz="1000" dirty="0">
              <a:solidFill>
                <a:schemeClr val="bg1"/>
              </a:solidFill>
            </a:endParaRPr>
          </a:p>
        </p:txBody>
      </p:sp>
      <p:sp>
        <p:nvSpPr>
          <p:cNvPr id="839" name="Text Placeholder 25"/>
          <p:cNvSpPr>
            <a:spLocks/>
          </p:cNvSpPr>
          <p:nvPr/>
        </p:nvSpPr>
        <p:spPr bwMode="gray">
          <a:xfrm>
            <a:off x="2247900" y="4867275"/>
            <a:ext cx="217488" cy="152400"/>
          </a:xfrm>
          <a:prstGeom prst="rect">
            <a:avLst/>
          </a:prstGeom>
          <a:solidFill>
            <a:schemeClr val="accent3"/>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solidFill>
                  <a:schemeClr val="bg1"/>
                </a:solidFill>
                <a:effectLst/>
              </a:rPr>
              <a:t>4%</a:t>
            </a:r>
            <a:endParaRPr lang="en-US" sz="1000" dirty="0">
              <a:solidFill>
                <a:schemeClr val="bg1"/>
              </a:solidFill>
            </a:endParaRPr>
          </a:p>
        </p:txBody>
      </p:sp>
      <p:sp>
        <p:nvSpPr>
          <p:cNvPr id="826" name="Text Placeholder 25"/>
          <p:cNvSpPr>
            <a:spLocks/>
          </p:cNvSpPr>
          <p:nvPr/>
        </p:nvSpPr>
        <p:spPr bwMode="gray">
          <a:xfrm>
            <a:off x="3082925" y="2924175"/>
            <a:ext cx="217488" cy="152400"/>
          </a:xfrm>
          <a:prstGeom prst="rect">
            <a:avLst/>
          </a:prstGeom>
          <a:solidFill>
            <a:schemeClr val="accent6"/>
          </a:solidFill>
          <a:ln>
            <a:noFill/>
          </a:ln>
          <a:effectLst/>
        </p:spPr>
        <p:txBody>
          <a:bodyPr vert="horz" wrap="none" lIns="17463" tIns="0" rIns="17463" bIns="0" rtlCol="0" anchor="ctr">
            <a:noAutofit/>
          </a:bodyPr>
          <a:p>
            <a:pPr marL="0" lvl="0" indent="0" algn="ctr">
              <a:spcBef>
                <a:spcPct val="0"/>
              </a:spcBef>
              <a:spcAft>
                <a:spcPct val="0"/>
              </a:spcAft>
              <a:buNone/>
            </a:pPr>
            <a:r>
              <a:rPr lang="en-US" altLang="en-US" sz="1000" smtClean="0">
                <a:effectLst/>
              </a:rPr>
              <a:t>0%</a:t>
            </a:r>
            <a:endParaRPr lang="en-US" sz="1000" dirty="0"/>
          </a:p>
        </p:txBody>
      </p:sp>
      <p:sp>
        <p:nvSpPr>
          <p:cNvPr id="742" name="Rectangle 441"/>
          <p:cNvSpPr/>
          <p:nvPr/>
        </p:nvSpPr>
        <p:spPr bwMode="auto">
          <a:xfrm>
            <a:off x="6550025" y="1500188"/>
            <a:ext cx="179388" cy="133350"/>
          </a:xfrm>
          <a:prstGeom prst="rect">
            <a:avLst/>
          </a:prstGeom>
          <a:solidFill>
            <a:schemeClr val="accent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 name="Rectangle 442"/>
          <p:cNvSpPr/>
          <p:nvPr/>
        </p:nvSpPr>
        <p:spPr bwMode="auto">
          <a:xfrm>
            <a:off x="6550025" y="1703388"/>
            <a:ext cx="179388" cy="133350"/>
          </a:xfrm>
          <a:prstGeom prst="rect">
            <a:avLst/>
          </a:prstGeom>
          <a:solidFill>
            <a:schemeClr val="accent2"/>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Rectangle 443"/>
          <p:cNvSpPr/>
          <p:nvPr/>
        </p:nvSpPr>
        <p:spPr bwMode="auto">
          <a:xfrm>
            <a:off x="6550025" y="1906588"/>
            <a:ext cx="179388" cy="133350"/>
          </a:xfrm>
          <a:prstGeom prst="rect">
            <a:avLst/>
          </a:prstGeom>
          <a:solidFill>
            <a:schemeClr val="accent3"/>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5" name="Rectangle 444"/>
          <p:cNvSpPr/>
          <p:nvPr/>
        </p:nvSpPr>
        <p:spPr bwMode="auto">
          <a:xfrm>
            <a:off x="8818563" y="1500188"/>
            <a:ext cx="179388" cy="133350"/>
          </a:xfrm>
          <a:prstGeom prst="rect">
            <a:avLst/>
          </a:prstGeom>
          <a:solidFill>
            <a:schemeClr val="accent4"/>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6" name="Rectangle 445"/>
          <p:cNvSpPr/>
          <p:nvPr/>
        </p:nvSpPr>
        <p:spPr bwMode="auto">
          <a:xfrm>
            <a:off x="8818563" y="1906588"/>
            <a:ext cx="179388" cy="133350"/>
          </a:xfrm>
          <a:prstGeom prst="rect">
            <a:avLst/>
          </a:prstGeom>
          <a:solidFill>
            <a:schemeClr val="accent6"/>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7" name="Rectangle 446"/>
          <p:cNvSpPr/>
          <p:nvPr/>
        </p:nvSpPr>
        <p:spPr bwMode="auto">
          <a:xfrm>
            <a:off x="10461625" y="1500188"/>
            <a:ext cx="179388" cy="133350"/>
          </a:xfrm>
          <a:prstGeom prst="rect">
            <a:avLst/>
          </a:prstGeom>
          <a:solidFill>
            <a:schemeClr val="accent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Rectangle 448"/>
          <p:cNvSpPr/>
          <p:nvPr/>
        </p:nvSpPr>
        <p:spPr bwMode="auto">
          <a:xfrm>
            <a:off x="10461625" y="1703388"/>
            <a:ext cx="179388" cy="133350"/>
          </a:xfrm>
          <a:prstGeom prst="rect">
            <a:avLst/>
          </a:prstGeom>
          <a:pattFill prst="ltUpDiag">
            <a:fgClr>
              <a:schemeClr val="tx1"/>
            </a:fgClr>
            <a:bgClr>
              <a:schemeClr val="bg1"/>
            </a:bgClr>
          </a:patt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Rectangle 503"/>
          <p:cNvSpPr/>
          <p:nvPr/>
        </p:nvSpPr>
        <p:spPr bwMode="auto">
          <a:xfrm>
            <a:off x="8818563" y="1703388"/>
            <a:ext cx="179388" cy="133350"/>
          </a:xfrm>
          <a:prstGeom prst="rect">
            <a:avLst/>
          </a:prstGeom>
          <a:solidFill>
            <a:schemeClr val="accent5"/>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Text Placeholder 25"/>
          <p:cNvSpPr>
            <a:spLocks/>
          </p:cNvSpPr>
          <p:nvPr/>
        </p:nvSpPr>
        <p:spPr bwMode="auto">
          <a:xfrm>
            <a:off x="10691813" y="1495425"/>
            <a:ext cx="1220788"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Castings and forgings</a:t>
            </a:r>
            <a:endParaRPr lang="en-US" sz="1000" dirty="0"/>
          </a:p>
        </p:txBody>
      </p:sp>
      <p:sp>
        <p:nvSpPr>
          <p:cNvPr id="678" name="Text Placeholder 25"/>
          <p:cNvSpPr>
            <a:spLocks/>
          </p:cNvSpPr>
          <p:nvPr/>
        </p:nvSpPr>
        <p:spPr bwMode="auto">
          <a:xfrm>
            <a:off x="6780213" y="1495425"/>
            <a:ext cx="1138238"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Electrical and power</a:t>
            </a:r>
            <a:endParaRPr lang="en-US" sz="1000" dirty="0"/>
          </a:p>
        </p:txBody>
      </p:sp>
      <p:sp>
        <p:nvSpPr>
          <p:cNvPr id="679" name="Text Placeholder 25"/>
          <p:cNvSpPr>
            <a:spLocks/>
          </p:cNvSpPr>
          <p:nvPr/>
        </p:nvSpPr>
        <p:spPr bwMode="auto">
          <a:xfrm>
            <a:off x="6780213" y="1698625"/>
            <a:ext cx="1473200"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Piping, valves, and pumps</a:t>
            </a:r>
            <a:endParaRPr lang="en-US" sz="1000" dirty="0"/>
          </a:p>
        </p:txBody>
      </p:sp>
      <p:sp>
        <p:nvSpPr>
          <p:cNvPr id="680" name="Text Placeholder 25"/>
          <p:cNvSpPr>
            <a:spLocks/>
          </p:cNvSpPr>
          <p:nvPr/>
        </p:nvSpPr>
        <p:spPr bwMode="auto">
          <a:xfrm>
            <a:off x="6780213" y="1901825"/>
            <a:ext cx="1936750"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Structural fabrication and pre-outfit</a:t>
            </a:r>
            <a:endParaRPr lang="en-US" sz="1000" dirty="0"/>
          </a:p>
        </p:txBody>
      </p:sp>
      <p:sp>
        <p:nvSpPr>
          <p:cNvPr id="694" name="Text Placeholder 25"/>
          <p:cNvSpPr>
            <a:spLocks/>
          </p:cNvSpPr>
          <p:nvPr/>
        </p:nvSpPr>
        <p:spPr bwMode="auto">
          <a:xfrm>
            <a:off x="9048750" y="1495425"/>
            <a:ext cx="576263"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Machining</a:t>
            </a:r>
            <a:endParaRPr lang="en-US" sz="1000" dirty="0"/>
          </a:p>
        </p:txBody>
      </p:sp>
      <p:sp>
        <p:nvSpPr>
          <p:cNvPr id="695" name="Text Placeholder 25"/>
          <p:cNvSpPr>
            <a:spLocks/>
          </p:cNvSpPr>
          <p:nvPr/>
        </p:nvSpPr>
        <p:spPr bwMode="auto">
          <a:xfrm>
            <a:off x="9048750" y="1901825"/>
            <a:ext cx="1311275"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Coatings and insulation</a:t>
            </a:r>
            <a:endParaRPr lang="en-US" sz="1000" dirty="0"/>
          </a:p>
        </p:txBody>
      </p:sp>
      <p:sp>
        <p:nvSpPr>
          <p:cNvPr id="698" name="Text Placeholder 25"/>
          <p:cNvSpPr>
            <a:spLocks/>
          </p:cNvSpPr>
          <p:nvPr/>
        </p:nvSpPr>
        <p:spPr bwMode="auto">
          <a:xfrm>
            <a:off x="10691813" y="1698625"/>
            <a:ext cx="492125"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Residual</a:t>
            </a:r>
            <a:endParaRPr lang="en-US" sz="1000" dirty="0"/>
          </a:p>
        </p:txBody>
      </p:sp>
      <p:sp>
        <p:nvSpPr>
          <p:cNvPr id="796" name="Text Placeholder 25"/>
          <p:cNvSpPr>
            <a:spLocks/>
          </p:cNvSpPr>
          <p:nvPr/>
        </p:nvSpPr>
        <p:spPr bwMode="auto">
          <a:xfrm>
            <a:off x="9048750" y="1698625"/>
            <a:ext cx="1200150" cy="152400"/>
          </a:xfrm>
          <a:prstGeom prst="rect">
            <a:avLst/>
          </a:prstGeom>
          <a:noFill/>
          <a:ln>
            <a:noFill/>
          </a:ln>
          <a:effectLst/>
        </p:spPr>
        <p:txBody>
          <a:bodyPr vert="horz" wrap="none" lIns="0" tIns="0" rIns="0" bIns="0" rtlCol="0" anchor="ctr">
            <a:noAutofit/>
          </a:bodyPr>
          <a:p>
            <a:pPr marL="0" lvl="0" indent="0">
              <a:spcBef>
                <a:spcPct val="0"/>
              </a:spcBef>
              <a:spcAft>
                <a:spcPct val="0"/>
              </a:spcAft>
              <a:buNone/>
            </a:pPr>
            <a:r>
              <a:rPr lang="en-US" altLang="en-US" sz="1000" smtClean="0"/>
              <a:t>HVAC and ventilation</a:t>
            </a:r>
            <a:endParaRPr lang="en-US" sz="1000" dirty="0"/>
          </a:p>
        </p:txBody>
      </p:sp>
      <p:sp>
        <p:nvSpPr>
          <p:cNvPr id="776" name="ProgramChip"/>
          <p:cNvSpPr txBox="1"/>
          <p:nvPr/>
        </p:nvSpPr>
        <p:spPr>
          <a:xfrm>
            <a:off x="1812810" y="5701502"/>
            <a:ext cx="1900000" cy="198347"/>
          </a:xfrm>
          <a:prstGeom prst="rect">
            <a:avLst/>
          </a:prstGeom>
          <a:noFill/>
          <a:ln w="12700">
            <a:noFill/>
          </a:ln>
        </p:spPr>
        <p:txBody>
          <a:bodyPr wrap="square" lIns="0" tIns="0" rIns="0" bIns="0" anchor="ctr"/>
          <a:lstStyle/>
          <a:p>
            <a:pPr algn="ctr">
              <a:lnSpc>
                <a:spcPct val="115000"/>
              </a:lnSpc>
              <a:buNone/>
            </a:pPr>
            <a:r>
              <a:rPr lang="en-US" sz="1200" i="1" dirty="0">
                <a:solidFill>
                  <a:srgbClr val="000000"/>
                </a:solidFill>
                <a:latin typeface="Arial"/>
                <a:ea typeface="Arial"/>
                <a:cs typeface="Arial"/>
              </a:rPr>
              <a:t>DDG-51</a:t>
            </a:r>
          </a:p>
        </p:txBody>
      </p:sp>
      <p:sp>
        <p:nvSpPr>
          <p:cNvPr id="777" name="ProgramChip"/>
          <p:cNvSpPr txBox="1"/>
          <p:nvPr/>
        </p:nvSpPr>
        <p:spPr>
          <a:xfrm>
            <a:off x="6852444" y="5701502"/>
            <a:ext cx="1900000" cy="198347"/>
          </a:xfrm>
          <a:prstGeom prst="rect">
            <a:avLst/>
          </a:prstGeom>
          <a:noFill/>
          <a:ln w="12700">
            <a:noFill/>
          </a:ln>
        </p:spPr>
        <p:txBody>
          <a:bodyPr wrap="square" lIns="0" tIns="0" rIns="0" bIns="0" anchor="ctr"/>
          <a:lstStyle/>
          <a:p>
            <a:pPr algn="ctr">
              <a:lnSpc>
                <a:spcPct val="115000"/>
              </a:lnSpc>
              <a:buNone/>
            </a:pPr>
            <a:r>
              <a:rPr lang="en-US" sz="1200" i="1" dirty="0">
                <a:solidFill>
                  <a:srgbClr val="000000"/>
                </a:solidFill>
                <a:latin typeface="Arial"/>
                <a:ea typeface="Arial"/>
                <a:cs typeface="Arial"/>
              </a:rPr>
              <a:t>Virginia</a:t>
            </a:r>
            <a:r>
              <a:rPr lang="en-US" sz="1200" dirty="0">
                <a:solidFill>
                  <a:srgbClr val="000000"/>
                </a:solidFill>
                <a:latin typeface="Arial"/>
                <a:ea typeface="Arial"/>
                <a:cs typeface="Arial"/>
              </a:rPr>
              <a:t>-class</a:t>
            </a:r>
            <a:endParaRPr lang="en-US" sz="1200" i="1" dirty="0">
              <a:solidFill>
                <a:srgbClr val="000000"/>
              </a:solidFill>
              <a:latin typeface="Arial"/>
              <a:ea typeface="Arial"/>
              <a:cs typeface="Arial"/>
            </a:endParaRPr>
          </a:p>
        </p:txBody>
      </p:sp>
      <p:sp>
        <p:nvSpPr>
          <p:cNvPr id="778" name="ProgramChip"/>
          <p:cNvSpPr txBox="1"/>
          <p:nvPr/>
        </p:nvSpPr>
        <p:spPr>
          <a:xfrm>
            <a:off x="10136307" y="5701502"/>
            <a:ext cx="1900000" cy="198347"/>
          </a:xfrm>
          <a:prstGeom prst="rect">
            <a:avLst/>
          </a:prstGeom>
          <a:noFill/>
          <a:ln w="12700">
            <a:noFill/>
          </a:ln>
        </p:spPr>
        <p:txBody>
          <a:bodyPr wrap="square" lIns="0" tIns="0" rIns="0" bIns="0" anchor="ctr"/>
          <a:lstStyle/>
          <a:p>
            <a:pPr algn="ctr">
              <a:lnSpc>
                <a:spcPct val="115000"/>
              </a:lnSpc>
              <a:buNone/>
            </a:pPr>
            <a:r>
              <a:rPr lang="en-US" sz="1200" i="1" dirty="0">
                <a:solidFill>
                  <a:srgbClr val="000000"/>
                </a:solidFill>
                <a:latin typeface="Arial"/>
                <a:ea typeface="Arial"/>
                <a:cs typeface="Arial"/>
              </a:rPr>
              <a:t>Columbia</a:t>
            </a:r>
            <a:r>
              <a:rPr lang="en-US" sz="1200" dirty="0">
                <a:solidFill>
                  <a:srgbClr val="000000"/>
                </a:solidFill>
                <a:latin typeface="Arial"/>
                <a:ea typeface="Arial"/>
                <a:cs typeface="Arial"/>
              </a:rPr>
              <a:t>-class</a:t>
            </a:r>
            <a:endParaRPr lang="en-US" sz="1200" i="1" dirty="0">
              <a:solidFill>
                <a:srgbClr val="000000"/>
              </a:solidFill>
              <a:latin typeface="Arial"/>
              <a:ea typeface="Arial"/>
              <a:cs typeface="Arial"/>
            </a:endParaRPr>
          </a:p>
        </p:txBody>
      </p:sp>
      <p:sp>
        <p:nvSpPr>
          <p:cNvPr id="841" name="ExhibitHeader"/>
          <p:cNvSpPr txBox="1"/>
          <p:nvPr/>
        </p:nvSpPr>
        <p:spPr>
          <a:xfrm>
            <a:off x="453079" y="1789769"/>
            <a:ext cx="5674671" cy="205719"/>
          </a:xfrm>
          <a:prstGeom prst="rect">
            <a:avLst/>
          </a:prstGeom>
          <a:noFill/>
          <a:ln>
            <a:noFill/>
          </a:ln>
        </p:spPr>
        <p:txBody>
          <a:bodyPr wrap="square" lIns="0" tIns="0" rIns="0" bIns="0" anchor="b"/>
          <a:lstStyle/>
          <a:p>
            <a:pPr>
              <a:lnSpc>
                <a:spcPct val="115000"/>
              </a:lnSpc>
              <a:buNone/>
            </a:pPr>
            <a:r>
              <a:rPr lang="en-US" sz="1000" b="1" dirty="0">
                <a:solidFill>
                  <a:srgbClr val="000000"/>
                </a:solidFill>
                <a:latin typeface="Arial"/>
                <a:ea typeface="Arial"/>
                <a:cs typeface="Arial"/>
              </a:rPr>
              <a:t>Outsourced Basic Construction TAM by Work Type ($B per year, FY22-FY25, FY26 $)</a:t>
            </a:r>
          </a:p>
        </p:txBody>
      </p:sp>
      <p:sp>
        <p:nvSpPr>
          <p:cNvPr id="844" name="Sources"/>
          <p:cNvSpPr txBox="1"/>
          <p:nvPr/>
        </p:nvSpPr>
        <p:spPr>
          <a:xfrm>
            <a:off x="453079" y="6082401"/>
            <a:ext cx="11282362" cy="400950"/>
          </a:xfrm>
          <a:prstGeom prst="rect">
            <a:avLst/>
          </a:prstGeom>
          <a:noFill/>
          <a:ln>
            <a:noFill/>
          </a:ln>
        </p:spPr>
        <p:txBody>
          <a:bodyPr wrap="square" lIns="91440" tIns="45720" rIns="91440" bIns="45720" anchor="t"/>
          <a:lstStyle/>
          <a:p>
            <a:r>
              <a:rPr lang="en-US" sz="800" kern="1200" dirty="0">
                <a:solidFill>
                  <a:srgbClr val="162029"/>
                </a:solidFill>
                <a:latin typeface="Arial"/>
                <a:ea typeface="Arial"/>
                <a:cs typeface="Arial"/>
              </a:rPr>
              <a:t>Sources: Navy SCN P-5c / P-40 budget justification, FY22–FY27, and PB27 FYDP outyears (FY28–FY31); FY26, PL 119-21 Sec. 20002; PB27 SCN, Columbia P-10 Strategic Outsourcing narrative; OUSD(C) Green Book Procurement deflators; Navy Shipbuilding Plan; PB27 SCN Exhibit P-10, LI 2122 (AP/LLTM Ship Construction EOQ); FFATA/FSRS subaward records, yard-prime construction PIIDs, FY22–FY25 action years (work-type shares)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3" name="Table 12"/>
          <p:cNvGraphicFramePr>
            <a:graphicFrameLocks noGrp="1"/>
          </p:cNvGraphicFramePr>
          <p:nvPr/>
        </p:nvGraphicFramePr>
        <p:xfrm>
          <a:off x="452818" y="1496364"/>
          <a:ext cx="11315609" cy="3686288"/>
        </p:xfrm>
        <a:graphic>
          <a:graphicData uri="http://schemas.openxmlformats.org/drawingml/2006/table">
            <a:tbl>
              <a:tblPr firstRow="1" bandRow="1">
                <a:tableStyleId>{2D5ABB26-0587-4C30-8999-92F81FD0307C}</a:tableStyleId>
              </a:tblPr>
              <a:tblGrid>
                <a:gridCol w="1046044"/>
                <a:gridCol w="1155037"/>
                <a:gridCol w="1310325"/>
                <a:gridCol w="2173146"/>
                <a:gridCol w="1877019"/>
                <a:gridCol w="1877019"/>
                <a:gridCol w="1877019"/>
              </a:tblGrid>
              <a:tr h="265140">
                <a:tc>
                  <a:txBody>
                    <a:bodyPr/>
                    <a:lstStyle/>
                    <a:p>
                      <a:pPr algn="ctr"/>
                      <a:r>
                        <a:rPr lang="en-US" sz="1200" b="1"/>
                        <a:t>Platform</a:t>
                      </a:r>
                    </a:p>
                  </a:txBody>
                  <a:tcPr>
                    <a:lnT w="6350" cap="flat" cmpd="sng" algn="ctr">
                      <a:noFill/>
                      <a:prstDash val="solid"/>
                      <a:round/>
                      <a:headEnd type="none" w="med" len="med"/>
                      <a:tailEnd type="none" w="med" len="med"/>
                    </a:lnT>
                  </a:tcPr>
                </a:tc>
                <a:tc>
                  <a:txBody>
                    <a:bodyPr/>
                    <a:lstStyle/>
                    <a:p>
                      <a:pPr algn="ctr"/>
                      <a:r>
                        <a:rPr lang="en-US" sz="1200" b="1"/>
                        <a:t>Contract</a:t>
                      </a:r>
                    </a:p>
                  </a:txBody>
                  <a:tcPr>
                    <a:lnT w="6350" cap="flat" cmpd="sng" algn="ctr">
                      <a:noFill/>
                      <a:prstDash val="solid"/>
                      <a:round/>
                      <a:headEnd type="none" w="med" len="med"/>
                      <a:tailEnd type="none" w="med" len="med"/>
                    </a:lnT>
                  </a:tcPr>
                </a:tc>
                <a:tc>
                  <a:txBody>
                    <a:bodyPr/>
                    <a:lstStyle/>
                    <a:p>
                      <a:pPr algn="ctr"/>
                      <a:r>
                        <a:rPr lang="en-US" sz="1200" b="1"/>
                        <a:t>Amount</a:t>
                      </a:r>
                    </a:p>
                  </a:txBody>
                  <a:tcPr>
                    <a:lnT w="6350" cap="flat" cmpd="sng" algn="ctr">
                      <a:noFill/>
                      <a:prstDash val="solid"/>
                      <a:round/>
                      <a:headEnd type="none" w="med" len="med"/>
                      <a:tailEnd type="none" w="med" len="med"/>
                    </a:lnT>
                  </a:tcPr>
                </a:tc>
                <a:tc>
                  <a:txBody>
                    <a:bodyPr/>
                    <a:lstStyle/>
                    <a:p>
                      <a:pPr algn="ctr"/>
                      <a:r>
                        <a:rPr lang="en-US" sz="1200" b="1"/>
                        <a:t>Details</a:t>
                      </a:r>
                    </a:p>
                  </a:txBody>
                  <a:tcPr>
                    <a:lnT w="6350" cap="flat" cmpd="sng" algn="ctr">
                      <a:noFill/>
                      <a:prstDash val="solid"/>
                      <a:round/>
                      <a:headEnd type="none" w="med" len="med"/>
                      <a:tailEnd type="none" w="med" len="med"/>
                    </a:lnT>
                  </a:tcPr>
                </a:tc>
                <a:tc>
                  <a:txBody>
                    <a:bodyPr/>
                    <a:lstStyle/>
                    <a:p>
                      <a:pPr algn="ctr">
                        <a:defRPr sz="1000"/>
                      </a:pPr>
                      <a:r>
                        <a:rPr lang="en-US" sz="1200" b="1" u="none">
                          <a:solidFill>
                            <a:srgbClr val="000000"/>
                          </a:solidFill>
                          <a:latin typeface="+mj-lt"/>
                          <a:ea typeface="Inter" panose="02000503000000020004" pitchFamily="2" charset="0"/>
                        </a:rPr>
                        <a:t>Recompete Date</a:t>
                      </a:r>
                      <a:endParaRPr lang="en-US" sz="1200" b="0" u="none">
                        <a:solidFill>
                          <a:srgbClr val="000000"/>
                        </a:solidFill>
                        <a:latin typeface="+mj-lt"/>
                        <a:ea typeface="Inter" panose="02000503000000020004" pitchFamily="2" charset="0"/>
                      </a:endParaRPr>
                    </a:p>
                  </a:txBody>
                  <a:tcPr marL="45720" marR="45720" anchor="b">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150"/>
                        </a:spcBef>
                        <a:spcAft>
                          <a:spcPts val="150"/>
                        </a:spcAft>
                      </a:pPr>
                      <a:r>
                        <a:rPr lang="en-US" sz="1200" b="1" u="none">
                          <a:solidFill>
                            <a:srgbClr val="000000"/>
                          </a:solidFill>
                          <a:latin typeface="+mj-lt"/>
                        </a:rPr>
                        <a:t>Current Player</a:t>
                      </a:r>
                      <a:endParaRPr lang="en-US" sz="1200" b="0" i="1" u="none">
                        <a:solidFill>
                          <a:srgbClr val="000000"/>
                        </a:solidFill>
                        <a:latin typeface="+mj-lt"/>
                      </a:endParaRP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lang="en-US" sz="1200" b="1" u="none">
                          <a:solidFill>
                            <a:srgbClr val="000000"/>
                          </a:solidFill>
                          <a:latin typeface="+mj-lt"/>
                        </a:rPr>
                        <a:t>Budget Alignment</a:t>
                      </a:r>
                      <a:endParaRPr lang="en-US" sz="1200" b="0" u="none">
                        <a:solidFill>
                          <a:srgbClr val="000000"/>
                        </a:solidFill>
                        <a:latin typeface="+mj-lt"/>
                      </a:endParaRP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r>
              <a:tr h="426496">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Platform 1</a:t>
                      </a:r>
                    </a:p>
                  </a:txBody>
                  <a:tcPr marL="45720" marR="45720">
                    <a:lnL w="12700" cap="flat" cmpd="sng" algn="ctr">
                      <a:noFill/>
                      <a:prstDash val="solid"/>
                      <a:round/>
                      <a:headEnd type="none" w="med" len="med"/>
                      <a:tailEnd type="none" w="med" len="med"/>
                    </a:lnL>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1</a:t>
                      </a:r>
                    </a:p>
                  </a:txBody>
                  <a:tcPr marL="45720" marR="45720">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A</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chemeClr val="bg1"/>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B8A57"/>
                    </a:solidFill>
                  </a:tcPr>
                </a:tc>
              </a:tr>
              <a:tr h="4264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endParaRPr>
                    </a:p>
                  </a:txBody>
                  <a:tcPr marL="45720" marR="45720" anchor="ctr">
                    <a:lnL w="12700" cap="flat" cmpd="sng" algn="ctr">
                      <a:noFill/>
                      <a:prstDash val="solid"/>
                      <a:round/>
                      <a:headEnd type="none" w="med" len="med"/>
                      <a:tailEnd type="none" w="med" len="med"/>
                    </a:lnL>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2</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B</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FBFBF"/>
                    </a:solidFill>
                  </a:tcPr>
                </a:tc>
              </a:tr>
              <a:tr h="4264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endParaRPr>
                    </a:p>
                  </a:txBody>
                  <a:tcPr marL="45720" marR="45720" anchor="ctr">
                    <a:lnL w="12700" cap="flat" cmpd="sng" algn="ctr">
                      <a:noFill/>
                      <a:prstDash val="solid"/>
                      <a:round/>
                      <a:headEnd type="none" w="med" len="med"/>
                      <a:tailEnd type="none" w="med" len="med"/>
                    </a:lnL>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3</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C</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chemeClr val="bg1"/>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33124"/>
                    </a:solidFill>
                  </a:tcPr>
                </a:tc>
              </a:tr>
              <a:tr h="4264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endParaRPr>
                    </a:p>
                  </a:txBody>
                  <a:tcPr marL="45720" marR="45720">
                    <a:lnL w="12700" cap="flat" cmpd="sng" algn="ctr">
                      <a:noFill/>
                      <a:prstDash val="solid"/>
                      <a:round/>
                      <a:headEnd type="none" w="med" len="med"/>
                      <a:tailEnd type="none" w="med" len="med"/>
                    </a:lnL>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4</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D</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chemeClr val="bg1"/>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33124"/>
                    </a:solidFill>
                  </a:tcPr>
                </a:tc>
              </a:tr>
              <a:tr h="426496">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Platform 2</a:t>
                      </a:r>
                    </a:p>
                  </a:txBody>
                  <a:tcPr marL="45720" marR="45720">
                    <a:lnL w="12700" cap="flat" cmpd="sng" algn="ctr">
                      <a:noFill/>
                      <a:prstDash val="solid"/>
                      <a:round/>
                      <a:headEnd type="none" w="med" len="med"/>
                      <a:tailEnd type="none" w="med" len="med"/>
                    </a:lnL>
                    <a:lnT w="6350" cap="flat" cmpd="sng" algn="ctr">
                      <a:solidFill>
                        <a:srgbClr val="80808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1</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E</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chemeClr val="bg1"/>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B8A57"/>
                    </a:solidFill>
                  </a:tcPr>
                </a:tc>
              </a:tr>
              <a:tr h="4264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endParaRPr>
                    </a:p>
                  </a:txBody>
                  <a:tcPr marL="45720" marR="45720" anchor="ctr">
                    <a:lnL w="12700" cap="flat" cmpd="sng" algn="ctr">
                      <a:noFill/>
                      <a:prstDash val="solid"/>
                      <a:round/>
                      <a:headEnd type="none" w="med" len="med"/>
                      <a:tailEnd type="none" w="med" len="med"/>
                    </a:lnL>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2</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F</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chemeClr val="bg1"/>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B8A57"/>
                    </a:solidFill>
                  </a:tcPr>
                </a:tc>
              </a:tr>
              <a:tr h="4264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endParaRPr>
                    </a:p>
                  </a:txBody>
                  <a:tcPr marL="45720" marR="45720" anchor="ctr">
                    <a:lnL w="12700" cap="flat" cmpd="sng" algn="ctr">
                      <a:noFill/>
                      <a:prstDash val="solid"/>
                      <a:round/>
                      <a:headEnd type="none" w="med" len="med"/>
                      <a:tailEnd type="none" w="med" len="med"/>
                    </a:lnL>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3</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G</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FBFBF"/>
                    </a:solidFill>
                  </a:tcPr>
                </a:tc>
              </a:tr>
              <a:tr h="4264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endParaRPr>
                    </a:p>
                  </a:txBody>
                  <a:tcPr marL="45720" marR="45720">
                    <a:lnL w="12700" cap="flat" cmpd="sng" algn="ctr">
                      <a:noFill/>
                      <a:prstDash val="solid"/>
                      <a:round/>
                      <a:headEnd type="none" w="med" len="med"/>
                      <a:tailEnd type="none" w="med" len="med"/>
                    </a:lnL>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1"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Contract 4</a:t>
                      </a:r>
                    </a:p>
                  </a:txBody>
                  <a:tcPr marL="45720" marR="45720">
                    <a:lnT w="6350" cap="flat" cmpd="sng" algn="ctr">
                      <a:solidFill>
                        <a:srgbClr val="80808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0"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$###M</a:t>
                      </a:r>
                    </a:p>
                  </a:txBody>
                  <a:tcPr marL="45720" marR="45720">
                    <a:lnT w="6350" cap="flat" cmpd="sng" algn="ctr">
                      <a:solidFill>
                        <a:srgbClr val="80808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a:t>
                      </a:r>
                    </a:p>
                  </a:txBody>
                  <a:tcPr marL="45720" marR="45720">
                    <a:lnT w="6350" cap="flat" cmpd="sng" algn="ctr">
                      <a:solidFill>
                        <a:srgbClr val="80808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Inter" panose="02000503000000020004" pitchFamily="2" charset="0"/>
                          <a:cs typeface="+mn-cs"/>
                        </a:rPr>
                        <a:t> ## / ## / 202#</a:t>
                      </a:r>
                    </a:p>
                  </a:txBody>
                  <a:tcPr marL="45720" marR="45720">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Bef>
                          <a:spcPts val="150"/>
                        </a:spcBef>
                        <a:spcAft>
                          <a:spcPts val="150"/>
                        </a:spcAft>
                      </a:pPr>
                      <a:r>
                        <a:rPr lang="en-US" sz="1200" b="0" i="1">
                          <a:solidFill>
                            <a:srgbClr val="000000"/>
                          </a:solidFill>
                          <a:latin typeface="+mj-lt"/>
                        </a:rPr>
                        <a:t>Player H</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000"/>
                      </a:pPr>
                      <a:r>
                        <a:rPr kumimoji="0" lang="en-US" sz="1200" b="0" i="1" u="none" strike="noStrike" kern="1200" cap="none" spc="0" normalizeH="0" baseline="0" noProof="0">
                          <a:ln>
                            <a:noFill/>
                          </a:ln>
                          <a:solidFill>
                            <a:srgbClr val="000000"/>
                          </a:solidFill>
                          <a:effectLst/>
                          <a:uLnTx/>
                          <a:uFillTx/>
                          <a:latin typeface="Arial" panose="020B0604020202020204"/>
                          <a:ea typeface="+mn-ea"/>
                          <a:cs typeface="+mn-cs"/>
                        </a:rPr>
                        <a:t>Description</a:t>
                      </a:r>
                    </a:p>
                  </a:txBody>
                  <a:tcPr marL="45720" marR="4572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FBFBF"/>
                    </a:solidFill>
                  </a:tcPr>
                </a:tc>
              </a:tr>
            </a:tbl>
          </a:graphicData>
        </a:graphic>
      </p:graphicFrame>
      <p:sp>
        <p:nvSpPr>
          <p:cNvPr id="305" name="Text 2"/>
          <p:cNvSpPr/>
          <p:nvPr/>
        </p:nvSpPr>
        <p:spPr>
          <a:xfrm>
            <a:off x="7955280" y="1203152"/>
            <a:ext cx="944880" cy="164880"/>
          </a:xfrm>
          <a:prstGeom prst="rect">
            <a:avLst/>
          </a:prstGeom>
          <a:noFill/>
          <a:ln/>
        </p:spPr>
        <p:txBody>
          <a:bodyPr wrap="square" lIns="0" tIns="0" rIns="0" bIns="0" rtlCol="0" anchor="ctr"/>
          <a:lstStyle/>
          <a:p>
            <a:r>
              <a:rPr lang="en-US" sz="800" i="1">
                <a:solidFill>
                  <a:srgbClr val="000000"/>
                </a:solidFill>
                <a:latin typeface="+mj-lt"/>
                <a:ea typeface="Calibri" pitchFamily="34" charset="-122"/>
                <a:cs typeface="Calibri" pitchFamily="34" charset="-120"/>
              </a:rPr>
              <a:t>Budget outlook:	</a:t>
            </a:r>
            <a:endParaRPr lang="en-US" sz="800" i="1">
              <a:solidFill>
                <a:srgbClr val="000000"/>
              </a:solidFill>
              <a:latin typeface="+mj-lt"/>
            </a:endParaRPr>
          </a:p>
        </p:txBody>
      </p:sp>
      <p:sp>
        <p:nvSpPr>
          <p:cNvPr id="306" name="Shape 3"/>
          <p:cNvSpPr/>
          <p:nvPr/>
        </p:nvSpPr>
        <p:spPr>
          <a:xfrm>
            <a:off x="8927592" y="1203152"/>
            <a:ext cx="539496" cy="164880"/>
          </a:xfrm>
          <a:prstGeom prst="rect">
            <a:avLst/>
          </a:prstGeom>
          <a:solidFill>
            <a:srgbClr val="1B8A57"/>
          </a:solidFill>
          <a:ln/>
        </p:spPr>
        <p:txBody>
          <a:bodyPr/>
          <a:lstStyle/>
          <a:p>
            <a:endParaRPr lang="en-US" sz="800">
              <a:latin typeface="+mj-lt"/>
            </a:endParaRPr>
          </a:p>
        </p:txBody>
      </p:sp>
      <p:sp>
        <p:nvSpPr>
          <p:cNvPr id="307" name="Text 4"/>
          <p:cNvSpPr/>
          <p:nvPr/>
        </p:nvSpPr>
        <p:spPr>
          <a:xfrm>
            <a:off x="8927592" y="1203152"/>
            <a:ext cx="539496" cy="164880"/>
          </a:xfrm>
          <a:prstGeom prst="rect">
            <a:avLst/>
          </a:prstGeom>
          <a:noFill/>
          <a:ln/>
        </p:spPr>
        <p:txBody>
          <a:bodyPr wrap="square" lIns="0" tIns="0" rIns="0" bIns="0" rtlCol="0" anchor="ctr"/>
          <a:lstStyle/>
          <a:p>
            <a:pPr algn="ctr"/>
            <a:r>
              <a:rPr lang="en-US" sz="800" b="1">
                <a:solidFill>
                  <a:srgbClr val="FFFFFF"/>
                </a:solidFill>
                <a:latin typeface="+mj-lt"/>
                <a:ea typeface="Calibri" pitchFamily="34" charset="-122"/>
                <a:cs typeface="Calibri" pitchFamily="34" charset="-120"/>
              </a:rPr>
              <a:t>≤6</a:t>
            </a:r>
            <a:endParaRPr lang="en-US" sz="800">
              <a:latin typeface="+mj-lt"/>
            </a:endParaRPr>
          </a:p>
        </p:txBody>
      </p:sp>
      <p:sp>
        <p:nvSpPr>
          <p:cNvPr id="308" name="Shape 3"/>
          <p:cNvSpPr/>
          <p:nvPr/>
        </p:nvSpPr>
        <p:spPr>
          <a:xfrm>
            <a:off x="10854027" y="1203152"/>
            <a:ext cx="914400" cy="164880"/>
          </a:xfrm>
          <a:prstGeom prst="rect">
            <a:avLst/>
          </a:prstGeom>
          <a:solidFill>
            <a:srgbClr val="1B8A57"/>
          </a:solidFill>
          <a:ln/>
        </p:spPr>
        <p:txBody>
          <a:bodyPr anchor="ctr"/>
          <a:lstStyle/>
          <a:p>
            <a:pPr algn="ctr"/>
            <a:r>
              <a:rPr lang="en-US" sz="800" b="1">
                <a:solidFill>
                  <a:schemeClr val="bg1"/>
                </a:solidFill>
                <a:latin typeface="+mj-lt"/>
              </a:rPr>
              <a:t>Favorable</a:t>
            </a:r>
          </a:p>
        </p:txBody>
      </p:sp>
      <p:sp>
        <p:nvSpPr>
          <p:cNvPr id="309" name="Text 4"/>
          <p:cNvSpPr/>
          <p:nvPr/>
        </p:nvSpPr>
        <p:spPr>
          <a:xfrm>
            <a:off x="8927592" y="1203152"/>
            <a:ext cx="539496" cy="164880"/>
          </a:xfrm>
          <a:prstGeom prst="rect">
            <a:avLst/>
          </a:prstGeom>
          <a:noFill/>
          <a:ln/>
        </p:spPr>
        <p:txBody>
          <a:bodyPr wrap="square" lIns="0" tIns="0" rIns="0" bIns="0" rtlCol="0" anchor="ctr"/>
          <a:lstStyle/>
          <a:p>
            <a:pPr algn="ctr"/>
            <a:r>
              <a:rPr lang="en-US" sz="800" b="1">
                <a:solidFill>
                  <a:srgbClr val="FFFFFF"/>
                </a:solidFill>
                <a:latin typeface="+mj-lt"/>
                <a:ea typeface="Calibri" pitchFamily="34" charset="-122"/>
                <a:cs typeface="Calibri" pitchFamily="34" charset="-120"/>
              </a:rPr>
              <a:t>≤6</a:t>
            </a:r>
            <a:endParaRPr lang="en-US" sz="800">
              <a:latin typeface="+mj-lt"/>
            </a:endParaRPr>
          </a:p>
        </p:txBody>
      </p:sp>
      <p:sp>
        <p:nvSpPr>
          <p:cNvPr id="310" name="Shape 7"/>
          <p:cNvSpPr/>
          <p:nvPr/>
        </p:nvSpPr>
        <p:spPr>
          <a:xfrm>
            <a:off x="10061448" y="1203152"/>
            <a:ext cx="539496" cy="164880"/>
          </a:xfrm>
          <a:prstGeom prst="rect">
            <a:avLst/>
          </a:prstGeom>
          <a:solidFill>
            <a:srgbClr val="BA7517"/>
          </a:solidFill>
          <a:ln/>
        </p:spPr>
        <p:txBody>
          <a:bodyPr/>
          <a:lstStyle/>
          <a:p>
            <a:endParaRPr lang="en-US" sz="800">
              <a:latin typeface="+mj-lt"/>
            </a:endParaRPr>
          </a:p>
        </p:txBody>
      </p:sp>
      <p:sp>
        <p:nvSpPr>
          <p:cNvPr id="311" name="Text 8"/>
          <p:cNvSpPr/>
          <p:nvPr/>
        </p:nvSpPr>
        <p:spPr>
          <a:xfrm>
            <a:off x="9890809" y="1203152"/>
            <a:ext cx="914400" cy="164880"/>
          </a:xfrm>
          <a:prstGeom prst="rect">
            <a:avLst/>
          </a:prstGeom>
          <a:solidFill>
            <a:srgbClr val="BFBFBF"/>
          </a:solidFill>
          <a:ln/>
        </p:spPr>
        <p:txBody>
          <a:bodyPr wrap="square" lIns="0" tIns="0" rIns="0" bIns="0" rtlCol="0" anchor="ctr"/>
          <a:lstStyle/>
          <a:p>
            <a:pPr algn="ctr"/>
            <a:r>
              <a:rPr lang="en-US" sz="800" b="1">
                <a:solidFill>
                  <a:srgbClr val="FFFFFF"/>
                </a:solidFill>
                <a:latin typeface="+mj-lt"/>
                <a:ea typeface="Calibri" pitchFamily="34" charset="-122"/>
                <a:cs typeface="Calibri" pitchFamily="34" charset="-120"/>
              </a:rPr>
              <a:t>Unknown</a:t>
            </a:r>
            <a:endParaRPr lang="en-US" sz="800">
              <a:latin typeface="+mj-lt"/>
            </a:endParaRPr>
          </a:p>
        </p:txBody>
      </p:sp>
      <p:sp>
        <p:nvSpPr>
          <p:cNvPr id="312" name="Text 12"/>
          <p:cNvSpPr/>
          <p:nvPr/>
        </p:nvSpPr>
        <p:spPr>
          <a:xfrm>
            <a:off x="8927592" y="1203152"/>
            <a:ext cx="914400" cy="164880"/>
          </a:xfrm>
          <a:prstGeom prst="rect">
            <a:avLst/>
          </a:prstGeom>
          <a:solidFill>
            <a:srgbClr val="A33124"/>
          </a:solidFill>
          <a:ln/>
        </p:spPr>
        <p:txBody>
          <a:bodyPr wrap="square" lIns="0" tIns="0" rIns="0" bIns="0" rtlCol="0" anchor="ctr"/>
          <a:lstStyle/>
          <a:p>
            <a:pPr algn="ctr"/>
            <a:r>
              <a:rPr lang="en-US" sz="800" b="1">
                <a:solidFill>
                  <a:srgbClr val="FFFFFF"/>
                </a:solidFill>
                <a:latin typeface="+mj-lt"/>
                <a:ea typeface="Calibri" pitchFamily="34" charset="-122"/>
                <a:cs typeface="Calibri" pitchFamily="34" charset="-120"/>
              </a:rPr>
              <a:t>Unfavorable</a:t>
            </a:r>
            <a:endParaRPr lang="en-US" sz="800">
              <a:latin typeface="+mj-lt"/>
            </a:endParaRPr>
          </a:p>
        </p:txBody>
      </p:sp>
      <p:sp>
        <p:nvSpPr>
          <p:cNvPr id="302" name="Breadcrumb"/>
          <p:cNvSpPr>
            <a:spLocks noGrp="1"/>
          </p:cNvSpPr>
          <p:nvPr>
            <p:ph type="body" sz="quarter" idx="10"/>
          </p:nvPr>
        </p:nvSpPr>
        <p:spPr>
          <a:xfrm>
            <a:off x="453079" y="263452"/>
            <a:ext cx="11282362" cy="153888"/>
          </a:xfrm>
        </p:spPr>
        <p:txBody>
          <a:bodyPr/>
          <a:lstStyle/>
          <a:p>
            <a:r>
              <a:rPr lang="en-US" sz="1000" b="1" kern="1200">
                <a:solidFill>
                  <a:srgbClr val="44505C"/>
                </a:solidFill>
                <a:latin typeface="Arial"/>
                <a:ea typeface="Arial"/>
                <a:cs typeface="Arial"/>
              </a:rPr>
              <a:t>Executive Summary</a:t>
            </a:r>
            <a:r>
              <a:rPr lang="en-US" sz="1000" kern="1200">
                <a:solidFill>
                  <a:srgbClr val="44505C"/>
                </a:solidFill>
                <a:latin typeface="Arial"/>
                <a:ea typeface="Arial"/>
                <a:cs typeface="Arial"/>
              </a:rPr>
              <a:t> / Supplier TAM and SAM</a:t>
            </a:r>
          </a:p>
        </p:txBody>
      </p:sp>
      <p:sp>
        <p:nvSpPr>
          <p:cNvPr id="304" name="PrelimChip"/>
          <p:cNvSpPr txBox="1"/>
          <p:nvPr/>
        </p:nvSpPr>
        <p:spPr>
          <a:xfrm>
            <a:off x="10267829" y="111556"/>
            <a:ext cx="1467612" cy="290000"/>
          </a:xfrm>
          <a:prstGeom prst="rect">
            <a:avLst/>
          </a:prstGeom>
          <a:solidFill>
            <a:srgbClr val="FFFFCC"/>
          </a:solidFill>
          <a:ln w="19050">
            <a:solidFill>
              <a:srgbClr val="000000"/>
            </a:solidFill>
          </a:ln>
        </p:spPr>
        <p:txBody>
          <a:bodyPr wrap="square" lIns="45720" tIns="9144" rIns="45720" bIns="9144" anchor="ctr"/>
          <a:lstStyle/>
          <a:p>
            <a:pPr algn="ctr"/>
            <a:r>
              <a:rPr lang="en-US" sz="1200" b="1" kern="1200">
                <a:solidFill>
                  <a:srgbClr val="000000"/>
                </a:solidFill>
                <a:latin typeface="Arial"/>
                <a:ea typeface="Arial"/>
                <a:cs typeface="Arial"/>
              </a:rPr>
              <a:t>Preliminary</a:t>
            </a:r>
          </a:p>
        </p:txBody>
      </p:sp>
      <p:sp>
        <p:nvSpPr>
          <p:cNvPr id="303" name="Title"/>
          <p:cNvSpPr>
            <a:spLocks noGrp="1"/>
          </p:cNvSpPr>
          <p:nvPr>
            <p:ph type="title"/>
          </p:nvPr>
        </p:nvSpPr>
        <p:spPr>
          <a:xfrm>
            <a:off x="453080" y="554500"/>
            <a:ext cx="11282362" cy="640080"/>
          </a:xfrm>
        </p:spPr>
        <p:txBody>
          <a:bodyPr vert="horz" rIns="0"/>
          <a:lstStyle/>
          <a:p>
            <a:r>
              <a:rPr lang="en-US">
                <a:solidFill>
                  <a:srgbClr val="162029"/>
                </a:solidFill>
                <a:ea typeface="Arial"/>
                <a:cs typeface="Arial"/>
              </a:rPr>
              <a:t>Contracts Outlook | …</a:t>
            </a:r>
            <a:endParaRPr lang="en-US" sz="2000" kern="1200">
              <a:solidFill>
                <a:srgbClr val="162029"/>
              </a:solidFill>
              <a:latin typeface="Arial"/>
              <a:ea typeface="Arial"/>
              <a:cs typeface="Arial"/>
            </a:endParaRPr>
          </a:p>
        </p:txBody>
      </p:sp>
      <p:sp>
        <p:nvSpPr>
          <p:cNvPr id="355" name="Sources"/>
          <p:cNvSpPr txBox="1"/>
          <p:nvPr/>
        </p:nvSpPr>
        <p:spPr>
          <a:xfrm>
            <a:off x="453079" y="6085448"/>
            <a:ext cx="11282362" cy="540000"/>
          </a:xfrm>
          <a:prstGeom prst="rect">
            <a:avLst/>
          </a:prstGeom>
          <a:noFill/>
          <a:ln>
            <a:noFill/>
          </a:ln>
        </p:spPr>
        <p:txBody>
          <a:bodyPr wrap="square" lIns="91440" tIns="45720" rIns="91440" bIns="45720" anchor="t"/>
          <a:lstStyle/>
          <a:p>
            <a:r>
              <a:rPr lang="en-US" sz="800" kern="1200">
                <a:solidFill>
                  <a:srgbClr val="162029"/>
                </a:solidFill>
                <a:latin typeface="Arial"/>
                <a:ea typeface="Arial"/>
                <a:cs typeface="Arial"/>
              </a:rPr>
              <a:t>Sources: Navy SCN P-5c / P-40 budget justification, FY22–FY27, and PB27 FYDP outyears (FY28–FY31); FY26, PL 119-21 Sec. 20002; PB27 SCN, Columbia P-10 Strategic Outsourcing narrative; OUSD(C) Green Book Procurement deflators; Navy Shipbuilding Plan; PB27 SCN Exhibit P-10, LI 2122 (AP/LLTM Ship Construction EOQ); FFATA/FSRS subaward records, yard-prime construction PIIDs, FY22–FY25 action years (work-type shares)</a:t>
            </a:r>
          </a:p>
        </p:txBody>
      </p:sp>
      <p:sp>
        <p:nvSpPr>
          <p:cNvPr id="322" name="PrelimChip"/>
          <p:cNvSpPr txBox="1"/>
          <p:nvPr/>
        </p:nvSpPr>
        <p:spPr>
          <a:xfrm>
            <a:off x="176981" y="1111045"/>
            <a:ext cx="11808542" cy="5279923"/>
          </a:xfrm>
          <a:prstGeom prst="rect">
            <a:avLst/>
          </a:prstGeom>
          <a:solidFill>
            <a:srgbClr val="D9D9D9"/>
          </a:solidFill>
          <a:ln w="19050">
            <a:solidFill>
              <a:srgbClr val="000000"/>
            </a:solidFill>
          </a:ln>
        </p:spPr>
        <p:txBody>
          <a:bodyPr wrap="square" lIns="45720" tIns="9144" rIns="45720" bIns="9144" anchor="ctr"/>
          <a:lstStyle/>
          <a:p>
            <a:pPr algn="ctr"/>
            <a:r>
              <a:rPr lang="en-US" sz="1600" b="1" i="1" kern="1200">
                <a:solidFill>
                  <a:srgbClr val="000000"/>
                </a:solidFill>
                <a:latin typeface="Arial"/>
                <a:ea typeface="Arial"/>
                <a:cs typeface="Arial"/>
              </a:rPr>
              <a:t>Placeholder – Table</a:t>
            </a:r>
          </a:p>
          <a:p>
            <a:pPr algn="ctr"/>
            <a:r>
              <a:rPr lang="en-US" sz="1600" b="1" i="1">
                <a:solidFill>
                  <a:srgbClr val="000000"/>
                </a:solidFill>
                <a:latin typeface="Arial"/>
                <a:ea typeface="Arial"/>
                <a:cs typeface="Arial"/>
              </a:rPr>
              <a:t>Rows: Specific Contracts</a:t>
            </a:r>
            <a:br>
              <a:rPr lang="en-US" sz="1600" b="1" i="1">
                <a:solidFill>
                  <a:srgbClr val="000000"/>
                </a:solidFill>
                <a:latin typeface="Arial"/>
                <a:ea typeface="Arial"/>
                <a:cs typeface="Arial"/>
              </a:rPr>
            </a:br>
            <a:r>
              <a:rPr lang="en-US" sz="1600" b="1" i="1">
                <a:solidFill>
                  <a:srgbClr val="000000"/>
                </a:solidFill>
                <a:latin typeface="Arial"/>
                <a:ea typeface="Arial"/>
                <a:cs typeface="Arial"/>
              </a:rPr>
              <a:t>Columns: Contract, amount, recompete date, current awardee, budget alignment</a:t>
            </a:r>
            <a:br>
              <a:rPr lang="en-US" sz="1600" b="1" i="1">
                <a:solidFill>
                  <a:srgbClr val="000000"/>
                </a:solidFill>
                <a:latin typeface="Arial"/>
                <a:ea typeface="Arial"/>
                <a:cs typeface="Arial"/>
              </a:rPr>
            </a:br>
            <a:r>
              <a:rPr lang="en-US" sz="1600" b="1" i="1">
                <a:solidFill>
                  <a:srgbClr val="000000"/>
                </a:solidFill>
                <a:latin typeface="Arial"/>
                <a:ea typeface="Arial"/>
                <a:cs typeface="Arial"/>
              </a:rPr>
              <a:t>Organized by platform</a:t>
            </a:r>
            <a:endParaRPr lang="en-US" sz="1600" b="1" i="1">
              <a:solidFill>
                <a:srgbClr val="000000"/>
              </a:solidFill>
              <a:ea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Executive Summary</a:t>
            </a:r>
            <a:r>
              <a:rPr lang="en-US" sz="1000" kern="1200" dirty="0">
                <a:solidFill>
                  <a:srgbClr val="44505C"/>
                </a:solidFill>
                <a:latin typeface="Arial"/>
                <a:ea typeface="Arial"/>
                <a:cs typeface="Arial"/>
              </a:rPr>
              <a:t> / Supplier TAM and SAM</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Outsourcing Ceiling | Built from two published numbers, the ceiling reaches ~75% of Basic Construction, ~3x the place-of-performance floor.</a:t>
            </a:r>
          </a:p>
        </p:txBody>
      </p:sp>
      <p:sp>
        <p:nvSpPr>
          <p:cNvPr id="10" name="Framer"/>
          <p:cNvSpPr txBox="1"/>
          <p:nvPr/>
        </p:nvSpPr>
        <p:spPr>
          <a:xfrm>
            <a:off x="453079" y="1390000"/>
            <a:ext cx="11282362" cy="300000"/>
          </a:xfrm>
          <a:prstGeom prst="rect">
            <a:avLst/>
          </a:prstGeom>
          <a:noFill/>
          <a:ln>
            <a:noFill/>
          </a:ln>
        </p:spPr>
        <p:txBody>
          <a:bodyPr wrap="square" anchor="ctr" lIns="0" tIns="0" rIns="0" bIns="0"/>
          <a:lstStyle/>
          <a:p>
            <a:pPr>
              <a:lnSpc>
                <a:spcPct val="115000"/>
              </a:lnSpc>
              <a:buNone/>
            </a:pPr>
            <a:r>
              <a:rPr lang="en-US" sz="900" b="1" dirty="0">
                <a:solidFill>
                  <a:srgbClr val="000000"/>
                </a:solidFill>
                <a:latin typeface="Arial"/>
                <a:ea typeface="Arial"/>
                <a:cs typeface="Arial"/>
              </a:rPr>
              <a:t>The clean split is not published, and the place-of-performance share is only a floor, </a:t>
            </a:r>
            <a:r>
              <a:rPr lang="en-US" sz="900" dirty="0">
                <a:solidFill>
                  <a:srgbClr val="000000"/>
                </a:solidFill>
                <a:latin typeface="Arial"/>
                <a:ea typeface="Arial"/>
                <a:cs typeface="Arial"/>
              </a:rPr>
              <a:t>so the ceiling is built from two sourced numbers, not read off a budget line.</a:t>
            </a:r>
          </a:p>
        </p:txBody>
      </p:sp>
      <p:sp>
        <p:nvSpPr>
          <p:cNvPr id="20" name="InputH"/>
          <p:cNvSpPr txBox="1"/>
          <p:nvPr/>
        </p:nvSpPr>
        <p:spPr>
          <a:xfrm>
            <a:off x="453079" y="1790000"/>
            <a:ext cx="2600000" cy="630000"/>
          </a:xfrm>
          <a:prstGeom prst="rect">
            <a:avLst/>
          </a:prstGeom>
          <a:solidFill>
            <a:srgbClr val="E2E9EF"/>
          </a:solidFill>
          <a:ln w="12700">
            <a:solidFill>
              <a:srgbClr val="000000"/>
            </a:solidFill>
          </a:ln>
        </p:spPr>
        <p:txBody>
          <a:bodyPr wrap="square" anchor="ctr" lIns="114300" tIns="76200" rIns="114300" bIns="76200"/>
          <a:lstStyle/>
          <a:p>
            <a:pPr>
              <a:lnSpc>
                <a:spcPct val="115000"/>
              </a:lnSpc>
              <a:spcAft>
                <a:spcPts val="120"/>
              </a:spcAft>
              <a:buNone/>
            </a:pPr>
            <a:r>
              <a:rPr lang="en-US" sz="1200" b="1" dirty="0">
                <a:solidFill>
                  <a:srgbClr val="000000"/>
                </a:solidFill>
                <a:latin typeface="Arial"/>
                <a:ea typeface="Arial"/>
                <a:cs typeface="Arial"/>
              </a:rPr>
              <a:t>h ~50%</a:t>
            </a:r>
          </a:p>
          <a:p>
            <a:pPr>
              <a:lnSpc>
                <a:spcPct val="115000"/>
              </a:lnSpc>
              <a:spcAft>
                <a:spcPts val="120"/>
              </a:spcAft>
              <a:buNone/>
            </a:pPr>
            <a:r>
              <a:rPr lang="en-US" sz="850" dirty="0">
                <a:solidFill>
                  <a:srgbClr val="000000"/>
                </a:solidFill>
                <a:latin typeface="Arial"/>
                <a:ea typeface="Arial"/>
                <a:cs typeface="Arial"/>
              </a:rPr>
              <a:t>Build hours that can leave the yard</a:t>
            </a:r>
          </a:p>
          <a:p>
            <a:pPr>
              <a:lnSpc>
                <a:spcPct val="115000"/>
              </a:lnSpc>
              <a:buNone/>
            </a:pPr>
            <a:r>
              <a:rPr lang="en-US" sz="800" i="1" dirty="0">
                <a:solidFill>
                  <a:srgbClr val="000000"/>
                </a:solidFill>
                <a:latin typeface="Arial"/>
                <a:ea typeface="Arial"/>
                <a:cs typeface="Arial"/>
              </a:rPr>
              <a:t>Navy submarine program executive, 2022</a:t>
            </a:r>
          </a:p>
        </p:txBody>
      </p:sp>
      <p:sp>
        <p:nvSpPr>
          <p:cNvPr id="21" name="InputL"/>
          <p:cNvSpPr txBox="1"/>
          <p:nvPr/>
        </p:nvSpPr>
        <p:spPr>
          <a:xfrm>
            <a:off x="453079" y="2520000"/>
            <a:ext cx="2600000" cy="630000"/>
          </a:xfrm>
          <a:prstGeom prst="rect">
            <a:avLst/>
          </a:prstGeom>
          <a:solidFill>
            <a:srgbClr val="E2E9EF"/>
          </a:solidFill>
          <a:ln w="12700">
            <a:solidFill>
              <a:srgbClr val="000000"/>
            </a:solidFill>
          </a:ln>
        </p:spPr>
        <p:txBody>
          <a:bodyPr wrap="square" anchor="ctr" lIns="114300" tIns="76200" rIns="114300" bIns="76200"/>
          <a:lstStyle/>
          <a:p>
            <a:pPr>
              <a:lnSpc>
                <a:spcPct val="115000"/>
              </a:lnSpc>
              <a:spcAft>
                <a:spcPts val="120"/>
              </a:spcAft>
              <a:buNone/>
            </a:pPr>
            <a:r>
              <a:rPr lang="en-US" sz="1200" b="1" dirty="0">
                <a:solidFill>
                  <a:srgbClr val="000000"/>
                </a:solidFill>
                <a:latin typeface="Arial"/>
                <a:ea typeface="Arial"/>
                <a:cs typeface="Arial"/>
              </a:rPr>
              <a:t>L ~50% / 45%</a:t>
            </a:r>
          </a:p>
          <a:p>
            <a:pPr>
              <a:lnSpc>
                <a:spcPct val="115000"/>
              </a:lnSpc>
              <a:spcAft>
                <a:spcPts val="120"/>
              </a:spcAft>
              <a:buNone/>
            </a:pPr>
            <a:r>
              <a:rPr lang="en-US" sz="850" dirty="0">
                <a:solidFill>
                  <a:srgbClr val="000000"/>
                </a:solidFill>
                <a:latin typeface="Arial"/>
                <a:ea typeface="Arial"/>
                <a:cs typeface="Arial"/>
              </a:rPr>
              <a:t>Labor share of Basic Construction</a:t>
            </a:r>
          </a:p>
          <a:p>
            <a:pPr>
              <a:lnSpc>
                <a:spcPct val="115000"/>
              </a:lnSpc>
              <a:buNone/>
            </a:pPr>
            <a:r>
              <a:rPr lang="en-US" sz="800" i="1" dirty="0">
                <a:solidFill>
                  <a:srgbClr val="000000"/>
                </a:solidFill>
                <a:latin typeface="Arial"/>
                <a:ea typeface="Arial"/>
                <a:cs typeface="Arial"/>
              </a:rPr>
              <a:t>CRS testimony 2025, cost index 2024</a:t>
            </a:r>
          </a:p>
        </p:txBody>
      </p:sp>
      <p:sp>
        <p:nvSpPr>
          <p:cNvPr id="30" name="Engine"/>
          <p:cNvSpPr txBox="1"/>
          <p:nvPr/>
        </p:nvSpPr>
        <p:spPr>
          <a:xfrm>
            <a:off x="3573079" y="1790000"/>
            <a:ext cx="2900000" cy="1360000"/>
          </a:xfrm>
          <a:prstGeom prst="rect">
            <a:avLst/>
          </a:prstGeom>
          <a:solidFill>
            <a:srgbClr val="E2E9EF"/>
          </a:solidFill>
          <a:ln w="12700">
            <a:solidFill>
              <a:srgbClr val="000000"/>
            </a:solidFill>
          </a:ln>
        </p:spPr>
        <p:txBody>
          <a:bodyPr wrap="square" anchor="ctr" lIns="114300" tIns="76200" rIns="114300" bIns="76200"/>
          <a:lstStyle/>
          <a:p>
            <a:pPr>
              <a:lnSpc>
                <a:spcPct val="115000"/>
              </a:lnSpc>
              <a:spcAft>
                <a:spcPts val="200"/>
              </a:spcAft>
              <a:buNone/>
            </a:pPr>
            <a:r>
              <a:rPr lang="en-US" sz="1200" b="1" dirty="0">
                <a:solidFill>
                  <a:srgbClr val="000000"/>
                </a:solidFill>
                <a:latin typeface="Arial"/>
                <a:ea typeface="Arial"/>
                <a:cs typeface="Arial"/>
              </a:rPr>
              <a:t>THE MODEL</a:t>
            </a:r>
          </a:p>
          <a:p>
            <a:pPr>
              <a:lnSpc>
                <a:spcPct val="115000"/>
              </a:lnSpc>
              <a:spcAft>
                <a:spcPts val="80"/>
              </a:spcAft>
              <a:buNone/>
            </a:pPr>
            <a:r>
              <a:rPr lang="en-US" sz="1000" b="1" dirty="0">
                <a:solidFill>
                  <a:srgbClr val="000000"/>
                </a:solidFill>
                <a:latin typeface="Arial"/>
                <a:ea typeface="Arial"/>
                <a:cs typeface="Arial"/>
              </a:rPr>
              <a:t>core = L (1 − h)</a:t>
            </a:r>
          </a:p>
          <a:p>
            <a:pPr>
              <a:lnSpc>
                <a:spcPct val="115000"/>
              </a:lnSpc>
              <a:spcAft>
                <a:spcPts val="200"/>
              </a:spcAft>
              <a:buNone/>
            </a:pPr>
            <a:r>
              <a:rPr lang="en-US" sz="850" i="1" dirty="0">
                <a:solidFill>
                  <a:srgbClr val="000000"/>
                </a:solidFill>
                <a:latin typeface="Arial"/>
                <a:ea typeface="Arial"/>
                <a:cs typeface="Arial"/>
              </a:rPr>
              <a:t>The labor that must stay: assembly, integration, test</a:t>
            </a:r>
          </a:p>
          <a:p>
            <a:pPr>
              <a:lnSpc>
                <a:spcPct val="115000"/>
              </a:lnSpc>
              <a:spcAft>
                <a:spcPts val="200"/>
              </a:spcAft>
              <a:buNone/>
            </a:pPr>
            <a:r>
              <a:rPr lang="en-US" sz="1000" b="1" dirty="0">
                <a:solidFill>
                  <a:srgbClr val="000000"/>
                </a:solidFill>
                <a:latin typeface="Arial"/>
                <a:ea typeface="Arial"/>
                <a:cs typeface="Arial"/>
              </a:rPr>
              <a:t>ceiling = 1 − core</a:t>
            </a:r>
          </a:p>
          <a:p>
            <a:pPr>
              <a:lnSpc>
                <a:spcPct val="115000"/>
              </a:lnSpc>
              <a:buNone/>
            </a:pPr>
            <a:r>
              <a:rPr lang="en-US" sz="850" b="1" dirty="0">
                <a:solidFill>
                  <a:srgbClr val="000000"/>
                </a:solidFill>
                <a:latin typeface="Arial"/>
                <a:ea typeface="Arial"/>
                <a:cs typeface="Arial"/>
              </a:rPr>
              <a:t>Dial p </a:t>
            </a:r>
            <a:r>
              <a:rPr lang="en-US" sz="850" i="1" dirty="0">
                <a:solidFill>
                  <a:srgbClr val="000000"/>
                </a:solidFill>
                <a:latin typeface="Arial"/>
                <a:ea typeface="Arial"/>
                <a:cs typeface="Arial"/>
              </a:rPr>
              <a:t>= the share of a package's material that travels out with the work</a:t>
            </a:r>
          </a:p>
        </p:txBody>
      </p:sp>
      <p:cxnSp>
        <p:nvCxnSpPr>
          <p:cNvPr id="50" name="InHtoEngine"/>
          <p:cNvCxnSpPr/>
          <p:nvPr/>
        </p:nvCxnSpPr>
        <p:spPr>
          <a:xfrm>
            <a:off x="3053079" y="2105000"/>
            <a:ext cx="520000" cy="365000"/>
          </a:xfrm>
          <a:prstGeom prst="bentConnector3">
            <a:avLst/>
          </a:prstGeom>
          <a:ln w="6350">
            <a:solidFill>
              <a:srgbClr val="000000"/>
            </a:solidFill>
            <a:tailEnd type="triangle" w="med" len="med"/>
          </a:ln>
        </p:spPr>
      </p:cxnSp>
      <p:cxnSp>
        <p:nvCxnSpPr>
          <p:cNvPr id="51" name="InLtoEngine"/>
          <p:cNvCxnSpPr/>
          <p:nvPr/>
        </p:nvCxnSpPr>
        <p:spPr>
          <a:xfrm flipV="1">
            <a:off x="3053079" y="2470000"/>
            <a:ext cx="520000" cy="365000"/>
          </a:xfrm>
          <a:prstGeom prst="bentConnector3">
            <a:avLst/>
          </a:prstGeom>
          <a:ln w="6350">
            <a:solidFill>
              <a:srgbClr val="000000"/>
            </a:solidFill>
            <a:tailEnd type="triangle" w="med" len="med"/>
          </a:ln>
        </p:spPr>
      </p:cxnSp>
      <p:cxnSp>
        <p:nvCxnSpPr>
          <p:cNvPr id="52" name="EngineToReads"/>
          <p:cNvCxnSpPr/>
          <p:nvPr/>
        </p:nvCxnSpPr>
        <p:spPr>
          <a:xfrm>
            <a:off x="6473079" y="2470000"/>
            <a:ext cx="520000" cy="0"/>
          </a:xfrm>
          <a:prstGeom prst="line">
            <a:avLst/>
          </a:prstGeom>
          <a:ln w="6350">
            <a:solidFill>
              <a:srgbClr val="000000"/>
            </a:solidFill>
            <a:tailEnd type="triangle" w="med" len="med"/>
          </a:ln>
        </p:spPr>
      </p:cxnSp>
      <p:sp>
        <p:nvSpPr>
          <p:cNvPr id="60" name="DialNote"/>
          <p:cNvSpPr txBox="1"/>
          <p:nvPr/>
        </p:nvSpPr>
        <p:spPr>
          <a:xfrm>
            <a:off x="6473079" y="2170000"/>
            <a:ext cx="520000" cy="260000"/>
          </a:xfrm>
          <a:prstGeom prst="rect">
            <a:avLst/>
          </a:prstGeom>
          <a:noFill/>
          <a:ln>
            <a:noFill/>
          </a:ln>
        </p:spPr>
        <p:txBody>
          <a:bodyPr wrap="square" anchor="b" lIns="0" tIns="0" rIns="0" bIns="0"/>
          <a:lstStyle/>
          <a:p>
            <a:pPr algn="ctr">
              <a:lnSpc>
                <a:spcPct val="115000"/>
              </a:lnSpc>
              <a:buNone/>
            </a:pPr>
            <a:r>
              <a:rPr lang="en-US" sz="850" i="1" dirty="0">
                <a:solidFill>
                  <a:srgbClr val="000000"/>
                </a:solidFill>
                <a:latin typeface="Arial"/>
                <a:ea typeface="Arial"/>
                <a:cs typeface="Arial"/>
              </a:rPr>
              <a:t>Dial p</a:t>
            </a:r>
          </a:p>
        </p:txBody>
      </p:sp>
      <p:sp>
        <p:nvSpPr>
          <p:cNvPr id="40" name="Read1"/>
          <p:cNvSpPr txBox="1"/>
          <p:nvPr/>
        </p:nvSpPr>
        <p:spPr>
          <a:xfrm>
            <a:off x="6993079" y="2040000"/>
            <a:ext cx="1500787" cy="860000"/>
          </a:xfrm>
          <a:prstGeom prst="rect">
            <a:avLst/>
          </a:prstGeom>
          <a:solidFill>
            <a:srgbClr val="E2E9EF"/>
          </a:solidFill>
          <a:ln w="12700">
            <a:solidFill>
              <a:srgbClr val="000000"/>
            </a:solidFill>
          </a:ln>
        </p:spPr>
        <p:txBody>
          <a:bodyPr wrap="square" anchor="ctr" lIns="114300" tIns="76200" rIns="114300" bIns="76200"/>
          <a:lstStyle/>
          <a:p>
            <a:pPr algn="ctr">
              <a:lnSpc>
                <a:spcPct val="115000"/>
              </a:lnSpc>
              <a:spcAft>
                <a:spcPts val="160"/>
              </a:spcAft>
              <a:buNone/>
            </a:pPr>
            <a:r>
              <a:rPr lang="en-US" sz="900" b="1" dirty="0">
                <a:solidFill>
                  <a:srgbClr val="000000"/>
                </a:solidFill>
                <a:latin typeface="Arial"/>
                <a:ea typeface="Arial"/>
                <a:cs typeface="Arial"/>
              </a:rPr>
              <a:t>p = 0</a:t>
            </a:r>
          </a:p>
          <a:p>
            <a:pPr algn="ctr">
              <a:lnSpc>
                <a:spcPct val="115000"/>
              </a:lnSpc>
              <a:spcAft>
                <a:spcPts val="160"/>
              </a:spcAft>
              <a:buNone/>
            </a:pPr>
            <a:r>
              <a:rPr lang="en-US" sz="1800" b="1" dirty="0">
                <a:solidFill>
                  <a:srgbClr val="000000"/>
                </a:solidFill>
                <a:latin typeface="Arial"/>
                <a:ea typeface="Arial"/>
                <a:cs typeface="Arial"/>
              </a:rPr>
              <a:t>~25%</a:t>
            </a:r>
          </a:p>
          <a:p>
            <a:pPr algn="ctr">
              <a:lnSpc>
                <a:spcPct val="115000"/>
              </a:lnSpc>
              <a:buNone/>
            </a:pPr>
            <a:r>
              <a:rPr lang="en-US" sz="850" i="1" dirty="0">
                <a:solidFill>
                  <a:srgbClr val="000000"/>
                </a:solidFill>
                <a:latin typeface="Arial"/>
                <a:ea typeface="Arial"/>
                <a:cs typeface="Arial"/>
              </a:rPr>
              <a:t>Labor-only</a:t>
            </a:r>
          </a:p>
        </p:txBody>
      </p:sp>
      <p:sp>
        <p:nvSpPr>
          <p:cNvPr id="41" name="Read2"/>
          <p:cNvSpPr txBox="1"/>
          <p:nvPr/>
        </p:nvSpPr>
        <p:spPr>
          <a:xfrm>
            <a:off x="8613866" y="2040000"/>
            <a:ext cx="1500787" cy="860000"/>
          </a:xfrm>
          <a:prstGeom prst="rect">
            <a:avLst/>
          </a:prstGeom>
          <a:solidFill>
            <a:srgbClr val="6E91B1"/>
          </a:solidFill>
          <a:ln w="12700">
            <a:solidFill>
              <a:srgbClr val="000000"/>
            </a:solidFill>
          </a:ln>
        </p:spPr>
        <p:txBody>
          <a:bodyPr wrap="square" anchor="ctr" lIns="114300" tIns="76200" rIns="114300" bIns="76200"/>
          <a:lstStyle/>
          <a:p>
            <a:pPr algn="ctr">
              <a:lnSpc>
                <a:spcPct val="115000"/>
              </a:lnSpc>
              <a:spcAft>
                <a:spcPts val="160"/>
              </a:spcAft>
              <a:buNone/>
            </a:pPr>
            <a:r>
              <a:rPr lang="en-US" sz="900" b="1" dirty="0">
                <a:solidFill>
                  <a:srgbClr val="FFFFFF"/>
                </a:solidFill>
                <a:latin typeface="Arial"/>
                <a:ea typeface="Arial"/>
                <a:cs typeface="Arial"/>
              </a:rPr>
              <a:t>p ≈ 50%</a:t>
            </a:r>
          </a:p>
          <a:p>
            <a:pPr algn="ctr">
              <a:lnSpc>
                <a:spcPct val="115000"/>
              </a:lnSpc>
              <a:spcAft>
                <a:spcPts val="160"/>
              </a:spcAft>
              <a:buNone/>
            </a:pPr>
            <a:r>
              <a:rPr lang="en-US" sz="1800" b="1" dirty="0">
                <a:solidFill>
                  <a:srgbClr val="FFFFFF"/>
                </a:solidFill>
                <a:latin typeface="Arial"/>
                <a:ea typeface="Arial"/>
                <a:cs typeface="Arial"/>
              </a:rPr>
              <a:t>~50%</a:t>
            </a:r>
          </a:p>
          <a:p>
            <a:pPr algn="ctr">
              <a:lnSpc>
                <a:spcPct val="115000"/>
              </a:lnSpc>
              <a:buNone/>
            </a:pPr>
            <a:r>
              <a:rPr lang="en-US" sz="850" i="1" dirty="0">
                <a:solidFill>
                  <a:srgbClr val="FFFFFF"/>
                </a:solidFill>
                <a:latin typeface="Arial"/>
                <a:ea typeface="Arial"/>
                <a:cs typeface="Arial"/>
              </a:rPr>
              <a:t>Working case</a:t>
            </a:r>
          </a:p>
        </p:txBody>
      </p:sp>
      <p:sp>
        <p:nvSpPr>
          <p:cNvPr id="42" name="Read3"/>
          <p:cNvSpPr txBox="1"/>
          <p:nvPr/>
        </p:nvSpPr>
        <p:spPr>
          <a:xfrm>
            <a:off x="10234653" y="2040000"/>
            <a:ext cx="1500787" cy="860000"/>
          </a:xfrm>
          <a:prstGeom prst="rect">
            <a:avLst/>
          </a:prstGeom>
          <a:solidFill>
            <a:srgbClr val="263746"/>
          </a:solidFill>
          <a:ln w="19050">
            <a:solidFill>
              <a:srgbClr val="000000"/>
            </a:solidFill>
          </a:ln>
        </p:spPr>
        <p:txBody>
          <a:bodyPr wrap="square" anchor="ctr" lIns="114300" tIns="76200" rIns="114300" bIns="76200"/>
          <a:lstStyle/>
          <a:p>
            <a:pPr algn="ctr">
              <a:lnSpc>
                <a:spcPct val="115000"/>
              </a:lnSpc>
              <a:spcAft>
                <a:spcPts val="160"/>
              </a:spcAft>
              <a:buNone/>
            </a:pPr>
            <a:r>
              <a:rPr lang="en-US" sz="900" b="1" dirty="0">
                <a:solidFill>
                  <a:srgbClr val="FFFFFF"/>
                </a:solidFill>
                <a:latin typeface="Arial"/>
                <a:ea typeface="Arial"/>
                <a:cs typeface="Arial"/>
              </a:rPr>
              <a:t>p = 100%</a:t>
            </a:r>
          </a:p>
          <a:p>
            <a:pPr algn="ctr">
              <a:lnSpc>
                <a:spcPct val="115000"/>
              </a:lnSpc>
              <a:spcAft>
                <a:spcPts val="160"/>
              </a:spcAft>
              <a:buNone/>
            </a:pPr>
            <a:r>
              <a:rPr lang="en-US" sz="2400" b="1" dirty="0">
                <a:solidFill>
                  <a:srgbClr val="FFFFFF"/>
                </a:solidFill>
                <a:latin typeface="Arial"/>
                <a:ea typeface="Arial"/>
                <a:cs typeface="Arial"/>
              </a:rPr>
              <a:t>~75%</a:t>
            </a:r>
          </a:p>
          <a:p>
            <a:pPr algn="ctr">
              <a:lnSpc>
                <a:spcPct val="115000"/>
              </a:lnSpc>
              <a:buNone/>
            </a:pPr>
            <a:r>
              <a:rPr lang="en-US" sz="850" i="1" dirty="0">
                <a:solidFill>
                  <a:srgbClr val="FFFFFF"/>
                </a:solidFill>
                <a:latin typeface="Arial"/>
                <a:ea typeface="Arial"/>
                <a:cs typeface="Arial"/>
              </a:rPr>
              <a:t>Ceiling</a:t>
            </a:r>
          </a:p>
        </p:txBody>
      </p:sp>
      <p:sp>
        <p:nvSpPr>
          <p:cNvPr id="70" name="TableCaption"/>
          <p:cNvSpPr txBox="1"/>
          <p:nvPr/>
        </p:nvSpPr>
        <p:spPr>
          <a:xfrm>
            <a:off x="453079" y="3320000"/>
            <a:ext cx="11282362" cy="250000"/>
          </a:xfrm>
          <a:prstGeom prst="rect">
            <a:avLst/>
          </a:prstGeom>
          <a:noFill/>
          <a:ln>
            <a:noFill/>
          </a:ln>
        </p:spPr>
        <p:txBody>
          <a:bodyPr wrap="square" anchor="b" lIns="0" tIns="0" rIns="0" bIns="0"/>
          <a:lstStyle/>
          <a:p>
            <a:pPr>
              <a:lnSpc>
                <a:spcPct val="115000"/>
              </a:lnSpc>
              <a:buNone/>
            </a:pPr>
            <a:r>
              <a:rPr lang="en-US" sz="1000" b="1" dirty="0">
                <a:solidFill>
                  <a:srgbClr val="000000"/>
                </a:solidFill>
                <a:latin typeface="Arial"/>
                <a:ea typeface="Arial"/>
                <a:cs typeface="Arial"/>
              </a:rPr>
              <a:t>By program: </a:t>
            </a:r>
            <a:r>
              <a:rPr lang="en-US" sz="1000" dirty="0">
                <a:solidFill>
                  <a:srgbClr val="000000"/>
                </a:solidFill>
                <a:latin typeface="Arial"/>
                <a:ea typeface="Arial"/>
                <a:cs typeface="Arial"/>
              </a:rPr>
              <a:t>core, selected case, and ceiling, as a share of Basic Construction</a:t>
            </a:r>
          </a:p>
        </p:txBody>
      </p:sp>
      <p:graphicFrame>
        <p:nvGraphicFramePr>
          <p:cNvPr id="80" name="CeilingByProgram"/>
          <p:cNvGraphicFramePr>
            <a:graphicFrameLocks noGrp="1"/>
          </p:cNvGraphicFramePr>
          <p:nvPr/>
        </p:nvGraphicFramePr>
        <p:xfrm>
          <a:off x="453079" y="3640000"/>
          <a:ext cx="11282362" cy="1371600"/>
        </p:xfrm>
        <a:graphic>
          <a:graphicData uri="http://schemas.openxmlformats.org/drawingml/2006/table">
            <a:tbl>
              <a:tblPr firstRow="1" firstCol="1" bandRow="0">
                <a:tableStyleId>{2D5ABB26-0587-4C30-8999-92F81FD0307C}</a:tableStyleId>
              </a:tblPr>
              <a:tblGrid>
                <a:gridCol w="1900000"/>
                <a:gridCol w="2200000"/>
                <a:gridCol w="2300000"/>
                <a:gridCol w="2300000"/>
                <a:gridCol w="2582362"/>
              </a:tblGrid>
              <a:tr h="274320">
                <a:tc>
                  <a:txBody>
                    <a:bodyPr anchor="ctr"/>
                    <a:lstStyle/>
                    <a:p>
                      <a:pPr algn="l">
                        <a:lnSpc>
                          <a:spcPct val="115000"/>
                        </a:lnSpc>
                      </a:pPr>
                      <a:r>
                        <a:rPr lang="en-US" sz="1000" b="1" dirty="0">
                          <a:solidFill>
                            <a:srgbClr val="000000"/>
                          </a:solidFill>
                          <a:latin typeface="Arial"/>
                          <a:ea typeface="Arial"/>
                          <a:cs typeface="Arial"/>
                        </a:rPr>
                        <a:t>Program</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Must stay (core)</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Selected (p ≈ 50%)</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Ceiling (p = 100%)</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vs. floor</a:t>
                      </a:r>
                    </a:p>
                  </a:txBody>
                  <a:tcPr marL="45720" marR="45720" marT="45720" marB="45720" anchor="ctr">
                    <a:lnL>
                      <a:noFill/>
                    </a:lnL>
                    <a:lnR>
                      <a:noFill/>
                    </a:lnR>
                    <a:lnT>
                      <a:noFill/>
                    </a:lnT>
                    <a:lnB w="19050" cap="flat" cmpd="sng" algn="ctr">
                      <a:solidFill>
                        <a:srgbClr val="000000"/>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Virginia</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25%</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50%</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75%</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~2.2x</a:t>
                      </a:r>
                    </a:p>
                  </a:txBody>
                  <a:tcPr marL="45720" marR="45720" marT="45720" marB="45720" anchor="ctr">
                    <a:lnL>
                      <a:noFill/>
                    </a:lnL>
                    <a:lnR>
                      <a:noFill/>
                    </a:lnR>
                    <a:lnT>
                      <a:noFill/>
                    </a:lnT>
                    <a:lnB w="6350" cap="flat" cmpd="sng" algn="ctr">
                      <a:solidFill>
                        <a:srgbClr val="646464"/>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Columbia</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25%</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50%</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75%</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~3.4x</a:t>
                      </a:r>
                    </a:p>
                  </a:txBody>
                  <a:tcPr marL="45720" marR="45720" marT="45720" marB="45720" anchor="ctr">
                    <a:lnL>
                      <a:noFill/>
                    </a:lnL>
                    <a:lnR>
                      <a:noFill/>
                    </a:lnR>
                    <a:lnT>
                      <a:noFill/>
                    </a:lnT>
                    <a:lnB w="6350" cap="flat" cmpd="sng" algn="ctr">
                      <a:solidFill>
                        <a:srgbClr val="646464"/>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DDG-51</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20%</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52%</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80%</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~6.1x</a:t>
                      </a:r>
                    </a:p>
                  </a:txBody>
                  <a:tcPr marL="45720" marR="45720" marT="45720" marB="45720" anchor="ctr">
                    <a:lnL>
                      <a:noFill/>
                    </a:lnL>
                    <a:lnR>
                      <a:noFill/>
                    </a:lnR>
                    <a:lnT>
                      <a:noFill/>
                    </a:lnT>
                    <a:lnB w="12700" cap="flat" cmpd="sng" algn="ctr">
                      <a:solidFill>
                        <a:srgbClr val="000000"/>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Portfolio</a:t>
                      </a:r>
                    </a:p>
                  </a:txBody>
                  <a:tcPr marL="45720" marR="45720" marT="45720" marB="45720" anchor="ctr">
                    <a:lnL>
                      <a:noFill/>
                    </a:lnL>
                    <a:lnR>
                      <a:noFill/>
                    </a:lnR>
                    <a:lnT>
                      <a:noFill/>
                    </a:lnT>
                    <a:lnB>
                      <a:noFill/>
                    </a:lnB>
                    <a:solidFill>
                      <a:srgbClr val="F2F2F2"/>
                    </a:solidFill>
                  </a:tcPr>
                </a:tc>
                <a:tc>
                  <a:txBody>
                    <a:bodyPr anchor="ctr"/>
                    <a:lstStyle/>
                    <a:p>
                      <a:pPr algn="ctr">
                        <a:lnSpc>
                          <a:spcPct val="115000"/>
                        </a:lnSpc>
                      </a:pPr>
                      <a:r>
                        <a:rPr lang="en-US" sz="1000" b="1" dirty="0">
                          <a:solidFill>
                            <a:srgbClr val="000000"/>
                          </a:solidFill>
                          <a:latin typeface="Arial"/>
                          <a:ea typeface="Arial"/>
                          <a:cs typeface="Arial"/>
                        </a:rPr>
                        <a:t>24%</a:t>
                      </a:r>
                    </a:p>
                  </a:txBody>
                  <a:tcPr marL="45720" marR="45720" marT="45720" marB="45720" anchor="ctr">
                    <a:lnL>
                      <a:noFill/>
                    </a:lnL>
                    <a:lnR>
                      <a:noFill/>
                    </a:lnR>
                    <a:lnT>
                      <a:noFill/>
                    </a:lnT>
                    <a:lnB>
                      <a:noFill/>
                    </a:lnB>
                    <a:solidFill>
                      <a:srgbClr val="F2F2F2"/>
                    </a:solidFill>
                  </a:tcPr>
                </a:tc>
                <a:tc>
                  <a:txBody>
                    <a:bodyPr anchor="ctr"/>
                    <a:lstStyle/>
                    <a:p>
                      <a:pPr algn="ctr">
                        <a:lnSpc>
                          <a:spcPct val="115000"/>
                        </a:lnSpc>
                      </a:pPr>
                      <a:r>
                        <a:rPr lang="en-US" sz="1000" b="1" dirty="0">
                          <a:solidFill>
                            <a:srgbClr val="000000"/>
                          </a:solidFill>
                          <a:latin typeface="Arial"/>
                          <a:ea typeface="Arial"/>
                          <a:cs typeface="Arial"/>
                        </a:rPr>
                        <a:t>51%</a:t>
                      </a:r>
                    </a:p>
                  </a:txBody>
                  <a:tcPr marL="45720" marR="45720" marT="45720" marB="45720" anchor="ctr">
                    <a:lnL>
                      <a:noFill/>
                    </a:lnL>
                    <a:lnR>
                      <a:noFill/>
                    </a:lnR>
                    <a:lnT>
                      <a:noFill/>
                    </a:lnT>
                    <a:lnB>
                      <a:noFill/>
                    </a:lnB>
                    <a:solidFill>
                      <a:srgbClr val="F2F2F2"/>
                    </a:solidFill>
                  </a:tcPr>
                </a:tc>
                <a:tc>
                  <a:txBody>
                    <a:bodyPr anchor="ctr"/>
                    <a:lstStyle/>
                    <a:p>
                      <a:pPr algn="ctr">
                        <a:lnSpc>
                          <a:spcPct val="115000"/>
                        </a:lnSpc>
                      </a:pPr>
                      <a:r>
                        <a:rPr lang="en-US" sz="1000" b="1" dirty="0">
                          <a:solidFill>
                            <a:srgbClr val="000000"/>
                          </a:solidFill>
                          <a:latin typeface="Arial"/>
                          <a:ea typeface="Arial"/>
                          <a:cs typeface="Arial"/>
                        </a:rPr>
                        <a:t>76%</a:t>
                      </a:r>
                    </a:p>
                  </a:txBody>
                  <a:tcPr marL="45720" marR="45720" marT="45720" marB="45720" anchor="ctr">
                    <a:lnL>
                      <a:noFill/>
                    </a:lnL>
                    <a:lnR>
                      <a:noFill/>
                    </a:lnR>
                    <a:lnT>
                      <a:noFill/>
                    </a:lnT>
                    <a:lnB>
                      <a:noFill/>
                    </a:lnB>
                    <a:solidFill>
                      <a:srgbClr val="F2F2F2"/>
                    </a:solidFill>
                  </a:tcPr>
                </a:tc>
                <a:tc>
                  <a:txBody>
                    <a:bodyPr anchor="ctr"/>
                    <a:lstStyle/>
                    <a:p>
                      <a:pPr algn="ctr">
                        <a:lnSpc>
                          <a:spcPct val="115000"/>
                        </a:lnSpc>
                      </a:pPr>
                      <a:r>
                        <a:rPr lang="en-US" sz="1000" b="1" dirty="0">
                          <a:solidFill>
                            <a:srgbClr val="000000"/>
                          </a:solidFill>
                          <a:latin typeface="Arial"/>
                          <a:ea typeface="Arial"/>
                          <a:cs typeface="Arial"/>
                        </a:rPr>
                        <a:t>~3.0x</a:t>
                      </a:r>
                    </a:p>
                  </a:txBody>
                  <a:tcPr marL="45720" marR="45720" marT="45720" marB="45720" anchor="ctr">
                    <a:lnL>
                      <a:noFill/>
                    </a:lnL>
                    <a:lnR>
                      <a:noFill/>
                    </a:lnR>
                    <a:lnT>
                      <a:noFill/>
                    </a:lnT>
                    <a:lnB>
                      <a:noFill/>
                    </a:lnB>
                    <a:solidFill>
                      <a:srgbClr val="F2F2F2"/>
                    </a:solidFill>
                  </a:tcPr>
                </a:tc>
              </a:tr>
            </a:tbl>
          </a:graphicData>
        </a:graphic>
      </p:graphicFrame>
      <p:sp>
        <p:nvSpPr>
          <p:cNvPr id="90" name="Guardrail"/>
          <p:cNvSpPr txBox="1"/>
          <p:nvPr/>
        </p:nvSpPr>
        <p:spPr>
          <a:xfrm>
            <a:off x="453079" y="5121600"/>
            <a:ext cx="11282362" cy="360000"/>
          </a:xfrm>
          <a:prstGeom prst="rect">
            <a:avLst/>
          </a:prstGeom>
          <a:noFill/>
          <a:ln>
            <a:noFill/>
          </a:ln>
        </p:spPr>
        <p:txBody>
          <a:bodyPr wrap="square" anchor="t" lIns="0" tIns="0" rIns="0" bIns="0"/>
          <a:lstStyle/>
          <a:p>
            <a:pPr>
              <a:lnSpc>
                <a:spcPct val="115000"/>
              </a:lnSpc>
              <a:buNone/>
            </a:pPr>
            <a:r>
              <a:rPr lang="en-US" sz="800" b="1" i="1" dirty="0">
                <a:solidFill>
                  <a:srgbClr val="000000"/>
                </a:solidFill>
                <a:latin typeface="Arial"/>
                <a:ea typeface="Arial"/>
                <a:cs typeface="Arial"/>
              </a:rPr>
              <a:t>Read with care: </a:t>
            </a:r>
            <a:r>
              <a:rPr lang="en-US" sz="800" i="1" dirty="0">
                <a:solidFill>
                  <a:srgbClr val="000000"/>
                </a:solidFill>
                <a:latin typeface="Arial"/>
                <a:ea typeface="Arial"/>
                <a:cs typeface="Arial"/>
              </a:rPr>
              <a:t>the ceiling is the upper bound, the p ≈ 50% case is the working number; the destroyer inputs are analyst judgment; the shares, not the dollars, are the answer.</a:t>
            </a:r>
          </a:p>
        </p:txBody>
      </p:sp>
      <p:sp>
        <p:nvSpPr>
          <p:cNvPr id="9999" name="Sources"/>
          <p:cNvSpPr txBox="1"/>
          <p:nvPr/>
        </p:nvSpPr>
        <p:spPr>
          <a:xfrm>
            <a:off x="453079" y="6085448"/>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Sources: Defense News, "Defense firms outsource sub, carrier construction amid labor woes" (M. Eckstein, Oct 2022); O'Rourke (CRS), State of U.S. Shipbuilding, House Armed Services Committee testimony (Mar 2025), cross-checked against the CBO Shipbuilding Composite Index (Apr 2024); DoD FMR 7000.14-R Vol 2B Ch 4, Exhibit P-5 ship cost element categories (Nov 2017); DoD contract award announcements (announced place-of-performance): Virginia Block V (2019), Columbia Build I (2020), DDG-51 FY23–27 multiyear (2023)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Executive Summary</a:t>
            </a:r>
            <a:r>
              <a:rPr lang="en-US" sz="1000" kern="1200" dirty="0">
                <a:solidFill>
                  <a:srgbClr val="44505C"/>
                </a:solidFill>
                <a:latin typeface="Arial"/>
                <a:ea typeface="Arial"/>
                <a:cs typeface="Arial"/>
              </a:rPr>
              <a:t> / Supplier TAM and SAM</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Outsourcing Ceiling Methodology | The ceiling is built from the must-stay core, not read from a budget line.</a:t>
            </a:r>
          </a:p>
        </p:txBody>
      </p:sp>
      <p:sp>
        <p:nvSpPr>
          <p:cNvPr id="20" name="Box1"/>
          <p:cNvSpPr txBox="1"/>
          <p:nvPr/>
        </p:nvSpPr>
        <p:spPr>
          <a:xfrm>
            <a:off x="453079" y="1460000"/>
            <a:ext cx="1260000" cy="1220000"/>
          </a:xfrm>
          <a:prstGeom prst="rect">
            <a:avLst/>
          </a:prstGeom>
          <a:solidFill>
            <a:srgbClr val="E2E9EF"/>
          </a:solidFill>
          <a:ln w="12700">
            <a:solidFill>
              <a:srgbClr val="000000"/>
            </a:solidFill>
          </a:ln>
        </p:spPr>
        <p:txBody>
          <a:bodyPr wrap="square" anchor="t" lIns="114300" tIns="76200" rIns="114300" bIns="76200"/>
          <a:lstStyle/>
          <a:p>
            <a:pPr>
              <a:lnSpc>
                <a:spcPct val="115000"/>
              </a:lnSpc>
              <a:spcAft>
                <a:spcPts val="80"/>
              </a:spcAft>
              <a:buNone/>
            </a:pPr>
            <a:r>
              <a:rPr lang="en-US" sz="900" b="1" dirty="0">
                <a:solidFill>
                  <a:srgbClr val="000000"/>
                </a:solidFill>
                <a:latin typeface="Arial"/>
                <a:ea typeface="Arial"/>
                <a:cs typeface="Arial"/>
              </a:rPr>
              <a:t>1.  </a:t>
            </a:r>
            <a:r>
              <a:rPr lang="en-US" sz="900" b="1" dirty="0">
                <a:solidFill>
                  <a:srgbClr val="000000"/>
                </a:solidFill>
                <a:latin typeface="Arial"/>
                <a:ea typeface="Arial"/>
                <a:cs typeface="Arial"/>
              </a:rPr>
              <a:t>Define addressable base</a:t>
            </a:r>
          </a:p>
          <a:p>
            <a:pPr>
              <a:lnSpc>
                <a:spcPct val="115000"/>
              </a:lnSpc>
              <a:spcAft>
                <a:spcPts val="60"/>
              </a:spcAft>
              <a:buNone/>
            </a:pPr>
            <a:r>
              <a:rPr lang="en-US" sz="850" dirty="0">
                <a:solidFill>
                  <a:srgbClr val="000000"/>
                </a:solidFill>
                <a:latin typeface="Arial"/>
                <a:ea typeface="Arial"/>
                <a:cs typeface="Arial"/>
              </a:rPr>
              <a:t>Basic Construction, FY22–27 P-5c</a:t>
            </a:r>
          </a:p>
          <a:p>
            <a:pPr>
              <a:lnSpc>
                <a:spcPct val="115000"/>
              </a:lnSpc>
              <a:spcAft>
                <a:spcPts val="60"/>
              </a:spcAft>
              <a:buNone/>
            </a:pPr>
            <a:r>
              <a:rPr lang="en-US" sz="850" dirty="0">
                <a:solidFill>
                  <a:srgbClr val="000000"/>
                </a:solidFill>
                <a:latin typeface="Arial"/>
                <a:ea typeface="Arial"/>
                <a:cs typeface="Arial"/>
              </a:rPr>
              <a:t>Excludes GFE and non-BC ship cost</a:t>
            </a:r>
          </a:p>
        </p:txBody>
      </p:sp>
      <p:sp>
        <p:nvSpPr>
          <p:cNvPr id="21" name="Box2"/>
          <p:cNvSpPr txBox="1"/>
          <p:nvPr/>
        </p:nvSpPr>
        <p:spPr>
          <a:xfrm>
            <a:off x="2013079" y="1460000"/>
            <a:ext cx="1260000" cy="1220000"/>
          </a:xfrm>
          <a:prstGeom prst="rect">
            <a:avLst/>
          </a:prstGeom>
          <a:solidFill>
            <a:srgbClr val="B6C8D8"/>
          </a:solidFill>
          <a:ln w="12700">
            <a:solidFill>
              <a:srgbClr val="000000"/>
            </a:solidFill>
          </a:ln>
        </p:spPr>
        <p:txBody>
          <a:bodyPr wrap="square" anchor="t" lIns="114300" tIns="76200" rIns="114300" bIns="76200"/>
          <a:lstStyle/>
          <a:p>
            <a:pPr>
              <a:lnSpc>
                <a:spcPct val="115000"/>
              </a:lnSpc>
              <a:spcAft>
                <a:spcPts val="80"/>
              </a:spcAft>
              <a:buNone/>
            </a:pPr>
            <a:r>
              <a:rPr lang="en-US" sz="900" b="1" dirty="0">
                <a:solidFill>
                  <a:srgbClr val="000000"/>
                </a:solidFill>
                <a:latin typeface="Arial"/>
                <a:ea typeface="Arial"/>
                <a:cs typeface="Arial"/>
              </a:rPr>
              <a:t>2.  </a:t>
            </a:r>
            <a:r>
              <a:rPr lang="en-US" sz="900" b="1" dirty="0">
                <a:solidFill>
                  <a:srgbClr val="000000"/>
                </a:solidFill>
                <a:latin typeface="Arial"/>
                <a:ea typeface="Arial"/>
                <a:cs typeface="Arial"/>
              </a:rPr>
              <a:t>Set labor mechanics</a:t>
            </a:r>
          </a:p>
          <a:p>
            <a:pPr>
              <a:lnSpc>
                <a:spcPct val="115000"/>
              </a:lnSpc>
              <a:spcAft>
                <a:spcPts val="60"/>
              </a:spcAft>
              <a:buNone/>
            </a:pPr>
            <a:r>
              <a:rPr lang="en-US" sz="850" dirty="0">
                <a:solidFill>
                  <a:srgbClr val="000000"/>
                </a:solidFill>
                <a:latin typeface="Arial"/>
                <a:ea typeface="Arial"/>
                <a:cs typeface="Arial"/>
              </a:rPr>
              <a:t>h = movable labor-hour share</a:t>
            </a:r>
          </a:p>
          <a:p>
            <a:pPr>
              <a:lnSpc>
                <a:spcPct val="115000"/>
              </a:lnSpc>
              <a:spcAft>
                <a:spcPts val="60"/>
              </a:spcAft>
              <a:buNone/>
            </a:pPr>
            <a:r>
              <a:rPr lang="en-US" sz="850" dirty="0">
                <a:solidFill>
                  <a:srgbClr val="000000"/>
                </a:solidFill>
                <a:latin typeface="Arial"/>
                <a:ea typeface="Arial"/>
                <a:cs typeface="Arial"/>
              </a:rPr>
              <a:t>L = labor share of BC</a:t>
            </a:r>
          </a:p>
        </p:txBody>
      </p:sp>
      <p:sp>
        <p:nvSpPr>
          <p:cNvPr id="22" name="Box3"/>
          <p:cNvSpPr txBox="1"/>
          <p:nvPr/>
        </p:nvSpPr>
        <p:spPr>
          <a:xfrm>
            <a:off x="3573079" y="1460000"/>
            <a:ext cx="1260000" cy="1220000"/>
          </a:xfrm>
          <a:prstGeom prst="rect">
            <a:avLst/>
          </a:prstGeom>
          <a:solidFill>
            <a:srgbClr val="3D5972"/>
          </a:solidFill>
          <a:ln w="12700">
            <a:solidFill>
              <a:srgbClr val="000000"/>
            </a:solidFill>
          </a:ln>
        </p:spPr>
        <p:txBody>
          <a:bodyPr wrap="square" anchor="t" lIns="114300" tIns="76200" rIns="114300" bIns="76200"/>
          <a:lstStyle/>
          <a:p>
            <a:pPr>
              <a:lnSpc>
                <a:spcPct val="115000"/>
              </a:lnSpc>
              <a:spcAft>
                <a:spcPts val="80"/>
              </a:spcAft>
              <a:buNone/>
            </a:pPr>
            <a:r>
              <a:rPr lang="en-US" sz="900" b="1" dirty="0">
                <a:solidFill>
                  <a:srgbClr val="FFFFFF"/>
                </a:solidFill>
                <a:latin typeface="Arial"/>
                <a:ea typeface="Arial"/>
                <a:cs typeface="Arial"/>
              </a:rPr>
              <a:t>3.  </a:t>
            </a:r>
            <a:r>
              <a:rPr lang="en-US" sz="900" b="1" dirty="0">
                <a:solidFill>
                  <a:srgbClr val="FFFFFF"/>
                </a:solidFill>
                <a:latin typeface="Arial"/>
                <a:ea typeface="Arial"/>
                <a:cs typeface="Arial"/>
              </a:rPr>
              <a:t>Isolate must-stay core</a:t>
            </a:r>
          </a:p>
          <a:p>
            <a:pPr>
              <a:lnSpc>
                <a:spcPct val="115000"/>
              </a:lnSpc>
              <a:spcAft>
                <a:spcPts val="60"/>
              </a:spcAft>
              <a:buNone/>
            </a:pPr>
            <a:r>
              <a:rPr lang="en-US" sz="850" dirty="0">
                <a:solidFill>
                  <a:srgbClr val="FFFFFF"/>
                </a:solidFill>
                <a:latin typeface="Arial"/>
                <a:ea typeface="Arial"/>
                <a:cs typeface="Arial"/>
              </a:rPr>
              <a:t>Core = L × (1 − h)</a:t>
            </a:r>
          </a:p>
          <a:p>
            <a:pPr>
              <a:lnSpc>
                <a:spcPct val="115000"/>
              </a:lnSpc>
              <a:spcAft>
                <a:spcPts val="60"/>
              </a:spcAft>
              <a:buNone/>
            </a:pPr>
            <a:r>
              <a:rPr lang="en-US" sz="850" dirty="0">
                <a:solidFill>
                  <a:srgbClr val="FFFFFF"/>
                </a:solidFill>
                <a:latin typeface="Arial"/>
                <a:ea typeface="Arial"/>
                <a:cs typeface="Arial"/>
              </a:rPr>
              <a:t>Final assembly, integration, test</a:t>
            </a:r>
          </a:p>
        </p:txBody>
      </p:sp>
      <p:sp>
        <p:nvSpPr>
          <p:cNvPr id="23" name="Box4"/>
          <p:cNvSpPr txBox="1"/>
          <p:nvPr/>
        </p:nvSpPr>
        <p:spPr>
          <a:xfrm>
            <a:off x="5133079" y="1460000"/>
            <a:ext cx="1260000" cy="1220000"/>
          </a:xfrm>
          <a:prstGeom prst="rect">
            <a:avLst/>
          </a:prstGeom>
          <a:solidFill>
            <a:srgbClr val="263746"/>
          </a:solidFill>
          <a:ln w="12700">
            <a:solidFill>
              <a:srgbClr val="000000"/>
            </a:solidFill>
          </a:ln>
        </p:spPr>
        <p:txBody>
          <a:bodyPr wrap="square" anchor="t" lIns="114300" tIns="76200" rIns="114300" bIns="76200"/>
          <a:lstStyle/>
          <a:p>
            <a:pPr>
              <a:lnSpc>
                <a:spcPct val="115000"/>
              </a:lnSpc>
              <a:spcAft>
                <a:spcPts val="80"/>
              </a:spcAft>
              <a:buNone/>
            </a:pPr>
            <a:r>
              <a:rPr lang="en-US" sz="900" b="1" dirty="0">
                <a:solidFill>
                  <a:srgbClr val="FFFFFF"/>
                </a:solidFill>
                <a:latin typeface="Arial"/>
                <a:ea typeface="Arial"/>
                <a:cs typeface="Arial"/>
              </a:rPr>
              <a:t>4.  </a:t>
            </a:r>
            <a:r>
              <a:rPr lang="en-US" sz="900" b="1" dirty="0">
                <a:solidFill>
                  <a:srgbClr val="FFFFFF"/>
                </a:solidFill>
                <a:latin typeface="Arial"/>
                <a:ea typeface="Arial"/>
                <a:cs typeface="Arial"/>
              </a:rPr>
              <a:t>Convert core into ceiling</a:t>
            </a:r>
          </a:p>
          <a:p>
            <a:pPr>
              <a:lnSpc>
                <a:spcPct val="115000"/>
              </a:lnSpc>
              <a:spcAft>
                <a:spcPts val="60"/>
              </a:spcAft>
              <a:buNone/>
            </a:pPr>
            <a:r>
              <a:rPr lang="en-US" sz="850" dirty="0">
                <a:solidFill>
                  <a:srgbClr val="FFFFFF"/>
                </a:solidFill>
                <a:latin typeface="Arial"/>
                <a:ea typeface="Arial"/>
                <a:cs typeface="Arial"/>
              </a:rPr>
              <a:t>Ceiling = 1 − core</a:t>
            </a:r>
          </a:p>
          <a:p>
            <a:pPr>
              <a:lnSpc>
                <a:spcPct val="115000"/>
              </a:lnSpc>
              <a:spcAft>
                <a:spcPts val="60"/>
              </a:spcAft>
              <a:buNone/>
            </a:pPr>
            <a:r>
              <a:rPr lang="en-US" sz="850" dirty="0">
                <a:solidFill>
                  <a:srgbClr val="FFFFFF"/>
                </a:solidFill>
                <a:latin typeface="Arial"/>
                <a:ea typeface="Arial"/>
                <a:cs typeface="Arial"/>
              </a:rPr>
              <a:t>p=100% material-inclusive upper bound</a:t>
            </a:r>
          </a:p>
        </p:txBody>
      </p:sp>
      <p:sp>
        <p:nvSpPr>
          <p:cNvPr id="24" name="Box5"/>
          <p:cNvSpPr txBox="1"/>
          <p:nvPr/>
        </p:nvSpPr>
        <p:spPr>
          <a:xfrm>
            <a:off x="6693079" y="1460000"/>
            <a:ext cx="1260000" cy="1220000"/>
          </a:xfrm>
          <a:prstGeom prst="rect">
            <a:avLst/>
          </a:prstGeom>
          <a:solidFill>
            <a:srgbClr val="B6C8D8"/>
          </a:solidFill>
          <a:ln w="12700">
            <a:solidFill>
              <a:srgbClr val="000000"/>
            </a:solidFill>
          </a:ln>
        </p:spPr>
        <p:txBody>
          <a:bodyPr wrap="square" anchor="t" lIns="114300" tIns="76200" rIns="114300" bIns="76200"/>
          <a:lstStyle/>
          <a:p>
            <a:pPr>
              <a:lnSpc>
                <a:spcPct val="115000"/>
              </a:lnSpc>
              <a:spcAft>
                <a:spcPts val="80"/>
              </a:spcAft>
              <a:buNone/>
            </a:pPr>
            <a:r>
              <a:rPr lang="en-US" sz="900" b="1" dirty="0">
                <a:solidFill>
                  <a:srgbClr val="000000"/>
                </a:solidFill>
                <a:latin typeface="Arial"/>
                <a:ea typeface="Arial"/>
                <a:cs typeface="Arial"/>
              </a:rPr>
              <a:t>5.  </a:t>
            </a:r>
            <a:r>
              <a:rPr lang="en-US" sz="900" b="1" dirty="0">
                <a:solidFill>
                  <a:srgbClr val="000000"/>
                </a:solidFill>
                <a:latin typeface="Arial"/>
                <a:ea typeface="Arial"/>
                <a:cs typeface="Arial"/>
              </a:rPr>
              <a:t>Compare with floor</a:t>
            </a:r>
          </a:p>
          <a:p>
            <a:pPr>
              <a:lnSpc>
                <a:spcPct val="115000"/>
              </a:lnSpc>
              <a:spcAft>
                <a:spcPts val="60"/>
              </a:spcAft>
              <a:buNone/>
            </a:pPr>
            <a:r>
              <a:rPr lang="en-US" sz="850" dirty="0">
                <a:solidFill>
                  <a:srgbClr val="000000"/>
                </a:solidFill>
                <a:latin typeface="Arial"/>
                <a:ea typeface="Arial"/>
                <a:cs typeface="Arial"/>
              </a:rPr>
              <a:t>Current POP is the floor</a:t>
            </a:r>
          </a:p>
          <a:p>
            <a:pPr>
              <a:lnSpc>
                <a:spcPct val="115000"/>
              </a:lnSpc>
              <a:spcAft>
                <a:spcPts val="60"/>
              </a:spcAft>
              <a:buNone/>
            </a:pPr>
            <a:r>
              <a:rPr lang="en-US" sz="850" dirty="0">
                <a:solidFill>
                  <a:srgbClr val="000000"/>
                </a:solidFill>
                <a:latin typeface="Arial"/>
                <a:ea typeface="Arial"/>
                <a:cs typeface="Arial"/>
              </a:rPr>
              <a:t>Headroom = ceiling / current</a:t>
            </a:r>
          </a:p>
        </p:txBody>
      </p:sp>
      <p:cxnSp>
        <p:nvCxnSpPr>
          <p:cNvPr id="30" name="Step1to2"/>
          <p:cNvCxnSpPr/>
          <p:nvPr/>
        </p:nvCxnSpPr>
        <p:spPr>
          <a:xfrm>
            <a:off x="1713079" y="2070000"/>
            <a:ext cx="300000" cy="0"/>
          </a:xfrm>
          <a:prstGeom prst="line">
            <a:avLst/>
          </a:prstGeom>
          <a:ln w="6350">
            <a:solidFill>
              <a:srgbClr val="000000"/>
            </a:solidFill>
            <a:tailEnd type="triangle" w="med" len="med"/>
          </a:ln>
        </p:spPr>
      </p:cxnSp>
      <p:cxnSp>
        <p:nvCxnSpPr>
          <p:cNvPr id="31" name="Step2to3"/>
          <p:cNvCxnSpPr/>
          <p:nvPr/>
        </p:nvCxnSpPr>
        <p:spPr>
          <a:xfrm>
            <a:off x="3273079" y="2070000"/>
            <a:ext cx="300000" cy="0"/>
          </a:xfrm>
          <a:prstGeom prst="line">
            <a:avLst/>
          </a:prstGeom>
          <a:ln w="6350">
            <a:solidFill>
              <a:srgbClr val="000000"/>
            </a:solidFill>
            <a:tailEnd type="triangle" w="med" len="med"/>
          </a:ln>
        </p:spPr>
      </p:cxnSp>
      <p:cxnSp>
        <p:nvCxnSpPr>
          <p:cNvPr id="32" name="Step3to4"/>
          <p:cNvCxnSpPr/>
          <p:nvPr/>
        </p:nvCxnSpPr>
        <p:spPr>
          <a:xfrm>
            <a:off x="4833079" y="2070000"/>
            <a:ext cx="300000" cy="0"/>
          </a:xfrm>
          <a:prstGeom prst="line">
            <a:avLst/>
          </a:prstGeom>
          <a:ln w="6350">
            <a:solidFill>
              <a:srgbClr val="000000"/>
            </a:solidFill>
            <a:tailEnd type="triangle" w="med" len="med"/>
          </a:ln>
        </p:spPr>
      </p:cxnSp>
      <p:cxnSp>
        <p:nvCxnSpPr>
          <p:cNvPr id="33" name="Step4to5"/>
          <p:cNvCxnSpPr/>
          <p:nvPr/>
        </p:nvCxnSpPr>
        <p:spPr>
          <a:xfrm>
            <a:off x="6393079" y="2070000"/>
            <a:ext cx="300000" cy="0"/>
          </a:xfrm>
          <a:prstGeom prst="line">
            <a:avLst/>
          </a:prstGeom>
          <a:ln w="6350">
            <a:solidFill>
              <a:srgbClr val="000000"/>
            </a:solidFill>
            <a:tailEnd type="triangle" w="med" len="med"/>
          </a:ln>
        </p:spPr>
      </p:cxnSp>
      <p:sp>
        <p:nvSpPr>
          <p:cNvPr id="40" name="Bridge"/>
          <p:cNvSpPr txBox="1"/>
          <p:nvPr/>
        </p:nvSpPr>
        <p:spPr>
          <a:xfrm>
            <a:off x="3573079" y="2750000"/>
            <a:ext cx="2820000" cy="440000"/>
          </a:xfrm>
          <a:prstGeom prst="rect">
            <a:avLst/>
          </a:prstGeom>
          <a:solidFill>
            <a:srgbClr val="F2F2F2"/>
          </a:solidFill>
          <a:ln>
            <a:noFill/>
          </a:ln>
        </p:spPr>
        <p:txBody>
          <a:bodyPr wrap="square" anchor="ctr" lIns="114300" tIns="40000" rIns="114300" bIns="40000"/>
          <a:lstStyle/>
          <a:p>
            <a:pPr algn="ctr">
              <a:lnSpc>
                <a:spcPct val="115000"/>
              </a:lnSpc>
              <a:spcAft>
                <a:spcPts val="50"/>
              </a:spcAft>
              <a:buNone/>
            </a:pPr>
            <a:r>
              <a:rPr lang="en-US" sz="850" b="1" i="1" dirty="0">
                <a:solidFill>
                  <a:srgbClr val="000000"/>
                </a:solidFill>
                <a:latin typeface="Arial"/>
                <a:ea typeface="Arial"/>
                <a:cs typeface="Arial"/>
              </a:rPr>
              <a:t>Hours-to-dollars bridge</a:t>
            </a:r>
          </a:p>
          <a:p>
            <a:pPr algn="ctr">
              <a:lnSpc>
                <a:spcPct val="115000"/>
              </a:lnSpc>
              <a:buNone/>
            </a:pPr>
            <a:r>
              <a:rPr lang="en-US" sz="850" i="1" dirty="0">
                <a:solidFill>
                  <a:srgbClr val="000000"/>
                </a:solidFill>
                <a:latin typeface="Arial"/>
                <a:ea typeface="Arial"/>
                <a:cs typeface="Arial"/>
              </a:rPr>
              <a:t>p=0 labor-only  ·  p=50% selected case  ·  p=100% structural ceiling</a:t>
            </a:r>
          </a:p>
        </p:txBody>
      </p:sp>
      <p:graphicFrame>
        <p:nvGraphicFramePr>
          <p:cNvPr id="50" name="MethodLedger"/>
          <p:cNvGraphicFramePr>
            <a:graphicFrameLocks noGrp="1"/>
          </p:cNvGraphicFramePr>
          <p:nvPr/>
        </p:nvGraphicFramePr>
        <p:xfrm>
          <a:off x="453079" y="3310000"/>
          <a:ext cx="7500000" cy="1371600"/>
        </p:xfrm>
        <a:graphic>
          <a:graphicData uri="http://schemas.openxmlformats.org/drawingml/2006/table">
            <a:tbl>
              <a:tblPr firstRow="1" firstCol="1" bandRow="0">
                <a:tableStyleId>{2D5ABB26-0587-4C30-8999-92F81FD0307C}</a:tableStyleId>
              </a:tblPr>
              <a:tblGrid>
                <a:gridCol w="1150000"/>
                <a:gridCol w="3000000"/>
                <a:gridCol w="3350000"/>
              </a:tblGrid>
              <a:tr h="274320">
                <a:tc>
                  <a:txBody>
                    <a:bodyPr anchor="ctr"/>
                    <a:lstStyle/>
                    <a:p>
                      <a:pPr algn="ctr">
                        <a:lnSpc>
                          <a:spcPct val="115000"/>
                        </a:lnSpc>
                      </a:pPr>
                      <a:r>
                        <a:rPr lang="en-US" sz="900" b="1" dirty="0">
                          <a:solidFill>
                            <a:srgbClr val="000000"/>
                          </a:solidFill>
                          <a:latin typeface="Arial"/>
                          <a:ea typeface="Arial"/>
                          <a:cs typeface="Arial"/>
                        </a:rPr>
                        <a:t>Lever</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l">
                        <a:lnSpc>
                          <a:spcPct val="115000"/>
                        </a:lnSpc>
                      </a:pPr>
                      <a:r>
                        <a:rPr lang="en-US" sz="900" b="1" dirty="0">
                          <a:solidFill>
                            <a:srgbClr val="000000"/>
                          </a:solidFill>
                          <a:latin typeface="Arial"/>
                          <a:ea typeface="Arial"/>
                          <a:cs typeface="Arial"/>
                        </a:rPr>
                        <a:t>Workbook treatment</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l">
                        <a:lnSpc>
                          <a:spcPct val="115000"/>
                        </a:lnSpc>
                      </a:pPr>
                      <a:r>
                        <a:rPr lang="en-US" sz="900" b="1" dirty="0">
                          <a:solidFill>
                            <a:srgbClr val="000000"/>
                          </a:solidFill>
                          <a:latin typeface="Arial"/>
                          <a:ea typeface="Arial"/>
                          <a:cs typeface="Arial"/>
                        </a:rPr>
                        <a:t>Deck wording</a:t>
                      </a:r>
                    </a:p>
                  </a:txBody>
                  <a:tcPr marL="45720" marR="45720" marT="45720" marB="45720" anchor="ctr">
                    <a:lnL>
                      <a:noFill/>
                    </a:lnL>
                    <a:lnR>
                      <a:noFill/>
                    </a:lnR>
                    <a:lnT>
                      <a:noFill/>
                    </a:lnT>
                    <a:lnB w="19050" cap="flat" cmpd="sng" algn="ctr">
                      <a:solidFill>
                        <a:srgbClr val="000000"/>
                      </a:solidFill>
                      <a:prstDash val="solid"/>
                    </a:lnB>
                    <a:noFill/>
                  </a:tcPr>
                </a:tc>
              </a:tr>
              <a:tr h="274320">
                <a:tc>
                  <a:txBody>
                    <a:bodyPr anchor="ctr"/>
                    <a:lstStyle/>
                    <a:p>
                      <a:pPr algn="ctr">
                        <a:lnSpc>
                          <a:spcPct val="115000"/>
                        </a:lnSpc>
                      </a:pPr>
                      <a:r>
                        <a:rPr lang="en-US" sz="900" b="1" dirty="0">
                          <a:solidFill>
                            <a:srgbClr val="000000"/>
                          </a:solidFill>
                          <a:latin typeface="Arial"/>
                          <a:ea typeface="Arial"/>
                          <a:cs typeface="Arial"/>
                        </a:rPr>
                        <a:t>h</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Sourced for submarines; DDG-51 assumption</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Movable labor-hour share</a:t>
                      </a:r>
                    </a:p>
                  </a:txBody>
                  <a:tcPr marL="45720" marR="45720" marT="45720" marB="45720" anchor="ctr">
                    <a:lnL>
                      <a:noFill/>
                    </a:lnL>
                    <a:lnR>
                      <a:noFill/>
                    </a:lnR>
                    <a:lnT>
                      <a:noFill/>
                    </a:lnT>
                    <a:lnB w="6350" cap="flat" cmpd="sng" algn="ctr">
                      <a:solidFill>
                        <a:srgbClr val="646464"/>
                      </a:solidFill>
                      <a:prstDash val="solid"/>
                    </a:lnB>
                    <a:noFill/>
                  </a:tcPr>
                </a:tc>
              </a:tr>
              <a:tr h="274320">
                <a:tc>
                  <a:txBody>
                    <a:bodyPr anchor="ctr"/>
                    <a:lstStyle/>
                    <a:p>
                      <a:pPr algn="ctr">
                        <a:lnSpc>
                          <a:spcPct val="115000"/>
                        </a:lnSpc>
                      </a:pPr>
                      <a:r>
                        <a:rPr lang="en-US" sz="900" b="1" dirty="0">
                          <a:solidFill>
                            <a:srgbClr val="000000"/>
                          </a:solidFill>
                          <a:latin typeface="Arial"/>
                          <a:ea typeface="Arial"/>
                          <a:cs typeface="Arial"/>
                        </a:rPr>
                        <a:t>L</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Sourced total-cost anchor, rebased to BC</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Labor share of Basic Construction</a:t>
                      </a:r>
                    </a:p>
                  </a:txBody>
                  <a:tcPr marL="45720" marR="45720" marT="45720" marB="45720" anchor="ctr">
                    <a:lnL>
                      <a:noFill/>
                    </a:lnL>
                    <a:lnR>
                      <a:noFill/>
                    </a:lnR>
                    <a:lnT>
                      <a:noFill/>
                    </a:lnT>
                    <a:lnB w="6350" cap="flat" cmpd="sng" algn="ctr">
                      <a:solidFill>
                        <a:srgbClr val="646464"/>
                      </a:solidFill>
                      <a:prstDash val="solid"/>
                    </a:lnB>
                    <a:noFill/>
                  </a:tcPr>
                </a:tc>
              </a:tr>
              <a:tr h="274320">
                <a:tc>
                  <a:txBody>
                    <a:bodyPr anchor="ctr"/>
                    <a:lstStyle/>
                    <a:p>
                      <a:pPr algn="ctr">
                        <a:lnSpc>
                          <a:spcPct val="115000"/>
                        </a:lnSpc>
                      </a:pPr>
                      <a:r>
                        <a:rPr lang="en-US" sz="900" b="1" dirty="0">
                          <a:solidFill>
                            <a:srgbClr val="000000"/>
                          </a:solidFill>
                          <a:latin typeface="Arial"/>
                          <a:ea typeface="Arial"/>
                          <a:cs typeface="Arial"/>
                        </a:rPr>
                        <a:t>p</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Scenario input</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Material pass-through dial</a:t>
                      </a:r>
                    </a:p>
                  </a:txBody>
                  <a:tcPr marL="45720" marR="45720" marT="45720" marB="45720" anchor="ctr">
                    <a:lnL>
                      <a:noFill/>
                    </a:lnL>
                    <a:lnR>
                      <a:noFill/>
                    </a:lnR>
                    <a:lnT>
                      <a:noFill/>
                    </a:lnT>
                    <a:lnB w="6350" cap="flat" cmpd="sng" algn="ctr">
                      <a:solidFill>
                        <a:srgbClr val="646464"/>
                      </a:solidFill>
                      <a:prstDash val="solid"/>
                    </a:lnB>
                    <a:noFill/>
                  </a:tcPr>
                </a:tc>
              </a:tr>
              <a:tr h="274320">
                <a:tc>
                  <a:txBody>
                    <a:bodyPr anchor="ctr"/>
                    <a:lstStyle/>
                    <a:p>
                      <a:pPr algn="ctr">
                        <a:lnSpc>
                          <a:spcPct val="115000"/>
                        </a:lnSpc>
                      </a:pPr>
                      <a:r>
                        <a:rPr lang="en-US" sz="900" b="1" dirty="0">
                          <a:solidFill>
                            <a:srgbClr val="000000"/>
                          </a:solidFill>
                          <a:latin typeface="Arial"/>
                          <a:ea typeface="Arial"/>
                          <a:cs typeface="Arial"/>
                        </a:rPr>
                        <a:t>POP</a:t>
                      </a:r>
                    </a:p>
                  </a:txBody>
                  <a:tcPr marL="45720" marR="45720" marT="45720" marB="45720" anchor="ctr">
                    <a:lnL>
                      <a:noFill/>
                    </a:lnL>
                    <a:lnR>
                      <a:noFill/>
                    </a:lnR>
                    <a:lnT>
                      <a:noFill/>
                    </a:lnT>
                    <a:lnB>
                      <a:noFill/>
                    </a:lnB>
                    <a:noFill/>
                  </a:tcPr>
                </a:tc>
                <a:tc>
                  <a:txBody>
                    <a:bodyPr anchor="ctr"/>
                    <a:lstStyle/>
                    <a:p>
                      <a:pPr algn="l">
                        <a:lnSpc>
                          <a:spcPct val="115000"/>
                        </a:lnSpc>
                      </a:pPr>
                      <a:r>
                        <a:rPr lang="en-US" sz="900" b="0" dirty="0">
                          <a:solidFill>
                            <a:srgbClr val="000000"/>
                          </a:solidFill>
                          <a:latin typeface="Arial"/>
                          <a:ea typeface="Arial"/>
                          <a:cs typeface="Arial"/>
                        </a:rPr>
                        <a:t>Sourced / derived current state</a:t>
                      </a:r>
                    </a:p>
                  </a:txBody>
                  <a:tcPr marL="45720" marR="45720" marT="45720" marB="45720" anchor="ctr">
                    <a:lnL>
                      <a:noFill/>
                    </a:lnL>
                    <a:lnR>
                      <a:noFill/>
                    </a:lnR>
                    <a:lnT>
                      <a:noFill/>
                    </a:lnT>
                    <a:lnB>
                      <a:noFill/>
                    </a:lnB>
                    <a:noFill/>
                  </a:tcPr>
                </a:tc>
                <a:tc>
                  <a:txBody>
                    <a:bodyPr anchor="ctr"/>
                    <a:lstStyle/>
                    <a:p>
                      <a:pPr algn="l">
                        <a:lnSpc>
                          <a:spcPct val="115000"/>
                        </a:lnSpc>
                      </a:pPr>
                      <a:r>
                        <a:rPr lang="en-US" sz="900" b="0" dirty="0">
                          <a:solidFill>
                            <a:srgbClr val="000000"/>
                          </a:solidFill>
                          <a:latin typeface="Arial"/>
                          <a:ea typeface="Arial"/>
                          <a:cs typeface="Arial"/>
                        </a:rPr>
                        <a:t>Current floor, not ceiling</a:t>
                      </a:r>
                    </a:p>
                  </a:txBody>
                  <a:tcPr marL="45720" marR="45720" marT="45720" marB="45720" anchor="ctr">
                    <a:lnL>
                      <a:noFill/>
                    </a:lnL>
                    <a:lnR>
                      <a:noFill/>
                    </a:lnR>
                    <a:lnT>
                      <a:noFill/>
                    </a:lnT>
                    <a:lnB>
                      <a:noFill/>
                    </a:lnB>
                    <a:noFill/>
                  </a:tcPr>
                </a:tc>
              </a:tr>
            </a:tbl>
          </a:graphicData>
        </a:graphic>
      </p:graphicFrame>
      <p:sp>
        <p:nvSpPr>
          <p:cNvPr id="60" name="Chip1"/>
          <p:cNvSpPr txBox="1"/>
          <p:nvPr/>
        </p:nvSpPr>
        <p:spPr>
          <a:xfrm>
            <a:off x="453079" y="4791600"/>
            <a:ext cx="2400000" cy="320000"/>
          </a:xfrm>
          <a:prstGeom prst="rect">
            <a:avLst/>
          </a:prstGeom>
          <a:solidFill>
            <a:srgbClr val="F2F2F2"/>
          </a:solidFill>
          <a:ln w="12700">
            <a:solidFill>
              <a:srgbClr val="000000"/>
            </a:solidFill>
          </a:ln>
        </p:spPr>
        <p:txBody>
          <a:bodyPr wrap="square" anchor="ctr" lIns="45720" tIns="9144" rIns="45720" bIns="9144"/>
          <a:lstStyle/>
          <a:p>
            <a:pPr algn="ctr">
              <a:lnSpc>
                <a:spcPct val="115000"/>
              </a:lnSpc>
              <a:buNone/>
            </a:pPr>
            <a:r>
              <a:rPr lang="en-US" sz="900" dirty="0">
                <a:solidFill>
                  <a:srgbClr val="000000"/>
                </a:solidFill>
                <a:latin typeface="Arial"/>
                <a:ea typeface="Arial"/>
                <a:cs typeface="Arial"/>
              </a:rPr>
              <a:t>Upper bound, not working case</a:t>
            </a:r>
          </a:p>
        </p:txBody>
      </p:sp>
      <p:sp>
        <p:nvSpPr>
          <p:cNvPr id="61" name="Chip2"/>
          <p:cNvSpPr txBox="1"/>
          <p:nvPr/>
        </p:nvSpPr>
        <p:spPr>
          <a:xfrm>
            <a:off x="3003079" y="4791600"/>
            <a:ext cx="2400000" cy="320000"/>
          </a:xfrm>
          <a:prstGeom prst="rect">
            <a:avLst/>
          </a:prstGeom>
          <a:solidFill>
            <a:srgbClr val="F2F2F2"/>
          </a:solidFill>
          <a:ln w="12700">
            <a:solidFill>
              <a:srgbClr val="000000"/>
            </a:solidFill>
          </a:ln>
        </p:spPr>
        <p:txBody>
          <a:bodyPr wrap="square" anchor="ctr" lIns="45720" tIns="9144" rIns="45720" bIns="9144"/>
          <a:lstStyle/>
          <a:p>
            <a:pPr algn="ctr">
              <a:lnSpc>
                <a:spcPct val="115000"/>
              </a:lnSpc>
              <a:buNone/>
            </a:pPr>
            <a:r>
              <a:rPr lang="en-US" sz="900" dirty="0">
                <a:solidFill>
                  <a:srgbClr val="000000"/>
                </a:solidFill>
                <a:latin typeface="Arial"/>
                <a:ea typeface="Arial"/>
                <a:cs typeface="Arial"/>
              </a:rPr>
              <a:t>DDG-51 h/L are assumptions</a:t>
            </a:r>
          </a:p>
        </p:txBody>
      </p:sp>
      <p:sp>
        <p:nvSpPr>
          <p:cNvPr id="62" name="Chip3"/>
          <p:cNvSpPr txBox="1"/>
          <p:nvPr/>
        </p:nvSpPr>
        <p:spPr>
          <a:xfrm>
            <a:off x="5553079" y="4791600"/>
            <a:ext cx="2400000" cy="320000"/>
          </a:xfrm>
          <a:prstGeom prst="rect">
            <a:avLst/>
          </a:prstGeom>
          <a:solidFill>
            <a:srgbClr val="F2F2F2"/>
          </a:solidFill>
          <a:ln w="12700">
            <a:solidFill>
              <a:srgbClr val="000000"/>
            </a:solidFill>
          </a:ln>
        </p:spPr>
        <p:txBody>
          <a:bodyPr wrap="square" anchor="ctr" lIns="45720" tIns="9144" rIns="45720" bIns="9144"/>
          <a:lstStyle/>
          <a:p>
            <a:pPr algn="ctr">
              <a:lnSpc>
                <a:spcPct val="115000"/>
              </a:lnSpc>
              <a:buNone/>
            </a:pPr>
            <a:r>
              <a:rPr lang="en-US" sz="900" dirty="0">
                <a:solidFill>
                  <a:srgbClr val="000000"/>
                </a:solidFill>
                <a:latin typeface="Arial"/>
                <a:ea typeface="Arial"/>
                <a:cs typeface="Arial"/>
              </a:rPr>
              <a:t>Shares are the answer; $ show magnitude</a:t>
            </a:r>
          </a:p>
        </p:txBody>
      </p:sp>
      <p:sp>
        <p:nvSpPr>
          <p:cNvPr id="70" name="Rail1"/>
          <p:cNvSpPr txBox="1"/>
          <p:nvPr/>
        </p:nvSpPr>
        <p:spPr>
          <a:xfrm>
            <a:off x="8133079" y="1460000"/>
            <a:ext cx="3602362" cy="1450000"/>
          </a:xfrm>
          <a:prstGeom prst="rect">
            <a:avLst/>
          </a:prstGeom>
          <a:noFill/>
          <a:ln>
            <a:noFill/>
          </a:ln>
        </p:spPr>
        <p:txBody>
          <a:bodyPr wrap="square" anchor="t" lIns="0" tIns="0" rIns="0" bIns="0"/>
          <a:lstStyle/>
          <a:p>
            <a:pPr>
              <a:lnSpc>
                <a:spcPct val="115000"/>
              </a:lnSpc>
              <a:buNone/>
            </a:pPr>
            <a:r>
              <a:rPr lang="en-US" sz="1000" b="1" dirty="0">
                <a:solidFill>
                  <a:srgbClr val="000000"/>
                </a:solidFill>
                <a:latin typeface="Arial"/>
                <a:ea typeface="Arial"/>
                <a:cs typeface="Arial"/>
              </a:rPr>
              <a:t>The denominator choice is the defensibility move. </a:t>
            </a:r>
            <a:r>
              <a:rPr lang="en-US" sz="950" dirty="0">
                <a:solidFill>
                  <a:srgbClr val="000000"/>
                </a:solidFill>
                <a:latin typeface="Arial"/>
                <a:ea typeface="Arial"/>
                <a:cs typeface="Arial"/>
              </a:rPr>
              <a:t>Basic Construction isolates the work the prime yard can make or buy. GFE and total ship cost stay outside the addressable base, so the model does not treat combat systems, reactor content, or other government-furnished items as outsourcing opportunity.</a:t>
            </a:r>
          </a:p>
        </p:txBody>
      </p:sp>
      <p:sp>
        <p:nvSpPr>
          <p:cNvPr id="71" name="Rail2"/>
          <p:cNvSpPr txBox="1"/>
          <p:nvPr/>
        </p:nvSpPr>
        <p:spPr>
          <a:xfrm>
            <a:off x="8133079" y="2980000"/>
            <a:ext cx="3602362" cy="1100000"/>
          </a:xfrm>
          <a:prstGeom prst="rect">
            <a:avLst/>
          </a:prstGeom>
          <a:noFill/>
          <a:ln>
            <a:noFill/>
          </a:ln>
        </p:spPr>
        <p:txBody>
          <a:bodyPr wrap="square" anchor="t" lIns="0" tIns="0" rIns="0" bIns="0"/>
          <a:lstStyle/>
          <a:p>
            <a:pPr>
              <a:lnSpc>
                <a:spcPct val="115000"/>
              </a:lnSpc>
              <a:buNone/>
            </a:pPr>
            <a:r>
              <a:rPr lang="en-US" sz="1000" b="1" dirty="0">
                <a:solidFill>
                  <a:srgbClr val="000000"/>
                </a:solidFill>
                <a:latin typeface="Arial"/>
                <a:ea typeface="Arial"/>
                <a:cs typeface="Arial"/>
              </a:rPr>
              <a:t>The model estimates a ceiling, not a forecast. </a:t>
            </a:r>
            <a:r>
              <a:rPr lang="en-US" sz="950" dirty="0">
                <a:solidFill>
                  <a:srgbClr val="000000"/>
                </a:solidFill>
                <a:latin typeface="Arial"/>
                <a:ea typeface="Arial"/>
                <a:cs typeface="Arial"/>
              </a:rPr>
              <a:t>Current POP is the starting floor. The structural ceiling is the p=100% upper bound; the selected p=50% case is the more conservative working read.</a:t>
            </a:r>
          </a:p>
        </p:txBody>
      </p:sp>
      <p:sp>
        <p:nvSpPr>
          <p:cNvPr id="72" name="Rail3"/>
          <p:cNvSpPr txBox="1"/>
          <p:nvPr/>
        </p:nvSpPr>
        <p:spPr>
          <a:xfrm>
            <a:off x="8133079" y="4180000"/>
            <a:ext cx="3602362" cy="1700000"/>
          </a:xfrm>
          <a:prstGeom prst="rect">
            <a:avLst/>
          </a:prstGeom>
          <a:noFill/>
          <a:ln>
            <a:noFill/>
          </a:ln>
        </p:spPr>
        <p:txBody>
          <a:bodyPr wrap="square" anchor="t" lIns="0" tIns="0" rIns="0" bIns="0"/>
          <a:lstStyle/>
          <a:p>
            <a:pPr>
              <a:lnSpc>
                <a:spcPct val="115000"/>
              </a:lnSpc>
              <a:buNone/>
            </a:pPr>
            <a:r>
              <a:rPr lang="en-US" sz="1000" b="1" dirty="0">
                <a:solidFill>
                  <a:srgbClr val="000000"/>
                </a:solidFill>
                <a:latin typeface="Arial"/>
                <a:ea typeface="Arial"/>
                <a:cs typeface="Arial"/>
              </a:rPr>
              <a:t>The slide shows the judgment points before reviewers ask. </a:t>
            </a:r>
            <a:r>
              <a:rPr lang="en-US" sz="950" dirty="0">
                <a:solidFill>
                  <a:srgbClr val="000000"/>
                </a:solidFill>
                <a:latin typeface="Arial"/>
                <a:ea typeface="Arial"/>
                <a:cs typeface="Arial"/>
              </a:rPr>
              <a:t>DDG-51 h and L are analyst assumptions, L is rebased from total cost to Basic Construction, and p materially moves the dollar answer.</a:t>
            </a:r>
          </a:p>
        </p:txBody>
      </p:sp>
      <p:sp>
        <p:nvSpPr>
          <p:cNvPr id="9999" name="Sources"/>
          <p:cNvSpPr txBox="1"/>
          <p:nvPr/>
        </p:nvSpPr>
        <p:spPr>
          <a:xfrm>
            <a:off x="453079" y="6085448"/>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Sources: Defense News, "Defense firms outsource sub, carrier construction amid labor woes" (M. Eckstein, Oct 2022); O'Rourke (CRS), State of U.S. Shipbuilding, House Armed Services Committee testimony (Mar 2025), cross-checked against the CBO Shipbuilding Composite Index (Apr 2024); DoD FMR 7000.14-R Vol 2B Ch 4, Exhibit P-5 ship cost element categories (Nov 2017); DoD contract award announcements (announced place-of-performance): Virginia Block V (2019), Columbia Build I (2020), DDG-51 FY23–27 multiyear (2023)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Executive Summary</a:t>
            </a:r>
            <a:r>
              <a:rPr lang="en-US" sz="1000" kern="1200" dirty="0">
                <a:solidFill>
                  <a:srgbClr val="44505C"/>
                </a:solidFill>
                <a:latin typeface="Arial"/>
                <a:ea typeface="Arial"/>
                <a:cs typeface="Arial"/>
              </a:rPr>
              <a:t> / Supplier TAM and SAM</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Outsourcing Ceiling | The maximum supplier share is built from the must-stay core and a material pass-through dial.</a:t>
            </a:r>
          </a:p>
        </p:txBody>
      </p:sp>
      <p:sp>
        <p:nvSpPr>
          <p:cNvPr id="10" name="Framer"/>
          <p:cNvSpPr txBox="1"/>
          <p:nvPr/>
        </p:nvSpPr>
        <p:spPr>
          <a:xfrm>
            <a:off x="453079" y="1380000"/>
            <a:ext cx="11282362" cy="300000"/>
          </a:xfrm>
          <a:prstGeom prst="rect">
            <a:avLst/>
          </a:prstGeom>
          <a:noFill/>
          <a:ln>
            <a:noFill/>
          </a:ln>
        </p:spPr>
        <p:txBody>
          <a:bodyPr wrap="square" anchor="ctr" lIns="0" tIns="0" rIns="0" bIns="0"/>
          <a:lstStyle/>
          <a:p>
            <a:pPr>
              <a:lnSpc>
                <a:spcPct val="115000"/>
              </a:lnSpc>
              <a:buNone/>
            </a:pPr>
            <a:r>
              <a:rPr lang="en-US" sz="900" b="1" dirty="0">
                <a:solidFill>
                  <a:srgbClr val="000000"/>
                </a:solidFill>
                <a:latin typeface="Arial"/>
                <a:ea typeface="Arial"/>
                <a:cs typeface="Arial"/>
              </a:rPr>
              <a:t>No budget line splits must-stay assembly from outsourceable work. </a:t>
            </a:r>
            <a:r>
              <a:rPr lang="en-US" sz="900" dirty="0">
                <a:solidFill>
                  <a:srgbClr val="000000"/>
                </a:solidFill>
                <a:latin typeface="Arial"/>
                <a:ea typeface="Arial"/>
                <a:cs typeface="Arial"/>
              </a:rPr>
              <a:t>Published place-of-performance (POP) sets today's floor, so the ceiling is built from Basic Construction, labor share, movable hours, and material pass-through.</a:t>
            </a:r>
          </a:p>
        </p:txBody>
      </p:sp>
      <p:sp>
        <p:nvSpPr>
          <p:cNvPr id="20" name="Box1"/>
          <p:cNvSpPr txBox="1"/>
          <p:nvPr/>
        </p:nvSpPr>
        <p:spPr>
          <a:xfrm>
            <a:off x="453079" y="1800000"/>
            <a:ext cx="1590000" cy="960000"/>
          </a:xfrm>
          <a:prstGeom prst="rect">
            <a:avLst/>
          </a:prstGeom>
          <a:solidFill>
            <a:srgbClr val="E2E9EF"/>
          </a:solidFill>
          <a:ln w="12700">
            <a:solidFill>
              <a:srgbClr val="000000"/>
            </a:solidFill>
          </a:ln>
        </p:spPr>
        <p:txBody>
          <a:bodyPr wrap="square" anchor="ctr" lIns="91440" tIns="76200" rIns="91440" bIns="76200"/>
          <a:lstStyle/>
          <a:p>
            <a:pPr>
              <a:lnSpc>
                <a:spcPct val="115000"/>
              </a:lnSpc>
              <a:spcAft>
                <a:spcPts val="100"/>
              </a:spcAft>
              <a:buNone/>
            </a:pPr>
            <a:r>
              <a:rPr lang="en-US" sz="900" b="1" dirty="0">
                <a:solidFill>
                  <a:srgbClr val="000000"/>
                </a:solidFill>
                <a:latin typeface="Arial"/>
                <a:ea typeface="Arial"/>
                <a:cs typeface="Arial"/>
              </a:rPr>
              <a:t>1.  Addressable base</a:t>
            </a:r>
          </a:p>
          <a:p>
            <a:pPr>
              <a:lnSpc>
                <a:spcPct val="115000"/>
              </a:lnSpc>
              <a:spcAft>
                <a:spcPts val="60"/>
              </a:spcAft>
              <a:buNone/>
            </a:pPr>
            <a:r>
              <a:rPr lang="en-US" sz="850" dirty="0">
                <a:solidFill>
                  <a:srgbClr val="000000"/>
                </a:solidFill>
                <a:latin typeface="Arial"/>
                <a:ea typeface="Arial"/>
                <a:cs typeface="Arial"/>
              </a:rPr>
              <a:t>FY22–27 Basic Construction</a:t>
            </a:r>
          </a:p>
          <a:p>
            <a:pPr>
              <a:lnSpc>
                <a:spcPct val="115000"/>
              </a:lnSpc>
              <a:spcAft>
                <a:spcPts val="60"/>
              </a:spcAft>
              <a:buNone/>
            </a:pPr>
            <a:r>
              <a:rPr lang="en-US" sz="850" dirty="0">
                <a:solidFill>
                  <a:srgbClr val="000000"/>
                </a:solidFill>
                <a:latin typeface="Arial"/>
                <a:ea typeface="Arial"/>
                <a:cs typeface="Arial"/>
              </a:rPr>
              <a:t>Excludes GFE and non-BC cost</a:t>
            </a:r>
          </a:p>
        </p:txBody>
      </p:sp>
      <p:sp>
        <p:nvSpPr>
          <p:cNvPr id="21" name="Box2"/>
          <p:cNvSpPr txBox="1"/>
          <p:nvPr/>
        </p:nvSpPr>
        <p:spPr>
          <a:xfrm>
            <a:off x="2423079" y="1800000"/>
            <a:ext cx="1590000" cy="960000"/>
          </a:xfrm>
          <a:prstGeom prst="rect">
            <a:avLst/>
          </a:prstGeom>
          <a:solidFill>
            <a:srgbClr val="B6C8D8"/>
          </a:solidFill>
          <a:ln w="12700">
            <a:solidFill>
              <a:srgbClr val="000000"/>
            </a:solidFill>
          </a:ln>
        </p:spPr>
        <p:txBody>
          <a:bodyPr wrap="square" anchor="ctr" lIns="91440" tIns="76200" rIns="91440" bIns="76200"/>
          <a:lstStyle/>
          <a:p>
            <a:pPr>
              <a:lnSpc>
                <a:spcPct val="115000"/>
              </a:lnSpc>
              <a:spcAft>
                <a:spcPts val="100"/>
              </a:spcAft>
              <a:buNone/>
            </a:pPr>
            <a:r>
              <a:rPr lang="en-US" sz="900" b="1" dirty="0">
                <a:solidFill>
                  <a:srgbClr val="000000"/>
                </a:solidFill>
                <a:latin typeface="Arial"/>
                <a:ea typeface="Arial"/>
                <a:cs typeface="Arial"/>
              </a:rPr>
              <a:t>2.  Labor mechanics</a:t>
            </a:r>
          </a:p>
          <a:p>
            <a:pPr>
              <a:lnSpc>
                <a:spcPct val="115000"/>
              </a:lnSpc>
              <a:spcAft>
                <a:spcPts val="60"/>
              </a:spcAft>
              <a:buNone/>
            </a:pPr>
            <a:r>
              <a:rPr lang="en-US" sz="850" dirty="0">
                <a:solidFill>
                  <a:srgbClr val="000000"/>
                </a:solidFill>
                <a:latin typeface="Arial"/>
                <a:ea typeface="Arial"/>
                <a:cs typeface="Arial"/>
              </a:rPr>
              <a:t>h = movable labor-hour share</a:t>
            </a:r>
          </a:p>
          <a:p>
            <a:pPr>
              <a:lnSpc>
                <a:spcPct val="115000"/>
              </a:lnSpc>
              <a:spcAft>
                <a:spcPts val="60"/>
              </a:spcAft>
              <a:buNone/>
            </a:pPr>
            <a:r>
              <a:rPr lang="en-US" sz="850" dirty="0">
                <a:solidFill>
                  <a:srgbClr val="000000"/>
                </a:solidFill>
                <a:latin typeface="Arial"/>
                <a:ea typeface="Arial"/>
                <a:cs typeface="Arial"/>
              </a:rPr>
              <a:t>L = labor share of BC</a:t>
            </a:r>
          </a:p>
        </p:txBody>
      </p:sp>
      <p:sp>
        <p:nvSpPr>
          <p:cNvPr id="22" name="Box3"/>
          <p:cNvSpPr txBox="1"/>
          <p:nvPr/>
        </p:nvSpPr>
        <p:spPr>
          <a:xfrm>
            <a:off x="4393079" y="1800000"/>
            <a:ext cx="1590000" cy="960000"/>
          </a:xfrm>
          <a:prstGeom prst="rect">
            <a:avLst/>
          </a:prstGeom>
          <a:solidFill>
            <a:srgbClr val="6E91B1"/>
          </a:solidFill>
          <a:ln w="12700">
            <a:solidFill>
              <a:srgbClr val="000000"/>
            </a:solidFill>
          </a:ln>
        </p:spPr>
        <p:txBody>
          <a:bodyPr wrap="square" anchor="ctr" lIns="91440" tIns="76200" rIns="91440" bIns="76200"/>
          <a:lstStyle/>
          <a:p>
            <a:pPr>
              <a:lnSpc>
                <a:spcPct val="115000"/>
              </a:lnSpc>
              <a:spcAft>
                <a:spcPts val="100"/>
              </a:spcAft>
              <a:buNone/>
            </a:pPr>
            <a:r>
              <a:rPr lang="en-US" sz="900" b="1" dirty="0">
                <a:solidFill>
                  <a:srgbClr val="FFFFFF"/>
                </a:solidFill>
                <a:latin typeface="Arial"/>
                <a:ea typeface="Arial"/>
                <a:cs typeface="Arial"/>
              </a:rPr>
              <a:t>3.  Must-stay core</a:t>
            </a:r>
          </a:p>
          <a:p>
            <a:pPr>
              <a:lnSpc>
                <a:spcPct val="115000"/>
              </a:lnSpc>
              <a:spcAft>
                <a:spcPts val="60"/>
              </a:spcAft>
              <a:buNone/>
            </a:pPr>
            <a:r>
              <a:rPr lang="en-US" sz="850" dirty="0">
                <a:solidFill>
                  <a:srgbClr val="FFFFFF"/>
                </a:solidFill>
                <a:latin typeface="Arial"/>
                <a:ea typeface="Arial"/>
                <a:cs typeface="Arial"/>
              </a:rPr>
              <a:t>Core = L × (1 − h)</a:t>
            </a:r>
          </a:p>
          <a:p>
            <a:pPr>
              <a:lnSpc>
                <a:spcPct val="115000"/>
              </a:lnSpc>
              <a:spcAft>
                <a:spcPts val="60"/>
              </a:spcAft>
              <a:buNone/>
            </a:pPr>
            <a:r>
              <a:rPr lang="en-US" sz="850" dirty="0">
                <a:solidFill>
                  <a:srgbClr val="FFFFFF"/>
                </a:solidFill>
                <a:latin typeface="Arial"/>
                <a:ea typeface="Arial"/>
                <a:cs typeface="Arial"/>
              </a:rPr>
              <a:t>Final assembly, integration, test</a:t>
            </a:r>
          </a:p>
        </p:txBody>
      </p:sp>
      <p:sp>
        <p:nvSpPr>
          <p:cNvPr id="23" name="Box4"/>
          <p:cNvSpPr txBox="1"/>
          <p:nvPr/>
        </p:nvSpPr>
        <p:spPr>
          <a:xfrm>
            <a:off x="6363079" y="1800000"/>
            <a:ext cx="1590000" cy="960000"/>
          </a:xfrm>
          <a:prstGeom prst="rect">
            <a:avLst/>
          </a:prstGeom>
          <a:solidFill>
            <a:srgbClr val="3D5972"/>
          </a:solidFill>
          <a:ln w="12700">
            <a:solidFill>
              <a:srgbClr val="000000"/>
            </a:solidFill>
          </a:ln>
        </p:spPr>
        <p:txBody>
          <a:bodyPr wrap="square" anchor="ctr" lIns="91440" tIns="76200" rIns="91440" bIns="76200"/>
          <a:lstStyle/>
          <a:p>
            <a:pPr>
              <a:lnSpc>
                <a:spcPct val="115000"/>
              </a:lnSpc>
              <a:spcAft>
                <a:spcPts val="100"/>
              </a:spcAft>
              <a:buNone/>
            </a:pPr>
            <a:r>
              <a:rPr lang="en-US" sz="900" b="1" dirty="0">
                <a:solidFill>
                  <a:srgbClr val="FFFFFF"/>
                </a:solidFill>
                <a:latin typeface="Arial"/>
                <a:ea typeface="Arial"/>
                <a:cs typeface="Arial"/>
              </a:rPr>
              <a:t>4.  Structural ceiling</a:t>
            </a:r>
          </a:p>
          <a:p>
            <a:pPr>
              <a:lnSpc>
                <a:spcPct val="115000"/>
              </a:lnSpc>
              <a:spcAft>
                <a:spcPts val="60"/>
              </a:spcAft>
              <a:buNone/>
            </a:pPr>
            <a:r>
              <a:rPr lang="en-US" sz="850" dirty="0">
                <a:solidFill>
                  <a:srgbClr val="FFFFFF"/>
                </a:solidFill>
                <a:latin typeface="Arial"/>
                <a:ea typeface="Arial"/>
                <a:cs typeface="Arial"/>
              </a:rPr>
              <a:t>Ceiling = 1 − core</a:t>
            </a:r>
          </a:p>
          <a:p>
            <a:pPr>
              <a:lnSpc>
                <a:spcPct val="115000"/>
              </a:lnSpc>
              <a:spcAft>
                <a:spcPts val="60"/>
              </a:spcAft>
              <a:buNone/>
            </a:pPr>
            <a:r>
              <a:rPr lang="en-US" sz="850" dirty="0">
                <a:solidFill>
                  <a:srgbClr val="FFFFFF"/>
                </a:solidFill>
                <a:latin typeface="Arial"/>
                <a:ea typeface="Arial"/>
                <a:cs typeface="Arial"/>
              </a:rPr>
              <a:t>Maximum outsourceable share</a:t>
            </a:r>
          </a:p>
        </p:txBody>
      </p:sp>
      <p:cxnSp>
        <p:nvCxnSpPr>
          <p:cNvPr id="30" name="Step1to2"/>
          <p:cNvCxnSpPr/>
          <p:nvPr/>
        </p:nvCxnSpPr>
        <p:spPr>
          <a:xfrm>
            <a:off x="2043079" y="2280000"/>
            <a:ext cx="380000" cy="0"/>
          </a:xfrm>
          <a:prstGeom prst="line">
            <a:avLst/>
          </a:prstGeom>
          <a:ln w="9525">
            <a:solidFill>
              <a:srgbClr val="000000"/>
            </a:solidFill>
            <a:tailEnd type="triangle" w="med" len="med"/>
          </a:ln>
        </p:spPr>
      </p:cxnSp>
      <p:cxnSp>
        <p:nvCxnSpPr>
          <p:cNvPr id="31" name="Step2to3"/>
          <p:cNvCxnSpPr/>
          <p:nvPr/>
        </p:nvCxnSpPr>
        <p:spPr>
          <a:xfrm>
            <a:off x="4013079" y="2280000"/>
            <a:ext cx="380000" cy="0"/>
          </a:xfrm>
          <a:prstGeom prst="line">
            <a:avLst/>
          </a:prstGeom>
          <a:ln w="9525">
            <a:solidFill>
              <a:srgbClr val="000000"/>
            </a:solidFill>
            <a:tailEnd type="triangle" w="med" len="med"/>
          </a:ln>
        </p:spPr>
      </p:cxnSp>
      <p:cxnSp>
        <p:nvCxnSpPr>
          <p:cNvPr id="32" name="Step3to4"/>
          <p:cNvCxnSpPr/>
          <p:nvPr/>
        </p:nvCxnSpPr>
        <p:spPr>
          <a:xfrm>
            <a:off x="5983079" y="2280000"/>
            <a:ext cx="380000" cy="0"/>
          </a:xfrm>
          <a:prstGeom prst="line">
            <a:avLst/>
          </a:prstGeom>
          <a:ln w="9525">
            <a:solidFill>
              <a:srgbClr val="000000"/>
            </a:solidFill>
            <a:tailEnd type="triangle" w="med" len="med"/>
          </a:ln>
        </p:spPr>
      </p:cxnSp>
      <p:cxnSp>
        <p:nvCxnSpPr>
          <p:cNvPr id="33" name="DialDrop"/>
          <p:cNvCxnSpPr/>
          <p:nvPr/>
        </p:nvCxnSpPr>
        <p:spPr>
          <a:xfrm>
            <a:off x="7158079" y="2760000"/>
            <a:ext cx="0" cy="330000"/>
          </a:xfrm>
          <a:prstGeom prst="line">
            <a:avLst/>
          </a:prstGeom>
          <a:ln w="9525">
            <a:solidFill>
              <a:srgbClr val="000000"/>
            </a:solidFill>
            <a:tailEnd type="triangle" w="med" len="med"/>
          </a:ln>
        </p:spPr>
      </p:cxnSp>
      <p:sp>
        <p:nvSpPr>
          <p:cNvPr id="34" name="BridgeFormula"/>
          <p:cNvSpPr txBox="1"/>
          <p:nvPr/>
        </p:nvSpPr>
        <p:spPr>
          <a:xfrm>
            <a:off x="453079" y="3090000"/>
            <a:ext cx="7500000" cy="420000"/>
          </a:xfrm>
          <a:prstGeom prst="rect">
            <a:avLst/>
          </a:prstGeom>
          <a:solidFill>
            <a:srgbClr val="F2F2F2"/>
          </a:solidFill>
          <a:ln w="12700">
            <a:solidFill>
              <a:srgbClr val="000000"/>
            </a:solidFill>
          </a:ln>
        </p:spPr>
        <p:txBody>
          <a:bodyPr wrap="square" anchor="ctr" lIns="114300" tIns="40000" rIns="114300" bIns="40000"/>
          <a:lstStyle/>
          <a:p>
            <a:pPr algn="ctr">
              <a:lnSpc>
                <a:spcPct val="115000"/>
              </a:lnSpc>
              <a:spcAft>
                <a:spcPts val="60"/>
              </a:spcAft>
              <a:buNone/>
            </a:pPr>
            <a:r>
              <a:rPr lang="en-US" sz="1100" b="1" dirty="0">
                <a:solidFill>
                  <a:srgbClr val="000000"/>
                </a:solidFill>
                <a:latin typeface="Arial"/>
                <a:ea typeface="Arial"/>
                <a:cs typeface="Arial"/>
              </a:rPr>
              <a:t>Dollarized supplier share = hL + p(1 − L)</a:t>
            </a:r>
          </a:p>
          <a:p>
            <a:pPr algn="ctr">
              <a:lnSpc>
                <a:spcPct val="115000"/>
              </a:lnSpc>
              <a:buNone/>
            </a:pPr>
            <a:r>
              <a:rPr lang="en-US" sz="850" i="1" dirty="0">
                <a:solidFill>
                  <a:srgbClr val="000000"/>
                </a:solidFill>
                <a:latin typeface="Arial"/>
                <a:ea typeface="Arial"/>
                <a:cs typeface="Arial"/>
              </a:rPr>
              <a:t>p sets how much non-labor material travels with outsourced packages.</a:t>
            </a:r>
          </a:p>
        </p:txBody>
      </p:sp>
      <p:sp>
        <p:nvSpPr>
          <p:cNvPr id="40" name="Read1"/>
          <p:cNvSpPr txBox="1"/>
          <p:nvPr/>
        </p:nvSpPr>
        <p:spPr>
          <a:xfrm>
            <a:off x="453079" y="3690000"/>
            <a:ext cx="2366666" cy="1140000"/>
          </a:xfrm>
          <a:prstGeom prst="rect">
            <a:avLst/>
          </a:prstGeom>
          <a:solidFill>
            <a:srgbClr val="E2E9EF"/>
          </a:solidFill>
          <a:ln w="12700">
            <a:solidFill>
              <a:srgbClr val="000000"/>
            </a:solidFill>
          </a:ln>
        </p:spPr>
        <p:txBody>
          <a:bodyPr wrap="square" anchor="ctr" lIns="114300" tIns="76200" rIns="114300" bIns="76200"/>
          <a:lstStyle/>
          <a:p>
            <a:pPr algn="ctr">
              <a:lnSpc>
                <a:spcPct val="115000"/>
              </a:lnSpc>
              <a:spcAft>
                <a:spcPts val="160"/>
              </a:spcAft>
              <a:buNone/>
            </a:pPr>
            <a:r>
              <a:rPr lang="en-US" sz="900" b="1" dirty="0">
                <a:solidFill>
                  <a:srgbClr val="000000"/>
                </a:solidFill>
                <a:latin typeface="Arial"/>
                <a:ea typeface="Arial"/>
                <a:cs typeface="Arial"/>
              </a:rPr>
              <a:t>p = 0</a:t>
            </a:r>
          </a:p>
          <a:p>
            <a:pPr algn="ctr">
              <a:lnSpc>
                <a:spcPct val="115000"/>
              </a:lnSpc>
              <a:spcAft>
                <a:spcPts val="160"/>
              </a:spcAft>
              <a:buNone/>
            </a:pPr>
            <a:r>
              <a:rPr lang="en-US" sz="1800" b="1" dirty="0">
                <a:solidFill>
                  <a:srgbClr val="000000"/>
                </a:solidFill>
                <a:latin typeface="Arial"/>
                <a:ea typeface="Arial"/>
                <a:cs typeface="Arial"/>
              </a:rPr>
              <a:t>~25%</a:t>
            </a:r>
          </a:p>
          <a:p>
            <a:pPr algn="ctr">
              <a:lnSpc>
                <a:spcPct val="115000"/>
              </a:lnSpc>
              <a:buNone/>
            </a:pPr>
            <a:r>
              <a:rPr lang="en-US" sz="850" i="1" dirty="0">
                <a:solidFill>
                  <a:srgbClr val="000000"/>
                </a:solidFill>
                <a:latin typeface="Arial"/>
                <a:ea typeface="Arial"/>
                <a:cs typeface="Arial"/>
              </a:rPr>
              <a:t>Movable labor only</a:t>
            </a:r>
          </a:p>
        </p:txBody>
      </p:sp>
      <p:cxnSp>
        <p:nvCxnSpPr>
          <p:cNvPr id="37" name="Tick1"/>
          <p:cNvCxnSpPr/>
          <p:nvPr/>
        </p:nvCxnSpPr>
        <p:spPr>
          <a:xfrm>
            <a:off x="1636412" y="3510000"/>
            <a:ext cx="0" cy="180000"/>
          </a:xfrm>
          <a:prstGeom prst="line">
            <a:avLst/>
          </a:prstGeom>
          <a:ln w="9525">
            <a:solidFill>
              <a:srgbClr val="000000"/>
            </a:solidFill>
            <a:tailEnd type="triangle" w="med" len="med"/>
          </a:ln>
        </p:spPr>
      </p:cxnSp>
      <p:sp>
        <p:nvSpPr>
          <p:cNvPr id="41" name="Read2"/>
          <p:cNvSpPr txBox="1"/>
          <p:nvPr/>
        </p:nvSpPr>
        <p:spPr>
          <a:xfrm>
            <a:off x="3019745" y="3690000"/>
            <a:ext cx="2366666" cy="1140000"/>
          </a:xfrm>
          <a:prstGeom prst="rect">
            <a:avLst/>
          </a:prstGeom>
          <a:solidFill>
            <a:srgbClr val="B6C8D8"/>
          </a:solidFill>
          <a:ln w="12700">
            <a:solidFill>
              <a:srgbClr val="000000"/>
            </a:solidFill>
          </a:ln>
        </p:spPr>
        <p:txBody>
          <a:bodyPr wrap="square" anchor="ctr" lIns="114300" tIns="76200" rIns="114300" bIns="76200"/>
          <a:lstStyle/>
          <a:p>
            <a:pPr algn="ctr">
              <a:lnSpc>
                <a:spcPct val="115000"/>
              </a:lnSpc>
              <a:spcAft>
                <a:spcPts val="160"/>
              </a:spcAft>
              <a:buNone/>
            </a:pPr>
            <a:r>
              <a:rPr lang="en-US" sz="900" b="1" dirty="0">
                <a:solidFill>
                  <a:srgbClr val="000000"/>
                </a:solidFill>
                <a:latin typeface="Arial"/>
                <a:ea typeface="Arial"/>
                <a:cs typeface="Arial"/>
              </a:rPr>
              <a:t>p = 50%</a:t>
            </a:r>
          </a:p>
          <a:p>
            <a:pPr algn="ctr">
              <a:lnSpc>
                <a:spcPct val="115000"/>
              </a:lnSpc>
              <a:spcAft>
                <a:spcPts val="160"/>
              </a:spcAft>
              <a:buNone/>
            </a:pPr>
            <a:r>
              <a:rPr lang="en-US" sz="1800" b="1" dirty="0">
                <a:solidFill>
                  <a:srgbClr val="000000"/>
                </a:solidFill>
                <a:latin typeface="Arial"/>
                <a:ea typeface="Arial"/>
                <a:cs typeface="Arial"/>
              </a:rPr>
              <a:t>~51%</a:t>
            </a:r>
          </a:p>
          <a:p>
            <a:pPr algn="ctr">
              <a:lnSpc>
                <a:spcPct val="115000"/>
              </a:lnSpc>
              <a:buNone/>
            </a:pPr>
            <a:r>
              <a:rPr lang="en-US" sz="850" i="1" dirty="0">
                <a:solidFill>
                  <a:srgbClr val="000000"/>
                </a:solidFill>
                <a:latin typeface="Arial"/>
                <a:ea typeface="Arial"/>
                <a:cs typeface="Arial"/>
              </a:rPr>
              <a:t>Selected working case</a:t>
            </a:r>
          </a:p>
        </p:txBody>
      </p:sp>
      <p:cxnSp>
        <p:nvCxnSpPr>
          <p:cNvPr id="38" name="Tick2"/>
          <p:cNvCxnSpPr/>
          <p:nvPr/>
        </p:nvCxnSpPr>
        <p:spPr>
          <a:xfrm>
            <a:off x="4203078" y="3510000"/>
            <a:ext cx="0" cy="180000"/>
          </a:xfrm>
          <a:prstGeom prst="line">
            <a:avLst/>
          </a:prstGeom>
          <a:ln w="9525">
            <a:solidFill>
              <a:srgbClr val="000000"/>
            </a:solidFill>
            <a:tailEnd type="triangle" w="med" len="med"/>
          </a:ln>
        </p:spPr>
      </p:cxnSp>
      <p:sp>
        <p:nvSpPr>
          <p:cNvPr id="42" name="Read3"/>
          <p:cNvSpPr txBox="1"/>
          <p:nvPr/>
        </p:nvSpPr>
        <p:spPr>
          <a:xfrm>
            <a:off x="5586411" y="3690000"/>
            <a:ext cx="2366666" cy="1140000"/>
          </a:xfrm>
          <a:prstGeom prst="rect">
            <a:avLst/>
          </a:prstGeom>
          <a:solidFill>
            <a:srgbClr val="3D5972"/>
          </a:solidFill>
          <a:ln w="12700">
            <a:solidFill>
              <a:srgbClr val="000000"/>
            </a:solidFill>
          </a:ln>
        </p:spPr>
        <p:txBody>
          <a:bodyPr wrap="square" anchor="ctr" lIns="114300" tIns="76200" rIns="114300" bIns="76200"/>
          <a:lstStyle/>
          <a:p>
            <a:pPr algn="ctr">
              <a:lnSpc>
                <a:spcPct val="115000"/>
              </a:lnSpc>
              <a:spcAft>
                <a:spcPts val="160"/>
              </a:spcAft>
              <a:buNone/>
            </a:pPr>
            <a:r>
              <a:rPr lang="en-US" sz="900" b="1" dirty="0">
                <a:solidFill>
                  <a:srgbClr val="FFFFFF"/>
                </a:solidFill>
                <a:latin typeface="Arial"/>
                <a:ea typeface="Arial"/>
                <a:cs typeface="Arial"/>
              </a:rPr>
              <a:t>p = 100%</a:t>
            </a:r>
          </a:p>
          <a:p>
            <a:pPr algn="ctr">
              <a:lnSpc>
                <a:spcPct val="115000"/>
              </a:lnSpc>
              <a:spcAft>
                <a:spcPts val="160"/>
              </a:spcAft>
              <a:buNone/>
            </a:pPr>
            <a:r>
              <a:rPr lang="en-US" sz="1800" b="1" dirty="0">
                <a:solidFill>
                  <a:srgbClr val="FFFFFF"/>
                </a:solidFill>
                <a:latin typeface="Arial"/>
                <a:ea typeface="Arial"/>
                <a:cs typeface="Arial"/>
              </a:rPr>
              <a:t>~76%</a:t>
            </a:r>
          </a:p>
          <a:p>
            <a:pPr algn="ctr">
              <a:lnSpc>
                <a:spcPct val="115000"/>
              </a:lnSpc>
              <a:buNone/>
            </a:pPr>
            <a:r>
              <a:rPr lang="en-US" sz="850" i="1" dirty="0">
                <a:solidFill>
                  <a:srgbClr val="FFFFFF"/>
                </a:solidFill>
                <a:latin typeface="Arial"/>
                <a:ea typeface="Arial"/>
                <a:cs typeface="Arial"/>
              </a:rPr>
              <a:t>Material-inclusive ceiling</a:t>
            </a:r>
          </a:p>
        </p:txBody>
      </p:sp>
      <p:cxnSp>
        <p:nvCxnSpPr>
          <p:cNvPr id="39" name="Tick3"/>
          <p:cNvCxnSpPr/>
          <p:nvPr/>
        </p:nvCxnSpPr>
        <p:spPr>
          <a:xfrm>
            <a:off x="6769744" y="3510000"/>
            <a:ext cx="0" cy="180000"/>
          </a:xfrm>
          <a:prstGeom prst="line">
            <a:avLst/>
          </a:prstGeom>
          <a:ln w="9525">
            <a:solidFill>
              <a:srgbClr val="000000"/>
            </a:solidFill>
            <a:tailEnd type="triangle" w="med" len="med"/>
          </a:ln>
        </p:spPr>
      </p:cxnSp>
      <p:sp>
        <p:nvSpPr>
          <p:cNvPr id="50" name="LedgerCaption"/>
          <p:cNvSpPr txBox="1"/>
          <p:nvPr/>
        </p:nvSpPr>
        <p:spPr>
          <a:xfrm>
            <a:off x="8133079" y="1800000"/>
            <a:ext cx="3602362" cy="380000"/>
          </a:xfrm>
          <a:prstGeom prst="rect">
            <a:avLst/>
          </a:prstGeom>
          <a:noFill/>
          <a:ln>
            <a:noFill/>
          </a:ln>
        </p:spPr>
        <p:txBody>
          <a:bodyPr wrap="square" anchor="t" lIns="0" tIns="0" rIns="0" bIns="0"/>
          <a:lstStyle/>
          <a:p>
            <a:pPr>
              <a:lnSpc>
                <a:spcPct val="115000"/>
              </a:lnSpc>
              <a:buNone/>
            </a:pPr>
            <a:r>
              <a:rPr lang="en-US" sz="1000" b="1" dirty="0">
                <a:solidFill>
                  <a:srgbClr val="000000"/>
                </a:solidFill>
                <a:latin typeface="Arial"/>
                <a:ea typeface="Arial"/>
                <a:cs typeface="Arial"/>
              </a:rPr>
              <a:t>Key levers and basis. </a:t>
            </a:r>
            <a:r>
              <a:rPr lang="en-US" sz="1000" dirty="0">
                <a:solidFill>
                  <a:srgbClr val="000000"/>
                </a:solidFill>
                <a:latin typeface="Arial"/>
                <a:ea typeface="Arial"/>
                <a:cs typeface="Arial"/>
              </a:rPr>
              <a:t>Each input is sourced, derived, or an explicit assumption.</a:t>
            </a:r>
          </a:p>
        </p:txBody>
      </p:sp>
      <p:graphicFrame>
        <p:nvGraphicFramePr>
          <p:cNvPr id="51" name="LeverLedger"/>
          <p:cNvGraphicFramePr>
            <a:graphicFrameLocks noGrp="1"/>
          </p:cNvGraphicFramePr>
          <p:nvPr/>
        </p:nvGraphicFramePr>
        <p:xfrm>
          <a:off x="8133079" y="2240000"/>
          <a:ext cx="3602362" cy="1737360"/>
        </p:xfrm>
        <a:graphic>
          <a:graphicData uri="http://schemas.openxmlformats.org/drawingml/2006/table">
            <a:tbl>
              <a:tblPr firstRow="1" firstCol="1" bandRow="0">
                <a:tableStyleId>{2D5ABB26-0587-4C30-8999-92F81FD0307C}</a:tableStyleId>
              </a:tblPr>
              <a:tblGrid>
                <a:gridCol w="520000"/>
                <a:gridCol w="1700000"/>
                <a:gridCol w="1382362"/>
              </a:tblGrid>
              <a:tr h="274320">
                <a:tc>
                  <a:txBody>
                    <a:bodyPr anchor="ctr"/>
                    <a:lstStyle/>
                    <a:p>
                      <a:pPr algn="ctr">
                        <a:lnSpc>
                          <a:spcPct val="115000"/>
                        </a:lnSpc>
                      </a:pPr>
                      <a:r>
                        <a:rPr lang="en-US" sz="900" b="1" dirty="0">
                          <a:solidFill>
                            <a:srgbClr val="000000"/>
                          </a:solidFill>
                          <a:latin typeface="Arial"/>
                          <a:ea typeface="Arial"/>
                          <a:cs typeface="Arial"/>
                        </a:rPr>
                        <a:t>Lever</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l">
                        <a:lnSpc>
                          <a:spcPct val="115000"/>
                        </a:lnSpc>
                      </a:pPr>
                      <a:r>
                        <a:rPr lang="en-US" sz="900" b="1" dirty="0">
                          <a:solidFill>
                            <a:srgbClr val="000000"/>
                          </a:solidFill>
                          <a:latin typeface="Arial"/>
                          <a:ea typeface="Arial"/>
                          <a:cs typeface="Arial"/>
                        </a:rPr>
                        <a:t>Basis</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l">
                        <a:lnSpc>
                          <a:spcPct val="115000"/>
                        </a:lnSpc>
                      </a:pPr>
                      <a:r>
                        <a:rPr lang="en-US" sz="900" b="1" dirty="0">
                          <a:solidFill>
                            <a:srgbClr val="000000"/>
                          </a:solidFill>
                          <a:latin typeface="Arial"/>
                          <a:ea typeface="Arial"/>
                          <a:cs typeface="Arial"/>
                        </a:rPr>
                        <a:t>Role in estimate</a:t>
                      </a:r>
                    </a:p>
                  </a:txBody>
                  <a:tcPr marL="45720" marR="45720" marT="45720" marB="45720" anchor="ctr">
                    <a:lnL>
                      <a:noFill/>
                    </a:lnL>
                    <a:lnR>
                      <a:noFill/>
                    </a:lnR>
                    <a:lnT>
                      <a:noFill/>
                    </a:lnT>
                    <a:lnB w="19050" cap="flat" cmpd="sng" algn="ctr">
                      <a:solidFill>
                        <a:srgbClr val="000000"/>
                      </a:solidFill>
                      <a:prstDash val="solid"/>
                    </a:lnB>
                    <a:noFill/>
                  </a:tcPr>
                </a:tc>
              </a:tr>
              <a:tr h="365760">
                <a:tc>
                  <a:txBody>
                    <a:bodyPr anchor="ctr"/>
                    <a:lstStyle/>
                    <a:p>
                      <a:pPr algn="ctr">
                        <a:lnSpc>
                          <a:spcPct val="115000"/>
                        </a:lnSpc>
                      </a:pPr>
                      <a:r>
                        <a:rPr lang="en-US" sz="900" b="1" dirty="0">
                          <a:solidFill>
                            <a:srgbClr val="000000"/>
                          </a:solidFill>
                          <a:latin typeface="Arial"/>
                          <a:ea typeface="Arial"/>
                          <a:cs typeface="Arial"/>
                        </a:rPr>
                        <a:t>h</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Sourced for submarines; DDG-51 judgment</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Movable labor-hour share</a:t>
                      </a:r>
                    </a:p>
                  </a:txBody>
                  <a:tcPr marL="45720" marR="45720" marT="45720" marB="45720" anchor="ctr">
                    <a:lnL>
                      <a:noFill/>
                    </a:lnL>
                    <a:lnR>
                      <a:noFill/>
                    </a:lnR>
                    <a:lnT>
                      <a:noFill/>
                    </a:lnT>
                    <a:lnB w="6350" cap="flat" cmpd="sng" algn="ctr">
                      <a:solidFill>
                        <a:srgbClr val="646464"/>
                      </a:solidFill>
                      <a:prstDash val="solid"/>
                    </a:lnB>
                    <a:noFill/>
                  </a:tcPr>
                </a:tc>
              </a:tr>
              <a:tr h="365760">
                <a:tc>
                  <a:txBody>
                    <a:bodyPr anchor="ctr"/>
                    <a:lstStyle/>
                    <a:p>
                      <a:pPr algn="ctr">
                        <a:lnSpc>
                          <a:spcPct val="115000"/>
                        </a:lnSpc>
                      </a:pPr>
                      <a:r>
                        <a:rPr lang="en-US" sz="900" b="1" dirty="0">
                          <a:solidFill>
                            <a:srgbClr val="000000"/>
                          </a:solidFill>
                          <a:latin typeface="Arial"/>
                          <a:ea typeface="Arial"/>
                          <a:cs typeface="Arial"/>
                        </a:rPr>
                        <a:t>L</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Sourced total-cost anchor, rebased to BC</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Labor share of Basic Construction</a:t>
                      </a:r>
                    </a:p>
                  </a:txBody>
                  <a:tcPr marL="45720" marR="45720" marT="45720" marB="45720" anchor="ctr">
                    <a:lnL>
                      <a:noFill/>
                    </a:lnL>
                    <a:lnR>
                      <a:noFill/>
                    </a:lnR>
                    <a:lnT>
                      <a:noFill/>
                    </a:lnT>
                    <a:lnB w="6350" cap="flat" cmpd="sng" algn="ctr">
                      <a:solidFill>
                        <a:srgbClr val="646464"/>
                      </a:solidFill>
                      <a:prstDash val="solid"/>
                    </a:lnB>
                    <a:noFill/>
                  </a:tcPr>
                </a:tc>
              </a:tr>
              <a:tr h="365760">
                <a:tc>
                  <a:txBody>
                    <a:bodyPr anchor="ctr"/>
                    <a:lstStyle/>
                    <a:p>
                      <a:pPr algn="ctr">
                        <a:lnSpc>
                          <a:spcPct val="115000"/>
                        </a:lnSpc>
                      </a:pPr>
                      <a:r>
                        <a:rPr lang="en-US" sz="900" b="1" dirty="0">
                          <a:solidFill>
                            <a:srgbClr val="000000"/>
                          </a:solidFill>
                          <a:latin typeface="Arial"/>
                          <a:ea typeface="Arial"/>
                          <a:cs typeface="Arial"/>
                        </a:rPr>
                        <a:t>p</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Scenario input</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l">
                        <a:lnSpc>
                          <a:spcPct val="115000"/>
                        </a:lnSpc>
                      </a:pPr>
                      <a:r>
                        <a:rPr lang="en-US" sz="900" b="0" dirty="0">
                          <a:solidFill>
                            <a:srgbClr val="000000"/>
                          </a:solidFill>
                          <a:latin typeface="Arial"/>
                          <a:ea typeface="Arial"/>
                          <a:cs typeface="Arial"/>
                        </a:rPr>
                        <a:t>Material pass-through share</a:t>
                      </a:r>
                    </a:p>
                  </a:txBody>
                  <a:tcPr marL="45720" marR="45720" marT="45720" marB="45720" anchor="ctr">
                    <a:lnL>
                      <a:noFill/>
                    </a:lnL>
                    <a:lnR>
                      <a:noFill/>
                    </a:lnR>
                    <a:lnT>
                      <a:noFill/>
                    </a:lnT>
                    <a:lnB w="6350" cap="flat" cmpd="sng" algn="ctr">
                      <a:solidFill>
                        <a:srgbClr val="646464"/>
                      </a:solidFill>
                      <a:prstDash val="solid"/>
                    </a:lnB>
                    <a:noFill/>
                  </a:tcPr>
                </a:tc>
              </a:tr>
              <a:tr h="365760">
                <a:tc>
                  <a:txBody>
                    <a:bodyPr anchor="ctr"/>
                    <a:lstStyle/>
                    <a:p>
                      <a:pPr algn="ctr">
                        <a:lnSpc>
                          <a:spcPct val="115000"/>
                        </a:lnSpc>
                      </a:pPr>
                      <a:r>
                        <a:rPr lang="en-US" sz="900" b="1" dirty="0">
                          <a:solidFill>
                            <a:srgbClr val="000000"/>
                          </a:solidFill>
                          <a:latin typeface="Arial"/>
                          <a:ea typeface="Arial"/>
                          <a:cs typeface="Arial"/>
                        </a:rPr>
                        <a:t>POP</a:t>
                      </a:r>
                    </a:p>
                  </a:txBody>
                  <a:tcPr marL="45720" marR="45720" marT="45720" marB="45720" anchor="ctr">
                    <a:lnL>
                      <a:noFill/>
                    </a:lnL>
                    <a:lnR>
                      <a:noFill/>
                    </a:lnR>
                    <a:lnT>
                      <a:noFill/>
                    </a:lnT>
                    <a:lnB>
                      <a:noFill/>
                    </a:lnB>
                    <a:noFill/>
                  </a:tcPr>
                </a:tc>
                <a:tc>
                  <a:txBody>
                    <a:bodyPr anchor="ctr"/>
                    <a:lstStyle/>
                    <a:p>
                      <a:pPr algn="l">
                        <a:lnSpc>
                          <a:spcPct val="115000"/>
                        </a:lnSpc>
                      </a:pPr>
                      <a:r>
                        <a:rPr lang="en-US" sz="900" b="0" dirty="0">
                          <a:solidFill>
                            <a:srgbClr val="000000"/>
                          </a:solidFill>
                          <a:latin typeface="Arial"/>
                          <a:ea typeface="Arial"/>
                          <a:cs typeface="Arial"/>
                        </a:rPr>
                        <a:t>Announced place-of-performance</a:t>
                      </a:r>
                    </a:p>
                  </a:txBody>
                  <a:tcPr marL="45720" marR="45720" marT="45720" marB="45720" anchor="ctr">
                    <a:lnL>
                      <a:noFill/>
                    </a:lnL>
                    <a:lnR>
                      <a:noFill/>
                    </a:lnR>
                    <a:lnT>
                      <a:noFill/>
                    </a:lnT>
                    <a:lnB>
                      <a:noFill/>
                    </a:lnB>
                    <a:noFill/>
                  </a:tcPr>
                </a:tc>
                <a:tc>
                  <a:txBody>
                    <a:bodyPr anchor="ctr"/>
                    <a:lstStyle/>
                    <a:p>
                      <a:pPr algn="l">
                        <a:lnSpc>
                          <a:spcPct val="115000"/>
                        </a:lnSpc>
                      </a:pPr>
                      <a:r>
                        <a:rPr lang="en-US" sz="900" b="0" dirty="0">
                          <a:solidFill>
                            <a:srgbClr val="000000"/>
                          </a:solidFill>
                          <a:latin typeface="Arial"/>
                          <a:ea typeface="Arial"/>
                          <a:cs typeface="Arial"/>
                        </a:rPr>
                        <a:t>Current floor</a:t>
                      </a:r>
                    </a:p>
                  </a:txBody>
                  <a:tcPr marL="45720" marR="45720" marT="45720" marB="45720" anchor="ctr">
                    <a:lnL>
                      <a:noFill/>
                    </a:lnL>
                    <a:lnR>
                      <a:noFill/>
                    </a:lnR>
                    <a:lnT>
                      <a:noFill/>
                    </a:lnT>
                    <a:lnB>
                      <a:noFill/>
                    </a:lnB>
                    <a:noFill/>
                  </a:tcPr>
                </a:tc>
              </a:tr>
            </a:tbl>
          </a:graphicData>
        </a:graphic>
      </p:graphicFrame>
      <p:sp>
        <p:nvSpPr>
          <p:cNvPr id="52" name="RailNote"/>
          <p:cNvSpPr txBox="1"/>
          <p:nvPr/>
        </p:nvSpPr>
        <p:spPr>
          <a:xfrm>
            <a:off x="8133079" y="4097360"/>
            <a:ext cx="3602362" cy="560000"/>
          </a:xfrm>
          <a:prstGeom prst="rect">
            <a:avLst/>
          </a:prstGeom>
          <a:noFill/>
          <a:ln>
            <a:noFill/>
          </a:ln>
        </p:spPr>
        <p:txBody>
          <a:bodyPr wrap="square" anchor="t" lIns="0" tIns="0" rIns="0" bIns="0"/>
          <a:lstStyle/>
          <a:p>
            <a:pPr>
              <a:lnSpc>
                <a:spcPct val="115000"/>
              </a:lnSpc>
              <a:buNone/>
            </a:pPr>
            <a:r>
              <a:rPr lang="en-US" sz="850" i="1" dirty="0">
                <a:solidFill>
                  <a:srgbClr val="000000"/>
                </a:solidFill>
                <a:latin typeface="Arial"/>
                <a:ea typeface="Arial"/>
                <a:cs typeface="Arial"/>
              </a:rPr>
              <a:t>L starts from a total-cost labor anchor and is rebased to Basic Construction. p moves the dollarized supplier share, so the estimate is read as a range, not a single point.</a:t>
            </a:r>
          </a:p>
        </p:txBody>
      </p:sp>
      <p:sp>
        <p:nvSpPr>
          <p:cNvPr id="60" name="Guard1"/>
          <p:cNvSpPr txBox="1"/>
          <p:nvPr/>
        </p:nvSpPr>
        <p:spPr>
          <a:xfrm>
            <a:off x="453079" y="4960000"/>
            <a:ext cx="3627454" cy="420000"/>
          </a:xfrm>
          <a:prstGeom prst="rect">
            <a:avLst/>
          </a:prstGeom>
          <a:solidFill>
            <a:srgbClr val="F2F2F2"/>
          </a:solidFill>
          <a:ln w="12700">
            <a:solidFill>
              <a:srgbClr val="000000"/>
            </a:solidFill>
          </a:ln>
        </p:spPr>
        <p:txBody>
          <a:bodyPr wrap="square" anchor="ctr" lIns="45720" tIns="9144" rIns="45720" bIns="9144"/>
          <a:lstStyle/>
          <a:p>
            <a:pPr algn="ctr">
              <a:lnSpc>
                <a:spcPct val="115000"/>
              </a:lnSpc>
              <a:buNone/>
            </a:pPr>
            <a:r>
              <a:rPr lang="en-US" sz="900" dirty="0">
                <a:solidFill>
                  <a:srgbClr val="000000"/>
                </a:solidFill>
                <a:latin typeface="Arial"/>
                <a:ea typeface="Arial"/>
                <a:cs typeface="Arial"/>
              </a:rPr>
              <a:t>p = 100% is the upper bound; p = 50% is the working case</a:t>
            </a:r>
          </a:p>
        </p:txBody>
      </p:sp>
      <p:sp>
        <p:nvSpPr>
          <p:cNvPr id="61" name="Guard2"/>
          <p:cNvSpPr txBox="1"/>
          <p:nvPr/>
        </p:nvSpPr>
        <p:spPr>
          <a:xfrm>
            <a:off x="4280533" y="4960000"/>
            <a:ext cx="3627454" cy="420000"/>
          </a:xfrm>
          <a:prstGeom prst="rect">
            <a:avLst/>
          </a:prstGeom>
          <a:solidFill>
            <a:srgbClr val="F2F2F2"/>
          </a:solidFill>
          <a:ln w="12700">
            <a:solidFill>
              <a:srgbClr val="000000"/>
            </a:solidFill>
          </a:ln>
        </p:spPr>
        <p:txBody>
          <a:bodyPr wrap="square" anchor="ctr" lIns="45720" tIns="9144" rIns="45720" bIns="9144"/>
          <a:lstStyle/>
          <a:p>
            <a:pPr algn="ctr">
              <a:lnSpc>
                <a:spcPct val="115000"/>
              </a:lnSpc>
              <a:buNone/>
            </a:pPr>
            <a:r>
              <a:rPr lang="en-US" sz="900" dirty="0">
                <a:solidFill>
                  <a:srgbClr val="000000"/>
                </a:solidFill>
                <a:latin typeface="Arial"/>
                <a:ea typeface="Arial"/>
                <a:cs typeface="Arial"/>
              </a:rPr>
              <a:t>DDG-51 h and L are explicit assumptions</a:t>
            </a:r>
          </a:p>
        </p:txBody>
      </p:sp>
      <p:sp>
        <p:nvSpPr>
          <p:cNvPr id="62" name="Guard3"/>
          <p:cNvSpPr txBox="1"/>
          <p:nvPr/>
        </p:nvSpPr>
        <p:spPr>
          <a:xfrm>
            <a:off x="8107987" y="4960000"/>
            <a:ext cx="3627454" cy="420000"/>
          </a:xfrm>
          <a:prstGeom prst="rect">
            <a:avLst/>
          </a:prstGeom>
          <a:solidFill>
            <a:srgbClr val="F2F2F2"/>
          </a:solidFill>
          <a:ln w="12700">
            <a:solidFill>
              <a:srgbClr val="000000"/>
            </a:solidFill>
          </a:ln>
        </p:spPr>
        <p:txBody>
          <a:bodyPr wrap="square" anchor="ctr" lIns="45720" tIns="9144" rIns="45720" bIns="9144"/>
          <a:lstStyle/>
          <a:p>
            <a:pPr algn="ctr">
              <a:lnSpc>
                <a:spcPct val="115000"/>
              </a:lnSpc>
              <a:buNone/>
            </a:pPr>
            <a:r>
              <a:rPr lang="en-US" sz="900" dirty="0">
                <a:solidFill>
                  <a:srgbClr val="000000"/>
                </a:solidFill>
                <a:latin typeface="Arial"/>
                <a:ea typeface="Arial"/>
                <a:cs typeface="Arial"/>
              </a:rPr>
              <a:t>POP sets today's floor, not the ceiling</a:t>
            </a:r>
          </a:p>
        </p:txBody>
      </p:sp>
      <p:sp>
        <p:nvSpPr>
          <p:cNvPr id="9999" name="Sources"/>
          <p:cNvSpPr txBox="1"/>
          <p:nvPr/>
        </p:nvSpPr>
        <p:spPr>
          <a:xfrm>
            <a:off x="453079" y="6085448"/>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Sources: Defense News, "Defense firms outsource sub, carrier construction amid labor woes" (M. Eckstein, Oct 2022); O'Rourke (CRS), State of U.S. Shipbuilding, House Armed Services Committee testimony (Mar 2025), cross-checked against the CBO Shipbuilding Composite Index (Apr 2024); DoD FMR 7000.14-R Vol 2B Ch 4, Exhibit P-5 ship cost element categories (Nov 2017); DoD contract award announcements (announced place-of-performance): Virginia Block V (2019), Columbia Build I (2020), DDG-51 FY23–27 multiyear (2023)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Executive Summary</a:t>
            </a:r>
            <a:r>
              <a:rPr lang="en-US" sz="1000" kern="1200" dirty="0">
                <a:solidFill>
                  <a:srgbClr val="44505C"/>
                </a:solidFill>
                <a:latin typeface="Arial"/>
                <a:ea typeface="Arial"/>
                <a:cs typeface="Arial"/>
              </a:rPr>
              <a:t> / Supplier TAM and SAM</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Outsourcing Ceiling Results | The structural ceiling is ~76% of Basic Construction, leaving ~3x headroom over today.</a:t>
            </a:r>
          </a:p>
        </p:txBody>
      </p:sp>
      <p:sp>
        <p:nvSpPr>
          <p:cNvPr id="10" name="UnitsCaption"/>
          <p:cNvSpPr txBox="1"/>
          <p:nvPr/>
        </p:nvSpPr>
        <p:spPr>
          <a:xfrm>
            <a:off x="453079" y="1410000"/>
            <a:ext cx="7400000" cy="220000"/>
          </a:xfrm>
          <a:prstGeom prst="rect">
            <a:avLst/>
          </a:prstGeom>
          <a:noFill/>
          <a:ln>
            <a:noFill/>
          </a:ln>
        </p:spPr>
        <p:txBody>
          <a:bodyPr wrap="square" anchor="t" lIns="0" tIns="0" rIns="0" bIns="0"/>
          <a:lstStyle/>
          <a:p>
            <a:pPr>
              <a:lnSpc>
                <a:spcPct val="115000"/>
              </a:lnSpc>
              <a:buNone/>
            </a:pPr>
            <a:r>
              <a:rPr lang="en-US" sz="1000" i="1" dirty="0">
                <a:solidFill>
                  <a:srgbClr val="000000"/>
                </a:solidFill>
                <a:latin typeface="Arial"/>
                <a:ea typeface="Arial"/>
                <a:cs typeface="Arial"/>
              </a:rPr>
              <a:t>Share of Basic Construction; Portfolio is FY22–27 BC-weighted</a:t>
            </a:r>
          </a:p>
        </p:txBody>
      </p:sp>
      <p:graphicFrame>
        <p:nvGraphicFramePr>
          <p:cNvPr id="11" name="CeilingResultsChart"/>
          <p:cNvGraphicFramePr/>
          <p:nvPr/>
        </p:nvGraphicFramePr>
        <p:xfrm>
          <a:off x="453079" y="1650000"/>
          <a:ext cx="7400000" cy="2700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LegendSwatch"/>
          <p:cNvSpPr txBox="1"/>
          <p:nvPr/>
        </p:nvSpPr>
        <p:spPr>
          <a:xfrm>
            <a:off x="1781747" y="4433325"/>
            <a:ext cx="179388" cy="133350"/>
          </a:xfrm>
          <a:prstGeom prst="rect">
            <a:avLst/>
          </a:prstGeom>
          <a:solidFill>
            <a:srgbClr val="89A2B0"/>
          </a:solidFill>
          <a:ln>
            <a:noFill/>
          </a:ln>
        </p:spPr>
        <p:txBody>
          <a:bodyPr wrap="square" anchor="ctr" lIns="0" tIns="0" rIns="0" bIns="0"/>
          <a:lstStyle/>
          <a:p>
            <a:pPr>
              <a:lnSpc>
                <a:spcPct val="115000"/>
              </a:lnSpc>
              <a:buNone/>
            </a:pPr>
            <a:endParaRPr lang="en-US"/>
          </a:p>
        </p:txBody>
      </p:sp>
      <p:sp>
        <p:nvSpPr>
          <p:cNvPr id="13" name="LegendLabel"/>
          <p:cNvSpPr txBox="1"/>
          <p:nvPr/>
        </p:nvSpPr>
        <p:spPr>
          <a:xfrm>
            <a:off x="2021135" y="4366650"/>
            <a:ext cx="1075875" cy="266700"/>
          </a:xfrm>
          <a:prstGeom prst="rect">
            <a:avLst/>
          </a:prstGeom>
          <a:noFill/>
          <a:ln>
            <a:noFill/>
          </a:ln>
        </p:spPr>
        <p:txBody>
          <a:bodyPr wrap="none" anchor="ctr" lIns="0" tIns="0" rIns="0" bIns="0"/>
          <a:lstStyle/>
          <a:p>
            <a:pPr>
              <a:lnSpc>
                <a:spcPct val="115000"/>
              </a:lnSpc>
              <a:buNone/>
            </a:pPr>
            <a:r>
              <a:rPr lang="en-US" sz="1000" dirty="0">
                <a:solidFill>
                  <a:srgbClr val="000000"/>
                </a:solidFill>
                <a:latin typeface="Arial"/>
                <a:ea typeface="Arial"/>
                <a:cs typeface="Arial"/>
              </a:rPr>
              <a:t>Current floor</a:t>
            </a:r>
          </a:p>
        </p:txBody>
      </p:sp>
      <p:sp>
        <p:nvSpPr>
          <p:cNvPr id="14" name="LegendSwatch"/>
          <p:cNvSpPr txBox="1"/>
          <p:nvPr/>
        </p:nvSpPr>
        <p:spPr>
          <a:xfrm>
            <a:off x="3297010" y="4433325"/>
            <a:ext cx="179388" cy="133350"/>
          </a:xfrm>
          <a:prstGeom prst="rect">
            <a:avLst/>
          </a:prstGeom>
          <a:solidFill>
            <a:srgbClr val="486D82"/>
          </a:solidFill>
          <a:ln>
            <a:noFill/>
          </a:ln>
        </p:spPr>
        <p:txBody>
          <a:bodyPr wrap="square" anchor="ctr" lIns="0" tIns="0" rIns="0" bIns="0"/>
          <a:lstStyle/>
          <a:p>
            <a:pPr>
              <a:lnSpc>
                <a:spcPct val="115000"/>
              </a:lnSpc>
              <a:buNone/>
            </a:pPr>
            <a:endParaRPr lang="en-US"/>
          </a:p>
        </p:txBody>
      </p:sp>
      <p:sp>
        <p:nvSpPr>
          <p:cNvPr id="15" name="LegendLabel"/>
          <p:cNvSpPr txBox="1"/>
          <p:nvPr/>
        </p:nvSpPr>
        <p:spPr>
          <a:xfrm>
            <a:off x="3536398" y="4366650"/>
            <a:ext cx="1075875" cy="266700"/>
          </a:xfrm>
          <a:prstGeom prst="rect">
            <a:avLst/>
          </a:prstGeom>
          <a:noFill/>
          <a:ln>
            <a:noFill/>
          </a:ln>
        </p:spPr>
        <p:txBody>
          <a:bodyPr wrap="none" anchor="ctr" lIns="0" tIns="0" rIns="0" bIns="0"/>
          <a:lstStyle/>
          <a:p>
            <a:pPr>
              <a:lnSpc>
                <a:spcPct val="115000"/>
              </a:lnSpc>
              <a:buNone/>
            </a:pPr>
            <a:r>
              <a:rPr lang="en-US" sz="1000" dirty="0">
                <a:solidFill>
                  <a:srgbClr val="000000"/>
                </a:solidFill>
                <a:latin typeface="Arial"/>
                <a:ea typeface="Arial"/>
                <a:cs typeface="Arial"/>
              </a:rPr>
              <a:t>Selected case</a:t>
            </a:r>
          </a:p>
        </p:txBody>
      </p:sp>
      <p:sp>
        <p:nvSpPr>
          <p:cNvPr id="16" name="LegendSwatch"/>
          <p:cNvSpPr txBox="1"/>
          <p:nvPr/>
        </p:nvSpPr>
        <p:spPr>
          <a:xfrm>
            <a:off x="4812273" y="4433325"/>
            <a:ext cx="179388" cy="133350"/>
          </a:xfrm>
          <a:prstGeom prst="rect">
            <a:avLst/>
          </a:prstGeom>
          <a:solidFill>
            <a:srgbClr val="1D4D68"/>
          </a:solidFill>
          <a:ln>
            <a:noFill/>
          </a:ln>
        </p:spPr>
        <p:txBody>
          <a:bodyPr wrap="square" anchor="ctr" lIns="0" tIns="0" rIns="0" bIns="0"/>
          <a:lstStyle/>
          <a:p>
            <a:pPr>
              <a:lnSpc>
                <a:spcPct val="115000"/>
              </a:lnSpc>
              <a:buNone/>
            </a:pPr>
            <a:endParaRPr lang="en-US"/>
          </a:p>
        </p:txBody>
      </p:sp>
      <p:sp>
        <p:nvSpPr>
          <p:cNvPr id="17" name="LegendLabel"/>
          <p:cNvSpPr txBox="1"/>
          <p:nvPr/>
        </p:nvSpPr>
        <p:spPr>
          <a:xfrm>
            <a:off x="5051661" y="4366650"/>
            <a:ext cx="1472750" cy="266700"/>
          </a:xfrm>
          <a:prstGeom prst="rect">
            <a:avLst/>
          </a:prstGeom>
          <a:noFill/>
          <a:ln>
            <a:noFill/>
          </a:ln>
        </p:spPr>
        <p:txBody>
          <a:bodyPr wrap="none" anchor="ctr" lIns="0" tIns="0" rIns="0" bIns="0"/>
          <a:lstStyle/>
          <a:p>
            <a:pPr>
              <a:lnSpc>
                <a:spcPct val="115000"/>
              </a:lnSpc>
              <a:buNone/>
            </a:pPr>
            <a:r>
              <a:rPr lang="en-US" sz="1000" dirty="0">
                <a:solidFill>
                  <a:srgbClr val="000000"/>
                </a:solidFill>
                <a:latin typeface="Arial"/>
                <a:ea typeface="Arial"/>
                <a:cs typeface="Arial"/>
              </a:rPr>
              <a:t>Structural ceiling</a:t>
            </a:r>
          </a:p>
        </p:txBody>
      </p:sp>
      <p:sp>
        <p:nvSpPr>
          <p:cNvPr id="20" name="Kpi1"/>
          <p:cNvSpPr txBox="1"/>
          <p:nvPr/>
        </p:nvSpPr>
        <p:spPr>
          <a:xfrm>
            <a:off x="453079" y="4720000"/>
            <a:ext cx="2366666" cy="1020000"/>
          </a:xfrm>
          <a:prstGeom prst="rect">
            <a:avLst/>
          </a:prstGeom>
          <a:solidFill>
            <a:srgbClr val="89A2B0"/>
          </a:solidFill>
          <a:ln w="12700">
            <a:solidFill>
              <a:srgbClr val="000000"/>
            </a:solidFill>
          </a:ln>
        </p:spPr>
        <p:txBody>
          <a:bodyPr wrap="square" anchor="ctr" lIns="114300" tIns="76200" rIns="114300" bIns="76200"/>
          <a:lstStyle/>
          <a:p>
            <a:pPr algn="ctr">
              <a:lnSpc>
                <a:spcPct val="115000"/>
              </a:lnSpc>
              <a:spcAft>
                <a:spcPts val="120"/>
              </a:spcAft>
              <a:buNone/>
            </a:pPr>
            <a:r>
              <a:rPr lang="en-US" sz="1200" b="1" dirty="0">
                <a:solidFill>
                  <a:srgbClr val="000000"/>
                </a:solidFill>
                <a:latin typeface="Arial"/>
                <a:ea typeface="Arial"/>
                <a:cs typeface="Arial"/>
              </a:rPr>
              <a:t>CURRENT FLOOR</a:t>
            </a:r>
          </a:p>
          <a:p>
            <a:pPr algn="ctr">
              <a:lnSpc>
                <a:spcPct val="115000"/>
              </a:lnSpc>
              <a:spcAft>
                <a:spcPts val="120"/>
              </a:spcAft>
              <a:buNone/>
            </a:pPr>
            <a:r>
              <a:rPr lang="en-US" sz="1800" b="1" dirty="0">
                <a:solidFill>
                  <a:srgbClr val="000000"/>
                </a:solidFill>
                <a:latin typeface="Arial"/>
                <a:ea typeface="Arial"/>
                <a:cs typeface="Arial"/>
              </a:rPr>
              <a:t>$19.1B</a:t>
            </a:r>
          </a:p>
          <a:p>
            <a:pPr algn="ctr">
              <a:lnSpc>
                <a:spcPct val="115000"/>
              </a:lnSpc>
              <a:buNone/>
            </a:pPr>
            <a:r>
              <a:rPr lang="en-US" sz="850" i="1" dirty="0">
                <a:solidFill>
                  <a:srgbClr val="000000"/>
                </a:solidFill>
                <a:latin typeface="Arial"/>
                <a:ea typeface="Arial"/>
                <a:cs typeface="Arial"/>
              </a:rPr>
              <a:t>POP-based off-yard work</a:t>
            </a:r>
          </a:p>
        </p:txBody>
      </p:sp>
      <p:sp>
        <p:nvSpPr>
          <p:cNvPr id="21" name="Kpi2"/>
          <p:cNvSpPr txBox="1"/>
          <p:nvPr/>
        </p:nvSpPr>
        <p:spPr>
          <a:xfrm>
            <a:off x="2969745" y="4720000"/>
            <a:ext cx="2366666" cy="1020000"/>
          </a:xfrm>
          <a:prstGeom prst="rect">
            <a:avLst/>
          </a:prstGeom>
          <a:solidFill>
            <a:srgbClr val="486D82"/>
          </a:solidFill>
          <a:ln w="12700">
            <a:solidFill>
              <a:srgbClr val="000000"/>
            </a:solidFill>
          </a:ln>
        </p:spPr>
        <p:txBody>
          <a:bodyPr wrap="square" anchor="ctr" lIns="114300" tIns="76200" rIns="114300" bIns="76200"/>
          <a:lstStyle/>
          <a:p>
            <a:pPr algn="ctr">
              <a:lnSpc>
                <a:spcPct val="115000"/>
              </a:lnSpc>
              <a:spcAft>
                <a:spcPts val="120"/>
              </a:spcAft>
              <a:buNone/>
            </a:pPr>
            <a:r>
              <a:rPr lang="en-US" sz="1200" b="1" dirty="0">
                <a:solidFill>
                  <a:srgbClr val="FFFFFF"/>
                </a:solidFill>
                <a:latin typeface="Arial"/>
                <a:ea typeface="Arial"/>
                <a:cs typeface="Arial"/>
              </a:rPr>
              <a:t>SELECTED CASE</a:t>
            </a:r>
          </a:p>
          <a:p>
            <a:pPr algn="ctr">
              <a:lnSpc>
                <a:spcPct val="115000"/>
              </a:lnSpc>
              <a:spcAft>
                <a:spcPts val="120"/>
              </a:spcAft>
              <a:buNone/>
            </a:pPr>
            <a:r>
              <a:rPr lang="en-US" sz="1800" b="1" dirty="0">
                <a:solidFill>
                  <a:srgbClr val="FFFFFF"/>
                </a:solidFill>
                <a:latin typeface="Arial"/>
                <a:ea typeface="Arial"/>
                <a:cs typeface="Arial"/>
              </a:rPr>
              <a:t>$37.5B</a:t>
            </a:r>
          </a:p>
          <a:p>
            <a:pPr algn="ctr">
              <a:lnSpc>
                <a:spcPct val="115000"/>
              </a:lnSpc>
              <a:buNone/>
            </a:pPr>
            <a:r>
              <a:rPr lang="en-US" sz="850" i="1" dirty="0">
                <a:solidFill>
                  <a:srgbClr val="FFFFFF"/>
                </a:solidFill>
                <a:latin typeface="Arial"/>
                <a:ea typeface="Arial"/>
                <a:cs typeface="Arial"/>
              </a:rPr>
              <a:t>p=50% working read</a:t>
            </a:r>
          </a:p>
        </p:txBody>
      </p:sp>
      <p:sp>
        <p:nvSpPr>
          <p:cNvPr id="22" name="Kpi3"/>
          <p:cNvSpPr txBox="1"/>
          <p:nvPr/>
        </p:nvSpPr>
        <p:spPr>
          <a:xfrm>
            <a:off x="5486411" y="4720000"/>
            <a:ext cx="2366666" cy="1020000"/>
          </a:xfrm>
          <a:prstGeom prst="rect">
            <a:avLst/>
          </a:prstGeom>
          <a:solidFill>
            <a:srgbClr val="1D4D68"/>
          </a:solidFill>
          <a:ln w="12700">
            <a:solidFill>
              <a:srgbClr val="000000"/>
            </a:solidFill>
          </a:ln>
        </p:spPr>
        <p:txBody>
          <a:bodyPr wrap="square" anchor="ctr" lIns="114300" tIns="76200" rIns="114300" bIns="76200"/>
          <a:lstStyle/>
          <a:p>
            <a:pPr algn="ctr">
              <a:lnSpc>
                <a:spcPct val="115000"/>
              </a:lnSpc>
              <a:spcAft>
                <a:spcPts val="120"/>
              </a:spcAft>
              <a:buNone/>
            </a:pPr>
            <a:r>
              <a:rPr lang="en-US" sz="1200" b="1" dirty="0">
                <a:solidFill>
                  <a:srgbClr val="FFFFFF"/>
                </a:solidFill>
                <a:latin typeface="Arial"/>
                <a:ea typeface="Arial"/>
                <a:cs typeface="Arial"/>
              </a:rPr>
              <a:t>STRUCTURAL CEILING</a:t>
            </a:r>
          </a:p>
          <a:p>
            <a:pPr algn="ctr">
              <a:lnSpc>
                <a:spcPct val="115000"/>
              </a:lnSpc>
              <a:spcAft>
                <a:spcPts val="120"/>
              </a:spcAft>
              <a:buNone/>
            </a:pPr>
            <a:r>
              <a:rPr lang="en-US" sz="1800" b="1" dirty="0">
                <a:solidFill>
                  <a:srgbClr val="FFFFFF"/>
                </a:solidFill>
                <a:latin typeface="Arial"/>
                <a:ea typeface="Arial"/>
                <a:cs typeface="Arial"/>
              </a:rPr>
              <a:t>$56.4B</a:t>
            </a:r>
          </a:p>
          <a:p>
            <a:pPr algn="ctr">
              <a:lnSpc>
                <a:spcPct val="115000"/>
              </a:lnSpc>
              <a:buNone/>
            </a:pPr>
            <a:r>
              <a:rPr lang="en-US" sz="850" i="1" dirty="0">
                <a:solidFill>
                  <a:srgbClr val="FFFFFF"/>
                </a:solidFill>
                <a:latin typeface="Arial"/>
                <a:ea typeface="Arial"/>
                <a:cs typeface="Arial"/>
              </a:rPr>
              <a:t>p=100% upper bound</a:t>
            </a:r>
          </a:p>
        </p:txBody>
      </p:sp>
      <p:sp>
        <p:nvSpPr>
          <p:cNvPr id="30" name="RailCaption"/>
          <p:cNvSpPr txBox="1"/>
          <p:nvPr/>
        </p:nvSpPr>
        <p:spPr>
          <a:xfrm>
            <a:off x="8013079" y="1650000"/>
            <a:ext cx="3722362" cy="480000"/>
          </a:xfrm>
          <a:prstGeom prst="rect">
            <a:avLst/>
          </a:prstGeom>
          <a:noFill/>
          <a:ln>
            <a:noFill/>
          </a:ln>
        </p:spPr>
        <p:txBody>
          <a:bodyPr wrap="square" anchor="t" lIns="0" tIns="0" rIns="0" bIns="0"/>
          <a:lstStyle/>
          <a:p>
            <a:pPr>
              <a:lnSpc>
                <a:spcPct val="115000"/>
              </a:lnSpc>
              <a:buNone/>
            </a:pPr>
            <a:r>
              <a:rPr lang="en-US" sz="1000" b="1" dirty="0">
                <a:solidFill>
                  <a:srgbClr val="000000"/>
                </a:solidFill>
                <a:latin typeface="Arial"/>
                <a:ea typeface="Arial"/>
                <a:cs typeface="Arial"/>
              </a:rPr>
              <a:t>By program: </a:t>
            </a:r>
            <a:r>
              <a:rPr lang="en-US" sz="1000" dirty="0">
                <a:solidFill>
                  <a:srgbClr val="000000"/>
                </a:solidFill>
                <a:latin typeface="Arial"/>
                <a:ea typeface="Arial"/>
                <a:cs typeface="Arial"/>
              </a:rPr>
              <a:t>current place-of-performance floor, the structural ceiling, and the headroom between them.</a:t>
            </a:r>
          </a:p>
        </p:txBody>
      </p:sp>
      <p:graphicFrame>
        <p:nvGraphicFramePr>
          <p:cNvPr id="31" name="HeadroomByProgram"/>
          <p:cNvGraphicFramePr>
            <a:graphicFrameLocks noGrp="1"/>
          </p:cNvGraphicFramePr>
          <p:nvPr/>
        </p:nvGraphicFramePr>
        <p:xfrm>
          <a:off x="8013079" y="2240000"/>
          <a:ext cx="3722362" cy="1371600"/>
        </p:xfrm>
        <a:graphic>
          <a:graphicData uri="http://schemas.openxmlformats.org/drawingml/2006/table">
            <a:tbl>
              <a:tblPr firstRow="1" firstCol="1" bandRow="0">
                <a:tableStyleId>{2D5ABB26-0587-4C30-8999-92F81FD0307C}</a:tableStyleId>
              </a:tblPr>
              <a:tblGrid>
                <a:gridCol w="1000000"/>
                <a:gridCol w="1500000"/>
                <a:gridCol w="1222362"/>
              </a:tblGrid>
              <a:tr h="274320">
                <a:tc>
                  <a:txBody>
                    <a:bodyPr anchor="ctr"/>
                    <a:lstStyle/>
                    <a:p>
                      <a:pPr algn="l">
                        <a:lnSpc>
                          <a:spcPct val="115000"/>
                        </a:lnSpc>
                      </a:pPr>
                      <a:r>
                        <a:rPr lang="en-US" sz="1000" b="1" dirty="0">
                          <a:solidFill>
                            <a:srgbClr val="000000"/>
                          </a:solidFill>
                          <a:latin typeface="Arial"/>
                          <a:ea typeface="Arial"/>
                          <a:cs typeface="Arial"/>
                        </a:rPr>
                        <a:t>Program</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Floor → ceiling</a:t>
                      </a:r>
                    </a:p>
                  </a:txBody>
                  <a:tcPr marL="45720" marR="45720" marT="45720" marB="45720" anchor="ctr">
                    <a:lnL>
                      <a:noFill/>
                    </a:lnL>
                    <a:lnR>
                      <a:noFill/>
                    </a:lnR>
                    <a:lnT>
                      <a:noFill/>
                    </a:lnT>
                    <a:lnB w="19050" cap="flat" cmpd="sng" algn="ctr">
                      <a:solidFill>
                        <a:srgbClr val="000000"/>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Headroom</a:t>
                      </a:r>
                    </a:p>
                  </a:txBody>
                  <a:tcPr marL="45720" marR="45720" marT="45720" marB="45720" anchor="ctr">
                    <a:lnL>
                      <a:noFill/>
                    </a:lnL>
                    <a:lnR>
                      <a:noFill/>
                    </a:lnR>
                    <a:lnT>
                      <a:noFill/>
                    </a:lnT>
                    <a:lnB w="19050" cap="flat" cmpd="sng" algn="ctr">
                      <a:solidFill>
                        <a:srgbClr val="000000"/>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Virginia</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34% → 75%</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2.2x</a:t>
                      </a:r>
                    </a:p>
                  </a:txBody>
                  <a:tcPr marL="45720" marR="45720" marT="45720" marB="45720" anchor="ctr">
                    <a:lnL>
                      <a:noFill/>
                    </a:lnL>
                    <a:lnR>
                      <a:noFill/>
                    </a:lnR>
                    <a:lnT>
                      <a:noFill/>
                    </a:lnT>
                    <a:lnB w="6350" cap="flat" cmpd="sng" algn="ctr">
                      <a:solidFill>
                        <a:srgbClr val="646464"/>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Columbia</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22% → 75%</a:t>
                      </a:r>
                    </a:p>
                  </a:txBody>
                  <a:tcPr marL="45720" marR="45720" marT="45720" marB="45720" anchor="ctr">
                    <a:lnL>
                      <a:noFill/>
                    </a:lnL>
                    <a:lnR>
                      <a:noFill/>
                    </a:lnR>
                    <a:lnT>
                      <a:noFill/>
                    </a:lnT>
                    <a:lnB w="6350" cap="flat" cmpd="sng" algn="ctr">
                      <a:solidFill>
                        <a:srgbClr val="646464"/>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3.4x</a:t>
                      </a:r>
                    </a:p>
                  </a:txBody>
                  <a:tcPr marL="45720" marR="45720" marT="45720" marB="45720" anchor="ctr">
                    <a:lnL>
                      <a:noFill/>
                    </a:lnL>
                    <a:lnR>
                      <a:noFill/>
                    </a:lnR>
                    <a:lnT>
                      <a:noFill/>
                    </a:lnT>
                    <a:lnB w="6350" cap="flat" cmpd="sng" algn="ctr">
                      <a:solidFill>
                        <a:srgbClr val="646464"/>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DDG-51</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ctr">
                        <a:lnSpc>
                          <a:spcPct val="115000"/>
                        </a:lnSpc>
                      </a:pPr>
                      <a:r>
                        <a:rPr lang="en-US" sz="1000" b="0" dirty="0">
                          <a:solidFill>
                            <a:srgbClr val="000000"/>
                          </a:solidFill>
                          <a:latin typeface="Arial"/>
                          <a:ea typeface="Arial"/>
                          <a:cs typeface="Arial"/>
                        </a:rPr>
                        <a:t>13% → 80%</a:t>
                      </a:r>
                    </a:p>
                  </a:txBody>
                  <a:tcPr marL="45720" marR="45720" marT="45720" marB="45720" anchor="ctr">
                    <a:lnL>
                      <a:noFill/>
                    </a:lnL>
                    <a:lnR>
                      <a:noFill/>
                    </a:lnR>
                    <a:lnT>
                      <a:noFill/>
                    </a:lnT>
                    <a:lnB w="12700" cap="flat" cmpd="sng" algn="ctr">
                      <a:solidFill>
                        <a:srgbClr val="000000"/>
                      </a:solidFill>
                      <a:prstDash val="solid"/>
                    </a:lnB>
                    <a:noFill/>
                  </a:tcPr>
                </a:tc>
                <a:tc>
                  <a:txBody>
                    <a:bodyPr anchor="ctr"/>
                    <a:lstStyle/>
                    <a:p>
                      <a:pPr algn="ctr">
                        <a:lnSpc>
                          <a:spcPct val="115000"/>
                        </a:lnSpc>
                      </a:pPr>
                      <a:r>
                        <a:rPr lang="en-US" sz="1000" b="1" dirty="0">
                          <a:solidFill>
                            <a:srgbClr val="000000"/>
                          </a:solidFill>
                          <a:latin typeface="Arial"/>
                          <a:ea typeface="Arial"/>
                          <a:cs typeface="Arial"/>
                        </a:rPr>
                        <a:t>6.1x</a:t>
                      </a:r>
                    </a:p>
                  </a:txBody>
                  <a:tcPr marL="45720" marR="45720" marT="45720" marB="45720" anchor="ctr">
                    <a:lnL>
                      <a:noFill/>
                    </a:lnL>
                    <a:lnR>
                      <a:noFill/>
                    </a:lnR>
                    <a:lnT>
                      <a:noFill/>
                    </a:lnT>
                    <a:lnB w="12700" cap="flat" cmpd="sng" algn="ctr">
                      <a:solidFill>
                        <a:srgbClr val="000000"/>
                      </a:solidFill>
                      <a:prstDash val="solid"/>
                    </a:lnB>
                    <a:noFill/>
                  </a:tcPr>
                </a:tc>
              </a:tr>
              <a:tr h="274320">
                <a:tc>
                  <a:txBody>
                    <a:bodyPr anchor="ctr"/>
                    <a:lstStyle/>
                    <a:p>
                      <a:pPr algn="l">
                        <a:lnSpc>
                          <a:spcPct val="115000"/>
                        </a:lnSpc>
                      </a:pPr>
                      <a:r>
                        <a:rPr lang="en-US" sz="1000" b="1" dirty="0">
                          <a:solidFill>
                            <a:srgbClr val="000000"/>
                          </a:solidFill>
                          <a:latin typeface="Arial"/>
                          <a:ea typeface="Arial"/>
                          <a:cs typeface="Arial"/>
                        </a:rPr>
                        <a:t>Portfolio</a:t>
                      </a:r>
                    </a:p>
                  </a:txBody>
                  <a:tcPr marL="45720" marR="45720" marT="45720" marB="45720" anchor="ctr">
                    <a:lnL>
                      <a:noFill/>
                    </a:lnL>
                    <a:lnR>
                      <a:noFill/>
                    </a:lnR>
                    <a:lnT>
                      <a:noFill/>
                    </a:lnT>
                    <a:lnB>
                      <a:noFill/>
                    </a:lnB>
                    <a:solidFill>
                      <a:srgbClr val="F2F2F2"/>
                    </a:solidFill>
                  </a:tcPr>
                </a:tc>
                <a:tc>
                  <a:txBody>
                    <a:bodyPr anchor="ctr"/>
                    <a:lstStyle/>
                    <a:p>
                      <a:pPr algn="ctr">
                        <a:lnSpc>
                          <a:spcPct val="115000"/>
                        </a:lnSpc>
                      </a:pPr>
                      <a:r>
                        <a:rPr lang="en-US" sz="1000" b="1" dirty="0">
                          <a:solidFill>
                            <a:srgbClr val="000000"/>
                          </a:solidFill>
                          <a:latin typeface="Arial"/>
                          <a:ea typeface="Arial"/>
                          <a:cs typeface="Arial"/>
                        </a:rPr>
                        <a:t>26% → 76%</a:t>
                      </a:r>
                    </a:p>
                  </a:txBody>
                  <a:tcPr marL="45720" marR="45720" marT="45720" marB="45720" anchor="ctr">
                    <a:lnL>
                      <a:noFill/>
                    </a:lnL>
                    <a:lnR>
                      <a:noFill/>
                    </a:lnR>
                    <a:lnT>
                      <a:noFill/>
                    </a:lnT>
                    <a:lnB>
                      <a:noFill/>
                    </a:lnB>
                    <a:solidFill>
                      <a:srgbClr val="F2F2F2"/>
                    </a:solidFill>
                  </a:tcPr>
                </a:tc>
                <a:tc>
                  <a:txBody>
                    <a:bodyPr anchor="ctr"/>
                    <a:lstStyle/>
                    <a:p>
                      <a:pPr algn="ctr">
                        <a:lnSpc>
                          <a:spcPct val="115000"/>
                        </a:lnSpc>
                      </a:pPr>
                      <a:r>
                        <a:rPr lang="en-US" sz="1000" b="1" dirty="0">
                          <a:solidFill>
                            <a:srgbClr val="000000"/>
                          </a:solidFill>
                          <a:latin typeface="Arial"/>
                          <a:ea typeface="Arial"/>
                          <a:cs typeface="Arial"/>
                        </a:rPr>
                        <a:t>3.0x</a:t>
                      </a:r>
                    </a:p>
                  </a:txBody>
                  <a:tcPr marL="45720" marR="45720" marT="45720" marB="45720" anchor="ctr">
                    <a:lnL>
                      <a:noFill/>
                    </a:lnL>
                    <a:lnR>
                      <a:noFill/>
                    </a:lnR>
                    <a:lnT>
                      <a:noFill/>
                    </a:lnT>
                    <a:lnB>
                      <a:noFill/>
                    </a:lnB>
                    <a:solidFill>
                      <a:srgbClr val="F2F2F2"/>
                    </a:solidFill>
                  </a:tcPr>
                </a:tc>
              </a:tr>
            </a:tbl>
          </a:graphicData>
        </a:graphic>
      </p:graphicFrame>
      <p:sp>
        <p:nvSpPr>
          <p:cNvPr id="32" name="RailNote"/>
          <p:cNvSpPr txBox="1"/>
          <p:nvPr/>
        </p:nvSpPr>
        <p:spPr>
          <a:xfrm>
            <a:off x="8013079" y="3811600"/>
            <a:ext cx="3722362" cy="700000"/>
          </a:xfrm>
          <a:prstGeom prst="rect">
            <a:avLst/>
          </a:prstGeom>
          <a:noFill/>
          <a:ln>
            <a:noFill/>
          </a:ln>
        </p:spPr>
        <p:txBody>
          <a:bodyPr wrap="square" anchor="t" lIns="0" tIns="0" rIns="0" bIns="0"/>
          <a:lstStyle/>
          <a:p>
            <a:pPr>
              <a:lnSpc>
                <a:spcPct val="115000"/>
              </a:lnSpc>
              <a:buNone/>
            </a:pPr>
            <a:r>
              <a:rPr lang="en-US" sz="850" i="1" dirty="0">
                <a:solidFill>
                  <a:srgbClr val="000000"/>
                </a:solidFill>
                <a:latin typeface="Arial"/>
                <a:ea typeface="Arial"/>
                <a:cs typeface="Arial"/>
              </a:rPr>
              <a:t>The selected p=50% working case is already ~half the build (50–52% by program); DDG-51's ~6.1x is the widest gap, off the lowest current floor.</a:t>
            </a:r>
          </a:p>
        </p:txBody>
      </p:sp>
      <p:sp>
        <p:nvSpPr>
          <p:cNvPr id="9999" name="Sources"/>
          <p:cNvSpPr txBox="1"/>
          <p:nvPr/>
        </p:nvSpPr>
        <p:spPr>
          <a:xfrm>
            <a:off x="453079" y="6085448"/>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Sources: Defense News, "Defense firms outsource sub, carrier construction amid labor woes" (M. Eckstein, Oct 2022); O'Rourke (CRS), State of U.S. Shipbuilding, House Armed Services Committee testimony (Mar 2025), cross-checked against the CBO Shipbuilding Composite Index (Apr 2024); DoD FMR 7000.14-R Vol 2B Ch 4, Exhibit P-5 ship cost element categories (Nov 2017); DoD contract award announcements (announced place-of-performance): Virginia Block V (2019), Columbia Build I (2020), DDG-51 FY23–27 multiyear (2023) | Note: dollar figures are constant FY2026 $.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SAM Methodology</a:t>
            </a:r>
            <a:r>
              <a:rPr lang="en-US" sz="1000" kern="1200" dirty="0">
                <a:solidFill>
                  <a:srgbClr val="44505C"/>
                </a:solidFill>
                <a:latin typeface="Arial"/>
                <a:ea typeface="Arial"/>
                <a:cs typeface="Arial"/>
              </a:rPr>
              <a:t> / Building the Lane</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SAM Methodology (1/2) | Each supplier lane is built from subaward and vendor history, then split first on recent top-vendor share.</a:t>
            </a:r>
          </a:p>
        </p:txBody>
      </p:sp>
      <p:cxnSp>
        <p:nvCxnSpPr>
          <p:cNvPr id="10" name="BuildArrow1"/>
          <p:cNvCxnSpPr/>
          <p:nvPr/>
        </p:nvCxnSpPr>
        <p:spPr>
          <a:xfrm>
            <a:off x="3045533" y="1765000"/>
            <a:ext cx="250000" cy="0"/>
          </a:xfrm>
          <a:prstGeom prst="line">
            <a:avLst/>
          </a:prstGeom>
          <a:ln w="9525">
            <a:solidFill>
              <a:srgbClr val="000000"/>
            </a:solidFill>
            <a:tailEnd type="triangle" w="med" len="med"/>
          </a:ln>
        </p:spPr>
      </p:cxnSp>
      <p:cxnSp>
        <p:nvCxnSpPr>
          <p:cNvPr id="11" name="BuildArrow2"/>
          <p:cNvCxnSpPr/>
          <p:nvPr/>
        </p:nvCxnSpPr>
        <p:spPr>
          <a:xfrm>
            <a:off x="5887987" y="1765000"/>
            <a:ext cx="250000" cy="0"/>
          </a:xfrm>
          <a:prstGeom prst="line">
            <a:avLst/>
          </a:prstGeom>
          <a:ln w="9525">
            <a:solidFill>
              <a:srgbClr val="000000"/>
            </a:solidFill>
            <a:tailEnd type="triangle" w="med" len="med"/>
          </a:ln>
        </p:spPr>
      </p:cxnSp>
      <p:cxnSp>
        <p:nvCxnSpPr>
          <p:cNvPr id="12" name="StripToLane"/>
          <p:cNvCxnSpPr/>
          <p:nvPr/>
        </p:nvCxnSpPr>
        <p:spPr>
          <a:xfrm>
            <a:off x="4591760" y="2000000"/>
            <a:ext cx="0" cy="250000"/>
          </a:xfrm>
          <a:prstGeom prst="line">
            <a:avLst/>
          </a:prstGeom>
          <a:ln w="9525">
            <a:solidFill>
              <a:srgbClr val="000000"/>
            </a:solidFill>
            <a:tailEnd type="triangle" w="med" len="med"/>
          </a:ln>
        </p:spPr>
      </p:cxnSp>
      <p:cxnSp>
        <p:nvCxnSpPr>
          <p:cNvPr id="13" name="LaneToVendor"/>
          <p:cNvCxnSpPr/>
          <p:nvPr/>
        </p:nvCxnSpPr>
        <p:spPr>
          <a:xfrm>
            <a:off x="4591760" y="2780000"/>
            <a:ext cx="0" cy="250000"/>
          </a:xfrm>
          <a:prstGeom prst="line">
            <a:avLst/>
          </a:prstGeom>
          <a:ln w="9525">
            <a:solidFill>
              <a:srgbClr val="000000"/>
            </a:solidFill>
            <a:tailEnd type="triangle" w="med" len="med"/>
          </a:ln>
        </p:spPr>
      </p:cxnSp>
      <p:cxnSp>
        <p:nvCxnSpPr>
          <p:cNvPr id="14" name="VendorToGate"/>
          <p:cNvCxnSpPr/>
          <p:nvPr/>
        </p:nvCxnSpPr>
        <p:spPr>
          <a:xfrm>
            <a:off x="4591760" y="3450000"/>
            <a:ext cx="0" cy="250000"/>
          </a:xfrm>
          <a:prstGeom prst="line">
            <a:avLst/>
          </a:prstGeom>
          <a:ln w="9525">
            <a:solidFill>
              <a:srgbClr val="000000"/>
            </a:solidFill>
            <a:tailEnd type="triangle" w="med" len="med"/>
          </a:ln>
        </p:spPr>
      </p:cxnSp>
      <p:cxnSp>
        <p:nvCxnSpPr>
          <p:cNvPr id="15" name="RouteBus"/>
          <p:cNvCxnSpPr/>
          <p:nvPr/>
        </p:nvCxnSpPr>
        <p:spPr>
          <a:xfrm>
            <a:off x="583079" y="4110000"/>
            <a:ext cx="0" cy="1390000"/>
          </a:xfrm>
          <a:prstGeom prst="line">
            <a:avLst/>
          </a:prstGeom>
          <a:ln w="9525">
            <a:solidFill>
              <a:srgbClr val="000000"/>
            </a:solidFill>
          </a:ln>
        </p:spPr>
      </p:cxnSp>
      <p:cxnSp>
        <p:nvCxnSpPr>
          <p:cNvPr id="16" name="RouteDrop1"/>
          <p:cNvCxnSpPr/>
          <p:nvPr/>
        </p:nvCxnSpPr>
        <p:spPr>
          <a:xfrm>
            <a:off x="583079" y="4440000"/>
            <a:ext cx="916921" cy="0"/>
          </a:xfrm>
          <a:prstGeom prst="line">
            <a:avLst/>
          </a:prstGeom>
          <a:ln w="9525">
            <a:solidFill>
              <a:srgbClr val="000000"/>
            </a:solidFill>
            <a:tailEnd type="triangle" w="med" len="med"/>
          </a:ln>
        </p:spPr>
      </p:cxnSp>
      <p:cxnSp>
        <p:nvCxnSpPr>
          <p:cNvPr id="17" name="RouteDrop2"/>
          <p:cNvCxnSpPr/>
          <p:nvPr/>
        </p:nvCxnSpPr>
        <p:spPr>
          <a:xfrm>
            <a:off x="583079" y="4980000"/>
            <a:ext cx="916921" cy="0"/>
          </a:xfrm>
          <a:prstGeom prst="line">
            <a:avLst/>
          </a:prstGeom>
          <a:ln w="9525">
            <a:solidFill>
              <a:srgbClr val="000000"/>
            </a:solidFill>
            <a:tailEnd type="triangle" w="med" len="med"/>
          </a:ln>
        </p:spPr>
      </p:cxnSp>
      <p:cxnSp>
        <p:nvCxnSpPr>
          <p:cNvPr id="18" name="RouteDrop3"/>
          <p:cNvCxnSpPr/>
          <p:nvPr/>
        </p:nvCxnSpPr>
        <p:spPr>
          <a:xfrm>
            <a:off x="583079" y="5500000"/>
            <a:ext cx="916921" cy="0"/>
          </a:xfrm>
          <a:prstGeom prst="line">
            <a:avLst/>
          </a:prstGeom>
          <a:ln w="9525">
            <a:solidFill>
              <a:srgbClr val="000000"/>
            </a:solidFill>
            <a:tailEnd type="triangle" w="med" len="med"/>
          </a:ln>
        </p:spPr>
      </p:cxnSp>
      <p:graphicFrame>
        <p:nvGraphicFramePr>
          <p:cNvPr id="19" name="BuildCap"/>
          <p:cNvGraphicFramePr>
            <a:graphicFrameLocks noGrp="1"/>
          </p:cNvGraphicFramePr>
          <p:nvPr/>
        </p:nvGraphicFramePr>
        <p:xfrm>
          <a:off x="453079" y="1240000"/>
          <a:ext cx="8277362" cy="251778"/>
        </p:xfrm>
        <a:graphic>
          <a:graphicData uri="http://schemas.openxmlformats.org/drawingml/2006/table">
            <a:tbl>
              <a:tblPr firstRow="1" firstCol="1" bandRow="0">
                <a:tableStyleId>{2D5ABB26-0587-4C30-8999-92F81FD0307C}</a:tableStyleId>
              </a:tblPr>
              <a:tblGrid>
                <a:gridCol w="8277362"/>
              </a:tblGrid>
              <a:tr h="0">
                <a:tc>
                  <a:txBody>
                    <a:bodyPr anchor="ctr"/>
                    <a:lstStyle/>
                    <a:p>
                      <a:pPr algn="l">
                        <a:lnSpc>
                          <a:spcPct val="115000"/>
                        </a:lnSpc>
                      </a:pPr>
                      <a:r>
                        <a:rPr lang="en-US" sz="1000" b="1" dirty="0">
                          <a:solidFill>
                            <a:srgbClr val="000000"/>
                          </a:solidFill>
                          <a:latin typeface="Arial"/>
                          <a:ea typeface="Arial"/>
                          <a:cs typeface="Arial"/>
                        </a:rPr>
                        <a:t>Build the lane, then split on concentration</a:t>
                      </a:r>
                    </a:p>
                  </a:txBody>
                  <a:tcPr marL="45720" marR="45720" marT="45720" marB="45720" anchor="ctr">
                    <a:lnL>
                      <a:noFill/>
                    </a:lnL>
                    <a:lnR>
                      <a:noFill/>
                    </a:lnR>
                    <a:lnT>
                      <a:noFill/>
                    </a:lnT>
                    <a:lnB w="12700" cap="flat" cmpd="sng" algn="ctr">
                      <a:solidFill>
                        <a:srgbClr val="000000"/>
                      </a:solidFill>
                      <a:prstDash val="solid"/>
                    </a:lnB>
                    <a:noFill/>
                  </a:tcPr>
                </a:tc>
              </a:tr>
            </a:tbl>
          </a:graphicData>
        </a:graphic>
      </p:graphicFrame>
      <p:sp>
        <p:nvSpPr>
          <p:cNvPr id="20" name="Build1"/>
          <p:cNvSpPr txBox="1"/>
          <p:nvPr/>
        </p:nvSpPr>
        <p:spPr>
          <a:xfrm>
            <a:off x="453079" y="1530000"/>
            <a:ext cx="2592454" cy="47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FSRS subaward data</a:t>
            </a:r>
          </a:p>
          <a:p>
            <a:pPr algn="ctr">
              <a:lnSpc>
                <a:spcPct val="115000"/>
              </a:lnSpc>
              <a:buNone/>
            </a:pPr>
            <a:r>
              <a:rPr lang="en-US" sz="850" i="1" dirty="0">
                <a:solidFill>
                  <a:srgbClr val="000000"/>
                </a:solidFill>
                <a:latin typeface="Arial"/>
                <a:ea typeface="Arial"/>
                <a:cs typeface="Arial"/>
              </a:rPr>
              <a:t>One record = one award event</a:t>
            </a:r>
          </a:p>
        </p:txBody>
      </p:sp>
      <p:sp>
        <p:nvSpPr>
          <p:cNvPr id="21" name="Build2"/>
          <p:cNvSpPr txBox="1"/>
          <p:nvPr/>
        </p:nvSpPr>
        <p:spPr>
          <a:xfrm>
            <a:off x="3295533" y="1530000"/>
            <a:ext cx="2592454" cy="47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In-scope PIIDs</a:t>
            </a:r>
          </a:p>
          <a:p>
            <a:pPr algn="ctr">
              <a:lnSpc>
                <a:spcPct val="115000"/>
              </a:lnSpc>
              <a:buNone/>
            </a:pPr>
            <a:r>
              <a:rPr lang="en-US" sz="850" i="1" dirty="0">
                <a:solidFill>
                  <a:srgbClr val="000000"/>
                </a:solidFill>
                <a:latin typeface="Arial"/>
                <a:ea typeface="Arial"/>
                <a:cs typeface="Arial"/>
              </a:rPr>
              <a:t>Virginia, Columbia, DDG-51</a:t>
            </a:r>
          </a:p>
        </p:txBody>
      </p:sp>
      <p:sp>
        <p:nvSpPr>
          <p:cNvPr id="22" name="Build3"/>
          <p:cNvSpPr txBox="1"/>
          <p:nvPr/>
        </p:nvSpPr>
        <p:spPr>
          <a:xfrm>
            <a:off x="6137987" y="1530000"/>
            <a:ext cx="2592454" cy="47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Classify each subaward</a:t>
            </a:r>
          </a:p>
          <a:p>
            <a:pPr algn="ctr">
              <a:lnSpc>
                <a:spcPct val="115000"/>
              </a:lnSpc>
              <a:buNone/>
            </a:pPr>
            <a:r>
              <a:rPr lang="en-US" sz="850" i="1" dirty="0">
                <a:solidFill>
                  <a:srgbClr val="000000"/>
                </a:solidFill>
                <a:latin typeface="Arial"/>
                <a:ea typeface="Arial"/>
                <a:cs typeface="Arial"/>
              </a:rPr>
              <a:t>Supplier-role only; drop prime, GFE, services; assign work type</a:t>
            </a:r>
          </a:p>
        </p:txBody>
      </p:sp>
      <p:sp>
        <p:nvSpPr>
          <p:cNvPr id="23" name="SupplierLane"/>
          <p:cNvSpPr txBox="1"/>
          <p:nvPr/>
        </p:nvSpPr>
        <p:spPr>
          <a:xfrm>
            <a:off x="453079" y="2250000"/>
            <a:ext cx="8277362" cy="530000"/>
          </a:xfrm>
          <a:prstGeom prst="rect">
            <a:avLst/>
          </a:prstGeom>
          <a:solidFill>
            <a:srgbClr val="6E91B1"/>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FFFFFF"/>
                </a:solidFill>
                <a:latin typeface="Arial"/>
                <a:ea typeface="Arial"/>
                <a:cs typeface="Arial"/>
              </a:rPr>
              <a:t>SUPPLIER LANE</a:t>
            </a:r>
          </a:p>
          <a:p>
            <a:pPr algn="ctr">
              <a:lnSpc>
                <a:spcPct val="115000"/>
              </a:lnSpc>
              <a:spcAft>
                <a:spcPts val="40"/>
              </a:spcAft>
              <a:buNone/>
            </a:pPr>
            <a:r>
              <a:rPr lang="en-US" sz="850" i="1" dirty="0">
                <a:solidFill>
                  <a:srgbClr val="FFFFFF"/>
                </a:solidFill>
                <a:latin typeface="Arial"/>
                <a:ea typeface="Arial"/>
                <a:cs typeface="Arial"/>
              </a:rPr>
              <a:t>Program × PIID × Work type</a:t>
            </a:r>
          </a:p>
          <a:p>
            <a:pPr algn="ctr">
              <a:lnSpc>
                <a:spcPct val="115000"/>
              </a:lnSpc>
              <a:buNone/>
            </a:pPr>
            <a:r>
              <a:rPr lang="en-US" sz="850" i="1" dirty="0">
                <a:solidFill>
                  <a:srgbClr val="FFFFFF"/>
                </a:solidFill>
                <a:latin typeface="Arial"/>
                <a:ea typeface="Arial"/>
                <a:cs typeface="Arial"/>
              </a:rPr>
              <a:t>Shorthand PIID × Work type, since PIID carries program relevance</a:t>
            </a:r>
          </a:p>
        </p:txBody>
      </p:sp>
      <p:sp>
        <p:nvSpPr>
          <p:cNvPr id="24" name="VendorHistory"/>
          <p:cNvSpPr txBox="1"/>
          <p:nvPr/>
        </p:nvSpPr>
        <p:spPr>
          <a:xfrm>
            <a:off x="453079" y="3030000"/>
            <a:ext cx="8277362" cy="42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Attach vendor-by-FY history</a:t>
            </a:r>
          </a:p>
          <a:p>
            <a:pPr algn="ctr">
              <a:lnSpc>
                <a:spcPct val="115000"/>
              </a:lnSpc>
              <a:buNone/>
            </a:pPr>
            <a:r>
              <a:rPr lang="en-US" sz="850" i="1" dirty="0">
                <a:solidFill>
                  <a:srgbClr val="000000"/>
                </a:solidFill>
                <a:latin typeface="Arial"/>
                <a:ea typeface="Arial"/>
                <a:cs typeface="Arial"/>
              </a:rPr>
              <a:t>Dollars and records by vendor; prior vs recent mix; first and last award; active vendors; recent top-vendor share</a:t>
            </a:r>
          </a:p>
        </p:txBody>
      </p:sp>
      <p:sp>
        <p:nvSpPr>
          <p:cNvPr id="25" name="ConcentrationGate"/>
          <p:cNvSpPr txBox="1"/>
          <p:nvPr/>
        </p:nvSpPr>
        <p:spPr>
          <a:xfrm>
            <a:off x="453079" y="3700000"/>
            <a:ext cx="8277362" cy="41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Recent vendor concentration in the lane?</a:t>
            </a:r>
          </a:p>
          <a:p>
            <a:pPr algn="ctr">
              <a:lnSpc>
                <a:spcPct val="115000"/>
              </a:lnSpc>
              <a:buNone/>
            </a:pPr>
            <a:r>
              <a:rPr lang="en-US" sz="850" i="1" dirty="0">
                <a:solidFill>
                  <a:srgbClr val="000000"/>
                </a:solidFill>
                <a:latin typeface="Arial"/>
                <a:ea typeface="Arial"/>
                <a:cs typeface="Arial"/>
              </a:rPr>
              <a:t>The first routing split, on recent top-vendor share</a:t>
            </a:r>
          </a:p>
        </p:txBody>
      </p:sp>
      <p:sp>
        <p:nvSpPr>
          <p:cNvPr id="26" name="TrackA"/>
          <p:cNvSpPr txBox="1"/>
          <p:nvPr/>
        </p:nvSpPr>
        <p:spPr>
          <a:xfrm>
            <a:off x="1500000" y="4210000"/>
            <a:ext cx="7230441" cy="460000"/>
          </a:xfrm>
          <a:prstGeom prst="rect">
            <a:avLst/>
          </a:prstGeom>
          <a:solidFill>
            <a:srgbClr val="B6C8D8"/>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Track A: more concentrated, incumbent-heavy</a:t>
            </a:r>
          </a:p>
          <a:p>
            <a:pPr algn="ctr">
              <a:lnSpc>
                <a:spcPct val="115000"/>
              </a:lnSpc>
              <a:buNone/>
            </a:pPr>
            <a:r>
              <a:rPr lang="en-US" sz="850" i="1" dirty="0">
                <a:solidFill>
                  <a:srgbClr val="000000"/>
                </a:solidFill>
                <a:latin typeface="Arial"/>
                <a:ea typeface="Arial"/>
                <a:cs typeface="Arial"/>
              </a:rPr>
              <a:t>Continues on the next slide, Track A</a:t>
            </a:r>
          </a:p>
        </p:txBody>
      </p:sp>
      <p:sp>
        <p:nvSpPr>
          <p:cNvPr id="27" name="TrackB"/>
          <p:cNvSpPr txBox="1"/>
          <p:nvPr/>
        </p:nvSpPr>
        <p:spPr>
          <a:xfrm>
            <a:off x="1500000" y="4750000"/>
            <a:ext cx="7230441" cy="460000"/>
          </a:xfrm>
          <a:prstGeom prst="rect">
            <a:avLst/>
          </a:prstGeom>
          <a:solidFill>
            <a:srgbClr val="B6C8D8"/>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Track B: more diverse, multi-source</a:t>
            </a:r>
          </a:p>
          <a:p>
            <a:pPr algn="ctr">
              <a:lnSpc>
                <a:spcPct val="115000"/>
              </a:lnSpc>
              <a:buNone/>
            </a:pPr>
            <a:r>
              <a:rPr lang="en-US" sz="850" i="1" dirty="0">
                <a:solidFill>
                  <a:srgbClr val="000000"/>
                </a:solidFill>
                <a:latin typeface="Arial"/>
                <a:ea typeface="Arial"/>
                <a:cs typeface="Arial"/>
              </a:rPr>
              <a:t>Continues on the next slide, Track B</a:t>
            </a:r>
          </a:p>
        </p:txBody>
      </p:sp>
      <p:sp>
        <p:nvSpPr>
          <p:cNvPr id="28" name="MonitorBand"/>
          <p:cNvSpPr txBox="1"/>
          <p:nvPr/>
        </p:nvSpPr>
        <p:spPr>
          <a:xfrm>
            <a:off x="1500000" y="5290000"/>
            <a:ext cx="7230441" cy="42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Monitor, evidence-only</a:t>
            </a:r>
          </a:p>
          <a:p>
            <a:pPr algn="ctr">
              <a:lnSpc>
                <a:spcPct val="115000"/>
              </a:lnSpc>
              <a:buNone/>
            </a:pPr>
            <a:r>
              <a:rPr lang="en-US" sz="850" i="1" dirty="0">
                <a:solidFill>
                  <a:srgbClr val="000000"/>
                </a:solidFill>
                <a:latin typeface="Arial"/>
                <a:ea typeface="Arial"/>
                <a:cs typeface="Arial"/>
              </a:rPr>
              <a:t>Useful context, not a current jump-ball</a:t>
            </a:r>
          </a:p>
        </p:txBody>
      </p:sp>
      <p:sp>
        <p:nvSpPr>
          <p:cNvPr id="29" name="BranchChip1"/>
          <p:cNvSpPr txBox="1"/>
          <p:nvPr/>
        </p:nvSpPr>
        <p:spPr>
          <a:xfrm>
            <a:off x="666539" y="4346000"/>
            <a:ext cx="750000" cy="188000"/>
          </a:xfrm>
          <a:prstGeom prst="rect">
            <a:avLst/>
          </a:prstGeom>
          <a:solidFill>
            <a:srgbClr val="FFFFFF"/>
          </a:solidFill>
          <a:ln>
            <a:noFill/>
          </a:ln>
        </p:spPr>
        <p:txBody>
          <a:bodyPr wrap="square" anchor="ctr" lIns="45720" tIns="9144" rIns="45720" bIns="9144"/>
          <a:lstStyle/>
          <a:p>
            <a:pPr algn="ctr">
              <a:lnSpc>
                <a:spcPct val="115000"/>
              </a:lnSpc>
              <a:buNone/>
            </a:pPr>
            <a:r>
              <a:rPr lang="en-US" sz="850" i="1" dirty="0">
                <a:solidFill>
                  <a:srgbClr val="000000"/>
                </a:solidFill>
                <a:latin typeface="Arial"/>
                <a:ea typeface="Arial"/>
                <a:cs typeface="Arial"/>
              </a:rPr>
              <a:t>High share</a:t>
            </a:r>
          </a:p>
        </p:txBody>
      </p:sp>
      <p:sp>
        <p:nvSpPr>
          <p:cNvPr id="30" name="BranchChip2"/>
          <p:cNvSpPr txBox="1"/>
          <p:nvPr/>
        </p:nvSpPr>
        <p:spPr>
          <a:xfrm>
            <a:off x="635539" y="4886000"/>
            <a:ext cx="812000" cy="188000"/>
          </a:xfrm>
          <a:prstGeom prst="rect">
            <a:avLst/>
          </a:prstGeom>
          <a:solidFill>
            <a:srgbClr val="FFFFFF"/>
          </a:solidFill>
          <a:ln>
            <a:noFill/>
          </a:ln>
        </p:spPr>
        <p:txBody>
          <a:bodyPr wrap="square" anchor="ctr" lIns="45720" tIns="9144" rIns="45720" bIns="9144"/>
          <a:lstStyle/>
          <a:p>
            <a:pPr algn="ctr">
              <a:lnSpc>
                <a:spcPct val="115000"/>
              </a:lnSpc>
              <a:buNone/>
            </a:pPr>
            <a:r>
              <a:rPr lang="en-US" sz="850" i="1" dirty="0">
                <a:solidFill>
                  <a:srgbClr val="000000"/>
                </a:solidFill>
                <a:latin typeface="Arial"/>
                <a:ea typeface="Arial"/>
                <a:cs typeface="Arial"/>
              </a:rPr>
              <a:t>Lower share</a:t>
            </a:r>
          </a:p>
        </p:txBody>
      </p:sp>
      <p:sp>
        <p:nvSpPr>
          <p:cNvPr id="31" name="BranchChip3"/>
          <p:cNvSpPr txBox="1"/>
          <p:nvPr/>
        </p:nvSpPr>
        <p:spPr>
          <a:xfrm>
            <a:off x="666539" y="5406000"/>
            <a:ext cx="750000" cy="188000"/>
          </a:xfrm>
          <a:prstGeom prst="rect">
            <a:avLst/>
          </a:prstGeom>
          <a:solidFill>
            <a:srgbClr val="FFFFFF"/>
          </a:solidFill>
          <a:ln>
            <a:noFill/>
          </a:ln>
        </p:spPr>
        <p:txBody>
          <a:bodyPr wrap="square" anchor="ctr" lIns="45720" tIns="9144" rIns="45720" bIns="9144"/>
          <a:lstStyle/>
          <a:p>
            <a:pPr algn="ctr">
              <a:lnSpc>
                <a:spcPct val="115000"/>
              </a:lnSpc>
              <a:buNone/>
            </a:pPr>
            <a:r>
              <a:rPr lang="en-US" sz="850" i="1" dirty="0">
                <a:solidFill>
                  <a:srgbClr val="000000"/>
                </a:solidFill>
                <a:latin typeface="Arial"/>
                <a:ea typeface="Arial"/>
                <a:cs typeface="Arial"/>
              </a:rPr>
              <a:t>Low / none</a:t>
            </a:r>
          </a:p>
        </p:txBody>
      </p:sp>
      <p:cxnSp>
        <p:nvCxnSpPr>
          <p:cNvPr id="32" name="PaneDivider"/>
          <p:cNvCxnSpPr/>
          <p:nvPr/>
        </p:nvCxnSpPr>
        <p:spPr>
          <a:xfrm>
            <a:off x="8830441" y="1531778"/>
            <a:ext cx="0" cy="4298222"/>
          </a:xfrm>
          <a:prstGeom prst="line">
            <a:avLst/>
          </a:prstGeom>
          <a:ln w="6350">
            <a:solidFill>
              <a:srgbClr val="646464"/>
            </a:solidFill>
          </a:ln>
        </p:spPr>
      </p:cxnSp>
      <p:graphicFrame>
        <p:nvGraphicFramePr>
          <p:cNvPr id="33" name="SMERailTitle"/>
          <p:cNvGraphicFramePr>
            <a:graphicFrameLocks noGrp="1"/>
          </p:cNvGraphicFramePr>
          <p:nvPr/>
        </p:nvGraphicFramePr>
        <p:xfrm>
          <a:off x="8930441" y="1240000"/>
          <a:ext cx="2805000" cy="251778"/>
        </p:xfrm>
        <a:graphic>
          <a:graphicData uri="http://schemas.openxmlformats.org/drawingml/2006/table">
            <a:tbl>
              <a:tblPr firstRow="1" firstCol="1" bandRow="0">
                <a:tableStyleId>{2D5ABB26-0587-4C30-8999-92F81FD0307C}</a:tableStyleId>
              </a:tblPr>
              <a:tblGrid>
                <a:gridCol w="2805000"/>
              </a:tblGrid>
              <a:tr h="0">
                <a:tc>
                  <a:txBody>
                    <a:bodyPr anchor="ctr"/>
                    <a:lstStyle/>
                    <a:p>
                      <a:pPr algn="l">
                        <a:lnSpc>
                          <a:spcPct val="115000"/>
                        </a:lnSpc>
                      </a:pPr>
                      <a:r>
                        <a:rPr lang="en-US" sz="1000" b="1" dirty="0">
                          <a:solidFill>
                            <a:srgbClr val="000000"/>
                          </a:solidFill>
                          <a:latin typeface="Arial"/>
                          <a:ea typeface="Arial"/>
                          <a:cs typeface="Arial"/>
                        </a:rPr>
                        <a:t>To discuss:</a:t>
                      </a:r>
                    </a:p>
                  </a:txBody>
                  <a:tcPr marL="45720" marR="45720" marT="45720" marB="45720" anchor="ctr">
                    <a:lnL>
                      <a:noFill/>
                    </a:lnL>
                    <a:lnR>
                      <a:noFill/>
                    </a:lnR>
                    <a:lnT>
                      <a:noFill/>
                    </a:lnT>
                    <a:lnB w="12700" cap="flat" cmpd="sng" algn="ctr">
                      <a:solidFill>
                        <a:srgbClr val="000000"/>
                      </a:solidFill>
                      <a:prstDash val="solid"/>
                    </a:lnB>
                    <a:noFill/>
                  </a:tcPr>
                </a:tc>
              </a:tr>
            </a:tbl>
          </a:graphicData>
        </a:graphic>
      </p:graphicFrame>
      <p:sp>
        <p:nvSpPr>
          <p:cNvPr id="34" name="SMERail"/>
          <p:cNvSpPr txBox="1"/>
          <p:nvPr/>
        </p:nvSpPr>
        <p:spPr>
          <a:xfrm>
            <a:off x="8930441" y="1561778"/>
            <a:ext cx="2805000" cy="4308222"/>
          </a:xfrm>
          <a:prstGeom prst="rect">
            <a:avLst/>
          </a:prstGeom>
          <a:noFill/>
          <a:ln>
            <a:noFill/>
          </a:ln>
        </p:spPr>
        <p:txBody>
          <a:bodyPr wrap="square" anchor="t" lIns="100000" tIns="60000" rIns="70000" bIns="40000"/>
          <a:lstStyle/>
          <a:p>
            <a:pPr>
              <a:lnSpc>
                <a:spcPct val="115000"/>
              </a:lnSpc>
              <a:spcAft>
                <a:spcPts val="50"/>
              </a:spcAft>
              <a:buNone/>
            </a:pPr>
            <a:r>
              <a:rPr lang="en-US" sz="900" b="1" dirty="0">
                <a:solidFill>
                  <a:srgbClr val="000000"/>
                </a:solidFill>
                <a:latin typeface="Arial"/>
                <a:ea typeface="Arial"/>
                <a:cs typeface="Arial"/>
              </a:rPr>
              <a:t>1. PIID scope</a:t>
            </a:r>
          </a:p>
          <a:p>
            <a:pPr marL="247650" indent="-152400">
              <a:lnSpc>
                <a:spcPct val="115000"/>
              </a:lnSpc>
              <a:spcAft>
                <a:spcPts val="40"/>
              </a:spcAft>
              <a:buFont typeface="Arial" panose="020B0604020202020204" pitchFamily="34" charset="0"/>
              <a:buChar char="•"/>
            </a:pPr>
            <a:r>
              <a:rPr lang="en-US" sz="850" dirty="0">
                <a:solidFill>
                  <a:srgbClr val="000000"/>
                </a:solidFill>
                <a:latin typeface="Arial"/>
                <a:ea typeface="Arial"/>
                <a:cs typeface="Arial"/>
              </a:rPr>
              <a:t>Right PIIDs for shipbuilder-directed work?</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Any submarine or DDG supplier work missing outside this lens?</a:t>
            </a:r>
          </a:p>
          <a:p>
            <a:pPr>
              <a:lnSpc>
                <a:spcPct val="115000"/>
              </a:lnSpc>
              <a:spcAft>
                <a:spcPts val="50"/>
              </a:spcAft>
              <a:buNone/>
            </a:pPr>
            <a:r>
              <a:rPr lang="en-US" sz="900" b="1" dirty="0">
                <a:solidFill>
                  <a:srgbClr val="000000"/>
                </a:solidFill>
                <a:latin typeface="Arial"/>
                <a:ea typeface="Arial"/>
                <a:cs typeface="Arial"/>
              </a:rPr>
              <a:t>2. Classification</a:t>
            </a:r>
          </a:p>
          <a:p>
            <a:pPr marL="247650" indent="-152400">
              <a:lnSpc>
                <a:spcPct val="115000"/>
              </a:lnSpc>
              <a:spcAft>
                <a:spcPts val="40"/>
              </a:spcAft>
              <a:buFont typeface="Arial" panose="020B0604020202020204" pitchFamily="34" charset="0"/>
              <a:buChar char="•"/>
            </a:pPr>
            <a:r>
              <a:rPr lang="en-US" sz="850" dirty="0">
                <a:solidFill>
                  <a:srgbClr val="000000"/>
                </a:solidFill>
                <a:latin typeface="Arial"/>
                <a:ea typeface="Arial"/>
                <a:cs typeface="Arial"/>
              </a:rPr>
              <a:t>Are vendor-based work-type buckets directionally fair?</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Should any submarine or DDG vendors be classified differently?</a:t>
            </a:r>
          </a:p>
          <a:p>
            <a:pPr>
              <a:lnSpc>
                <a:spcPct val="115000"/>
              </a:lnSpc>
              <a:spcAft>
                <a:spcPts val="50"/>
              </a:spcAft>
              <a:buNone/>
            </a:pPr>
            <a:r>
              <a:rPr lang="en-US" sz="900" b="1" dirty="0">
                <a:solidFill>
                  <a:srgbClr val="000000"/>
                </a:solidFill>
                <a:latin typeface="Arial"/>
                <a:ea typeface="Arial"/>
                <a:cs typeface="Arial"/>
              </a:rPr>
              <a:t>3. Lane grain</a:t>
            </a:r>
          </a:p>
          <a:p>
            <a:pPr marL="247650" indent="-152400">
              <a:lnSpc>
                <a:spcPct val="115000"/>
              </a:lnSpc>
              <a:spcAft>
                <a:spcPts val="40"/>
              </a:spcAft>
              <a:buFont typeface="Arial" panose="020B0604020202020204" pitchFamily="34" charset="0"/>
              <a:buChar char="•"/>
            </a:pPr>
            <a:r>
              <a:rPr lang="en-US" sz="850" dirty="0">
                <a:solidFill>
                  <a:srgbClr val="000000"/>
                </a:solidFill>
                <a:latin typeface="Arial"/>
                <a:ea typeface="Arial"/>
                <a:cs typeface="Arial"/>
              </a:rPr>
              <a:t>Is PIID and work type the right competitive unit?</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Should some lanes split by block, hull, yard, or class?</a:t>
            </a:r>
          </a:p>
          <a:p>
            <a:pPr>
              <a:lnSpc>
                <a:spcPct val="115000"/>
              </a:lnSpc>
              <a:spcAft>
                <a:spcPts val="50"/>
              </a:spcAft>
              <a:buNone/>
            </a:pPr>
            <a:r>
              <a:rPr lang="en-US" sz="900" b="1" dirty="0">
                <a:solidFill>
                  <a:srgbClr val="000000"/>
                </a:solidFill>
                <a:latin typeface="Arial"/>
                <a:ea typeface="Arial"/>
                <a:cs typeface="Arial"/>
              </a:rPr>
              <a:t>4. Vendor-share logic</a:t>
            </a:r>
          </a:p>
          <a:p>
            <a:pPr marL="247650" indent="-152400">
              <a:lnSpc>
                <a:spcPct val="115000"/>
              </a:lnSpc>
              <a:spcAft>
                <a:spcPts val="40"/>
              </a:spcAft>
              <a:buFont typeface="Arial" panose="020B0604020202020204" pitchFamily="34" charset="0"/>
              <a:buChar char="•"/>
            </a:pPr>
            <a:r>
              <a:rPr lang="en-US" sz="850" dirty="0">
                <a:solidFill>
                  <a:srgbClr val="000000"/>
                </a:solidFill>
                <a:latin typeface="Arial"/>
                <a:ea typeface="Arial"/>
                <a:cs typeface="Arial"/>
              </a:rPr>
              <a:t>Is dollar share the right signal of practical control?</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Does the recent window match how these programs buy?</a:t>
            </a:r>
          </a:p>
          <a:p>
            <a:pPr>
              <a:lnSpc>
                <a:spcPct val="115000"/>
              </a:lnSpc>
              <a:spcAft>
                <a:spcPts val="50"/>
              </a:spcAft>
              <a:buNone/>
            </a:pPr>
            <a:r>
              <a:rPr lang="en-US" sz="900" b="1" dirty="0">
                <a:solidFill>
                  <a:srgbClr val="000000"/>
                </a:solidFill>
                <a:latin typeface="Arial"/>
                <a:ea typeface="Arial"/>
                <a:cs typeface="Arial"/>
              </a:rPr>
              <a:t>5. Concentration cutoff</a:t>
            </a:r>
          </a:p>
          <a:p>
            <a:pPr marL="247650" indent="-152400">
              <a:lnSpc>
                <a:spcPct val="115000"/>
              </a:lnSpc>
              <a:spcAft>
                <a:spcPts val="40"/>
              </a:spcAft>
              <a:buFont typeface="Arial" panose="020B0604020202020204" pitchFamily="34" charset="0"/>
              <a:buChar char="•"/>
            </a:pPr>
            <a:r>
              <a:rPr lang="en-US" sz="850" dirty="0">
                <a:solidFill>
                  <a:srgbClr val="000000"/>
                </a:solidFill>
                <a:latin typeface="Arial"/>
                <a:ea typeface="Arial"/>
                <a:cs typeface="Arial"/>
              </a:rPr>
              <a:t>Where should high concentration begin?</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Is one cutoff fair across Virginia, Columbia, and DDG?</a:t>
            </a:r>
          </a:p>
          <a:p>
            <a:pPr>
              <a:lnSpc>
                <a:spcPct val="115000"/>
              </a:lnSpc>
              <a:spcAft>
                <a:spcPts val="50"/>
              </a:spcAft>
              <a:buNone/>
            </a:pPr>
            <a:r>
              <a:rPr lang="en-US" sz="900" b="1" dirty="0">
                <a:solidFill>
                  <a:srgbClr val="000000"/>
                </a:solidFill>
                <a:latin typeface="Arial"/>
                <a:ea typeface="Arial"/>
                <a:cs typeface="Arial"/>
              </a:rPr>
              <a:t>6. Track assignment</a:t>
            </a:r>
          </a:p>
          <a:p>
            <a:pPr marL="247650" indent="-152400">
              <a:lnSpc>
                <a:spcPct val="115000"/>
              </a:lnSpc>
              <a:spcAft>
                <a:spcPts val="40"/>
              </a:spcAft>
              <a:buFont typeface="Arial" panose="020B0604020202020204" pitchFamily="34" charset="0"/>
              <a:buChar char="•"/>
            </a:pPr>
            <a:r>
              <a:rPr lang="en-US" sz="850" dirty="0">
                <a:solidFill>
                  <a:srgbClr val="000000"/>
                </a:solidFill>
                <a:latin typeface="Arial"/>
                <a:ea typeface="Arial"/>
                <a:cs typeface="Arial"/>
              </a:rPr>
              <a:t>Does the split reflect how these lanes actually behave?</a:t>
            </a:r>
          </a:p>
          <a:p>
            <a:pPr marL="247650" indent="-152400">
              <a:lnSpc>
                <a:spcPct val="115000"/>
              </a:lnSpc>
              <a:buFont typeface="Arial" panose="020B0604020202020204" pitchFamily="34" charset="0"/>
              <a:buChar char="•"/>
            </a:pPr>
            <a:r>
              <a:rPr lang="en-US" sz="850" dirty="0">
                <a:solidFill>
                  <a:srgbClr val="000000"/>
                </a:solidFill>
                <a:latin typeface="Arial"/>
                <a:ea typeface="Arial"/>
                <a:cs typeface="Arial"/>
              </a:rPr>
              <a:t>Which lanes warrant a manual override?</a:t>
            </a:r>
          </a:p>
        </p:txBody>
      </p:sp>
      <p:sp>
        <p:nvSpPr>
          <p:cNvPr id="35" name="Legend"/>
          <p:cNvSpPr txBox="1"/>
          <p:nvPr/>
        </p:nvSpPr>
        <p:spPr>
          <a:xfrm>
            <a:off x="453079" y="5745000"/>
            <a:ext cx="11282362" cy="200000"/>
          </a:xfrm>
          <a:prstGeom prst="rect">
            <a:avLst/>
          </a:prstGeom>
          <a:noFill/>
          <a:ln>
            <a:noFill/>
          </a:ln>
        </p:spPr>
        <p:txBody>
          <a:bodyPr wrap="square" anchor="t" lIns="0" tIns="0" rIns="0" bIns="0"/>
          <a:lstStyle/>
          <a:p>
            <a:pPr algn="l">
              <a:lnSpc>
                <a:spcPct val="115000"/>
              </a:lnSpc>
              <a:buNone/>
            </a:pPr>
            <a:r>
              <a:rPr lang="en-US" sz="850" b="0" i="1" dirty="0">
                <a:solidFill>
                  <a:srgbClr val="000000"/>
                </a:solidFill>
                <a:latin typeface="Arial"/>
                <a:ea typeface="Arial"/>
                <a:cs typeface="Arial"/>
              </a:rPr>
              <a:t>Blue: lane, stages, and tracks. Gray: entry and terminal reads.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SAM Methodology</a:t>
            </a:r>
            <a:r>
              <a:rPr lang="en-US" sz="1000" kern="1200" dirty="0">
                <a:solidFill>
                  <a:srgbClr val="44505C"/>
                </a:solidFill>
                <a:latin typeface="Arial"/>
                <a:ea typeface="Arial"/>
                <a:cs typeface="Arial"/>
              </a:rPr>
              <a:t> / Concentration Tracks</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SAM Methodology (2/2) | Each track is refined by a second test — direction or cadence — into a specific opening or monitor read.</a:t>
            </a:r>
          </a:p>
        </p:txBody>
      </p:sp>
      <p:cxnSp>
        <p:nvCxnSpPr>
          <p:cNvPr id="10" name="EnterForkFeed"/>
          <p:cNvCxnSpPr/>
          <p:nvPr/>
        </p:nvCxnSpPr>
        <p:spPr>
          <a:xfrm>
            <a:off x="4591760" y="1980000"/>
            <a:ext cx="0" cy="90000"/>
          </a:xfrm>
          <a:prstGeom prst="line">
            <a:avLst/>
          </a:prstGeom>
          <a:ln w="9525">
            <a:solidFill>
              <a:srgbClr val="000000"/>
            </a:solidFill>
          </a:ln>
        </p:spPr>
      </p:cxnSp>
      <p:cxnSp>
        <p:nvCxnSpPr>
          <p:cNvPr id="11" name="EnterForkRail"/>
          <p:cNvCxnSpPr/>
          <p:nvPr/>
        </p:nvCxnSpPr>
        <p:spPr>
          <a:xfrm>
            <a:off x="2263079" y="2070000"/>
            <a:ext cx="4263681" cy="0"/>
          </a:xfrm>
          <a:prstGeom prst="line">
            <a:avLst/>
          </a:prstGeom>
          <a:ln w="9525">
            <a:solidFill>
              <a:srgbClr val="000000"/>
            </a:solidFill>
          </a:ln>
        </p:spPr>
      </p:cxnSp>
      <p:cxnSp>
        <p:nvCxnSpPr>
          <p:cNvPr id="12" name="EnterForkDrop1"/>
          <p:cNvCxnSpPr/>
          <p:nvPr/>
        </p:nvCxnSpPr>
        <p:spPr>
          <a:xfrm>
            <a:off x="2263079" y="2070000"/>
            <a:ext cx="0" cy="120000"/>
          </a:xfrm>
          <a:prstGeom prst="line">
            <a:avLst/>
          </a:prstGeom>
          <a:ln w="9525">
            <a:solidFill>
              <a:srgbClr val="000000"/>
            </a:solidFill>
            <a:tailEnd type="triangle" w="med" len="med"/>
          </a:ln>
        </p:spPr>
      </p:cxnSp>
      <p:cxnSp>
        <p:nvCxnSpPr>
          <p:cNvPr id="13" name="EnterForkDrop2"/>
          <p:cNvCxnSpPr/>
          <p:nvPr/>
        </p:nvCxnSpPr>
        <p:spPr>
          <a:xfrm>
            <a:off x="6526760" y="2070000"/>
            <a:ext cx="0" cy="120000"/>
          </a:xfrm>
          <a:prstGeom prst="line">
            <a:avLst/>
          </a:prstGeom>
          <a:ln w="9525">
            <a:solidFill>
              <a:srgbClr val="000000"/>
            </a:solidFill>
            <a:tailEnd type="triangle" w="med" len="med"/>
          </a:ln>
        </p:spPr>
      </p:cxnSp>
      <p:cxnSp>
        <p:nvCxnSpPr>
          <p:cNvPr id="14" name="AHdrToTest"/>
          <p:cNvCxnSpPr/>
          <p:nvPr/>
        </p:nvCxnSpPr>
        <p:spPr>
          <a:xfrm>
            <a:off x="2263079" y="2630000"/>
            <a:ext cx="0" cy="250000"/>
          </a:xfrm>
          <a:prstGeom prst="line">
            <a:avLst/>
          </a:prstGeom>
          <a:ln w="9525">
            <a:solidFill>
              <a:srgbClr val="000000"/>
            </a:solidFill>
            <a:tailEnd type="triangle" w="med" len="med"/>
          </a:ln>
        </p:spPr>
      </p:cxnSp>
      <p:cxnSp>
        <p:nvCxnSpPr>
          <p:cNvPr id="15" name="BHdrToTest"/>
          <p:cNvCxnSpPr/>
          <p:nvPr/>
        </p:nvCxnSpPr>
        <p:spPr>
          <a:xfrm>
            <a:off x="6526760" y="2630000"/>
            <a:ext cx="0" cy="250000"/>
          </a:xfrm>
          <a:prstGeom prst="line">
            <a:avLst/>
          </a:prstGeom>
          <a:ln w="9525">
            <a:solidFill>
              <a:srgbClr val="000000"/>
            </a:solidFill>
            <a:tailEnd type="triangle" w="med" len="med"/>
          </a:ln>
        </p:spPr>
      </p:cxnSp>
      <p:cxnSp>
        <p:nvCxnSpPr>
          <p:cNvPr id="16" name="ABus"/>
          <p:cNvCxnSpPr/>
          <p:nvPr/>
        </p:nvCxnSpPr>
        <p:spPr>
          <a:xfrm>
            <a:off x="573079" y="3320000"/>
            <a:ext cx="0" cy="1650000"/>
          </a:xfrm>
          <a:prstGeom prst="line">
            <a:avLst/>
          </a:prstGeom>
          <a:ln w="9525">
            <a:solidFill>
              <a:srgbClr val="000000"/>
            </a:solidFill>
          </a:ln>
        </p:spPr>
      </p:cxnSp>
      <p:cxnSp>
        <p:nvCxnSpPr>
          <p:cNvPr id="17" name="ABusToA1"/>
          <p:cNvCxnSpPr/>
          <p:nvPr/>
        </p:nvCxnSpPr>
        <p:spPr>
          <a:xfrm>
            <a:off x="573079" y="3930000"/>
            <a:ext cx="860000" cy="0"/>
          </a:xfrm>
          <a:prstGeom prst="line">
            <a:avLst/>
          </a:prstGeom>
          <a:ln w="9525">
            <a:solidFill>
              <a:srgbClr val="000000"/>
            </a:solidFill>
            <a:tailEnd type="triangle" w="med" len="med"/>
          </a:ln>
        </p:spPr>
      </p:cxnSp>
      <p:cxnSp>
        <p:nvCxnSpPr>
          <p:cNvPr id="18" name="ABusToA2"/>
          <p:cNvCxnSpPr/>
          <p:nvPr/>
        </p:nvCxnSpPr>
        <p:spPr>
          <a:xfrm>
            <a:off x="573079" y="4970000"/>
            <a:ext cx="860000" cy="0"/>
          </a:xfrm>
          <a:prstGeom prst="line">
            <a:avLst/>
          </a:prstGeom>
          <a:ln w="9525">
            <a:solidFill>
              <a:srgbClr val="000000"/>
            </a:solidFill>
            <a:tailEnd type="triangle" w="med" len="med"/>
          </a:ln>
        </p:spPr>
      </p:cxnSp>
      <p:cxnSp>
        <p:nvCxnSpPr>
          <p:cNvPr id="19" name="BForkFeed"/>
          <p:cNvCxnSpPr/>
          <p:nvPr/>
        </p:nvCxnSpPr>
        <p:spPr>
          <a:xfrm>
            <a:off x="6526760" y="3320000"/>
            <a:ext cx="0" cy="100000"/>
          </a:xfrm>
          <a:prstGeom prst="line">
            <a:avLst/>
          </a:prstGeom>
          <a:ln w="9525">
            <a:solidFill>
              <a:srgbClr val="000000"/>
            </a:solidFill>
          </a:ln>
        </p:spPr>
      </p:cxnSp>
      <p:cxnSp>
        <p:nvCxnSpPr>
          <p:cNvPr id="20" name="BForkRail"/>
          <p:cNvCxnSpPr/>
          <p:nvPr/>
        </p:nvCxnSpPr>
        <p:spPr>
          <a:xfrm>
            <a:off x="5414919" y="3420000"/>
            <a:ext cx="2223681" cy="0"/>
          </a:xfrm>
          <a:prstGeom prst="line">
            <a:avLst/>
          </a:prstGeom>
          <a:ln w="9525">
            <a:solidFill>
              <a:srgbClr val="000000"/>
            </a:solidFill>
          </a:ln>
        </p:spPr>
      </p:cxnSp>
      <p:cxnSp>
        <p:nvCxnSpPr>
          <p:cNvPr id="21" name="BForkDrop1"/>
          <p:cNvCxnSpPr/>
          <p:nvPr/>
        </p:nvCxnSpPr>
        <p:spPr>
          <a:xfrm>
            <a:off x="5414919" y="3420000"/>
            <a:ext cx="0" cy="280000"/>
          </a:xfrm>
          <a:prstGeom prst="line">
            <a:avLst/>
          </a:prstGeom>
          <a:ln w="9525">
            <a:solidFill>
              <a:srgbClr val="000000"/>
            </a:solidFill>
            <a:tailEnd type="triangle" w="med" len="med"/>
          </a:ln>
        </p:spPr>
      </p:cxnSp>
      <p:cxnSp>
        <p:nvCxnSpPr>
          <p:cNvPr id="22" name="BForkDrop2"/>
          <p:cNvCxnSpPr/>
          <p:nvPr/>
        </p:nvCxnSpPr>
        <p:spPr>
          <a:xfrm>
            <a:off x="7638600" y="3420000"/>
            <a:ext cx="0" cy="280000"/>
          </a:xfrm>
          <a:prstGeom prst="line">
            <a:avLst/>
          </a:prstGeom>
          <a:ln w="9525">
            <a:solidFill>
              <a:srgbClr val="000000"/>
            </a:solidFill>
            <a:tailEnd type="triangle" w="med" len="med"/>
          </a:ln>
        </p:spPr>
      </p:cxnSp>
      <p:cxnSp>
        <p:nvCxnSpPr>
          <p:cNvPr id="23" name="B1Bus"/>
          <p:cNvCxnSpPr/>
          <p:nvPr/>
        </p:nvCxnSpPr>
        <p:spPr>
          <a:xfrm>
            <a:off x="4443079" y="4080000"/>
            <a:ext cx="0" cy="1140000"/>
          </a:xfrm>
          <a:prstGeom prst="line">
            <a:avLst/>
          </a:prstGeom>
          <a:ln w="9525">
            <a:solidFill>
              <a:srgbClr val="000000"/>
            </a:solidFill>
          </a:ln>
        </p:spPr>
      </p:cxnSp>
      <p:cxnSp>
        <p:nvCxnSpPr>
          <p:cNvPr id="24" name="B1BusToOut1"/>
          <p:cNvCxnSpPr/>
          <p:nvPr/>
        </p:nvCxnSpPr>
        <p:spPr>
          <a:xfrm>
            <a:off x="4443079" y="4500000"/>
            <a:ext cx="250000" cy="0"/>
          </a:xfrm>
          <a:prstGeom prst="line">
            <a:avLst/>
          </a:prstGeom>
          <a:ln w="9525">
            <a:solidFill>
              <a:srgbClr val="000000"/>
            </a:solidFill>
            <a:tailEnd type="triangle" w="med" len="med"/>
          </a:ln>
        </p:spPr>
      </p:cxnSp>
      <p:cxnSp>
        <p:nvCxnSpPr>
          <p:cNvPr id="25" name="B1BusToOut2"/>
          <p:cNvCxnSpPr/>
          <p:nvPr/>
        </p:nvCxnSpPr>
        <p:spPr>
          <a:xfrm>
            <a:off x="4443079" y="5220000"/>
            <a:ext cx="250000" cy="0"/>
          </a:xfrm>
          <a:prstGeom prst="line">
            <a:avLst/>
          </a:prstGeom>
          <a:ln w="9525">
            <a:solidFill>
              <a:srgbClr val="000000"/>
            </a:solidFill>
            <a:tailEnd type="triangle" w="med" len="med"/>
          </a:ln>
        </p:spPr>
      </p:cxnSp>
      <p:cxnSp>
        <p:nvCxnSpPr>
          <p:cNvPr id="26" name="B2Bus"/>
          <p:cNvCxnSpPr/>
          <p:nvPr/>
        </p:nvCxnSpPr>
        <p:spPr>
          <a:xfrm>
            <a:off x="6666760" y="4080000"/>
            <a:ext cx="0" cy="1140000"/>
          </a:xfrm>
          <a:prstGeom prst="line">
            <a:avLst/>
          </a:prstGeom>
          <a:ln w="9525">
            <a:solidFill>
              <a:srgbClr val="000000"/>
            </a:solidFill>
          </a:ln>
        </p:spPr>
      </p:cxnSp>
      <p:cxnSp>
        <p:nvCxnSpPr>
          <p:cNvPr id="27" name="B2BusToOut1"/>
          <p:cNvCxnSpPr/>
          <p:nvPr/>
        </p:nvCxnSpPr>
        <p:spPr>
          <a:xfrm>
            <a:off x="6666760" y="4500000"/>
            <a:ext cx="250000" cy="0"/>
          </a:xfrm>
          <a:prstGeom prst="line">
            <a:avLst/>
          </a:prstGeom>
          <a:ln w="9525">
            <a:solidFill>
              <a:srgbClr val="000000"/>
            </a:solidFill>
            <a:tailEnd type="triangle" w="med" len="med"/>
          </a:ln>
        </p:spPr>
      </p:cxnSp>
      <p:cxnSp>
        <p:nvCxnSpPr>
          <p:cNvPr id="28" name="B2BusToOut2"/>
          <p:cNvCxnSpPr/>
          <p:nvPr/>
        </p:nvCxnSpPr>
        <p:spPr>
          <a:xfrm>
            <a:off x="6666760" y="5220000"/>
            <a:ext cx="250000" cy="0"/>
          </a:xfrm>
          <a:prstGeom prst="line">
            <a:avLst/>
          </a:prstGeom>
          <a:ln w="9525">
            <a:solidFill>
              <a:srgbClr val="000000"/>
            </a:solidFill>
            <a:tailEnd type="triangle" w="med" len="med"/>
          </a:ln>
        </p:spPr>
      </p:cxnSp>
      <p:graphicFrame>
        <p:nvGraphicFramePr>
          <p:cNvPr id="29" name="FlowCap"/>
          <p:cNvGraphicFramePr>
            <a:graphicFrameLocks noGrp="1"/>
          </p:cNvGraphicFramePr>
          <p:nvPr/>
        </p:nvGraphicFramePr>
        <p:xfrm>
          <a:off x="453079" y="1240000"/>
          <a:ext cx="8277362" cy="251778"/>
        </p:xfrm>
        <a:graphic>
          <a:graphicData uri="http://schemas.openxmlformats.org/drawingml/2006/table">
            <a:tbl>
              <a:tblPr firstRow="1" firstCol="1" bandRow="0">
                <a:tableStyleId>{2D5ABB26-0587-4C30-8999-92F81FD0307C}</a:tableStyleId>
              </a:tblPr>
              <a:tblGrid>
                <a:gridCol w="8277362"/>
              </a:tblGrid>
              <a:tr h="0">
                <a:tc>
                  <a:txBody>
                    <a:bodyPr anchor="ctr"/>
                    <a:lstStyle/>
                    <a:p>
                      <a:pPr algn="l">
                        <a:lnSpc>
                          <a:spcPct val="115000"/>
                        </a:lnSpc>
                      </a:pPr>
                      <a:r>
                        <a:rPr lang="en-US" sz="1000" b="1" dirty="0">
                          <a:solidFill>
                            <a:srgbClr val="000000"/>
                          </a:solidFill>
                          <a:latin typeface="Arial"/>
                          <a:ea typeface="Arial"/>
                          <a:cs typeface="Arial"/>
                        </a:rPr>
                        <a:t>What each concentration track means</a:t>
                      </a:r>
                    </a:p>
                  </a:txBody>
                  <a:tcPr marL="45720" marR="45720" marT="45720" marB="45720" anchor="ctr">
                    <a:lnL>
                      <a:noFill/>
                    </a:lnL>
                    <a:lnR>
                      <a:noFill/>
                    </a:lnR>
                    <a:lnT>
                      <a:noFill/>
                    </a:lnT>
                    <a:lnB w="12700" cap="flat" cmpd="sng" algn="ctr">
                      <a:solidFill>
                        <a:srgbClr val="000000"/>
                      </a:solidFill>
                      <a:prstDash val="solid"/>
                    </a:lnB>
                    <a:noFill/>
                  </a:tcPr>
                </a:tc>
              </a:tr>
            </a:tbl>
          </a:graphicData>
        </a:graphic>
      </p:graphicFrame>
      <p:sp>
        <p:nvSpPr>
          <p:cNvPr id="30" name="Enter"/>
          <p:cNvSpPr txBox="1"/>
          <p:nvPr/>
        </p:nvSpPr>
        <p:spPr>
          <a:xfrm>
            <a:off x="453079" y="1580000"/>
            <a:ext cx="8277362" cy="40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Enter from the previous slide</a:t>
            </a:r>
          </a:p>
          <a:p>
            <a:pPr algn="ctr">
              <a:lnSpc>
                <a:spcPct val="115000"/>
              </a:lnSpc>
              <a:buNone/>
            </a:pPr>
            <a:r>
              <a:rPr lang="en-US" sz="850" i="1" dirty="0">
                <a:solidFill>
                  <a:srgbClr val="000000"/>
                </a:solidFill>
                <a:latin typeface="Arial"/>
                <a:ea typeface="Arial"/>
                <a:cs typeface="Arial"/>
              </a:rPr>
              <a:t>Recent top-vendor concentration set the track</a:t>
            </a:r>
          </a:p>
        </p:txBody>
      </p:sp>
      <p:sp>
        <p:nvSpPr>
          <p:cNvPr id="31" name="TrackAHdr"/>
          <p:cNvSpPr txBox="1"/>
          <p:nvPr/>
        </p:nvSpPr>
        <p:spPr>
          <a:xfrm>
            <a:off x="453079" y="2190000"/>
            <a:ext cx="3620000" cy="440000"/>
          </a:xfrm>
          <a:prstGeom prst="rect">
            <a:avLst/>
          </a:prstGeom>
          <a:solidFill>
            <a:srgbClr val="B6C8D8"/>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Track A: concentrated, incumbent-heavy</a:t>
            </a:r>
          </a:p>
          <a:p>
            <a:pPr algn="ctr">
              <a:lnSpc>
                <a:spcPct val="115000"/>
              </a:lnSpc>
              <a:buNone/>
            </a:pPr>
            <a:r>
              <a:rPr lang="en-US" sz="850" i="1" dirty="0">
                <a:solidFill>
                  <a:srgbClr val="000000"/>
                </a:solidFill>
                <a:latin typeface="Arial"/>
                <a:ea typeface="Arial"/>
                <a:cs typeface="Arial"/>
              </a:rPr>
              <a:t>High recent top-vendor share</a:t>
            </a:r>
          </a:p>
        </p:txBody>
      </p:sp>
      <p:sp>
        <p:nvSpPr>
          <p:cNvPr id="32" name="ATest"/>
          <p:cNvSpPr txBox="1"/>
          <p:nvPr/>
        </p:nvSpPr>
        <p:spPr>
          <a:xfrm>
            <a:off x="453079" y="2880000"/>
            <a:ext cx="3620000" cy="44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Test historical direction</a:t>
            </a:r>
          </a:p>
          <a:p>
            <a:pPr algn="ctr">
              <a:lnSpc>
                <a:spcPct val="115000"/>
              </a:lnSpc>
              <a:buNone/>
            </a:pPr>
            <a:r>
              <a:rPr lang="en-US" sz="850" i="1" dirty="0">
                <a:solidFill>
                  <a:srgbClr val="000000"/>
                </a:solidFill>
                <a:latin typeface="Arial"/>
                <a:ea typeface="Arial"/>
                <a:cs typeface="Arial"/>
              </a:rPr>
              <a:t>Maintained, or weakening?</a:t>
            </a:r>
          </a:p>
        </p:txBody>
      </p:sp>
      <p:sp>
        <p:nvSpPr>
          <p:cNvPr id="33" name="A1Entrenched"/>
          <p:cNvSpPr txBox="1"/>
          <p:nvPr/>
        </p:nvSpPr>
        <p:spPr>
          <a:xfrm>
            <a:off x="1433079" y="3480000"/>
            <a:ext cx="2640000" cy="90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A1. Entrenched incumbent</a:t>
            </a:r>
          </a:p>
          <a:p>
            <a:pPr algn="ctr">
              <a:lnSpc>
                <a:spcPct val="115000"/>
              </a:lnSpc>
              <a:spcAft>
                <a:spcPts val="40"/>
              </a:spcAft>
              <a:buNone/>
            </a:pPr>
            <a:r>
              <a:rPr lang="en-US" sz="850" i="1" dirty="0">
                <a:solidFill>
                  <a:srgbClr val="000000"/>
                </a:solidFill>
                <a:latin typeface="Arial"/>
                <a:ea typeface="Arial"/>
                <a:cs typeface="Arial"/>
              </a:rPr>
              <a:t>Same supplier dominant; no credible second source</a:t>
            </a:r>
          </a:p>
          <a:p>
            <a:pPr algn="ctr">
              <a:lnSpc>
                <a:spcPct val="115000"/>
              </a:lnSpc>
              <a:buNone/>
            </a:pPr>
            <a:r>
              <a:rPr lang="en-US" sz="850" i="1" dirty="0">
                <a:solidFill>
                  <a:srgbClr val="000000"/>
                </a:solidFill>
                <a:latin typeface="Arial"/>
                <a:ea typeface="Arial"/>
                <a:cs typeface="Arial"/>
              </a:rPr>
              <a:t>Harder displacement; useful for targeting, not proof the door is open</a:t>
            </a:r>
          </a:p>
        </p:txBody>
      </p:sp>
      <p:sp>
        <p:nvSpPr>
          <p:cNvPr id="34" name="A2Diversifying"/>
          <p:cNvSpPr txBox="1"/>
          <p:nvPr/>
        </p:nvSpPr>
        <p:spPr>
          <a:xfrm>
            <a:off x="1433079" y="4460000"/>
            <a:ext cx="2640000" cy="102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A2. Concentrated but diversifying</a:t>
            </a:r>
          </a:p>
          <a:p>
            <a:pPr algn="ctr">
              <a:lnSpc>
                <a:spcPct val="115000"/>
              </a:lnSpc>
              <a:spcAft>
                <a:spcPts val="40"/>
              </a:spcAft>
              <a:buNone/>
            </a:pPr>
            <a:r>
              <a:rPr lang="en-US" sz="850" i="1" dirty="0">
                <a:solidFill>
                  <a:srgbClr val="000000"/>
                </a:solidFill>
                <a:latin typeface="Arial"/>
                <a:ea typeface="Arial"/>
                <a:cs typeface="Arial"/>
              </a:rPr>
              <a:t>Share declining; prior single → recent multi, incumbent active</a:t>
            </a:r>
          </a:p>
          <a:p>
            <a:pPr algn="ctr">
              <a:lnSpc>
                <a:spcPct val="115000"/>
              </a:lnSpc>
              <a:buNone/>
            </a:pPr>
            <a:r>
              <a:rPr lang="en-US" sz="850" i="1" dirty="0">
                <a:solidFill>
                  <a:srgbClr val="000000"/>
                </a:solidFill>
                <a:latin typeface="Arial"/>
                <a:ea typeface="Arial"/>
                <a:cs typeface="Arial"/>
              </a:rPr>
              <a:t>Better than pure dominance: supplier-base movement already visible</a:t>
            </a:r>
          </a:p>
        </p:txBody>
      </p:sp>
      <p:sp>
        <p:nvSpPr>
          <p:cNvPr id="35" name="TrackBHdr"/>
          <p:cNvSpPr txBox="1"/>
          <p:nvPr/>
        </p:nvSpPr>
        <p:spPr>
          <a:xfrm>
            <a:off x="4323079" y="2190000"/>
            <a:ext cx="4407362" cy="440000"/>
          </a:xfrm>
          <a:prstGeom prst="rect">
            <a:avLst/>
          </a:prstGeom>
          <a:solidFill>
            <a:srgbClr val="B6C8D8"/>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Track B: diverse, multi-source</a:t>
            </a:r>
          </a:p>
          <a:p>
            <a:pPr algn="ctr">
              <a:lnSpc>
                <a:spcPct val="115000"/>
              </a:lnSpc>
              <a:buNone/>
            </a:pPr>
            <a:r>
              <a:rPr lang="en-US" sz="850" i="1" dirty="0">
                <a:solidFill>
                  <a:srgbClr val="000000"/>
                </a:solidFill>
                <a:latin typeface="Arial"/>
                <a:ea typeface="Arial"/>
                <a:cs typeface="Arial"/>
              </a:rPr>
              <a:t>Lower top-vendor share; enough active vendors</a:t>
            </a:r>
          </a:p>
        </p:txBody>
      </p:sp>
      <p:sp>
        <p:nvSpPr>
          <p:cNvPr id="36" name="BTest"/>
          <p:cNvSpPr txBox="1"/>
          <p:nvPr/>
        </p:nvSpPr>
        <p:spPr>
          <a:xfrm>
            <a:off x="4323079" y="2880000"/>
            <a:ext cx="4407362" cy="44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Test subaward cadence</a:t>
            </a:r>
          </a:p>
          <a:p>
            <a:pPr algn="ctr">
              <a:lnSpc>
                <a:spcPct val="115000"/>
              </a:lnSpc>
              <a:buNone/>
            </a:pPr>
            <a:r>
              <a:rPr lang="en-US" sz="850" i="1" dirty="0">
                <a:solidFill>
                  <a:srgbClr val="000000"/>
                </a:solidFill>
                <a:latin typeface="Arial"/>
                <a:ea typeface="Arial"/>
                <a:cs typeface="Arial"/>
              </a:rPr>
              <a:t>Periodic, or continuous?</a:t>
            </a:r>
          </a:p>
        </p:txBody>
      </p:sp>
      <p:sp>
        <p:nvSpPr>
          <p:cNvPr id="37" name="B1Hdr"/>
          <p:cNvSpPr txBox="1"/>
          <p:nvPr/>
        </p:nvSpPr>
        <p:spPr>
          <a:xfrm>
            <a:off x="4323079" y="3700000"/>
            <a:ext cx="2183681" cy="38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B1. Discrete waves</a:t>
            </a:r>
          </a:p>
          <a:p>
            <a:pPr algn="ctr">
              <a:lnSpc>
                <a:spcPct val="115000"/>
              </a:lnSpc>
              <a:buNone/>
            </a:pPr>
            <a:r>
              <a:rPr lang="en-US" sz="850" i="1" dirty="0">
                <a:solidFill>
                  <a:srgbClr val="000000"/>
                </a:solidFill>
                <a:latin typeface="Arial"/>
                <a:ea typeface="Arial"/>
                <a:cs typeface="Arial"/>
              </a:rPr>
              <a:t>Forecast window from quiet gaps</a:t>
            </a:r>
          </a:p>
        </p:txBody>
      </p:sp>
      <p:sp>
        <p:nvSpPr>
          <p:cNvPr id="38" name="B2Hdr"/>
          <p:cNvSpPr txBox="1"/>
          <p:nvPr/>
        </p:nvSpPr>
        <p:spPr>
          <a:xfrm>
            <a:off x="6546760" y="3700000"/>
            <a:ext cx="2183681" cy="380000"/>
          </a:xfrm>
          <a:prstGeom prst="rect">
            <a:avLst/>
          </a:prstGeom>
          <a:solidFill>
            <a:srgbClr val="E2E9EF"/>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B2. Continuous stream</a:t>
            </a:r>
          </a:p>
          <a:p>
            <a:pPr algn="ctr">
              <a:lnSpc>
                <a:spcPct val="115000"/>
              </a:lnSpc>
              <a:buNone/>
            </a:pPr>
            <a:r>
              <a:rPr lang="en-US" sz="850" i="1" dirty="0">
                <a:solidFill>
                  <a:srgbClr val="000000"/>
                </a:solidFill>
                <a:latin typeface="Arial"/>
                <a:ea typeface="Arial"/>
                <a:cs typeface="Arial"/>
              </a:rPr>
              <a:t>Activity over a forecast date</a:t>
            </a:r>
          </a:p>
        </p:txBody>
      </p:sp>
      <p:sp>
        <p:nvSpPr>
          <p:cNvPr id="39" name="PeriodicOpening"/>
          <p:cNvSpPr txBox="1"/>
          <p:nvPr/>
        </p:nvSpPr>
        <p:spPr>
          <a:xfrm>
            <a:off x="4693079" y="4180000"/>
            <a:ext cx="1813681" cy="64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Periodic Sourcing Opening</a:t>
            </a:r>
          </a:p>
          <a:p>
            <a:pPr algn="ctr">
              <a:lnSpc>
                <a:spcPct val="115000"/>
              </a:lnSpc>
              <a:buNone/>
            </a:pPr>
            <a:r>
              <a:rPr lang="en-US" sz="850" i="1" dirty="0">
                <a:solidFill>
                  <a:srgbClr val="000000"/>
                </a:solidFill>
                <a:latin typeface="Arial"/>
                <a:ea typeface="Arial"/>
                <a:cs typeface="Arial"/>
              </a:rPr>
              <a:t>Window overlaps the horizon</a:t>
            </a:r>
          </a:p>
        </p:txBody>
      </p:sp>
      <p:sp>
        <p:nvSpPr>
          <p:cNvPr id="40" name="MonitorPeriodic"/>
          <p:cNvSpPr txBox="1"/>
          <p:nvPr/>
        </p:nvSpPr>
        <p:spPr>
          <a:xfrm>
            <a:off x="4693079" y="4900000"/>
            <a:ext cx="1813681" cy="64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Monitor future periodic</a:t>
            </a:r>
          </a:p>
          <a:p>
            <a:pPr algn="ctr">
              <a:lnSpc>
                <a:spcPct val="115000"/>
              </a:lnSpc>
              <a:buNone/>
            </a:pPr>
            <a:r>
              <a:rPr lang="en-US" sz="850" i="1" dirty="0">
                <a:solidFill>
                  <a:srgbClr val="000000"/>
                </a:solidFill>
                <a:latin typeface="Arial"/>
                <a:ea typeface="Arial"/>
                <a:cs typeface="Arial"/>
              </a:rPr>
              <a:t>Good lane, not timed yet</a:t>
            </a:r>
          </a:p>
        </p:txBody>
      </p:sp>
      <p:sp>
        <p:nvSpPr>
          <p:cNvPr id="41" name="ContinuousOpening"/>
          <p:cNvSpPr txBox="1"/>
          <p:nvPr/>
        </p:nvSpPr>
        <p:spPr>
          <a:xfrm>
            <a:off x="6916760" y="4180000"/>
            <a:ext cx="1813681" cy="64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Active Continuous Opening</a:t>
            </a:r>
          </a:p>
          <a:p>
            <a:pPr algn="ctr">
              <a:lnSpc>
                <a:spcPct val="115000"/>
              </a:lnSpc>
              <a:buNone/>
            </a:pPr>
            <a:r>
              <a:rPr lang="en-US" sz="850" i="1" dirty="0">
                <a:solidFill>
                  <a:srgbClr val="000000"/>
                </a:solidFill>
                <a:latin typeface="Arial"/>
                <a:ea typeface="Arial"/>
                <a:cs typeface="Arial"/>
              </a:rPr>
              <a:t>Ongoing access, not scheduled</a:t>
            </a:r>
          </a:p>
        </p:txBody>
      </p:sp>
      <p:sp>
        <p:nvSpPr>
          <p:cNvPr id="42" name="DiagnosticMonitor"/>
          <p:cNvSpPr txBox="1"/>
          <p:nvPr/>
        </p:nvSpPr>
        <p:spPr>
          <a:xfrm>
            <a:off x="6916760" y="4900000"/>
            <a:ext cx="1813681" cy="640000"/>
          </a:xfrm>
          <a:prstGeom prst="rect">
            <a:avLst/>
          </a:prstGeom>
          <a:solidFill>
            <a:srgbClr val="D9D9D9"/>
          </a:solidFill>
          <a:ln w="12700">
            <a:solidFill>
              <a:srgbClr val="000000"/>
            </a:solidFill>
          </a:ln>
        </p:spPr>
        <p:txBody>
          <a:bodyPr wrap="square" anchor="ctr" lIns="68580" tIns="36000" rIns="68580" bIns="36000"/>
          <a:lstStyle/>
          <a:p>
            <a:pPr algn="ctr">
              <a:lnSpc>
                <a:spcPct val="115000"/>
              </a:lnSpc>
              <a:spcAft>
                <a:spcPts val="60"/>
              </a:spcAft>
              <a:buNone/>
            </a:pPr>
            <a:r>
              <a:rPr lang="en-US" sz="900" b="1" dirty="0">
                <a:solidFill>
                  <a:srgbClr val="000000"/>
                </a:solidFill>
                <a:latin typeface="Arial"/>
                <a:ea typeface="Arial"/>
                <a:cs typeface="Arial"/>
              </a:rPr>
              <a:t>Diagnostic monitor</a:t>
            </a:r>
          </a:p>
          <a:p>
            <a:pPr algn="ctr">
              <a:lnSpc>
                <a:spcPct val="115000"/>
              </a:lnSpc>
              <a:buNone/>
            </a:pPr>
            <a:r>
              <a:rPr lang="en-US" sz="850" i="1" dirty="0">
                <a:solidFill>
                  <a:srgbClr val="000000"/>
                </a:solidFill>
                <a:latin typeface="Arial"/>
                <a:ea typeface="Arial"/>
                <a:cs typeface="Arial"/>
              </a:rPr>
              <a:t>Pattern exists, opening weak</a:t>
            </a:r>
          </a:p>
        </p:txBody>
      </p:sp>
      <p:sp>
        <p:nvSpPr>
          <p:cNvPr id="43" name="AChipMaintained"/>
          <p:cNvSpPr txBox="1"/>
          <p:nvPr/>
        </p:nvSpPr>
        <p:spPr>
          <a:xfrm>
            <a:off x="603079" y="3698000"/>
            <a:ext cx="800000" cy="188000"/>
          </a:xfrm>
          <a:prstGeom prst="rect">
            <a:avLst/>
          </a:prstGeom>
          <a:solidFill>
            <a:srgbClr val="FFFFFF"/>
          </a:solidFill>
          <a:ln>
            <a:noFill/>
          </a:ln>
        </p:spPr>
        <p:txBody>
          <a:bodyPr wrap="square" anchor="ctr" lIns="45720" tIns="9144" rIns="45720" bIns="9144"/>
          <a:lstStyle/>
          <a:p>
            <a:pPr algn="ctr">
              <a:lnSpc>
                <a:spcPct val="115000"/>
              </a:lnSpc>
              <a:buNone/>
            </a:pPr>
            <a:r>
              <a:rPr lang="en-US" sz="850" i="1" dirty="0">
                <a:solidFill>
                  <a:srgbClr val="000000"/>
                </a:solidFill>
                <a:latin typeface="Arial"/>
                <a:ea typeface="Arial"/>
                <a:cs typeface="Arial"/>
              </a:rPr>
              <a:t>Maintained</a:t>
            </a:r>
          </a:p>
        </p:txBody>
      </p:sp>
      <p:sp>
        <p:nvSpPr>
          <p:cNvPr id="44" name="AChipWeakening"/>
          <p:cNvSpPr txBox="1"/>
          <p:nvPr/>
        </p:nvSpPr>
        <p:spPr>
          <a:xfrm>
            <a:off x="603079" y="4738000"/>
            <a:ext cx="800000" cy="188000"/>
          </a:xfrm>
          <a:prstGeom prst="rect">
            <a:avLst/>
          </a:prstGeom>
          <a:solidFill>
            <a:srgbClr val="FFFFFF"/>
          </a:solidFill>
          <a:ln>
            <a:noFill/>
          </a:ln>
        </p:spPr>
        <p:txBody>
          <a:bodyPr wrap="square" anchor="ctr" lIns="45720" tIns="9144" rIns="45720" bIns="9144"/>
          <a:lstStyle/>
          <a:p>
            <a:pPr algn="ctr">
              <a:lnSpc>
                <a:spcPct val="115000"/>
              </a:lnSpc>
              <a:buNone/>
            </a:pPr>
            <a:r>
              <a:rPr lang="en-US" sz="850" i="1" dirty="0">
                <a:solidFill>
                  <a:srgbClr val="000000"/>
                </a:solidFill>
                <a:latin typeface="Arial"/>
                <a:ea typeface="Arial"/>
                <a:cs typeface="Arial"/>
              </a:rPr>
              <a:t>Weakening</a:t>
            </a:r>
          </a:p>
        </p:txBody>
      </p:sp>
      <p:sp>
        <p:nvSpPr>
          <p:cNvPr id="45" name="BChipPeriodic"/>
          <p:cNvSpPr txBox="1"/>
          <p:nvPr/>
        </p:nvSpPr>
        <p:spPr>
          <a:xfrm>
            <a:off x="5101919" y="3466000"/>
            <a:ext cx="626000" cy="188000"/>
          </a:xfrm>
          <a:prstGeom prst="rect">
            <a:avLst/>
          </a:prstGeom>
          <a:solidFill>
            <a:srgbClr val="FFFFFF"/>
          </a:solidFill>
          <a:ln>
            <a:noFill/>
          </a:ln>
        </p:spPr>
        <p:txBody>
          <a:bodyPr wrap="square" anchor="ctr" lIns="45720" tIns="9144" rIns="45720" bIns="9144"/>
          <a:lstStyle/>
          <a:p>
            <a:pPr algn="ctr">
              <a:lnSpc>
                <a:spcPct val="115000"/>
              </a:lnSpc>
              <a:buNone/>
            </a:pPr>
            <a:r>
              <a:rPr lang="en-US" sz="850" i="1" dirty="0">
                <a:solidFill>
                  <a:srgbClr val="000000"/>
                </a:solidFill>
                <a:latin typeface="Arial"/>
                <a:ea typeface="Arial"/>
                <a:cs typeface="Arial"/>
              </a:rPr>
              <a:t>Periodic</a:t>
            </a:r>
          </a:p>
        </p:txBody>
      </p:sp>
      <p:sp>
        <p:nvSpPr>
          <p:cNvPr id="46" name="BChipContinuous"/>
          <p:cNvSpPr txBox="1"/>
          <p:nvPr/>
        </p:nvSpPr>
        <p:spPr>
          <a:xfrm>
            <a:off x="7263600" y="3466000"/>
            <a:ext cx="750000" cy="188000"/>
          </a:xfrm>
          <a:prstGeom prst="rect">
            <a:avLst/>
          </a:prstGeom>
          <a:solidFill>
            <a:srgbClr val="FFFFFF"/>
          </a:solidFill>
          <a:ln>
            <a:noFill/>
          </a:ln>
        </p:spPr>
        <p:txBody>
          <a:bodyPr wrap="square" anchor="ctr" lIns="45720" tIns="9144" rIns="45720" bIns="9144"/>
          <a:lstStyle/>
          <a:p>
            <a:pPr algn="ctr">
              <a:lnSpc>
                <a:spcPct val="115000"/>
              </a:lnSpc>
              <a:buNone/>
            </a:pPr>
            <a:r>
              <a:rPr lang="en-US" sz="850" i="1" dirty="0">
                <a:solidFill>
                  <a:srgbClr val="000000"/>
                </a:solidFill>
                <a:latin typeface="Arial"/>
                <a:ea typeface="Arial"/>
                <a:cs typeface="Arial"/>
              </a:rPr>
              <a:t>Continuous</a:t>
            </a:r>
          </a:p>
        </p:txBody>
      </p:sp>
      <p:cxnSp>
        <p:nvCxnSpPr>
          <p:cNvPr id="47" name="PaneDivider"/>
          <p:cNvCxnSpPr/>
          <p:nvPr/>
        </p:nvCxnSpPr>
        <p:spPr>
          <a:xfrm>
            <a:off x="8830441" y="1531778"/>
            <a:ext cx="0" cy="4298222"/>
          </a:xfrm>
          <a:prstGeom prst="line">
            <a:avLst/>
          </a:prstGeom>
          <a:ln w="6350">
            <a:solidFill>
              <a:srgbClr val="646464"/>
            </a:solidFill>
          </a:ln>
        </p:spPr>
      </p:cxnSp>
      <p:graphicFrame>
        <p:nvGraphicFramePr>
          <p:cNvPr id="48" name="SMERailTitle"/>
          <p:cNvGraphicFramePr>
            <a:graphicFrameLocks noGrp="1"/>
          </p:cNvGraphicFramePr>
          <p:nvPr/>
        </p:nvGraphicFramePr>
        <p:xfrm>
          <a:off x="8930441" y="1240000"/>
          <a:ext cx="2805000" cy="251778"/>
        </p:xfrm>
        <a:graphic>
          <a:graphicData uri="http://schemas.openxmlformats.org/drawingml/2006/table">
            <a:tbl>
              <a:tblPr firstRow="1" firstCol="1" bandRow="0">
                <a:tableStyleId>{2D5ABB26-0587-4C30-8999-92F81FD0307C}</a:tableStyleId>
              </a:tblPr>
              <a:tblGrid>
                <a:gridCol w="2805000"/>
              </a:tblGrid>
              <a:tr h="0">
                <a:tc>
                  <a:txBody>
                    <a:bodyPr anchor="ctr"/>
                    <a:lstStyle/>
                    <a:p>
                      <a:pPr algn="l">
                        <a:lnSpc>
                          <a:spcPct val="115000"/>
                        </a:lnSpc>
                      </a:pPr>
                      <a:r>
                        <a:rPr lang="en-US" sz="1000" b="1" dirty="0">
                          <a:solidFill>
                            <a:srgbClr val="000000"/>
                          </a:solidFill>
                          <a:latin typeface="Arial"/>
                          <a:ea typeface="Arial"/>
                          <a:cs typeface="Arial"/>
                        </a:rPr>
                        <a:t>To discuss:</a:t>
                      </a:r>
                    </a:p>
                  </a:txBody>
                  <a:tcPr marL="45720" marR="45720" marT="45720" marB="45720" anchor="ctr">
                    <a:lnL>
                      <a:noFill/>
                    </a:lnL>
                    <a:lnR>
                      <a:noFill/>
                    </a:lnR>
                    <a:lnT>
                      <a:noFill/>
                    </a:lnT>
                    <a:lnB w="12700" cap="flat" cmpd="sng" algn="ctr">
                      <a:solidFill>
                        <a:srgbClr val="000000"/>
                      </a:solidFill>
                      <a:prstDash val="solid"/>
                    </a:lnB>
                    <a:noFill/>
                  </a:tcPr>
                </a:tc>
              </a:tr>
            </a:tbl>
          </a:graphicData>
        </a:graphic>
      </p:graphicFrame>
      <p:sp>
        <p:nvSpPr>
          <p:cNvPr id="49" name="SMERail"/>
          <p:cNvSpPr txBox="1"/>
          <p:nvPr/>
        </p:nvSpPr>
        <p:spPr>
          <a:xfrm>
            <a:off x="8930441" y="1561778"/>
            <a:ext cx="2805000" cy="4308222"/>
          </a:xfrm>
          <a:prstGeom prst="rect">
            <a:avLst/>
          </a:prstGeom>
          <a:noFill/>
          <a:ln>
            <a:noFill/>
          </a:ln>
        </p:spPr>
        <p:txBody>
          <a:bodyPr wrap="square" anchor="t" lIns="100000" tIns="60000" rIns="70000" bIns="40000"/>
          <a:lstStyle/>
          <a:p>
            <a:pPr>
              <a:lnSpc>
                <a:spcPct val="115000"/>
              </a:lnSpc>
              <a:spcAft>
                <a:spcPts val="50"/>
              </a:spcAft>
              <a:buNone/>
            </a:pPr>
            <a:r>
              <a:rPr lang="en-US" sz="900" b="1" dirty="0">
                <a:solidFill>
                  <a:srgbClr val="000000"/>
                </a:solidFill>
                <a:latin typeface="Arial"/>
                <a:ea typeface="Arial"/>
                <a:cs typeface="Arial"/>
              </a:rPr>
              <a:t>1. Overall reasonableness</a:t>
            </a:r>
          </a:p>
          <a:p>
            <a:pPr marL="247650" indent="-152400">
              <a:lnSpc>
                <a:spcPct val="115000"/>
              </a:lnSpc>
              <a:spcAft>
                <a:spcPts val="40"/>
              </a:spcAft>
              <a:buFont typeface="Arial" panose="020B0604020202020204" pitchFamily="34" charset="0"/>
              <a:buChar char="•"/>
            </a:pPr>
            <a:r>
              <a:rPr lang="en-US" sz="850" dirty="0">
                <a:solidFill>
                  <a:srgbClr val="000000"/>
                </a:solidFill>
                <a:latin typeface="Arial"/>
                <a:ea typeface="Arial"/>
                <a:cs typeface="Arial"/>
              </a:rPr>
              <a:t>Does concentration-first feel like the right organizing logic?</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Is this the best way to frame the opportunity?</a:t>
            </a:r>
          </a:p>
          <a:p>
            <a:pPr>
              <a:lnSpc>
                <a:spcPct val="115000"/>
              </a:lnSpc>
              <a:spcAft>
                <a:spcPts val="50"/>
              </a:spcAft>
              <a:buNone/>
            </a:pPr>
            <a:r>
              <a:rPr lang="en-US" sz="900" b="1" dirty="0">
                <a:solidFill>
                  <a:srgbClr val="000000"/>
                </a:solidFill>
                <a:latin typeface="Arial"/>
                <a:ea typeface="Arial"/>
                <a:cs typeface="Arial"/>
              </a:rPr>
              <a:t>2. Concentrated track</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Does high reported share mean lock-up, or normal specialization?</a:t>
            </a:r>
          </a:p>
          <a:p>
            <a:pPr>
              <a:lnSpc>
                <a:spcPct val="115000"/>
              </a:lnSpc>
              <a:spcAft>
                <a:spcPts val="50"/>
              </a:spcAft>
              <a:buNone/>
            </a:pPr>
            <a:r>
              <a:rPr lang="en-US" sz="900" b="1" dirty="0">
                <a:solidFill>
                  <a:srgbClr val="000000"/>
                </a:solidFill>
                <a:latin typeface="Arial"/>
                <a:ea typeface="Arial"/>
                <a:cs typeface="Arial"/>
              </a:rPr>
              <a:t>3. Maintained dominance</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A real opening, or just an incumbent map? What moves it to pursue?</a:t>
            </a:r>
          </a:p>
          <a:p>
            <a:pPr>
              <a:lnSpc>
                <a:spcPct val="115000"/>
              </a:lnSpc>
              <a:spcAft>
                <a:spcPts val="50"/>
              </a:spcAft>
              <a:buNone/>
            </a:pPr>
            <a:r>
              <a:rPr lang="en-US" sz="900" b="1" dirty="0">
                <a:solidFill>
                  <a:srgbClr val="000000"/>
                </a:solidFill>
                <a:latin typeface="Arial"/>
                <a:ea typeface="Arial"/>
                <a:cs typeface="Arial"/>
              </a:rPr>
              <a:t>4. Weakening dominance</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Declining share: buyer diversification, or program phase and mix?</a:t>
            </a:r>
          </a:p>
          <a:p>
            <a:pPr>
              <a:lnSpc>
                <a:spcPct val="115000"/>
              </a:lnSpc>
              <a:spcAft>
                <a:spcPts val="50"/>
              </a:spcAft>
              <a:buNone/>
            </a:pPr>
            <a:r>
              <a:rPr lang="en-US" sz="900" b="1" dirty="0">
                <a:solidFill>
                  <a:srgbClr val="000000"/>
                </a:solidFill>
                <a:latin typeface="Arial"/>
                <a:ea typeface="Arial"/>
                <a:cs typeface="Arial"/>
              </a:rPr>
              <a:t>5. Diversification proof</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A true split, or a rename or FSRS artifact? Does incumbent-active prove it?</a:t>
            </a:r>
          </a:p>
          <a:p>
            <a:pPr>
              <a:lnSpc>
                <a:spcPct val="115000"/>
              </a:lnSpc>
              <a:spcAft>
                <a:spcPts val="50"/>
              </a:spcAft>
              <a:buNone/>
            </a:pPr>
            <a:r>
              <a:rPr lang="en-US" sz="900" b="1" dirty="0">
                <a:solidFill>
                  <a:srgbClr val="000000"/>
                </a:solidFill>
                <a:latin typeface="Arial"/>
                <a:ea typeface="Arial"/>
                <a:cs typeface="Arial"/>
              </a:rPr>
              <a:t>6. Diverse track</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Substitutable competition, or work split by component or yard?</a:t>
            </a:r>
          </a:p>
          <a:p>
            <a:pPr>
              <a:lnSpc>
                <a:spcPct val="115000"/>
              </a:lnSpc>
              <a:spcAft>
                <a:spcPts val="50"/>
              </a:spcAft>
              <a:buNone/>
            </a:pPr>
            <a:r>
              <a:rPr lang="en-US" sz="900" b="1" dirty="0">
                <a:solidFill>
                  <a:srgbClr val="000000"/>
                </a:solidFill>
                <a:latin typeface="Arial"/>
                <a:ea typeface="Arial"/>
                <a:cs typeface="Arial"/>
              </a:rPr>
              <a:t>7. Periodic cadence</a:t>
            </a:r>
          </a:p>
          <a:p>
            <a:pPr marL="247650" indent="-152400">
              <a:lnSpc>
                <a:spcPct val="115000"/>
              </a:lnSpc>
              <a:spcAft>
                <a:spcPts val="130"/>
              </a:spcAft>
              <a:buFont typeface="Arial" panose="020B0604020202020204" pitchFamily="34" charset="0"/>
              <a:buChar char="•"/>
            </a:pPr>
            <a:r>
              <a:rPr lang="en-US" sz="850" dirty="0">
                <a:solidFill>
                  <a:srgbClr val="000000"/>
                </a:solidFill>
                <a:latin typeface="Arial"/>
                <a:ea typeface="Arial"/>
                <a:cs typeface="Arial"/>
              </a:rPr>
              <a:t>Real sourcing waves, and is the forecast window useful for planning?</a:t>
            </a:r>
          </a:p>
          <a:p>
            <a:pPr>
              <a:lnSpc>
                <a:spcPct val="115000"/>
              </a:lnSpc>
              <a:spcAft>
                <a:spcPts val="50"/>
              </a:spcAft>
              <a:buNone/>
            </a:pPr>
            <a:r>
              <a:rPr lang="en-US" sz="900" b="1" dirty="0">
                <a:solidFill>
                  <a:srgbClr val="000000"/>
                </a:solidFill>
                <a:latin typeface="Arial"/>
                <a:ea typeface="Arial"/>
                <a:cs typeface="Arial"/>
              </a:rPr>
              <a:t>8. Continuous sourcing</a:t>
            </a:r>
          </a:p>
          <a:p>
            <a:pPr marL="247650" indent="-152400">
              <a:lnSpc>
                <a:spcPct val="115000"/>
              </a:lnSpc>
              <a:buFont typeface="Arial" panose="020B0604020202020204" pitchFamily="34" charset="0"/>
              <a:buChar char="•"/>
            </a:pPr>
            <a:r>
              <a:rPr lang="en-US" sz="850" dirty="0">
                <a:solidFill>
                  <a:srgbClr val="000000"/>
                </a:solidFill>
                <a:latin typeface="Arial"/>
                <a:ea typeface="Arial"/>
                <a:cs typeface="Arial"/>
              </a:rPr>
              <a:t>Always-on lanes easier to enter, or harder with embedded incumbents?</a:t>
            </a:r>
          </a:p>
        </p:txBody>
      </p:sp>
      <p:sp>
        <p:nvSpPr>
          <p:cNvPr id="50" name="Legend"/>
          <p:cNvSpPr txBox="1"/>
          <p:nvPr/>
        </p:nvSpPr>
        <p:spPr>
          <a:xfrm>
            <a:off x="453079" y="5745000"/>
            <a:ext cx="11282362" cy="200000"/>
          </a:xfrm>
          <a:prstGeom prst="rect">
            <a:avLst/>
          </a:prstGeom>
          <a:noFill/>
          <a:ln>
            <a:noFill/>
          </a:ln>
        </p:spPr>
        <p:txBody>
          <a:bodyPr wrap="square" anchor="t" lIns="0" tIns="0" rIns="0" bIns="0"/>
          <a:lstStyle/>
          <a:p>
            <a:pPr algn="l">
              <a:lnSpc>
                <a:spcPct val="115000"/>
              </a:lnSpc>
              <a:buNone/>
            </a:pPr>
            <a:r>
              <a:rPr lang="en-US" sz="850" b="0" i="1" dirty="0">
                <a:solidFill>
                  <a:srgbClr val="000000"/>
                </a:solidFill>
                <a:latin typeface="Arial"/>
                <a:ea typeface="Arial"/>
                <a:cs typeface="Arial"/>
              </a:rPr>
              <a:t>Blue: lane, stages, and tracks. Gray: entry and terminal reads.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SAM Methodology</a:t>
            </a:r>
            <a:r>
              <a:rPr lang="en-US" sz="1000" kern="1200" dirty="0">
                <a:solidFill>
                  <a:srgbClr val="44505C"/>
                </a:solidFill>
                <a:latin typeface="Arial"/>
                <a:ea typeface="Arial"/>
                <a:cs typeface="Arial"/>
              </a:rPr>
              <a:t> / Outsourcing Ceiling</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Outsourcing Ceiling | Discussion questions test whether the ceiling logic reflects shipbuilding reality.</a:t>
            </a:r>
          </a:p>
        </p:txBody>
      </p:sp>
      <p:graphicFrame>
        <p:nvGraphicFramePr>
          <p:cNvPr id="10" name="sam_methodology_outsourcing_ceiling_questions"/>
          <p:cNvGraphicFramePr>
            <a:graphicFrameLocks noGrp="1"/>
          </p:cNvGraphicFramePr>
          <p:nvPr/>
        </p:nvGraphicFramePr>
        <p:xfrm>
          <a:off x="453079" y="1822480"/>
          <a:ext cx="11282362" cy="3596640"/>
        </p:xfrm>
        <a:graphic>
          <a:graphicData uri="http://schemas.openxmlformats.org/drawingml/2006/table">
            <a:tbl>
              <a:tblPr firstRow="1" firstCol="1" bandRow="0">
                <a:tableStyleId>{2D5ABB26-0587-4C30-8999-92F81FD0307C}</a:tableStyleId>
              </a:tblPr>
              <a:tblGrid>
                <a:gridCol w="2080000"/>
                <a:gridCol w="6660000"/>
                <a:gridCol w="2542362"/>
              </a:tblGrid>
              <a:tr h="274320">
                <a:tc>
                  <a:txBody>
                    <a:bodyPr anchor="t"/>
                    <a:lstStyle/>
                    <a:p>
                      <a:pPr algn="l">
                        <a:lnSpc>
                          <a:spcPct val="115000"/>
                        </a:lnSpc>
                      </a:pPr>
                      <a:r>
                        <a:rPr lang="en-US" sz="1000" b="1" dirty="0">
                          <a:solidFill>
                            <a:srgbClr val="000000"/>
                          </a:solidFill>
                          <a:latin typeface="Arial"/>
                          <a:ea typeface="Arial"/>
                          <a:cs typeface="Arial"/>
                        </a:rPr>
                        <a:t>Question area</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l">
                        <a:lnSpc>
                          <a:spcPct val="115000"/>
                        </a:lnSpc>
                      </a:pPr>
                      <a:r>
                        <a:rPr lang="en-US" sz="1000" b="1" dirty="0">
                          <a:solidFill>
                            <a:srgbClr val="000000"/>
                          </a:solidFill>
                          <a:latin typeface="Arial"/>
                          <a:ea typeface="Arial"/>
                          <a:cs typeface="Arial"/>
                        </a:rPr>
                        <a:t>Question to discuss</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l">
                        <a:lnSpc>
                          <a:spcPct val="115000"/>
                        </a:lnSpc>
                      </a:pPr>
                      <a:r>
                        <a:rPr lang="en-US" sz="1000" b="1" dirty="0">
                          <a:solidFill>
                            <a:srgbClr val="000000"/>
                          </a:solidFill>
                          <a:latin typeface="Arial"/>
                          <a:ea typeface="Arial"/>
                          <a:cs typeface="Arial"/>
                        </a:rPr>
                        <a:t>Model implication</a:t>
                      </a:r>
                    </a:p>
                  </a:txBody>
                  <a:tcPr marL="45720" marR="45720" marT="45720" marB="45720" anchor="t">
                    <a:lnL>
                      <a:noFill/>
                    </a:lnL>
                    <a:lnR>
                      <a:noFill/>
                    </a:lnR>
                    <a:lnT>
                      <a:noFill/>
                    </a:lnT>
                    <a:lnB w="19050" cap="flat" cmpd="sng" algn="ctr">
                      <a:solidFill>
                        <a:srgbClr val="000000"/>
                      </a:solidFill>
                      <a:prstDash val="solid"/>
                    </a:lnB>
                    <a:noFill/>
                  </a:tcPr>
                </a:tc>
              </a:tr>
              <a:tr h="548640">
                <a:tc>
                  <a:txBody>
                    <a:bodyPr anchor="t"/>
                    <a:lstStyle/>
                    <a:p>
                      <a:pPr algn="l">
                        <a:lnSpc>
                          <a:spcPct val="115000"/>
                        </a:lnSpc>
                      </a:pPr>
                      <a:r>
                        <a:rPr lang="en-US" sz="1000" b="1" dirty="0">
                          <a:solidFill>
                            <a:srgbClr val="000000"/>
                          </a:solidFill>
                          <a:latin typeface="Arial"/>
                          <a:ea typeface="Arial"/>
                          <a:cs typeface="Arial"/>
                        </a:rPr>
                        <a:t>Overall frame</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Is an upper-bound ceiling a fair way to frame the question, separate from current outsourcing?</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Confirms the output is an upside boundary, not a current-state estimate.</a:t>
                      </a:r>
                    </a:p>
                  </a:txBody>
                  <a:tcPr marL="45720" marR="45720" marT="45720" marB="45720" anchor="t">
                    <a:lnL>
                      <a:noFill/>
                    </a:lnL>
                    <a:lnR>
                      <a:noFill/>
                    </a:lnR>
                    <a:lnT>
                      <a:noFill/>
                    </a:lnT>
                    <a:lnB w="12700" cap="flat" cmpd="sng" algn="ctr">
                      <a:solidFill>
                        <a:srgbClr val="000000"/>
                      </a:solidFill>
                      <a:prstDash val="solid"/>
                    </a:lnB>
                    <a:noFill/>
                  </a:tcPr>
                </a:tc>
              </a:tr>
              <a:tr h="396240">
                <a:tc>
                  <a:txBody>
                    <a:bodyPr anchor="t"/>
                    <a:lstStyle/>
                    <a:p>
                      <a:pPr algn="l">
                        <a:lnSpc>
                          <a:spcPct val="115000"/>
                        </a:lnSpc>
                      </a:pPr>
                      <a:r>
                        <a:rPr lang="en-US" sz="1000" b="1" dirty="0">
                          <a:solidFill>
                            <a:srgbClr val="000000"/>
                          </a:solidFill>
                          <a:latin typeface="Arial"/>
                          <a:ea typeface="Arial"/>
                          <a:cs typeface="Arial"/>
                        </a:rPr>
                        <a:t>Addressable base</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Does Basic Construction capture the controllable build work, or does it exclude important supplier opportunities?</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Validates the denominator before comparing classes or sizing headroom.</a:t>
                      </a:r>
                    </a:p>
                  </a:txBody>
                  <a:tcPr marL="45720" marR="45720" marT="45720" marB="45720" anchor="t">
                    <a:lnL>
                      <a:noFill/>
                    </a:lnL>
                    <a:lnR>
                      <a:noFill/>
                    </a:lnR>
                    <a:lnT>
                      <a:noFill/>
                    </a:lnT>
                    <a:lnB w="12700" cap="flat" cmpd="sng" algn="ctr">
                      <a:solidFill>
                        <a:srgbClr val="000000"/>
                      </a:solidFill>
                      <a:prstDash val="solid"/>
                    </a:lnB>
                    <a:noFill/>
                  </a:tcPr>
                </a:tc>
              </a:tr>
              <a:tr h="396240">
                <a:tc>
                  <a:txBody>
                    <a:bodyPr anchor="t"/>
                    <a:lstStyle/>
                    <a:p>
                      <a:pPr algn="l">
                        <a:lnSpc>
                          <a:spcPct val="115000"/>
                        </a:lnSpc>
                      </a:pPr>
                      <a:r>
                        <a:rPr lang="en-US" sz="1000" b="1" dirty="0">
                          <a:solidFill>
                            <a:srgbClr val="000000"/>
                          </a:solidFill>
                          <a:latin typeface="Arial"/>
                          <a:ea typeface="Arial"/>
                          <a:cs typeface="Arial"/>
                        </a:rPr>
                        <a:t>Current baseline</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How reliable is place-of-performance as a floor for work already distributed away from the prime yard?</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Calibrates the starting point for the headroom comparison.</a:t>
                      </a:r>
                    </a:p>
                  </a:txBody>
                  <a:tcPr marL="45720" marR="45720" marT="45720" marB="45720" anchor="t">
                    <a:lnL>
                      <a:noFill/>
                    </a:lnL>
                    <a:lnR>
                      <a:noFill/>
                    </a:lnR>
                    <a:lnT>
                      <a:noFill/>
                    </a:lnT>
                    <a:lnB w="12700" cap="flat" cmpd="sng" algn="ctr">
                      <a:solidFill>
                        <a:srgbClr val="000000"/>
                      </a:solidFill>
                      <a:prstDash val="solid"/>
                    </a:lnB>
                    <a:noFill/>
                  </a:tcPr>
                </a:tc>
              </a:tr>
              <a:tr h="396240">
                <a:tc>
                  <a:txBody>
                    <a:bodyPr anchor="t"/>
                    <a:lstStyle/>
                    <a:p>
                      <a:pPr algn="l">
                        <a:lnSpc>
                          <a:spcPct val="115000"/>
                        </a:lnSpc>
                      </a:pPr>
                      <a:r>
                        <a:rPr lang="en-US" sz="1000" b="1" dirty="0">
                          <a:solidFill>
                            <a:srgbClr val="000000"/>
                          </a:solidFill>
                          <a:latin typeface="Arial"/>
                          <a:ea typeface="Arial"/>
                          <a:cs typeface="Arial"/>
                        </a:rPr>
                        <a:t>Yard-bound core</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What work truly cannot leave the yard because of integration, nuclear controls, alignment, test, certification, or yard know-how?</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Sets the irreducible core that limits the ceiling.</a:t>
                      </a:r>
                    </a:p>
                  </a:txBody>
                  <a:tcPr marL="45720" marR="45720" marT="45720" marB="45720" anchor="t">
                    <a:lnL>
                      <a:noFill/>
                    </a:lnL>
                    <a:lnR>
                      <a:noFill/>
                    </a:lnR>
                    <a:lnT>
                      <a:noFill/>
                    </a:lnT>
                    <a:lnB w="12700" cap="flat" cmpd="sng" algn="ctr">
                      <a:solidFill>
                        <a:srgbClr val="000000"/>
                      </a:solidFill>
                      <a:prstDash val="solid"/>
                    </a:lnB>
                    <a:noFill/>
                  </a:tcPr>
                </a:tc>
              </a:tr>
              <a:tr h="396240">
                <a:tc>
                  <a:txBody>
                    <a:bodyPr anchor="t"/>
                    <a:lstStyle/>
                    <a:p>
                      <a:pPr algn="l">
                        <a:lnSpc>
                          <a:spcPct val="115000"/>
                        </a:lnSpc>
                      </a:pPr>
                      <a:r>
                        <a:rPr lang="en-US" sz="1000" b="1" dirty="0">
                          <a:solidFill>
                            <a:srgbClr val="000000"/>
                          </a:solidFill>
                          <a:latin typeface="Arial"/>
                          <a:ea typeface="Arial"/>
                          <a:cs typeface="Arial"/>
                        </a:rPr>
                        <a:t>Movable work</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Which build tasks can practically move outside the yard, and which are only theoretically movable?</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Tests whether distributed labor is realistic capacity relief.</a:t>
                      </a:r>
                    </a:p>
                  </a:txBody>
                  <a:tcPr marL="45720" marR="45720" marT="45720" marB="45720" anchor="t">
                    <a:lnL>
                      <a:noFill/>
                    </a:lnL>
                    <a:lnR>
                      <a:noFill/>
                    </a:lnR>
                    <a:lnT>
                      <a:noFill/>
                    </a:lnT>
                    <a:lnB w="12700" cap="flat" cmpd="sng" algn="ctr">
                      <a:solidFill>
                        <a:srgbClr val="000000"/>
                      </a:solidFill>
                      <a:prstDash val="solid"/>
                    </a:lnB>
                    <a:noFill/>
                  </a:tcPr>
                </a:tc>
              </a:tr>
              <a:tr h="396240">
                <a:tc>
                  <a:txBody>
                    <a:bodyPr anchor="t"/>
                    <a:lstStyle/>
                    <a:p>
                      <a:pPr algn="l">
                        <a:lnSpc>
                          <a:spcPct val="115000"/>
                        </a:lnSpc>
                      </a:pPr>
                      <a:r>
                        <a:rPr lang="en-US" sz="1000" b="1" dirty="0">
                          <a:solidFill>
                            <a:srgbClr val="000000"/>
                          </a:solidFill>
                          <a:latin typeface="Arial"/>
                          <a:ea typeface="Arial"/>
                          <a:cs typeface="Arial"/>
                        </a:rPr>
                        <a:t>Package economics</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When work moves outside the yard, does material usually move with the package, or mainly labor / fabrication?</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Translates movable work into supplier-dollar opportunity.</a:t>
                      </a:r>
                    </a:p>
                  </a:txBody>
                  <a:tcPr marL="45720" marR="45720" marT="45720" marB="45720" anchor="t">
                    <a:lnL>
                      <a:noFill/>
                    </a:lnL>
                    <a:lnR>
                      <a:noFill/>
                    </a:lnR>
                    <a:lnT>
                      <a:noFill/>
                    </a:lnT>
                    <a:lnB w="12700" cap="flat" cmpd="sng" algn="ctr">
                      <a:solidFill>
                        <a:srgbClr val="000000"/>
                      </a:solidFill>
                      <a:prstDash val="solid"/>
                    </a:lnB>
                    <a:noFill/>
                  </a:tcPr>
                </a:tc>
              </a:tr>
              <a:tr h="396240">
                <a:tc>
                  <a:txBody>
                    <a:bodyPr anchor="t"/>
                    <a:lstStyle/>
                    <a:p>
                      <a:pPr algn="l">
                        <a:lnSpc>
                          <a:spcPct val="115000"/>
                        </a:lnSpc>
                      </a:pPr>
                      <a:r>
                        <a:rPr lang="en-US" sz="1000" b="1" dirty="0">
                          <a:solidFill>
                            <a:srgbClr val="000000"/>
                          </a:solidFill>
                          <a:latin typeface="Arial"/>
                          <a:ea typeface="Arial"/>
                          <a:cs typeface="Arial"/>
                        </a:rPr>
                        <a:t>Program differences</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Where should Virginia, Columbia, and DDG-51 be treated differently: yard, class, block maturity, GFE mix, or supplier base?</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1000" b="0" dirty="0">
                          <a:solidFill>
                            <a:srgbClr val="000000"/>
                          </a:solidFill>
                          <a:latin typeface="Arial"/>
                          <a:ea typeface="Arial"/>
                          <a:cs typeface="Arial"/>
                        </a:rPr>
                        <a:t>Determines whether one model shape can travel across programs.</a:t>
                      </a:r>
                    </a:p>
                  </a:txBody>
                  <a:tcPr marL="45720" marR="45720" marT="45720" marB="45720" anchor="t">
                    <a:lnL>
                      <a:noFill/>
                    </a:lnL>
                    <a:lnR>
                      <a:noFill/>
                    </a:lnR>
                    <a:lnT>
                      <a:noFill/>
                    </a:lnT>
                    <a:lnB w="12700" cap="flat" cmpd="sng" algn="ctr">
                      <a:solidFill>
                        <a:srgbClr val="000000"/>
                      </a:solidFill>
                      <a:prstDash val="solid"/>
                    </a:lnB>
                    <a:noFill/>
                  </a:tcPr>
                </a:tc>
              </a:tr>
              <a:tr h="396240">
                <a:tc>
                  <a:txBody>
                    <a:bodyPr anchor="t"/>
                    <a:lstStyle/>
                    <a:p>
                      <a:pPr algn="l">
                        <a:lnSpc>
                          <a:spcPct val="115000"/>
                        </a:lnSpc>
                      </a:pPr>
                      <a:r>
                        <a:rPr lang="en-US" sz="1000" b="1" dirty="0">
                          <a:solidFill>
                            <a:srgbClr val="000000"/>
                          </a:solidFill>
                          <a:latin typeface="Arial"/>
                          <a:ea typeface="Arial"/>
                          <a:cs typeface="Arial"/>
                        </a:rPr>
                        <a:t>Constraints + readout</a:t>
                      </a:r>
                    </a:p>
                  </a:txBody>
                  <a:tcPr marL="45720" marR="45720" marT="45720" marB="45720" anchor="t">
                    <a:lnL>
                      <a:noFill/>
                    </a:lnL>
                    <a:lnR>
                      <a:noFill/>
                    </a:lnR>
                    <a:lnT>
                      <a:noFill/>
                    </a:lnT>
                    <a:lnB>
                      <a:noFill/>
                    </a:lnB>
                    <a:noFill/>
                  </a:tcPr>
                </a:tc>
                <a:tc>
                  <a:txBody>
                    <a:bodyPr anchor="t"/>
                    <a:lstStyle/>
                    <a:p>
                      <a:pPr algn="l">
                        <a:lnSpc>
                          <a:spcPct val="115000"/>
                        </a:lnSpc>
                      </a:pPr>
                      <a:r>
                        <a:rPr lang="en-US" sz="1000" b="0" dirty="0">
                          <a:solidFill>
                            <a:srgbClr val="000000"/>
                          </a:solidFill>
                          <a:latin typeface="Arial"/>
                          <a:ea typeface="Arial"/>
                          <a:cs typeface="Arial"/>
                        </a:rPr>
                        <a:t>What most limits more outsourcing, and should the gap to the ceiling read as opportunity, capacity headroom, or a screen?</a:t>
                      </a:r>
                    </a:p>
                  </a:txBody>
                  <a:tcPr marL="45720" marR="45720" marT="45720" marB="45720" anchor="t">
                    <a:lnL>
                      <a:noFill/>
                    </a:lnL>
                    <a:lnR>
                      <a:noFill/>
                    </a:lnR>
                    <a:lnT>
                      <a:noFill/>
                    </a:lnT>
                    <a:lnB>
                      <a:noFill/>
                    </a:lnB>
                    <a:noFill/>
                  </a:tcPr>
                </a:tc>
                <a:tc>
                  <a:txBody>
                    <a:bodyPr anchor="t"/>
                    <a:lstStyle/>
                    <a:p>
                      <a:pPr algn="l">
                        <a:lnSpc>
                          <a:spcPct val="115000"/>
                        </a:lnSpc>
                      </a:pPr>
                      <a:r>
                        <a:rPr lang="en-US" sz="1000" b="0" dirty="0">
                          <a:solidFill>
                            <a:srgbClr val="000000"/>
                          </a:solidFill>
                          <a:latin typeface="Arial"/>
                          <a:ea typeface="Arial"/>
                          <a:cs typeface="Arial"/>
                        </a:rPr>
                        <a:t>Frames feasibility caveats and the external wording.</a:t>
                      </a:r>
                    </a:p>
                  </a:txBody>
                  <a:tcPr marL="45720" marR="45720" marT="45720" marB="45720" anchor="t">
                    <a:lnL>
                      <a:noFill/>
                    </a:lnL>
                    <a:lnR>
                      <a:noFill/>
                    </a:lnR>
                    <a:lnT>
                      <a:noFill/>
                    </a:lnT>
                    <a:lnB>
                      <a:noFill/>
                    </a:lnB>
                    <a:no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readcrumb"/>
          <p:cNvSpPr>
            <a:spLocks noGrp="1"/>
          </p:cNvSpPr>
          <p:nvPr>
            <p:ph type="body" sz="quarter" idx="10"/>
          </p:nvPr>
        </p:nvSpPr>
        <p:spPr>
          <a:xfrm>
            <a:off x="453079" y="263452"/>
            <a:ext cx="11282362" cy="153888"/>
          </a:xfrm>
        </p:spPr>
        <p:txBody>
          <a:bodyPr/>
          <a:lstStyle/>
          <a:p>
            <a:r>
              <a:rPr lang="en-US" sz="1000" b="1" kern="1200" dirty="0">
                <a:solidFill>
                  <a:srgbClr val="44505C"/>
                </a:solidFill>
                <a:latin typeface="Arial"/>
                <a:ea typeface="Arial"/>
                <a:cs typeface="Arial"/>
              </a:rPr>
              <a:t>Award Analysis</a:t>
            </a:r>
            <a:r>
              <a:rPr lang="en-US" sz="1000" kern="1200" dirty="0">
                <a:solidFill>
                  <a:srgbClr val="44505C"/>
                </a:solidFill>
                <a:latin typeface="Arial"/>
                <a:ea typeface="Arial"/>
                <a:cs typeface="Arial"/>
              </a:rPr>
              <a:t> / Data Reference</a:t>
            </a:r>
          </a:p>
        </p:txBody>
      </p:sp>
      <p:sp>
        <p:nvSpPr>
          <p:cNvPr id="4" name="PrelimChip"/>
          <p:cNvSpPr txBox="1"/>
          <p:nvPr/>
        </p:nvSpPr>
        <p:spPr>
          <a:xfrm>
            <a:off x="10267829" y="111556"/>
            <a:ext cx="1467612" cy="290000"/>
          </a:xfrm>
          <a:prstGeom prst="rect">
            <a:avLst/>
          </a:prstGeom>
          <a:solidFill>
            <a:srgbClr val="FFFFCC"/>
          </a:solidFill>
          <a:ln w="19050">
            <a:solidFill>
              <a:srgbClr val="000000"/>
            </a:solidFill>
          </a:ln>
        </p:spPr>
        <p:txBody>
          <a:bodyPr wrap="square" anchor="ctr" lIns="45720" tIns="9144" rIns="45720" bIns="9144"/>
          <a:lstStyle/>
          <a:p>
            <a:pPr algn="ctr"/>
            <a:r>
              <a:rPr lang="en-US" sz="1200" b="1" kern="1200" dirty="0">
                <a:solidFill>
                  <a:srgbClr val="000000"/>
                </a:solidFill>
                <a:latin typeface="Arial"/>
                <a:ea typeface="Arial"/>
                <a:cs typeface="Arial"/>
              </a:rPr>
              <a:t>Preliminary</a:t>
            </a:r>
          </a:p>
        </p:txBody>
      </p:sp>
      <p:sp>
        <p:nvSpPr>
          <p:cNvPr id="3" name="Title"/>
          <p:cNvSpPr>
            <a:spLocks noGrp="1"/>
          </p:cNvSpPr>
          <p:nvPr>
            <p:ph type="title"/>
          </p:nvPr>
        </p:nvSpPr>
        <p:spPr>
          <a:xfrm>
            <a:off x="453079" y="554500"/>
            <a:ext cx="11282362" cy="640080"/>
          </a:xfrm>
        </p:spPr>
        <p:txBody>
          <a:bodyPr rIns="0"/>
          <a:lstStyle/>
          <a:p>
            <a:r>
              <a:rPr lang="en-US" sz="2000" kern="1200" dirty="0">
                <a:solidFill>
                  <a:srgbClr val="162029"/>
                </a:solidFill>
                <a:latin typeface="Arial"/>
                <a:ea typeface="Arial"/>
                <a:cs typeface="Arial"/>
              </a:rPr>
              <a:t>Data Reference | Scope PIIDs, the seven work-type buckets, and the native subaward fields the analysis reads.</a:t>
            </a:r>
          </a:p>
        </p:txBody>
      </p:sp>
      <p:graphicFrame>
        <p:nvGraphicFramePr>
          <p:cNvPr id="41" name="data_ref_piids"/>
          <p:cNvGraphicFramePr>
            <a:graphicFrameLocks noGrp="1"/>
          </p:cNvGraphicFramePr>
          <p:nvPr/>
        </p:nvGraphicFramePr>
        <p:xfrm>
          <a:off x="453079" y="1371600"/>
          <a:ext cx="11282362" cy="975360"/>
        </p:xfrm>
        <a:graphic>
          <a:graphicData uri="http://schemas.openxmlformats.org/drawingml/2006/table">
            <a:tbl>
              <a:tblPr firstRow="1" firstCol="1" bandRow="0">
                <a:tableStyleId>{2D5ABB26-0587-4C30-8999-92F81FD0307C}</a:tableStyleId>
              </a:tblPr>
              <a:tblGrid>
                <a:gridCol w="1500000"/>
                <a:gridCol w="9782362"/>
              </a:tblGrid>
              <a:tr h="213360">
                <a:tc>
                  <a:txBody>
                    <a:bodyPr anchor="t"/>
                    <a:lstStyle/>
                    <a:p>
                      <a:pPr algn="l">
                        <a:lnSpc>
                          <a:spcPct val="115000"/>
                        </a:lnSpc>
                      </a:pPr>
                      <a:r>
                        <a:rPr lang="en-US" sz="800" b="1" dirty="0">
                          <a:solidFill>
                            <a:srgbClr val="000000"/>
                          </a:solidFill>
                          <a:latin typeface="Arial"/>
                          <a:ea typeface="Arial"/>
                          <a:cs typeface="Arial"/>
                        </a:rPr>
                        <a:t>Platform</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l">
                        <a:lnSpc>
                          <a:spcPct val="115000"/>
                        </a:lnSpc>
                      </a:pPr>
                      <a:r>
                        <a:rPr lang="en-US" sz="800" b="1" dirty="0">
                          <a:solidFill>
                            <a:srgbClr val="000000"/>
                          </a:solidFill>
                          <a:latin typeface="Arial"/>
                          <a:ea typeface="Arial"/>
                          <a:cs typeface="Arial"/>
                        </a:rPr>
                        <a:t>Prime new-construction contract PIIDs</a:t>
                      </a:r>
                    </a:p>
                  </a:txBody>
                  <a:tcPr marL="45720" marR="45720" marT="45720" marB="45720" anchor="t">
                    <a:lnL>
                      <a:noFill/>
                    </a:lnL>
                    <a:lnR>
                      <a:noFill/>
                    </a:lnR>
                    <a:lnT>
                      <a:noFill/>
                    </a:lnT>
                    <a:lnB w="1905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SSN · Virginia</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N0002417C2100, N0002412C2115, N0002416C2111, N0002424C2110, N0002421C4106, N0002421C4111, N0002409C2104, N0002410C2118, N0002424C2114, N0002410C6266</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SSBN · Columbia</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N0002417C2117, N0002413C2128, N0002419C2115, N0002419C2114, N0002411C2109</a:t>
                      </a:r>
                    </a:p>
                  </a:txBody>
                  <a:tcPr marL="45720" marR="45720" marT="45720" marB="45720" anchor="t">
                    <a:lnL>
                      <a:noFill/>
                    </a:lnL>
                    <a:lnR>
                      <a:noFill/>
                    </a:lnR>
                    <a:lnT>
                      <a:noFill/>
                    </a:lnT>
                    <a:lnB w="12700" cap="flat" cmpd="sng" algn="ctr">
                      <a:solidFill>
                        <a:srgbClr val="000000"/>
                      </a:solidFill>
                      <a:prstDash val="solid"/>
                    </a:lnB>
                    <a:noFill/>
                  </a:tcPr>
                </a:tc>
              </a:tr>
              <a:tr h="335280">
                <a:tc>
                  <a:txBody>
                    <a:bodyPr anchor="t"/>
                    <a:lstStyle/>
                    <a:p>
                      <a:pPr algn="l">
                        <a:lnSpc>
                          <a:spcPct val="115000"/>
                        </a:lnSpc>
                      </a:pPr>
                      <a:r>
                        <a:rPr lang="en-US" sz="800" b="1" dirty="0">
                          <a:solidFill>
                            <a:srgbClr val="000000"/>
                          </a:solidFill>
                          <a:latin typeface="Arial"/>
                          <a:ea typeface="Arial"/>
                          <a:cs typeface="Arial"/>
                        </a:rPr>
                        <a:t>DDG · DDG-51</a:t>
                      </a:r>
                    </a:p>
                  </a:txBody>
                  <a:tcPr marL="45720" marR="45720" marT="45720" marB="45720" anchor="t">
                    <a:lnL>
                      <a:noFill/>
                    </a:lnL>
                    <a:lnR>
                      <a:noFill/>
                    </a:lnR>
                    <a:lnT>
                      <a:noFill/>
                    </a:lnT>
                    <a:lnB>
                      <a:noFill/>
                    </a:lnB>
                    <a:noFill/>
                  </a:tcPr>
                </a:tc>
                <a:tc>
                  <a:txBody>
                    <a:bodyPr anchor="t"/>
                    <a:lstStyle/>
                    <a:p>
                      <a:pPr algn="l">
                        <a:lnSpc>
                          <a:spcPct val="115000"/>
                        </a:lnSpc>
                      </a:pPr>
                      <a:r>
                        <a:rPr lang="en-US" sz="800" b="0" dirty="0">
                          <a:solidFill>
                            <a:srgbClr val="000000"/>
                          </a:solidFill>
                          <a:latin typeface="Arial"/>
                          <a:ea typeface="Arial"/>
                          <a:cs typeface="Arial"/>
                        </a:rPr>
                        <a:t>N0002418C2307, N0002413C2307, N0002423C2307, N0002411C2307, N0002411C2309, N0002419C4452, N0002419C2322, N0002413C2305, N0002414C4313, N0002418C2305, N0002412C2312, N0002423C2305, N0002402C2303, N0002406C2303, N0002411C2306, N0002411C2305, N0002412C4311, N0002409C2302, N0002418C2313, N0002412C2313, N0002403C2306, N0002418C4451, N0002424C2313, N0002402C2304</a:t>
                      </a:r>
                    </a:p>
                  </a:txBody>
                  <a:tcPr marL="45720" marR="45720" marT="45720" marB="45720" anchor="t">
                    <a:lnL>
                      <a:noFill/>
                    </a:lnL>
                    <a:lnR>
                      <a:noFill/>
                    </a:lnR>
                    <a:lnT>
                      <a:noFill/>
                    </a:lnT>
                    <a:lnB>
                      <a:noFill/>
                    </a:lnB>
                    <a:noFill/>
                  </a:tcPr>
                </a:tc>
              </a:tr>
            </a:tbl>
          </a:graphicData>
        </a:graphic>
      </p:graphicFrame>
      <p:graphicFrame>
        <p:nvGraphicFramePr>
          <p:cNvPr id="42" name="data_ref_worktypes"/>
          <p:cNvGraphicFramePr>
            <a:graphicFrameLocks noGrp="1"/>
          </p:cNvGraphicFramePr>
          <p:nvPr/>
        </p:nvGraphicFramePr>
        <p:xfrm>
          <a:off x="453079" y="2484120"/>
          <a:ext cx="11282362" cy="1706880"/>
        </p:xfrm>
        <a:graphic>
          <a:graphicData uri="http://schemas.openxmlformats.org/drawingml/2006/table">
            <a:tbl>
              <a:tblPr firstRow="1" firstCol="1" bandRow="0">
                <a:tableStyleId>{2D5ABB26-0587-4C30-8999-92F81FD0307C}</a:tableStyleId>
              </a:tblPr>
              <a:tblGrid>
                <a:gridCol w="3100000"/>
                <a:gridCol w="1250000"/>
                <a:gridCol w="6932362"/>
              </a:tblGrid>
              <a:tr h="213360">
                <a:tc>
                  <a:txBody>
                    <a:bodyPr anchor="t"/>
                    <a:lstStyle/>
                    <a:p>
                      <a:pPr algn="l">
                        <a:lnSpc>
                          <a:spcPct val="115000"/>
                        </a:lnSpc>
                      </a:pPr>
                      <a:r>
                        <a:rPr lang="en-US" sz="800" b="1" dirty="0">
                          <a:solidFill>
                            <a:srgbClr val="000000"/>
                          </a:solidFill>
                          <a:latin typeface="Arial"/>
                          <a:ea typeface="Arial"/>
                          <a:cs typeface="Arial"/>
                        </a:rPr>
                        <a:t>Work type</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ctr">
                        <a:lnSpc>
                          <a:spcPct val="115000"/>
                        </a:lnSpc>
                      </a:pPr>
                      <a:r>
                        <a:rPr lang="en-US" sz="800" b="1" dirty="0">
                          <a:solidFill>
                            <a:srgbClr val="000000"/>
                          </a:solidFill>
                          <a:latin typeface="Arial"/>
                          <a:ea typeface="Arial"/>
                          <a:cs typeface="Arial"/>
                        </a:rPr>
                        <a:t>NAICS-4</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l">
                        <a:lnSpc>
                          <a:spcPct val="115000"/>
                        </a:lnSpc>
                      </a:pPr>
                      <a:r>
                        <a:rPr lang="en-US" sz="800" b="1" dirty="0">
                          <a:solidFill>
                            <a:srgbClr val="000000"/>
                          </a:solidFill>
                          <a:latin typeface="Arial"/>
                          <a:ea typeface="Arial"/>
                          <a:cs typeface="Arial"/>
                        </a:rPr>
                        <a:t>What it covers</a:t>
                      </a:r>
                    </a:p>
                  </a:txBody>
                  <a:tcPr marL="45720" marR="45720" marT="45720" marB="45720" anchor="t">
                    <a:lnL>
                      <a:noFill/>
                    </a:lnL>
                    <a:lnR>
                      <a:noFill/>
                    </a:lnR>
                    <a:lnT>
                      <a:noFill/>
                    </a:lnT>
                    <a:lnB w="1905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Structural fabrication &amp; modules</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3323, 3324, 3366, 3369</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hull sections, fabricated structural metal, pre-outfit modules</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Machining / mechanical / propulsion</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3327, 3336</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machine shops, precision machining, mechanical power transmission, propulsion machinery</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Castings &amp; forgings</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3312, 3315, 3321</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iron / steel forging, steel foundries, cast components</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Piping / fluid handling</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3329, 3339, 4235</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industrial valves, pumps, measuring / dispensing, pipe &amp; fittings</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Electrical power / distribution / generation</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3353, 3359</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switchgear, transformers, turbine generators, motors, ship power distribution</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HVAC / ventilation / chilled water</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3334</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air-conditioning, warm-air heating, shipboard ventilation</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Coatings / insulation / decking</a:t>
                      </a:r>
                    </a:p>
                  </a:txBody>
                  <a:tcPr marL="45720" marR="45720" marT="45720" marB="45720" anchor="t">
                    <a:lnL>
                      <a:noFill/>
                    </a:lnL>
                    <a:lnR>
                      <a:noFill/>
                    </a:lnR>
                    <a:lnT>
                      <a:noFill/>
                    </a:lnT>
                    <a:lnB>
                      <a:noFill/>
                    </a:lnB>
                    <a:noFill/>
                  </a:tcPr>
                </a:tc>
                <a:tc>
                  <a:txBody>
                    <a:bodyPr anchor="t"/>
                    <a:lstStyle/>
                    <a:p>
                      <a:pPr algn="ctr">
                        <a:lnSpc>
                          <a:spcPct val="115000"/>
                        </a:lnSpc>
                      </a:pPr>
                      <a:r>
                        <a:rPr lang="en-US" sz="800" b="0" dirty="0">
                          <a:solidFill>
                            <a:srgbClr val="000000"/>
                          </a:solidFill>
                          <a:latin typeface="Arial"/>
                          <a:ea typeface="Arial"/>
                          <a:cs typeface="Arial"/>
                        </a:rPr>
                        <a:t>3252, 3259, 3262</a:t>
                      </a:r>
                    </a:p>
                  </a:txBody>
                  <a:tcPr marL="45720" marR="45720" marT="45720" marB="45720" anchor="t">
                    <a:lnL>
                      <a:noFill/>
                    </a:lnL>
                    <a:lnR>
                      <a:noFill/>
                    </a:lnR>
                    <a:lnT>
                      <a:noFill/>
                    </a:lnT>
                    <a:lnB>
                      <a:noFill/>
                    </a:lnB>
                    <a:noFill/>
                  </a:tcPr>
                </a:tc>
                <a:tc>
                  <a:txBody>
                    <a:bodyPr anchor="t"/>
                    <a:lstStyle/>
                    <a:p>
                      <a:pPr algn="l">
                        <a:lnSpc>
                          <a:spcPct val="115000"/>
                        </a:lnSpc>
                      </a:pPr>
                      <a:r>
                        <a:rPr lang="en-US" sz="800" b="0" dirty="0">
                          <a:solidFill>
                            <a:srgbClr val="000000"/>
                          </a:solidFill>
                          <a:latin typeface="Arial"/>
                          <a:ea typeface="Arial"/>
                          <a:cs typeface="Arial"/>
                        </a:rPr>
                        <a:t>rubber / synthetic, composites, coatings &amp; insulation</a:t>
                      </a:r>
                    </a:p>
                  </a:txBody>
                  <a:tcPr marL="45720" marR="45720" marT="45720" marB="45720" anchor="t">
                    <a:lnL>
                      <a:noFill/>
                    </a:lnL>
                    <a:lnR>
                      <a:noFill/>
                    </a:lnR>
                    <a:lnT>
                      <a:noFill/>
                    </a:lnT>
                    <a:lnB>
                      <a:noFill/>
                    </a:lnB>
                    <a:noFill/>
                  </a:tcPr>
                </a:tc>
              </a:tr>
            </a:tbl>
          </a:graphicData>
        </a:graphic>
      </p:graphicFrame>
      <p:graphicFrame>
        <p:nvGraphicFramePr>
          <p:cNvPr id="43" name="data_ref_award_fields"/>
          <p:cNvGraphicFramePr>
            <a:graphicFrameLocks noGrp="1"/>
          </p:cNvGraphicFramePr>
          <p:nvPr/>
        </p:nvGraphicFramePr>
        <p:xfrm>
          <a:off x="453079" y="4328160"/>
          <a:ext cx="11282362" cy="1066800"/>
        </p:xfrm>
        <a:graphic>
          <a:graphicData uri="http://schemas.openxmlformats.org/drawingml/2006/table">
            <a:tbl>
              <a:tblPr firstRow="1" firstCol="1" bandRow="0">
                <a:tableStyleId>{2D5ABB26-0587-4C30-8999-92F81FD0307C}</a:tableStyleId>
              </a:tblPr>
              <a:tblGrid>
                <a:gridCol w="1500000"/>
                <a:gridCol w="3050000"/>
                <a:gridCol w="1500000"/>
                <a:gridCol w="1250000"/>
                <a:gridCol w="850000"/>
                <a:gridCol w="1000000"/>
                <a:gridCol w="2132362"/>
              </a:tblGrid>
              <a:tr h="213360">
                <a:tc>
                  <a:txBody>
                    <a:bodyPr anchor="t"/>
                    <a:lstStyle/>
                    <a:p>
                      <a:pPr algn="l">
                        <a:lnSpc>
                          <a:spcPct val="115000"/>
                        </a:lnSpc>
                      </a:pPr>
                      <a:r>
                        <a:rPr lang="en-US" sz="800" b="1" dirty="0">
                          <a:solidFill>
                            <a:srgbClr val="000000"/>
                          </a:solidFill>
                          <a:latin typeface="Arial"/>
                          <a:ea typeface="Arial"/>
                          <a:cs typeface="Arial"/>
                        </a:rPr>
                        <a:t>PIID</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l">
                        <a:lnSpc>
                          <a:spcPct val="115000"/>
                        </a:lnSpc>
                      </a:pPr>
                      <a:r>
                        <a:rPr lang="en-US" sz="800" b="1" dirty="0">
                          <a:solidFill>
                            <a:srgbClr val="000000"/>
                          </a:solidFill>
                          <a:latin typeface="Arial"/>
                          <a:ea typeface="Arial"/>
                          <a:cs typeface="Arial"/>
                        </a:rPr>
                        <a:t>Subawardee</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l">
                        <a:lnSpc>
                          <a:spcPct val="115000"/>
                        </a:lnSpc>
                      </a:pPr>
                      <a:r>
                        <a:rPr lang="en-US" sz="800" b="1" dirty="0">
                          <a:solidFill>
                            <a:srgbClr val="000000"/>
                          </a:solidFill>
                          <a:latin typeface="Arial"/>
                          <a:ea typeface="Arial"/>
                          <a:cs typeface="Arial"/>
                        </a:rPr>
                        <a:t>Subawardee UEI</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ctr">
                        <a:lnSpc>
                          <a:spcPct val="115000"/>
                        </a:lnSpc>
                      </a:pPr>
                      <a:r>
                        <a:rPr lang="en-US" sz="800" b="1" dirty="0">
                          <a:solidFill>
                            <a:srgbClr val="000000"/>
                          </a:solidFill>
                          <a:latin typeface="Arial"/>
                          <a:ea typeface="Arial"/>
                          <a:cs typeface="Arial"/>
                        </a:rPr>
                        <a:t>Award date</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r">
                        <a:lnSpc>
                          <a:spcPct val="115000"/>
                        </a:lnSpc>
                      </a:pPr>
                      <a:r>
                        <a:rPr lang="en-US" sz="800" b="1" dirty="0">
                          <a:solidFill>
                            <a:srgbClr val="000000"/>
                          </a:solidFill>
                          <a:latin typeface="Arial"/>
                          <a:ea typeface="Arial"/>
                          <a:cs typeface="Arial"/>
                        </a:rPr>
                        <a:t>$M</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ctr">
                        <a:lnSpc>
                          <a:spcPct val="115000"/>
                        </a:lnSpc>
                      </a:pPr>
                      <a:r>
                        <a:rPr lang="en-US" sz="800" b="1" dirty="0">
                          <a:solidFill>
                            <a:srgbClr val="000000"/>
                          </a:solidFill>
                          <a:latin typeface="Arial"/>
                          <a:ea typeface="Arial"/>
                          <a:cs typeface="Arial"/>
                        </a:rPr>
                        <a:t>NAICS-4</a:t>
                      </a:r>
                    </a:p>
                  </a:txBody>
                  <a:tcPr marL="45720" marR="45720" marT="45720" marB="45720" anchor="t">
                    <a:lnL>
                      <a:noFill/>
                    </a:lnL>
                    <a:lnR>
                      <a:noFill/>
                    </a:lnR>
                    <a:lnT>
                      <a:noFill/>
                    </a:lnT>
                    <a:lnB w="19050" cap="flat" cmpd="sng" algn="ctr">
                      <a:solidFill>
                        <a:srgbClr val="000000"/>
                      </a:solidFill>
                      <a:prstDash val="solid"/>
                    </a:lnB>
                    <a:noFill/>
                  </a:tcPr>
                </a:tc>
                <a:tc>
                  <a:txBody>
                    <a:bodyPr anchor="t"/>
                    <a:lstStyle/>
                    <a:p>
                      <a:pPr algn="l">
                        <a:lnSpc>
                          <a:spcPct val="115000"/>
                        </a:lnSpc>
                      </a:pPr>
                      <a:r>
                        <a:rPr lang="en-US" sz="800" b="1" dirty="0">
                          <a:solidFill>
                            <a:srgbClr val="000000"/>
                          </a:solidFill>
                          <a:latin typeface="Arial"/>
                          <a:ea typeface="Arial"/>
                          <a:cs typeface="Arial"/>
                        </a:rPr>
                        <a:t>Report ID</a:t>
                      </a:r>
                    </a:p>
                  </a:txBody>
                  <a:tcPr marL="45720" marR="45720" marT="45720" marB="45720" anchor="t">
                    <a:lnL>
                      <a:noFill/>
                    </a:lnL>
                    <a:lnR>
                      <a:noFill/>
                    </a:lnR>
                    <a:lnT>
                      <a:noFill/>
                    </a:lnT>
                    <a:lnB w="1905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N0002412C2115</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BAKER SHEET METAL CORPORATION</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RYRLL49HWN65</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2016-02-03</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r">
                        <a:lnSpc>
                          <a:spcPct val="115000"/>
                        </a:lnSpc>
                      </a:pPr>
                      <a:r>
                        <a:rPr lang="en-US" sz="800" b="0" dirty="0">
                          <a:solidFill>
                            <a:srgbClr val="000000"/>
                          </a:solidFill>
                          <a:latin typeface="Arial"/>
                          <a:ea typeface="Arial"/>
                          <a:cs typeface="Arial"/>
                        </a:rPr>
                        <a:t>0.085</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3323</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20692413</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N0002412C2115</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ARNOLD MAGNETICS CORPORATION</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RK6GKSXPC8W7</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2016-02-03</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r">
                        <a:lnSpc>
                          <a:spcPct val="115000"/>
                        </a:lnSpc>
                      </a:pPr>
                      <a:r>
                        <a:rPr lang="en-US" sz="800" b="0" dirty="0">
                          <a:solidFill>
                            <a:srgbClr val="000000"/>
                          </a:solidFill>
                          <a:latin typeface="Arial"/>
                          <a:ea typeface="Arial"/>
                          <a:cs typeface="Arial"/>
                        </a:rPr>
                        <a:t>0.134</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3359</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20692322</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N0002413C2128</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SCOT FORGE COMPANY</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N1PJDANWUJ61</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2016-02-18</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r">
                        <a:lnSpc>
                          <a:spcPct val="115000"/>
                        </a:lnSpc>
                      </a:pPr>
                      <a:r>
                        <a:rPr lang="en-US" sz="800" b="0" dirty="0">
                          <a:solidFill>
                            <a:srgbClr val="000000"/>
                          </a:solidFill>
                          <a:latin typeface="Arial"/>
                          <a:ea typeface="Arial"/>
                          <a:cs typeface="Arial"/>
                        </a:rPr>
                        <a:t>1.058</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ctr">
                        <a:lnSpc>
                          <a:spcPct val="115000"/>
                        </a:lnSpc>
                      </a:pPr>
                      <a:r>
                        <a:rPr lang="en-US" sz="800" b="0" dirty="0">
                          <a:solidFill>
                            <a:srgbClr val="000000"/>
                          </a:solidFill>
                          <a:latin typeface="Arial"/>
                          <a:ea typeface="Arial"/>
                          <a:cs typeface="Arial"/>
                        </a:rPr>
                        <a:t>3321</a:t>
                      </a:r>
                    </a:p>
                  </a:txBody>
                  <a:tcPr marL="45720" marR="45720" marT="45720" marB="45720" anchor="t">
                    <a:lnL>
                      <a:noFill/>
                    </a:lnL>
                    <a:lnR>
                      <a:noFill/>
                    </a:lnR>
                    <a:lnT>
                      <a:noFill/>
                    </a:lnT>
                    <a:lnB w="12700" cap="flat" cmpd="sng" algn="ctr">
                      <a:solidFill>
                        <a:srgbClr val="000000"/>
                      </a:solidFill>
                      <a:prstDash val="solid"/>
                    </a:lnB>
                    <a:noFill/>
                  </a:tcPr>
                </a:tc>
                <a:tc>
                  <a:txBody>
                    <a:bodyPr anchor="t"/>
                    <a:lstStyle/>
                    <a:p>
                      <a:pPr algn="l">
                        <a:lnSpc>
                          <a:spcPct val="115000"/>
                        </a:lnSpc>
                      </a:pPr>
                      <a:r>
                        <a:rPr lang="en-US" sz="800" b="0" dirty="0">
                          <a:solidFill>
                            <a:srgbClr val="000000"/>
                          </a:solidFill>
                          <a:latin typeface="Arial"/>
                          <a:ea typeface="Arial"/>
                          <a:cs typeface="Arial"/>
                        </a:rPr>
                        <a:t>20699650</a:t>
                      </a:r>
                    </a:p>
                  </a:txBody>
                  <a:tcPr marL="45720" marR="45720" marT="45720" marB="45720" anchor="t">
                    <a:lnL>
                      <a:noFill/>
                    </a:lnL>
                    <a:lnR>
                      <a:noFill/>
                    </a:lnR>
                    <a:lnT>
                      <a:noFill/>
                    </a:lnT>
                    <a:lnB w="12700" cap="flat" cmpd="sng" algn="ctr">
                      <a:solidFill>
                        <a:srgbClr val="000000"/>
                      </a:solidFill>
                      <a:prstDash val="solid"/>
                    </a:lnB>
                    <a:noFill/>
                  </a:tcPr>
                </a:tc>
              </a:tr>
              <a:tr h="213360">
                <a:tc>
                  <a:txBody>
                    <a:bodyPr anchor="t"/>
                    <a:lstStyle/>
                    <a:p>
                      <a:pPr algn="l">
                        <a:lnSpc>
                          <a:spcPct val="115000"/>
                        </a:lnSpc>
                      </a:pPr>
                      <a:r>
                        <a:rPr lang="en-US" sz="800" b="1" dirty="0">
                          <a:solidFill>
                            <a:srgbClr val="000000"/>
                          </a:solidFill>
                          <a:latin typeface="Arial"/>
                          <a:ea typeface="Arial"/>
                          <a:cs typeface="Arial"/>
                        </a:rPr>
                        <a:t>N0002411C2307</a:t>
                      </a:r>
                    </a:p>
                  </a:txBody>
                  <a:tcPr marL="45720" marR="45720" marT="45720" marB="45720" anchor="t">
                    <a:lnL>
                      <a:noFill/>
                    </a:lnL>
                    <a:lnR>
                      <a:noFill/>
                    </a:lnR>
                    <a:lnT>
                      <a:noFill/>
                    </a:lnT>
                    <a:lnB>
                      <a:noFill/>
                    </a:lnB>
                    <a:noFill/>
                  </a:tcPr>
                </a:tc>
                <a:tc>
                  <a:txBody>
                    <a:bodyPr anchor="t"/>
                    <a:lstStyle/>
                    <a:p>
                      <a:pPr algn="l">
                        <a:lnSpc>
                          <a:spcPct val="115000"/>
                        </a:lnSpc>
                      </a:pPr>
                      <a:r>
                        <a:rPr lang="en-US" sz="800" b="0" dirty="0">
                          <a:solidFill>
                            <a:srgbClr val="000000"/>
                          </a:solidFill>
                          <a:latin typeface="Arial"/>
                          <a:ea typeface="Arial"/>
                          <a:cs typeface="Arial"/>
                        </a:rPr>
                        <a:t>WESTLAND TECHNOLOGIES, INC.</a:t>
                      </a:r>
                    </a:p>
                  </a:txBody>
                  <a:tcPr marL="45720" marR="45720" marT="45720" marB="45720" anchor="t">
                    <a:lnL>
                      <a:noFill/>
                    </a:lnL>
                    <a:lnR>
                      <a:noFill/>
                    </a:lnR>
                    <a:lnT>
                      <a:noFill/>
                    </a:lnT>
                    <a:lnB>
                      <a:noFill/>
                    </a:lnB>
                    <a:noFill/>
                  </a:tcPr>
                </a:tc>
                <a:tc>
                  <a:txBody>
                    <a:bodyPr anchor="t"/>
                    <a:lstStyle/>
                    <a:p>
                      <a:pPr algn="l">
                        <a:lnSpc>
                          <a:spcPct val="115000"/>
                        </a:lnSpc>
                      </a:pPr>
                      <a:r>
                        <a:rPr lang="en-US" sz="800" b="0" dirty="0">
                          <a:solidFill>
                            <a:srgbClr val="000000"/>
                          </a:solidFill>
                          <a:latin typeface="Arial"/>
                          <a:ea typeface="Arial"/>
                          <a:cs typeface="Arial"/>
                        </a:rPr>
                        <a:t>HMBSX7Z72UK4</a:t>
                      </a:r>
                    </a:p>
                  </a:txBody>
                  <a:tcPr marL="45720" marR="45720" marT="45720" marB="45720" anchor="t">
                    <a:lnL>
                      <a:noFill/>
                    </a:lnL>
                    <a:lnR>
                      <a:noFill/>
                    </a:lnR>
                    <a:lnT>
                      <a:noFill/>
                    </a:lnT>
                    <a:lnB>
                      <a:noFill/>
                    </a:lnB>
                    <a:noFill/>
                  </a:tcPr>
                </a:tc>
                <a:tc>
                  <a:txBody>
                    <a:bodyPr anchor="t"/>
                    <a:lstStyle/>
                    <a:p>
                      <a:pPr algn="ctr">
                        <a:lnSpc>
                          <a:spcPct val="115000"/>
                        </a:lnSpc>
                      </a:pPr>
                      <a:r>
                        <a:rPr lang="en-US" sz="800" b="0" dirty="0">
                          <a:solidFill>
                            <a:srgbClr val="000000"/>
                          </a:solidFill>
                          <a:latin typeface="Arial"/>
                          <a:ea typeface="Arial"/>
                          <a:cs typeface="Arial"/>
                        </a:rPr>
                        <a:t>2013-05-09</a:t>
                      </a:r>
                    </a:p>
                  </a:txBody>
                  <a:tcPr marL="45720" marR="45720" marT="45720" marB="45720" anchor="t">
                    <a:lnL>
                      <a:noFill/>
                    </a:lnL>
                    <a:lnR>
                      <a:noFill/>
                    </a:lnR>
                    <a:lnT>
                      <a:noFill/>
                    </a:lnT>
                    <a:lnB>
                      <a:noFill/>
                    </a:lnB>
                    <a:noFill/>
                  </a:tcPr>
                </a:tc>
                <a:tc>
                  <a:txBody>
                    <a:bodyPr anchor="t"/>
                    <a:lstStyle/>
                    <a:p>
                      <a:pPr algn="r">
                        <a:lnSpc>
                          <a:spcPct val="115000"/>
                        </a:lnSpc>
                      </a:pPr>
                      <a:r>
                        <a:rPr lang="en-US" sz="800" b="0" dirty="0">
                          <a:solidFill>
                            <a:srgbClr val="000000"/>
                          </a:solidFill>
                          <a:latin typeface="Arial"/>
                          <a:ea typeface="Arial"/>
                          <a:cs typeface="Arial"/>
                        </a:rPr>
                        <a:t>0.106</a:t>
                      </a:r>
                    </a:p>
                  </a:txBody>
                  <a:tcPr marL="45720" marR="45720" marT="45720" marB="45720" anchor="t">
                    <a:lnL>
                      <a:noFill/>
                    </a:lnL>
                    <a:lnR>
                      <a:noFill/>
                    </a:lnR>
                    <a:lnT>
                      <a:noFill/>
                    </a:lnT>
                    <a:lnB>
                      <a:noFill/>
                    </a:lnB>
                    <a:noFill/>
                  </a:tcPr>
                </a:tc>
                <a:tc>
                  <a:txBody>
                    <a:bodyPr anchor="t"/>
                    <a:lstStyle/>
                    <a:p>
                      <a:pPr algn="ctr">
                        <a:lnSpc>
                          <a:spcPct val="115000"/>
                        </a:lnSpc>
                      </a:pPr>
                      <a:r>
                        <a:rPr lang="en-US" sz="800" b="0" dirty="0">
                          <a:solidFill>
                            <a:srgbClr val="000000"/>
                          </a:solidFill>
                          <a:latin typeface="Arial"/>
                          <a:ea typeface="Arial"/>
                          <a:cs typeface="Arial"/>
                        </a:rPr>
                        <a:t>3262</a:t>
                      </a:r>
                    </a:p>
                  </a:txBody>
                  <a:tcPr marL="45720" marR="45720" marT="45720" marB="45720" anchor="t">
                    <a:lnL>
                      <a:noFill/>
                    </a:lnL>
                    <a:lnR>
                      <a:noFill/>
                    </a:lnR>
                    <a:lnT>
                      <a:noFill/>
                    </a:lnT>
                    <a:lnB>
                      <a:noFill/>
                    </a:lnB>
                    <a:noFill/>
                  </a:tcPr>
                </a:tc>
                <a:tc>
                  <a:txBody>
                    <a:bodyPr anchor="t"/>
                    <a:lstStyle/>
                    <a:p>
                      <a:pPr algn="l">
                        <a:lnSpc>
                          <a:spcPct val="115000"/>
                        </a:lnSpc>
                      </a:pPr>
                      <a:r>
                        <a:rPr lang="en-US" sz="800" b="0" dirty="0">
                          <a:solidFill>
                            <a:srgbClr val="000000"/>
                          </a:solidFill>
                          <a:latin typeface="Arial"/>
                          <a:ea typeface="Arial"/>
                          <a:cs typeface="Arial"/>
                        </a:rPr>
                        <a:t>20684452</a:t>
                      </a:r>
                    </a:p>
                  </a:txBody>
                  <a:tcPr marL="45720" marR="45720" marT="45720" marB="45720" anchor="t">
                    <a:lnL>
                      <a:noFill/>
                    </a:lnL>
                    <a:lnR>
                      <a:noFill/>
                    </a:lnR>
                    <a:lnT>
                      <a:noFill/>
                    </a:lnT>
                    <a:lnB>
                      <a:noFill/>
                    </a:lnB>
                    <a:noFill/>
                  </a:tcPr>
                </a:tc>
              </a:tr>
            </a:tbl>
          </a:graphicData>
        </a:graphic>
      </p:graphicFrame>
      <p:sp>
        <p:nvSpPr>
          <p:cNvPr id="9999" name="Sources"/>
          <p:cNvSpPr txBox="1"/>
          <p:nvPr/>
        </p:nvSpPr>
        <p:spPr>
          <a:xfrm>
            <a:off x="453079" y="5930000"/>
            <a:ext cx="11282362" cy="540000"/>
          </a:xfrm>
          <a:prstGeom prst="rect">
            <a:avLst/>
          </a:prstGeom>
          <a:noFill/>
          <a:ln>
            <a:noFill/>
          </a:ln>
        </p:spPr>
        <p:txBody>
          <a:bodyPr wrap="square" anchor="t" lIns="91440" tIns="45720" rIns="91440" bIns="45720"/>
          <a:lstStyle/>
          <a:p>
            <a:r>
              <a:rPr lang="en-US" sz="800" kern="1200" dirty="0">
                <a:solidFill>
                  <a:srgbClr val="162029"/>
                </a:solidFill>
                <a:latin typeface="Arial"/>
                <a:ea typeface="Arial"/>
                <a:cs typeface="Arial"/>
              </a:rPr>
              <a:t>FSRS / SAM.gov first-tier subaward pull, prime new-construction PIIDs; fields shown are native to the pull. Program, family and work type are classified downstream from the vendor, not the award text.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ronic Theme">
  <a:themeElements>
    <a:clrScheme name="Saronic">
      <a:dk1>
        <a:srgbClr val="162029"/>
      </a:dk1>
      <a:lt1>
        <a:srgbClr val="FFFFFF"/>
      </a:lt1>
      <a:dk2>
        <a:srgbClr val="44505C"/>
      </a:dk2>
      <a:lt2>
        <a:srgbClr val="F2F6FA"/>
      </a:lt2>
      <a:accent1>
        <a:srgbClr val="79838F"/>
      </a:accent1>
      <a:accent2>
        <a:srgbClr val="1D4D68"/>
      </a:accent2>
      <a:accent3>
        <a:srgbClr val="486D82"/>
      </a:accent3>
      <a:accent4>
        <a:srgbClr val="89A2B0"/>
      </a:accent4>
      <a:accent5>
        <a:srgbClr val="AFC2CC"/>
      </a:accent5>
      <a:accent6>
        <a:srgbClr val="D8E3EB"/>
      </a:accent6>
      <a:hlink>
        <a:srgbClr val="1D4D68"/>
      </a:hlink>
      <a:folHlink>
        <a:srgbClr val="89A2B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7799b1f-9a79-4131-92f4-d7e1a1e8fbf9}" enabled="0" method="" siteId="{97799b1f-9a79-4131-92f4-d7e1a1e8fbf9}" removed="1"/>
</clbl:labelList>
</file>

<file path=docProps/app.xml><?xml version="1.0" encoding="utf-8"?>
<Properties xmlns="http://schemas.openxmlformats.org/officeDocument/2006/extended-properties" xmlns:vt="http://schemas.openxmlformats.org/officeDocument/2006/docPropsVTypes">
  <Application>deck_primary</Application>
  <PresentationFormat>Widescreen</PresentationFormat>
  <Slides>14</Slides>
  <Notes>0</Notes>
  <HiddenSlides>0</HiddenSlides>
  <MMClips>0</MMClip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Distributed Shipbuilding - New Construction</dc:title>
  <dc:creator>deck_primary build_deck.py</dc:creator>
  <cp:lastModifiedBy>deck_primary build_deck.py</cp:lastModifiedBy>
  <cp:revision>1</cp:revision>
  <dcterms:created xsi:type="dcterms:W3CDTF">2026-06-17T21:14:26Z</dcterms:created>
  <dcterms:modified xsi:type="dcterms:W3CDTF">2026-06-17T21:14:26Z</dcterms:modified>
</cp:coreProperties>
</file>