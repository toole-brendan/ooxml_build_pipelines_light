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embeddings/Microsoft_Excel_Worksheet3.xlsx" ContentType="application/vnd.openxmlformats-officedocument.spreadsheetml.sheet"/>
  <Override PartName="/ppt/embeddings/Microsoft_Excel_Worksheet4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Sheet1!$B$2:$B$3</c:f>
              <c:numCache>
                <c:formatCode>"$"0"B"</c:formatCode>
                <c:ptCount val="2"/>
                <c:pt idx="0">
                  <c:v>3.31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Sheet1!$C$2:$C$3</c:f>
              <c:numCache>
                <c:formatCode>"$"0"B"</c:formatCode>
                <c:ptCount val="2"/>
                <c:pt idx="0">
                  <c:v>0.573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Broad component SAM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Combined supplier TAM</c:v>
                </c:pt>
                <c:pt idx="1">
                  <c:v>Broad component SAM</c:v>
                </c:pt>
              </c:strCache>
            </c:strRef>
          </c:cat>
          <c:val>
            <c:numRef>
              <c:f>Sheet1!$D$2:$D$3</c:f>
              <c:numCache>
                <c:formatCode>"$"0"B"</c:formatCode>
                <c:ptCount val="2"/>
                <c:pt idx="1">
                  <c:v>3.28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0&quot;B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79838F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Sheet1!$B$2:$B$7</c:f>
              <c:numCache>
                <c:formatCode>"$"0.0"B"</c:formatCode>
                <c:ptCount val="6"/>
                <c:pt idx="0">
                  <c:v>0.246</c:v>
                </c:pt>
                <c:pt idx="1">
                  <c:v>0.572</c:v>
                </c:pt>
                <c:pt idx="2">
                  <c:v>0.417</c:v>
                </c:pt>
                <c:pt idx="3">
                  <c:v>0.637</c:v>
                </c:pt>
                <c:pt idx="4">
                  <c:v>1.225</c:v>
                </c:pt>
                <c:pt idx="5">
                  <c:v>0.341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  <c:pt idx="5">
                  <c:v>FY2027</c:v>
                </c:pt>
              </c:strCache>
            </c:strRef>
          </c:cat>
          <c:val>
            <c:numRef>
              <c:f>Sheet1!$C$2:$C$7</c:f>
              <c:numCache>
                <c:formatCode>"$"0.0"B"</c:formatCode>
                <c:ptCount val="6"/>
                <c:pt idx="0">
                  <c:v>1.667</c:v>
                </c:pt>
                <c:pt idx="1">
                  <c:v>1.785</c:v>
                </c:pt>
                <c:pt idx="2">
                  <c:v>5.403</c:v>
                </c:pt>
                <c:pt idx="3">
                  <c:v>1.866</c:v>
                </c:pt>
                <c:pt idx="4">
                  <c:v>3.606</c:v>
                </c:pt>
                <c:pt idx="5">
                  <c:v>5.514</c:v>
                </c:pt>
              </c:numCache>
            </c:numRef>
          </c:val>
        </c:ser>
        <c:gapWidth val="9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0.0&quot;B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Submarine</c:v>
                </c:pt>
              </c:strCache>
            </c:strRef>
          </c:tx>
          <c:spPr>
            <a:solidFill>
              <a:srgbClr val="1D4D68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Sheet1!$B$2:$B$9</c:f>
              <c:numCache>
                <c:formatCode>"$"#,##0"M"</c:formatCode>
                <c:ptCount val="8"/>
                <c:pt idx="0">
                  <c:v>1230</c:v>
                </c:pt>
                <c:pt idx="1">
                  <c:v>632</c:v>
                </c:pt>
                <c:pt idx="2">
                  <c:v>558</c:v>
                </c:pt>
                <c:pt idx="3">
                  <c:v>109</c:v>
                </c:pt>
                <c:pt idx="4">
                  <c:v>177</c:v>
                </c:pt>
                <c:pt idx="5">
                  <c:v>141</c:v>
                </c:pt>
                <c:pt idx="6">
                  <c:v>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DDG</c:v>
                </c:pt>
              </c:strCache>
            </c:strRef>
          </c:tx>
          <c:spPr>
            <a:solidFill>
              <a:srgbClr val="486D82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Sheet1!$C$2:$C$9</c:f>
              <c:numCache>
                <c:formatCode>"$"#,##0"M"</c:formatCode>
                <c:ptCount val="8"/>
                <c:pt idx="0">
                  <c:v>33</c:v>
                </c:pt>
                <c:pt idx="1">
                  <c:v>30</c:v>
                </c:pt>
                <c:pt idx="2">
                  <c:v>32</c:v>
                </c:pt>
                <c:pt idx="3">
                  <c:v>225</c:v>
                </c:pt>
                <c:pt idx="4">
                  <c:v>15</c:v>
                </c:pt>
                <c:pt idx="5">
                  <c:v>10</c:v>
                </c:pt>
                <c:pt idx="6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Residual</c:v>
                </c:pt>
              </c:strCache>
            </c:strRef>
          </c:tx>
          <c:spPr>
            <a:solidFill>
              <a:srgbClr val="89A2B0"/>
            </a:solidFill>
            <a:ln w="9525">
              <a:solidFill>
                <a:srgbClr val="FFFFFF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Electrical and power</c:v>
                </c:pt>
                <c:pt idx="1">
                  <c:v>Piping, valves, and pumps</c:v>
                </c:pt>
                <c:pt idx="2">
                  <c:v>Structural fabrication and pre-outfit</c:v>
                </c:pt>
                <c:pt idx="3">
                  <c:v>Machining</c:v>
                </c:pt>
                <c:pt idx="4">
                  <c:v>Coatings and insulation</c:v>
                </c:pt>
                <c:pt idx="5">
                  <c:v>Castings and forgings</c:v>
                </c:pt>
                <c:pt idx="6">
                  <c:v>HVAC and ventilation</c:v>
                </c:pt>
                <c:pt idx="7">
                  <c:v>Residual</c:v>
                </c:pt>
              </c:strCache>
            </c:strRef>
          </c:cat>
          <c:val>
            <c:numRef>
              <c:f>Sheet1!$D$2:$D$9</c:f>
              <c:numCache>
                <c:formatCode>"$"#,##0"M"</c:formatCode>
                <c:ptCount val="8"/>
                <c:pt idx="7">
                  <c:v>596</c:v>
                </c:pt>
              </c:numCache>
            </c:numRef>
          </c:val>
        </c:ser>
        <c:gapWidth val="6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#,##0&quot;M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annual scenario SAM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D4D68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486D82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89A2B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AFC2CC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D8E3EB"/>
              </a:solidFill>
              <a:ln w="9525">
                <a:solidFill>
                  <a:srgbClr val="FFFFFF"/>
                </a:solidFill>
              </a:ln>
            </c:spPr>
          </c:dPt>
          <c:dLbls>
            <c:txPr>
              <a:bodyPr rot="0" spcFirstLastPara="1" vertOverflow="ellipsis" wrap="square" anchor="ctr" anchorCtr="1"/>
              <a:lstStyle/>
              <a:p>
                <a:pPr>
                  <a:defRPr sz="8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Broad mfg (envelope)</c:v>
                </c:pt>
                <c:pt idx="1">
                  <c:v>HM&amp;E</c:v>
                </c:pt>
                <c:pt idx="2">
                  <c:v>Electrical/power</c:v>
                </c:pt>
                <c:pt idx="3">
                  <c:v>Metal components</c:v>
                </c:pt>
                <c:pt idx="4">
                  <c:v>Modular assy</c:v>
                </c:pt>
              </c:strCache>
            </c:strRef>
          </c:cat>
          <c:val>
            <c:numRef>
              <c:f>Sheet1!$B$2:$B$6</c:f>
              <c:numCache>
                <c:formatCode>"$"0.00"B"</c:formatCode>
                <c:ptCount val="5"/>
                <c:pt idx="0">
                  <c:v>3.28</c:v>
                </c:pt>
                <c:pt idx="1">
                  <c:v>2.35</c:v>
                </c:pt>
                <c:pt idx="2">
                  <c:v>1.26</c:v>
                </c:pt>
                <c:pt idx="3">
                  <c:v>1.07</c:v>
                </c:pt>
                <c:pt idx="4">
                  <c:v>0.381</c:v>
                </c:pt>
              </c:numCache>
            </c:numRef>
          </c:val>
        </c:ser>
        <c:gapWidth val="64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numFmt formatCode="&quot;$&quot;0.0&quot;B&quot;" sourceLinked="0"/>
        <c:majorTickMark val="out"/>
        <c:minorTickMark val="none"/>
        <c:tickLblPos val="nextTo"/>
        <c:spPr>
          <a:ln w="9525" cap="flat">
            <a:solidFill>
              <a:srgbClr val="162029"/>
            </a:solidFill>
            <a:prstDash val="solid"/>
          </a:ln>
        </c:spPr>
        <c:txPr>
          <a:bodyPr rot="0" spcFirstLastPara="1" vertOverflow="ellipsis" wrap="square" anchor="ctr" anchorCtr="1"/>
          <a:lstStyle/>
          <a:p>
            <a:pPr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virginia_construction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verTitle"/>
          <p:cNvSpPr>
            <a:spLocks noGrp="1"/>
          </p:cNvSpPr>
          <p:nvPr>
            <p:ph type="body" sz="quarter" idx="12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Distributed Shipbuilding Supplier Market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DDG and submarine new-construction component suppliers, FY2022–FY2027</a:t>
            </a:r>
          </a:p>
        </p:txBody>
      </p:sp>
      <p:sp>
        <p:nvSpPr>
          <p:cNvPr id="101" name="CoverFoot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kern="1200" dirty="0"/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Executive Summary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TAM and SAM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TAM and SAM | Combined supplier opportunity is ~$3.9B per year, with ~$3.3B addressable as broad component SAM.</a:t>
            </a:r>
          </a:p>
        </p:txBody>
      </p:sp>
      <p:sp>
        <p:nvSpPr>
          <p:cNvPr id="10" name="Qualifier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model-period averages, annualized; nominal then-year dollars.</a:t>
            </a:r>
          </a:p>
        </p:txBody>
      </p:sp>
      <p:sp>
        <p:nvSpPr>
          <p:cNvPr id="20" name="HeroKpi"/>
          <p:cNvSpPr txBox="1"/>
          <p:nvPr/>
        </p:nvSpPr>
        <p:spPr>
          <a:xfrm>
            <a:off x="45307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$3.88B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$23.28B FY2022–FY2027 cumulative</a:t>
            </a:r>
          </a:p>
        </p:txBody>
      </p:sp>
      <p:sp>
        <p:nvSpPr>
          <p:cNvPr id="21" name="HeroKpi"/>
          <p:cNvSpPr txBox="1"/>
          <p:nvPr/>
        </p:nvSpPr>
        <p:spPr>
          <a:xfrm>
            <a:off x="6184259" y="1601600"/>
            <a:ext cx="5551180" cy="82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80000" tIns="40000" rIns="180000" bIns="4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BROAD COMPONENT SAM</a:t>
            </a:r>
          </a:p>
          <a:p>
            <a:pPr algn="ctr">
              <a:lnSpc>
                <a:spcPct val="100000"/>
              </a:lnSpc>
              <a:spcAft>
                <a:spcPts val="8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$3.28B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$19.70B FY2022–FY2027 cumulative</a:t>
            </a:r>
          </a:p>
        </p:txBody>
      </p:sp>
      <p:sp>
        <p:nvSpPr>
          <p:cNvPr id="30" name="SupportCard"/>
          <p:cNvSpPr txBox="1"/>
          <p:nvPr/>
        </p:nvSpPr>
        <p:spPr>
          <a:xfrm>
            <a:off x="453079" y="2461600"/>
            <a:ext cx="2685590" cy="82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$3.31B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~85% of combined TAM</a:t>
            </a:r>
          </a:p>
        </p:txBody>
      </p:sp>
      <p:sp>
        <p:nvSpPr>
          <p:cNvPr id="31" name="SupportCard"/>
          <p:cNvSpPr txBox="1"/>
          <p:nvPr/>
        </p:nvSpPr>
        <p:spPr>
          <a:xfrm>
            <a:off x="3318669" y="2461600"/>
            <a:ext cx="2685590" cy="82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TAM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$573M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pool, distributed-production proof point</a:t>
            </a:r>
          </a:p>
        </p:txBody>
      </p:sp>
      <p:sp>
        <p:nvSpPr>
          <p:cNvPr id="32" name="SupportCard"/>
          <p:cNvSpPr txBox="1"/>
          <p:nvPr/>
        </p:nvSpPr>
        <p:spPr>
          <a:xfrm>
            <a:off x="6184259" y="2461600"/>
            <a:ext cx="2685590" cy="8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00000"/>
              </a:lnSpc>
              <a:spcAft>
                <a:spcPts val="7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$381M per year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Entity-flagged module-assembly work</a:t>
            </a:r>
          </a:p>
        </p:txBody>
      </p:sp>
      <p:sp>
        <p:nvSpPr>
          <p:cNvPr id="33" name="SupportCard"/>
          <p:cNvSpPr txBox="1"/>
          <p:nvPr/>
        </p:nvSpPr>
        <p:spPr>
          <a:xfrm>
            <a:off x="9049849" y="2461600"/>
            <a:ext cx="2685590" cy="82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35000" rIns="90000" bIns="35000"/>
          <a:lstStyle/>
          <a:p>
            <a:pPr algn="ctr">
              <a:lnSpc>
                <a:spcPct val="100000"/>
              </a:lnSpc>
              <a:spcAft>
                <a:spcPts val="9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INCLUDES MODULAR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Seven-bucket envelope, not incremental to modular</a:t>
            </a:r>
          </a:p>
        </p:txBody>
      </p:sp>
      <p:sp>
        <p:nvSpPr>
          <p:cNvPr id="40" name="UnitsCaption"/>
          <p:cNvSpPr txBox="1"/>
          <p:nvPr/>
        </p:nvSpPr>
        <p:spPr>
          <a:xfrm>
            <a:off x="453079" y="3341600"/>
            <a:ext cx="65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stacked by program vs broad component SAM, $B per year; FY2022–FY2027 average, nominal then-year.</a:t>
            </a:r>
          </a:p>
        </p:txBody>
      </p:sp>
      <p:sp>
        <p:nvSpPr>
          <p:cNvPr id="41" name="ColumnTotal"/>
          <p:cNvSpPr txBox="1"/>
          <p:nvPr/>
        </p:nvSpPr>
        <p:spPr>
          <a:xfrm>
            <a:off x="1678079" y="3601600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$3.88B</a:t>
            </a:r>
          </a:p>
        </p:txBody>
      </p:sp>
      <p:sp>
        <p:nvSpPr>
          <p:cNvPr id="42" name="ColumnTotal"/>
          <p:cNvSpPr txBox="1"/>
          <p:nvPr/>
        </p:nvSpPr>
        <p:spPr>
          <a:xfrm>
            <a:off x="4708079" y="3601600"/>
            <a:ext cx="13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$3.28B</a:t>
            </a:r>
          </a:p>
        </p:txBody>
      </p:sp>
      <p:graphicFrame>
        <p:nvGraphicFramePr>
          <p:cNvPr id="50" name="ExecutiveTamSamColumn"/>
          <p:cNvGraphicFramePr/>
          <p:nvPr/>
        </p:nvGraphicFramePr>
        <p:xfrm>
          <a:off x="453079" y="3851600"/>
          <a:ext cx="6500000" cy="124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0" name="ChartKeySwatch"/>
          <p:cNvSpPr txBox="1"/>
          <p:nvPr/>
        </p:nvSpPr>
        <p:spPr>
          <a:xfrm>
            <a:off x="453079" y="5172000"/>
            <a:ext cx="96000" cy="96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1" name="ChartKeyLabel"/>
          <p:cNvSpPr txBox="1"/>
          <p:nvPr/>
        </p:nvSpPr>
        <p:spPr>
          <a:xfrm>
            <a:off x="599079" y="5120000"/>
            <a:ext cx="651218" cy="20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82" name="ChartKeySwatch"/>
          <p:cNvSpPr txBox="1"/>
          <p:nvPr/>
        </p:nvSpPr>
        <p:spPr>
          <a:xfrm>
            <a:off x="1450297" y="5172000"/>
            <a:ext cx="96000" cy="96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3" name="ChartKeyLabel"/>
          <p:cNvSpPr txBox="1"/>
          <p:nvPr/>
        </p:nvSpPr>
        <p:spPr>
          <a:xfrm>
            <a:off x="1596297" y="5120000"/>
            <a:ext cx="246406" cy="20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84" name="ChartKeySwatch"/>
          <p:cNvSpPr txBox="1"/>
          <p:nvPr/>
        </p:nvSpPr>
        <p:spPr>
          <a:xfrm>
            <a:off x="2042703" y="5172000"/>
            <a:ext cx="96000" cy="96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85" name="ChartKeyLabel"/>
          <p:cNvSpPr txBox="1"/>
          <p:nvPr/>
        </p:nvSpPr>
        <p:spPr>
          <a:xfrm>
            <a:off x="2188703" y="5120000"/>
            <a:ext cx="1325906" cy="20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SAM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7273079" y="3341600"/>
            <a:ext cx="4462362" cy="197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pool is submarine-led, while DDG supplies the distributed-production proof point.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Virginia/Columbia contributes $3.31B of the $3.88B annual TAM; DDG adds $573M per year and carries the clearest public distributed-production signal.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SAM is the serviceable envelope, not a capture forecast.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$3.28B per year across the seven named buckets; modular assemblies is a narrower $381M entity-flagged cut inside that envelope.</a:t>
            </a:r>
          </a:p>
        </p:txBody>
      </p:sp>
      <p:sp>
        <p:nvSpPr>
          <p:cNvPr id="70" name="FocalCallout"/>
          <p:cNvSpPr txBox="1"/>
          <p:nvPr/>
        </p:nvSpPr>
        <p:spPr>
          <a:xfrm>
            <a:off x="453079" y="5430000"/>
            <a:ext cx="11282362" cy="44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200000" tIns="60000" rIns="20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answer is a submarine-led supplier pool near $3.9B per year, with DDG as the distributed-production proof point.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award corpus and parent-prime PIID scope; (3) FFATA/FSRS subaward records and the operating-entity supplier registry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Market Landscape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The opportunity is the component layer yards buy out, and demand is funded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Layer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Layer | The opportunity sits between Navy budget authority and prime-yard construction, in component work yards buy out rather than self-perform.</a:t>
            </a:r>
          </a:p>
        </p:txBody>
      </p:sp>
      <p:cxnSp>
        <p:nvCxnSpPr>
          <p:cNvPr id="100" name="FundDrop"/>
          <p:cNvCxnSpPr/>
          <p:nvPr/>
        </p:nvCxnSpPr>
        <p:spPr>
          <a:xfrm>
            <a:off x="220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1" name="FundSplit"/>
          <p:cNvCxnSpPr/>
          <p:nvPr/>
        </p:nvCxnSpPr>
        <p:spPr>
          <a:xfrm>
            <a:off x="131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" name="ToPrimeL"/>
          <p:cNvCxnSpPr/>
          <p:nvPr/>
        </p:nvCxnSpPr>
        <p:spPr>
          <a:xfrm>
            <a:off x="131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3" name="ToPrimeR"/>
          <p:cNvCxnSpPr/>
          <p:nvPr/>
        </p:nvCxnSpPr>
        <p:spPr>
          <a:xfrm>
            <a:off x="310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4" name="PrimeLDrop"/>
          <p:cNvCxnSpPr/>
          <p:nvPr/>
        </p:nvCxnSpPr>
        <p:spPr>
          <a:xfrm>
            <a:off x="131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5" name="PrimeRDrop"/>
          <p:cNvCxnSpPr/>
          <p:nvPr/>
        </p:nvCxnSpPr>
        <p:spPr>
          <a:xfrm>
            <a:off x="310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6" name="PrimeMerge"/>
          <p:cNvCxnSpPr/>
          <p:nvPr/>
        </p:nvCxnSpPr>
        <p:spPr>
          <a:xfrm>
            <a:off x="131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7" name="ToInScope"/>
          <p:cNvCxnSpPr/>
          <p:nvPr/>
        </p:nvCxnSpPr>
        <p:spPr>
          <a:xfrm>
            <a:off x="220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8" name="ToChip"/>
          <p:cNvCxnSpPr/>
          <p:nvPr/>
        </p:nvCxnSpPr>
        <p:spPr>
          <a:xfrm>
            <a:off x="220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9" name="ContextElbow"/>
          <p:cNvCxnSpPr/>
          <p:nvPr/>
        </p:nvCxnSpPr>
        <p:spPr>
          <a:xfrm flipH="1">
            <a:off x="12805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10" name="ContextDrop"/>
          <p:cNvCxnSpPr/>
          <p:nvPr/>
        </p:nvCxnSpPr>
        <p:spPr>
          <a:xfrm>
            <a:off x="1280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20" name="FundDrop"/>
          <p:cNvCxnSpPr/>
          <p:nvPr/>
        </p:nvCxnSpPr>
        <p:spPr>
          <a:xfrm>
            <a:off x="5998079" y="24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1" name="FundSplit"/>
          <p:cNvCxnSpPr/>
          <p:nvPr/>
        </p:nvCxnSpPr>
        <p:spPr>
          <a:xfrm>
            <a:off x="5105579" y="253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2" name="ToPrimeL"/>
          <p:cNvCxnSpPr/>
          <p:nvPr/>
        </p:nvCxnSpPr>
        <p:spPr>
          <a:xfrm>
            <a:off x="5105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3" name="ToPrimeR"/>
          <p:cNvCxnSpPr/>
          <p:nvPr/>
        </p:nvCxnSpPr>
        <p:spPr>
          <a:xfrm>
            <a:off x="6890579" y="253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4" name="PrimeLDrop"/>
          <p:cNvCxnSpPr/>
          <p:nvPr/>
        </p:nvCxnSpPr>
        <p:spPr>
          <a:xfrm>
            <a:off x="5105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5" name="PrimeRDrop"/>
          <p:cNvCxnSpPr/>
          <p:nvPr/>
        </p:nvCxnSpPr>
        <p:spPr>
          <a:xfrm>
            <a:off x="6890579" y="30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6" name="PrimeMerge"/>
          <p:cNvCxnSpPr/>
          <p:nvPr/>
        </p:nvCxnSpPr>
        <p:spPr>
          <a:xfrm>
            <a:off x="5105579" y="3111600"/>
            <a:ext cx="178500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27" name="ToInScope"/>
          <p:cNvCxnSpPr/>
          <p:nvPr/>
        </p:nvCxnSpPr>
        <p:spPr>
          <a:xfrm>
            <a:off x="5998079" y="3111600"/>
            <a:ext cx="0" cy="1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8" name="ToChip"/>
          <p:cNvCxnSpPr/>
          <p:nvPr/>
        </p:nvCxnSpPr>
        <p:spPr>
          <a:xfrm>
            <a:off x="5998079" y="3651600"/>
            <a:ext cx="0" cy="90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29" name="ContextElbow"/>
          <p:cNvCxnSpPr/>
          <p:nvPr/>
        </p:nvCxnSpPr>
        <p:spPr>
          <a:xfrm>
            <a:off x="5998079" y="3721600"/>
            <a:ext cx="927500" cy="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cxnSp>
        <p:nvCxnSpPr>
          <p:cNvPr id="130" name="ContextDrop"/>
          <p:cNvCxnSpPr/>
          <p:nvPr/>
        </p:nvCxnSpPr>
        <p:spPr>
          <a:xfrm>
            <a:off x="6925579" y="3721600"/>
            <a:ext cx="0" cy="110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</p:spPr>
      </p:cxnSp>
      <p:sp>
        <p:nvSpPr>
          <p:cNvPr id="10" name="ThesisStrip"/>
          <p:cNvSpPr txBox="1"/>
          <p:nvPr/>
        </p:nvSpPr>
        <p:spPr>
          <a:xfrm>
            <a:off x="453079" y="1371600"/>
            <a:ext cx="7300000" cy="3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60000" tIns="40000" rIns="16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 component work sits inside Navy new-construction funding, not total ship cost.</a:t>
            </a:r>
          </a:p>
        </p:txBody>
      </p:sp>
      <p:sp>
        <p:nvSpPr>
          <p:cNvPr id="11" name="LaneHeader"/>
          <p:cNvSpPr txBox="1"/>
          <p:nvPr/>
        </p:nvSpPr>
        <p:spPr>
          <a:xfrm>
            <a:off x="45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cxnSp>
        <p:nvCxnSpPr>
          <p:cNvPr id="12" name="LaneRule"/>
          <p:cNvCxnSpPr/>
          <p:nvPr/>
        </p:nvCxnSpPr>
        <p:spPr>
          <a:xfrm>
            <a:off x="45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LaneHeader"/>
          <p:cNvSpPr txBox="1"/>
          <p:nvPr/>
        </p:nvSpPr>
        <p:spPr>
          <a:xfrm>
            <a:off x="4243079" y="1761600"/>
            <a:ext cx="351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cxnSp>
        <p:nvCxnSpPr>
          <p:cNvPr id="14" name="LaneRule"/>
          <p:cNvCxnSpPr/>
          <p:nvPr/>
        </p:nvCxnSpPr>
        <p:spPr>
          <a:xfrm>
            <a:off x="4243079" y="2001600"/>
            <a:ext cx="3510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" name="FundingNode"/>
          <p:cNvSpPr txBox="1"/>
          <p:nvPr/>
        </p:nvSpPr>
        <p:spPr>
          <a:xfrm>
            <a:off x="45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 item 2122</a:t>
            </a:r>
          </a:p>
        </p:txBody>
      </p:sp>
      <p:sp>
        <p:nvSpPr>
          <p:cNvPr id="21" name="PrimeNode"/>
          <p:cNvSpPr txBox="1"/>
          <p:nvPr/>
        </p:nvSpPr>
        <p:spPr>
          <a:xfrm>
            <a:off x="45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Bath Iron Works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2" name="PrimeNode"/>
          <p:cNvSpPr txBox="1"/>
          <p:nvPr/>
        </p:nvSpPr>
        <p:spPr>
          <a:xfrm>
            <a:off x="223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Ingalls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yard]</a:t>
            </a:r>
          </a:p>
        </p:txBody>
      </p:sp>
      <p:sp>
        <p:nvSpPr>
          <p:cNvPr id="23" name="InScopeNode"/>
          <p:cNvSpPr txBox="1"/>
          <p:nvPr/>
        </p:nvSpPr>
        <p:spPr>
          <a:xfrm>
            <a:off x="45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Yard-side non-GFE component suppliers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40" name="FundingNode"/>
          <p:cNvSpPr txBox="1"/>
          <p:nvPr/>
        </p:nvSpPr>
        <p:spPr>
          <a:xfrm>
            <a:off x="4243079" y="2071600"/>
            <a:ext cx="3510000" cy="36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SCN funding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and Columbia</a:t>
            </a:r>
          </a:p>
        </p:txBody>
      </p:sp>
      <p:sp>
        <p:nvSpPr>
          <p:cNvPr id="41" name="PrimeNode"/>
          <p:cNvSpPr txBox="1"/>
          <p:nvPr/>
        </p:nvSpPr>
        <p:spPr>
          <a:xfrm>
            <a:off x="4243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GDEB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[prime construction]</a:t>
            </a:r>
          </a:p>
        </p:txBody>
      </p:sp>
      <p:sp>
        <p:nvSpPr>
          <p:cNvPr id="42" name="PrimeNode"/>
          <p:cNvSpPr txBox="1"/>
          <p:nvPr/>
        </p:nvSpPr>
        <p:spPr>
          <a:xfrm>
            <a:off x="6028079" y="2631600"/>
            <a:ext cx="1725000" cy="38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anchor="ctr" lIns="50000" tIns="30000" rIns="50000" bIns="3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Newport News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[team-build context]</a:t>
            </a:r>
          </a:p>
        </p:txBody>
      </p:sp>
      <p:sp>
        <p:nvSpPr>
          <p:cNvPr id="43" name="InScopeNode"/>
          <p:cNvSpPr txBox="1"/>
          <p:nvPr/>
        </p:nvSpPr>
        <p:spPr>
          <a:xfrm>
            <a:off x="4243079" y="3211600"/>
            <a:ext cx="3510000" cy="4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90000" tIns="40000" rIns="90000" bIns="40000"/>
          <a:lstStyle/>
          <a:p>
            <a:pPr algn="ctr">
              <a:lnSpc>
                <a:spcPct val="104000"/>
              </a:lnSpc>
              <a:spcAft>
                <a:spcPts val="5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Non-nuclear supplier component layer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[in scope]</a:t>
            </a:r>
          </a:p>
        </p:txBody>
      </p:sp>
      <p:sp>
        <p:nvSpPr>
          <p:cNvPr id="50" name="UnifyingSupplierChip"/>
          <p:cNvSpPr txBox="1"/>
          <p:nvPr/>
        </p:nvSpPr>
        <p:spPr>
          <a:xfrm>
            <a:off x="453079" y="4551600"/>
            <a:ext cx="7300000" cy="54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50000" rIns="160000" bIns="50000"/>
          <a:lstStyle/>
          <a:p>
            <a:pPr algn="ctr">
              <a:lnSpc>
                <a:spcPct val="104000"/>
              </a:lnSpc>
              <a:spcAft>
                <a:spcPts val="8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Distributed supplier work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Structural/pre-outfit, machining, castings/forgings, piping/valves/pumps, electrical/power, HVAC, coatings/insulation</a:t>
            </a:r>
          </a:p>
        </p:txBody>
      </p:sp>
      <p:sp>
        <p:nvSpPr>
          <p:cNvPr id="55" name="DefinitionGuardrail"/>
          <p:cNvSpPr txBox="1"/>
          <p:nvPr/>
        </p:nvSpPr>
        <p:spPr>
          <a:xfrm>
            <a:off x="453079" y="5131600"/>
            <a:ext cx="73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and power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means ship power, distribution, and generation; combat and mission electronics leave the boundary before bucket assignment.</a:t>
            </a:r>
          </a:p>
        </p:txBody>
      </p:sp>
      <p:sp>
        <p:nvSpPr>
          <p:cNvPr id="60" name="ExclusionTag"/>
          <p:cNvSpPr txBox="1"/>
          <p:nvPr/>
        </p:nvSpPr>
        <p:spPr>
          <a:xfrm>
            <a:off x="533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GFE; weapons and sensors; sustainment/depot; FFATA-visible evidence floor</a:t>
            </a:r>
          </a:p>
        </p:txBody>
      </p:sp>
      <p:sp>
        <p:nvSpPr>
          <p:cNvPr id="61" name="ExclusionTag"/>
          <p:cNvSpPr txBox="1"/>
          <p:nvPr/>
        </p:nvSpPr>
        <p:spPr>
          <a:xfrm>
            <a:off x="6178079" y="3831600"/>
            <a:ext cx="1495000" cy="60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55000" tIns="26000" rIns="55000" bIns="26000"/>
          <a:lstStyle/>
          <a:p>
            <a:pPr algn="ctr">
              <a:lnSpc>
                <a:spcPct val="100000"/>
              </a:lnSpc>
              <a:spcAft>
                <a:spcPts val="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and context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GFE/GFP; nuclear reactor plant; SIB capacity funding; depot/sustainment</a:t>
            </a:r>
          </a:p>
        </p:txBody>
      </p:sp>
      <p:sp>
        <p:nvSpPr>
          <p:cNvPr id="70" name="Legend"/>
          <p:cNvSpPr txBox="1"/>
          <p:nvPr/>
        </p:nvSpPr>
        <p:spPr>
          <a:xfrm>
            <a:off x="453079" y="549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Blue = counted supplier layer; gray = excluded or context only; outline = prime or team-build layer.</a:t>
            </a:r>
          </a:p>
        </p:txBody>
      </p:sp>
      <p:sp>
        <p:nvSpPr>
          <p:cNvPr id="80" name="Commentary"/>
          <p:cNvSpPr txBox="1"/>
          <p:nvPr/>
        </p:nvSpPr>
        <p:spPr>
          <a:xfrm>
            <a:off x="8113079" y="1761600"/>
            <a:ext cx="3622362" cy="3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0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primes differ, but the serviceable cut is the same.</a:t>
            </a:r>
          </a:p>
          <a:p>
            <a:pPr marL="142875" indent="-142875">
              <a:lnSpc>
                <a:spcPct val="115000"/>
              </a:lnSpc>
              <a:spcAft>
                <a:spcPts val="24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dollars run through Bath Iron Works and Ingalls; submarine dollars run through Electric Boat and Newport News. In both lanes, the counted layer is supplier component work outside GFE, sustainment, and yard self-perform.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subawards prove the layer, not its full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FFATA-visible filings provide supplier names and work-type cues; first-tier visibility thins below the first tier and differs by yard.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shipbuilding budget justification and line-item structure, FY2022–FY2027; (2) prime-yard place-of-performance award corpus; (3) FFATA/FSRS first-tier subaward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Definition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Scope and Cost Funnel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Scope and Cost Funnel | Sizing starts at new-construction budget lines and narrows to non-GFE Basic Construction, not total ship cost.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cumulative, nominal then-year $B. Each funnel uses its own vertical scale and narrows total ship estimate to the non-GFE Basic Construction base.</a:t>
            </a:r>
          </a:p>
        </p:txBody>
      </p:sp>
      <p:sp>
        <p:nvSpPr>
          <p:cNvPr id="20" name="ProgramChip"/>
          <p:cNvSpPr txBox="1"/>
          <p:nvPr/>
        </p:nvSpPr>
        <p:spPr>
          <a:xfrm>
            <a:off x="1223669" y="1661600"/>
            <a:ext cx="3900000" cy="30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DDG, FY2022–FY2027 portfolio</a:t>
            </a:r>
          </a:p>
        </p:txBody>
      </p:sp>
      <p:sp>
        <p:nvSpPr>
          <p:cNvPr id="21" name="ProgramChip"/>
          <p:cNvSpPr txBox="1"/>
          <p:nvPr/>
        </p:nvSpPr>
        <p:spPr>
          <a:xfrm>
            <a:off x="7064850" y="1661600"/>
            <a:ext cx="3900000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Submarine, FY2022–FY2027 portfolio</a:t>
            </a:r>
          </a:p>
        </p:txBody>
      </p:sp>
      <p:cxnSp>
        <p:nvCxnSpPr>
          <p:cNvPr id="180" name="WfGrid"/>
          <p:cNvCxnSpPr/>
          <p:nvPr/>
        </p:nvCxnSpPr>
        <p:spPr>
          <a:xfrm>
            <a:off x="863079" y="3910000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81" name="WfGrid"/>
          <p:cNvCxnSpPr/>
          <p:nvPr/>
        </p:nvCxnSpPr>
        <p:spPr>
          <a:xfrm>
            <a:off x="863079" y="3366112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82" name="WfGrid"/>
          <p:cNvCxnSpPr/>
          <p:nvPr/>
        </p:nvCxnSpPr>
        <p:spPr>
          <a:xfrm>
            <a:off x="863079" y="2822224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83" name="WfGrid"/>
          <p:cNvCxnSpPr/>
          <p:nvPr/>
        </p:nvCxnSpPr>
        <p:spPr>
          <a:xfrm>
            <a:off x="863079" y="2278336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40" name="WfAxis"/>
          <p:cNvCxnSpPr/>
          <p:nvPr/>
        </p:nvCxnSpPr>
        <p:spPr>
          <a:xfrm flipV="1">
            <a:off x="863079" y="2281600"/>
            <a:ext cx="0" cy="16284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141" name="WfBaseline"/>
          <p:cNvCxnSpPr/>
          <p:nvPr/>
        </p:nvCxnSpPr>
        <p:spPr>
          <a:xfrm>
            <a:off x="863079" y="3910000"/>
            <a:ext cx="50311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60" name="WfTick"/>
          <p:cNvCxnSpPr/>
          <p:nvPr/>
        </p:nvCxnSpPr>
        <p:spPr>
          <a:xfrm>
            <a:off x="808079" y="3910000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0" name="WfAxisLabel"/>
          <p:cNvSpPr txBox="1"/>
          <p:nvPr/>
        </p:nvSpPr>
        <p:spPr>
          <a:xfrm>
            <a:off x="453079" y="3790000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$0B</a:t>
            </a:r>
          </a:p>
        </p:txBody>
      </p:sp>
      <p:cxnSp>
        <p:nvCxnSpPr>
          <p:cNvPr id="161" name="WfTick"/>
          <p:cNvCxnSpPr/>
          <p:nvPr/>
        </p:nvCxnSpPr>
        <p:spPr>
          <a:xfrm>
            <a:off x="808079" y="3366112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1" name="WfAxisLabel"/>
          <p:cNvSpPr txBox="1"/>
          <p:nvPr/>
        </p:nvSpPr>
        <p:spPr>
          <a:xfrm>
            <a:off x="453079" y="3246112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$10B</a:t>
            </a:r>
          </a:p>
        </p:txBody>
      </p:sp>
      <p:cxnSp>
        <p:nvCxnSpPr>
          <p:cNvPr id="162" name="WfTick"/>
          <p:cNvCxnSpPr/>
          <p:nvPr/>
        </p:nvCxnSpPr>
        <p:spPr>
          <a:xfrm>
            <a:off x="808079" y="2822224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2" name="WfAxisLabel"/>
          <p:cNvSpPr txBox="1"/>
          <p:nvPr/>
        </p:nvSpPr>
        <p:spPr>
          <a:xfrm>
            <a:off x="453079" y="2702224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$20B</a:t>
            </a:r>
          </a:p>
        </p:txBody>
      </p:sp>
      <p:cxnSp>
        <p:nvCxnSpPr>
          <p:cNvPr id="163" name="WfTick"/>
          <p:cNvCxnSpPr/>
          <p:nvPr/>
        </p:nvCxnSpPr>
        <p:spPr>
          <a:xfrm>
            <a:off x="808079" y="2278336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73" name="WfAxisLabel"/>
          <p:cNvSpPr txBox="1"/>
          <p:nvPr/>
        </p:nvSpPr>
        <p:spPr>
          <a:xfrm>
            <a:off x="453079" y="2158336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$30B</a:t>
            </a:r>
          </a:p>
        </p:txBody>
      </p:sp>
      <p:cxnSp>
        <p:nvCxnSpPr>
          <p:cNvPr id="150" name="WfRule"/>
          <p:cNvCxnSpPr/>
          <p:nvPr/>
        </p:nvCxnSpPr>
        <p:spPr>
          <a:xfrm>
            <a:off x="1978374" y="2281600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51" name="WfRule"/>
          <p:cNvCxnSpPr/>
          <p:nvPr/>
        </p:nvCxnSpPr>
        <p:spPr>
          <a:xfrm>
            <a:off x="3283669" y="2841260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152" name="WfRule"/>
          <p:cNvCxnSpPr/>
          <p:nvPr/>
        </p:nvCxnSpPr>
        <p:spPr>
          <a:xfrm>
            <a:off x="4588964" y="2959828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100" name="WfBar"/>
          <p:cNvSpPr txBox="1"/>
          <p:nvPr/>
        </p:nvSpPr>
        <p:spPr>
          <a:xfrm>
            <a:off x="913079" y="2281600"/>
            <a:ext cx="1065295" cy="162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0" name="WfValue"/>
          <p:cNvSpPr txBox="1"/>
          <p:nvPr/>
        </p:nvSpPr>
        <p:spPr>
          <a:xfrm>
            <a:off x="853079" y="2031600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$29.94B</a:t>
            </a:r>
          </a:p>
        </p:txBody>
      </p:sp>
      <p:sp>
        <p:nvSpPr>
          <p:cNvPr id="120" name="WfCat"/>
          <p:cNvSpPr txBox="1"/>
          <p:nvPr/>
        </p:nvSpPr>
        <p:spPr>
          <a:xfrm>
            <a:off x="873079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101" name="WfBar"/>
          <p:cNvSpPr txBox="1"/>
          <p:nvPr/>
        </p:nvSpPr>
        <p:spPr>
          <a:xfrm>
            <a:off x="2218374" y="2281600"/>
            <a:ext cx="1065295" cy="5596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1" name="WfValue"/>
          <p:cNvSpPr txBox="1"/>
          <p:nvPr/>
        </p:nvSpPr>
        <p:spPr>
          <a:xfrm>
            <a:off x="2158374" y="2031600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$10.29B</a:t>
            </a:r>
          </a:p>
        </p:txBody>
      </p:sp>
      <p:sp>
        <p:nvSpPr>
          <p:cNvPr id="121" name="WfCat"/>
          <p:cNvSpPr txBox="1"/>
          <p:nvPr/>
        </p:nvSpPr>
        <p:spPr>
          <a:xfrm>
            <a:off x="2178374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102" name="WfBar"/>
          <p:cNvSpPr txBox="1"/>
          <p:nvPr/>
        </p:nvSpPr>
        <p:spPr>
          <a:xfrm>
            <a:off x="3523669" y="2841260"/>
            <a:ext cx="1065295" cy="118567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WfValue"/>
          <p:cNvSpPr txBox="1"/>
          <p:nvPr/>
        </p:nvSpPr>
        <p:spPr>
          <a:xfrm>
            <a:off x="3463669" y="2591260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$2.18B</a:t>
            </a:r>
          </a:p>
        </p:txBody>
      </p:sp>
      <p:sp>
        <p:nvSpPr>
          <p:cNvPr id="122" name="WfCat"/>
          <p:cNvSpPr txBox="1"/>
          <p:nvPr/>
        </p:nvSpPr>
        <p:spPr>
          <a:xfrm>
            <a:off x="3483669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 categories</a:t>
            </a:r>
          </a:p>
        </p:txBody>
      </p:sp>
      <p:sp>
        <p:nvSpPr>
          <p:cNvPr id="103" name="WfBar"/>
          <p:cNvSpPr txBox="1"/>
          <p:nvPr/>
        </p:nvSpPr>
        <p:spPr>
          <a:xfrm>
            <a:off x="4828964" y="2959828"/>
            <a:ext cx="1065295" cy="950171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$17.47B</a:t>
            </a:r>
          </a:p>
        </p:txBody>
      </p:sp>
      <p:sp>
        <p:nvSpPr>
          <p:cNvPr id="123" name="WfCat"/>
          <p:cNvSpPr txBox="1"/>
          <p:nvPr/>
        </p:nvSpPr>
        <p:spPr>
          <a:xfrm>
            <a:off x="4788964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</p:txBody>
      </p:sp>
      <p:cxnSp>
        <p:nvCxnSpPr>
          <p:cNvPr id="280" name="WfGrid"/>
          <p:cNvCxnSpPr/>
          <p:nvPr/>
        </p:nvCxnSpPr>
        <p:spPr>
          <a:xfrm>
            <a:off x="6704260" y="3910000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81" name="WfGrid"/>
          <p:cNvCxnSpPr/>
          <p:nvPr/>
        </p:nvCxnSpPr>
        <p:spPr>
          <a:xfrm>
            <a:off x="6704260" y="3521313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82" name="WfGrid"/>
          <p:cNvCxnSpPr/>
          <p:nvPr/>
        </p:nvCxnSpPr>
        <p:spPr>
          <a:xfrm>
            <a:off x="6704260" y="3132627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83" name="WfGrid"/>
          <p:cNvCxnSpPr/>
          <p:nvPr/>
        </p:nvCxnSpPr>
        <p:spPr>
          <a:xfrm>
            <a:off x="6704260" y="2743941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84" name="WfGrid"/>
          <p:cNvCxnSpPr/>
          <p:nvPr/>
        </p:nvCxnSpPr>
        <p:spPr>
          <a:xfrm>
            <a:off x="6704260" y="2355255"/>
            <a:ext cx="5031180" cy="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40" name="WfAxis"/>
          <p:cNvCxnSpPr/>
          <p:nvPr/>
        </p:nvCxnSpPr>
        <p:spPr>
          <a:xfrm flipV="1">
            <a:off x="6704260" y="2281600"/>
            <a:ext cx="0" cy="16284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41" name="WfBaseline"/>
          <p:cNvCxnSpPr/>
          <p:nvPr/>
        </p:nvCxnSpPr>
        <p:spPr>
          <a:xfrm>
            <a:off x="6704260" y="3910000"/>
            <a:ext cx="50311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0" name="WfTick"/>
          <p:cNvCxnSpPr/>
          <p:nvPr/>
        </p:nvCxnSpPr>
        <p:spPr>
          <a:xfrm>
            <a:off x="6649260" y="3910000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0" name="WfAxisLabel"/>
          <p:cNvSpPr txBox="1"/>
          <p:nvPr/>
        </p:nvSpPr>
        <p:spPr>
          <a:xfrm>
            <a:off x="6294260" y="3790000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$0B</a:t>
            </a:r>
          </a:p>
        </p:txBody>
      </p:sp>
      <p:cxnSp>
        <p:nvCxnSpPr>
          <p:cNvPr id="261" name="WfTick"/>
          <p:cNvCxnSpPr/>
          <p:nvPr/>
        </p:nvCxnSpPr>
        <p:spPr>
          <a:xfrm>
            <a:off x="6649260" y="3521313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1" name="WfAxisLabel"/>
          <p:cNvSpPr txBox="1"/>
          <p:nvPr/>
        </p:nvSpPr>
        <p:spPr>
          <a:xfrm>
            <a:off x="6294260" y="3401313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$20B</a:t>
            </a:r>
          </a:p>
        </p:txBody>
      </p:sp>
      <p:cxnSp>
        <p:nvCxnSpPr>
          <p:cNvPr id="262" name="WfTick"/>
          <p:cNvCxnSpPr/>
          <p:nvPr/>
        </p:nvCxnSpPr>
        <p:spPr>
          <a:xfrm>
            <a:off x="6649260" y="3132627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2" name="WfAxisLabel"/>
          <p:cNvSpPr txBox="1"/>
          <p:nvPr/>
        </p:nvSpPr>
        <p:spPr>
          <a:xfrm>
            <a:off x="6294260" y="3012627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$40B</a:t>
            </a:r>
          </a:p>
        </p:txBody>
      </p:sp>
      <p:cxnSp>
        <p:nvCxnSpPr>
          <p:cNvPr id="263" name="WfTick"/>
          <p:cNvCxnSpPr/>
          <p:nvPr/>
        </p:nvCxnSpPr>
        <p:spPr>
          <a:xfrm>
            <a:off x="6649260" y="2743941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3" name="WfAxisLabel"/>
          <p:cNvSpPr txBox="1"/>
          <p:nvPr/>
        </p:nvSpPr>
        <p:spPr>
          <a:xfrm>
            <a:off x="6294260" y="2623941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$60B</a:t>
            </a:r>
          </a:p>
        </p:txBody>
      </p:sp>
      <p:cxnSp>
        <p:nvCxnSpPr>
          <p:cNvPr id="264" name="WfTick"/>
          <p:cNvCxnSpPr/>
          <p:nvPr/>
        </p:nvCxnSpPr>
        <p:spPr>
          <a:xfrm>
            <a:off x="6649260" y="2355255"/>
            <a:ext cx="5500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74" name="WfAxisLabel"/>
          <p:cNvSpPr txBox="1"/>
          <p:nvPr/>
        </p:nvSpPr>
        <p:spPr>
          <a:xfrm>
            <a:off x="6294260" y="2235255"/>
            <a:ext cx="375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$80B</a:t>
            </a:r>
          </a:p>
        </p:txBody>
      </p:sp>
      <p:cxnSp>
        <p:nvCxnSpPr>
          <p:cNvPr id="250" name="WfRule"/>
          <p:cNvCxnSpPr/>
          <p:nvPr/>
        </p:nvCxnSpPr>
        <p:spPr>
          <a:xfrm>
            <a:off x="7819555" y="2281600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251" name="WfRule"/>
          <p:cNvCxnSpPr/>
          <p:nvPr/>
        </p:nvCxnSpPr>
        <p:spPr>
          <a:xfrm>
            <a:off x="9124850" y="2609262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cxnSp>
        <p:nvCxnSpPr>
          <p:cNvPr id="252" name="WfRule"/>
          <p:cNvCxnSpPr/>
          <p:nvPr/>
        </p:nvCxnSpPr>
        <p:spPr>
          <a:xfrm>
            <a:off x="10430145" y="2809046"/>
            <a:ext cx="240000" cy="0"/>
          </a:xfrm>
          <a:prstGeom prst="line">
            <a:avLst/>
          </a:prstGeom>
          <a:ln w="6350">
            <a:solidFill>
              <a:srgbClr val="000000"/>
            </a:solidFill>
          </a:ln>
        </p:spPr>
      </p:cxnSp>
      <p:sp>
        <p:nvSpPr>
          <p:cNvPr id="200" name="WfBar"/>
          <p:cNvSpPr txBox="1"/>
          <p:nvPr/>
        </p:nvSpPr>
        <p:spPr>
          <a:xfrm>
            <a:off x="6754260" y="2281600"/>
            <a:ext cx="1065295" cy="162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0" name="WfValue"/>
          <p:cNvSpPr txBox="1"/>
          <p:nvPr/>
        </p:nvSpPr>
        <p:spPr>
          <a:xfrm>
            <a:off x="6694260" y="2031600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$83.79B</a:t>
            </a:r>
          </a:p>
        </p:txBody>
      </p:sp>
      <p:sp>
        <p:nvSpPr>
          <p:cNvPr id="220" name="WfCat"/>
          <p:cNvSpPr txBox="1"/>
          <p:nvPr/>
        </p:nvSpPr>
        <p:spPr>
          <a:xfrm>
            <a:off x="6714260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</a:t>
            </a:r>
          </a:p>
        </p:txBody>
      </p:sp>
      <p:sp>
        <p:nvSpPr>
          <p:cNvPr id="201" name="WfBar"/>
          <p:cNvSpPr txBox="1"/>
          <p:nvPr/>
        </p:nvSpPr>
        <p:spPr>
          <a:xfrm>
            <a:off x="8059555" y="2281600"/>
            <a:ext cx="1065295" cy="327662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1" name="WfValue"/>
          <p:cNvSpPr txBox="1"/>
          <p:nvPr/>
        </p:nvSpPr>
        <p:spPr>
          <a:xfrm>
            <a:off x="7999555" y="2031600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$16.86B</a:t>
            </a:r>
          </a:p>
        </p:txBody>
      </p:sp>
      <p:sp>
        <p:nvSpPr>
          <p:cNvPr id="221" name="WfCat"/>
          <p:cNvSpPr txBox="1"/>
          <p:nvPr/>
        </p:nvSpPr>
        <p:spPr>
          <a:xfrm>
            <a:off x="8019555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GFE / directed equipment</a:t>
            </a:r>
          </a:p>
        </p:txBody>
      </p:sp>
      <p:sp>
        <p:nvSpPr>
          <p:cNvPr id="202" name="WfBar"/>
          <p:cNvSpPr txBox="1"/>
          <p:nvPr/>
        </p:nvSpPr>
        <p:spPr>
          <a:xfrm>
            <a:off x="9364850" y="2609262"/>
            <a:ext cx="1065295" cy="199784"/>
          </a:xfrm>
          <a:prstGeom prst="rect">
            <a:avLst/>
          </a:prstGeom>
          <a:solidFill>
            <a:srgbClr val="BFBFB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2" name="WfValue"/>
          <p:cNvSpPr txBox="1"/>
          <p:nvPr/>
        </p:nvSpPr>
        <p:spPr>
          <a:xfrm>
            <a:off x="9304850" y="2359262"/>
            <a:ext cx="1185295" cy="24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$10.28B</a:t>
            </a:r>
          </a:p>
        </p:txBody>
      </p:sp>
      <p:sp>
        <p:nvSpPr>
          <p:cNvPr id="222" name="WfCat"/>
          <p:cNvSpPr txBox="1"/>
          <p:nvPr/>
        </p:nvSpPr>
        <p:spPr>
          <a:xfrm>
            <a:off x="9324850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other non-BC categories</a:t>
            </a:r>
          </a:p>
        </p:txBody>
      </p:sp>
      <p:sp>
        <p:nvSpPr>
          <p:cNvPr id="203" name="WfBar"/>
          <p:cNvSpPr txBox="1"/>
          <p:nvPr/>
        </p:nvSpPr>
        <p:spPr>
          <a:xfrm>
            <a:off x="10670145" y="2809046"/>
            <a:ext cx="1065295" cy="1100953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$56.65B</a:t>
            </a:r>
          </a:p>
        </p:txBody>
      </p:sp>
      <p:sp>
        <p:nvSpPr>
          <p:cNvPr id="223" name="WfCat"/>
          <p:cNvSpPr txBox="1"/>
          <p:nvPr/>
        </p:nvSpPr>
        <p:spPr>
          <a:xfrm>
            <a:off x="10630145" y="3935000"/>
            <a:ext cx="1145295" cy="3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is the included denominator.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sizing base is $17.47B of DDG's $29.94B FY2022–FY2027 estimate and $56.65B of the submarine portfolio's $83.79B. This base funds yard labor, team-build work, purchased material, and first- and lower-tier supplier flow.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GFE, other budget categories, and yard self-perform leave the boundary.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leaves first — DDG electronics and ordnance ($10.29B); submarine government-furnished propulsion, electronics, and ordnance ($16.86B). Then other non-BC categories — plans, change orders, HM&amp;E, and other, plus Virginia technology insertion on the submarine side ($2.18B DDG, $10.28B sub). Yard self-perform within Basic Construction is removed later, at the supplier step.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470000"/>
            <a:ext cx="3627454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Top-of-funnel context and first-tier filings are evidence, not numerator.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ship estimate and TOA frame the denominator; FFATA/FSRS subawards are a visible floor behind the supplier coefficient. Do not add AP/LLTM on top of the BC base inside this funnel; the DDG-only filtered AP/LLTM stream is handled separately.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and submarine SCN/P-5c cost-funnel data, FY2022–FY2027; (2) Navy P-5c GFE and Basic Construction breakouts; (3) program TAM bridge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Context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Demand Signals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Demand Backdrop | Policy, prime behavior, and industrial-base pressure point toward more distributed supplier capacity.</a:t>
            </a:r>
          </a:p>
        </p:txBody>
      </p:sp>
      <p:cxnSp>
        <p:nvCxnSpPr>
          <p:cNvPr id="10" name="TimelineAxis"/>
          <p:cNvCxnSpPr/>
          <p:nvPr/>
        </p:nvCxnSpPr>
        <p:spPr>
          <a:xfrm>
            <a:off x="453079" y="1536600"/>
            <a:ext cx="1128236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6" name="TimelineTick0"/>
          <p:cNvCxnSpPr/>
          <p:nvPr/>
        </p:nvCxnSpPr>
        <p:spPr>
          <a:xfrm>
            <a:off x="1537315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" name="TimelineTick1"/>
          <p:cNvCxnSpPr/>
          <p:nvPr/>
        </p:nvCxnSpPr>
        <p:spPr>
          <a:xfrm>
            <a:off x="3815787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" name="TimelineTick2"/>
          <p:cNvCxnSpPr/>
          <p:nvPr/>
        </p:nvCxnSpPr>
        <p:spPr>
          <a:xfrm>
            <a:off x="6094259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" name="TimelineTick3"/>
          <p:cNvCxnSpPr/>
          <p:nvPr/>
        </p:nvCxnSpPr>
        <p:spPr>
          <a:xfrm>
            <a:off x="8372731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0" name="TimelineTick4"/>
          <p:cNvCxnSpPr/>
          <p:nvPr/>
        </p:nvCxnSpPr>
        <p:spPr>
          <a:xfrm>
            <a:off x="10651203" y="1701600"/>
            <a:ext cx="0" cy="15000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26" name="RailRule0"/>
          <p:cNvCxnSpPr/>
          <p:nvPr/>
        </p:nvCxnSpPr>
        <p:spPr>
          <a:xfrm>
            <a:off x="453079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7" name="RailRule1"/>
          <p:cNvCxnSpPr/>
          <p:nvPr/>
        </p:nvCxnSpPr>
        <p:spPr>
          <a:xfrm>
            <a:off x="4260533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28" name="RailRule2"/>
          <p:cNvCxnSpPr/>
          <p:nvPr/>
        </p:nvCxnSpPr>
        <p:spPr>
          <a:xfrm>
            <a:off x="8067987" y="2641600"/>
            <a:ext cx="3667454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1" name="DateChip 2021"/>
          <p:cNvSpPr txBox="1"/>
          <p:nvPr/>
        </p:nvSpPr>
        <p:spPr>
          <a:xfrm>
            <a:off x="453079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12" name="DateChip 2024–2025"/>
          <p:cNvSpPr txBox="1"/>
          <p:nvPr/>
        </p:nvSpPr>
        <p:spPr>
          <a:xfrm>
            <a:off x="2731551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2024–2025</a:t>
            </a:r>
          </a:p>
        </p:txBody>
      </p:sp>
      <p:sp>
        <p:nvSpPr>
          <p:cNvPr id="13" name="DateChip Jan 2026"/>
          <p:cNvSpPr txBox="1"/>
          <p:nvPr/>
        </p:nvSpPr>
        <p:spPr>
          <a:xfrm>
            <a:off x="5010023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 2026</a:t>
            </a:r>
          </a:p>
        </p:txBody>
      </p:sp>
      <p:sp>
        <p:nvSpPr>
          <p:cNvPr id="14" name="DateChip Jan–Apr 2026"/>
          <p:cNvSpPr txBox="1"/>
          <p:nvPr/>
        </p:nvSpPr>
        <p:spPr>
          <a:xfrm>
            <a:off x="7288495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Jan–Apr 2026</a:t>
            </a:r>
          </a:p>
        </p:txBody>
      </p:sp>
      <p:sp>
        <p:nvSpPr>
          <p:cNvPr id="15" name="DateChip Apr–May 2026"/>
          <p:cNvSpPr txBox="1"/>
          <p:nvPr/>
        </p:nvSpPr>
        <p:spPr>
          <a:xfrm>
            <a:off x="9566967" y="1371600"/>
            <a:ext cx="2168472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Apr–May 2026</a:t>
            </a:r>
          </a:p>
        </p:txBody>
      </p:sp>
      <p:sp>
        <p:nvSpPr>
          <p:cNvPr id="21" name="MilestoneCard"/>
          <p:cNvSpPr txBox="1"/>
          <p:nvPr/>
        </p:nvSpPr>
        <p:spPr>
          <a:xfrm>
            <a:off x="453079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 and industrial-base concern</a:t>
            </a:r>
          </a:p>
        </p:txBody>
      </p:sp>
      <p:sp>
        <p:nvSpPr>
          <p:cNvPr id="22" name="MilestoneCard"/>
          <p:cNvSpPr txBox="1"/>
          <p:nvPr/>
        </p:nvSpPr>
        <p:spPr>
          <a:xfrm>
            <a:off x="2731551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Industrial-base capacity funding and yard-space outsourcing context</a:t>
            </a:r>
          </a:p>
        </p:txBody>
      </p:sp>
      <p:sp>
        <p:nvSpPr>
          <p:cNvPr id="23" name="MilestoneCard"/>
          <p:cNvSpPr txBox="1"/>
          <p:nvPr/>
        </p:nvSpPr>
        <p:spPr>
          <a:xfrm>
            <a:off x="5010023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requirement and AUKUS demand context</a:t>
            </a:r>
          </a:p>
        </p:txBody>
      </p:sp>
      <p:sp>
        <p:nvSpPr>
          <p:cNvPr id="24" name="MilestoneCard"/>
          <p:cNvSpPr txBox="1"/>
          <p:nvPr/>
        </p:nvSpPr>
        <p:spPr>
          <a:xfrm>
            <a:off x="7288495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GD commentary: supply chain is a gating item, submarine-centric</a:t>
            </a:r>
          </a:p>
        </p:txBody>
      </p:sp>
      <p:sp>
        <p:nvSpPr>
          <p:cNvPr id="25" name="MilestoneCard"/>
          <p:cNvSpPr txBox="1"/>
          <p:nvPr/>
        </p:nvSpPr>
        <p:spPr>
          <a:xfrm>
            <a:off x="9566967" y="1851600"/>
            <a:ext cx="2168472" cy="5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0000" tIns="60000" rIns="80000" bIns="60000"/>
          <a:lstStyle/>
          <a:p>
            <a:pPr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Navy, GAO, and HII distributed-shipbuilding signals</a:t>
            </a:r>
          </a:p>
        </p:txBody>
      </p:sp>
      <p:sp>
        <p:nvSpPr>
          <p:cNvPr id="31" name="ThemeRail"/>
          <p:cNvSpPr txBox="1"/>
          <p:nvPr/>
        </p:nvSpPr>
        <p:spPr>
          <a:xfrm>
            <a:off x="453079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Supplier-base constraint: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capacity, long-lead items, sole-source exposure, and industrial-base atrophy.</a:t>
            </a:r>
          </a:p>
        </p:txBody>
      </p:sp>
      <p:sp>
        <p:nvSpPr>
          <p:cNvPr id="32" name="ThemeRail"/>
          <p:cNvSpPr txBox="1"/>
          <p:nvPr/>
        </p:nvSpPr>
        <p:spPr>
          <a:xfrm>
            <a:off x="4260533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and funding tailwind: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 distributed-production direction and capacity investment.</a:t>
            </a:r>
          </a:p>
        </p:txBody>
      </p:sp>
      <p:sp>
        <p:nvSpPr>
          <p:cNvPr id="33" name="ThemeRail"/>
          <p:cNvSpPr txBox="1"/>
          <p:nvPr/>
        </p:nvSpPr>
        <p:spPr>
          <a:xfrm>
            <a:off x="8067987" y="2641600"/>
            <a:ext cx="3667454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55000" rIns="40000" bIns="3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behavior: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public distributed-work commitments; GD supply-chain pressure signals.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3511600"/>
            <a:ext cx="6300000" cy="16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40000" rIns="137160" bIns="4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signals support more external capacity, but not a larger sizing numerator.</a:t>
            </a:r>
          </a:p>
          <a:p>
            <a:pPr marL="142875" indent="-142875">
              <a:lnSpc>
                <a:spcPct val="11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Policy, oversight, and prime commentary point toward more distributed supplier work; the FY2022–FY2027 model still sizes from SCN Basic Construction and strict supplier coefficients.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signals support the same direction for different reasons.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HII carries the clearer DDG distributed-production signal; GD's public signal is more submarine-centric, with margin pressure consistent with an outsourcing premium.</a:t>
            </a:r>
          </a:p>
        </p:txBody>
      </p:sp>
      <p:pic>
        <p:nvPicPr>
          <p:cNvPr id="50" name="SubmarineConstruction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79" y="3361600"/>
            <a:ext cx="4662362" cy="1670000"/>
          </a:xfrm>
          <a:prstGeom prst="rect">
            <a:avLst/>
          </a:prstGeom>
        </p:spPr>
      </p:pic>
      <p:sp>
        <p:nvSpPr>
          <p:cNvPr id="51" name="PhotoCaption"/>
          <p:cNvSpPr txBox="1"/>
          <p:nvPr/>
        </p:nvSpPr>
        <p:spPr>
          <a:xfrm>
            <a:off x="7073079" y="5047600"/>
            <a:ext cx="4662362" cy="9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Virginia-class submarine under construction</a:t>
            </a:r>
          </a:p>
        </p:txBody>
      </p:sp>
      <p:sp>
        <p:nvSpPr>
          <p:cNvPr id="45" name="FocalCallout"/>
          <p:cNvSpPr txBox="1"/>
          <p:nvPr/>
        </p:nvSpPr>
        <p:spPr>
          <a:xfrm>
            <a:off x="453079" y="5310000"/>
            <a:ext cx="11282362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sizes the current opportunity;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distributed work for new entrants is a diligence question, not a modeled input.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and OSD shipbuilding and industrial-base policy and budget materials, FY2021–FY2026; (2) GAO shipbuilding and submarine industrial-base reports; (3) HII and General Dynamics public disclosures and earnings commentary, 2024–2026; (4) submarine construction photograph, illustrative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Sizing the Opportunity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A budget-led TAM with an allocation-led SAM, submarine-led and lumpy by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Sizing Chain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| TAM is budget-led, while SAM mix is allocated through one entity-resolved supplier registry.</a:t>
            </a:r>
          </a:p>
        </p:txBody>
      </p:sp>
      <p:sp>
        <p:nvSpPr>
          <p:cNvPr id="10" name="ExhibitHeader"/>
          <p:cNvSpPr txBox="1"/>
          <p:nvPr/>
        </p:nvSpPr>
        <p:spPr>
          <a:xfrm>
            <a:off x="453079" y="1371600"/>
            <a:ext cx="71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Sizing chain and governing rules</a:t>
            </a:r>
          </a:p>
        </p:txBody>
      </p:sp>
      <p:graphicFrame>
        <p:nvGraphicFramePr>
          <p:cNvPr id="11" name="MethodLedger"/>
          <p:cNvGraphicFramePr>
            <a:graphicFrameLocks noGrp="1"/>
          </p:cNvGraphicFramePr>
          <p:nvPr/>
        </p:nvGraphicFramePr>
        <p:xfrm>
          <a:off x="453079" y="1741600"/>
          <a:ext cx="7150000" cy="2990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50000"/>
                <a:gridCol w="2100000"/>
                <a:gridCol w="2300000"/>
                <a:gridCol w="1600000"/>
              </a:tblGrid>
              <a:tr h="35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GOVERNING SIGNAL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TREATMENT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SCN Basic Construction and AP/LLTM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exogenous TAM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Classification does not move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corpus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Strip prime, co-prime, GFE, and excluded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Converts the budget base into supplier opportunity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Supplier mix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Operating entity, SAM-resolved supplier registry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 first, then bucket; subawards are mix evidence, not market size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registry classifies DDG and submarine alike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Physical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Seven stable work-type buckets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Structural, machining, castings, piping, electrical power, HVAC, coatings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Keeps the two programs comparable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Exclusions and residual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Mission systems, service, holding, foreign/FMS, unresolved tail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Route out, or hold residual explicit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SAM does not auto-equal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 SAM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and entity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Overlapping cuts: metal, HM&amp;E, electrical, modular, 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Scenarios are not additive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Commentary"/>
          <p:cNvSpPr txBox="1"/>
          <p:nvPr/>
        </p:nvSpPr>
        <p:spPr>
          <a:xfrm>
            <a:off x="7883079" y="1741600"/>
            <a:ext cx="3852362" cy="29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is fixed by the budget method, not by supplier reclassification.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is the budget base multiplied by the place-of-performance supplier share; re-bucketing suppliers changes mix, not the $3.88B headline.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registry governs both programs after role exclusions.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dollars are classified at the operating-entity level after mission systems, services, holding companies, foreign/FMS, primes, and GFE are removed.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a modeled result, not a cleanup item.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stay in the denominator and dilute bucket shares, so broad SAM does not automatically equal total TAM.</a:t>
            </a:r>
          </a:p>
        </p:txBody>
      </p:sp>
      <p:sp>
        <p:nvSpPr>
          <p:cNvPr id="13" name="BoundaryStrip"/>
          <p:cNvSpPr txBox="1"/>
          <p:nvPr/>
        </p:nvSpPr>
        <p:spPr>
          <a:xfrm>
            <a:off x="453079" y="4951600"/>
            <a:ext cx="11282362" cy="54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Modeling boundary: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means ship power, distribution, and generation; combat and mission electronics are excluded in the base case. DDG VLS launch-control is sensitivity, not base scope.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DoD place-of-performance (POP) award corpus and parent-prime PIID scope; (3) FFATA/FSRS subaward records and the operating-entity supplier registry, FY2017–FY2026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Bridge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Bridge | Combined supplier TAM is $3.88B per year, but AP/LLTM is additive for DDG and reference-only for submarine.</a:t>
            </a:r>
          </a:p>
        </p:txBody>
      </p:sp>
      <p:cxnSp>
        <p:nvCxnSpPr>
          <p:cNvPr id="40" name="DdgToCombined"/>
          <p:cNvCxnSpPr/>
          <p:nvPr/>
        </p:nvCxnSpPr>
        <p:spPr>
          <a:xfrm>
            <a:off x="3213669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SubToCombined"/>
          <p:cNvCxnSpPr/>
          <p:nvPr/>
        </p:nvCxnSpPr>
        <p:spPr>
          <a:xfrm>
            <a:off x="8974850" y="3960000"/>
            <a:ext cx="0" cy="28000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" name="UnitsCaption"/>
          <p:cNvSpPr txBox="1"/>
          <p:nvPr/>
        </p:nvSpPr>
        <p:spPr>
          <a:xfrm>
            <a:off x="453079" y="1371600"/>
            <a:ext cx="11282362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TAM bridge, $B cumulative and $M per year; nominal then-year. Each program is bridged separately, then summed.</a:t>
            </a:r>
          </a:p>
        </p:txBody>
      </p:sp>
      <p:sp>
        <p:nvSpPr>
          <p:cNvPr id="11" name="BridgeHeader"/>
          <p:cNvSpPr txBox="1"/>
          <p:nvPr/>
        </p:nvSpPr>
        <p:spPr>
          <a:xfrm>
            <a:off x="453079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 TAM bridge</a:t>
            </a:r>
          </a:p>
        </p:txBody>
      </p:sp>
      <p:sp>
        <p:nvSpPr>
          <p:cNvPr id="12" name="BridgeHeader"/>
          <p:cNvSpPr txBox="1"/>
          <p:nvPr/>
        </p:nvSpPr>
        <p:spPr>
          <a:xfrm>
            <a:off x="6214260" y="1601600"/>
            <a:ext cx="5521181" cy="25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 TAM bridge</a:t>
            </a:r>
          </a:p>
        </p:txBody>
      </p:sp>
      <p:sp>
        <p:nvSpPr>
          <p:cNvPr id="20" name="DdgStep"/>
          <p:cNvSpPr txBox="1"/>
          <p:nvPr/>
        </p:nvSpPr>
        <p:spPr>
          <a:xfrm>
            <a:off x="453079" y="1891600"/>
            <a:ext cx="5521181" cy="38568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$17.47B cumulative</a:t>
            </a:r>
          </a:p>
        </p:txBody>
      </p:sp>
      <p:sp>
        <p:nvSpPr>
          <p:cNvPr id="21" name="DdgStep"/>
          <p:cNvSpPr txBox="1"/>
          <p:nvPr/>
        </p:nvSpPr>
        <p:spPr>
          <a:xfrm>
            <a:off x="453079" y="2312280"/>
            <a:ext cx="5521181" cy="38568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 prime, co-prime, and GFE place-of-performance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$15.28B removed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scope removal, not a loss</a:t>
            </a:r>
          </a:p>
        </p:txBody>
      </p:sp>
      <p:sp>
        <p:nvSpPr>
          <p:cNvPr id="22" name="DdgStep"/>
          <p:cNvSpPr txBox="1"/>
          <p:nvPr/>
        </p:nvSpPr>
        <p:spPr>
          <a:xfrm>
            <a:off x="453079" y="2732960"/>
            <a:ext cx="5521181" cy="385680"/>
          </a:xfrm>
          <a:prstGeom prst="rect">
            <a:avLst/>
          </a:prstGeom>
          <a:solidFill>
            <a:srgbClr val="6E91B1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BC supplier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$2.19B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$365M per year</a:t>
            </a:r>
          </a:p>
        </p:txBody>
      </p:sp>
      <p:sp>
        <p:nvSpPr>
          <p:cNvPr id="23" name="DdgStep"/>
          <p:cNvSpPr txBox="1"/>
          <p:nvPr/>
        </p:nvSpPr>
        <p:spPr>
          <a:xfrm>
            <a:off x="453079" y="3153640"/>
            <a:ext cx="5521181" cy="38568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 AP/LLTM stream</a:t>
            </a:r>
          </a:p>
          <a:p>
            <a:pPr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$1.25B cumulative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$208M per year</a:t>
            </a:r>
          </a:p>
        </p:txBody>
      </p:sp>
      <p:sp>
        <p:nvSpPr>
          <p:cNvPr id="24" name="DdgStep"/>
          <p:cNvSpPr txBox="1"/>
          <p:nvPr/>
        </p:nvSpPr>
        <p:spPr>
          <a:xfrm>
            <a:off x="453079" y="3574320"/>
            <a:ext cx="5521181" cy="38568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$3.44B cumulative</a:t>
            </a: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$573M per year</a:t>
            </a:r>
          </a:p>
        </p:txBody>
      </p:sp>
      <p:sp>
        <p:nvSpPr>
          <p:cNvPr id="30" name="SubCard"/>
          <p:cNvSpPr txBox="1"/>
          <p:nvPr/>
        </p:nvSpPr>
        <p:spPr>
          <a:xfrm>
            <a:off x="6214260" y="1891600"/>
            <a:ext cx="5521181" cy="487100"/>
          </a:xfrm>
          <a:prstGeom prst="rect">
            <a:avLst/>
          </a:prstGeom>
          <a:solidFill>
            <a:srgbClr val="E2E9EF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$56.65B cumulative</a:t>
            </a:r>
          </a:p>
        </p:txBody>
      </p:sp>
      <p:sp>
        <p:nvSpPr>
          <p:cNvPr id="31" name="SubCard"/>
          <p:cNvSpPr txBox="1"/>
          <p:nvPr/>
        </p:nvSpPr>
        <p:spPr>
          <a:xfrm>
            <a:off x="6214260" y="2418700"/>
            <a:ext cx="5521181" cy="487100"/>
          </a:xfrm>
          <a:prstGeom prst="rect">
            <a:avLst/>
          </a:prstGeom>
          <a:solidFill>
            <a:srgbClr val="B6C8D8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supplier share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35.0%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strict, non-nuclear, yard-excluded</a:t>
            </a:r>
          </a:p>
        </p:txBody>
      </p:sp>
      <p:sp>
        <p:nvSpPr>
          <p:cNvPr id="32" name="SubCard"/>
          <p:cNvSpPr txBox="1"/>
          <p:nvPr/>
        </p:nvSpPr>
        <p:spPr>
          <a:xfrm>
            <a:off x="6214260" y="2945800"/>
            <a:ext cx="5521181" cy="4871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$19.84B cumulative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$3.31B per year</a:t>
            </a:r>
          </a:p>
        </p:txBody>
      </p:sp>
      <p:sp>
        <p:nvSpPr>
          <p:cNvPr id="33" name="SubCard"/>
          <p:cNvSpPr txBox="1"/>
          <p:nvPr/>
        </p:nvSpPr>
        <p:spPr>
          <a:xfrm>
            <a:off x="6214260" y="3472900"/>
            <a:ext cx="5521181" cy="48710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>
              <a:lnSpc>
                <a:spcPct val="100000"/>
              </a:lnSpc>
              <a:spcAft>
                <a:spcPts val="11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AP/LLTM base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supplier long-lead already inside Basic Construction</a:t>
            </a:r>
          </a:p>
        </p:txBody>
      </p:sp>
      <p:sp>
        <p:nvSpPr>
          <p:cNvPr id="45" name="CombinedOutput"/>
          <p:cNvSpPr txBox="1"/>
          <p:nvPr/>
        </p:nvSpPr>
        <p:spPr>
          <a:xfrm>
            <a:off x="2594260" y="4240000"/>
            <a:ext cx="7000000" cy="5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50000" tIns="50000" rIns="150000" bIns="50000"/>
          <a:lstStyle/>
          <a:p>
            <a:pPr algn="ctr">
              <a:lnSpc>
                <a:spcPct val="100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COMBINED SUPPLIER TAM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$3.88B per year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$23.28B cumulative</a:t>
            </a:r>
          </a:p>
        </p:txBody>
      </p:sp>
      <p:sp>
        <p:nvSpPr>
          <p:cNvPr id="50" name="InterpBox"/>
          <p:cNvSpPr txBox="1"/>
          <p:nvPr/>
        </p:nvSpPr>
        <p:spPr>
          <a:xfrm>
            <a:off x="453079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has two additive supplier streams.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supplier work is $365M per year and filtered AP/LLTM adds $208M per year, because DDG Basic Construction is net of prior-year AP.</a:t>
            </a:r>
          </a:p>
        </p:txBody>
      </p:sp>
      <p:sp>
        <p:nvSpPr>
          <p:cNvPr id="51" name="InterpBox"/>
          <p:cNvSpPr txBox="1"/>
          <p:nvPr/>
        </p:nvSpPr>
        <p:spPr>
          <a:xfrm>
            <a:off x="4280533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AP/LLTM stays reference-only.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35.0% supplier share on $56.65B of Basic Construction yields $3.31B per year; supplier long-lead material already sits inside the boundary, so additive AP/LLTM remains $0.</a:t>
            </a:r>
          </a:p>
        </p:txBody>
      </p:sp>
      <p:sp>
        <p:nvSpPr>
          <p:cNvPr id="52" name="InterpBox"/>
          <p:cNvSpPr txBox="1"/>
          <p:nvPr/>
        </p:nvSpPr>
        <p:spPr>
          <a:xfrm>
            <a:off x="8107987" y="4860000"/>
            <a:ext cx="3627454" cy="10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60000" tIns="40000" rIns="6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TAM sums dollars, not rules.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outputs sum to $3.88B per year and $23.28B cumulative; the AP/LLTM treatment remains program-specific and should not be blended.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DDG MYP-corrected outside-yards place-of-performance evidence; (3) submarine coefficient and AP/LLTM boundary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Sizing Methodology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Share | Strict inputs hold TAM conservative, but DDG and submarine solve different evidence problems.</a:t>
            </a:r>
          </a:p>
        </p:txBody>
      </p:sp>
      <p:sp>
        <p:nvSpPr>
          <p:cNvPr id="10" name="ShareBadge"/>
          <p:cNvSpPr txBox="1"/>
          <p:nvPr/>
        </p:nvSpPr>
        <p:spPr>
          <a:xfrm>
            <a:off x="453079" y="1371600"/>
            <a:ext cx="3475000" cy="98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12.5%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MYP-corrected non-GFE BC stream</a:t>
            </a:r>
          </a:p>
        </p:txBody>
      </p:sp>
      <p:sp>
        <p:nvSpPr>
          <p:cNvPr id="11" name="ShareBadge"/>
          <p:cNvSpPr txBox="1"/>
          <p:nvPr/>
        </p:nvSpPr>
        <p:spPr>
          <a:xfrm>
            <a:off x="4128079" y="1371600"/>
            <a:ext cx="3475000" cy="98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APPLIED BC SUPPLIER SHARE</a:t>
            </a:r>
          </a:p>
          <a:p>
            <a:pPr algn="ctr"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35.0%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 non-nuclear Basic Construction view</a:t>
            </a:r>
          </a:p>
        </p:txBody>
      </p:sp>
      <p:graphicFrame>
        <p:nvGraphicFramePr>
          <p:cNvPr id="20" name="SupplierShareMethodTable"/>
          <p:cNvGraphicFramePr>
            <a:graphicFrameLocks noGrp="1"/>
          </p:cNvGraphicFramePr>
          <p:nvPr/>
        </p:nvGraphicFramePr>
        <p:xfrm>
          <a:off x="453079" y="2501600"/>
          <a:ext cx="7150000" cy="271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900000"/>
                <a:gridCol w="1150000"/>
                <a:gridCol w="1700000"/>
                <a:gridCol w="2000000"/>
                <a:gridCol w="1400000"/>
              </a:tblGrid>
              <a:tr h="380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ISSUE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APPLIED VALUE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BROADER EVIDENCE VIEWS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HEADLINE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MYP redaction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Restored $14.58B multiyear masters; corrected outside-yards POP ~32.8%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12.5% on the non-GFE BC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 supplier-share input on 80% ship-construction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Assumption-driven filtered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Additive filtered stream, $208M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rowSpan="2"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POP breadth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35.0% BC supplier share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All-gated POP anchor ~51.8%; AP/LLTM reference ~48.5%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35.0% on non-nuclear BC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AP/LLTM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$0 additive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AP is large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additive under the current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883079" y="2501600"/>
            <a:ext cx="3852362" cy="271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supplier-share evidence starts with a redaction correction.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restores $14.58B of redacted multiyear masters to correct the outside-yards POP read; the applied BC supplier share remains 12.5%.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supplier-share evidence is broad but deliberately constrained.</a:t>
            </a:r>
          </a:p>
          <a:p>
            <a:pPr marL="142875" indent="-142875">
              <a:lnSpc>
                <a:spcPct val="115000"/>
              </a:lnSpc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35.0% input is a strict non-nuclear, yard-excluded view; broader POP anchors near 51.8% and 48.5% stay sensitivity.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the applied shares feed headline TAM.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Broader POP views support the audit record, but 12.5% for DDG and 35.0% for submarine are the TAM bridge inputs.</a:t>
            </a:r>
          </a:p>
        </p:txBody>
      </p:sp>
      <p:sp>
        <p:nvSpPr>
          <p:cNvPr id="40" name="FocalCallout"/>
          <p:cNvSpPr txBox="1"/>
          <p:nvPr/>
        </p:nvSpPr>
        <p:spPr>
          <a:xfrm>
            <a:off x="453079" y="5370000"/>
            <a:ext cx="11282362" cy="46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two programs' shares are inputs to separate models; </a:t>
            </a: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single blended supplier-share percentage would mislead.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MYP redaction correction and outside-yards place-of-performance evidence; (2) submarine coefficient and AP/LLTM boundary evidence; (3) Navy SCN and P-5c Basic Construction budget justification, FY2022–FY2027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Annual Cadence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Annual Cadence | Average annual TAM is a sizing convention; actual supplier demand is lumpy and peaks in submarine-driven FY2024 and FY2027.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supplier TAM by fiscal year, $B; stacked by program. Nominal then-year, FY2022–FY2027.</a:t>
            </a:r>
          </a:p>
        </p:txBody>
      </p:sp>
      <p:graphicFrame>
        <p:nvGraphicFramePr>
          <p:cNvPr id="20" name="AnnualCadenceStackedColumn"/>
          <p:cNvGraphicFramePr/>
          <p:nvPr/>
        </p:nvGraphicFramePr>
        <p:xfrm>
          <a:off x="453079" y="1741600"/>
          <a:ext cx="11282362" cy="256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ChartKeySwatch"/>
          <p:cNvSpPr txBox="1"/>
          <p:nvPr/>
        </p:nvSpPr>
        <p:spPr>
          <a:xfrm>
            <a:off x="453079" y="4387000"/>
            <a:ext cx="96000" cy="96000"/>
          </a:xfrm>
          <a:prstGeom prst="rect">
            <a:avLst/>
          </a:prstGeom>
          <a:solidFill>
            <a:srgbClr val="79838F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ChartKeyLabel"/>
          <p:cNvSpPr txBox="1"/>
          <p:nvPr/>
        </p:nvSpPr>
        <p:spPr>
          <a:xfrm>
            <a:off x="599079" y="4330000"/>
            <a:ext cx="246406" cy="21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2" name="ChartKeySwatch"/>
          <p:cNvSpPr txBox="1"/>
          <p:nvPr/>
        </p:nvSpPr>
        <p:spPr>
          <a:xfrm>
            <a:off x="1045485" y="4387000"/>
            <a:ext cx="96000" cy="96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ChartKeyLabel"/>
          <p:cNvSpPr txBox="1"/>
          <p:nvPr/>
        </p:nvSpPr>
        <p:spPr>
          <a:xfrm>
            <a:off x="1191485" y="4330000"/>
            <a:ext cx="651218" cy="21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0" name="InterpBox"/>
          <p:cNvSpPr txBox="1"/>
          <p:nvPr/>
        </p:nvSpPr>
        <p:spPr>
          <a:xfrm>
            <a:off x="453079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procurement drives the cadence peaks.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FY2024 and FY2027 reach $5.82B and $5.85B, respectively, when Virginia and Columbia Basic Construction fund together.</a:t>
            </a:r>
          </a:p>
        </p:txBody>
      </p:sp>
      <p:sp>
        <p:nvSpPr>
          <p:cNvPr id="31" name="InterpBox"/>
          <p:cNvSpPr txBox="1"/>
          <p:nvPr/>
        </p:nvSpPr>
        <p:spPr>
          <a:xfrm>
            <a:off x="4280533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FY2026 is the DDG AP/LLTM exception.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combined year reaches $4.83B; DDG peaks at ~$1.23B, driven mostly by long-lead material ahead of construction.</a:t>
            </a:r>
          </a:p>
        </p:txBody>
      </p:sp>
      <p:sp>
        <p:nvSpPr>
          <p:cNvPr id="32" name="InterpBox"/>
          <p:cNvSpPr txBox="1"/>
          <p:nvPr/>
        </p:nvSpPr>
        <p:spPr>
          <a:xfrm>
            <a:off x="8107987" y="46900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70000" tIns="40000" rIns="70000" bIns="40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$3.88B average is a sizing convention.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six-year average smooths a path from $1.91B in FY2022 to $5.85B in FY2027; the annual shape reflects procurement cadence, not a steady run-rate.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Virginia and Columbia annual procurement profiles; (3) DoD contract announcements and FFATA/FSRS subaward records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Work-Type Mix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Work-Type Mix | Electrical power, piping, and structural fabrication lead the combined pool; a $596M residual stays separate.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Combined average annual TAM by work type, $M; stacked by program. Residual shown separate. Nominal then-year.</a:t>
            </a:r>
          </a:p>
        </p:txBody>
      </p:sp>
      <p:graphicFrame>
        <p:nvGraphicFramePr>
          <p:cNvPr id="20" name="WorkTypeRankedStackedColumn"/>
          <p:cNvGraphicFramePr/>
          <p:nvPr/>
        </p:nvGraphicFramePr>
        <p:xfrm>
          <a:off x="453079" y="1741600"/>
          <a:ext cx="7050000" cy="329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ChartKeySwatch"/>
          <p:cNvSpPr txBox="1"/>
          <p:nvPr/>
        </p:nvSpPr>
        <p:spPr>
          <a:xfrm>
            <a:off x="453079" y="5117000"/>
            <a:ext cx="96000" cy="96000"/>
          </a:xfrm>
          <a:prstGeom prst="rect">
            <a:avLst/>
          </a:prstGeom>
          <a:solidFill>
            <a:srgbClr val="1D4D68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1" name="ChartKeyLabel"/>
          <p:cNvSpPr txBox="1"/>
          <p:nvPr/>
        </p:nvSpPr>
        <p:spPr>
          <a:xfrm>
            <a:off x="599079" y="5060000"/>
            <a:ext cx="651218" cy="21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52" name="ChartKeySwatch"/>
          <p:cNvSpPr txBox="1"/>
          <p:nvPr/>
        </p:nvSpPr>
        <p:spPr>
          <a:xfrm>
            <a:off x="1450297" y="5117000"/>
            <a:ext cx="96000" cy="96000"/>
          </a:xfrm>
          <a:prstGeom prst="rect">
            <a:avLst/>
          </a:prstGeom>
          <a:solidFill>
            <a:srgbClr val="486D82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3" name="ChartKeyLabel"/>
          <p:cNvSpPr txBox="1"/>
          <p:nvPr/>
        </p:nvSpPr>
        <p:spPr>
          <a:xfrm>
            <a:off x="1596297" y="5060000"/>
            <a:ext cx="246406" cy="21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54" name="ChartKeySwatch"/>
          <p:cNvSpPr txBox="1"/>
          <p:nvPr/>
        </p:nvSpPr>
        <p:spPr>
          <a:xfrm>
            <a:off x="2042703" y="5117000"/>
            <a:ext cx="96000" cy="96000"/>
          </a:xfrm>
          <a:prstGeom prst="rect">
            <a:avLst/>
          </a:prstGeom>
          <a:solidFill>
            <a:srgbClr val="89A2B0"/>
          </a:solidFill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55" name="ChartKeyLabel"/>
          <p:cNvSpPr txBox="1"/>
          <p:nvPr/>
        </p:nvSpPr>
        <p:spPr>
          <a:xfrm>
            <a:off x="2188703" y="5060000"/>
            <a:ext cx="583750" cy="210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30" name="Commentary"/>
          <p:cNvSpPr txBox="1"/>
          <p:nvPr/>
        </p:nvSpPr>
        <p:spPr>
          <a:xfrm>
            <a:off x="7783079" y="1741600"/>
            <a:ext cx="3952362" cy="352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buckets dominate the named supplier pool.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power, piping, and structural fabrication total ~$2.52B of the $3.88B TAM, led by $1,263M of electrical and power work.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Entity-resolved classification shifts the mix, not the TAM headline.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rises to $334M once VLS launcher-cell machining and LM2500 propulsion machinery are assigned to physical work type; combat electronics leave the supplier base.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remains visible outside named-bucket SAM.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$596M of supplier dollars lacks recoverable bucket evidence, so it stays in TAM while remaining outside broad SAM.</a:t>
            </a:r>
          </a:p>
        </p:txBody>
      </p:sp>
      <p:sp>
        <p:nvSpPr>
          <p:cNvPr id="40" name="TransitionLine"/>
          <p:cNvSpPr txBox="1"/>
          <p:nvPr/>
        </p:nvSpPr>
        <p:spPr>
          <a:xfrm>
            <a:off x="453079" y="5510000"/>
            <a:ext cx="9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component pool is not one thing; entry, qualification, and incumbent dynamics differ sharply by work type.</a:t>
            </a:r>
          </a:p>
        </p:txBody>
      </p:sp>
      <p:cxnSp>
        <p:nvCxnSpPr>
          <p:cNvPr id="41" name="BridgeRule"/>
          <p:cNvCxnSpPr/>
          <p:nvPr/>
        </p:nvCxnSpPr>
        <p:spPr>
          <a:xfrm>
            <a:off x="9750000" y="5690000"/>
            <a:ext cx="1985441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</p:spPr>
      </p:cxn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Navy SCN and P-5c Basic Construction and AP/LLTM budget justification, FY2022–FY2027; (3) parent-prime PIID program-scope attribution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Sizing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Scenarios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Scenarios | Broad component manufacturing is the $3.28B envelope; HM&amp;E is the largest cut at $2.35B and modular is the smallest at $381M.</a:t>
            </a:r>
          </a:p>
        </p:txBody>
      </p:sp>
      <p:sp>
        <p:nvSpPr>
          <p:cNvPr id="10" name="UnitsCaption"/>
          <p:cNvSpPr txBox="1"/>
          <p:nvPr/>
        </p:nvSpPr>
        <p:spPr>
          <a:xfrm>
            <a:off x="453079" y="1371600"/>
            <a:ext cx="11282362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annual scenario SAM, $B, FY2022–FY2027; nominal then-year. Each scenario is an inclusion cut of one TAM, not additive.</a:t>
            </a:r>
          </a:p>
        </p:txBody>
      </p:sp>
      <p:graphicFrame>
        <p:nvGraphicFramePr>
          <p:cNvPr id="20" name="SamScenarioClusteredColumn"/>
          <p:cNvGraphicFramePr/>
          <p:nvPr/>
        </p:nvGraphicFramePr>
        <p:xfrm>
          <a:off x="453079" y="1741600"/>
          <a:ext cx="6950000" cy="292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Commentary"/>
          <p:cNvSpPr txBox="1"/>
          <p:nvPr/>
        </p:nvSpPr>
        <p:spPr>
          <a:xfrm>
            <a:off x="7683079" y="1741600"/>
            <a:ext cx="4052362" cy="35384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30000" rIns="13716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is the serviceable envelope, not another market.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manufacturing is $3.28B per year, equal to $3.88B of TAM less the $596M residual; every other scenario is a cut of that envelope.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is the largest overlapping cut.</a:t>
            </a:r>
          </a:p>
          <a:p>
            <a:pPr marL="142875" indent="-142875">
              <a:lnSpc>
                <a:spcPct val="115000"/>
              </a:lnSpc>
              <a:spcAft>
                <a:spcPts val="26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 reaches $2.35B because it includes electrical power, machining, piping/valves/pumps, and HVAC; electrical alone is $1.26B and metal is $1.07B.</a:t>
            </a:r>
          </a:p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is smaller but most aligned with distributed build.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$381M modular cut is entity-flagged module-assembly work, not a structural-and-coatings union.</a:t>
            </a:r>
          </a:p>
        </p:txBody>
      </p:sp>
      <p:sp>
        <p:nvSpPr>
          <p:cNvPr id="40" name="ScenarioCompositionLegend"/>
          <p:cNvSpPr txBox="1"/>
          <p:nvPr/>
        </p:nvSpPr>
        <p:spPr>
          <a:xfrm>
            <a:off x="453079" y="4750000"/>
            <a:ext cx="695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0000"/>
              </a:lnSpc>
              <a:buNone/>
            </a:pPr>
            <a:r>
              <a:rPr lang="en-US" sz="85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composition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all seven buckets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HM&amp;E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machining, piping/valves/pumps, electrical/power, and HVAC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electrical/power only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Metal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structural/pre-outfit, machining, and castings/forgings</a:t>
            </a:r>
            <a:r>
              <a:rPr lang="en-US" sz="85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;  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entity-flagged module-assembly work, not a bucket union</a:t>
            </a:r>
          </a:p>
        </p:txBody>
      </p:sp>
      <p:sp>
        <p:nvSpPr>
          <p:cNvPr id="50" name="DoNotSumCaveat"/>
          <p:cNvSpPr txBox="1"/>
          <p:nvPr/>
        </p:nvSpPr>
        <p:spPr>
          <a:xfrm>
            <a:off x="453079" y="5350000"/>
            <a:ext cx="11282362" cy="520000"/>
          </a:xfrm>
          <a:prstGeom prst="rect">
            <a:avLst/>
          </a:prstGeom>
          <a:solidFill>
            <a:srgbClr val="646464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SAM only.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SOM, share capture, win probability, or pricing haircut is modeled. Scenarios are overlapping cuts of one TAM; do not sum across them.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and P-5c Basic Construction and AP/LLTM budget justification, FY2022–FY2027; (2) FFATA/FSRS subaward records and the operating-entity supplier registry; (3) DDG and submarine SAM scenario inclusion-cut definitions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Evidence and Implications</a:t>
            </a:r>
          </a:p>
          <a:p>
            <a:pPr>
              <a:lnSpc>
                <a:spcPct val="115000"/>
              </a:lnSpc>
            </a:pPr>
            <a:r>
              <a:rPr lang="en-US" sz="2000" i="1" kern="1200" dirty="0"/>
              <a:t>Visible filings prove the layer but understate it; a narrow gated wedge is the realistic entry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Market Evidence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Supplier Visibility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 Visibility | Visible suppliers prove the layer exists, but first-tier filings capture only a floor.</a:t>
            </a:r>
          </a:p>
        </p:txBody>
      </p:sp>
      <p:sp>
        <p:nvSpPr>
          <p:cNvPr id="10" name="PanelHeader"/>
          <p:cNvSpPr txBox="1"/>
          <p:nvPr/>
        </p:nvSpPr>
        <p:spPr>
          <a:xfrm>
            <a:off x="453079" y="1371600"/>
            <a:ext cx="5501181" cy="33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VISIBLE SUPPLIERS</a:t>
            </a:r>
          </a:p>
        </p:txBody>
      </p:sp>
      <p:sp>
        <p:nvSpPr>
          <p:cNvPr id="11" name="PanelHeader"/>
          <p:cNvSpPr txBox="1"/>
          <p:nvPr/>
        </p:nvSpPr>
        <p:spPr>
          <a:xfrm>
            <a:off x="6234260" y="1371600"/>
            <a:ext cx="5501181" cy="33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60000" tIns="30000" rIns="160000" bIns="30000"/>
          <a:lstStyle/>
          <a:p>
            <a:pPr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VISIBLE SUPPLIERS</a:t>
            </a:r>
          </a:p>
        </p:txBody>
      </p:sp>
      <p:sp>
        <p:nvSpPr>
          <p:cNvPr id="100" name="NameChip"/>
          <p:cNvSpPr txBox="1"/>
          <p:nvPr/>
        </p:nvSpPr>
        <p:spPr>
          <a:xfrm>
            <a:off x="453079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01" name="NameChip"/>
          <p:cNvSpPr txBox="1"/>
          <p:nvPr/>
        </p:nvSpPr>
        <p:spPr>
          <a:xfrm>
            <a:off x="1146079" y="1761600"/>
            <a:ext cx="84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Arctic Slope</a:t>
            </a:r>
          </a:p>
        </p:txBody>
      </p:sp>
      <p:sp>
        <p:nvSpPr>
          <p:cNvPr id="102" name="NameChip"/>
          <p:cNvSpPr txBox="1"/>
          <p:nvPr/>
        </p:nvSpPr>
        <p:spPr>
          <a:xfrm>
            <a:off x="2063079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Major Tool</a:t>
            </a:r>
          </a:p>
        </p:txBody>
      </p:sp>
      <p:sp>
        <p:nvSpPr>
          <p:cNvPr id="103" name="NameChip"/>
          <p:cNvSpPr txBox="1"/>
          <p:nvPr/>
        </p:nvSpPr>
        <p:spPr>
          <a:xfrm>
            <a:off x="2868079" y="1761600"/>
            <a:ext cx="287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</a:t>
            </a:r>
          </a:p>
        </p:txBody>
      </p:sp>
      <p:sp>
        <p:nvSpPr>
          <p:cNvPr id="104" name="NameChip"/>
          <p:cNvSpPr txBox="1"/>
          <p:nvPr/>
        </p:nvSpPr>
        <p:spPr>
          <a:xfrm>
            <a:off x="3225079" y="1761600"/>
            <a:ext cx="79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Rolls-Royce</a:t>
            </a:r>
          </a:p>
        </p:txBody>
      </p:sp>
      <p:sp>
        <p:nvSpPr>
          <p:cNvPr id="105" name="NameChip"/>
          <p:cNvSpPr txBox="1"/>
          <p:nvPr/>
        </p:nvSpPr>
        <p:spPr>
          <a:xfrm>
            <a:off x="4086079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06" name="NameChip"/>
          <p:cNvSpPr txBox="1"/>
          <p:nvPr/>
        </p:nvSpPr>
        <p:spPr>
          <a:xfrm>
            <a:off x="453079" y="2060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Johnson Controls</a:t>
            </a:r>
          </a:p>
        </p:txBody>
      </p:sp>
      <p:sp>
        <p:nvSpPr>
          <p:cNvPr id="120" name="NameChip"/>
          <p:cNvSpPr txBox="1"/>
          <p:nvPr/>
        </p:nvSpPr>
        <p:spPr>
          <a:xfrm>
            <a:off x="6234260" y="1761600"/>
            <a:ext cx="107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Grumman</a:t>
            </a:r>
          </a:p>
        </p:txBody>
      </p:sp>
      <p:sp>
        <p:nvSpPr>
          <p:cNvPr id="121" name="NameChip"/>
          <p:cNvSpPr txBox="1"/>
          <p:nvPr/>
        </p:nvSpPr>
        <p:spPr>
          <a:xfrm>
            <a:off x="7375260" y="1761600"/>
            <a:ext cx="6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Leonardo</a:t>
            </a:r>
          </a:p>
        </p:txBody>
      </p:sp>
      <p:sp>
        <p:nvSpPr>
          <p:cNvPr id="122" name="NameChip"/>
          <p:cNvSpPr txBox="1"/>
          <p:nvPr/>
        </p:nvSpPr>
        <p:spPr>
          <a:xfrm>
            <a:off x="8068260" y="1761600"/>
            <a:ext cx="2023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Electro-Mechanical</a:t>
            </a:r>
          </a:p>
        </p:txBody>
      </p:sp>
      <p:sp>
        <p:nvSpPr>
          <p:cNvPr id="123" name="NameChip"/>
          <p:cNvSpPr txBox="1"/>
          <p:nvPr/>
        </p:nvSpPr>
        <p:spPr>
          <a:xfrm>
            <a:off x="10161260" y="1761600"/>
            <a:ext cx="735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Scot Forge</a:t>
            </a:r>
          </a:p>
        </p:txBody>
      </p:sp>
      <p:sp>
        <p:nvSpPr>
          <p:cNvPr id="124" name="NameChip"/>
          <p:cNvSpPr txBox="1"/>
          <p:nvPr/>
        </p:nvSpPr>
        <p:spPr>
          <a:xfrm>
            <a:off x="6234260" y="2060600"/>
            <a:ext cx="959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DC Fabricators</a:t>
            </a:r>
          </a:p>
        </p:txBody>
      </p:sp>
      <p:sp>
        <p:nvSpPr>
          <p:cNvPr id="125" name="NameChip"/>
          <p:cNvSpPr txBox="1"/>
          <p:nvPr/>
        </p:nvSpPr>
        <p:spPr>
          <a:xfrm>
            <a:off x="7263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Rhoads</a:t>
            </a:r>
          </a:p>
        </p:txBody>
      </p:sp>
      <p:sp>
        <p:nvSpPr>
          <p:cNvPr id="126" name="NameChip"/>
          <p:cNvSpPr txBox="1"/>
          <p:nvPr/>
        </p:nvSpPr>
        <p:spPr>
          <a:xfrm>
            <a:off x="7844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Graham</a:t>
            </a:r>
          </a:p>
        </p:txBody>
      </p:sp>
      <p:sp>
        <p:nvSpPr>
          <p:cNvPr id="127" name="NameChip"/>
          <p:cNvSpPr txBox="1"/>
          <p:nvPr/>
        </p:nvSpPr>
        <p:spPr>
          <a:xfrm>
            <a:off x="8425260" y="2060600"/>
            <a:ext cx="511000" cy="23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Austal</a:t>
            </a:r>
          </a:p>
        </p:txBody>
      </p:sp>
      <p:sp>
        <p:nvSpPr>
          <p:cNvPr id="20" name="EvidenceMetricCard"/>
          <p:cNvSpPr txBox="1"/>
          <p:nvPr/>
        </p:nvSpPr>
        <p:spPr>
          <a:xfrm>
            <a:off x="453079" y="2901600"/>
            <a:ext cx="5501181" cy="90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FFATA-VISIBLE YARD-SIDE FLOW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~$2.73B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vs estimated yard-side outsourcing midpoint ~$13.57B</a:t>
            </a:r>
          </a:p>
        </p:txBody>
      </p:sp>
      <p:sp>
        <p:nvSpPr>
          <p:cNvPr id="21" name="EvidenceMetricCard"/>
          <p:cNvSpPr txBox="1"/>
          <p:nvPr/>
        </p:nvSpPr>
        <p:spPr>
          <a:xfrm>
            <a:off x="6234260" y="2901600"/>
            <a:ext cx="5501181" cy="9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SUPPLIER-ADDRESSABLE VISIBLE VALUE</a:t>
            </a:r>
          </a:p>
          <a:p>
            <a:pPr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~$5.46B</a:t>
            </a:r>
            <a:r>
              <a:rPr lang="en-US" sz="850" i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across ~150 classified recipients; broader visible parent universe ~759</a:t>
            </a:r>
          </a:p>
        </p:txBody>
      </p:sp>
      <p:sp>
        <p:nvSpPr>
          <p:cNvPr id="30" name="MissedFlowGroup"/>
          <p:cNvSpPr txBox="1"/>
          <p:nvPr/>
        </p:nvSpPr>
        <p:spPr>
          <a:xfrm>
            <a:off x="453079" y="3981600"/>
            <a:ext cx="11282362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limits: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threshold and lag; yard filing differences; HII Newport News visibility gap</a:t>
            </a:r>
          </a:p>
        </p:txBody>
      </p:sp>
      <p:sp>
        <p:nvSpPr>
          <p:cNvPr id="31" name="MissedFlowGroup"/>
          <p:cNvSpPr txBox="1"/>
          <p:nvPr/>
        </p:nvSpPr>
        <p:spPr>
          <a:xfrm>
            <a:off x="453079" y="4367600"/>
            <a:ext cx="11282362" cy="340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Supply-chain depth: 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 material booked as direct cost; lower-tier subcontracting; standing agreements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supplier names prove the layer exists, not the target list.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filings identify real suppliers and work-type cues, but some visible names are services, prime-affiliated, or outside the physical-component boundary.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34260" y="4907600"/>
            <a:ext cx="5501181" cy="922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First-tier filings set a floor, not the market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Visibility thins below tier one and varies by yard, so TAM is sized from the budget base rather than by summing subawards.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FFATA/FSRS subaward records and the operating-entity supplier registry, FY2017–FY2026; (2) DDG MYP-corrected outside-yards place-of-performance evidence; (3) submarine visible-supplier classification and parent-universe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Implications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Where to Play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Where to Play | Start diligence with modular assemblies and broad component manufacturing, then triage the rest by qualification burden and openness.</a:t>
            </a:r>
          </a:p>
        </p:txBody>
      </p:sp>
      <p:graphicFrame>
        <p:nvGraphicFramePr>
          <p:cNvPr id="10" name="WhereToPlayScorecard"/>
          <p:cNvGraphicFramePr>
            <a:graphicFrameLocks noGrp="1"/>
          </p:cNvGraphicFramePr>
          <p:nvPr/>
        </p:nvGraphicFramePr>
        <p:xfrm>
          <a:off x="453079" y="1371600"/>
          <a:ext cx="11282362" cy="33384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150000"/>
                <a:gridCol w="1280000"/>
                <a:gridCol w="820000"/>
                <a:gridCol w="820000"/>
                <a:gridCol w="820000"/>
                <a:gridCol w="820000"/>
                <a:gridCol w="820000"/>
                <a:gridCol w="3752362"/>
              </a:tblGrid>
              <a:tr h="4839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COMBINED VALUE ($/YR)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DDG RELEVANCE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SUBMARINE RELEVANCE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STRATEGIC 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QUALIFICATION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 READ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Modular assemblies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$381M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Start here; validate open work and qualification path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Broad component manufacturing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$3.28B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Useful envelope, too broad without bucket-level triage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and 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$590M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Closest physical fit to distributed structural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and 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$1.26B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Largest bucket, but likely incumbent- and qualification-heavy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and 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$2.35B HM&amp;E scenario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Attractive, but product-by-product qualification matters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Machining, castings, and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$485M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Smaller dollars, but potential bottleneck areas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775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Coatings, insulation, and 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$285M per year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85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Module-attach or specialized materials work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Commentary"/>
          <p:cNvSpPr txBox="1"/>
          <p:nvPr/>
        </p:nvSpPr>
        <p:spPr>
          <a:xfrm>
            <a:off x="453079" y="4930000"/>
            <a:ext cx="5501181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scorecard orders diligence, not expected wins.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table points to where to look first; the decision still depends on fit, qualification path, incumbent lock-up, and whether work can move to a new site.</a:t>
            </a:r>
          </a:p>
        </p:txBody>
      </p:sp>
      <p:sp>
        <p:nvSpPr>
          <p:cNvPr id="21" name="Commentary"/>
          <p:cNvSpPr txBox="1"/>
          <p:nvPr/>
        </p:nvSpPr>
        <p:spPr>
          <a:xfrm>
            <a:off x="6234260" y="4930000"/>
            <a:ext cx="5501181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9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leads because it best matches the entry thesis.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modular cut is only $381M, but it is most aligned with distributed build; broad component manufacturing remains the sizing envelope to triage by bucket.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modeled scenario SAM, FY2022–FY2027; (2) FFATA/FSRS supplier-visibility evidence and qualification-burden assessment; (3) DDG and submarine program implications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Implications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Entry Wedge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Entry Wedge | Modular and component work may be an entry wedge, but backlog, award lock-up, and margin require diligence before any conclusion.</a:t>
            </a:r>
          </a:p>
        </p:txBody>
      </p:sp>
      <p:sp>
        <p:nvSpPr>
          <p:cNvPr id="10" name="ThesisCard"/>
          <p:cNvSpPr txBox="1"/>
          <p:nvPr/>
        </p:nvSpPr>
        <p:spPr>
          <a:xfrm>
            <a:off x="453079" y="1371600"/>
            <a:ext cx="11282362" cy="33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structural units, pre-outfit, machining, and broad component manufacturing may reach revenue earlier than prime-level ship construction.</a:t>
            </a:r>
          </a:p>
        </p:txBody>
      </p:sp>
      <p:sp>
        <p:nvSpPr>
          <p:cNvPr id="20" name="BoardHeaderChip"/>
          <p:cNvSpPr txBox="1"/>
          <p:nvPr/>
        </p:nvSpPr>
        <p:spPr>
          <a:xfrm>
            <a:off x="453079" y="1761600"/>
            <a:ext cx="3627454" cy="27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 and backlog</a:t>
            </a:r>
          </a:p>
        </p:txBody>
      </p:sp>
      <p:sp>
        <p:nvSpPr>
          <p:cNvPr id="21" name="BoardColumnBody"/>
          <p:cNvSpPr txBox="1"/>
          <p:nvPr/>
        </p:nvSpPr>
        <p:spPr>
          <a:xfrm>
            <a:off x="453079" y="20556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backlog depth by bucket; prime need for external capacity; near-term procurement timing; open and recompete work.</a:t>
            </a:r>
          </a:p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and prime direction of travel; modeled TAM and SAM; visible supplier layer.</a:t>
            </a:r>
          </a:p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supplier-level backlog; award status; delivery schedule; bottleneck items.</a:t>
            </a:r>
          </a:p>
        </p:txBody>
      </p:sp>
      <p:sp>
        <p:nvSpPr>
          <p:cNvPr id="22" name="BoardHeaderChip"/>
          <p:cNvSpPr txBox="1"/>
          <p:nvPr/>
        </p:nvSpPr>
        <p:spPr>
          <a:xfrm>
            <a:off x="4280533" y="1761600"/>
            <a:ext cx="3627454" cy="27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Entry feasibility</a:t>
            </a:r>
          </a:p>
        </p:txBody>
      </p:sp>
      <p:sp>
        <p:nvSpPr>
          <p:cNvPr id="23" name="BoardColumnBody"/>
          <p:cNvSpPr txBox="1"/>
          <p:nvPr/>
        </p:nvSpPr>
        <p:spPr>
          <a:xfrm>
            <a:off x="4280533" y="20556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qualification path; QA and Navy standards; facility and capex; weld, cyber, and certification; prime onboarding.</a:t>
            </a:r>
          </a:p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buckets and supplier examples; modular and structural alignment.</a:t>
            </a:r>
          </a:p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qualification timelines; make-buy posture by prime; part-family eligibility.</a:t>
            </a:r>
          </a:p>
        </p:txBody>
      </p:sp>
      <p:sp>
        <p:nvSpPr>
          <p:cNvPr id="24" name="BoardHeaderChip"/>
          <p:cNvSpPr txBox="1"/>
          <p:nvPr/>
        </p:nvSpPr>
        <p:spPr>
          <a:xfrm>
            <a:off x="8107987" y="1761600"/>
            <a:ext cx="3627454" cy="27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Economics and margin</a:t>
            </a:r>
          </a:p>
        </p:txBody>
      </p:sp>
      <p:sp>
        <p:nvSpPr>
          <p:cNvPr id="25" name="BoardColumnBody"/>
          <p:cNvSpPr txBox="1"/>
          <p:nvPr/>
        </p:nvSpPr>
        <p:spPr>
          <a:xfrm>
            <a:off x="8107987" y="2055600"/>
            <a:ext cx="3627454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30000" rIns="40000" bIns="30000"/>
          <a:lstStyle/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versus supplier margin pools; pricing power in bottlenecked parts; learning curve, labor, and subcontract-tier economics.</a:t>
            </a:r>
          </a:p>
          <a:p>
            <a:pPr>
              <a:lnSpc>
                <a:spcPct val="115000"/>
              </a:lnSpc>
              <a:spcAft>
                <a:spcPts val="14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Have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prime-level margin context and visible public supplier flow.</a:t>
            </a:r>
          </a:p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 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third-tier economics; comparable supplier margins; contract type; cost-plus versus fixed-price exposure.</a:t>
            </a:r>
          </a:p>
        </p:txBody>
      </p:sp>
      <p:graphicFrame>
        <p:nvGraphicFramePr>
          <p:cNvPr id="40" name="EntryLaneHeatmap"/>
          <p:cNvGraphicFramePr>
            <a:graphicFrameLocks noGrp="1"/>
          </p:cNvGraphicFramePr>
          <p:nvPr/>
        </p:nvGraphicFramePr>
        <p:xfrm>
          <a:off x="453079" y="3295600"/>
          <a:ext cx="6682362" cy="217200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800000"/>
                <a:gridCol w="976472"/>
                <a:gridCol w="976472"/>
                <a:gridCol w="976472"/>
                <a:gridCol w="976472"/>
                <a:gridCol w="976474"/>
              </a:tblGrid>
              <a:tr h="366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ENTRY LANE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SPEED TO REVENUE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QUALIFICATION BURDEN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CAPEX INTENSITY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INCUMBENT LOCK-UP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CONFIDENCE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Structural/pre-outfit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Coatings/insulation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Piping/valves/pumps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Electrical/power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000">
                <a:tc>
                  <a:txBody>
                    <a:bodyPr anchor="ctr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Castings/forgings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DueDiligenceWorkplan"/>
          <p:cNvSpPr txBox="1"/>
          <p:nvPr/>
        </p:nvSpPr>
        <p:spPr>
          <a:xfrm>
            <a:off x="7335441" y="3295600"/>
            <a:ext cx="44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14000" rIns="40000" bIns="14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Due-diligence workplan</a:t>
            </a:r>
          </a:p>
          <a:p>
            <a:pPr marL="142875" indent="-142875">
              <a:lnSpc>
                <a:spcPct val="115000"/>
              </a:lnSpc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a target-account list by bucket</a:t>
            </a:r>
          </a:p>
          <a:p>
            <a:pPr marL="142875" indent="-142875">
              <a:lnSpc>
                <a:spcPct val="115000"/>
              </a:lnSpc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 open awards and recompete windows</a:t>
            </a:r>
          </a:p>
          <a:p>
            <a:pPr marL="142875" indent="-142875">
              <a:lnSpc>
                <a:spcPct val="115000"/>
              </a:lnSpc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Interview primes and tier-1 suppliers on make-buy posture</a:t>
            </a:r>
          </a:p>
          <a:p>
            <a:pPr marL="142875" indent="-142875">
              <a:lnSpc>
                <a:spcPct val="115000"/>
              </a:lnSpc>
              <a:spcAft>
                <a:spcPts val="3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qualification path and capex by part family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margin pool using public comps and supplier interviews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7335441" y="4275600"/>
            <a:ext cx="4400000" cy="119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tIns="14000" rIns="40000" bIns="14000"/>
          <a:lstStyle/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entry-wedge case still needs proof.</a:t>
            </a:r>
          </a:p>
          <a:p>
            <a:pPr marL="142875" indent="-142875">
              <a:lnSpc>
                <a:spcPct val="115000"/>
              </a:lnSpc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Backlog depth, open awards, make-buy posture, qualification path, and part-family economics determine whether lower-barrier work is investable.</a:t>
            </a:r>
          </a:p>
          <a:p>
            <a:pPr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Openness should lead the screen before size.</a:t>
            </a:r>
          </a:p>
          <a:p>
            <a:pPr marL="142875" indent="-142875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SAM defines the pool to test; the first diligence question is which parts are open, qualifiable, and economically attractive.</a:t>
            </a:r>
          </a:p>
        </p:txBody>
      </p:sp>
      <p:sp>
        <p:nvSpPr>
          <p:cNvPr id="70" name="FocalCallout"/>
          <p:cNvSpPr txBox="1"/>
          <p:nvPr/>
        </p:nvSpPr>
        <p:spPr>
          <a:xfrm>
            <a:off x="453079" y="5530000"/>
            <a:ext cx="11282362" cy="34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market size from investability before drawing a conclusion.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DDG and submarine program implications analysis; (2) modeled TAM and SAM by work-type bucket, FY2022–FY2027; (3) FFATA/FSRS supplier-visibility evidence and stated opportunity hypotheses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ividerTitle"/>
          <p:cNvSpPr>
            <a:spLocks noGrp="1"/>
          </p:cNvSpPr>
          <p:nvPr>
            <p:ph type="body" sz="quarter" idx="11"/>
          </p:nvPr>
        </p:nvSpPr>
        <p:spPr>
          <a:xfrm>
            <a:off x="453080" y="4140000"/>
            <a:ext cx="11285842" cy="2162129"/>
          </a:xfrm>
        </p:spPr>
        <p:txBody>
          <a:bodyPr anchor="t"/>
          <a:lstStyle/>
          <a:p>
            <a:pPr>
              <a:lnSpc>
                <a:spcPct val="115000"/>
              </a:lnSpc>
            </a:pPr>
            <a:r>
              <a:rPr lang="en-US" sz="2800" kern="1200" dirty="0"/>
              <a:t>Appendix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Methodology Roadmap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Methodology Roadmap | TAM creates the fixed supplier pool; SAM slices it without resizing the market.</a:t>
            </a:r>
          </a:p>
        </p:txBody>
      </p:sp>
      <p:cxnSp>
        <p:nvCxnSpPr>
          <p:cNvPr id="40" name="Arrow1"/>
          <p:cNvCxnSpPr/>
          <p:nvPr/>
        </p:nvCxnSpPr>
        <p:spPr>
          <a:xfrm>
            <a:off x="2349551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1" name="Arrow2"/>
          <p:cNvCxnSpPr/>
          <p:nvPr/>
        </p:nvCxnSpPr>
        <p:spPr>
          <a:xfrm>
            <a:off x="4546023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Arrow3"/>
          <p:cNvCxnSpPr/>
          <p:nvPr/>
        </p:nvCxnSpPr>
        <p:spPr>
          <a:xfrm>
            <a:off x="7342495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Arrow4"/>
          <p:cNvCxnSpPr/>
          <p:nvPr/>
        </p:nvCxnSpPr>
        <p:spPr>
          <a:xfrm>
            <a:off x="9538967" y="2581600"/>
            <a:ext cx="30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1" name="ChapterBand"/>
          <p:cNvSpPr txBox="1"/>
          <p:nvPr/>
        </p:nvSpPr>
        <p:spPr>
          <a:xfrm>
            <a:off x="453079" y="1701600"/>
            <a:ext cx="4092944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CHAPTER — BUILD THE FIXED DOLLAR POOL</a:t>
            </a:r>
          </a:p>
        </p:txBody>
      </p:sp>
      <p:sp>
        <p:nvSpPr>
          <p:cNvPr id="12" name="ChapterBand"/>
          <p:cNvSpPr txBox="1"/>
          <p:nvPr/>
        </p:nvSpPr>
        <p:spPr>
          <a:xfrm>
            <a:off x="7642495" y="1701600"/>
            <a:ext cx="4092946" cy="30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 CHAPTER — ALLOCATE THE FIXED POOL</a:t>
            </a:r>
          </a:p>
        </p:txBody>
      </p:sp>
      <p:sp>
        <p:nvSpPr>
          <p:cNvPr id="20" name="MethodNode"/>
          <p:cNvSpPr txBox="1"/>
          <p:nvPr/>
        </p:nvSpPr>
        <p:spPr>
          <a:xfrm>
            <a:off x="453079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budget base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streams + scope gates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and AP/LLTM treatment</a:t>
            </a:r>
          </a:p>
        </p:txBody>
      </p:sp>
      <p:sp>
        <p:nvSpPr>
          <p:cNvPr id="21" name="MethodNode"/>
          <p:cNvSpPr txBox="1"/>
          <p:nvPr/>
        </p:nvSpPr>
        <p:spPr>
          <a:xfrm>
            <a:off x="2649551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conversion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evidence estimates outsourced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TAM build</a:t>
            </a:r>
          </a:p>
        </p:txBody>
      </p:sp>
      <p:sp>
        <p:nvSpPr>
          <p:cNvPr id="22" name="MethodNode"/>
          <p:cNvSpPr txBox="1"/>
          <p:nvPr/>
        </p:nvSpPr>
        <p:spPr>
          <a:xfrm>
            <a:off x="7642495" y="2151600"/>
            <a:ext cx="1896472" cy="86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classifier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→ PIID scope → UEI entity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 + work-type home</a:t>
            </a:r>
          </a:p>
        </p:txBody>
      </p:sp>
      <p:sp>
        <p:nvSpPr>
          <p:cNvPr id="23" name="MethodNode"/>
          <p:cNvSpPr txBox="1"/>
          <p:nvPr/>
        </p:nvSpPr>
        <p:spPr>
          <a:xfrm>
            <a:off x="9838967" y="2151600"/>
            <a:ext cx="1896472" cy="86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t" lIns="80000" tIns="72000" rIns="80000" bIns="60000"/>
          <a:lstStyle/>
          <a:p>
            <a:pPr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+ scenarios</a:t>
            </a:r>
          </a:p>
          <a:p>
            <a:pPr>
              <a:lnSpc>
                <a:spcPct val="105000"/>
              </a:lnSpc>
              <a:spcAft>
                <a:spcPts val="24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TAM × bucket share</a:t>
            </a:r>
          </a:p>
          <a:p>
            <a:pPr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views from one pool</a:t>
            </a:r>
          </a:p>
        </p:txBody>
      </p:sp>
      <p:sp>
        <p:nvSpPr>
          <p:cNvPr id="30" name="FixedSupplierTAM"/>
          <p:cNvSpPr txBox="1"/>
          <p:nvPr/>
        </p:nvSpPr>
        <p:spPr>
          <a:xfrm>
            <a:off x="4846023" y="2041600"/>
            <a:ext cx="2496472" cy="1080000"/>
          </a:xfrm>
          <a:prstGeom prst="rect">
            <a:avLst/>
          </a:prstGeom>
          <a:solidFill>
            <a:srgbClr val="263746"/>
          </a:solidFill>
          <a:ln w="1905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 algn="ctr">
              <a:lnSpc>
                <a:spcPct val="1150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only dollar pool SAM can slice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sizing window FY2022–FY2027; SAM evidence window FY2017–FY2026. Budget and POP evidence size the dollar pool; award evidence allocates the pool.</a:t>
            </a:r>
          </a:p>
        </p:txBody>
      </p:sp>
      <p:sp>
        <p:nvSpPr>
          <p:cNvPr id="31" name="HandoffCaption"/>
          <p:cNvSpPr txBox="1"/>
          <p:nvPr/>
        </p:nvSpPr>
        <p:spPr>
          <a:xfrm>
            <a:off x="4846023" y="3145600"/>
            <a:ext cx="249647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ends here; SAM starts here.</a:t>
            </a:r>
          </a:p>
        </p:txBody>
      </p:sp>
      <p:sp>
        <p:nvSpPr>
          <p:cNvPr id="50" name="ReaderKeyChip"/>
          <p:cNvSpPr txBox="1"/>
          <p:nvPr/>
        </p:nvSpPr>
        <p:spPr>
          <a:xfrm>
            <a:off x="45307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rate showing how many cents of each retained budget dollar become outsourced supplier work.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1" name="ReaderKeyChip"/>
          <p:cNvSpPr txBox="1"/>
          <p:nvPr/>
        </p:nvSpPr>
        <p:spPr>
          <a:xfrm>
            <a:off x="4247199" y="3455600"/>
            <a:ext cx="3694120" cy="98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mutually exclusive classification for each retained supplier dollar; unresolved supplier work stays residual.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52" name="ReaderKeyChip"/>
          <p:cNvSpPr txBox="1"/>
          <p:nvPr/>
        </p:nvSpPr>
        <p:spPr>
          <a:xfrm>
            <a:off x="8041319" y="3455600"/>
            <a:ext cx="3694120" cy="9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10000" tIns="90000" rIns="110000" bIns="80000"/>
          <a:lstStyle/>
          <a:p>
            <a:pPr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view</a:t>
            </a:r>
          </a:p>
          <a:p>
            <a:pPr>
              <a:lnSpc>
                <a:spcPct val="110000"/>
              </a:lnSpc>
              <a:spcAft>
                <a:spcPts val="32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overlapping leadership lens on the same fixed TAM pool; broad, HM&amp;E, metal, electrical, and modular should not be added.</a:t>
            </a:r>
          </a:p>
          <a:p>
            <a:pPr>
              <a:lnSpc>
                <a:spcPct val="110000"/>
              </a:lnSpc>
              <a:buNone/>
            </a:pP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Scenario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 </a:t>
            </a: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SUMPRODUCT(bucket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TAM,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inclusion </a:t>
            </a:r>
            <a:r>
              <a:rPr lang="en-US" sz="8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flag)</a:t>
            </a:r>
          </a:p>
        </p:txBody>
      </p:sp>
      <p:sp>
        <p:nvSpPr>
          <p:cNvPr id="60" name="Commentary"/>
          <p:cNvSpPr txBox="1"/>
          <p:nvPr/>
        </p:nvSpPr>
        <p:spPr>
          <a:xfrm>
            <a:off x="453079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and SAM answer different questions.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 sizes how much outsourced supplier-addressable new-construction work exists; SAM identifies which work-type slices are serviceable inside that fixed pool.</a:t>
            </a:r>
          </a:p>
        </p:txBody>
      </p:sp>
      <p:sp>
        <p:nvSpPr>
          <p:cNvPr id="61" name="Commentary"/>
          <p:cNvSpPr txBox="1"/>
          <p:nvPr/>
        </p:nvSpPr>
        <p:spPr>
          <a:xfrm>
            <a:off x="6224260" y="4545600"/>
            <a:ext cx="5511181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Award evidence moves allocation, not headline size.</a:t>
            </a:r>
          </a:p>
          <a:p>
            <a:pPr marL="142875" indent="-142875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PIID, UEI, registry, role filters, residual treatment, and scenario flags can move bucket shares and scenario SAM, but not budget-derived TAM.</a:t>
            </a:r>
          </a:p>
        </p:txBody>
      </p:sp>
      <p:sp>
        <p:nvSpPr>
          <p:cNvPr id="70" name="Guardrails"/>
          <p:cNvSpPr txBox="1"/>
          <p:nvPr/>
        </p:nvSpPr>
        <p:spPr>
          <a:xfrm>
            <a:off x="453079" y="5370000"/>
            <a:ext cx="11282362" cy="50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Guardrails: </a:t>
            </a:r>
            <a:r>
              <a:rPr lang="en-US" sz="1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POP evidence creates supplier-share factors, not a summed award numerator. FFATA / FSRS evidence creates mix percentages, not market size. Scenario views overlap and should not be added. No SOM, capture rate, win probability, pricing haircut, or revenue conversion is modeled.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DoD/DoW contract-announcement POP corpus, CY2022–CY2026; (3) SAM.gov FSRS / FFATA subawards and SAM.gov / USAspending UEI / NAICS enrichment, FY2017–FY2026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Budget Base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TAM Budget Base | Scope gates define the retained base before supplier-share conversion.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nominal then-year dollars. DDG and submarine are run separately; this page stops at the retained budget stream bases sent to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19600"/>
            <a:ext cx="11282362" cy="35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8000" rIns="140000" bIns="38000"/>
          <a:lstStyle/>
          <a:p>
            <a:pPr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stream bases by program: DDG Basic Construction + additive AP/LLTM base; submarine Basic Construction + $0 additive AP/LLTM base. Supplier-share factors are applied next.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025600"/>
            <a:ext cx="7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Retained-base ledger: what survives into supplier-share conversion</a:t>
            </a:r>
          </a:p>
        </p:txBody>
      </p:sp>
      <p:graphicFrame>
        <p:nvGraphicFramePr>
          <p:cNvPr id="21" name="RetainedBaseLedger"/>
          <p:cNvGraphicFramePr>
            <a:graphicFrameLocks noGrp="1"/>
          </p:cNvGraphicFramePr>
          <p:nvPr/>
        </p:nvGraphicFramePr>
        <p:xfrm>
          <a:off x="453079" y="2275600"/>
          <a:ext cx="7000000" cy="2316480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260000"/>
                <a:gridCol w="2380000"/>
                <a:gridCol w="1960000"/>
                <a:gridCol w="1400000"/>
              </a:tblGrid>
              <a:tr h="27432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Program budget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Program; FY; appropriation; SCN / P-5c line; P-10 AP / LLTM / EOQ fields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Build the budget base by program and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Budget is the sizing base; award flow is not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Scope &amp; cost boundary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estimate; GFE / GFP; ordnance; plans; nuclear; sustainment / depot; design-only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 the new-construction component boundary; remove non-component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 ship cost stays context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Basic Construction stream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P-5c Basic Construction; program flag; FY flag; non-GFE construction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Treat Basic Construction as the core retained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BC retained base by program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AP/LLTM incrementality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 / LLTM / EOQ amount; overlap &amp; incrementality flags; DDG construction share; submarine AP-bridge exclusions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 only where incremental to Basic Construction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DDG additive; submarine nets to $0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Handoff to next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Retained BC base; retained AP/LLTM base; stream flag; program flag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Send the bases to supplier-share conversion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blended supplier-share factors; no supplier TAM yet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ProgramRailHeader"/>
          <p:cNvSpPr txBox="1"/>
          <p:nvPr/>
        </p:nvSpPr>
        <p:spPr>
          <a:xfrm>
            <a:off x="7723079" y="2025600"/>
            <a:ext cx="4012362" cy="25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 TREATMENT: RUN SEPARATELY</a:t>
            </a:r>
          </a:p>
        </p:txBody>
      </p:sp>
      <p:sp>
        <p:nvSpPr>
          <p:cNvPr id="31" name="ProgramRibbon"/>
          <p:cNvSpPr txBox="1"/>
          <p:nvPr/>
        </p:nvSpPr>
        <p:spPr>
          <a:xfrm>
            <a:off x="7723079" y="2325600"/>
            <a:ext cx="4012362" cy="19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</a:t>
            </a:r>
          </a:p>
        </p:txBody>
      </p:sp>
      <p:sp>
        <p:nvSpPr>
          <p:cNvPr id="32" name="ProgramBody"/>
          <p:cNvSpPr txBox="1"/>
          <p:nvPr/>
        </p:nvSpPr>
        <p:spPr>
          <a:xfrm>
            <a:off x="7723079" y="2515600"/>
            <a:ext cx="4012362" cy="62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Construction, LI 2122.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additive, ship-construction-share filtered.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+ additive AP/LLTM base.</a:t>
            </a:r>
          </a:p>
        </p:txBody>
      </p:sp>
      <p:sp>
        <p:nvSpPr>
          <p:cNvPr id="33" name="ProgramRibbon"/>
          <p:cNvSpPr txBox="1"/>
          <p:nvPr/>
        </p:nvSpPr>
        <p:spPr>
          <a:xfrm>
            <a:off x="7723079" y="3191600"/>
            <a:ext cx="4012362" cy="19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20000" tIns="30000" rIns="120000" bIns="3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</a:t>
            </a:r>
          </a:p>
        </p:txBody>
      </p:sp>
      <p:sp>
        <p:nvSpPr>
          <p:cNvPr id="34" name="ProgramBody"/>
          <p:cNvSpPr txBox="1"/>
          <p:nvPr/>
        </p:nvSpPr>
        <p:spPr>
          <a:xfrm>
            <a:off x="7723079" y="3381600"/>
            <a:ext cx="401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t" lIns="120000" tIns="70000" rIns="120000" bIns="60000"/>
          <a:lstStyle/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Core base: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Virginia + Columbia Basic Construction.</a:t>
            </a:r>
          </a:p>
          <a:p>
            <a:pPr>
              <a:lnSpc>
                <a:spcPct val="106000"/>
              </a:lnSpc>
              <a:spcAft>
                <a:spcPts val="15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reference-only; additive base = $0.</a:t>
            </a:r>
          </a:p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base + $0 additive AP/LLTM base.</a:t>
            </a:r>
          </a:p>
        </p:txBody>
      </p:sp>
      <p:sp>
        <p:nvSpPr>
          <p:cNvPr id="50" name="RailCommentary"/>
          <p:cNvSpPr txBox="1"/>
          <p:nvPr/>
        </p:nvSpPr>
        <p:spPr>
          <a:xfrm>
            <a:off x="7723079" y="4041600"/>
            <a:ext cx="4012362" cy="788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0000" rIns="30000" bIns="0"/>
          <a:lstStyle/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base stays program-specific.</a:t>
            </a:r>
          </a:p>
          <a:p>
            <a:pPr marL="142875" indent="-142875">
              <a:lnSpc>
                <a:spcPct val="102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because AP/LLTM rules and supplier-share evidence differ.</a:t>
            </a:r>
          </a:p>
          <a:p>
            <a:pPr>
              <a:lnSpc>
                <a:spcPct val="104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Conversion happens next.</a:t>
            </a:r>
          </a:p>
          <a:p>
            <a:pPr marL="142875" indent="-142875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page sizes eligible retained budget dollars; the next page applies supplier-share factors.</a:t>
            </a:r>
          </a:p>
        </p:txBody>
      </p:sp>
      <p:sp>
        <p:nvSpPr>
          <p:cNvPr id="40" name="APLLTMStrip"/>
          <p:cNvSpPr txBox="1"/>
          <p:nvPr/>
        </p:nvSpPr>
        <p:spPr>
          <a:xfrm>
            <a:off x="453079" y="4960000"/>
            <a:ext cx="11282362" cy="91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41" name="StripTitle"/>
          <p:cNvSpPr txBox="1"/>
          <p:nvPr/>
        </p:nvSpPr>
        <p:spPr>
          <a:xfrm>
            <a:off x="573079" y="4996000"/>
            <a:ext cx="1104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incrementality test: add only when not already inside the Basic Construction boundary</a:t>
            </a:r>
          </a:p>
        </p:txBody>
      </p:sp>
      <p:cxnSp>
        <p:nvCxnSpPr>
          <p:cNvPr id="42" name="StripDivider"/>
          <p:cNvCxnSpPr/>
          <p:nvPr/>
        </p:nvCxnSpPr>
        <p:spPr>
          <a:xfrm>
            <a:off x="6094260" y="5175000"/>
            <a:ext cx="0" cy="59000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FormulaCard"/>
          <p:cNvSpPr txBox="1"/>
          <p:nvPr/>
        </p:nvSpPr>
        <p:spPr>
          <a:xfrm>
            <a:off x="57307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 AP in window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$1.8B</a:t>
            </a:r>
          </a:p>
        </p:txBody>
      </p:sp>
      <p:sp>
        <p:nvSpPr>
          <p:cNvPr id="202" name="MathOperator mathMultiply"/>
          <p:cNvSpPr>
            <a:spLocks noGrp="1"/>
          </p:cNvSpPr>
          <p:nvPr/>
        </p:nvSpPr>
        <p:spPr>
          <a:xfrm>
            <a:off x="2255139" y="5335000"/>
            <a:ext cx="150000" cy="15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3" name="FormulaCard"/>
          <p:cNvSpPr txBox="1"/>
          <p:nvPr/>
        </p:nvSpPr>
        <p:spPr>
          <a:xfrm>
            <a:off x="248013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Ship-construction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205" name="MathOperator mathEqual"/>
          <p:cNvSpPr>
            <a:spLocks noGrp="1"/>
          </p:cNvSpPr>
          <p:nvPr/>
        </p:nvSpPr>
        <p:spPr>
          <a:xfrm>
            <a:off x="4162199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06" name="FormulaCard"/>
          <p:cNvSpPr txBox="1"/>
          <p:nvPr/>
        </p:nvSpPr>
        <p:spPr>
          <a:xfrm>
            <a:off x="4387199" y="5200000"/>
            <a:ext cx="1607060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40" name="FormulaCard"/>
          <p:cNvSpPr txBox="1"/>
          <p:nvPr/>
        </p:nvSpPr>
        <p:spPr>
          <a:xfrm>
            <a:off x="6194260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Gross P-10 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$44.7B</a:t>
            </a:r>
          </a:p>
        </p:txBody>
      </p:sp>
      <p:sp>
        <p:nvSpPr>
          <p:cNvPr id="242" name="MathOperator mathMinus"/>
          <p:cNvSpPr>
            <a:spLocks noGrp="1"/>
          </p:cNvSpPr>
          <p:nvPr/>
        </p:nvSpPr>
        <p:spPr>
          <a:xfrm>
            <a:off x="7113496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3" name="FormulaCard"/>
          <p:cNvSpPr txBox="1"/>
          <p:nvPr/>
        </p:nvSpPr>
        <p:spPr>
          <a:xfrm>
            <a:off x="7338496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design / weapons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$27.3B</a:t>
            </a:r>
          </a:p>
        </p:txBody>
      </p:sp>
      <p:sp>
        <p:nvSpPr>
          <p:cNvPr id="245" name="MathOperator mathMinus"/>
          <p:cNvSpPr>
            <a:spLocks noGrp="1"/>
          </p:cNvSpPr>
          <p:nvPr/>
        </p:nvSpPr>
        <p:spPr>
          <a:xfrm>
            <a:off x="8257732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6" name="FormulaCard"/>
          <p:cNvSpPr txBox="1"/>
          <p:nvPr/>
        </p:nvSpPr>
        <p:spPr>
          <a:xfrm>
            <a:off x="8482732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Already in BC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$16.8B</a:t>
            </a:r>
          </a:p>
        </p:txBody>
      </p:sp>
      <p:sp>
        <p:nvSpPr>
          <p:cNvPr id="248" name="MathOperator mathMinus"/>
          <p:cNvSpPr>
            <a:spLocks noGrp="1"/>
          </p:cNvSpPr>
          <p:nvPr/>
        </p:nvSpPr>
        <p:spPr>
          <a:xfrm>
            <a:off x="9401968" y="5335000"/>
            <a:ext cx="150000" cy="150000"/>
          </a:xfrm>
          <a:prstGeom prst="mathMin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49" name="FormulaCard"/>
          <p:cNvSpPr txBox="1"/>
          <p:nvPr/>
        </p:nvSpPr>
        <p:spPr>
          <a:xfrm>
            <a:off x="9626968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Overlap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$0.6B</a:t>
            </a:r>
          </a:p>
        </p:txBody>
      </p:sp>
      <p:sp>
        <p:nvSpPr>
          <p:cNvPr id="251" name="MathOperator mathEqual"/>
          <p:cNvSpPr>
            <a:spLocks noGrp="1"/>
          </p:cNvSpPr>
          <p:nvPr/>
        </p:nvSpPr>
        <p:spPr>
          <a:xfrm>
            <a:off x="10546204" y="5335000"/>
            <a:ext cx="150000" cy="15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52" name="FormulaCard"/>
          <p:cNvSpPr txBox="1"/>
          <p:nvPr/>
        </p:nvSpPr>
        <p:spPr>
          <a:xfrm>
            <a:off x="10771204" y="5200000"/>
            <a:ext cx="844236" cy="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5000" tIns="40000" rIns="45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AP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260" name="StripSubnote"/>
          <p:cNvSpPr txBox="1"/>
          <p:nvPr/>
        </p:nvSpPr>
        <p:spPr>
          <a:xfrm>
            <a:off x="573079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step applies the AP/LLTM supplier-share factor; this page stops at the retained base.</a:t>
            </a:r>
          </a:p>
        </p:txBody>
      </p:sp>
      <p:sp>
        <p:nvSpPr>
          <p:cNvPr id="261" name="StripSubnote"/>
          <p:cNvSpPr txBox="1"/>
          <p:nvPr/>
        </p:nvSpPr>
        <p:spPr>
          <a:xfrm>
            <a:off x="6194260" y="5650000"/>
            <a:ext cx="5421181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6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stays useful evidence for supplier-share context, but it is not an incremental base.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Navy SCN budget justification books, FY2022–FY2027; (2) P-5c Basic Construction and P-10 AP/LLTM budget exhibits; (3) DDG-51, Virginia, and Columbia scope-exclusion reconciliations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TAM Supplier Share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Supplier-Share Method | POP evidence converts retained budget into fixed outsourced supplier TAM.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453079" y="1371600"/>
            <a:ext cx="11282362" cy="17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retained budget bases from the budget-base step. POP records estimate supplier share; they are not summed as the TAM numerator.</a:t>
            </a:r>
          </a:p>
        </p:txBody>
      </p:sp>
      <p:sp>
        <p:nvSpPr>
          <p:cNvPr id="10" name="DefinitionStrip"/>
          <p:cNvSpPr txBox="1"/>
          <p:nvPr/>
        </p:nvSpPr>
        <p:spPr>
          <a:xfrm>
            <a:off x="453079" y="1578600"/>
            <a:ext cx="11282362" cy="365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40000" rIns="140000" bIns="40000"/>
          <a:lstStyle/>
          <a:p>
            <a:pPr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conversion rate that turns retained budget dollars into outsourced supplier TAM. It answers: </a:t>
            </a: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every $1 of retained budget base, how many cents become supplier work?</a:t>
            </a:r>
          </a:p>
        </p:txBody>
      </p:sp>
      <p:sp>
        <p:nvSpPr>
          <p:cNvPr id="20" name="FormulaTitle"/>
          <p:cNvSpPr txBox="1"/>
          <p:nvPr/>
        </p:nvSpPr>
        <p:spPr>
          <a:xfrm>
            <a:off x="453079" y="1987600"/>
            <a:ext cx="11282362" cy="165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POP evidence becomes the supplier-share factor</a:t>
            </a:r>
          </a:p>
        </p:txBody>
      </p:sp>
      <p:sp>
        <p:nvSpPr>
          <p:cNvPr id="100" name="Card"/>
          <p:cNvSpPr txBox="1"/>
          <p:nvPr/>
        </p:nvSpPr>
        <p:spPr>
          <a:xfrm>
            <a:off x="453079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Confirmed gated in-scope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550051" y="2268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Card"/>
          <p:cNvSpPr txBox="1"/>
          <p:nvPr/>
        </p:nvSpPr>
        <p:spPr>
          <a:xfrm>
            <a:off x="2767551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Supplier-location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US + Foreign POP %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864523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Card"/>
          <p:cNvSpPr txBox="1"/>
          <p:nvPr/>
        </p:nvSpPr>
        <p:spPr>
          <a:xfrm>
            <a:off x="5082023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Weighted supplier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Dollar-weighted footprint</a:t>
            </a:r>
          </a:p>
        </p:txBody>
      </p:sp>
      <p:sp>
        <p:nvSpPr>
          <p:cNvPr id="108" name="MathOperator mathDivide"/>
          <p:cNvSpPr>
            <a:spLocks noGrp="1"/>
          </p:cNvSpPr>
          <p:nvPr/>
        </p:nvSpPr>
        <p:spPr>
          <a:xfrm>
            <a:off x="7178995" y="2268600"/>
            <a:ext cx="145000" cy="145000"/>
          </a:xfrm>
          <a:prstGeom prst="mathDivid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9" name="Card"/>
          <p:cNvSpPr txBox="1"/>
          <p:nvPr/>
        </p:nvSpPr>
        <p:spPr>
          <a:xfrm>
            <a:off x="7396495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POP dollars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gated denominator</a:t>
            </a:r>
          </a:p>
        </p:txBody>
      </p:sp>
      <p:sp>
        <p:nvSpPr>
          <p:cNvPr id="111" name="MathOperator mathEqual"/>
          <p:cNvSpPr>
            <a:spLocks noGrp="1"/>
          </p:cNvSpPr>
          <p:nvPr/>
        </p:nvSpPr>
        <p:spPr>
          <a:xfrm>
            <a:off x="9493467" y="2268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12" name="Card"/>
          <p:cNvSpPr txBox="1"/>
          <p:nvPr/>
        </p:nvSpPr>
        <p:spPr>
          <a:xfrm>
            <a:off x="9710967" y="2158600"/>
            <a:ext cx="2024472" cy="36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Applied to retained base</a:t>
            </a:r>
          </a:p>
        </p:txBody>
      </p:sp>
      <p:sp>
        <p:nvSpPr>
          <p:cNvPr id="30" name="DDGFootprint"/>
          <p:cNvSpPr txBox="1"/>
          <p:nvPr/>
        </p:nvSpPr>
        <p:spPr>
          <a:xfrm>
            <a:off x="453079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BIW % + Ingalls % excluded; Other US % + Foreign % counted as supplier share.</a:t>
            </a:r>
          </a:p>
        </p:txBody>
      </p:sp>
      <p:sp>
        <p:nvSpPr>
          <p:cNvPr id="31" name="SubFootprint"/>
          <p:cNvSpPr txBox="1"/>
          <p:nvPr/>
        </p:nvSpPr>
        <p:spPr>
          <a:xfrm>
            <a:off x="6234260" y="2535600"/>
            <a:ext cx="5501181" cy="12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Submarine footprint: </a:t>
            </a:r>
            <a:r>
              <a:rPr lang="en-US" sz="80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EB % + HII % excluded; Other US % + Foreign % counted as supplier share.</a:t>
            </a:r>
          </a:p>
        </p:txBody>
      </p:sp>
      <p:sp>
        <p:nvSpPr>
          <p:cNvPr id="200" name="LaneRibbon"/>
          <p:cNvSpPr txBox="1"/>
          <p:nvPr/>
        </p:nvSpPr>
        <p:spPr>
          <a:xfrm>
            <a:off x="453079" y="2701600"/>
            <a:ext cx="5501181" cy="17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DDG: ADDITIVE AP/LLTM STREAM</a:t>
            </a:r>
          </a:p>
        </p:txBody>
      </p:sp>
      <p:sp>
        <p:nvSpPr>
          <p:cNvPr id="201" name="LanePanel"/>
          <p:cNvSpPr txBox="1"/>
          <p:nvPr/>
        </p:nvSpPr>
        <p:spPr>
          <a:xfrm>
            <a:off x="453079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0" name="Card"/>
          <p:cNvSpPr txBox="1"/>
          <p:nvPr/>
        </p:nvSpPr>
        <p:spPr>
          <a:xfrm>
            <a:off x="55307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$17.5B</a:t>
            </a:r>
          </a:p>
        </p:txBody>
      </p:sp>
      <p:sp>
        <p:nvSpPr>
          <p:cNvPr id="212" name="MathOperator mathMultiply"/>
          <p:cNvSpPr>
            <a:spLocks noGrp="1"/>
          </p:cNvSpPr>
          <p:nvPr/>
        </p:nvSpPr>
        <p:spPr>
          <a:xfrm>
            <a:off x="2200639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3" name="Card"/>
          <p:cNvSpPr txBox="1"/>
          <p:nvPr/>
        </p:nvSpPr>
        <p:spPr>
          <a:xfrm>
            <a:off x="241413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215" name="MathOperator mathEqual"/>
          <p:cNvSpPr>
            <a:spLocks noGrp="1"/>
          </p:cNvSpPr>
          <p:nvPr/>
        </p:nvSpPr>
        <p:spPr>
          <a:xfrm>
            <a:off x="4061699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6" name="Card"/>
          <p:cNvSpPr txBox="1"/>
          <p:nvPr/>
        </p:nvSpPr>
        <p:spPr>
          <a:xfrm>
            <a:off x="4275199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$2.2B</a:t>
            </a:r>
          </a:p>
        </p:txBody>
      </p:sp>
      <p:sp>
        <p:nvSpPr>
          <p:cNvPr id="219" name="MathOperator mathPlus"/>
          <p:cNvSpPr>
            <a:spLocks noGrp="1"/>
          </p:cNvSpPr>
          <p:nvPr/>
        </p:nvSpPr>
        <p:spPr>
          <a:xfrm>
            <a:off x="4992229" y="3394100"/>
            <a:ext cx="145000" cy="145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0" name="Card"/>
          <p:cNvSpPr txBox="1"/>
          <p:nvPr/>
        </p:nvSpPr>
        <p:spPr>
          <a:xfrm>
            <a:off x="55307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 AP/LLTM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222" name="MathOperator mathMultiply"/>
          <p:cNvSpPr>
            <a:spLocks noGrp="1"/>
          </p:cNvSpPr>
          <p:nvPr/>
        </p:nvSpPr>
        <p:spPr>
          <a:xfrm>
            <a:off x="2200639" y="370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3" name="Card"/>
          <p:cNvSpPr txBox="1"/>
          <p:nvPr/>
        </p:nvSpPr>
        <p:spPr>
          <a:xfrm>
            <a:off x="241413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225" name="MathOperator mathEqual"/>
          <p:cNvSpPr>
            <a:spLocks noGrp="1"/>
          </p:cNvSpPr>
          <p:nvPr/>
        </p:nvSpPr>
        <p:spPr>
          <a:xfrm>
            <a:off x="4061699" y="370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26" name="Card"/>
          <p:cNvSpPr txBox="1"/>
          <p:nvPr/>
        </p:nvSpPr>
        <p:spPr>
          <a:xfrm>
            <a:off x="4275199" y="3581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$1.3B</a:t>
            </a:r>
          </a:p>
        </p:txBody>
      </p:sp>
      <p:sp>
        <p:nvSpPr>
          <p:cNvPr id="230" name="LaneTotal"/>
          <p:cNvSpPr txBox="1"/>
          <p:nvPr/>
        </p:nvSpPr>
        <p:spPr>
          <a:xfrm>
            <a:off x="553079" y="4041600"/>
            <a:ext cx="5301181" cy="395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$3.4B cumulative / $573M per year</a:t>
            </a:r>
          </a:p>
        </p:txBody>
      </p:sp>
      <p:sp>
        <p:nvSpPr>
          <p:cNvPr id="240" name="EvidenceChip"/>
          <p:cNvSpPr txBox="1"/>
          <p:nvPr/>
        </p:nvSpPr>
        <p:spPr>
          <a:xfrm>
            <a:off x="45307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154 modeled POP actions</a:t>
            </a:r>
          </a:p>
        </p:txBody>
      </p:sp>
      <p:sp>
        <p:nvSpPr>
          <p:cNvPr id="241" name="EvidenceChip"/>
          <p:cNvSpPr txBox="1"/>
          <p:nvPr/>
        </p:nvSpPr>
        <p:spPr>
          <a:xfrm>
            <a:off x="183837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$21.7B gated corpus</a:t>
            </a:r>
          </a:p>
        </p:txBody>
      </p:sp>
      <p:sp>
        <p:nvSpPr>
          <p:cNvPr id="242" name="EvidenceChip"/>
          <p:cNvSpPr txBox="1"/>
          <p:nvPr/>
        </p:nvSpPr>
        <p:spPr>
          <a:xfrm>
            <a:off x="3223669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243" name="EvidenceChip"/>
          <p:cNvSpPr txBox="1"/>
          <p:nvPr/>
        </p:nvSpPr>
        <p:spPr>
          <a:xfrm>
            <a:off x="4608964" y="4526600"/>
            <a:ext cx="1345295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$14.6B MYP restored</a:t>
            </a:r>
          </a:p>
        </p:txBody>
      </p:sp>
      <p:sp>
        <p:nvSpPr>
          <p:cNvPr id="300" name="LaneRibbon"/>
          <p:cNvSpPr txBox="1"/>
          <p:nvPr/>
        </p:nvSpPr>
        <p:spPr>
          <a:xfrm>
            <a:off x="6234260" y="2701600"/>
            <a:ext cx="5501181" cy="17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110000" tIns="12000" rIns="110000" bIns="12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SUBMARINE: AP/LLTM REFERENCE-ONLY</a:t>
            </a:r>
          </a:p>
        </p:txBody>
      </p:sp>
      <p:sp>
        <p:nvSpPr>
          <p:cNvPr id="301" name="LanePanel"/>
          <p:cNvSpPr txBox="1"/>
          <p:nvPr/>
        </p:nvSpPr>
        <p:spPr>
          <a:xfrm>
            <a:off x="6234260" y="2876600"/>
            <a:ext cx="5501181" cy="1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0" name="Card"/>
          <p:cNvSpPr txBox="1"/>
          <p:nvPr/>
        </p:nvSpPr>
        <p:spPr>
          <a:xfrm>
            <a:off x="633426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Construction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$56.7B</a:t>
            </a:r>
          </a:p>
        </p:txBody>
      </p:sp>
      <p:sp>
        <p:nvSpPr>
          <p:cNvPr id="312" name="MathOperator mathMultiply"/>
          <p:cNvSpPr>
            <a:spLocks noGrp="1"/>
          </p:cNvSpPr>
          <p:nvPr/>
        </p:nvSpPr>
        <p:spPr>
          <a:xfrm>
            <a:off x="7981820" y="3081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3" name="Card"/>
          <p:cNvSpPr txBox="1"/>
          <p:nvPr/>
        </p:nvSpPr>
        <p:spPr>
          <a:xfrm>
            <a:off x="819532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supplier-share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315" name="MathOperator mathEqual"/>
          <p:cNvSpPr>
            <a:spLocks noGrp="1"/>
          </p:cNvSpPr>
          <p:nvPr/>
        </p:nvSpPr>
        <p:spPr>
          <a:xfrm>
            <a:off x="9842880" y="3081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16" name="Card"/>
          <p:cNvSpPr txBox="1"/>
          <p:nvPr/>
        </p:nvSpPr>
        <p:spPr>
          <a:xfrm>
            <a:off x="10056380" y="2956600"/>
            <a:ext cx="1579060" cy="39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BC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$19.8B</a:t>
            </a:r>
          </a:p>
        </p:txBody>
      </p:sp>
      <p:sp>
        <p:nvSpPr>
          <p:cNvPr id="320" name="Card"/>
          <p:cNvSpPr txBox="1"/>
          <p:nvPr/>
        </p:nvSpPr>
        <p:spPr>
          <a:xfrm>
            <a:off x="633426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additive base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22" name="MathOperator mathMultiply"/>
          <p:cNvSpPr>
            <a:spLocks noGrp="1"/>
          </p:cNvSpPr>
          <p:nvPr/>
        </p:nvSpPr>
        <p:spPr>
          <a:xfrm>
            <a:off x="7981820" y="3566600"/>
            <a:ext cx="145000" cy="145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3" name="Card"/>
          <p:cNvSpPr txBox="1"/>
          <p:nvPr/>
        </p:nvSpPr>
        <p:spPr>
          <a:xfrm>
            <a:off x="819532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factor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48%</a:t>
            </a:r>
          </a:p>
        </p:txBody>
      </p:sp>
      <p:sp>
        <p:nvSpPr>
          <p:cNvPr id="325" name="MathOperator mathEqual"/>
          <p:cNvSpPr>
            <a:spLocks noGrp="1"/>
          </p:cNvSpPr>
          <p:nvPr/>
        </p:nvSpPr>
        <p:spPr>
          <a:xfrm>
            <a:off x="9842880" y="3566600"/>
            <a:ext cx="145000" cy="145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326" name="Card"/>
          <p:cNvSpPr txBox="1"/>
          <p:nvPr/>
        </p:nvSpPr>
        <p:spPr>
          <a:xfrm>
            <a:off x="10056380" y="3441600"/>
            <a:ext cx="1579060" cy="395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40000" tIns="40000" rIns="40000" bIns="40000"/>
          <a:lstStyle/>
          <a:p>
            <a:pPr algn="ctr">
              <a:lnSpc>
                <a:spcPct val="104000"/>
              </a:lnSpc>
              <a:spcAft>
                <a:spcPts val="110"/>
              </a:spcAft>
              <a:buNone/>
            </a:pPr>
            <a:r>
              <a:rPr lang="en-US" sz="8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330" name="RefSubnote"/>
          <p:cNvSpPr txBox="1"/>
          <p:nvPr/>
        </p:nvSpPr>
        <p:spPr>
          <a:xfrm>
            <a:off x="6334260" y="3856600"/>
            <a:ext cx="5301181" cy="1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lnSpc>
                <a:spcPct val="104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AP/LLTM is supplier evidence, not incremental TAM: already inside BC or out of scope.</a:t>
            </a:r>
          </a:p>
        </p:txBody>
      </p:sp>
      <p:sp>
        <p:nvSpPr>
          <p:cNvPr id="340" name="LaneTotal"/>
          <p:cNvSpPr txBox="1"/>
          <p:nvPr/>
        </p:nvSpPr>
        <p:spPr>
          <a:xfrm>
            <a:off x="6334260" y="4041600"/>
            <a:ext cx="5301181" cy="395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40000" rIns="80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$19.8B cumulative / $3.3B per year</a:t>
            </a:r>
          </a:p>
        </p:txBody>
      </p:sp>
      <p:sp>
        <p:nvSpPr>
          <p:cNvPr id="350" name="EvidenceChip"/>
          <p:cNvSpPr txBox="1"/>
          <p:nvPr/>
        </p:nvSpPr>
        <p:spPr>
          <a:xfrm>
            <a:off x="623426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658 POP rows</a:t>
            </a:r>
          </a:p>
        </p:txBody>
      </p:sp>
      <p:sp>
        <p:nvSpPr>
          <p:cNvPr id="351" name="EvidenceChip"/>
          <p:cNvSpPr txBox="1"/>
          <p:nvPr/>
        </p:nvSpPr>
        <p:spPr>
          <a:xfrm>
            <a:off x="808132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$25.4B gated corpus</a:t>
            </a:r>
          </a:p>
        </p:txBody>
      </p:sp>
      <p:sp>
        <p:nvSpPr>
          <p:cNvPr id="352" name="EvidenceChip"/>
          <p:cNvSpPr txBox="1"/>
          <p:nvPr/>
        </p:nvSpPr>
        <p:spPr>
          <a:xfrm>
            <a:off x="9928380" y="4526600"/>
            <a:ext cx="1807060" cy="2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36000" tIns="28000" rIns="36000" bIns="28000"/>
          <a:lstStyle/>
          <a:p>
            <a:pPr algn="ctr">
              <a:lnSpc>
                <a:spcPct val="104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excluded / GFE</a:t>
            </a:r>
          </a:p>
        </p:txBody>
      </p:sp>
      <p:sp>
        <p:nvSpPr>
          <p:cNvPr id="400" name="FixedTAMOutput"/>
          <p:cNvSpPr txBox="1"/>
          <p:nvPr/>
        </p:nvSpPr>
        <p:spPr>
          <a:xfrm>
            <a:off x="453079" y="4766600"/>
            <a:ext cx="5300000" cy="11034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60000" tIns="70000" rIns="160000" bIns="70000"/>
          <a:lstStyle/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FIXED OUTSOURCED SUPPLIER TAM</a:t>
            </a:r>
          </a:p>
          <a:p>
            <a:pPr algn="ctr">
              <a:lnSpc>
                <a:spcPct val="104000"/>
              </a:lnSpc>
              <a:spcAft>
                <a:spcPts val="15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$23.3B cumulative / $3.9B per year</a:t>
            </a:r>
          </a:p>
          <a:p>
            <a:pPr algn="ctr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the fixed dollar pool the allocation step will slice; SAM does not resize it.</a:t>
            </a:r>
          </a:p>
        </p:txBody>
      </p:sp>
      <p:sp>
        <p:nvSpPr>
          <p:cNvPr id="410" name="Commentary"/>
          <p:cNvSpPr txBox="1"/>
          <p:nvPr/>
        </p:nvSpPr>
        <p:spPr>
          <a:xfrm>
            <a:off x="6033079" y="4766600"/>
            <a:ext cx="5702362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supplier-share factor is a conversion rate, not an award total.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POP records estimate the supplier share of retained budget dollars; the Navy budget base still supplies the TAM dollars.</a:t>
            </a:r>
          </a:p>
        </p:txBody>
      </p:sp>
      <p:sp>
        <p:nvSpPr>
          <p:cNvPr id="411" name="Commentary"/>
          <p:cNvSpPr txBox="1"/>
          <p:nvPr/>
        </p:nvSpPr>
        <p:spPr>
          <a:xfrm>
            <a:off x="6033079" y="5330600"/>
            <a:ext cx="5702362" cy="539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000" rIns="30000" bIns="18000"/>
          <a:lstStyle/>
          <a:p>
            <a:pPr>
              <a:lnSpc>
                <a:spcPct val="108000"/>
              </a:lnSpc>
              <a:spcAft>
                <a:spcPts val="18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DDG and submarine stay separate until outputs are summed.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two programs have different yard footprints and AP/LLTM treatment, so the model sums TAM dollars rather than blending supplier-share factors.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DoD/DoW contract-announcement POP corpus, CY2022–CY2026; (2) FPDS Atom feeds and DDG MYP master-total reconstruction; (3) Navy SCN P-5c / P-10 budget exhibits, FY2022–FY2027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Classifier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Classifier | PIID scopes the award, UEI resolves the operating entity, and the registry assigns one work-type home.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15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FY2017–FY2026 FFATA / FSRS evidence window. Award records set supplier mix percentages; the fixed TAM dollar pool comes from the supplier-share step.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551600"/>
            <a:ext cx="11282362" cy="292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14300" tIns="76200" rIns="114300" bIns="76200"/>
          <a:lstStyle/>
          <a:p>
            <a:pPr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Classifier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program-specific modeled bucket shares, an excluded-role audit, and residual share. The allocation step applies these shares to fixed supplier TAM.</a:t>
            </a:r>
          </a:p>
        </p:txBody>
      </p:sp>
      <p:cxnSp>
        <p:nvCxnSpPr>
          <p:cNvPr id="41" name="SpineArrow1"/>
          <p:cNvCxnSpPr/>
          <p:nvPr/>
        </p:nvCxnSpPr>
        <p:spPr>
          <a:xfrm>
            <a:off x="193627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2" name="SpineArrow2"/>
          <p:cNvCxnSpPr/>
          <p:nvPr/>
        </p:nvCxnSpPr>
        <p:spPr>
          <a:xfrm>
            <a:off x="3569467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3" name="SpineArrow3"/>
          <p:cNvCxnSpPr/>
          <p:nvPr/>
        </p:nvCxnSpPr>
        <p:spPr>
          <a:xfrm>
            <a:off x="5202661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4" name="SpineArrow4"/>
          <p:cNvCxnSpPr/>
          <p:nvPr/>
        </p:nvCxnSpPr>
        <p:spPr>
          <a:xfrm>
            <a:off x="6835855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5" name="SpineArrow5"/>
          <p:cNvCxnSpPr/>
          <p:nvPr/>
        </p:nvCxnSpPr>
        <p:spPr>
          <a:xfrm>
            <a:off x="8469049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46" name="SpineArrow6"/>
          <p:cNvCxnSpPr/>
          <p:nvPr/>
        </p:nvCxnSpPr>
        <p:spPr>
          <a:xfrm>
            <a:off x="10102243" y="2086600"/>
            <a:ext cx="1500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20" name="SpineNode"/>
          <p:cNvSpPr txBox="1"/>
          <p:nvPr/>
        </p:nvSpPr>
        <p:spPr>
          <a:xfrm>
            <a:off x="45307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Subaward $, recipient, NAICS</a:t>
            </a:r>
          </a:p>
        </p:txBody>
      </p:sp>
      <p:sp>
        <p:nvSpPr>
          <p:cNvPr id="21" name="SpineNode"/>
          <p:cNvSpPr txBox="1"/>
          <p:nvPr/>
        </p:nvSpPr>
        <p:spPr>
          <a:xfrm>
            <a:off x="208627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Parent-prime PIID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scope arbiter</a:t>
            </a:r>
          </a:p>
        </p:txBody>
      </p:sp>
      <p:sp>
        <p:nvSpPr>
          <p:cNvPr id="22" name="SpineNode"/>
          <p:cNvSpPr txBox="1"/>
          <p:nvPr/>
        </p:nvSpPr>
        <p:spPr>
          <a:xfrm>
            <a:off x="3719467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Recipient UEI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Entity identifier</a:t>
            </a:r>
          </a:p>
        </p:txBody>
      </p:sp>
      <p:sp>
        <p:nvSpPr>
          <p:cNvPr id="23" name="SpineNode"/>
          <p:cNvSpPr txBox="1"/>
          <p:nvPr/>
        </p:nvSpPr>
        <p:spPr>
          <a:xfrm>
            <a:off x="5352661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Operating entity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Legal name + NAICS</a:t>
            </a:r>
          </a:p>
        </p:txBody>
      </p:sp>
      <p:sp>
        <p:nvSpPr>
          <p:cNvPr id="24" name="SpineNode"/>
          <p:cNvSpPr txBox="1"/>
          <p:nvPr/>
        </p:nvSpPr>
        <p:spPr>
          <a:xfrm>
            <a:off x="6985855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filter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vs excluded</a:t>
            </a:r>
          </a:p>
        </p:txBody>
      </p:sp>
      <p:sp>
        <p:nvSpPr>
          <p:cNvPr id="25" name="SpineNode"/>
          <p:cNvSpPr txBox="1"/>
          <p:nvPr/>
        </p:nvSpPr>
        <p:spPr>
          <a:xfrm>
            <a:off x="8619049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override / NAICS-4</a:t>
            </a:r>
          </a:p>
        </p:txBody>
      </p:sp>
      <p:sp>
        <p:nvSpPr>
          <p:cNvPr id="26" name="SpineNode"/>
          <p:cNvSpPr txBox="1"/>
          <p:nvPr/>
        </p:nvSpPr>
        <p:spPr>
          <a:xfrm>
            <a:off x="10252243" y="1881600"/>
            <a:ext cx="1483194" cy="4100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40000" rIns="64000" bIns="40000"/>
          <a:lstStyle/>
          <a:p>
            <a:pPr algn="ctr">
              <a:lnSpc>
                <a:spcPct val="104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Bucket shares</a:t>
            </a:r>
          </a:p>
          <a:p>
            <a:pPr algn="ctr">
              <a:lnSpc>
                <a:spcPct val="102000"/>
              </a:lnSpc>
              <a:buNone/>
            </a:pPr>
            <a:r>
              <a:rPr lang="en-US" sz="78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 buckets + residual</a:t>
            </a:r>
          </a:p>
        </p:txBody>
      </p:sp>
      <p:sp>
        <p:nvSpPr>
          <p:cNvPr id="30" name="SpineNote"/>
          <p:cNvSpPr txBox="1"/>
          <p:nvPr/>
        </p:nvSpPr>
        <p:spPr>
          <a:xfrm>
            <a:off x="3719467" y="2305600"/>
            <a:ext cx="3116388" cy="1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02000"/>
              </a:lnSpc>
              <a:buNone/>
            </a:pP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UEI resolves the entity that received the dollars.</a:t>
            </a:r>
          </a:p>
        </p:txBody>
      </p:sp>
      <p:sp>
        <p:nvSpPr>
          <p:cNvPr id="50" name="TableLabel"/>
          <p:cNvSpPr txBox="1"/>
          <p:nvPr/>
        </p:nvSpPr>
        <p:spPr>
          <a:xfrm>
            <a:off x="453079" y="2465600"/>
            <a:ext cx="6950000" cy="214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Classification ledger: how a record becomes one work-type home</a:t>
            </a:r>
          </a:p>
        </p:txBody>
      </p:sp>
      <p:graphicFrame>
        <p:nvGraphicFramePr>
          <p:cNvPr id="51" name="ClassificationLedger"/>
          <p:cNvGraphicFramePr>
            <a:graphicFrameLocks noGrp="1"/>
          </p:cNvGraphicFramePr>
          <p:nvPr/>
        </p:nvGraphicFramePr>
        <p:xfrm>
          <a:off x="453079" y="2697600"/>
          <a:ext cx="6950000" cy="195833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1110000"/>
                <a:gridCol w="2572000"/>
                <a:gridCol w="1948000"/>
                <a:gridCol w="1320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FIELDS USED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RULE APPLIED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/ GUARDRAIL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 Award pull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Subaward ID, parent PIID, UEI, NAICS,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Collect visible supplier evidence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Mix, not TAM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 PIID scope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Parent-prime + discovered PIID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Scope to DDG or submarine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hull-level proof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 Entity resolution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sub_entity_uei, legal name, NAICS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Resolve the operating entity paid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parent brand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2E9EF"/>
                    </a:solidFill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4. Role filter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Role, prime / co-prime, GFE, FMS flags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Drop non-supplier / non-component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Excluded roles leave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 Work-type assign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Registry bucket, override, NAICS-4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First clean match wins one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QA, not classifier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6. Residual discipline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Addressable, bucketed, unbucketed $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unresolved $ in denominator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Dilutes named shares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7. Share output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Bucket $ over addressable base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Modeled work-type and residual %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Feeds allocation step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9EF"/>
                    </a:solidFill>
                  </a:tcPr>
                </a:tc>
              </a:tr>
            </a:tbl>
          </a:graphicData>
        </a:graphic>
      </p:graphicFrame>
      <p:cxnSp>
        <p:nvCxnSpPr>
          <p:cNvPr id="52" name="RailDivider"/>
          <p:cNvCxnSpPr/>
          <p:nvPr/>
        </p:nvCxnSpPr>
        <p:spPr>
          <a:xfrm>
            <a:off x="7523079" y="2505600"/>
            <a:ext cx="0" cy="213600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</p:cxnSp>
      <p:sp>
        <p:nvSpPr>
          <p:cNvPr id="60" name="PrecedenceHeader"/>
          <p:cNvSpPr txBox="1"/>
          <p:nvPr/>
        </p:nvSpPr>
        <p:spPr>
          <a:xfrm>
            <a:off x="7643079" y="2465600"/>
            <a:ext cx="4092362" cy="258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96000" tIns="24000" rIns="96000" bIns="24000"/>
          <a:lstStyle/>
          <a:p>
            <a:pPr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PRECEDENCE: FIRST CLEAN MATCH WINS</a:t>
            </a:r>
          </a:p>
        </p:txBody>
      </p:sp>
      <p:sp>
        <p:nvSpPr>
          <p:cNvPr id="100" name="PrecedenceChip"/>
          <p:cNvSpPr txBox="1"/>
          <p:nvPr/>
        </p:nvSpPr>
        <p:spPr>
          <a:xfrm>
            <a:off x="7643079" y="274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/ operating-entity UEI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role and bucket.</a:t>
            </a:r>
          </a:p>
        </p:txBody>
      </p:sp>
      <p:sp>
        <p:nvSpPr>
          <p:cNvPr id="102" name="PrecedenceChip"/>
          <p:cNvSpPr txBox="1"/>
          <p:nvPr/>
        </p:nvSpPr>
        <p:spPr>
          <a:xfrm>
            <a:off x="7643079" y="288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 / co-prime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excludes final-assembly yards.</a:t>
            </a:r>
          </a:p>
        </p:txBody>
      </p:sp>
      <p:sp>
        <p:nvSpPr>
          <p:cNvPr id="104" name="PrecedenceChip"/>
          <p:cNvSpPr txBox="1"/>
          <p:nvPr/>
        </p:nvSpPr>
        <p:spPr>
          <a:xfrm>
            <a:off x="7643079" y="302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GFE / SIB / Navy-directed name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supplier SAM.</a:t>
            </a:r>
          </a:p>
        </p:txBody>
      </p:sp>
      <p:sp>
        <p:nvSpPr>
          <p:cNvPr id="106" name="PrecedenceChip"/>
          <p:cNvSpPr txBox="1"/>
          <p:nvPr/>
        </p:nvSpPr>
        <p:spPr>
          <a:xfrm>
            <a:off x="7643079" y="316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Vendor-name override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handles known exceptions.</a:t>
            </a:r>
          </a:p>
        </p:txBody>
      </p:sp>
      <p:sp>
        <p:nvSpPr>
          <p:cNvPr id="108" name="PrecedenceChip"/>
          <p:cNvSpPr txBox="1"/>
          <p:nvPr/>
        </p:nvSpPr>
        <p:spPr>
          <a:xfrm>
            <a:off x="7643079" y="330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NAICS-4 fallback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assigns a bucket where registry is missing.</a:t>
            </a:r>
          </a:p>
        </p:txBody>
      </p:sp>
      <p:sp>
        <p:nvSpPr>
          <p:cNvPr id="110" name="PrecedenceChip"/>
          <p:cNvSpPr txBox="1"/>
          <p:nvPr/>
        </p:nvSpPr>
        <p:spPr>
          <a:xfrm>
            <a:off x="7643079" y="344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Service / non-component NAICS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service.</a:t>
            </a:r>
          </a:p>
        </p:txBody>
      </p:sp>
      <p:sp>
        <p:nvSpPr>
          <p:cNvPr id="112" name="PrecedenceChip"/>
          <p:cNvSpPr txBox="1"/>
          <p:nvPr/>
        </p:nvSpPr>
        <p:spPr>
          <a:xfrm>
            <a:off x="7643079" y="358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Holding-company NAICS 5511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to excluded holding.</a:t>
            </a:r>
          </a:p>
        </p:txBody>
      </p:sp>
      <p:sp>
        <p:nvSpPr>
          <p:cNvPr id="114" name="PrecedenceChip"/>
          <p:cNvSpPr txBox="1"/>
          <p:nvPr/>
        </p:nvSpPr>
        <p:spPr>
          <a:xfrm>
            <a:off x="7643079" y="3729600"/>
            <a:ext cx="4092362" cy="1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Foreign / FMS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routes out of U.S. supplier SAM.</a:t>
            </a:r>
          </a:p>
        </p:txBody>
      </p:sp>
      <p:sp>
        <p:nvSpPr>
          <p:cNvPr id="116" name="PrecedenceChip"/>
          <p:cNvSpPr txBox="1"/>
          <p:nvPr/>
        </p:nvSpPr>
        <p:spPr>
          <a:xfrm>
            <a:off x="7643079" y="3869600"/>
            <a:ext cx="4092362" cy="1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64000" tIns="8000" rIns="36000" bIns="8000"/>
          <a:lstStyle/>
          <a:p>
            <a:pPr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 </a:t>
            </a: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  <a:r>
              <a:rPr lang="en-US" sz="76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stays supplier / unbucketed when unresolved.</a:t>
            </a:r>
          </a:p>
        </p:txBody>
      </p:sp>
      <p:sp>
        <p:nvSpPr>
          <p:cNvPr id="70" name="WorkTypeHeader"/>
          <p:cNvSpPr txBox="1"/>
          <p:nvPr/>
        </p:nvSpPr>
        <p:spPr>
          <a:xfrm>
            <a:off x="7643079" y="4037600"/>
            <a:ext cx="4092362" cy="128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homes: one per retained supplier dollar</a:t>
            </a:r>
          </a:p>
        </p:txBody>
      </p:sp>
      <p:sp>
        <p:nvSpPr>
          <p:cNvPr id="120" name="WorkTypeChip"/>
          <p:cNvSpPr txBox="1"/>
          <p:nvPr/>
        </p:nvSpPr>
        <p:spPr>
          <a:xfrm>
            <a:off x="764307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Structural / modules</a:t>
            </a:r>
          </a:p>
        </p:txBody>
      </p:sp>
      <p:sp>
        <p:nvSpPr>
          <p:cNvPr id="121" name="WorkTypeChip"/>
          <p:cNvSpPr txBox="1"/>
          <p:nvPr/>
        </p:nvSpPr>
        <p:spPr>
          <a:xfrm>
            <a:off x="867166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Machining / propulsion</a:t>
            </a:r>
          </a:p>
        </p:txBody>
      </p:sp>
      <p:sp>
        <p:nvSpPr>
          <p:cNvPr id="122" name="WorkTypeChip"/>
          <p:cNvSpPr txBox="1"/>
          <p:nvPr/>
        </p:nvSpPr>
        <p:spPr>
          <a:xfrm>
            <a:off x="970025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Castings / forgings</a:t>
            </a:r>
          </a:p>
        </p:txBody>
      </p:sp>
      <p:sp>
        <p:nvSpPr>
          <p:cNvPr id="123" name="WorkTypeChip"/>
          <p:cNvSpPr txBox="1"/>
          <p:nvPr/>
        </p:nvSpPr>
        <p:spPr>
          <a:xfrm>
            <a:off x="10728849" y="4179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sp>
        <p:nvSpPr>
          <p:cNvPr id="124" name="WorkTypeChip"/>
          <p:cNvSpPr txBox="1"/>
          <p:nvPr/>
        </p:nvSpPr>
        <p:spPr>
          <a:xfrm>
            <a:off x="764307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sp>
        <p:nvSpPr>
          <p:cNvPr id="125" name="WorkTypeChip"/>
          <p:cNvSpPr txBox="1"/>
          <p:nvPr/>
        </p:nvSpPr>
        <p:spPr>
          <a:xfrm>
            <a:off x="867166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HVAC / chilled water</a:t>
            </a:r>
          </a:p>
        </p:txBody>
      </p:sp>
      <p:sp>
        <p:nvSpPr>
          <p:cNvPr id="126" name="WorkTypeChip"/>
          <p:cNvSpPr txBox="1"/>
          <p:nvPr/>
        </p:nvSpPr>
        <p:spPr>
          <a:xfrm>
            <a:off x="970025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Coatings / insulation</a:t>
            </a:r>
          </a:p>
        </p:txBody>
      </p:sp>
      <p:sp>
        <p:nvSpPr>
          <p:cNvPr id="127" name="WorkTypeChip"/>
          <p:cNvSpPr txBox="1"/>
          <p:nvPr/>
        </p:nvSpPr>
        <p:spPr>
          <a:xfrm>
            <a:off x="10728849" y="4441600"/>
            <a:ext cx="1006590" cy="240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20000" tIns="10000" rIns="20000" bIns="10000"/>
          <a:lstStyle/>
          <a:p>
            <a:pPr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300" name="Commentary"/>
          <p:cNvSpPr txBox="1"/>
          <p:nvPr/>
        </p:nvSpPr>
        <p:spPr>
          <a:xfrm>
            <a:off x="453079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is entity-first and role-first.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PIID scopes; UEI resolves the entity; roles filtered first.</a:t>
            </a:r>
          </a:p>
        </p:txBody>
      </p:sp>
      <p:sp>
        <p:nvSpPr>
          <p:cNvPr id="301" name="Commentary"/>
          <p:cNvSpPr txBox="1"/>
          <p:nvPr/>
        </p:nvSpPr>
        <p:spPr>
          <a:xfrm>
            <a:off x="6234260" y="4707600"/>
            <a:ext cx="5501181" cy="29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6000" rIns="24000" bIns="6000"/>
          <a:lstStyle/>
          <a:p>
            <a:pPr>
              <a:lnSpc>
                <a:spcPct val="102000"/>
              </a:lnSpc>
              <a:spcAft>
                <a:spcPts val="7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is a discipline, not a failure.</a:t>
            </a:r>
          </a:p>
          <a:p>
            <a:pPr marL="142875" indent="-142875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dollars stay in the denominator, outside SAM.</a:t>
            </a:r>
          </a:p>
        </p:txBody>
      </p:sp>
      <p:cxnSp>
        <p:nvCxnSpPr>
          <p:cNvPr id="250" name="BottomRule"/>
          <p:cNvCxnSpPr/>
          <p:nvPr/>
        </p:nvCxnSpPr>
        <p:spPr>
          <a:xfrm>
            <a:off x="453079" y="5041600"/>
            <a:ext cx="11282362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200" name="EvidenceHeader"/>
          <p:cNvSpPr txBox="1"/>
          <p:nvPr/>
        </p:nvSpPr>
        <p:spPr>
          <a:xfrm>
            <a:off x="453079" y="5081600"/>
            <a:ext cx="2555000" cy="170000"/>
          </a:xfrm>
          <a:prstGeom prst="rect">
            <a:avLst/>
          </a:prstGeom>
          <a:solidFill>
            <a:srgbClr val="6E91B1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DDG EVIDENCE BASE</a:t>
            </a:r>
          </a:p>
        </p:txBody>
      </p:sp>
      <p:sp>
        <p:nvSpPr>
          <p:cNvPr id="201" name="EvidenceBody"/>
          <p:cNvSpPr txBox="1"/>
          <p:nvPr/>
        </p:nvSpPr>
        <p:spPr>
          <a:xfrm>
            <a:off x="453079" y="5251600"/>
            <a:ext cx="2555000" cy="6184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22,867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FFATA / FSRS records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118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discovered PIIDs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1,555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cleaned vendors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151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NAICS lookups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$6.0B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</p:txBody>
      </p:sp>
      <p:sp>
        <p:nvSpPr>
          <p:cNvPr id="202" name="EvidenceHeader"/>
          <p:cNvSpPr txBox="1"/>
          <p:nvPr/>
        </p:nvSpPr>
        <p:spPr>
          <a:xfrm>
            <a:off x="3098079" y="5081600"/>
            <a:ext cx="2555000" cy="1700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54000" tIns="16000" rIns="54000" bIns="16000"/>
          <a:lstStyle/>
          <a:p>
            <a:pPr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SUBMARINE EVIDENCE BASE</a:t>
            </a:r>
          </a:p>
        </p:txBody>
      </p:sp>
      <p:sp>
        <p:nvSpPr>
          <p:cNvPr id="203" name="EvidenceBody"/>
          <p:cNvSpPr txBox="1"/>
          <p:nvPr/>
        </p:nvSpPr>
        <p:spPr>
          <a:xfrm>
            <a:off x="3098079" y="5251600"/>
            <a:ext cx="2555000" cy="61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84000" tIns="20000" rIns="60000" bIns="20000"/>
          <a:lstStyle/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929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entity rows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$6.1B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all-recipient base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$5.5B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supplier-addressable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$664.8M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unbucketed value</a:t>
            </a:r>
          </a:p>
          <a:p>
            <a:pPr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12%  </a:t>
            </a:r>
            <a:r>
              <a:rPr lang="en-US" sz="7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210" name="ExamplesBoard"/>
          <p:cNvSpPr txBox="1"/>
          <p:nvPr/>
        </p:nvSpPr>
        <p:spPr>
          <a:xfrm>
            <a:off x="5953079" y="5081600"/>
            <a:ext cx="5782362" cy="7884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211" name="ExamplesTitle"/>
          <p:cNvSpPr txBox="1"/>
          <p:nvPr/>
        </p:nvSpPr>
        <p:spPr>
          <a:xfrm>
            <a:off x="5953079" y="5097600"/>
            <a:ext cx="5782362" cy="146000"/>
          </a:xfrm>
          <a:prstGeom prst="rect">
            <a:avLst/>
          </a:prstGeom>
          <a:noFill/>
          <a:ln>
            <a:noFill/>
          </a:ln>
        </p:spPr>
        <p:txBody>
          <a:bodyPr wrap="square" anchor="t" lIns="94000" tIns="0" rIns="94000" bIns="0"/>
          <a:lstStyle/>
          <a:p>
            <a:pPr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Examples: why operating entity beats parent brand</a:t>
            </a:r>
          </a:p>
        </p:txBody>
      </p:sp>
      <p:sp>
        <p:nvSpPr>
          <p:cNvPr id="220" name="ExampleCell"/>
          <p:cNvSpPr txBox="1"/>
          <p:nvPr/>
        </p:nvSpPr>
        <p:spPr>
          <a:xfrm>
            <a:off x="6047079" y="52496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Northrop Sunnyvale generators</a:t>
            </a:r>
          </a:p>
        </p:txBody>
      </p:sp>
      <p:sp>
        <p:nvSpPr>
          <p:cNvPr id="221" name="ExampleCell"/>
          <p:cNvSpPr txBox="1"/>
          <p:nvPr/>
        </p:nvSpPr>
        <p:spPr>
          <a:xfrm>
            <a:off x="8284823" y="52496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Ship-power operating entity</a:t>
            </a:r>
          </a:p>
        </p:txBody>
      </p:sp>
      <p:sp>
        <p:nvSpPr>
          <p:cNvPr id="222" name="ExampleCell"/>
          <p:cNvSpPr txBox="1"/>
          <p:nvPr/>
        </p:nvSpPr>
        <p:spPr>
          <a:xfrm>
            <a:off x="10130962" y="52496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Electrical power</a:t>
            </a:r>
          </a:p>
        </p:txBody>
      </p:sp>
      <p:cxnSp>
        <p:nvCxnSpPr>
          <p:cNvPr id="233" name="ExampleDivider"/>
          <p:cNvCxnSpPr/>
          <p:nvPr/>
        </p:nvCxnSpPr>
        <p:spPr>
          <a:xfrm>
            <a:off x="6047079" y="53957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3" name="ExampleCell"/>
          <p:cNvSpPr txBox="1"/>
          <p:nvPr/>
        </p:nvSpPr>
        <p:spPr>
          <a:xfrm>
            <a:off x="6047079" y="53957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Curtiss-Wright / Circor valves</a:t>
            </a:r>
          </a:p>
        </p:txBody>
      </p:sp>
      <p:sp>
        <p:nvSpPr>
          <p:cNvPr id="224" name="ExampleCell"/>
          <p:cNvSpPr txBox="1"/>
          <p:nvPr/>
        </p:nvSpPr>
        <p:spPr>
          <a:xfrm>
            <a:off x="8284823" y="53957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Industrial fluid-handling</a:t>
            </a:r>
          </a:p>
        </p:txBody>
      </p:sp>
      <p:sp>
        <p:nvSpPr>
          <p:cNvPr id="225" name="ExampleCell"/>
          <p:cNvSpPr txBox="1"/>
          <p:nvPr/>
        </p:nvSpPr>
        <p:spPr>
          <a:xfrm>
            <a:off x="10130962" y="53957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Piping / fluid handling</a:t>
            </a:r>
          </a:p>
        </p:txBody>
      </p:sp>
      <p:cxnSp>
        <p:nvCxnSpPr>
          <p:cNvPr id="234" name="ExampleDivider"/>
          <p:cNvCxnSpPr/>
          <p:nvPr/>
        </p:nvCxnSpPr>
        <p:spPr>
          <a:xfrm>
            <a:off x="6047079" y="55418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6" name="ExampleCell"/>
          <p:cNvSpPr txBox="1"/>
          <p:nvPr/>
        </p:nvSpPr>
        <p:spPr>
          <a:xfrm>
            <a:off x="6047079" y="55418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Lockheed / Raytheon Aegis, SPY-6</a:t>
            </a:r>
          </a:p>
        </p:txBody>
      </p:sp>
      <p:sp>
        <p:nvSpPr>
          <p:cNvPr id="227" name="ExampleCell"/>
          <p:cNvSpPr txBox="1"/>
          <p:nvPr/>
        </p:nvSpPr>
        <p:spPr>
          <a:xfrm>
            <a:off x="8284823" y="55418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Navy-directed mission systems</a:t>
            </a:r>
          </a:p>
        </p:txBody>
      </p:sp>
      <p:sp>
        <p:nvSpPr>
          <p:cNvPr id="228" name="ExampleCell"/>
          <p:cNvSpPr txBox="1"/>
          <p:nvPr/>
        </p:nvSpPr>
        <p:spPr>
          <a:xfrm>
            <a:off x="10130962" y="55418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Excluded role</a:t>
            </a:r>
          </a:p>
        </p:txBody>
      </p:sp>
      <p:cxnSp>
        <p:nvCxnSpPr>
          <p:cNvPr id="235" name="ExampleDivider"/>
          <p:cNvCxnSpPr/>
          <p:nvPr/>
        </p:nvCxnSpPr>
        <p:spPr>
          <a:xfrm>
            <a:off x="6047079" y="5687900"/>
            <a:ext cx="5594362" cy="0"/>
          </a:xfrm>
          <a:prstGeom prst="line">
            <a:avLst/>
          </a:prstGeom>
          <a:ln w="6350">
            <a:solidFill>
              <a:srgbClr val="7F7F7F"/>
            </a:solidFill>
          </a:ln>
        </p:spPr>
      </p:cxnSp>
      <p:sp>
        <p:nvSpPr>
          <p:cNvPr id="229" name="ExampleCell"/>
          <p:cNvSpPr txBox="1"/>
          <p:nvPr/>
        </p:nvSpPr>
        <p:spPr>
          <a:xfrm>
            <a:off x="6047079" y="5687900"/>
            <a:ext cx="2237744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Blank NAICS, no registry match</a:t>
            </a:r>
          </a:p>
        </p:txBody>
      </p:sp>
      <p:sp>
        <p:nvSpPr>
          <p:cNvPr id="230" name="ExampleCell"/>
          <p:cNvSpPr txBox="1"/>
          <p:nvPr/>
        </p:nvSpPr>
        <p:spPr>
          <a:xfrm>
            <a:off x="8284823" y="5687900"/>
            <a:ext cx="1846139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Supplier evidence, unresolved</a:t>
            </a:r>
          </a:p>
        </p:txBody>
      </p:sp>
      <p:sp>
        <p:nvSpPr>
          <p:cNvPr id="231" name="ExampleCell"/>
          <p:cNvSpPr txBox="1"/>
          <p:nvPr/>
        </p:nvSpPr>
        <p:spPr>
          <a:xfrm>
            <a:off x="10130962" y="5687900"/>
            <a:ext cx="1510477" cy="146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8000" tIns="4000" rIns="22000" bIns="4000"/>
          <a:lstStyle/>
          <a:p>
            <a:pPr>
              <a:lnSpc>
                <a:spcPct val="100000"/>
              </a:lnSpc>
              <a:buNone/>
            </a:pPr>
            <a:r>
              <a:rPr lang="en-US" sz="76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/ unbucketed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first-tier subaward records, FY2017–FY2026; (2) SAM.gov Entity API and USAspending UEI / NAICS enrichment; (3) FPDS / DoD PIID records and program scope-exclusion registers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eadcrumb"/>
          <p:cNvSpPr>
            <a:spLocks noGrp="1"/>
          </p:cNvSpPr>
          <p:nvPr>
            <p:ph type="body" sz="quarter" idx="10"/>
          </p:nvPr>
        </p:nvSpPr>
        <p:spPr>
          <a:xfrm>
            <a:off x="453079" y="263452"/>
            <a:ext cx="11282362" cy="153888"/>
          </a:xfrm>
        </p:spPr>
        <p:txBody>
          <a:bodyPr/>
          <a:lstStyle/>
          <a:p>
            <a:r>
              <a:rPr lang="en-US" sz="1000" b="1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Appendix</a:t>
            </a:r>
            <a:r>
              <a:rPr lang="en-US" sz="1000" kern="1200" dirty="0">
                <a:solidFill>
                  <a:srgbClr val="44505C"/>
                </a:solidFill>
                <a:latin typeface="Arial"/>
                <a:ea typeface="Arial"/>
                <a:cs typeface="Arial"/>
              </a:rPr>
              <a:t> / SAM Allocation</a:t>
            </a:r>
          </a:p>
        </p:txBody>
      </p:sp>
      <p:sp>
        <p:nvSpPr>
          <p:cNvPr id="4" name="PrelimChip"/>
          <p:cNvSpPr txBox="1"/>
          <p:nvPr/>
        </p:nvSpPr>
        <p:spPr>
          <a:xfrm>
            <a:off x="10267829" y="111556"/>
            <a:ext cx="1467612" cy="2900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</a:ln>
        </p:spPr>
        <p:txBody>
          <a:bodyPr wrap="square" anchor="ctr" lIns="45720" tIns="9144" rIns="45720" bIns="9144"/>
          <a:lstStyle/>
          <a:p>
            <a:pPr algn="ctr"/>
            <a:r>
              <a:rPr lang="en-US" sz="1200" b="1" kern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Preliminary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3079" y="554500"/>
            <a:ext cx="11282362" cy="640080"/>
          </a:xfrm>
        </p:spPr>
        <p:txBody>
          <a:bodyPr rIns="0"/>
          <a:lstStyle/>
          <a:p>
            <a:r>
              <a:rPr lang="en-US" sz="20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SAM Allocation | Fixed TAM is sliced into work-type homes and overlapping scenario views.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453079" y="1371600"/>
            <a:ext cx="11282362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FY2022–FY2027 average annual TAM and SAM; nominal then-year. The supplier-share step supplies the fixed TAM dollar pool; the evidence classifier supplies modeled work-type shares and residual.</a:t>
            </a:r>
          </a:p>
        </p:txBody>
      </p:sp>
      <p:sp>
        <p:nvSpPr>
          <p:cNvPr id="11" name="OutputChip"/>
          <p:cNvSpPr txBox="1"/>
          <p:nvPr/>
        </p:nvSpPr>
        <p:spPr>
          <a:xfrm>
            <a:off x="453079" y="1637600"/>
            <a:ext cx="11282362" cy="256000"/>
          </a:xfrm>
          <a:prstGeom prst="rect">
            <a:avLst/>
          </a:prstGeom>
          <a:solidFill>
            <a:srgbClr val="E2E9EF"/>
          </a:solidFill>
          <a:ln w="12700">
            <a:solidFill>
              <a:srgbClr val="000000"/>
            </a:solidFill>
          </a:ln>
        </p:spPr>
        <p:txBody>
          <a:bodyPr wrap="square" anchor="ctr" lIns="140000" tIns="32000" rIns="140000" bIns="32000"/>
          <a:lstStyle/>
          <a:p>
            <a:pPr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Allocation output: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TAM, broad component SAM, and scenario SAM views. Scenario views overlap; they are not additive markets.</a:t>
            </a:r>
          </a:p>
        </p:txBody>
      </p:sp>
      <p:sp>
        <p:nvSpPr>
          <p:cNvPr id="12" name="FormulaStrip"/>
          <p:cNvSpPr txBox="1"/>
          <p:nvPr/>
        </p:nvSpPr>
        <p:spPr>
          <a:xfrm>
            <a:off x="453079" y="1949600"/>
            <a:ext cx="11282362" cy="62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0" name="FormulaCard"/>
          <p:cNvSpPr txBox="1"/>
          <p:nvPr/>
        </p:nvSpPr>
        <p:spPr>
          <a:xfrm>
            <a:off x="573079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$3.9B / yr</a:t>
            </a:r>
          </a:p>
        </p:txBody>
      </p:sp>
      <p:sp>
        <p:nvSpPr>
          <p:cNvPr id="102" name="MathOperator mathMultiply"/>
          <p:cNvSpPr>
            <a:spLocks noGrp="1"/>
          </p:cNvSpPr>
          <p:nvPr/>
        </p:nvSpPr>
        <p:spPr>
          <a:xfrm>
            <a:off x="2231806" y="2174600"/>
            <a:ext cx="170000" cy="170000"/>
          </a:xfrm>
          <a:prstGeom prst="mathMultiply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3" name="FormulaCard"/>
          <p:cNvSpPr txBox="1"/>
          <p:nvPr/>
        </p:nvSpPr>
        <p:spPr>
          <a:xfrm>
            <a:off x="2496806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Modeled bucket share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per work type</a:t>
            </a:r>
          </a:p>
        </p:txBody>
      </p:sp>
      <p:sp>
        <p:nvSpPr>
          <p:cNvPr id="105" name="MathOperator mathEqual"/>
          <p:cNvSpPr>
            <a:spLocks noGrp="1"/>
          </p:cNvSpPr>
          <p:nvPr/>
        </p:nvSpPr>
        <p:spPr>
          <a:xfrm>
            <a:off x="4155533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06" name="FormulaCard"/>
          <p:cNvSpPr txBox="1"/>
          <p:nvPr/>
        </p:nvSpPr>
        <p:spPr>
          <a:xfrm>
            <a:off x="4420533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home per dollar</a:t>
            </a:r>
          </a:p>
        </p:txBody>
      </p:sp>
      <p:sp>
        <p:nvSpPr>
          <p:cNvPr id="120" name="FormulaCard"/>
          <p:cNvSpPr txBox="1"/>
          <p:nvPr/>
        </p:nvSpPr>
        <p:spPr>
          <a:xfrm>
            <a:off x="6204260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Named-bucket SAM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$3.3B / yr</a:t>
            </a:r>
          </a:p>
        </p:txBody>
      </p:sp>
      <p:sp>
        <p:nvSpPr>
          <p:cNvPr id="122" name="MathOperator mathPlus"/>
          <p:cNvSpPr>
            <a:spLocks noGrp="1"/>
          </p:cNvSpPr>
          <p:nvPr/>
        </p:nvSpPr>
        <p:spPr>
          <a:xfrm>
            <a:off x="7862987" y="2174600"/>
            <a:ext cx="170000" cy="170000"/>
          </a:xfrm>
          <a:prstGeom prst="mathPlus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3" name="FormulaCard"/>
          <p:cNvSpPr txBox="1"/>
          <p:nvPr/>
        </p:nvSpPr>
        <p:spPr>
          <a:xfrm>
            <a:off x="8127987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$0.6B / yr</a:t>
            </a:r>
          </a:p>
        </p:txBody>
      </p:sp>
      <p:sp>
        <p:nvSpPr>
          <p:cNvPr id="125" name="MathOperator mathEqual"/>
          <p:cNvSpPr>
            <a:spLocks noGrp="1"/>
          </p:cNvSpPr>
          <p:nvPr/>
        </p:nvSpPr>
        <p:spPr>
          <a:xfrm>
            <a:off x="9786714" y="2174600"/>
            <a:ext cx="170000" cy="170000"/>
          </a:xfrm>
          <a:prstGeom prst="mathEqual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  <a:buNone/>
            </a:pPr>
            <a:endParaRPr lang="en-US"/>
          </a:p>
        </p:txBody>
      </p:sp>
      <p:sp>
        <p:nvSpPr>
          <p:cNvPr id="126" name="FormulaCard"/>
          <p:cNvSpPr txBox="1"/>
          <p:nvPr/>
        </p:nvSpPr>
        <p:spPr>
          <a:xfrm>
            <a:off x="10051714" y="2069600"/>
            <a:ext cx="1563727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anchor="ctr" lIns="50000" tIns="36000" rIns="50000" bIns="36000"/>
          <a:lstStyle/>
          <a:p>
            <a:pPr algn="ctr">
              <a:lnSpc>
                <a:spcPct val="104000"/>
              </a:lnSpc>
              <a:spcAft>
                <a:spcPts val="13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supplier TAM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$3.9B / yr</a:t>
            </a:r>
          </a:p>
        </p:txBody>
      </p:sp>
      <p:sp>
        <p:nvSpPr>
          <p:cNvPr id="20" name="TableLabel"/>
          <p:cNvSpPr txBox="1"/>
          <p:nvPr/>
        </p:nvSpPr>
        <p:spPr>
          <a:xfrm>
            <a:off x="453079" y="2641600"/>
            <a:ext cx="68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b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Work-type allocation: mutually exclusive homes mapped into overlapping scenario views</a:t>
            </a:r>
          </a:p>
        </p:txBody>
      </p:sp>
      <p:graphicFrame>
        <p:nvGraphicFramePr>
          <p:cNvPr id="21" name="WorkTypeScenarioCrosswalk"/>
          <p:cNvGraphicFramePr>
            <a:graphicFrameLocks noGrp="1"/>
          </p:cNvGraphicFramePr>
          <p:nvPr/>
        </p:nvGraphicFramePr>
        <p:xfrm>
          <a:off x="453079" y="2897600"/>
          <a:ext cx="6800000" cy="1940979"/>
        </p:xfrm>
        <a:graphic>
          <a:graphicData uri="http://schemas.openxmlformats.org/drawingml/2006/table">
            <a:tbl>
              <a:tblPr firstRow="1" firstCol="1" bandRow="0">
                <a:tableStyleId>{2D5ABB26-0587-4C30-8999-92F81FD0307C}</a:tableStyleId>
              </a:tblPr>
              <a:tblGrid>
                <a:gridCol w="2584000"/>
                <a:gridCol w="1156000"/>
                <a:gridCol w="748000"/>
                <a:gridCol w="748000"/>
                <a:gridCol w="748000"/>
                <a:gridCol w="816000"/>
              </a:tblGrid>
              <a:tr h="220979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WORK-TYPE HOME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AVG TAM ($M)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BROAD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HM&amp;E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ELECTRICAL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63746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Electrical power / distribution / generation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$1,263M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Piping / valves / pumps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$662M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Structural fabrication / modules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$590M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Machining / mechanical / propulsion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$334M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Coatings / insulation / decking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$192M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Castings / forgings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$151M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HVAC / ventilation / chilled water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$93M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B6C8D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15000">
                <a:tc>
                  <a:txBody>
                    <a:bodyPr anchor="ctr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Residual / unbucketed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$596M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2" name="TableFootnote"/>
          <p:cNvSpPr txBox="1"/>
          <p:nvPr/>
        </p:nvSpPr>
        <p:spPr>
          <a:xfrm>
            <a:off x="453079" y="4878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stays inside fixed TAM and dilutes named-bucket shares, but stays outside broad and targeted scenario SAM.</a:t>
            </a:r>
          </a:p>
        </p:txBody>
      </p:sp>
      <p:sp>
        <p:nvSpPr>
          <p:cNvPr id="23" name="TableFootnote"/>
          <p:cNvSpPr txBox="1"/>
          <p:nvPr/>
        </p:nvSpPr>
        <p:spPr>
          <a:xfrm>
            <a:off x="453079" y="5042579"/>
            <a:ext cx="680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4000" rIns="40000" bIns="14000"/>
          <a:lstStyle/>
          <a:p>
            <a:pPr>
              <a:lnSpc>
                <a:spcPct val="106000"/>
              </a:lnSpc>
              <a:buNone/>
            </a:pPr>
            <a:r>
              <a:rPr lang="en-US" sz="780" b="1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treatment: </a:t>
            </a:r>
            <a:r>
              <a:rPr lang="en-US" sz="780" i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modular assemblies come from registry entity flags, not from summing one or more work-type rows.</a:t>
            </a:r>
          </a:p>
        </p:txBody>
      </p:sp>
      <p:sp>
        <p:nvSpPr>
          <p:cNvPr id="30" name="ScenarioRailHeader"/>
          <p:cNvSpPr txBox="1"/>
          <p:nvPr/>
        </p:nvSpPr>
        <p:spPr>
          <a:xfrm>
            <a:off x="7553079" y="2641600"/>
            <a:ext cx="4182362" cy="280000"/>
          </a:xfrm>
          <a:prstGeom prst="rect">
            <a:avLst/>
          </a:prstGeom>
          <a:solidFill>
            <a:srgbClr val="263746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 algn="ctr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VIEWS: CUTS OF ONE TAM POOL</a:t>
            </a:r>
          </a:p>
        </p:txBody>
      </p:sp>
      <p:sp>
        <p:nvSpPr>
          <p:cNvPr id="31" name="ScenarioBroad"/>
          <p:cNvSpPr txBox="1"/>
          <p:nvPr/>
        </p:nvSpPr>
        <p:spPr>
          <a:xfrm>
            <a:off x="7553079" y="2981600"/>
            <a:ext cx="4182362" cy="640000"/>
          </a:xfrm>
          <a:prstGeom prst="rect">
            <a:avLst/>
          </a:prstGeom>
          <a:solidFill>
            <a:srgbClr val="B6C8D8"/>
          </a:solidFill>
          <a:ln w="12700">
            <a:solidFill>
              <a:srgbClr val="000000"/>
            </a:solidFill>
          </a:ln>
        </p:spPr>
        <p:txBody>
          <a:bodyPr wrap="square" anchor="ctr" lIns="150000" tIns="80000" rIns="150000" bIns="80000"/>
          <a:lstStyle/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COMPONENT MFG</a:t>
            </a:r>
          </a:p>
          <a:p>
            <a:pPr algn="ctr">
              <a:lnSpc>
                <a:spcPct val="115000"/>
              </a:lnSpc>
              <a:spcAft>
                <a:spcPts val="12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$3.3B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$19.7B cumulative; all seven named work-type homes</a:t>
            </a:r>
          </a:p>
        </p:txBody>
      </p:sp>
      <p:sp>
        <p:nvSpPr>
          <p:cNvPr id="32" name="ScenarioCut"/>
          <p:cNvSpPr txBox="1"/>
          <p:nvPr/>
        </p:nvSpPr>
        <p:spPr>
          <a:xfrm>
            <a:off x="7553079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HM&amp;E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$2.4B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machining + piping + electrical + HVAC</a:t>
            </a:r>
          </a:p>
        </p:txBody>
      </p:sp>
      <p:sp>
        <p:nvSpPr>
          <p:cNvPr id="33" name="ScenarioCut"/>
          <p:cNvSpPr txBox="1"/>
          <p:nvPr/>
        </p:nvSpPr>
        <p:spPr>
          <a:xfrm>
            <a:off x="9689260" y="36856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ELECTRICAL / POWER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$1.3B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ship power, distribution, generation only</a:t>
            </a:r>
          </a:p>
        </p:txBody>
      </p:sp>
      <p:sp>
        <p:nvSpPr>
          <p:cNvPr id="34" name="ScenarioCut"/>
          <p:cNvSpPr txBox="1"/>
          <p:nvPr/>
        </p:nvSpPr>
        <p:spPr>
          <a:xfrm>
            <a:off x="7553079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METAL COMPONENTS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$1.1B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structural + machining + castings</a:t>
            </a:r>
          </a:p>
        </p:txBody>
      </p:sp>
      <p:sp>
        <p:nvSpPr>
          <p:cNvPr id="35" name="ScenarioCut"/>
          <p:cNvSpPr txBox="1"/>
          <p:nvPr/>
        </p:nvSpPr>
        <p:spPr>
          <a:xfrm>
            <a:off x="9689260" y="4307800"/>
            <a:ext cx="2046181" cy="532200"/>
          </a:xfrm>
          <a:prstGeom prst="rect">
            <a:avLst/>
          </a:prstGeom>
          <a:solidFill>
            <a:srgbClr val="3D5972"/>
          </a:solidFill>
          <a:ln w="12700">
            <a:solidFill>
              <a:srgbClr val="000000"/>
            </a:solidFill>
          </a:ln>
        </p:spPr>
        <p:txBody>
          <a:bodyPr wrap="square" anchor="ctr" lIns="80000" tIns="22000" rIns="80000" bIns="22000"/>
          <a:lstStyle/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MODULAR ASSEMBLIES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$381M / yr</a:t>
            </a:r>
          </a:p>
          <a:p>
            <a:pPr algn="ctr">
              <a:lnSpc>
                <a:spcPct val="104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entity-flagged suppliers, not bucket union</a:t>
            </a:r>
          </a:p>
        </p:txBody>
      </p:sp>
      <p:sp>
        <p:nvSpPr>
          <p:cNvPr id="36" name="CaveatChip"/>
          <p:cNvSpPr txBox="1"/>
          <p:nvPr/>
        </p:nvSpPr>
        <p:spPr>
          <a:xfrm>
            <a:off x="7553079" y="4900000"/>
            <a:ext cx="4182362" cy="3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txBody>
          <a:bodyPr wrap="square" anchor="ctr" lIns="120000" tIns="40000" rIns="120000" bIns="40000"/>
          <a:lstStyle/>
          <a:p>
            <a:pPr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 not add scenarios: </a:t>
            </a: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broad, HM&amp;E, electrical, metal, and modular are overlapping leadership views of one fixed supplier TAM pool.</a:t>
            </a:r>
          </a:p>
        </p:txBody>
      </p:sp>
      <p:sp>
        <p:nvSpPr>
          <p:cNvPr id="40" name="Commentary"/>
          <p:cNvSpPr txBox="1"/>
          <p:nvPr/>
        </p:nvSpPr>
        <p:spPr>
          <a:xfrm>
            <a:off x="453079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 types classify dollars once; scenarios re-cut them multiple ways.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supplier dollar is assigned one work-type home or residual, but Broad, HM&amp;E, Metal, Electrical, and Modular are overlapping views built from those homes and flags.</a:t>
            </a:r>
          </a:p>
        </p:txBody>
      </p:sp>
      <p:sp>
        <p:nvSpPr>
          <p:cNvPr id="41" name="Commentary"/>
          <p:cNvSpPr txBox="1"/>
          <p:nvPr/>
        </p:nvSpPr>
        <p:spPr>
          <a:xfrm>
            <a:off x="6224260" y="5350000"/>
            <a:ext cx="5511181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20000" rIns="40000" bIns="20000"/>
          <a:lstStyle/>
          <a:p>
            <a:pPr>
              <a:lnSpc>
                <a:spcPct val="108000"/>
              </a:lnSpc>
              <a:spcAft>
                <a:spcPts val="24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 keeps the allocation conservative.</a:t>
            </a:r>
          </a:p>
          <a:p>
            <a:pPr marL="142875" indent="-142875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Unresolved supplier dollars remain in the fixed TAM reconciliation, but they stay outside named scenario SAM until registry, NAICS, or override evidence supports assignment.</a:t>
            </a:r>
          </a:p>
        </p:txBody>
      </p:sp>
      <p:sp>
        <p:nvSpPr>
          <p:cNvPr id="9999" name="Sources"/>
          <p:cNvSpPr txBox="1"/>
          <p:nvPr/>
        </p:nvSpPr>
        <p:spPr>
          <a:xfrm>
            <a:off x="453079" y="5930000"/>
            <a:ext cx="11282362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r>
              <a:rPr lang="en-US" sz="800" kern="1200" dirty="0">
                <a:solidFill>
                  <a:srgbClr val="162029"/>
                </a:solidFill>
                <a:latin typeface="Arial"/>
                <a:ea typeface="Arial"/>
                <a:cs typeface="Arial"/>
              </a:rPr>
              <a:t>Sources: (1) SAM.gov FSRS / FFATA subaward records, FY2017–FY2026; (2) SAM.gov Entity API / USAspending NAICS enrichment and work-type evidence; (3) DoD/DoW POP corpus and Navy SCN budget books supporting fixed supplier TAM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deck_consolidated</Application>
  <PresentationFormat>Widescreen</PresentationFormat>
  <Slides>23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Distributed Shipbuilding Consolidated - Outsourced Construction TAM &amp; SAM</dc:title>
  <dc:creator>deck_consolidated build_deck.py</dc:creator>
  <cp:lastModifiedBy>deck_consolidated build_deck.py</cp:lastModifiedBy>
  <cp:revision>1</cp:revision>
  <dcterms:created xsi:type="dcterms:W3CDTF">2026-06-09T01:25:28Z</dcterms:created>
  <dcterms:modified xsi:type="dcterms:W3CDTF">2026-06-09T01:25:28Z</dcterms:modified>
</cp:coreProperties>
</file>