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Award Analysis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Reference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Reference | Scope PIIDs, the Capability-Domain and Primary-Output archetypes, and the native subaward fields the analysis reads.</a:t>
            </a:r>
          </a:p>
        </p:txBody>
      </p:sp>
      <p:graphicFrame>
        <p:nvGraphicFramePr>
          <p:cNvPr id="100" name="data_ref_piids"/>
          <p:cNvGraphicFramePr>
            <a:graphicFrameLocks noGrp="1"/>
          </p:cNvGraphicFramePr>
          <p:nvPr/>
        </p:nvGraphicFramePr>
        <p:xfrm>
          <a:off x="452628" y="1280160"/>
          <a:ext cx="11282782" cy="914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9616"/>
                <a:gridCol w="9782251"/>
              </a:tblGrid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Platform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Hull-builder new-construction contract PIIDs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SSN · Virginia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N0002409C2104, N0002410C2118, N0002412C2115, N0002416C2111, N0002417C2100, N0002424C2110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SSBN · Columbia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N0002417C2117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· DDG-51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N0002402C2303, N0002402C2304, N0002403C2306, N0002409C2302, N0002411C2305, N0002411C2307, N0002411C2309, N0002413C2305, N0002413C2307, N0002418C2305, N0002418C2307, N0002423C2305, N0002423C2307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data_ref_domains"/>
          <p:cNvGraphicFramePr>
            <a:graphicFrameLocks noGrp="1"/>
          </p:cNvGraphicFramePr>
          <p:nvPr/>
        </p:nvGraphicFramePr>
        <p:xfrm>
          <a:off x="452628" y="2331720"/>
          <a:ext cx="5486400" cy="23774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5760"/>
                <a:gridCol w="2560320"/>
                <a:gridCol w="2560320"/>
              </a:tblGrid>
              <a:tr h="18288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800"/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Capability Domain (D)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covers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Hull, Structures &amp; Marine Fabrication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Hull, decks, weldments, foundations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 &amp; Power-Transmission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Turbines, gears, shafting, propulsors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Power — Generation, Conversion &amp; Distribution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Generators, switchboards, switchgear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Fluid, Pressure &amp; Piping Systems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Valves, pumps, manifolds, piping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Thermal, HVAC &amp; Life-Support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Chillers, HVAC, heat exchangers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Mission, Combat &amp; Communications Systems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Sonar, radar, fire-control, ordnance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Electronic Components, Interconnect &amp; Cable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Penetrators, connectors, cable, harnesses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D8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Mechanical Handling &amp; Deck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Davits, cranes, hoists, handling gear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Specialty Materials &amp; Precision Processes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Forging, casting, machining, composites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Interiors, Habitability &amp; Outfitting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Furniture, berthing outfit, insulation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Services &amp; Non-Material Support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Engineering, repair, logistics, software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Unresolved / Insufficient Evidence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single domain defensible; thin evidence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data_ref_outputs"/>
          <p:cNvGraphicFramePr>
            <a:graphicFrameLocks noGrp="1"/>
          </p:cNvGraphicFramePr>
          <p:nvPr/>
        </p:nvGraphicFramePr>
        <p:xfrm>
          <a:off x="6249010" y="2331720"/>
          <a:ext cx="5486400" cy="1463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5760"/>
                <a:gridCol w="2560320"/>
                <a:gridCol w="2560320"/>
              </a:tblGrid>
              <a:tr h="18288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800"/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Primary Output (P)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covers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Materials, Stock &amp; Bulk Inputs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Plate, bar, forgings, castings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Finished Parts &amp; Fabricated Components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Machined parts, fittings, pipe spools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Functional Equipment &amp;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Engines, pumps, valves, switchboards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Integrated Systems &amp; Configured Shipsets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Sonar shipsets, drive packages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Outfitted Structures &amp; Ship Modules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units, outfitted modules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Services &amp; Technical Work Products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Engineering, test, install, repair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Unresolved / Attribution-Only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defensible output; attribution-only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data_ref_award_fields"/>
          <p:cNvGraphicFramePr>
            <a:graphicFrameLocks noGrp="1"/>
          </p:cNvGraphicFramePr>
          <p:nvPr/>
        </p:nvGraphicFramePr>
        <p:xfrm>
          <a:off x="452628" y="4846320"/>
          <a:ext cx="11282782" cy="106710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9616"/>
                <a:gridCol w="3050438"/>
                <a:gridCol w="1499616"/>
                <a:gridCol w="1249985"/>
                <a:gridCol w="850392"/>
                <a:gridCol w="1000354"/>
                <a:gridCol w="2132381"/>
              </a:tblGrid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 UEI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date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NAICS-4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 ID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N0002412C2115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BAKER SHEET METAL CORPORATION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RYRLL49HWN65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2016-02-03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20692413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N0002412C2115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ARNOLD MAGNETICS CORPORATION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RK6GKSXPC8W7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2016-02-03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20692322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N0002417C2117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N1PJDANWUJ61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2022-10-28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20960134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N0002411C2307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WESTLAND TECHNOLOGIES, INC.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HMBSX7Z72UK4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2013-05-09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3262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20684452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Sources"/>
          <p:cNvSpPr txBox="1"/>
          <p:nvPr/>
        </p:nvSpPr>
        <p:spPr>
          <a:xfrm>
            <a:off x="452628" y="6172200"/>
            <a:ext cx="1128278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FSRS / SAM.gov first-tier subaward pull, hull-builder new-construction PIIDs (GDEB submarines; GD-BIW + HII-Ingalls DDG-51). Design-engineering, ship-alteration, planning-yard and GFE-prime contracts are out of scope — leaving Columbia one in-scope construction PIID. Capability Domain and Primary Output are classified downstream from the vendor, not the award text.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deck_data_reference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- Data Reference</dc:title>
  <dc:creator>deck_data_reference build_deck.py</dc:creator>
  <cp:lastModifiedBy>deck_data_reference build_deck.py</cp:lastModifiedBy>
  <cp:revision>1</cp:revision>
  <dcterms:created xsi:type="dcterms:W3CDTF">2026-06-26T13:39:07Z</dcterms:created>
  <dcterms:modified xsi:type="dcterms:W3CDTF">2026-06-26T13:39:07Z</dcterms:modified>
</cp:coreProperties>
</file>