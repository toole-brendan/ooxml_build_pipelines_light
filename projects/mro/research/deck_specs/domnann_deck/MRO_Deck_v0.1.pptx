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Research Context &amp; Approach</a:t>
            </a:r>
            <a:r>
              <a:rPr sz="1800" b="0" i="0">
                <a:solidFill>
                  <a:srgbClr val="8A9BB0"/>
                </a:solidFill>
                <a:latin typeface="Helvetica Neue"/>
              </a:rPr>
              <a:t>   |   </a:t>
            </a:r>
            <a:r>
              <a:rPr sz="1800" b="0" i="0">
                <a:solidFill>
                  <a:srgbClr val="2A3340"/>
                </a:solidFill>
                <a:latin typeface="Helvetica Neue"/>
              </a:rPr>
              <a:t>Sizing U.S. Navy and Coast Guard MRO contracting activity to support the new shipyard's business-line decision</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364327" cy="411480"/>
          </a:xfrm>
          <a:prstGeom prst="rect">
            <a:avLst/>
          </a:prstGeom>
          <a:noFill/>
        </p:spPr>
        <p:txBody>
          <a:bodyPr wrap="square" lIns="0" rIns="0" tIns="0" bIns="0" anchor="t">
            <a:spAutoFit/>
          </a:bodyPr>
          <a:lstStyle/>
          <a:p>
            <a:pPr algn="l"/>
            <a:r>
              <a:rPr sz="1500" b="1" i="0">
                <a:solidFill>
                  <a:srgbClr val="1F2D44"/>
                </a:solidFill>
                <a:latin typeface="Helvetica Neue"/>
              </a:rPr>
              <a:t>Context</a:t>
            </a:r>
          </a:p>
        </p:txBody>
      </p:sp>
      <p:cxnSp>
        <p:nvCxnSpPr>
          <p:cNvPr id="5" name="Connector 4"/>
          <p:cNvCxnSpPr/>
          <p:nvPr/>
        </p:nvCxnSpPr>
        <p:spPr>
          <a:xfrm>
            <a:off x="502920" y="1737360"/>
            <a:ext cx="5364327.5" cy="0"/>
          </a:xfrm>
          <a:prstGeom prst="line">
            <a:avLst/>
          </a:prstGeom>
          <a:ln w="9525">
            <a:solidFill>
              <a:srgbClr val="24365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82880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Saronic is finalizing dimensions for a new U.S. shipyard.</a:t>
            </a:r>
          </a:p>
        </p:txBody>
      </p:sp>
      <p:sp>
        <p:nvSpPr>
          <p:cNvPr id="7" name="TextBox 6"/>
          <p:cNvSpPr txBox="1"/>
          <p:nvPr/>
        </p:nvSpPr>
        <p:spPr>
          <a:xfrm>
            <a:off x="502920" y="242316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Candidate sites under evaluation: Gulf Coast (Brownsville, TX) and California.</a:t>
            </a:r>
          </a:p>
        </p:txBody>
      </p:sp>
      <p:sp>
        <p:nvSpPr>
          <p:cNvPr id="8" name="TextBox 7"/>
          <p:cNvSpPr txBox="1"/>
          <p:nvPr/>
        </p:nvSpPr>
        <p:spPr>
          <a:xfrm>
            <a:off x="502920" y="301752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Leadership is deciding whether to include U.S. Navy and U.S. Coast Guard MRO contracting among the yard's business lines.</a:t>
            </a:r>
          </a:p>
        </p:txBody>
      </p:sp>
      <p:sp>
        <p:nvSpPr>
          <p:cNvPr id="9" name="TextBox 8"/>
          <p:cNvSpPr txBox="1"/>
          <p:nvPr/>
        </p:nvSpPr>
        <p:spPr>
          <a:xfrm>
            <a:off x="502920" y="361188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This research quantifies the MRO market and characterizes its structure so the business-line decision can be informed by FY2025 market data rather than planning assumptions.</a:t>
            </a:r>
          </a:p>
        </p:txBody>
      </p:sp>
      <p:sp>
        <p:nvSpPr>
          <p:cNvPr id="10" name="TextBox 9"/>
          <p:cNvSpPr txBox="1"/>
          <p:nvPr/>
        </p:nvSpPr>
        <p:spPr>
          <a:xfrm>
            <a:off x="6324447" y="1325880"/>
            <a:ext cx="5364327" cy="411480"/>
          </a:xfrm>
          <a:prstGeom prst="rect">
            <a:avLst/>
          </a:prstGeom>
          <a:noFill/>
        </p:spPr>
        <p:txBody>
          <a:bodyPr wrap="square" lIns="0" rIns="0" tIns="0" bIns="0" anchor="t">
            <a:spAutoFit/>
          </a:bodyPr>
          <a:lstStyle/>
          <a:p>
            <a:pPr algn="l"/>
            <a:r>
              <a:rPr sz="1500" b="1" i="0">
                <a:solidFill>
                  <a:srgbClr val="1F2D44"/>
                </a:solidFill>
                <a:latin typeface="Helvetica Neue"/>
              </a:rPr>
              <a:t>Objectives</a:t>
            </a:r>
          </a:p>
        </p:txBody>
      </p:sp>
      <p:cxnSp>
        <p:nvCxnSpPr>
          <p:cNvPr id="11" name="Connector 10"/>
          <p:cNvCxnSpPr/>
          <p:nvPr/>
        </p:nvCxnSpPr>
        <p:spPr>
          <a:xfrm>
            <a:off x="6324447.5" y="1737360"/>
            <a:ext cx="5364327.5" cy="0"/>
          </a:xfrm>
          <a:prstGeom prst="line">
            <a:avLst/>
          </a:prstGeom>
          <a:ln w="9525">
            <a:solidFill>
              <a:srgbClr val="24365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324447" y="182880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Size the FY2025 U.S. Navy and U.S. Coast Guard MRO contracting market (TAM) using FPDS contract obligations.</a:t>
            </a:r>
          </a:p>
        </p:txBody>
      </p:sp>
      <p:sp>
        <p:nvSpPr>
          <p:cNvPr id="13" name="TextBox 12"/>
          <p:cNvSpPr txBox="1"/>
          <p:nvPr/>
        </p:nvSpPr>
        <p:spPr>
          <a:xfrm>
            <a:off x="6324447" y="242316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Decompose TAM by work segment, vessel category, prime contractor, Regional Maintenance Center (RMC) geography, and funding appropriation.</a:t>
            </a:r>
          </a:p>
        </p:txBody>
      </p:sp>
      <p:sp>
        <p:nvSpPr>
          <p:cNvPr id="14" name="TextBox 13"/>
          <p:cNvSpPr txBox="1"/>
          <p:nvPr/>
        </p:nvSpPr>
        <p:spPr>
          <a:xfrm>
            <a:off x="6324447" y="301752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Identify the structural characteristics of the largest segment (depot ship repair) and its entry structure.</a:t>
            </a:r>
          </a:p>
        </p:txBody>
      </p:sp>
      <p:sp>
        <p:nvSpPr>
          <p:cNvPr id="15" name="TextBox 14"/>
          <p:cNvSpPr txBox="1"/>
          <p:nvPr/>
        </p:nvSpPr>
        <p:spPr>
          <a:xfrm>
            <a:off x="6324447" y="3611880"/>
            <a:ext cx="5364327" cy="548640"/>
          </a:xfrm>
          <a:prstGeom prst="rect">
            <a:avLst/>
          </a:prstGeom>
          <a:noFill/>
        </p:spPr>
        <p:txBody>
          <a:bodyPr wrap="square" lIns="137160" rIns="45720" tIns="0" bIns="0">
            <a:spAutoFit/>
          </a:bodyPr>
          <a:lstStyle/>
          <a:p>
            <a:pPr algn="l"/>
            <a:r>
              <a:rPr sz="1100" b="0" i="0">
                <a:solidFill>
                  <a:srgbClr val="6F8197"/>
                </a:solidFill>
                <a:latin typeface="Helvetica Neue"/>
              </a:rPr>
              <a:t>- </a:t>
            </a:r>
            <a:r>
              <a:rPr sz="1100" b="0" i="0">
                <a:solidFill>
                  <a:srgbClr val="2A3340"/>
                </a:solidFill>
                <a:latin typeface="Helvetica Neue"/>
              </a:rPr>
              <a:t>Reconcile the TAM against adjacent ship-dollar pools (newbuild, reactor procurement, public-yard labor) that are outside MRO scope but potentially relevant context.</a:t>
            </a:r>
          </a:p>
        </p:txBody>
      </p:sp>
      <p:cxnSp>
        <p:nvCxnSpPr>
          <p:cNvPr id="16" name="Connector 15"/>
          <p:cNvCxnSpPr/>
          <p:nvPr/>
        </p:nvCxnSpPr>
        <p:spPr>
          <a:xfrm>
            <a:off x="6095847.5" y="1325880"/>
            <a:ext cx="0.0" cy="5029200"/>
          </a:xfrm>
          <a:prstGeom prst="line">
            <a:avLst/>
          </a:prstGeom>
          <a:ln w="6350">
            <a:solidFill>
              <a:srgbClr val="C9D2DC"/>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TAM &amp; Scope</a:t>
            </a:r>
            <a:r>
              <a:rPr sz="1800" b="0" i="0">
                <a:solidFill>
                  <a:srgbClr val="8A9BB0"/>
                </a:solidFill>
                <a:latin typeface="Helvetica Neue"/>
              </a:rPr>
              <a:t>   |   </a:t>
            </a:r>
            <a:r>
              <a:rPr sz="1800" b="0" i="0">
                <a:solidFill>
                  <a:srgbClr val="2A3340"/>
                </a:solidFill>
                <a:latin typeface="Helvetica Neue"/>
              </a:rPr>
              <a:t>FY2025 Navy and Coast Guard MRO TAM totaled $7.1B</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1156716" y="1417320"/>
            <a:ext cx="4636008" cy="685800"/>
          </a:xfrm>
          <a:prstGeom prst="rect">
            <a:avLst/>
          </a:prstGeom>
          <a:solidFill>
            <a:srgbClr val="DBE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1" i="0">
                <a:solidFill>
                  <a:srgbClr val="1F2D44"/>
                </a:solidFill>
                <a:latin typeface="Helvetica Neue"/>
              </a:rPr>
              <a:t>2,539 Active PSCs</a:t>
            </a:r>
          </a:p>
          <a:p>
            <a:pPr algn="ctr"/>
            <a:r>
              <a:rPr sz="950" b="0" i="1">
                <a:solidFill>
                  <a:srgbClr val="1F2D44"/>
                </a:solidFill>
                <a:latin typeface="Helvetica Neue"/>
              </a:rPr>
              <a:t>Every federal contract-action code category</a:t>
            </a:r>
          </a:p>
        </p:txBody>
      </p:sp>
      <p:sp>
        <p:nvSpPr>
          <p:cNvPr id="5" name="TextBox 4"/>
          <p:cNvSpPr txBox="1"/>
          <p:nvPr/>
        </p:nvSpPr>
        <p:spPr>
          <a:xfrm>
            <a:off x="1156716" y="2103120"/>
            <a:ext cx="4636008" cy="256032"/>
          </a:xfrm>
          <a:prstGeom prst="rect">
            <a:avLst/>
          </a:prstGeom>
          <a:noFill/>
        </p:spPr>
        <p:txBody>
          <a:bodyPr wrap="square" tIns="0" bIns="0">
            <a:spAutoFit/>
          </a:bodyPr>
          <a:lstStyle/>
          <a:p>
            <a:pPr algn="ctr"/>
            <a:r>
              <a:rPr sz="1200" b="1" i="0">
                <a:solidFill>
                  <a:srgbClr val="6F8197"/>
                </a:solidFill>
                <a:latin typeface="Helvetica Neue"/>
              </a:rPr>
              <a:t>v  </a:t>
            </a:r>
            <a:r>
              <a:rPr sz="900" b="0" i="1">
                <a:solidFill>
                  <a:srgbClr val="4B5666"/>
                </a:solidFill>
                <a:latin typeface="Helvetica Neue"/>
              </a:rPr>
              <a:t>USN / USCG only, Services codes only</a:t>
            </a:r>
          </a:p>
        </p:txBody>
      </p:sp>
      <p:sp>
        <p:nvSpPr>
          <p:cNvPr id="6" name="Rectangle 5"/>
          <p:cNvSpPr/>
          <p:nvPr/>
        </p:nvSpPr>
        <p:spPr>
          <a:xfrm>
            <a:off x="1156716" y="2359152"/>
            <a:ext cx="4636008" cy="685800"/>
          </a:xfrm>
          <a:prstGeom prst="rect">
            <a:avLst/>
          </a:prstGeom>
          <a:solidFill>
            <a:srgbClr val="C5D6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1" i="0">
                <a:solidFill>
                  <a:srgbClr val="1F2D44"/>
                </a:solidFill>
                <a:latin typeface="Helvetica Neue"/>
              </a:rPr>
              <a:t>~1,800 Services-class PSCs</a:t>
            </a:r>
          </a:p>
          <a:p>
            <a:pPr algn="ctr"/>
            <a:r>
              <a:rPr sz="950" b="0" i="1">
                <a:solidFill>
                  <a:srgbClr val="1F2D44"/>
                </a:solidFill>
                <a:latin typeface="Helvetica Neue"/>
              </a:rPr>
              <a:t>Services-only codes (J, K, N, H, L, M families); products excluded</a:t>
            </a:r>
          </a:p>
        </p:txBody>
      </p:sp>
      <p:sp>
        <p:nvSpPr>
          <p:cNvPr id="7" name="TextBox 6"/>
          <p:cNvSpPr txBox="1"/>
          <p:nvPr/>
        </p:nvSpPr>
        <p:spPr>
          <a:xfrm>
            <a:off x="1156716" y="3044952"/>
            <a:ext cx="4636008" cy="256032"/>
          </a:xfrm>
          <a:prstGeom prst="rect">
            <a:avLst/>
          </a:prstGeom>
          <a:noFill/>
        </p:spPr>
        <p:txBody>
          <a:bodyPr wrap="square" tIns="0" bIns="0">
            <a:spAutoFit/>
          </a:bodyPr>
          <a:lstStyle/>
          <a:p>
            <a:pPr algn="ctr"/>
            <a:r>
              <a:rPr sz="1200" b="1" i="0">
                <a:solidFill>
                  <a:srgbClr val="6F8197"/>
                </a:solidFill>
                <a:latin typeface="Helvetica Neue"/>
              </a:rPr>
              <a:t>v  </a:t>
            </a:r>
            <a:r>
              <a:rPr sz="900" b="0" i="1">
                <a:solidFill>
                  <a:srgbClr val="4B5666"/>
                </a:solidFill>
                <a:latin typeface="Helvetica Neue"/>
              </a:rPr>
              <a:t>MRO codes only</a:t>
            </a:r>
          </a:p>
        </p:txBody>
      </p:sp>
      <p:sp>
        <p:nvSpPr>
          <p:cNvPr id="8" name="Rectangle 7"/>
          <p:cNvSpPr/>
          <p:nvPr/>
        </p:nvSpPr>
        <p:spPr>
          <a:xfrm>
            <a:off x="1156716" y="3300984"/>
            <a:ext cx="4636008" cy="685800"/>
          </a:xfrm>
          <a:prstGeom prst="rect">
            <a:avLst/>
          </a:prstGeom>
          <a:solidFill>
            <a:srgbClr val="2436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1" i="0">
                <a:solidFill>
                  <a:srgbClr val="FFFFFF"/>
                </a:solidFill>
                <a:latin typeface="Helvetica Neue"/>
              </a:rPr>
              <a:t>65 Ship MRO PSCs</a:t>
            </a:r>
          </a:p>
          <a:p>
            <a:pPr algn="ctr"/>
            <a:r>
              <a:rPr sz="950" b="0" i="1">
                <a:solidFill>
                  <a:srgbClr val="FFFFFF"/>
                </a:solidFill>
                <a:latin typeface="Helvetica Neue"/>
              </a:rPr>
              <a:t>Navy + USCG ship repair, modification, overhaul and husbanding codes</a:t>
            </a:r>
          </a:p>
        </p:txBody>
      </p:sp>
      <p:sp>
        <p:nvSpPr>
          <p:cNvPr id="9" name="TextBox 8"/>
          <p:cNvSpPr txBox="1"/>
          <p:nvPr/>
        </p:nvSpPr>
        <p:spPr>
          <a:xfrm>
            <a:off x="1156716" y="3986784"/>
            <a:ext cx="4636008" cy="256032"/>
          </a:xfrm>
          <a:prstGeom prst="rect">
            <a:avLst/>
          </a:prstGeom>
          <a:noFill/>
        </p:spPr>
        <p:txBody>
          <a:bodyPr wrap="square" tIns="0" bIns="0">
            <a:spAutoFit/>
          </a:bodyPr>
          <a:lstStyle/>
          <a:p>
            <a:pPr algn="ctr"/>
            <a:r>
              <a:rPr sz="1200" b="1" i="0">
                <a:solidFill>
                  <a:srgbClr val="6F8197"/>
                </a:solidFill>
                <a:latin typeface="Helvetica Neue"/>
              </a:rPr>
              <a:t>v  </a:t>
            </a:r>
            <a:r>
              <a:rPr sz="900" b="0" i="1">
                <a:solidFill>
                  <a:srgbClr val="4B5666"/>
                </a:solidFill>
                <a:latin typeface="Helvetica Neue"/>
              </a:rPr>
              <a:t/>
            </a:r>
          </a:p>
        </p:txBody>
      </p:sp>
      <p:sp>
        <p:nvSpPr>
          <p:cNvPr id="10" name="Rectangle 9"/>
          <p:cNvSpPr/>
          <p:nvPr/>
        </p:nvSpPr>
        <p:spPr>
          <a:xfrm>
            <a:off x="1156716" y="4242816"/>
            <a:ext cx="4636008" cy="685800"/>
          </a:xfrm>
          <a:prstGeom prst="rect">
            <a:avLst/>
          </a:prstGeom>
          <a:solidFill>
            <a:srgbClr val="1F2D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bIns="73152"/>
          <a:lstStyle/>
          <a:p>
            <a:pPr algn="ctr"/>
            <a:r>
              <a:rPr sz="1500" b="1" i="0">
                <a:solidFill>
                  <a:srgbClr val="FFFFFF"/>
                </a:solidFill>
                <a:latin typeface="Helvetica Neue"/>
              </a:rPr>
              <a:t>FY2025 MRO TAM = $7.1B</a:t>
            </a:r>
          </a:p>
          <a:p>
            <a:pPr algn="ctr"/>
            <a:r>
              <a:rPr sz="950" b="0" i="1">
                <a:solidFill>
                  <a:srgbClr val="FFFFFF"/>
                </a:solidFill>
                <a:latin typeface="Helvetica Neue"/>
              </a:rPr>
              <a:t/>
            </a:r>
          </a:p>
        </p:txBody>
      </p:sp>
      <p:graphicFrame>
        <p:nvGraphicFramePr>
          <p:cNvPr id="11" name="Table 10"/>
          <p:cNvGraphicFramePr>
            <a:graphicFrameLocks noGrp="1"/>
          </p:cNvGraphicFramePr>
          <p:nvPr/>
        </p:nvGraphicFramePr>
        <p:xfrm>
          <a:off x="6720840" y="1600200"/>
          <a:ext cx="4967934" cy="4297680"/>
        </p:xfrm>
        <a:graphic>
          <a:graphicData uri="http://schemas.openxmlformats.org/drawingml/2006/table">
            <a:tbl>
              <a:tblPr>
                <a:tableStyleId>{5C22544A-7EE6-4342-B048-85BDC9FD1C3A}</a:tableStyleId>
              </a:tblPr>
              <a:tblGrid>
                <a:gridCol w="1490380"/>
                <a:gridCol w="3477554"/>
              </a:tblGrid>
              <a:tr h="274320">
                <a:tc>
                  <a:txBody>
                    <a:bodyPr wrap="square" lIns="0" rIns="0" tIns="0" bIns="0" anchor="ctr"/>
                    <a:lstStyle/>
                    <a:p>
                      <a:pPr algn="l"/>
                      <a:r>
                        <a:rPr sz="1100" b="1" i="0">
                          <a:solidFill>
                            <a:srgbClr val="1F2D44"/>
                          </a:solidFill>
                          <a:latin typeface="Helvetica Neue"/>
                        </a:rPr>
                        <a:t>Note</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1100" b="1" i="0">
                          <a:solidFill>
                            <a:srgbClr val="1F2D44"/>
                          </a:solidFill>
                          <a:latin typeface="Helvetica Neue"/>
                        </a:rPr>
                        <a:t>Detail</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1005840">
                <a:tc>
                  <a:txBody>
                    <a:bodyPr wrap="square" lIns="0" rIns="0" tIns="0" bIns="0" anchor="ctr"/>
                    <a:lstStyle/>
                    <a:p>
                      <a:pPr algn="l"/>
                      <a:r>
                        <a:rPr sz="900" b="1" i="0">
                          <a:solidFill>
                            <a:srgbClr val="1F2D44"/>
                          </a:solidFill>
                          <a:latin typeface="Helvetica Neue"/>
                        </a:rPr>
                        <a:t>PSC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900" b="0" i="0">
                          <a:solidFill>
                            <a:srgbClr val="2A3340"/>
                          </a:solidFill>
                          <a:latin typeface="Helvetica Neue"/>
                        </a:rPr>
                        <a:t>A 4-character Product and Service Code assigned by the contracting officer at the buying command to every federal contract action.</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1005840">
                <a:tc>
                  <a:txBody>
                    <a:bodyPr wrap="square" lIns="0" rIns="0" tIns="0" bIns="0" anchor="ctr"/>
                    <a:lstStyle/>
                    <a:p>
                      <a:pPr algn="l"/>
                      <a:r>
                        <a:rPr sz="900" b="1" i="0">
                          <a:solidFill>
                            <a:srgbClr val="1F2D44"/>
                          </a:solidFill>
                          <a:latin typeface="Helvetica Neue"/>
                        </a:rPr>
                        <a:t>Awards data vs. budget materials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900" b="0" i="0">
                          <a:solidFill>
                            <a:srgbClr val="2A3340"/>
                          </a:solidFill>
                          <a:latin typeface="Helvetica Neue"/>
                        </a:rPr>
                        <a:t>FPDS obligations capture executed contract-level spend, attributing dollars to vendor, work type, and hull program. Navy and Coast Guard budget exhibits report planned maintenance at the program level, with no contractor attribution and no PSC-level work-type detail.</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1005840">
                <a:tc>
                  <a:txBody>
                    <a:bodyPr wrap="square" lIns="0" rIns="0" tIns="0" bIns="0" anchor="ctr"/>
                    <a:lstStyle/>
                    <a:p>
                      <a:pPr algn="l"/>
                      <a:r>
                        <a:rPr sz="900" b="1" i="0">
                          <a:solidFill>
                            <a:srgbClr val="1F2D44"/>
                          </a:solidFill>
                          <a:latin typeface="Helvetica Neue"/>
                        </a:rPr>
                        <a:t>In scope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900" b="0" i="0">
                          <a:solidFill>
                            <a:srgbClr val="2A3340"/>
                          </a:solidFill>
                          <a:latin typeface="Helvetica Neue"/>
                        </a:rPr>
                        <a:t>All U.S. Navy and U.S. Coast Guard vessel types. Work types: depot ship repair, equipment maintenance, modification, installation, QC and inspection, OEM technical representation, and husbanding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1005840">
                <a:tc>
                  <a:txBody>
                    <a:bodyPr wrap="square" lIns="0" rIns="0" tIns="0" bIns="0" anchor="ctr"/>
                    <a:lstStyle/>
                    <a:p>
                      <a:pPr algn="l"/>
                      <a:r>
                        <a:rPr sz="900" b="1" i="0">
                          <a:solidFill>
                            <a:srgbClr val="1F2D44"/>
                          </a:solidFill>
                          <a:latin typeface="Helvetica Neue"/>
                        </a:rPr>
                        <a:t>Out of scope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900" b="0" i="0">
                          <a:solidFill>
                            <a:srgbClr val="2A3340"/>
                          </a:solidFill>
                          <a:latin typeface="Helvetica Neue"/>
                        </a:rPr>
                        <a:t>In-house labor at the four public naval shipyards (Portsmouth, Norfolk, Puget Sound, and Pearl Harbor); RCOH and reactor-plant sustainment (bundled under shipbuilding PSCs); newbuild and product procurement.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12" name="TextBox 11"/>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Source: FPDS FY2025 contract obligations (U.S. Navy + U.S. Coast Guard, 65 services PSCs, post-exclusions). Data as of April 2026.</a:t>
            </a:r>
          </a:p>
        </p:txBody>
      </p:sp>
      <p:cxnSp>
        <p:nvCxnSpPr>
          <p:cNvPr id="13" name="Connector 12"/>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Addressable vs Adjacent Spend</a:t>
            </a:r>
            <a:r>
              <a:rPr sz="1800" b="0" i="0">
                <a:solidFill>
                  <a:srgbClr val="8A9BB0"/>
                </a:solidFill>
                <a:latin typeface="Helvetica Neue"/>
              </a:rPr>
              <a:t>   |   </a:t>
            </a:r>
            <a:r>
              <a:rPr sz="1800" b="0" i="0">
                <a:solidFill>
                  <a:srgbClr val="2A3340"/>
                </a:solidFill>
                <a:latin typeface="Helvetica Neue"/>
              </a:rPr>
              <a:t>The $7.1B MRO TAM is the addressable slice of a much larger FY2025 Navy and Coast Guard ship-dollar pool; ~$38B newbuild, ~$9.5B implied public-yard labor, and ~$1.9B reactor product sit adjacent to but outside the MRO scope</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Navy + USCG ship-dollar pools bridged to addressable MRO TAM ($M)</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Waterfall</a:t>
            </a:r>
          </a:p>
          <a:p>
            <a:r>
              <a:rPr sz="800" b="0" i="1">
                <a:solidFill>
                  <a:srgbClr val="4B5666"/>
                </a:solidFill>
                <a:latin typeface="Helvetica Neue"/>
              </a:rPr>
              <a:t>Select this data block, then Insert -&gt; think-cell -&gt; Waterfall and paste into the think-cell datasheet.</a:t>
            </a:r>
          </a:p>
          <a:p>
            <a:r>
              <a:rPr sz="750" b="0" i="1">
                <a:solidFill>
                  <a:srgbClr val="4B5666"/>
                </a:solidFill>
                <a:latin typeface="Helvetica Neue"/>
              </a:rPr>
              <a:t>In the think-cell datasheet, set bars 1 and 6 as endpoints (prefix value with 'e') and bars 2-5 as deltas.</a:t>
            </a:r>
          </a:p>
        </p:txBody>
      </p:sp>
      <p:graphicFrame>
        <p:nvGraphicFramePr>
          <p:cNvPr id="6" name="Table 5"/>
          <p:cNvGraphicFramePr>
            <a:graphicFrameLocks noGrp="1"/>
          </p:cNvGraphicFramePr>
          <p:nvPr/>
        </p:nvGraphicFramePr>
        <p:xfrm>
          <a:off x="502920" y="2167128"/>
          <a:ext cx="5943600" cy="1700784"/>
        </p:xfrm>
        <a:graphic>
          <a:graphicData uri="http://schemas.openxmlformats.org/drawingml/2006/table">
            <a:tbl>
              <a:tblPr>
                <a:tableStyleId>{5C22544A-7EE6-4342-B048-85BDC9FD1C3A}</a:tableStyleId>
              </a:tblPr>
              <a:tblGrid>
                <a:gridCol w="3268980"/>
                <a:gridCol w="1188720"/>
                <a:gridCol w="1485900"/>
              </a:tblGrid>
              <a:tr h="274320">
                <a:tc>
                  <a:txBody>
                    <a:bodyPr wrap="square" lIns="0" rIns="0" tIns="0" bIns="0" anchor="ctr"/>
                    <a:lstStyle/>
                    <a:p>
                      <a:pPr algn="l"/>
                      <a:r>
                        <a:rPr sz="850" b="1" i="0">
                          <a:solidFill>
                            <a:srgbClr val="1F2D44"/>
                          </a:solidFill>
                          <a:latin typeface="Helvetica Neue"/>
                        </a:rPr>
                        <a:t>Step</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Type</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0" i="0">
                          <a:solidFill>
                            <a:srgbClr val="2A3340"/>
                          </a:solidFill>
                          <a:latin typeface="Helvetica Neue"/>
                        </a:rPr>
                        <a:t>FY25 Navy + USCG ship-dollar pool</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56,577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e (endpoint)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 PSC 1905 Newbuild (all platforms)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-38,100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delta</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 PSC 4470 Nuclear Reactors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-1,875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delta</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 Implied public-yard labor (OMN 1B4B)</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-9,535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delta</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 Nuclear MRO PSCs (J044/K044/N044)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delta</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FY25 MRO TAM (addressable)</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7,067</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l"/>
                      <a:r>
                        <a:rPr sz="800" b="1" i="0">
                          <a:solidFill>
                            <a:srgbClr val="1F2D44"/>
                          </a:solidFill>
                          <a:latin typeface="Helvetica Neue"/>
                        </a:rPr>
                        <a:t>e (endpoint)</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graphicFrame>
        <p:nvGraphicFramePr>
          <p:cNvPr id="7" name="Table 6"/>
          <p:cNvGraphicFramePr>
            <a:graphicFrameLocks noGrp="1"/>
          </p:cNvGraphicFramePr>
          <p:nvPr/>
        </p:nvGraphicFramePr>
        <p:xfrm>
          <a:off x="6720840" y="1371600"/>
          <a:ext cx="4967934" cy="2889504"/>
        </p:xfrm>
        <a:graphic>
          <a:graphicData uri="http://schemas.openxmlformats.org/drawingml/2006/table">
            <a:tbl>
              <a:tblPr>
                <a:tableStyleId>{5C22544A-7EE6-4342-B048-85BDC9FD1C3A}</a:tableStyleId>
              </a:tblPr>
              <a:tblGrid>
                <a:gridCol w="2583326"/>
                <a:gridCol w="794869"/>
                <a:gridCol w="1589739"/>
              </a:tblGrid>
              <a:tr h="274320">
                <a:tc>
                  <a:txBody>
                    <a:bodyPr wrap="square" lIns="0" rIns="0" tIns="0" bIns="0" anchor="ctr"/>
                    <a:lstStyle/>
                    <a:p>
                      <a:pPr algn="l"/>
                      <a:r>
                        <a:rPr sz="850" b="1" i="0">
                          <a:solidFill>
                            <a:srgbClr val="1F2D44"/>
                          </a:solidFill>
                          <a:latin typeface="Helvetica Neue"/>
                        </a:rPr>
                        <a:t>Line Item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Source</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01168">
                <a:tc gridSpan="3">
                  <a:txBody>
                    <a:bodyPr wrap="square" lIns="0" rIns="0" tIns="0" bIns="0" anchor="ctr"/>
                    <a:lstStyle/>
                    <a:p>
                      <a:pPr algn="l"/>
                      <a:r>
                        <a:rPr sz="600" b="1" i="0">
                          <a:solidFill>
                            <a:srgbClr val="1F2D44"/>
                          </a:solidFill>
                          <a:latin typeface="Helvetica Neue"/>
                        </a:rPr>
                        <a:t>OMN - Ship Maintenance (SAG 1B4B)</a:t>
                      </a:r>
                    </a:p>
                  </a:txBody>
                  <a:tcPr marL="64008" marR="64008" marT="27432" marB="27432">
                    <a:solidFill>
                      <a:srgbClr val="DBE6F1"/>
                    </a:solidFill>
                    <a:lnT>
                      <a:noFill/>
                    </a:lnT>
                    <a:lnL>
                      <a:noFill/>
                    </a:lnL>
                    <a:lnR>
                      <a:noFill/>
                    </a:lnR>
                    <a:lnB w="6350" cap="flat" cmpd="sng" algn="ctr">
                      <a:solidFill>
                        <a:srgbClr val="C5D6E6"/>
                      </a:solidFill>
                      <a:prstDash val="solid"/>
                      <a:round/>
                    </a:lnB>
                  </a:tcPr>
                </a:tc>
                <a:tc hMerge="1">
                  <a:txBody>
                    <a:bodyPr/>
                    <a:lstStyle/>
                    <a:p/>
                  </a:txBody>
                  <a:tcPr/>
                </a:tc>
                <a:tc hMerge="1">
                  <a:txBody>
                    <a:bodyPr/>
                    <a:lstStyle/>
                    <a:p/>
                  </a:txBody>
                  <a:tcPr/>
                </a:tc>
              </a:tr>
              <a:tr h="201168">
                <a:tc>
                  <a:txBody>
                    <a:bodyPr wrap="square" lIns="0" rIns="0" tIns="0" bIns="0" anchor="ctr"/>
                    <a:lstStyle/>
                    <a:p>
                      <a:pPr algn="l"/>
                      <a:r>
                        <a:rPr sz="750" b="0" i="0">
                          <a:solidFill>
                            <a:srgbClr val="2A3340"/>
                          </a:solidFill>
                          <a:latin typeface="Helvetica Neue"/>
                        </a:rPr>
                        <a:t>Total 1B4B Ship Maintenance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11,764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OMN PB Vol 1, p. 153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1">
                          <a:solidFill>
                            <a:srgbClr val="4B5666"/>
                          </a:solidFill>
                          <a:latin typeface="Helvetica Neue"/>
                        </a:rPr>
                        <a:t>   of which Ship Maintenance By Contract (CE 928)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1">
                          <a:solidFill>
                            <a:srgbClr val="4B5666"/>
                          </a:solidFill>
                          <a:latin typeface="Helvetica Neue"/>
                        </a:rPr>
                        <a:t>2,228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1">
                          <a:solidFill>
                            <a:srgbClr val="4B5666"/>
                          </a:solidFill>
                          <a:latin typeface="Helvetica Neue"/>
                        </a:rPr>
                        <a:t>OMN PB Vol 1, p. 178 (OP-32 L928)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0">
                          <a:solidFill>
                            <a:srgbClr val="2A3340"/>
                          </a:solidFill>
                          <a:latin typeface="Helvetica Neue"/>
                        </a:rPr>
                        <a:t>Implied non-contract (public-yard labor + supt.)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9,535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Computed (1B4B minus CE 928)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gridSpan="3">
                  <a:txBody>
                    <a:bodyPr wrap="square" lIns="0" rIns="0" tIns="0" bIns="0" anchor="ctr"/>
                    <a:lstStyle/>
                    <a:p>
                      <a:pPr algn="l"/>
                      <a:r>
                        <a:rPr sz="600" b="1" i="0">
                          <a:solidFill>
                            <a:srgbClr val="1F2D44"/>
                          </a:solidFill>
                          <a:latin typeface="Helvetica Neue"/>
                        </a:rPr>
                        <a:t>SCN - Nuclear-Platform Line Items</a:t>
                      </a:r>
                    </a:p>
                  </a:txBody>
                  <a:tcPr marL="64008" marR="64008" marT="27432" marB="27432">
                    <a:solidFill>
                      <a:srgbClr val="DBE6F1"/>
                    </a:solidFill>
                    <a:lnT>
                      <a:noFill/>
                    </a:lnT>
                    <a:lnL>
                      <a:noFill/>
                    </a:lnL>
                    <a:lnR>
                      <a:noFill/>
                    </a:lnR>
                    <a:lnB w="6350" cap="flat" cmpd="sng" algn="ctr">
                      <a:solidFill>
                        <a:srgbClr val="C5D6E6"/>
                      </a:solidFill>
                      <a:prstDash val="solid"/>
                      <a:round/>
                    </a:lnB>
                  </a:tcPr>
                </a:tc>
                <a:tc hMerge="1">
                  <a:txBody>
                    <a:bodyPr/>
                    <a:lstStyle/>
                    <a:p/>
                  </a:txBody>
                  <a:tcPr/>
                </a:tc>
                <a:tc hMerge="1">
                  <a:txBody>
                    <a:bodyPr/>
                    <a:lstStyle/>
                    <a:p/>
                  </a:txBody>
                  <a:tcPr/>
                </a:tc>
              </a:tr>
              <a:tr h="201168">
                <a:tc>
                  <a:txBody>
                    <a:bodyPr wrap="square" lIns="0" rIns="0" tIns="0" bIns="0" anchor="ctr"/>
                    <a:lstStyle/>
                    <a:p>
                      <a:pPr algn="l"/>
                      <a:r>
                        <a:rPr sz="750" b="0" i="0">
                          <a:solidFill>
                            <a:srgbClr val="2A3340"/>
                          </a:solidFill>
                          <a:latin typeface="Helvetica Neue"/>
                        </a:rPr>
                        <a:t>LI 1045 Columbia Class (construction + CY AP)</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9,581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SCN P-40, pp. 31 + 57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0">
                          <a:solidFill>
                            <a:srgbClr val="2A3340"/>
                          </a:solidFill>
                          <a:latin typeface="Helvetica Neue"/>
                        </a:rPr>
                        <a:t>LI 2013 Virginia Class (construction + CY AP)</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13,221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SCN P-40, pp. 155 + 171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0">
                          <a:solidFill>
                            <a:srgbClr val="2A3340"/>
                          </a:solidFill>
                          <a:latin typeface="Helvetica Neue"/>
                        </a:rPr>
                        <a:t>LI 2086 CVN Refueling Overhauls (FY25 net)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1,480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SCN P-40, p. 175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0">
                          <a:solidFill>
                            <a:srgbClr val="2A3340"/>
                          </a:solidFill>
                          <a:latin typeface="Helvetica Neue"/>
                        </a:rPr>
                        <a:t>LI 2001 Carrier Replacement (CVN-80)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1,359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SCN P-40, p. 73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0" i="0">
                          <a:solidFill>
                            <a:srgbClr val="2A3340"/>
                          </a:solidFill>
                          <a:latin typeface="Helvetica Neue"/>
                        </a:rPr>
                        <a:t>LI 2004 CVN-81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675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SCN P-40, p. 117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750" b="1" i="0">
                          <a:solidFill>
                            <a:srgbClr val="1F2D44"/>
                          </a:solidFill>
                          <a:latin typeface="Helvetica Neue"/>
                        </a:rPr>
                        <a:t>SCN nuclear-platform subtotal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750" b="1" i="0">
                          <a:solidFill>
                            <a:srgbClr val="1F2D44"/>
                          </a:solidFill>
                          <a:latin typeface="Helvetica Neue"/>
                        </a:rPr>
                        <a:t>26,316</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l"/>
                      <a:r>
                        <a:rPr sz="750" b="1" i="0">
                          <a:solidFill>
                            <a:srgbClr val="1F2D44"/>
                          </a:solidFill>
                          <a:latin typeface="Helvetica Neue"/>
                        </a:rPr>
                        <a:t>Sum</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r h="201168">
                <a:tc gridSpan="3">
                  <a:txBody>
                    <a:bodyPr wrap="square" lIns="0" rIns="0" tIns="0" bIns="0" anchor="ctr"/>
                    <a:lstStyle/>
                    <a:p>
                      <a:pPr algn="l"/>
                      <a:r>
                        <a:rPr sz="600" b="1" i="0">
                          <a:solidFill>
                            <a:srgbClr val="1F2D44"/>
                          </a:solidFill>
                          <a:latin typeface="Helvetica Neue"/>
                        </a:rPr>
                        <a:t>Nuclear MRO PSC Emptiness (J044 / K044 / N044)</a:t>
                      </a:r>
                    </a:p>
                  </a:txBody>
                  <a:tcPr marL="64008" marR="64008" marT="27432" marB="27432">
                    <a:solidFill>
                      <a:srgbClr val="DBE6F1"/>
                    </a:solidFill>
                    <a:lnT>
                      <a:noFill/>
                    </a:lnT>
                    <a:lnL>
                      <a:noFill/>
                    </a:lnL>
                    <a:lnR>
                      <a:noFill/>
                    </a:lnR>
                    <a:lnB w="6350" cap="flat" cmpd="sng" algn="ctr">
                      <a:solidFill>
                        <a:srgbClr val="C5D6E6"/>
                      </a:solidFill>
                      <a:prstDash val="solid"/>
                      <a:round/>
                    </a:lnB>
                  </a:tcPr>
                </a:tc>
                <a:tc hMerge="1">
                  <a:txBody>
                    <a:bodyPr/>
                    <a:lstStyle/>
                    <a:p/>
                  </a:txBody>
                  <a:tcPr/>
                </a:tc>
                <a:tc hMerge="1">
                  <a:txBody>
                    <a:bodyPr/>
                    <a:lstStyle/>
                    <a:p/>
                  </a:txBody>
                  <a:tcPr/>
                </a:tc>
              </a:tr>
              <a:tr h="201168">
                <a:tc>
                  <a:txBody>
                    <a:bodyPr wrap="square" lIns="0" rIns="0" tIns="0" bIns="0" anchor="ctr"/>
                    <a:lstStyle/>
                    <a:p>
                      <a:pPr algn="l"/>
                      <a:r>
                        <a:rPr sz="750" b="0" i="0">
                          <a:solidFill>
                            <a:srgbClr val="2A3340"/>
                          </a:solidFill>
                          <a:latin typeface="Helvetica Neue"/>
                        </a:rPr>
                        <a:t>Nuclear Maintenance / Modification / Installation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Bundled under shipbuilding PSCs</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8" name="Rectangle 7"/>
          <p:cNvSpPr/>
          <p:nvPr/>
        </p:nvSpPr>
        <p:spPr>
          <a:xfrm>
            <a:off x="6720840" y="4663440"/>
            <a:ext cx="4967935" cy="105156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PSC 1905 is not purely newbuild. Individual depot events on nuclear-platform hulls (e.g., the $424M HII USS Boise SSN-764 Engineered Overhaul at Newport News) are coded as shipbuilding rather than J998/J999. The Services MRO TAM on Slide 2 therefore undercounts private-sector sub and carrier depot work that is bundled under the newbuild PSC.</a:t>
            </a:r>
          </a:p>
        </p:txBody>
      </p:sp>
      <p:sp>
        <p:nvSpPr>
          <p:cNvPr id="9" name="TextBox 8"/>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Public-yard labor implied: OMN 1B4B total ($11,764M) minus Ship Maintenance By Contract CE 928 ($2,228M). (2) The four public naval shipyards (Portsmouth, Norfolk, Puget Sound, Pearl Harbor) are NWCF activities -- payroll generates no FPDS record. (3) J044/K044/N044 ~$0 because reactor work is contracted under ship-level PSC 1905 and PSC 4470. Sources: FPDS FY2025 contract obligations; FY2026 President's Budget exhibits (OMN Vol 1 SAG 1B4B OP-5, SCN P-1). Data as of April 2026.</a:t>
            </a:r>
          </a:p>
        </p:txBody>
      </p:sp>
      <p:cxnSp>
        <p:nvCxnSpPr>
          <p:cNvPr id="10" name="Connector 9"/>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Work Segments</a:t>
            </a:r>
            <a:r>
              <a:rPr sz="1800" b="0" i="0">
                <a:solidFill>
                  <a:srgbClr val="8A9BB0"/>
                </a:solidFill>
                <a:latin typeface="Helvetica Neue"/>
              </a:rPr>
              <a:t>   |   </a:t>
            </a:r>
            <a:r>
              <a:rPr sz="1800" b="0" i="0">
                <a:solidFill>
                  <a:srgbClr val="2A3340"/>
                </a:solidFill>
                <a:latin typeface="Helvetica Neue"/>
              </a:rPr>
              <a:t>Depot ship repair made up ~68% of FY2025 MRO TAM, while adjacent sustainment segments were smaller and more specialized</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MRO TAM by Work Segment ($M)</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100% Stacked Column (single column)</a:t>
            </a:r>
          </a:p>
          <a:p>
            <a:r>
              <a:rPr sz="800" b="0" i="1">
                <a:solidFill>
                  <a:srgbClr val="4B5666"/>
                </a:solidFill>
                <a:latin typeface="Helvetica Neue"/>
              </a:rPr>
              <a:t>Select this data block, then Insert -&gt; think-cell -&gt; 100% Stacked Column (single column) and paste into the think-cell datasheet.</a:t>
            </a:r>
          </a:p>
          <a:p>
            <a:r>
              <a:rPr sz="750" b="0" i="1">
                <a:solidFill>
                  <a:srgbClr val="4B5666"/>
                </a:solidFill>
                <a:latin typeface="Helvetica Neue"/>
              </a:rPr>
              <a:t>One x-axis category (FY25 MRO TAM); stack the five segments in the order above. Set chart to 100% stacked.</a:t>
            </a:r>
          </a:p>
        </p:txBody>
      </p:sp>
      <p:graphicFrame>
        <p:nvGraphicFramePr>
          <p:cNvPr id="6" name="Table 5"/>
          <p:cNvGraphicFramePr>
            <a:graphicFrameLocks noGrp="1"/>
          </p:cNvGraphicFramePr>
          <p:nvPr/>
        </p:nvGraphicFramePr>
        <p:xfrm>
          <a:off x="502920" y="2167128"/>
          <a:ext cx="5943600" cy="1700784"/>
        </p:xfrm>
        <a:graphic>
          <a:graphicData uri="http://schemas.openxmlformats.org/drawingml/2006/table">
            <a:tbl>
              <a:tblPr>
                <a:tableStyleId>{5C22544A-7EE6-4342-B048-85BDC9FD1C3A}</a:tableStyleId>
              </a:tblPr>
              <a:tblGrid>
                <a:gridCol w="3268980"/>
                <a:gridCol w="1307592"/>
                <a:gridCol w="1367028"/>
              </a:tblGrid>
              <a:tr h="274320">
                <a:tc>
                  <a:txBody>
                    <a:bodyPr wrap="square" lIns="0" rIns="0" tIns="0" bIns="0" anchor="ctr"/>
                    <a:lstStyle/>
                    <a:p>
                      <a:pPr algn="l"/>
                      <a:r>
                        <a:rPr sz="850" b="1" i="0">
                          <a:solidFill>
                            <a:srgbClr val="1F2D44"/>
                          </a:solidFill>
                          <a:latin typeface="Helvetica Neue"/>
                        </a:rPr>
                        <a:t>Segment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 of TAM</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1" i="0">
                          <a:solidFill>
                            <a:srgbClr val="1F2D44"/>
                          </a:solidFill>
                          <a:latin typeface="Helvetica Neue"/>
                        </a:rPr>
                        <a:t>Depot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4,781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Hull, Mechanical &amp; Electrical (HM&amp;E)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938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Combat Systems Sustainment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585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Port &amp; Technical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431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Electronics &amp; C4ISR Sustainment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333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Total FY25 MRO TAM</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7,068</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100%</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graphicFrame>
        <p:nvGraphicFramePr>
          <p:cNvPr id="7" name="Table 6"/>
          <p:cNvGraphicFramePr>
            <a:graphicFrameLocks noGrp="1"/>
          </p:cNvGraphicFramePr>
          <p:nvPr/>
        </p:nvGraphicFramePr>
        <p:xfrm>
          <a:off x="6720840" y="1325880"/>
          <a:ext cx="4967934" cy="3246120"/>
        </p:xfrm>
        <a:graphic>
          <a:graphicData uri="http://schemas.openxmlformats.org/drawingml/2006/table">
            <a:tbl>
              <a:tblPr>
                <a:tableStyleId>{5C22544A-7EE6-4342-B048-85BDC9FD1C3A}</a:tableStyleId>
              </a:tblPr>
              <a:tblGrid>
                <a:gridCol w="1589739"/>
                <a:gridCol w="3378195"/>
              </a:tblGrid>
              <a:tr h="274320">
                <a:tc>
                  <a:txBody>
                    <a:bodyPr wrap="square" lIns="0" rIns="0" tIns="0" bIns="0" anchor="ctr"/>
                    <a:lstStyle/>
                    <a:p>
                      <a:pPr algn="l"/>
                      <a:r>
                        <a:rPr sz="900" b="1" i="0">
                          <a:solidFill>
                            <a:srgbClr val="1F2D44"/>
                          </a:solidFill>
                          <a:latin typeface="Helvetica Neue"/>
                        </a:rPr>
                        <a:t>Work Segment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900" b="1" i="0">
                          <a:solidFill>
                            <a:srgbClr val="1F2D44"/>
                          </a:solidFill>
                          <a:latin typeface="Helvetica Neue"/>
                        </a:rPr>
                        <a:t>Coverage</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594360">
                <a:tc>
                  <a:txBody>
                    <a:bodyPr wrap="square" lIns="0" rIns="0" tIns="0" bIns="0" anchor="ctr"/>
                    <a:lstStyle/>
                    <a:p>
                      <a:pPr algn="l"/>
                      <a:r>
                        <a:rPr sz="800" b="1" i="0">
                          <a:solidFill>
                            <a:srgbClr val="1F2D44"/>
                          </a:solidFill>
                          <a:latin typeface="Helvetica Neue"/>
                        </a:rPr>
                        <a:t>Depot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Whole-ship maintenance availabilities at Pacific and Atlantic Regional Maintenance Centers, awarded through MAC-MO IDIQ task orders.</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594360">
                <a:tc>
                  <a:txBody>
                    <a:bodyPr wrap="square" lIns="0" rIns="0" tIns="0" bIns="0" anchor="ctr"/>
                    <a:lstStyle/>
                    <a:p>
                      <a:pPr algn="l"/>
                      <a:r>
                        <a:rPr sz="800" b="1" i="0">
                          <a:solidFill>
                            <a:srgbClr val="1F2D44"/>
                          </a:solidFill>
                          <a:latin typeface="Helvetica Neue"/>
                        </a:rPr>
                        <a:t>Hull, Mechanical &amp; Electrical (HM&amp;E)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Propulsion accessories, pumps, valves, piping, HVAC, diesel engines, and ship structural systems.</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594360">
                <a:tc>
                  <a:txBody>
                    <a:bodyPr wrap="square" lIns="0" rIns="0" tIns="0" bIns="0" anchor="ctr"/>
                    <a:lstStyle/>
                    <a:p>
                      <a:pPr algn="l"/>
                      <a:r>
                        <a:rPr sz="800" b="1" i="0">
                          <a:solidFill>
                            <a:srgbClr val="1F2D44"/>
                          </a:solidFill>
                          <a:latin typeface="Helvetica Neue"/>
                        </a:rPr>
                        <a:t>Combat Systems Sustainment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Weapons, fire control, VLS, guided missiles (including Trident II sustainment on Ohio-class SSBNs), and aircraft launch/arresting equipment.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594360">
                <a:tc>
                  <a:txBody>
                    <a:bodyPr wrap="square" lIns="0" rIns="0" tIns="0" bIns="0" anchor="ctr"/>
                    <a:lstStyle/>
                    <a:p>
                      <a:pPr algn="l"/>
                      <a:r>
                        <a:rPr sz="800" b="1" i="0">
                          <a:solidFill>
                            <a:srgbClr val="1F2D44"/>
                          </a:solidFill>
                          <a:latin typeface="Helvetica Neue"/>
                        </a:rPr>
                        <a:t>Port &amp; Technical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Quality control, testing and inspection; OEM technical representation; husbanding (fuel, transport, port visits); and shipyard operations support.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594360">
                <a:tc>
                  <a:txBody>
                    <a:bodyPr wrap="square" lIns="0" rIns="0" tIns="0" bIns="0" anchor="ctr"/>
                    <a:lstStyle/>
                    <a:p>
                      <a:pPr algn="l"/>
                      <a:r>
                        <a:rPr sz="800" b="1" i="0">
                          <a:solidFill>
                            <a:srgbClr val="1F2D44"/>
                          </a:solidFill>
                          <a:latin typeface="Helvetica Neue"/>
                        </a:rPr>
                        <a:t>Electronics &amp; C4ISR Sustainment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Afloat C4ISR -- radar, sonar, radio and network systems, navigation, alarms, and electrical signal equipment.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8" name="Rectangle 7"/>
          <p:cNvSpPr/>
          <p:nvPr/>
        </p:nvSpPr>
        <p:spPr>
          <a:xfrm>
            <a:off x="6720840" y="4892040"/>
            <a:ext cx="4967935" cy="86868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The $4.8B depot segment is awarded through a single three-tier structure -- MSRA pre-qualification -&gt; MAC-MO IDIQ -&gt; fixed-price task orders against third-party planner specs. Entry requires qualification at all three levels. Slide 5 decomposes the depot segment by scope group and contractor tier.</a:t>
            </a:r>
          </a:p>
        </p:txBody>
      </p:sp>
      <p:sp>
        <p:nvSpPr>
          <p:cNvPr id="9" name="TextBox 8"/>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Segment detail sums to $7,068M; TAM headline reports $7,067M -- figures may not sum to headline due to rounding. (2) Nuclear Propulsion Sustainment PSCs (J044/K044/N044) appear at ~$0 in FY25 because reactor work is contracted under ship-level shipbuilding codes at HII Newport News, Fluor Marine Propulsion, and Bechtel -- not standalone services PSCs. Source: FPDS FY2025 contract obligations (U.S. Navy + U.S. Coast Guard, 65 services PSCs, post-exclusions). Data as of April 2026.</a:t>
            </a:r>
          </a:p>
        </p:txBody>
      </p:sp>
      <p:cxnSp>
        <p:nvCxnSpPr>
          <p:cNvPr id="10" name="Connector 9"/>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Depot Ship Repair Deep Dive</a:t>
            </a:r>
            <a:r>
              <a:rPr sz="1800" b="0" i="0">
                <a:solidFill>
                  <a:srgbClr val="8A9BB0"/>
                </a:solidFill>
                <a:latin typeface="Helvetica Neue"/>
              </a:rPr>
              <a:t>   |   </a:t>
            </a:r>
            <a:r>
              <a:rPr sz="1800" b="0" i="0">
                <a:solidFill>
                  <a:srgbClr val="2A3340"/>
                </a:solidFill>
                <a:latin typeface="Helvetica Neue"/>
              </a:rPr>
              <a:t>Six CONUS Tier-1 yards captured ~60% of the $4.9B FY2025 depot segment; 65% of depot $ is full-ship availabilities awarded through a three-tier MSRA / MAC-MO prime structure</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J998 / J999 depot obligations - IDV scope group x contractor tier ($M)</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Mekko (Marimekko)</a:t>
            </a:r>
          </a:p>
          <a:p>
            <a:r>
              <a:rPr sz="800" b="0" i="1">
                <a:solidFill>
                  <a:srgbClr val="4B5666"/>
                </a:solidFill>
                <a:latin typeface="Helvetica Neue"/>
              </a:rPr>
              <a:t>Select this data block, then Insert -&gt; think-cell -&gt; Mekko (Marimekko) and paste into the think-cell datasheet.</a:t>
            </a:r>
          </a:p>
          <a:p>
            <a:r>
              <a:rPr sz="750" b="0" i="1">
                <a:solidFill>
                  <a:srgbClr val="4B5666"/>
                </a:solidFill>
                <a:latin typeface="Helvetica Neue"/>
              </a:rPr>
              <a:t>In the think-cell datasheet: first row becomes the column-width series; each Tier row is a stack series. Set data type to absolute values; Mekko normalizes stacks to 100% per column.</a:t>
            </a:r>
          </a:p>
        </p:txBody>
      </p:sp>
      <p:graphicFrame>
        <p:nvGraphicFramePr>
          <p:cNvPr id="6" name="Table 5"/>
          <p:cNvGraphicFramePr>
            <a:graphicFrameLocks noGrp="1"/>
          </p:cNvGraphicFramePr>
          <p:nvPr/>
        </p:nvGraphicFramePr>
        <p:xfrm>
          <a:off x="502920" y="2167128"/>
          <a:ext cx="5943600" cy="1938528"/>
        </p:xfrm>
        <a:graphic>
          <a:graphicData uri="http://schemas.openxmlformats.org/drawingml/2006/table">
            <a:tbl>
              <a:tblPr>
                <a:tableStyleId>{5C22544A-7EE6-4342-B048-85BDC9FD1C3A}</a:tableStyleId>
              </a:tblPr>
              <a:tblGrid>
                <a:gridCol w="1426464"/>
                <a:gridCol w="653796"/>
                <a:gridCol w="653796"/>
                <a:gridCol w="653796"/>
                <a:gridCol w="653796"/>
                <a:gridCol w="653796"/>
                <a:gridCol w="653796"/>
                <a:gridCol w="594360"/>
              </a:tblGrid>
              <a:tr h="274320">
                <a:tc>
                  <a:txBody>
                    <a:bodyPr wrap="square" lIns="0" rIns="0" tIns="0" bIns="0" anchor="ctr"/>
                    <a:lstStyle/>
                    <a:p>
                      <a:pPr algn="l"/>
                      <a:r>
                        <a:rPr sz="850" b="1" i="0">
                          <a:solidFill>
                            <a:srgbClr val="1F2D44"/>
                          </a:solidFill>
                          <a:latin typeface="Helvetica Neue"/>
                        </a:rPr>
                        <a:t>Tier</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Full-Ship</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MSC Avail</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FDNF MSRA</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Other/Supt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USCG Cut.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Trade IDIQ</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P&amp;E</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0" i="1">
                          <a:solidFill>
                            <a:srgbClr val="4B5666"/>
                          </a:solidFill>
                          <a:latin typeface="Helvetica Neue"/>
                        </a:rPr>
                        <a:t>(column width $M)</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3,258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551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513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306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144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123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108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1 CONUS Complex</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2,867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386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72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2 Regional</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195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19</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3 Technical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107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78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4 FDNF Foreign Yard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513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Other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Column 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3,258</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551</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513</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306</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144</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123</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108</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graphicFrame>
        <p:nvGraphicFramePr>
          <p:cNvPr id="7" name="Table 6"/>
          <p:cNvGraphicFramePr>
            <a:graphicFrameLocks noGrp="1"/>
          </p:cNvGraphicFramePr>
          <p:nvPr/>
        </p:nvGraphicFramePr>
        <p:xfrm>
          <a:off x="6720840" y="1325880"/>
          <a:ext cx="4967934" cy="2450592"/>
        </p:xfrm>
        <a:graphic>
          <a:graphicData uri="http://schemas.openxmlformats.org/drawingml/2006/table">
            <a:tbl>
              <a:tblPr>
                <a:tableStyleId>{5C22544A-7EE6-4342-B048-85BDC9FD1C3A}</a:tableStyleId>
              </a:tblPr>
              <a:tblGrid>
                <a:gridCol w="1887815"/>
                <a:gridCol w="1589739"/>
                <a:gridCol w="894228"/>
                <a:gridCol w="596152"/>
              </a:tblGrid>
              <a:tr h="274320">
                <a:tc>
                  <a:txBody>
                    <a:bodyPr wrap="square" lIns="0" rIns="0" tIns="0" bIns="0" anchor="ctr"/>
                    <a:lstStyle/>
                    <a:p>
                      <a:pPr algn="l"/>
                      <a:r>
                        <a:rPr sz="850" b="1" i="0">
                          <a:solidFill>
                            <a:srgbClr val="1F2D44"/>
                          </a:solidFill>
                          <a:latin typeface="Helvetica Neue"/>
                        </a:rPr>
                        <a:t>Tier 1 CONUS Prime</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Primary Yards</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Primary 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310896">
                <a:tc>
                  <a:txBody>
                    <a:bodyPr wrap="square" lIns="0" rIns="0" tIns="0" bIns="0" anchor="ctr"/>
                    <a:lstStyle/>
                    <a:p>
                      <a:pPr algn="l"/>
                      <a:r>
                        <a:rPr sz="750" b="1" i="0">
                          <a:solidFill>
                            <a:srgbClr val="1F2D44"/>
                          </a:solidFill>
                          <a:latin typeface="Helvetica Neue"/>
                        </a:rPr>
                        <a:t>BAE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San Diego, Norfolk, Jacksonville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SWRMC + MARMC + SERMC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~1,073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General Dynamics (NASSCO + Continental Maritime)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San Diego</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SWRMC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~640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HII (Continental Maritime + Metro Machine + MHI)</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San Diego, Norfolk</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SWRMC + MARMC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~390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Vigor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Portland OR, Seattle WA</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NW 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~440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Detyens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Charleston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SERMC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~225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NASSCO Mayport + others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Mayport, Kings Bay</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50" b="0" i="0">
                          <a:solidFill>
                            <a:srgbClr val="2A3340"/>
                          </a:solidFill>
                          <a:latin typeface="Helvetica Neue"/>
                        </a:rPr>
                        <a:t>SERMC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750" b="0" i="0">
                          <a:solidFill>
                            <a:srgbClr val="2A3340"/>
                          </a:solidFill>
                          <a:latin typeface="Helvetica Neue"/>
                        </a:rPr>
                        <a:t>~100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10896">
                <a:tc>
                  <a:txBody>
                    <a:bodyPr wrap="square" lIns="0" rIns="0" tIns="0" bIns="0" anchor="ctr"/>
                    <a:lstStyle/>
                    <a:p>
                      <a:pPr algn="l"/>
                      <a:r>
                        <a:rPr sz="750" b="1" i="0">
                          <a:solidFill>
                            <a:srgbClr val="1F2D44"/>
                          </a:solidFill>
                          <a:latin typeface="Helvetica Neue"/>
                        </a:rPr>
                        <a:t>Tier 1 CONUS subtotal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l"/>
                      <a:r>
                        <a:rPr sz="750" b="1" i="0">
                          <a:solidFill>
                            <a:srgbClr val="1F2D44"/>
                          </a:solidFill>
                          <a:latin typeface="Helvetica Neue"/>
                        </a:rPr>
                        <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l"/>
                      <a:r>
                        <a:rPr sz="750" b="1" i="0">
                          <a:solidFill>
                            <a:srgbClr val="1F2D44"/>
                          </a:solidFill>
                          <a:latin typeface="Helvetica Neue"/>
                        </a:rPr>
                        <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750" b="1" i="0">
                          <a:solidFill>
                            <a:srgbClr val="1F2D44"/>
                          </a:solidFill>
                          <a:latin typeface="Helvetica Neue"/>
                        </a:rPr>
                        <a:t>~2,868</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sp>
        <p:nvSpPr>
          <p:cNvPr id="8" name="Rectangle 7"/>
          <p:cNvSpPr/>
          <p:nvPr/>
        </p:nvSpPr>
        <p:spPr>
          <a:xfrm>
            <a:off x="6720840" y="4389120"/>
            <a:ext cx="4967935" cy="1051560"/>
          </a:xfrm>
          <a:prstGeom prst="rect">
            <a:avLst/>
          </a:prstGeom>
          <a:solidFill>
            <a:srgbClr val="E7ECF2"/>
          </a:solidFill>
          <a:ln w="635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54864" bIns="54864"/>
          <a:lstStyle/>
          <a:p>
            <a:pPr algn="ctr"/>
            <a:r>
              <a:rPr sz="800" b="1" i="0">
                <a:solidFill>
                  <a:srgbClr val="1F2D44"/>
                </a:solidFill>
                <a:latin typeface="Helvetica Neue"/>
              </a:rPr>
              <a:t>ENTRY STRUCTURE</a:t>
            </a:r>
          </a:p>
          <a:p>
            <a:r>
              <a:rPr sz="900" b="1" i="0">
                <a:solidFill>
                  <a:srgbClr val="1F2D44"/>
                </a:solidFill>
                <a:latin typeface="Helvetica Neue"/>
              </a:rPr>
              <a:t>1. MSRA pre-qualification</a:t>
            </a:r>
            <a:r>
              <a:rPr sz="900" b="0" i="0">
                <a:solidFill>
                  <a:srgbClr val="2A3340"/>
                </a:solidFill>
                <a:latin typeface="Helvetica Neue"/>
              </a:rPr>
              <a:t> -- yard + workforce + safety credentials</a:t>
            </a:r>
          </a:p>
          <a:p>
            <a:r>
              <a:rPr sz="900" b="1" i="0">
                <a:solidFill>
                  <a:srgbClr val="1F2D44"/>
                </a:solidFill>
                <a:latin typeface="Helvetica Neue"/>
              </a:rPr>
              <a:t>2. MAC-MO IDIQ capture</a:t>
            </a:r>
            <a:r>
              <a:rPr sz="900" b="0" i="0">
                <a:solidFill>
                  <a:srgbClr val="2A3340"/>
                </a:solidFill>
                <a:latin typeface="Helvetica Neue"/>
              </a:rPr>
              <a:t> -- multi-award pool, fixed by RMC</a:t>
            </a:r>
          </a:p>
          <a:p>
            <a:r>
              <a:rPr sz="900" b="1" i="0">
                <a:solidFill>
                  <a:srgbClr val="1F2D44"/>
                </a:solidFill>
                <a:latin typeface="Helvetica Neue"/>
              </a:rPr>
              <a:t>3. Fixed-price task orders</a:t>
            </a:r>
            <a:r>
              <a:rPr sz="900" b="0" i="0">
                <a:solidFill>
                  <a:srgbClr val="2A3340"/>
                </a:solidFill>
                <a:latin typeface="Helvetica Neue"/>
              </a:rPr>
              <a:t> -- awarded against third-party planner specs</a:t>
            </a:r>
          </a:p>
        </p:txBody>
      </p:sp>
      <p:sp>
        <p:nvSpPr>
          <p:cNvPr id="9" name="Rectangle 8"/>
          <p:cNvSpPr/>
          <p:nvPr/>
        </p:nvSpPr>
        <p:spPr>
          <a:xfrm>
            <a:off x="6720840" y="5532120"/>
            <a:ext cx="4967935" cy="82296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Entry requires qualification at all three levels AND a physical yard footprint aligned with one RMC region. The three-tier structure drives Tier-1 CONUS concentration -- six primes hold ~60% of the $4.9B segment. Trade-specific IDIQs (HM&amp;E, surface coatings, insulation, pipe lagging) sum to less than 3% of depot $.</a:t>
            </a:r>
          </a:p>
        </p:txBody>
      </p:sp>
      <p:sp>
        <p:nvSpPr>
          <p:cNvPr id="10" name="TextBox 9"/>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$4.9B in-scope TAM = $5.0B gross J998/J999 obligations less $85M FMS carve-out. (2) Contractor tiers: T1 = CONUS full-ship MSRA holders; T2 = regional yards; T3 = technical services; T4 = FDNF foreign yards. (3) IDV scope taxonomy generated via LLM classification of 360 parent IDV descriptions + 471 residual no-IDV awards. Source: FPDS FY2025 contract obligations on PSCs J998 + J999 (U.S. Navy + U.S. Coast Guard), classifier-enriched. Data as of April 2026.</a:t>
            </a:r>
          </a:p>
        </p:txBody>
      </p:sp>
      <p:cxnSp>
        <p:nvCxnSpPr>
          <p:cNvPr id="11" name="Connector 10"/>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Vessel Mix</a:t>
            </a:r>
            <a:r>
              <a:rPr sz="1800" b="0" i="0">
                <a:solidFill>
                  <a:srgbClr val="8A9BB0"/>
                </a:solidFill>
                <a:latin typeface="Helvetica Neue"/>
              </a:rPr>
              <a:t>   |   </a:t>
            </a:r>
            <a:r>
              <a:rPr sz="1800" b="0" i="0">
                <a:solidFill>
                  <a:srgbClr val="2A3340"/>
                </a:solidFill>
                <a:latin typeface="Helvetica Neue"/>
              </a:rPr>
              <a:t>Surface combatants, amphibious warfare ships, and submarines accounted for ~62% of FY2025 MRO TAM</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MRO TAM by Vessel Type x Work Segment ($M)</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Mekko (Marimekko)</a:t>
            </a:r>
          </a:p>
          <a:p>
            <a:r>
              <a:rPr sz="800" b="0" i="1">
                <a:solidFill>
                  <a:srgbClr val="4B5666"/>
                </a:solidFill>
                <a:latin typeface="Helvetica Neue"/>
              </a:rPr>
              <a:t>Select this data block, then Insert -&gt; think-cell -&gt; Mekko (Marimekko) and paste into the think-cell datasheet.</a:t>
            </a:r>
          </a:p>
          <a:p>
            <a:r>
              <a:rPr sz="750" b="0" i="1">
                <a:solidFill>
                  <a:srgbClr val="4B5666"/>
                </a:solidFill>
                <a:latin typeface="Helvetica Neue"/>
              </a:rPr>
              <a:t>Values shown are computed from the Vessel Type x Work Segment % stacks; refresh from the Services workbook sheet at final paste time if precision matters.</a:t>
            </a:r>
          </a:p>
        </p:txBody>
      </p:sp>
      <p:graphicFrame>
        <p:nvGraphicFramePr>
          <p:cNvPr id="6" name="Table 5"/>
          <p:cNvGraphicFramePr>
            <a:graphicFrameLocks noGrp="1"/>
          </p:cNvGraphicFramePr>
          <p:nvPr/>
        </p:nvGraphicFramePr>
        <p:xfrm>
          <a:off x="502920" y="2167128"/>
          <a:ext cx="5943600" cy="1938528"/>
        </p:xfrm>
        <a:graphic>
          <a:graphicData uri="http://schemas.openxmlformats.org/drawingml/2006/table">
            <a:tbl>
              <a:tblPr>
                <a:tableStyleId>{5C22544A-7EE6-4342-B048-85BDC9FD1C3A}</a:tableStyleId>
              </a:tblPr>
              <a:tblGrid>
                <a:gridCol w="1485900"/>
                <a:gridCol w="772668"/>
                <a:gridCol w="772668"/>
                <a:gridCol w="653796"/>
                <a:gridCol w="772668"/>
                <a:gridCol w="713232"/>
                <a:gridCol w="772668"/>
              </a:tblGrid>
              <a:tr h="274320">
                <a:tc>
                  <a:txBody>
                    <a:bodyPr wrap="square" lIns="0" rIns="0" tIns="0" bIns="0" anchor="ctr"/>
                    <a:lstStyle/>
                    <a:p>
                      <a:pPr algn="l"/>
                      <a:r>
                        <a:rPr sz="850" b="1" i="0">
                          <a:solidFill>
                            <a:srgbClr val="1F2D44"/>
                          </a:solidFill>
                          <a:latin typeface="Helvetica Neue"/>
                        </a:rPr>
                        <a:t>Work Segment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Surf Comb.</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Amphib.</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Subs</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Combat Log.</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Carriers</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Other</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0" i="1">
                          <a:solidFill>
                            <a:srgbClr val="4B5666"/>
                          </a:solidFill>
                          <a:latin typeface="Helvetica Neue"/>
                        </a:rPr>
                        <a:t>(column width $M)</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2,120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1,440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838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770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422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1,474</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Depot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1,802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1,339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444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639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363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590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HM&amp;E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127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72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486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Combat Systems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127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184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Port &amp; Technical</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162</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Electronics &amp; C4ISR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206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Column 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2,120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1,440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838</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770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422</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1,474</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sp>
        <p:nvSpPr>
          <p:cNvPr id="7" name="Rectangle 6"/>
          <p:cNvSpPr/>
          <p:nvPr/>
        </p:nvSpPr>
        <p:spPr>
          <a:xfrm>
            <a:off x="6720840" y="1325880"/>
            <a:ext cx="4967935" cy="128016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Concentration tracks fleet size and maintenance tempo. </a:t>
            </a:r>
            <a:r>
              <a:rPr sz="850" b="0" i="1">
                <a:solidFill>
                  <a:srgbClr val="1F2D44"/>
                </a:solidFill>
                <a:latin typeface="Helvetica Neue"/>
              </a:rPr>
              <a:t>DDG-51 destroyers, LPD / LHD amphibious warships, and Virginia-class SSNs made up the bulk of FY2025 MRO spend. The three categories together anchor ~62% of the $7.1B TAM and drive where depot availabilities cluster geographically (Slide 8).</a:t>
            </a:r>
          </a:p>
        </p:txBody>
      </p:sp>
      <p:sp>
        <p:nvSpPr>
          <p:cNvPr id="8" name="Rectangle 7"/>
          <p:cNvSpPr/>
          <p:nvPr/>
        </p:nvSpPr>
        <p:spPr>
          <a:xfrm>
            <a:off x="6720840" y="2743200"/>
            <a:ext cx="4967935" cy="14173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Submarine spend is structurally understated. </a:t>
            </a:r>
            <a:r>
              <a:rPr sz="850" b="0" i="1">
                <a:solidFill>
                  <a:srgbClr val="1F2D44"/>
                </a:solidFill>
                <a:latin typeface="Helvetica Neue"/>
              </a:rPr>
              <a:t>An estimated ~$4-6B of annual nuclear depot work is performed in-house at the four public naval shipyards (Portsmouth, Norfolk, Puget Sound, Pearl Harbor) and does not generate FPDS contract records. Only private-sector OEM and specialty work is captured in the $838M figure shown here. See Slide 3 for the full scope reconciliation.</a:t>
            </a:r>
          </a:p>
        </p:txBody>
      </p:sp>
      <p:graphicFrame>
        <p:nvGraphicFramePr>
          <p:cNvPr id="9" name="Table 8"/>
          <p:cNvGraphicFramePr>
            <a:graphicFrameLocks noGrp="1"/>
          </p:cNvGraphicFramePr>
          <p:nvPr/>
        </p:nvGraphicFramePr>
        <p:xfrm>
          <a:off x="6720840" y="4343400"/>
          <a:ext cx="4967933" cy="1591056"/>
        </p:xfrm>
        <a:graphic>
          <a:graphicData uri="http://schemas.openxmlformats.org/drawingml/2006/table">
            <a:tbl>
              <a:tblPr>
                <a:tableStyleId>{5C22544A-7EE6-4342-B048-85BDC9FD1C3A}</a:tableStyleId>
              </a:tblPr>
              <a:tblGrid>
                <a:gridCol w="1887815"/>
                <a:gridCol w="695510"/>
                <a:gridCol w="596152"/>
                <a:gridCol w="596152"/>
                <a:gridCol w="596152"/>
                <a:gridCol w="596152"/>
              </a:tblGrid>
              <a:tr h="274320">
                <a:tc>
                  <a:txBody>
                    <a:bodyPr wrap="square" lIns="0" rIns="0" tIns="0" bIns="0" anchor="ctr"/>
                    <a:lstStyle/>
                    <a:p>
                      <a:pPr algn="l"/>
                      <a:r>
                        <a:rPr sz="800" b="1" i="0">
                          <a:solidFill>
                            <a:srgbClr val="1F2D44"/>
                          </a:solidFill>
                          <a:latin typeface="Helvetica Neue"/>
                        </a:rPr>
                        <a:t>Category</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00" b="1" i="0">
                          <a:solidFill>
                            <a:srgbClr val="1F2D44"/>
                          </a:solidFill>
                          <a:latin typeface="Helvetica Neue"/>
                        </a:rPr>
                        <a:t>Depot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00" b="1" i="0">
                          <a:solidFill>
                            <a:srgbClr val="1F2D44"/>
                          </a:solidFill>
                          <a:latin typeface="Helvetica Neue"/>
                        </a:rPr>
                        <a:t>HM&amp;E</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00" b="1" i="0">
                          <a:solidFill>
                            <a:srgbClr val="1F2D44"/>
                          </a:solidFill>
                          <a:latin typeface="Helvetica Neue"/>
                        </a:rPr>
                        <a:t>Combat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00" b="1" i="0">
                          <a:solidFill>
                            <a:srgbClr val="1F2D44"/>
                          </a:solidFill>
                          <a:latin typeface="Helvetica Neue"/>
                        </a:rPr>
                        <a:t>C4ISR</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00" b="1" i="0">
                          <a:solidFill>
                            <a:srgbClr val="1F2D44"/>
                          </a:solidFill>
                          <a:latin typeface="Helvetica Neue"/>
                        </a:rPr>
                        <a:t>Port</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19456">
                <a:tc>
                  <a:txBody>
                    <a:bodyPr wrap="square" lIns="0" rIns="0" tIns="0" bIns="0" anchor="ctr"/>
                    <a:lstStyle/>
                    <a:p>
                      <a:pPr algn="l"/>
                      <a:r>
                        <a:rPr sz="800" b="0" i="0">
                          <a:solidFill>
                            <a:srgbClr val="2A3340"/>
                          </a:solidFill>
                          <a:latin typeface="Helvetica Neue"/>
                        </a:rPr>
                        <a:t>Surface Combatants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19456">
                <a:tc>
                  <a:txBody>
                    <a:bodyPr wrap="square" lIns="0" rIns="0" tIns="0" bIns="0" anchor="ctr"/>
                    <a:lstStyle/>
                    <a:p>
                      <a:pPr algn="l"/>
                      <a:r>
                        <a:rPr sz="800" b="0" i="0">
                          <a:solidFill>
                            <a:srgbClr val="2A3340"/>
                          </a:solidFill>
                          <a:latin typeface="Helvetica Neue"/>
                        </a:rPr>
                        <a:t>Amphibious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19456">
                <a:tc>
                  <a:txBody>
                    <a:bodyPr wrap="square" lIns="0" rIns="0" tIns="0" bIns="0" anchor="ctr"/>
                    <a:lstStyle/>
                    <a:p>
                      <a:pPr algn="l"/>
                      <a:r>
                        <a:rPr sz="800" b="0" i="0">
                          <a:solidFill>
                            <a:srgbClr val="2A3340"/>
                          </a:solidFill>
                          <a:latin typeface="Helvetica Neue"/>
                        </a:rPr>
                        <a:t>Submarines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19456">
                <a:tc>
                  <a:txBody>
                    <a:bodyPr wrap="square" lIns="0" rIns="0" tIns="0" bIns="0" anchor="ctr"/>
                    <a:lstStyle/>
                    <a:p>
                      <a:pPr algn="l"/>
                      <a:r>
                        <a:rPr sz="800" b="0" i="0">
                          <a:solidFill>
                            <a:srgbClr val="2A3340"/>
                          </a:solidFill>
                          <a:latin typeface="Helvetica Neue"/>
                        </a:rPr>
                        <a:t>Combat Logistics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19456">
                <a:tc>
                  <a:txBody>
                    <a:bodyPr wrap="square" lIns="0" rIns="0" tIns="0" bIns="0" anchor="ctr"/>
                    <a:lstStyle/>
                    <a:p>
                      <a:pPr algn="l"/>
                      <a:r>
                        <a:rPr sz="800" b="0" i="0">
                          <a:solidFill>
                            <a:srgbClr val="2A3340"/>
                          </a:solidFill>
                          <a:latin typeface="Helvetica Neue"/>
                        </a:rPr>
                        <a:t>Aircraft Carriers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19456">
                <a:tc>
                  <a:txBody>
                    <a:bodyPr wrap="square" lIns="0" rIns="0" tIns="0" bIns="0" anchor="ctr"/>
                    <a:lstStyle/>
                    <a:p>
                      <a:pPr algn="l"/>
                      <a:r>
                        <a:rPr sz="800" b="0" i="0">
                          <a:solidFill>
                            <a:srgbClr val="2A3340"/>
                          </a:solidFill>
                          <a:latin typeface="Helvetica Neue"/>
                        </a:rPr>
                        <a:t>Other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10" name="TextBox 9"/>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Source: FPDS FY2025 contract obligations (U.S. Navy + U.S. Coast Guard, 65 services PSCs, post-exclusions). Data as of April 2026.</a:t>
            </a:r>
          </a:p>
        </p:txBody>
      </p:sp>
      <p:cxnSp>
        <p:nvCxnSpPr>
          <p:cNvPr id="11" name="Connector 10"/>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Prime Landscape</a:t>
            </a:r>
            <a:r>
              <a:rPr sz="1800" b="0" i="0">
                <a:solidFill>
                  <a:srgbClr val="8A9BB0"/>
                </a:solidFill>
                <a:latin typeface="Helvetica Neue"/>
              </a:rPr>
              <a:t>   |   </a:t>
            </a:r>
            <a:r>
              <a:rPr sz="1800" b="0" i="0">
                <a:solidFill>
                  <a:srgbClr val="2A3340"/>
                </a:solidFill>
                <a:latin typeface="Helvetica Neue"/>
              </a:rPr>
              <a:t>BAE, General Dynamics, and HII collectively captured ~36% of the FY2025 MRO TAM; the top 10 primes captured ~57%</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MRO Obligations by Contractor - Top 10 ($M) with cumulative share (%)</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Combination chart (columns + cumulative line)</a:t>
            </a:r>
          </a:p>
          <a:p>
            <a:r>
              <a:rPr sz="800" b="0" i="1">
                <a:solidFill>
                  <a:srgbClr val="4B5666"/>
                </a:solidFill>
                <a:latin typeface="Helvetica Neue"/>
              </a:rPr>
              <a:t>Select this data block, then Insert -&gt; think-cell -&gt; Combination chart (columns + cumulative line) and paste into the think-cell datasheet.</a:t>
            </a:r>
          </a:p>
          <a:p>
            <a:r>
              <a:rPr sz="750" b="0" i="1">
                <a:solidFill>
                  <a:srgbClr val="4B5666"/>
                </a:solidFill>
                <a:latin typeface="Helvetica Neue"/>
              </a:rPr>
              <a:t>Use columns for FY25 $M (left axis 0-1,100) and a line series for Cum % of TAM (right axis 0-100%). Annotate 'Top 3 = 36%' and 'Top 10 = 57%' on the line.</a:t>
            </a:r>
          </a:p>
        </p:txBody>
      </p:sp>
      <p:graphicFrame>
        <p:nvGraphicFramePr>
          <p:cNvPr id="6" name="Table 5"/>
          <p:cNvGraphicFramePr>
            <a:graphicFrameLocks noGrp="1"/>
          </p:cNvGraphicFramePr>
          <p:nvPr/>
        </p:nvGraphicFramePr>
        <p:xfrm>
          <a:off x="502920" y="2167128"/>
          <a:ext cx="5943600" cy="2286000"/>
        </p:xfrm>
        <a:graphic>
          <a:graphicData uri="http://schemas.openxmlformats.org/drawingml/2006/table">
            <a:tbl>
              <a:tblPr>
                <a:tableStyleId>{5C22544A-7EE6-4342-B048-85BDC9FD1C3A}</a:tableStyleId>
              </a:tblPr>
              <a:tblGrid>
                <a:gridCol w="475488"/>
                <a:gridCol w="1901952"/>
                <a:gridCol w="1069848"/>
                <a:gridCol w="1188720"/>
                <a:gridCol w="1307592"/>
              </a:tblGrid>
              <a:tr h="274320">
                <a:tc>
                  <a:txBody>
                    <a:bodyPr wrap="square" lIns="0" rIns="0" tIns="0" bIns="0" anchor="ctr"/>
                    <a:lstStyle/>
                    <a:p>
                      <a:pPr algn="l"/>
                      <a:r>
                        <a:rPr sz="850" b="1" i="0">
                          <a:solidFill>
                            <a:srgbClr val="1F2D44"/>
                          </a:solidFill>
                          <a:latin typeface="Helvetica Neue"/>
                        </a:rPr>
                        <a:t>Rank</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Contractor</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Cum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Cum % of TAM</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01168">
                <a:tc>
                  <a:txBody>
                    <a:bodyPr wrap="square" lIns="0" rIns="0" tIns="0" bIns="0" anchor="ctr"/>
                    <a:lstStyle/>
                    <a:p>
                      <a:pPr algn="l"/>
                      <a:r>
                        <a:rPr sz="800" b="0" i="0">
                          <a:solidFill>
                            <a:srgbClr val="2A3340"/>
                          </a:solidFill>
                          <a:latin typeface="Helvetica Neue"/>
                        </a:rPr>
                        <a:t>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BAE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1,073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1,073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15.2%</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GD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939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2,012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28.5%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HII</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516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2,528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35.8%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Vigor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2,968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42.0%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Draper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318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3,286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46.5%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Detyens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225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3,511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49.7%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Epsilon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149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3,660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51.8%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East Coast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142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3,802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53.8%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Lockheed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132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3,934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55.7%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S.C.A.</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4,046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57.3%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graphicFrame>
        <p:nvGraphicFramePr>
          <p:cNvPr id="7" name="Table 6"/>
          <p:cNvGraphicFramePr>
            <a:graphicFrameLocks noGrp="1"/>
          </p:cNvGraphicFramePr>
          <p:nvPr/>
        </p:nvGraphicFramePr>
        <p:xfrm>
          <a:off x="6720840" y="1325880"/>
          <a:ext cx="4967932" cy="2468880"/>
        </p:xfrm>
        <a:graphic>
          <a:graphicData uri="http://schemas.openxmlformats.org/drawingml/2006/table">
            <a:tbl>
              <a:tblPr>
                <a:tableStyleId>{5C22544A-7EE6-4342-B048-85BDC9FD1C3A}</a:tableStyleId>
              </a:tblPr>
              <a:tblGrid>
                <a:gridCol w="1689097"/>
                <a:gridCol w="1092945"/>
                <a:gridCol w="1092945"/>
                <a:gridCol w="1092945"/>
              </a:tblGrid>
              <a:tr h="274320">
                <a:tc>
                  <a:txBody>
                    <a:bodyPr wrap="square" lIns="0" rIns="0" tIns="0" bIns="0" anchor="ctr"/>
                    <a:lstStyle/>
                    <a:p>
                      <a:pPr algn="l"/>
                      <a:r>
                        <a:rPr sz="900" b="1" i="0">
                          <a:solidFill>
                            <a:srgbClr val="1F2D44"/>
                          </a:solidFill>
                          <a:latin typeface="Helvetica Neue"/>
                        </a:rPr>
                        <a:t>Work Segment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900" b="1" i="0">
                          <a:solidFill>
                            <a:srgbClr val="1F2D44"/>
                          </a:solidFill>
                          <a:latin typeface="Helvetica Neue"/>
                        </a:rPr>
                        <a:t>#1</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900" b="1" i="0">
                          <a:solidFill>
                            <a:srgbClr val="1F2D44"/>
                          </a:solidFill>
                          <a:latin typeface="Helvetica Neue"/>
                        </a:rPr>
                        <a:t>#2</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900" b="1" i="0">
                          <a:solidFill>
                            <a:srgbClr val="1F2D44"/>
                          </a:solidFill>
                          <a:latin typeface="Helvetica Neue"/>
                        </a:rPr>
                        <a:t>#3</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438912">
                <a:tc>
                  <a:txBody>
                    <a:bodyPr wrap="square" lIns="0" rIns="0" tIns="0" bIns="0" anchor="ctr"/>
                    <a:lstStyle/>
                    <a:p>
                      <a:pPr algn="l"/>
                      <a:r>
                        <a:rPr sz="850" b="1" i="0">
                          <a:solidFill>
                            <a:srgbClr val="1F2D44"/>
                          </a:solidFill>
                          <a:latin typeface="Helvetica Neue"/>
                        </a:rPr>
                        <a:t>Depot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BAE  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GD  18%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HII  10%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438912">
                <a:tc>
                  <a:txBody>
                    <a:bodyPr wrap="square" lIns="0" rIns="0" tIns="0" bIns="0" anchor="ctr"/>
                    <a:lstStyle/>
                    <a:p>
                      <a:pPr algn="l"/>
                      <a:r>
                        <a:rPr sz="850" b="1" i="0">
                          <a:solidFill>
                            <a:srgbClr val="1F2D44"/>
                          </a:solidFill>
                          <a:latin typeface="Helvetica Neue"/>
                        </a:rPr>
                        <a:t>HM&amp;E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Global PCCI  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Oceaneering  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HII  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438912">
                <a:tc>
                  <a:txBody>
                    <a:bodyPr wrap="square" lIns="0" rIns="0" tIns="0" bIns="0" anchor="ctr"/>
                    <a:lstStyle/>
                    <a:p>
                      <a:pPr algn="l"/>
                      <a:r>
                        <a:rPr sz="850" b="1" i="0">
                          <a:solidFill>
                            <a:srgbClr val="1F2D44"/>
                          </a:solidFill>
                          <a:latin typeface="Helvetica Neue"/>
                        </a:rPr>
                        <a:t>Combat Systems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Draper  54%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Lockheed  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Leidos  10%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438912">
                <a:tc>
                  <a:txBody>
                    <a:bodyPr wrap="square" lIns="0" rIns="0" tIns="0" bIns="0" anchor="ctr"/>
                    <a:lstStyle/>
                    <a:p>
                      <a:pPr algn="l"/>
                      <a:r>
                        <a:rPr sz="850" b="1" i="0">
                          <a:solidFill>
                            <a:srgbClr val="1F2D44"/>
                          </a:solidFill>
                          <a:latin typeface="Helvetica Neue"/>
                        </a:rPr>
                        <a:t>Electronics &amp; C4ISR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Amentum  15%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L3  15%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SAIC  15%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438912">
                <a:tc>
                  <a:txBody>
                    <a:bodyPr wrap="square" lIns="0" rIns="0" tIns="0" bIns="0" anchor="ctr"/>
                    <a:lstStyle/>
                    <a:p>
                      <a:pPr algn="l"/>
                      <a:r>
                        <a:rPr sz="850" b="1" i="0">
                          <a:solidFill>
                            <a:srgbClr val="1F2D44"/>
                          </a:solidFill>
                          <a:latin typeface="Helvetica Neue"/>
                        </a:rPr>
                        <a:t>Port &amp; Technical</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S.C.A.  26%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Waypoint  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50" b="0" i="0">
                          <a:solidFill>
                            <a:srgbClr val="2A3340"/>
                          </a:solidFill>
                          <a:latin typeface="Helvetica Neue"/>
                        </a:rPr>
                        <a:t>Fairlead  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8" name="Rectangle 7"/>
          <p:cNvSpPr/>
          <p:nvPr/>
        </p:nvSpPr>
        <p:spPr>
          <a:xfrm>
            <a:off x="6720840" y="4754880"/>
            <a:ext cx="4967935" cy="105156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HII Mission Technologies posted a ~5.0% OI margin in 2025 ($3.0B revenue / $153M OI). At ~91% service revenue mix, it is the cleanest pure-services proxy in public comps for the FPDS MRO obligations captured here.</a:t>
            </a:r>
          </a:p>
        </p:txBody>
      </p:sp>
      <p:sp>
        <p:nvSpPr>
          <p:cNvPr id="9" name="TextBox 8"/>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BAE includes San Diego, Norfolk, and Jacksonville ship repair operations. (2) GD includes NASSCO, Electric Boat, Continental Maritime, and Mission Systems. (3) HII includes Newport News, Ingalls, Metro Machine, and Marine Hydraulics International. Cumulative % computed against the $7,067M Services TAM (Slide 2 denominator). Sources: FPDS FY2025 contract obligations; SEC 10-K filings (HII, GD, BWXT), FY2025. Data as of April 2026.</a:t>
            </a:r>
          </a:p>
        </p:txBody>
      </p:sp>
      <p:cxnSp>
        <p:nvCxnSpPr>
          <p:cNvPr id="10" name="Connector 9"/>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Geographic Context</a:t>
            </a:r>
            <a:r>
              <a:rPr sz="1800" b="0" i="0">
                <a:solidFill>
                  <a:srgbClr val="8A9BB0"/>
                </a:solidFill>
                <a:latin typeface="Helvetica Neue"/>
              </a:rPr>
              <a:t>   |   </a:t>
            </a:r>
            <a:r>
              <a:rPr sz="1800" b="0" i="0">
                <a:solidFill>
                  <a:srgbClr val="2A3340"/>
                </a:solidFill>
                <a:latin typeface="Helvetica Neue"/>
              </a:rPr>
              <a:t>FY2025 depot $ concentrates on the West Coast (SWRMC $1.6B) and East Coast (MARMC $1.0B); no established RMC anchor sits on the Gulf Coast</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J998 / J999 depot obligations by RMC region x contractor tier ($M)</a:t>
            </a:r>
          </a:p>
        </p:txBody>
      </p:sp>
      <p:sp>
        <p:nvSpPr>
          <p:cNvPr id="5" name="Rectangle 4"/>
          <p:cNvSpPr/>
          <p:nvPr/>
        </p:nvSpPr>
        <p:spPr>
          <a:xfrm>
            <a:off x="502920" y="1618488"/>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Mekko (Marimekko)</a:t>
            </a:r>
          </a:p>
          <a:p>
            <a:r>
              <a:rPr sz="800" b="0" i="1">
                <a:solidFill>
                  <a:srgbClr val="4B5666"/>
                </a:solidFill>
                <a:latin typeface="Helvetica Neue"/>
              </a:rPr>
              <a:t>Select this data block, then Insert -&gt; think-cell -&gt; Mekko (Marimekko) and paste into the think-cell datasheet.</a:t>
            </a:r>
          </a:p>
          <a:p>
            <a:r>
              <a:rPr sz="750" b="0" i="1">
                <a:solidFill>
                  <a:srgbClr val="4B5666"/>
                </a:solidFill>
                <a:latin typeface="Helvetica Neue"/>
              </a:rPr>
              <a:t>Mekko column widths are RMC-region $; stacks within each column are contractor tiers. Tier 4 is 100% of the FDNF column by construction.</a:t>
            </a:r>
          </a:p>
        </p:txBody>
      </p:sp>
      <p:graphicFrame>
        <p:nvGraphicFramePr>
          <p:cNvPr id="6" name="Table 5"/>
          <p:cNvGraphicFramePr>
            <a:graphicFrameLocks noGrp="1"/>
          </p:cNvGraphicFramePr>
          <p:nvPr/>
        </p:nvGraphicFramePr>
        <p:xfrm>
          <a:off x="502920" y="2167128"/>
          <a:ext cx="5943600" cy="1938528"/>
        </p:xfrm>
        <a:graphic>
          <a:graphicData uri="http://schemas.openxmlformats.org/drawingml/2006/table">
            <a:tbl>
              <a:tblPr>
                <a:tableStyleId>{5C22544A-7EE6-4342-B048-85BDC9FD1C3A}</a:tableStyleId>
              </a:tblPr>
              <a:tblGrid>
                <a:gridCol w="1545336"/>
                <a:gridCol w="653796"/>
                <a:gridCol w="653796"/>
                <a:gridCol w="594360"/>
                <a:gridCol w="653796"/>
                <a:gridCol w="594360"/>
                <a:gridCol w="594360"/>
                <a:gridCol w="653796"/>
              </a:tblGrid>
              <a:tr h="274320">
                <a:tc>
                  <a:txBody>
                    <a:bodyPr wrap="square" lIns="0" rIns="0" tIns="0" bIns="0" anchor="ctr"/>
                    <a:lstStyle/>
                    <a:p>
                      <a:pPr algn="l"/>
                      <a:r>
                        <a:rPr sz="850" b="1" i="0">
                          <a:solidFill>
                            <a:srgbClr val="1F2D44"/>
                          </a:solidFill>
                          <a:latin typeface="Helvetica Neue"/>
                        </a:rPr>
                        <a:t>Tier</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SWRMC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MARMC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Other</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SERMC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FDNF</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NW 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USCG</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0" i="1">
                          <a:solidFill>
                            <a:srgbClr val="4B5666"/>
                          </a:solidFill>
                          <a:latin typeface="Helvetica Neue"/>
                        </a:rPr>
                        <a:t>(column width $M)</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1,584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1,022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688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540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510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430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1">
                          <a:solidFill>
                            <a:srgbClr val="4B5666"/>
                          </a:solidFill>
                          <a:latin typeface="Helvetica Neue"/>
                        </a:rPr>
                        <a:t>148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1 CONUS Complex</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680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420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350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330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95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2 Regional</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200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120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3 Technical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70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Tier 4 FDNF Foreign Yard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Other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Column 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1,584</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1,022</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688</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540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510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430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148</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graphicFrame>
        <p:nvGraphicFramePr>
          <p:cNvPr id="7" name="Table 6"/>
          <p:cNvGraphicFramePr>
            <a:graphicFrameLocks noGrp="1"/>
          </p:cNvGraphicFramePr>
          <p:nvPr/>
        </p:nvGraphicFramePr>
        <p:xfrm>
          <a:off x="6720840" y="1325880"/>
          <a:ext cx="4967934" cy="2359152"/>
        </p:xfrm>
        <a:graphic>
          <a:graphicData uri="http://schemas.openxmlformats.org/drawingml/2006/table">
            <a:tbl>
              <a:tblPr>
                <a:tableStyleId>{5C22544A-7EE6-4342-B048-85BDC9FD1C3A}</a:tableStyleId>
              </a:tblPr>
              <a:tblGrid>
                <a:gridCol w="596152"/>
                <a:gridCol w="993587"/>
                <a:gridCol w="1887815"/>
                <a:gridCol w="1490380"/>
              </a:tblGrid>
              <a:tr h="274320">
                <a:tc>
                  <a:txBody>
                    <a:bodyPr wrap="square" lIns="0" rIns="0" tIns="0" bIns="0" anchor="ctr"/>
                    <a:lstStyle/>
                    <a:p>
                      <a:pPr algn="l"/>
                      <a:r>
                        <a:rPr sz="800" b="1" i="0">
                          <a:solidFill>
                            <a:srgbClr val="1F2D44"/>
                          </a:solidFill>
                          <a:latin typeface="Helvetica Neue"/>
                        </a:rPr>
                        <a:t>RMC</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00" b="1" i="0">
                          <a:solidFill>
                            <a:srgbClr val="1F2D44"/>
                          </a:solidFill>
                          <a:latin typeface="Helvetica Neue"/>
                        </a:rPr>
                        <a:t>Geography</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00" b="1" i="0">
                          <a:solidFill>
                            <a:srgbClr val="1F2D44"/>
                          </a:solidFill>
                          <a:latin typeface="Helvetica Neue"/>
                        </a:rPr>
                        <a:t>Tier-1 Primes in Region</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00" b="1" i="0">
                          <a:solidFill>
                            <a:srgbClr val="1F2D44"/>
                          </a:solidFill>
                          <a:latin typeface="Helvetica Neue"/>
                        </a:rPr>
                        <a:t>Navy / USCG Homeports</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347472">
                <a:tc>
                  <a:txBody>
                    <a:bodyPr wrap="square" lIns="0" rIns="0" tIns="0" bIns="0" anchor="ctr"/>
                    <a:lstStyle/>
                    <a:p>
                      <a:pPr algn="l"/>
                      <a:r>
                        <a:rPr sz="700" b="1" i="0">
                          <a:solidFill>
                            <a:srgbClr val="1F2D44"/>
                          </a:solidFill>
                          <a:latin typeface="Helvetica Neue"/>
                        </a:rPr>
                        <a:t>SWRMC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San Diego, CA</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BAE SD; GD NASSCO; HII CM + MHI</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San Diego (Pacific Fleet)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47472">
                <a:tc>
                  <a:txBody>
                    <a:bodyPr wrap="square" lIns="0" rIns="0" tIns="0" bIns="0" anchor="ctr"/>
                    <a:lstStyle/>
                    <a:p>
                      <a:pPr algn="l"/>
                      <a:r>
                        <a:rPr sz="700" b="1" i="0">
                          <a:solidFill>
                            <a:srgbClr val="1F2D44"/>
                          </a:solidFill>
                          <a:latin typeface="Helvetica Neue"/>
                        </a:rPr>
                        <a:t>MARMC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Norfolk, VA</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BAE Norfolk; HII Metro Machine + MHI</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Norfolk (Atlantic Fleet)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47472">
                <a:tc>
                  <a:txBody>
                    <a:bodyPr wrap="square" lIns="0" rIns="0" tIns="0" bIns="0" anchor="ctr"/>
                    <a:lstStyle/>
                    <a:p>
                      <a:pPr algn="l"/>
                      <a:r>
                        <a:rPr sz="700" b="1" i="0">
                          <a:solidFill>
                            <a:srgbClr val="1F2D44"/>
                          </a:solidFill>
                          <a:latin typeface="Helvetica Neue"/>
                        </a:rPr>
                        <a:t>SERMC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Mayport FL + Charleston SC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Detyens; NASSCO Mayport; BAE JAX</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Mayport; Kings Bay; Charleston</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47472">
                <a:tc>
                  <a:txBody>
                    <a:bodyPr wrap="square" lIns="0" rIns="0" tIns="0" bIns="0" anchor="ctr"/>
                    <a:lstStyle/>
                    <a:p>
                      <a:pPr algn="l"/>
                      <a:r>
                        <a:rPr sz="700" b="1" i="0">
                          <a:solidFill>
                            <a:srgbClr val="1F2D44"/>
                          </a:solidFill>
                          <a:latin typeface="Helvetica Neue"/>
                        </a:rPr>
                        <a:t>NW RMC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Bremerton/Everett + Portland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Vigor Seattle + Portland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Bremerton; Everett</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47472">
                <a:tc>
                  <a:txBody>
                    <a:bodyPr wrap="square" lIns="0" rIns="0" tIns="0" bIns="0" anchor="ctr"/>
                    <a:lstStyle/>
                    <a:p>
                      <a:pPr algn="l"/>
                      <a:r>
                        <a:rPr sz="700" b="1" i="0">
                          <a:solidFill>
                            <a:srgbClr val="1F2D44"/>
                          </a:solidFill>
                          <a:latin typeface="Helvetica Neue"/>
                        </a:rPr>
                        <a:t>FDNF</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Yokosuka + Naples + Bahrain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Hanwha (KR); Navantia (ES); Sumitomo/Mitsubishi/UniThai</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Forward-deployed squadrons</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47472">
                <a:tc>
                  <a:txBody>
                    <a:bodyPr wrap="square" lIns="0" rIns="0" tIns="0" bIns="0" anchor="ctr"/>
                    <a:lstStyle/>
                    <a:p>
                      <a:pPr algn="l"/>
                      <a:r>
                        <a:rPr sz="700" b="1" i="0">
                          <a:solidFill>
                            <a:srgbClr val="1F2D44"/>
                          </a:solidFill>
                          <a:latin typeface="Helvetica Neue"/>
                        </a:rPr>
                        <a:t>USCG SFLC</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Baltimore MD (HQ)</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None (USCG work distributed across T2/T3)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700" b="0" i="0">
                          <a:solidFill>
                            <a:srgbClr val="2A3340"/>
                          </a:solidFill>
                          <a:latin typeface="Helvetica Neue"/>
                        </a:rPr>
                        <a:t>USCG homeports nationwide</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sp>
        <p:nvSpPr>
          <p:cNvPr id="8" name="Rectangle 7"/>
          <p:cNvSpPr/>
          <p:nvPr/>
        </p:nvSpPr>
        <p:spPr>
          <a:xfrm>
            <a:off x="6720840" y="4160520"/>
            <a:ext cx="4967935" cy="822960"/>
          </a:xfrm>
          <a:prstGeom prst="rect">
            <a:avLst/>
          </a:prstGeom>
          <a:solidFill>
            <a:srgbClr val="E7ECF2"/>
          </a:solidFill>
          <a:ln w="635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i="0">
                <a:solidFill>
                  <a:srgbClr val="1F2D44"/>
                </a:solidFill>
                <a:latin typeface="Helvetica Neue"/>
              </a:rPr>
              <a:t>CANDIDATE SITE PROXIMITY</a:t>
            </a:r>
          </a:p>
          <a:p>
            <a:r>
              <a:rPr sz="850" b="0" i="0">
                <a:solidFill>
                  <a:srgbClr val="2A3340"/>
                </a:solidFill>
                <a:latin typeface="Helvetica Neue"/>
              </a:rPr>
              <a:t>Gulf Coast (Brownsville, TX) -&gt; nearest active RMC is SERMC (Mayport) at ~1,100 nm.</a:t>
            </a:r>
          </a:p>
          <a:p>
            <a:r>
              <a:rPr sz="850" b="0" i="0">
                <a:solidFill>
                  <a:srgbClr val="2A3340"/>
                </a:solidFill>
                <a:latin typeface="Helvetica Neue"/>
              </a:rPr>
              <a:t>California (site TBD) -&gt; would sit within or adjacent to SWRMC's $1.6B depot pool (or NW RMC $430M).</a:t>
            </a:r>
          </a:p>
        </p:txBody>
      </p:sp>
      <p:sp>
        <p:nvSpPr>
          <p:cNvPr id="9" name="Rectangle 8"/>
          <p:cNvSpPr/>
          <p:nvPr/>
        </p:nvSpPr>
        <p:spPr>
          <a:xfrm>
            <a:off x="6720840" y="5120640"/>
            <a:ext cx="4967935" cy="123444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FY25 depot $ concentrates at locations where the Navy already homeports major surface-combatant and amphibious-ship squadrons (San Diego, Norfolk, Mayport, Bremerton/Everett). The candidate Gulf Coast site does not sit within an established RMC footprint, while the candidate California site would sit within or adjacent to SWRMC's $1.6B annual depot pool.</a:t>
            </a:r>
          </a:p>
        </p:txBody>
      </p:sp>
      <p:sp>
        <p:nvSpPr>
          <p:cNvPr id="10" name="TextBox 9"/>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RMC $ and tier composition drawn from the Depot Ship Repair RMC x Tier crosstab (J998/J999 only, FY2025 post-FMS). Non-depot Services MRO $ ($2.3B) is not allocated to RMCs. (2) FDNF = Forward Deployed Naval Forces; Tier 4 is 100% of FDNF $ by construction. (3) Brownsville, TX to Mayport, FL is approximately 1,100 nautical miles. Source: FPDS FY2025 contract obligations on PSCs J998 + J999, classifier-enriched with RMC geography tags. Data as of April 2026.</a:t>
            </a:r>
          </a:p>
        </p:txBody>
      </p:sp>
      <p:cxnSp>
        <p:nvCxnSpPr>
          <p:cNvPr id="11" name="Connector 10"/>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Appropriation Sourcing</a:t>
            </a:r>
            <a:r>
              <a:rPr sz="1800" b="0" i="0">
                <a:solidFill>
                  <a:srgbClr val="8A9BB0"/>
                </a:solidFill>
                <a:latin typeface="Helvetica Neue"/>
              </a:rPr>
              <a:t>   |   </a:t>
            </a:r>
            <a:r>
              <a:rPr sz="1800" b="0" i="0">
                <a:solidFill>
                  <a:srgbClr val="2A3340"/>
                </a:solidFill>
                <a:latin typeface="Helvetica Neue"/>
              </a:rPr>
              <a:t>The $7.4B FY2025 MRO-PSC universe is funded across ~10 federal appropriations; OMN and OPN each carry ~35-37%, with Defense-Wide RDT&amp;E a surprising 11%</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MRO-PSC obligations by Treasury appropriation ($M, TAS-attributed); OPN drilled to Budget Activity</a:t>
            </a:r>
          </a:p>
        </p:txBody>
      </p:sp>
      <p:sp>
        <p:nvSpPr>
          <p:cNvPr id="5" name="Rectangle 4"/>
          <p:cNvSpPr/>
          <p:nvPr/>
        </p:nvSpPr>
        <p:spPr>
          <a:xfrm>
            <a:off x="502920" y="1828800"/>
            <a:ext cx="28575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Stacked Column (Col 1 of 2)</a:t>
            </a:r>
          </a:p>
          <a:p>
            <a:r>
              <a:rPr sz="800" b="0" i="1">
                <a:solidFill>
                  <a:srgbClr val="4B5666"/>
                </a:solidFill>
                <a:latin typeface="Helvetica Neue"/>
              </a:rPr>
              <a:t>Select this data block, then Insert -&gt; think-cell -&gt; Stacked Column (Col 1 of 2) and paste into the think-cell datasheet.</a:t>
            </a:r>
          </a:p>
          <a:p>
            <a:r>
              <a:rPr sz="750" b="0" i="1">
                <a:solidFill>
                  <a:srgbClr val="4B5666"/>
                </a:solidFill>
                <a:latin typeface="Helvetica Neue"/>
              </a:rPr>
              <a:t>Single stacked column; order segments largest-to-smallest from bottom.</a:t>
            </a:r>
          </a:p>
        </p:txBody>
      </p:sp>
      <p:graphicFrame>
        <p:nvGraphicFramePr>
          <p:cNvPr id="6" name="Table 5"/>
          <p:cNvGraphicFramePr>
            <a:graphicFrameLocks noGrp="1"/>
          </p:cNvGraphicFramePr>
          <p:nvPr/>
        </p:nvGraphicFramePr>
        <p:xfrm>
          <a:off x="502920" y="2377440"/>
          <a:ext cx="2857500" cy="2286000"/>
        </p:xfrm>
        <a:graphic>
          <a:graphicData uri="http://schemas.openxmlformats.org/drawingml/2006/table">
            <a:tbl>
              <a:tblPr>
                <a:tableStyleId>{5C22544A-7EE6-4342-B048-85BDC9FD1C3A}</a:tableStyleId>
              </a:tblPr>
              <a:tblGrid>
                <a:gridCol w="1428750"/>
                <a:gridCol w="714375"/>
                <a:gridCol w="714375"/>
              </a:tblGrid>
              <a:tr h="274320">
                <a:tc>
                  <a:txBody>
                    <a:bodyPr wrap="square" lIns="0" rIns="0" tIns="0" bIns="0" anchor="ctr"/>
                    <a:lstStyle/>
                    <a:p>
                      <a:pPr algn="l"/>
                      <a:r>
                        <a:rPr sz="850" b="1" i="0">
                          <a:solidFill>
                            <a:srgbClr val="1F2D44"/>
                          </a:solidFill>
                          <a:latin typeface="Helvetica Neue"/>
                        </a:rPr>
                        <a:t>Appropriation</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 of TAS</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01168">
                <a:tc>
                  <a:txBody>
                    <a:bodyPr wrap="square" lIns="0" rIns="0" tIns="0" bIns="0" anchor="ctr"/>
                    <a:lstStyle/>
                    <a:p>
                      <a:pPr algn="l"/>
                      <a:r>
                        <a:rPr sz="800" b="1" i="0">
                          <a:solidFill>
                            <a:srgbClr val="1F2D44"/>
                          </a:solidFill>
                          <a:latin typeface="Helvetica Neue"/>
                        </a:rPr>
                        <a:t>OMN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2,761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37.3%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1" i="0">
                          <a:solidFill>
                            <a:srgbClr val="1F2D44"/>
                          </a:solidFill>
                          <a:latin typeface="Helvetica Neue"/>
                        </a:rPr>
                        <a:t>OPN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2,588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35.0%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RDT&amp;E, Defense-Wide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780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10.5%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USCG (OE + AC&amp;I + other)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320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Defense-Wide other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307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4.2%</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Navy other (APN + WPN)</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295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Air Force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165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2.2%</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Army</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131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1.8%</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0" i="0">
                          <a:solidFill>
                            <a:srgbClr val="2A3340"/>
                          </a:solidFill>
                          <a:latin typeface="Helvetica Neue"/>
                        </a:rPr>
                        <a:t>SCN + other agency</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0.7%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01168">
                <a:tc>
                  <a:txBody>
                    <a:bodyPr wrap="square" lIns="0" rIns="0" tIns="0" bIns="0" anchor="ctr"/>
                    <a:lstStyle/>
                    <a:p>
                      <a:pPr algn="l"/>
                      <a:r>
                        <a:rPr sz="800" b="1" i="0">
                          <a:solidFill>
                            <a:srgbClr val="1F2D44"/>
                          </a:solidFill>
                          <a:latin typeface="Helvetica Neue"/>
                        </a:rPr>
                        <a:t>TAS 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7,400</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100%</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sp>
        <p:nvSpPr>
          <p:cNvPr id="7" name="Rectangle 6"/>
          <p:cNvSpPr/>
          <p:nvPr/>
        </p:nvSpPr>
        <p:spPr>
          <a:xfrm>
            <a:off x="3589020" y="1828800"/>
            <a:ext cx="28575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Stacked Column (Col 2 of 2 - OPN drill)</a:t>
            </a:r>
          </a:p>
          <a:p>
            <a:r>
              <a:rPr sz="800" b="0" i="1">
                <a:solidFill>
                  <a:srgbClr val="4B5666"/>
                </a:solidFill>
                <a:latin typeface="Helvetica Neue"/>
              </a:rPr>
              <a:t>Select this data block, then Insert -&gt; think-cell -&gt; Stacked Column (Col 2 of 2 - OPN drill) and paste into the think-cell datasheet.</a:t>
            </a:r>
          </a:p>
          <a:p>
            <a:r>
              <a:rPr sz="750" b="0" i="1">
                <a:solidFill>
                  <a:srgbClr val="4B5666"/>
                </a:solidFill>
                <a:latin typeface="Helvetica Neue"/>
              </a:rPr>
              <a:t>Second chart visually anchors to the OPN segment in the Col 1 chart via a bracket/arrow drawn after insertion.</a:t>
            </a:r>
          </a:p>
        </p:txBody>
      </p:sp>
      <p:graphicFrame>
        <p:nvGraphicFramePr>
          <p:cNvPr id="8" name="Table 7"/>
          <p:cNvGraphicFramePr>
            <a:graphicFrameLocks noGrp="1"/>
          </p:cNvGraphicFramePr>
          <p:nvPr/>
        </p:nvGraphicFramePr>
        <p:xfrm>
          <a:off x="3589020.0" y="2377440"/>
          <a:ext cx="2857500" cy="1225296"/>
        </p:xfrm>
        <a:graphic>
          <a:graphicData uri="http://schemas.openxmlformats.org/drawingml/2006/table">
            <a:tbl>
              <a:tblPr>
                <a:tableStyleId>{5C22544A-7EE6-4342-B048-85BDC9FD1C3A}</a:tableStyleId>
              </a:tblPr>
              <a:tblGrid>
                <a:gridCol w="1428750"/>
                <a:gridCol w="714375"/>
                <a:gridCol w="714375"/>
              </a:tblGrid>
              <a:tr h="274320">
                <a:tc>
                  <a:txBody>
                    <a:bodyPr wrap="square" lIns="0" rIns="0" tIns="0" bIns="0" anchor="ctr"/>
                    <a:lstStyle/>
                    <a:p>
                      <a:pPr algn="l"/>
                      <a:r>
                        <a:rPr sz="850" b="1" i="0">
                          <a:solidFill>
                            <a:srgbClr val="1F2D44"/>
                          </a:solidFill>
                          <a:latin typeface="Helvetica Neue"/>
                        </a:rPr>
                        <a:t>OPN Budget Activity</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 of OPN</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1" i="0">
                          <a:solidFill>
                            <a:srgbClr val="1F2D44"/>
                          </a:solidFill>
                          <a:latin typeface="Helvetica Neue"/>
                        </a:rPr>
                        <a:t>BA-7 Personnel &amp; Cmd Support Equip</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1,591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61.5%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BA-8 Spares &amp; Repair Parts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825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31.9%</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Other BAs (BA-1 + Undistributed)</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171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6.6%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1" i="0">
                          <a:solidFill>
                            <a:srgbClr val="1F2D44"/>
                          </a:solidFill>
                          <a:latin typeface="Helvetica Neue"/>
                        </a:rPr>
                        <a:t>OPN 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2,587</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100%</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sp>
        <p:nvSpPr>
          <p:cNvPr id="9" name="Rectangle 8"/>
          <p:cNvSpPr/>
          <p:nvPr/>
        </p:nvSpPr>
        <p:spPr>
          <a:xfrm>
            <a:off x="6720840" y="1325880"/>
            <a:ext cx="4967935" cy="91440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OMN + OPN = 72% of MRO $ </a:t>
            </a:r>
            <a:r>
              <a:rPr sz="850" b="0" i="1">
                <a:solidFill>
                  <a:srgbClr val="1F2D44"/>
                </a:solidFill>
                <a:latin typeface="Helvetica Neue"/>
              </a:rPr>
              <a:t>Navy sustainment drives the market. The appropriation story is a Navy story, not a DoD-wide one.</a:t>
            </a:r>
          </a:p>
        </p:txBody>
      </p:sp>
      <p:sp>
        <p:nvSpPr>
          <p:cNvPr id="10" name="Rectangle 9"/>
          <p:cNvSpPr/>
          <p:nvPr/>
        </p:nvSpPr>
        <p:spPr>
          <a:xfrm>
            <a:off x="6720840" y="2331720"/>
            <a:ext cx="4967935" cy="91440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OPN splits 62% Command Support Equip / 32% Spares </a:t>
            </a:r>
            <a:r>
              <a:rPr sz="850" b="0" i="1">
                <a:solidFill>
                  <a:srgbClr val="1F2D44"/>
                </a:solidFill>
                <a:latin typeface="Helvetica Neue"/>
              </a:rPr>
              <a:t>BA-7 funds installation / modernization electronics, C4ISR, and combat-system integration. BA-8 is spares and consumables. Depot availabilities are funded through BA-7, not OMN CE-928.</a:t>
            </a:r>
          </a:p>
        </p:txBody>
      </p:sp>
      <p:sp>
        <p:nvSpPr>
          <p:cNvPr id="11" name="Rectangle 10"/>
          <p:cNvSpPr/>
          <p:nvPr/>
        </p:nvSpPr>
        <p:spPr>
          <a:xfrm>
            <a:off x="6720840" y="3337560"/>
            <a:ext cx="4967935" cy="91440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RDT&amp;E Defense-Wide = $780M (11%) </a:t>
            </a:r>
            <a:r>
              <a:rPr sz="850" b="0" i="1">
                <a:solidFill>
                  <a:srgbClr val="1F2D44"/>
                </a:solidFill>
                <a:latin typeface="Helvetica Neue"/>
              </a:rPr>
              <a:t>Almost entirely Trident II / SSP / SMDC sustainment on J-series PSCs. Draper MK7 Trident ($318M FY25) is the single-largest MRO PIID.</a:t>
            </a:r>
          </a:p>
        </p:txBody>
      </p:sp>
      <p:sp>
        <p:nvSpPr>
          <p:cNvPr id="12" name="Rectangle 11"/>
          <p:cNvSpPr/>
          <p:nvPr/>
        </p:nvSpPr>
        <p:spPr>
          <a:xfrm>
            <a:off x="6720840" y="4343400"/>
            <a:ext cx="4967935" cy="91440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SCN on MRO PSCs = ~$40M </a:t>
            </a:r>
            <a:r>
              <a:rPr sz="850" b="0" i="1">
                <a:solidFill>
                  <a:srgbClr val="1F2D44"/>
                </a:solidFill>
                <a:latin typeface="Helvetica Neue"/>
              </a:rPr>
              <a:t>De minimis. Nuclear-platform MRO bundles under PSC 1905 shipbuilding, not onto MRO PSCs - see Slide 3.</a:t>
            </a:r>
          </a:p>
        </p:txBody>
      </p:sp>
      <p:sp>
        <p:nvSpPr>
          <p:cNvPr id="13" name="Rectangle 12"/>
          <p:cNvSpPr/>
          <p:nvPr/>
        </p:nvSpPr>
        <p:spPr>
          <a:xfrm>
            <a:off x="6720840" y="5623560"/>
            <a:ext cx="4967935" cy="68580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Reconciling FPDS FY25 MRO $ to OMN CE-928 alone leaves a naive $4.7B gap. The gap disappears once OPN, RDT&amp;E-DW, USCG, and the other appropriation colors are included.</a:t>
            </a:r>
          </a:p>
        </p:txBody>
      </p:sp>
      <p:sp>
        <p:nvSpPr>
          <p:cNvPr id="14" name="TextBox 13"/>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49% of FY25 MRO $ directly TAS-attributed from Treasury File C (USAspending funding endpoint); 51% imputed via per-PSC-bucket appropriation ratios. (2) $7,400M TAS Total is pre-exclusion MRO-PSC universe, ~$333M larger than the $7,067M Services TAM. Source: USAspending /awards/funding/ joined to FPDS FY2025 contract obligations. Data as of April 2026.</a:t>
            </a:r>
          </a:p>
        </p:txBody>
      </p:sp>
      <p:cxnSp>
        <p:nvCxnSpPr>
          <p:cNvPr id="15" name="Connector 14"/>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777240"/>
          </a:xfrm>
          <a:prstGeom prst="rect">
            <a:avLst/>
          </a:prstGeom>
          <a:noFill/>
        </p:spPr>
        <p:txBody>
          <a:bodyPr wrap="square" lIns="0" rIns="0" tIns="0" bIns="0">
            <a:spAutoFit/>
          </a:bodyPr>
          <a:lstStyle/>
          <a:p>
            <a:pPr algn="l"/>
            <a:r>
              <a:rPr sz="1800" b="0" i="0">
                <a:solidFill>
                  <a:srgbClr val="1F2D44"/>
                </a:solidFill>
                <a:latin typeface="Helvetica Neue"/>
              </a:rPr>
              <a:t>TAM Framing</a:t>
            </a:r>
            <a:r>
              <a:rPr sz="1800" b="0" i="0">
                <a:solidFill>
                  <a:srgbClr val="8A9BB0"/>
                </a:solidFill>
                <a:latin typeface="Helvetica Neue"/>
              </a:rPr>
              <a:t>   |   </a:t>
            </a:r>
            <a:r>
              <a:rPr sz="1800" b="0" i="0">
                <a:solidFill>
                  <a:srgbClr val="2A3340"/>
                </a:solidFill>
                <a:latin typeface="Helvetica Neue"/>
              </a:rPr>
              <a:t>The $7.1B FY25 contracting-market TAM apportions to a ~$3.3-3.8B range of FY25-delivered contractor revenue under period-of-performance sensitivity; the deck presents Frame A (contracting activity) by industry convention</a:t>
            </a:r>
          </a:p>
        </p:txBody>
      </p:sp>
      <p:cxnSp>
        <p:nvCxnSpPr>
          <p:cNvPr id="3" name="Connector 2"/>
          <p:cNvCxnSpPr/>
          <p:nvPr/>
        </p:nvCxnSpPr>
        <p:spPr>
          <a:xfrm>
            <a:off x="502920" y="1188720"/>
            <a:ext cx="11185855" cy="0"/>
          </a:xfrm>
          <a:prstGeom prst="line">
            <a:avLst/>
          </a:prstGeom>
          <a:ln w="9525">
            <a:solidFill>
              <a:srgbClr val="C9D2DC"/>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1325880"/>
            <a:ext cx="5943600" cy="274320"/>
          </a:xfrm>
          <a:prstGeom prst="rect">
            <a:avLst/>
          </a:prstGeom>
          <a:noFill/>
        </p:spPr>
        <p:txBody>
          <a:bodyPr wrap="square" lIns="0" rIns="0" tIns="0" bIns="0" anchor="t">
            <a:spAutoFit/>
          </a:bodyPr>
          <a:lstStyle/>
          <a:p>
            <a:pPr algn="l"/>
            <a:r>
              <a:rPr sz="1100" b="0" i="1">
                <a:solidFill>
                  <a:srgbClr val="4B5666"/>
                </a:solidFill>
                <a:latin typeface="Helvetica Neue"/>
              </a:rPr>
              <a:t>FY2025 Services MRO TAM under alternative period-of-performance apportionment methods ($M)</a:t>
            </a:r>
          </a:p>
        </p:txBody>
      </p:sp>
      <p:sp>
        <p:nvSpPr>
          <p:cNvPr id="5" name="Rectangle 4"/>
          <p:cNvSpPr/>
          <p:nvPr/>
        </p:nvSpPr>
        <p:spPr>
          <a:xfrm>
            <a:off x="502920" y="1828800"/>
            <a:ext cx="5943600" cy="50292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1F2D44"/>
                </a:solidFill>
                <a:latin typeface="Helvetica Neue"/>
              </a:rPr>
              <a:t>Think-cell </a:t>
            </a:r>
            <a:r>
              <a:rPr sz="900" b="1" i="0">
                <a:solidFill>
                  <a:srgbClr val="1F2D44"/>
                </a:solidFill>
                <a:latin typeface="Helvetica Neue"/>
              </a:rPr>
              <a:t>Combination chart (columns + reference line)</a:t>
            </a:r>
          </a:p>
          <a:p>
            <a:r>
              <a:rPr sz="800" b="0" i="1">
                <a:solidFill>
                  <a:srgbClr val="4B5666"/>
                </a:solidFill>
                <a:latin typeface="Helvetica Neue"/>
              </a:rPr>
              <a:t>Select this data block, then Insert -&gt; think-cell -&gt; Combination chart (columns + reference line) and paste into the think-cell datasheet.</a:t>
            </a:r>
          </a:p>
          <a:p>
            <a:r>
              <a:rPr sz="750" b="0" i="1">
                <a:solidFill>
                  <a:srgbClr val="4B5666"/>
                </a:solidFill>
                <a:latin typeface="Helvetica Neue"/>
              </a:rPr>
              <a:t>Columns: FY25 $M (left axis 0-8,000). Add a horizontal reference line at $3,500M labeled 'Central Frame B ~$3.5B (49% of Frame A)'.</a:t>
            </a:r>
          </a:p>
        </p:txBody>
      </p:sp>
      <p:graphicFrame>
        <p:nvGraphicFramePr>
          <p:cNvPr id="6" name="Table 5"/>
          <p:cNvGraphicFramePr>
            <a:graphicFrameLocks noGrp="1"/>
          </p:cNvGraphicFramePr>
          <p:nvPr/>
        </p:nvGraphicFramePr>
        <p:xfrm>
          <a:off x="502920" y="2377440"/>
          <a:ext cx="5943600" cy="1463040"/>
        </p:xfrm>
        <a:graphic>
          <a:graphicData uri="http://schemas.openxmlformats.org/drawingml/2006/table">
            <a:tbl>
              <a:tblPr>
                <a:tableStyleId>{5C22544A-7EE6-4342-B048-85BDC9FD1C3A}</a:tableStyleId>
              </a:tblPr>
              <a:tblGrid>
                <a:gridCol w="475488"/>
                <a:gridCol w="2793492"/>
                <a:gridCol w="1188720"/>
                <a:gridCol w="1485900"/>
              </a:tblGrid>
              <a:tr h="274320">
                <a:tc>
                  <a:txBody>
                    <a:bodyPr wrap="square" lIns="0" rIns="0" tIns="0" bIns="0" anchor="ctr"/>
                    <a:lstStyle/>
                    <a:p>
                      <a:pPr algn="l"/>
                      <a:r>
                        <a:rPr sz="850" b="1" i="0">
                          <a:solidFill>
                            <a:srgbClr val="1F2D44"/>
                          </a:solidFill>
                          <a:latin typeface="Helvetica Neue"/>
                        </a:rPr>
                        <a:t>Rank</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l"/>
                      <a:r>
                        <a:rPr sz="850" b="1" i="0">
                          <a:solidFill>
                            <a:srgbClr val="1F2D44"/>
                          </a:solidFill>
                          <a:latin typeface="Helvetica Neue"/>
                        </a:rPr>
                        <a:t>Method</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FY25 $M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850" b="1" i="0">
                          <a:solidFill>
                            <a:srgbClr val="1F2D44"/>
                          </a:solidFill>
                          <a:latin typeface="Helvetica Neue"/>
                        </a:rPr>
                        <a:t>% of Frame A</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237744">
                <a:tc>
                  <a:txBody>
                    <a:bodyPr wrap="square" lIns="0" rIns="0" tIns="0" bIns="0" anchor="ctr"/>
                    <a:lstStyle/>
                    <a:p>
                      <a:pPr algn="l"/>
                      <a:r>
                        <a:rPr sz="800" b="1" i="0">
                          <a:solidFill>
                            <a:srgbClr val="1F2D44"/>
                          </a:solidFill>
                          <a:latin typeface="Helvetica Neue"/>
                        </a:rPr>
                        <a:t>1</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l"/>
                      <a:r>
                        <a:rPr sz="800" b="1" i="0">
                          <a:solidFill>
                            <a:srgbClr val="1F2D44"/>
                          </a:solidFill>
                          <a:latin typeface="Helvetica Neue"/>
                        </a:rPr>
                        <a:t>M5 Frame A - no apportionment</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7,067</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00" b="1" i="0">
                          <a:solidFill>
                            <a:srgbClr val="1F2D44"/>
                          </a:solidFill>
                          <a:latin typeface="Helvetica Neue"/>
                        </a:rPr>
                        <a:t>100.0%</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r h="237744">
                <a:tc>
                  <a:txBody>
                    <a:bodyPr wrap="square" lIns="0" rIns="0" tIns="0" bIns="0" anchor="ctr"/>
                    <a:lstStyle/>
                    <a:p>
                      <a:pPr algn="l"/>
                      <a:r>
                        <a:rPr sz="800" b="0" i="0">
                          <a:solidFill>
                            <a:srgbClr val="2A3340"/>
                          </a:solidFill>
                          <a:latin typeface="Helvetica Neue"/>
                        </a:rPr>
                        <a:t>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M2 12-month POP cap</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3,747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53.0%</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M3 18-month POP cap</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3,499</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49.5%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M1 Pure Linear (primary Frame B)</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3,354</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47.5%</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237744">
                <a:tc>
                  <a:txBody>
                    <a:bodyPr wrap="square" lIns="0" rIns="0" tIns="0" bIns="0" anchor="ctr"/>
                    <a:lstStyle/>
                    <a:p>
                      <a:pPr algn="l"/>
                      <a:r>
                        <a:rPr sz="800" b="0" i="0">
                          <a:solidFill>
                            <a:srgbClr val="2A3340"/>
                          </a:solidFill>
                          <a:latin typeface="Helvetica Neue"/>
                        </a:rPr>
                        <a:t>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l"/>
                      <a:r>
                        <a:rPr sz="800" b="0" i="0">
                          <a:solidFill>
                            <a:srgbClr val="2A3340"/>
                          </a:solidFill>
                          <a:latin typeface="Helvetica Neue"/>
                        </a:rPr>
                        <a:t>M4 Front-loaded 60/40</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3,266</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00" b="0" i="0">
                          <a:solidFill>
                            <a:srgbClr val="2A3340"/>
                          </a:solidFill>
                          <a:latin typeface="Helvetica Neue"/>
                        </a:rPr>
                        <a:t>46.2%</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bl>
          </a:graphicData>
        </a:graphic>
      </p:graphicFrame>
      <p:graphicFrame>
        <p:nvGraphicFramePr>
          <p:cNvPr id="7" name="Table 6"/>
          <p:cNvGraphicFramePr>
            <a:graphicFrameLocks noGrp="1"/>
          </p:cNvGraphicFramePr>
          <p:nvPr/>
        </p:nvGraphicFramePr>
        <p:xfrm>
          <a:off x="6720840" y="1325880"/>
          <a:ext cx="4967934" cy="2194560"/>
        </p:xfrm>
        <a:graphic>
          <a:graphicData uri="http://schemas.openxmlformats.org/drawingml/2006/table">
            <a:tbl>
              <a:tblPr>
                <a:tableStyleId>{5C22544A-7EE6-4342-B048-85BDC9FD1C3A}</a:tableStyleId>
              </a:tblPr>
              <a:tblGrid>
                <a:gridCol w="2086532"/>
                <a:gridCol w="993587"/>
                <a:gridCol w="993587"/>
                <a:gridCol w="894228"/>
              </a:tblGrid>
              <a:tr h="274320">
                <a:tc>
                  <a:txBody>
                    <a:bodyPr wrap="square" lIns="0" rIns="0" tIns="0" bIns="0" anchor="ctr"/>
                    <a:lstStyle/>
                    <a:p>
                      <a:pPr algn="l"/>
                      <a:r>
                        <a:rPr sz="900" b="1" i="0">
                          <a:solidFill>
                            <a:srgbClr val="1F2D44"/>
                          </a:solidFill>
                          <a:latin typeface="Helvetica Neue"/>
                        </a:rPr>
                        <a:t>Work Segment</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900" b="1" i="0">
                          <a:solidFill>
                            <a:srgbClr val="1F2D44"/>
                          </a:solidFill>
                          <a:latin typeface="Helvetica Neue"/>
                        </a:rPr>
                        <a:t>Frame A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900" b="1" i="0">
                          <a:solidFill>
                            <a:srgbClr val="1F2D44"/>
                          </a:solidFill>
                          <a:latin typeface="Helvetica Neue"/>
                        </a:rPr>
                        <a:t>Frame B M1 $M</a:t>
                      </a:r>
                    </a:p>
                  </a:txBody>
                  <a:tcPr marL="64008" marR="64008" marT="27432" marB="27432">
                    <a:solidFill>
                      <a:srgbClr val="FFFFFF"/>
                    </a:solidFill>
                    <a:lnT>
                      <a:noFill/>
                    </a:lnT>
                    <a:lnL>
                      <a:noFill/>
                    </a:lnL>
                    <a:lnR>
                      <a:noFill/>
                    </a:lnR>
                    <a:lnB w="12700" cap="flat" cmpd="sng" algn="ctr">
                      <a:solidFill>
                        <a:srgbClr val="243650"/>
                      </a:solidFill>
                      <a:prstDash val="solid"/>
                      <a:round/>
                    </a:lnB>
                  </a:tcPr>
                </a:tc>
                <a:tc>
                  <a:txBody>
                    <a:bodyPr wrap="square" lIns="0" rIns="0" tIns="0" bIns="0" anchor="ctr"/>
                    <a:lstStyle/>
                    <a:p>
                      <a:pPr algn="r"/>
                      <a:r>
                        <a:rPr sz="900" b="1" i="0">
                          <a:solidFill>
                            <a:srgbClr val="1F2D44"/>
                          </a:solidFill>
                          <a:latin typeface="Helvetica Neue"/>
                        </a:rPr>
                        <a:t>Apport %</a:t>
                      </a:r>
                    </a:p>
                  </a:txBody>
                  <a:tcPr marL="64008" marR="64008" marT="27432" marB="27432">
                    <a:solidFill>
                      <a:srgbClr val="FFFFFF"/>
                    </a:solidFill>
                    <a:lnT>
                      <a:noFill/>
                    </a:lnT>
                    <a:lnL>
                      <a:noFill/>
                    </a:lnL>
                    <a:lnR>
                      <a:noFill/>
                    </a:lnR>
                    <a:lnB w="12700" cap="flat" cmpd="sng" algn="ctr">
                      <a:solidFill>
                        <a:srgbClr val="243650"/>
                      </a:solidFill>
                      <a:prstDash val="solid"/>
                      <a:round/>
                    </a:lnB>
                  </a:tcPr>
                </a:tc>
              </a:tr>
              <a:tr h="320040">
                <a:tc>
                  <a:txBody>
                    <a:bodyPr wrap="square" lIns="0" rIns="0" tIns="0" bIns="0" anchor="ctr"/>
                    <a:lstStyle/>
                    <a:p>
                      <a:pPr algn="l"/>
                      <a:r>
                        <a:rPr sz="850" b="1" i="0">
                          <a:solidFill>
                            <a:srgbClr val="1F2D44"/>
                          </a:solidFill>
                          <a:latin typeface="Helvetica Neue"/>
                        </a:rPr>
                        <a:t>Port &amp; Technical Services</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431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307</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71.3%</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20040">
                <a:tc>
                  <a:txBody>
                    <a:bodyPr wrap="square" lIns="0" rIns="0" tIns="0" bIns="0" anchor="ctr"/>
                    <a:lstStyle/>
                    <a:p>
                      <a:pPr algn="l"/>
                      <a:r>
                        <a:rPr sz="850" b="1" i="0">
                          <a:solidFill>
                            <a:srgbClr val="1F2D44"/>
                          </a:solidFill>
                          <a:latin typeface="Helvetica Neue"/>
                        </a:rPr>
                        <a:t>Depot Ship Repair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4,781</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2,468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51.6%</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20040">
                <a:tc>
                  <a:txBody>
                    <a:bodyPr wrap="square" lIns="0" rIns="0" tIns="0" bIns="0" anchor="ctr"/>
                    <a:lstStyle/>
                    <a:p>
                      <a:pPr algn="l"/>
                      <a:r>
                        <a:rPr sz="850" b="1" i="0">
                          <a:solidFill>
                            <a:srgbClr val="1F2D44"/>
                          </a:solidFill>
                          <a:latin typeface="Helvetica Neue"/>
                        </a:rPr>
                        <a:t>HM&amp;E</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938</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363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38.7%</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20040">
                <a:tc>
                  <a:txBody>
                    <a:bodyPr wrap="square" lIns="0" rIns="0" tIns="0" bIns="0" anchor="ctr"/>
                    <a:lstStyle/>
                    <a:p>
                      <a:pPr algn="l"/>
                      <a:r>
                        <a:rPr sz="850" b="1" i="0">
                          <a:solidFill>
                            <a:srgbClr val="1F2D44"/>
                          </a:solidFill>
                          <a:latin typeface="Helvetica Neue"/>
                        </a:rPr>
                        <a:t>Electronics &amp; C4ISR</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333</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105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31.4%</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20040">
                <a:tc>
                  <a:txBody>
                    <a:bodyPr wrap="square" lIns="0" rIns="0" tIns="0" bIns="0" anchor="ctr"/>
                    <a:lstStyle/>
                    <a:p>
                      <a:pPr algn="l"/>
                      <a:r>
                        <a:rPr sz="850" b="1" i="0">
                          <a:solidFill>
                            <a:srgbClr val="1F2D44"/>
                          </a:solidFill>
                          <a:latin typeface="Helvetica Neue"/>
                        </a:rPr>
                        <a:t>Combat Systems Sustainment</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585</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112</a:t>
                      </a:r>
                    </a:p>
                  </a:txBody>
                  <a:tcPr marL="64008" marR="64008" marT="27432" marB="27432">
                    <a:solidFill>
                      <a:srgbClr val="FFFFFF"/>
                    </a:solidFill>
                    <a:lnT>
                      <a:noFill/>
                    </a:lnT>
                    <a:lnL>
                      <a:noFill/>
                    </a:lnL>
                    <a:lnR>
                      <a:noFill/>
                    </a:lnR>
                    <a:lnB w="5080" cap="flat" cmpd="sng" algn="ctr">
                      <a:solidFill>
                        <a:srgbClr val="E3E8EE"/>
                      </a:solidFill>
                      <a:prstDash val="solid"/>
                      <a:round/>
                    </a:lnB>
                  </a:tcPr>
                </a:tc>
                <a:tc>
                  <a:txBody>
                    <a:bodyPr wrap="square" lIns="0" rIns="0" tIns="0" bIns="0" anchor="ctr"/>
                    <a:lstStyle/>
                    <a:p>
                      <a:pPr algn="r"/>
                      <a:r>
                        <a:rPr sz="850" b="0" i="0">
                          <a:solidFill>
                            <a:srgbClr val="2A3340"/>
                          </a:solidFill>
                          <a:latin typeface="Helvetica Neue"/>
                        </a:rPr>
                        <a:t>19.1%</a:t>
                      </a:r>
                    </a:p>
                  </a:txBody>
                  <a:tcPr marL="64008" marR="64008" marT="27432" marB="27432">
                    <a:solidFill>
                      <a:srgbClr val="FFFFFF"/>
                    </a:solidFill>
                    <a:lnT>
                      <a:noFill/>
                    </a:lnT>
                    <a:lnL>
                      <a:noFill/>
                    </a:lnL>
                    <a:lnR>
                      <a:noFill/>
                    </a:lnR>
                    <a:lnB w="5080" cap="flat" cmpd="sng" algn="ctr">
                      <a:solidFill>
                        <a:srgbClr val="E3E8EE"/>
                      </a:solidFill>
                      <a:prstDash val="solid"/>
                      <a:round/>
                    </a:lnB>
                  </a:tcPr>
                </a:tc>
              </a:tr>
              <a:tr h="320040">
                <a:tc>
                  <a:txBody>
                    <a:bodyPr wrap="square" lIns="0" rIns="0" tIns="0" bIns="0" anchor="ctr"/>
                    <a:lstStyle/>
                    <a:p>
                      <a:pPr algn="l"/>
                      <a:r>
                        <a:rPr sz="850" b="1" i="0">
                          <a:solidFill>
                            <a:srgbClr val="1F2D44"/>
                          </a:solidFill>
                          <a:latin typeface="Helvetica Neue"/>
                        </a:rPr>
                        <a:t>Total</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50" b="1" i="0">
                          <a:solidFill>
                            <a:srgbClr val="1F2D44"/>
                          </a:solidFill>
                          <a:latin typeface="Helvetica Neue"/>
                        </a:rPr>
                        <a:t>7,067</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50" b="1" i="0">
                          <a:solidFill>
                            <a:srgbClr val="1F2D44"/>
                          </a:solidFill>
                          <a:latin typeface="Helvetica Neue"/>
                        </a:rPr>
                        <a:t>3,354</a:t>
                      </a:r>
                    </a:p>
                  </a:txBody>
                  <a:tcPr marL="64008" marR="64008" marT="27432" marB="27432">
                    <a:solidFill>
                      <a:srgbClr val="FFFFFF"/>
                    </a:solidFill>
                    <a:lnL>
                      <a:noFill/>
                    </a:lnL>
                    <a:lnR>
                      <a:noFill/>
                    </a:lnR>
                    <a:lnT w="9525" cap="flat" cmpd="sng" algn="ctr">
                      <a:solidFill>
                        <a:srgbClr val="243650"/>
                      </a:solidFill>
                      <a:prstDash val="solid"/>
                      <a:round/>
                    </a:lnT>
                    <a:lnB>
                      <a:noFill/>
                    </a:lnB>
                  </a:tcPr>
                </a:tc>
                <a:tc>
                  <a:txBody>
                    <a:bodyPr wrap="square" lIns="0" rIns="0" tIns="0" bIns="0" anchor="ctr"/>
                    <a:lstStyle/>
                    <a:p>
                      <a:pPr algn="r"/>
                      <a:r>
                        <a:rPr sz="850" b="1" i="0">
                          <a:solidFill>
                            <a:srgbClr val="1F2D44"/>
                          </a:solidFill>
                          <a:latin typeface="Helvetica Neue"/>
                        </a:rPr>
                        <a:t>47.5%</a:t>
                      </a:r>
                    </a:p>
                  </a:txBody>
                  <a:tcPr marL="64008" marR="64008" marT="27432" marB="27432">
                    <a:solidFill>
                      <a:srgbClr val="FFFFFF"/>
                    </a:solidFill>
                    <a:lnL>
                      <a:noFill/>
                    </a:lnL>
                    <a:lnR>
                      <a:noFill/>
                    </a:lnR>
                    <a:lnT w="9525" cap="flat" cmpd="sng" algn="ctr">
                      <a:solidFill>
                        <a:srgbClr val="243650"/>
                      </a:solidFill>
                      <a:prstDash val="solid"/>
                      <a:round/>
                    </a:lnT>
                    <a:lnB>
                      <a:noFill/>
                    </a:lnB>
                  </a:tcPr>
                </a:tc>
              </a:tr>
            </a:tbl>
          </a:graphicData>
        </a:graphic>
      </p:graphicFrame>
      <p:sp>
        <p:nvSpPr>
          <p:cNvPr id="8" name="Rectangle 7"/>
          <p:cNvSpPr/>
          <p:nvPr/>
        </p:nvSpPr>
        <p:spPr>
          <a:xfrm>
            <a:off x="6720840" y="4160520"/>
            <a:ext cx="4967935" cy="1188720"/>
          </a:xfrm>
          <a:prstGeom prst="rect">
            <a:avLst/>
          </a:prstGeom>
          <a:solidFill>
            <a:srgbClr val="E7ECF2"/>
          </a:solidFill>
          <a:ln w="6350">
            <a:solidFill>
              <a:srgbClr val="C9D2DC"/>
            </a:solidFill>
          </a:ln>
          <a:effectLst/>
        </p:spPr>
        <p:style>
          <a:lnRef idx="1">
            <a:schemeClr val="accent1"/>
          </a:lnRef>
          <a:fillRef idx="3">
            <a:schemeClr val="accent1"/>
          </a:fillRef>
          <a:effectRef idx="2">
            <a:schemeClr val="accent1"/>
          </a:effectRef>
          <a:fontRef idx="minor">
            <a:schemeClr val="lt1"/>
          </a:fontRef>
        </p:style>
        <p:txBody>
          <a:bodyPr rtlCol="0" anchor="ctr" wrap="square" tIns="54864" bIns="54864"/>
          <a:lstStyle/>
          <a:p>
            <a:pPr algn="ctr"/>
            <a:r>
              <a:rPr sz="800" b="1" i="0">
                <a:solidFill>
                  <a:srgbClr val="1F2D44"/>
                </a:solidFill>
                <a:latin typeface="Helvetica Neue"/>
              </a:rPr>
              <a:t>READING THE SEGMENT TABLE</a:t>
            </a:r>
          </a:p>
          <a:p>
            <a:r>
              <a:rPr sz="850" b="0" i="0">
                <a:solidFill>
                  <a:srgbClr val="2A3340"/>
                </a:solidFill>
                <a:latin typeface="Helvetica Neue"/>
              </a:rPr>
              <a:t>- Combat Systems apportions at only 19% -- Trident II / AEGIS integration runs on 5-10 year POPs (Draper MK7 LE2 alone is $318M, POP FY24 -&gt; FY29).</a:t>
            </a:r>
          </a:p>
          <a:p>
            <a:r>
              <a:rPr sz="850" b="0" i="0">
                <a:solidFill>
                  <a:srgbClr val="2A3340"/>
                </a:solidFill>
                <a:latin typeface="Helvetica Neue"/>
              </a:rPr>
              <a:t>- Port &amp; Technical apportions at 71% -- husbanding and QC work is short-cycle and POP aligns with FY25.</a:t>
            </a:r>
          </a:p>
          <a:p>
            <a:r>
              <a:rPr sz="850" b="0" i="0">
                <a:solidFill>
                  <a:srgbClr val="2A3340"/>
                </a:solidFill>
                <a:latin typeface="Helvetica Neue"/>
              </a:rPr>
              <a:t>- Depot Ship Repair sits near the blended average at ~52%.</a:t>
            </a:r>
          </a:p>
        </p:txBody>
      </p:sp>
      <p:sp>
        <p:nvSpPr>
          <p:cNvPr id="9" name="Rectangle 8"/>
          <p:cNvSpPr/>
          <p:nvPr/>
        </p:nvSpPr>
        <p:spPr>
          <a:xfrm>
            <a:off x="6720840" y="5440680"/>
            <a:ext cx="4967935" cy="868680"/>
          </a:xfrm>
          <a:prstGeom prst="rect">
            <a:avLst/>
          </a:prstGeom>
          <a:solidFill>
            <a:srgbClr val="DBE6F1"/>
          </a:solidFill>
          <a:ln w="6350">
            <a:solidFill>
              <a:srgbClr val="C5D6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850" b="1" i="0">
                <a:solidFill>
                  <a:srgbClr val="1F2D44"/>
                </a:solidFill>
                <a:latin typeface="Helvetica Neue"/>
              </a:rPr>
              <a:t>Note: </a:t>
            </a:r>
            <a:r>
              <a:rPr sz="850" b="0" i="1">
                <a:solidFill>
                  <a:srgbClr val="1F2D44"/>
                </a:solidFill>
                <a:latin typeface="Helvetica Neue"/>
              </a:rPr>
              <a:t>Frame A (contracting activity) is the industry convention for federal contracting TAM in PE / M&amp;A / sell-side diligence. Frame B (revenue earned) is closer to a contractor's reported P&amp;L but is not how federal markets are typically sized. Readers modeling a specific contractor can multiply the relevant segment $ by the apportionment rate above for a first-order Frame B estimate.</a:t>
            </a:r>
          </a:p>
        </p:txBody>
      </p:sp>
      <p:sp>
        <p:nvSpPr>
          <p:cNvPr id="10" name="TextBox 9"/>
          <p:cNvSpPr txBox="1"/>
          <p:nvPr/>
        </p:nvSpPr>
        <p:spPr>
          <a:xfrm>
            <a:off x="502920" y="6400800"/>
            <a:ext cx="11185855" cy="411480"/>
          </a:xfrm>
          <a:prstGeom prst="rect">
            <a:avLst/>
          </a:prstGeom>
          <a:noFill/>
        </p:spPr>
        <p:txBody>
          <a:bodyPr wrap="square" lIns="0" rIns="0" tIns="0" bIns="0">
            <a:spAutoFit/>
          </a:bodyPr>
          <a:lstStyle/>
          <a:p>
            <a:pPr algn="l"/>
            <a:r>
              <a:rPr sz="750" b="0" i="0">
                <a:solidFill>
                  <a:srgbClr val="6F8197"/>
                </a:solidFill>
                <a:latin typeface="Helvetica Neue"/>
              </a:rPr>
              <a:t>Notes: (1) FY25 window: 2024-10-01 to 2025-09-30. POP apportionment uses start_date / end_date fields on FPDS award rows (100% populated in the MRO dataset). (2) M1 Pure Linear is the primary Frame B estimate; M2-M4 are bounds. (3) True Frame B would require contractor-side billing / earned-value data unavailable in federal sources. Source: FPDS FY2025 contract obligations (U.S. Navy + U.S. Coast Guard, 65 services PSCs, post-exclusions). Period-of-performance dates per FPDS. Data as of April 2026.</a:t>
            </a:r>
          </a:p>
        </p:txBody>
      </p:sp>
      <p:cxnSp>
        <p:nvCxnSpPr>
          <p:cNvPr id="11" name="Connector 10"/>
          <p:cNvCxnSpPr/>
          <p:nvPr/>
        </p:nvCxnSpPr>
        <p:spPr>
          <a:xfrm>
            <a:off x="502920" y="6355080"/>
            <a:ext cx="11185855" cy="0"/>
          </a:xfrm>
          <a:prstGeom prst="line">
            <a:avLst/>
          </a:prstGeom>
          <a:ln w="6350">
            <a:solidFill>
              <a:srgbClr val="E3E8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