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5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33"/>
          <c:y val="0.0138"/>
          <c:w val="0.9155"/>
          <c:h val="0.949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Depot Ship Repair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Sheet1!$B$2:$B$2</c:f>
              <c:numCache>
                <c:formatCode>0"%"</c:formatCode>
                <c:ptCount val="1"/>
                <c:pt idx="0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Nuclear &amp; Complex Overhauls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Sheet1!$C$2:$C$2</c:f>
              <c:numCache>
                <c:formatCode>0"%"</c:formatCode>
                <c:ptCount val="1"/>
                <c:pt idx="0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Hull, Mechanical &amp; Electrical (HM&amp;E)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Sheet1!$D$2:$D$2</c:f>
              <c:numCache>
                <c:formatCode>0"%"</c:formatCode>
                <c:ptCount val="1"/>
                <c:pt idx="0">
                  <c:v>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Combat Systems Sustainment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Sheet1!$E$2:$E$2</c:f>
              <c:numCache>
                <c:formatCode>0"%"</c:formatCode>
                <c:ptCount val="1"/>
                <c:pt idx="0">
                  <c:v>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Port &amp; Technical Services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Sheet1!$F$2:$F$2</c:f>
              <c:numCache>
                <c:formatCode>0"%"</c:formatCode>
                <c:ptCount val="1"/>
                <c:pt idx="0">
                  <c:v>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Electronics &amp; C4ISR Sustainment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 MRO TAM</c:v>
                </c:pt>
              </c:strCache>
            </c:strRef>
          </c:cat>
          <c:val>
            <c:numRef>
              <c:f>Sheet1!$G$2:$G$2</c:f>
              <c:numCache>
                <c:formatCode>0"%"</c:formatCode>
                <c:ptCount val="1"/>
                <c:pt idx="0">
                  <c:v>4</c:v>
                </c:pt>
              </c:numCache>
            </c:numRef>
          </c:val>
        </c:ser>
        <c:gapWidth val="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7251"/>
          <c:y val="0.048173"/>
          <c:w val="0.915171"/>
          <c:h val="0.91912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Sheet1!$B$2:$B$201</c:f>
              <c:numCache>
                <c:formatCode>0%</c:formatCode>
                <c:ptCount val="200"/>
                <c:pt idx="0">
                  <c:v>2871788</c:v>
                </c:pt>
                <c:pt idx="1">
                  <c:v>2871788</c:v>
                </c:pt>
                <c:pt idx="2">
                  <c:v>2871788</c:v>
                </c:pt>
                <c:pt idx="3">
                  <c:v>2871788</c:v>
                </c:pt>
                <c:pt idx="4">
                  <c:v>2871788</c:v>
                </c:pt>
                <c:pt idx="5">
                  <c:v>2871788</c:v>
                </c:pt>
                <c:pt idx="6">
                  <c:v>2871788</c:v>
                </c:pt>
                <c:pt idx="7">
                  <c:v>2871788</c:v>
                </c:pt>
                <c:pt idx="8">
                  <c:v>2871788</c:v>
                </c:pt>
                <c:pt idx="9">
                  <c:v>2871788</c:v>
                </c:pt>
                <c:pt idx="10">
                  <c:v>2871788</c:v>
                </c:pt>
                <c:pt idx="11">
                  <c:v>2871788</c:v>
                </c:pt>
                <c:pt idx="12">
                  <c:v>2871788</c:v>
                </c:pt>
                <c:pt idx="13">
                  <c:v>2871788</c:v>
                </c:pt>
                <c:pt idx="14">
                  <c:v>2871788</c:v>
                </c:pt>
                <c:pt idx="15">
                  <c:v>2871788</c:v>
                </c:pt>
                <c:pt idx="16">
                  <c:v>2871788</c:v>
                </c:pt>
                <c:pt idx="17">
                  <c:v>2871788</c:v>
                </c:pt>
                <c:pt idx="18">
                  <c:v>2871788</c:v>
                </c:pt>
                <c:pt idx="19">
                  <c:v>2871788</c:v>
                </c:pt>
                <c:pt idx="20">
                  <c:v>2871788</c:v>
                </c:pt>
                <c:pt idx="21">
                  <c:v>2871788</c:v>
                </c:pt>
                <c:pt idx="22">
                  <c:v>2871788</c:v>
                </c:pt>
                <c:pt idx="23">
                  <c:v>2871788</c:v>
                </c:pt>
                <c:pt idx="24">
                  <c:v>2871788</c:v>
                </c:pt>
                <c:pt idx="25">
                  <c:v>2871788</c:v>
                </c:pt>
                <c:pt idx="26">
                  <c:v>2871788</c:v>
                </c:pt>
                <c:pt idx="27">
                  <c:v>2871788</c:v>
                </c:pt>
                <c:pt idx="28">
                  <c:v>2871788</c:v>
                </c:pt>
                <c:pt idx="29">
                  <c:v>2871788</c:v>
                </c:pt>
                <c:pt idx="30">
                  <c:v>2871788</c:v>
                </c:pt>
                <c:pt idx="31">
                  <c:v>2871788</c:v>
                </c:pt>
                <c:pt idx="32">
                  <c:v>2871788</c:v>
                </c:pt>
                <c:pt idx="33">
                  <c:v>2871788</c:v>
                </c:pt>
                <c:pt idx="34">
                  <c:v>2871788</c:v>
                </c:pt>
                <c:pt idx="35">
                  <c:v>2871788</c:v>
                </c:pt>
                <c:pt idx="36">
                  <c:v>2871788</c:v>
                </c:pt>
                <c:pt idx="37">
                  <c:v>2871788</c:v>
                </c:pt>
                <c:pt idx="38">
                  <c:v>2871788</c:v>
                </c:pt>
                <c:pt idx="39">
                  <c:v>2871788</c:v>
                </c:pt>
                <c:pt idx="40">
                  <c:v>2871788</c:v>
                </c:pt>
                <c:pt idx="41">
                  <c:v>2871788</c:v>
                </c:pt>
                <c:pt idx="42">
                  <c:v>2871788</c:v>
                </c:pt>
                <c:pt idx="43">
                  <c:v>2871788</c:v>
                </c:pt>
                <c:pt idx="44">
                  <c:v>2871788</c:v>
                </c:pt>
                <c:pt idx="45">
                  <c:v>2871788</c:v>
                </c:pt>
                <c:pt idx="46">
                  <c:v>2871788</c:v>
                </c:pt>
                <c:pt idx="47">
                  <c:v>2871788</c:v>
                </c:pt>
                <c:pt idx="48">
                  <c:v>2871788</c:v>
                </c:pt>
                <c:pt idx="49">
                  <c:v>2871788</c:v>
                </c:pt>
                <c:pt idx="50">
                  <c:v>3346450</c:v>
                </c:pt>
                <c:pt idx="51">
                  <c:v>3346450</c:v>
                </c:pt>
                <c:pt idx="52">
                  <c:v>3346450</c:v>
                </c:pt>
                <c:pt idx="53">
                  <c:v>3346450</c:v>
                </c:pt>
                <c:pt idx="54">
                  <c:v>3346450</c:v>
                </c:pt>
                <c:pt idx="55">
                  <c:v>3346450</c:v>
                </c:pt>
                <c:pt idx="56">
                  <c:v>3346450</c:v>
                </c:pt>
                <c:pt idx="57">
                  <c:v>3346450</c:v>
                </c:pt>
                <c:pt idx="58">
                  <c:v>3346450</c:v>
                </c:pt>
                <c:pt idx="59">
                  <c:v>3346450</c:v>
                </c:pt>
                <c:pt idx="60">
                  <c:v>3346450</c:v>
                </c:pt>
                <c:pt idx="61">
                  <c:v>3346450</c:v>
                </c:pt>
                <c:pt idx="62">
                  <c:v>3346450</c:v>
                </c:pt>
                <c:pt idx="63">
                  <c:v>3346450</c:v>
                </c:pt>
                <c:pt idx="64">
                  <c:v>3346450</c:v>
                </c:pt>
                <c:pt idx="65">
                  <c:v>3346450</c:v>
                </c:pt>
                <c:pt idx="66">
                  <c:v>3346450</c:v>
                </c:pt>
                <c:pt idx="67">
                  <c:v>3346450</c:v>
                </c:pt>
                <c:pt idx="68">
                  <c:v>3346450</c:v>
                </c:pt>
                <c:pt idx="69">
                  <c:v>3346450</c:v>
                </c:pt>
                <c:pt idx="70">
                  <c:v>3346450</c:v>
                </c:pt>
                <c:pt idx="71">
                  <c:v>3346450</c:v>
                </c:pt>
                <c:pt idx="72">
                  <c:v>3346450</c:v>
                </c:pt>
                <c:pt idx="73">
                  <c:v>3346450</c:v>
                </c:pt>
                <c:pt idx="74">
                  <c:v>3346450</c:v>
                </c:pt>
                <c:pt idx="75">
                  <c:v>3346450</c:v>
                </c:pt>
                <c:pt idx="76">
                  <c:v>3346450</c:v>
                </c:pt>
                <c:pt idx="77">
                  <c:v>3346450</c:v>
                </c:pt>
                <c:pt idx="78">
                  <c:v>3346450</c:v>
                </c:pt>
                <c:pt idx="79">
                  <c:v>3346450</c:v>
                </c:pt>
                <c:pt idx="80">
                  <c:v>3346450</c:v>
                </c:pt>
                <c:pt idx="81">
                  <c:v>3346450</c:v>
                </c:pt>
                <c:pt idx="82">
                  <c:v>2149475</c:v>
                </c:pt>
                <c:pt idx="83">
                  <c:v>2149475</c:v>
                </c:pt>
                <c:pt idx="84">
                  <c:v>2149475</c:v>
                </c:pt>
                <c:pt idx="85">
                  <c:v>2149475</c:v>
                </c:pt>
                <c:pt idx="86">
                  <c:v>2149475</c:v>
                </c:pt>
                <c:pt idx="87">
                  <c:v>2149475</c:v>
                </c:pt>
                <c:pt idx="88">
                  <c:v>2149475</c:v>
                </c:pt>
                <c:pt idx="89">
                  <c:v>2149475</c:v>
                </c:pt>
                <c:pt idx="90">
                  <c:v>2149475</c:v>
                </c:pt>
                <c:pt idx="91">
                  <c:v>2149475</c:v>
                </c:pt>
                <c:pt idx="92">
                  <c:v>2149475</c:v>
                </c:pt>
                <c:pt idx="93">
                  <c:v>2149475</c:v>
                </c:pt>
                <c:pt idx="94">
                  <c:v>2149475</c:v>
                </c:pt>
                <c:pt idx="95">
                  <c:v>2149475</c:v>
                </c:pt>
                <c:pt idx="96">
                  <c:v>2149475</c:v>
                </c:pt>
                <c:pt idx="97">
                  <c:v>2149475</c:v>
                </c:pt>
                <c:pt idx="98">
                  <c:v>2149475</c:v>
                </c:pt>
                <c:pt idx="99">
                  <c:v>2149475</c:v>
                </c:pt>
                <c:pt idx="100">
                  <c:v>2149475</c:v>
                </c:pt>
                <c:pt idx="101">
                  <c:v>2149475</c:v>
                </c:pt>
                <c:pt idx="102">
                  <c:v>2149475</c:v>
                </c:pt>
                <c:pt idx="103">
                  <c:v>2149475</c:v>
                </c:pt>
                <c:pt idx="104">
                  <c:v>2149475</c:v>
                </c:pt>
                <c:pt idx="105">
                  <c:v>2149475</c:v>
                </c:pt>
                <c:pt idx="106">
                  <c:v>2149475</c:v>
                </c:pt>
                <c:pt idx="107">
                  <c:v>2149475</c:v>
                </c:pt>
                <c:pt idx="108">
                  <c:v>2149475</c:v>
                </c:pt>
                <c:pt idx="109">
                  <c:v>2149475</c:v>
                </c:pt>
                <c:pt idx="110">
                  <c:v>2149475</c:v>
                </c:pt>
                <c:pt idx="111">
                  <c:v>2149475</c:v>
                </c:pt>
                <c:pt idx="112">
                  <c:v>2149475</c:v>
                </c:pt>
                <c:pt idx="113">
                  <c:v>2149475</c:v>
                </c:pt>
                <c:pt idx="114">
                  <c:v>2149475</c:v>
                </c:pt>
                <c:pt idx="115">
                  <c:v>2149475</c:v>
                </c:pt>
                <c:pt idx="116">
                  <c:v>2149475</c:v>
                </c:pt>
                <c:pt idx="117">
                  <c:v>2149475</c:v>
                </c:pt>
                <c:pt idx="118">
                  <c:v>2149475</c:v>
                </c:pt>
                <c:pt idx="119">
                  <c:v>2149475</c:v>
                </c:pt>
                <c:pt idx="120">
                  <c:v>2149475</c:v>
                </c:pt>
                <c:pt idx="121">
                  <c:v>2149475</c:v>
                </c:pt>
                <c:pt idx="122">
                  <c:v>2149475</c:v>
                </c:pt>
                <c:pt idx="123">
                  <c:v>2149475</c:v>
                </c:pt>
                <c:pt idx="124">
                  <c:v>2149475</c:v>
                </c:pt>
                <c:pt idx="125">
                  <c:v>2149475</c:v>
                </c:pt>
                <c:pt idx="126">
                  <c:v>2149475</c:v>
                </c:pt>
                <c:pt idx="127">
                  <c:v>2149475</c:v>
                </c:pt>
                <c:pt idx="128">
                  <c:v>2149475</c:v>
                </c:pt>
                <c:pt idx="129">
                  <c:v>2986088</c:v>
                </c:pt>
                <c:pt idx="130">
                  <c:v>2986088</c:v>
                </c:pt>
                <c:pt idx="131">
                  <c:v>2986088</c:v>
                </c:pt>
                <c:pt idx="132">
                  <c:v>2986088</c:v>
                </c:pt>
                <c:pt idx="133">
                  <c:v>2986088</c:v>
                </c:pt>
                <c:pt idx="134">
                  <c:v>2986088</c:v>
                </c:pt>
                <c:pt idx="135">
                  <c:v>2986088</c:v>
                </c:pt>
                <c:pt idx="136">
                  <c:v>2986088</c:v>
                </c:pt>
                <c:pt idx="137">
                  <c:v>2986088</c:v>
                </c:pt>
                <c:pt idx="138">
                  <c:v>2986088</c:v>
                </c:pt>
                <c:pt idx="139">
                  <c:v>2986088</c:v>
                </c:pt>
                <c:pt idx="140">
                  <c:v>2986088</c:v>
                </c:pt>
                <c:pt idx="141">
                  <c:v>2986088</c:v>
                </c:pt>
                <c:pt idx="142">
                  <c:v>2986088</c:v>
                </c:pt>
                <c:pt idx="143">
                  <c:v>2986088</c:v>
                </c:pt>
                <c:pt idx="144">
                  <c:v>2986088</c:v>
                </c:pt>
                <c:pt idx="145">
                  <c:v>2986088</c:v>
                </c:pt>
                <c:pt idx="146">
                  <c:v>1720850</c:v>
                </c:pt>
                <c:pt idx="147">
                  <c:v>1720850</c:v>
                </c:pt>
                <c:pt idx="148">
                  <c:v>1720850</c:v>
                </c:pt>
                <c:pt idx="149">
                  <c:v>1720850</c:v>
                </c:pt>
                <c:pt idx="150">
                  <c:v>1720850</c:v>
                </c:pt>
                <c:pt idx="151">
                  <c:v>1720850</c:v>
                </c:pt>
                <c:pt idx="152">
                  <c:v>1720850</c:v>
                </c:pt>
                <c:pt idx="153">
                  <c:v>1720850</c:v>
                </c:pt>
                <c:pt idx="154">
                  <c:v>1720850</c:v>
                </c:pt>
                <c:pt idx="155">
                  <c:v>1720850</c:v>
                </c:pt>
                <c:pt idx="156">
                  <c:v>1720850</c:v>
                </c:pt>
                <c:pt idx="157">
                  <c:v>1720850</c:v>
                </c:pt>
                <c:pt idx="158">
                  <c:v>1720850</c:v>
                </c:pt>
                <c:pt idx="159">
                  <c:v>1720850</c:v>
                </c:pt>
                <c:pt idx="160">
                  <c:v>1720850</c:v>
                </c:pt>
                <c:pt idx="161">
                  <c:v>1720850</c:v>
                </c:pt>
                <c:pt idx="162">
                  <c:v>1720850</c:v>
                </c:pt>
                <c:pt idx="163">
                  <c:v>1277938</c:v>
                </c:pt>
                <c:pt idx="164">
                  <c:v>1277938</c:v>
                </c:pt>
                <c:pt idx="165">
                  <c:v>1277938</c:v>
                </c:pt>
                <c:pt idx="166">
                  <c:v>1277938</c:v>
                </c:pt>
                <c:pt idx="167">
                  <c:v>1277938</c:v>
                </c:pt>
                <c:pt idx="168">
                  <c:v>1277938</c:v>
                </c:pt>
                <c:pt idx="169">
                  <c:v>1277938</c:v>
                </c:pt>
                <c:pt idx="170">
                  <c:v>1277938</c:v>
                </c:pt>
                <c:pt idx="171">
                  <c:v>1277938</c:v>
                </c:pt>
                <c:pt idx="172">
                  <c:v>1277938</c:v>
                </c:pt>
                <c:pt idx="173">
                  <c:v>1277938</c:v>
                </c:pt>
                <c:pt idx="174">
                  <c:v>1277938</c:v>
                </c:pt>
                <c:pt idx="175">
                  <c:v>1277938</c:v>
                </c:pt>
                <c:pt idx="176">
                  <c:v>1277938</c:v>
                </c:pt>
                <c:pt idx="177">
                  <c:v>1277938</c:v>
                </c:pt>
                <c:pt idx="178">
                  <c:v>1277938</c:v>
                </c:pt>
                <c:pt idx="179">
                  <c:v>1277938</c:v>
                </c:pt>
                <c:pt idx="180">
                  <c:v>1277938</c:v>
                </c:pt>
                <c:pt idx="181">
                  <c:v>1277938</c:v>
                </c:pt>
                <c:pt idx="182">
                  <c:v>1277938</c:v>
                </c:pt>
                <c:pt idx="183">
                  <c:v>1277938</c:v>
                </c:pt>
                <c:pt idx="184">
                  <c:v>1277938</c:v>
                </c:pt>
                <c:pt idx="185">
                  <c:v>1277938</c:v>
                </c:pt>
                <c:pt idx="186">
                  <c:v>1277938</c:v>
                </c:pt>
                <c:pt idx="187">
                  <c:v>1277938</c:v>
                </c:pt>
                <c:pt idx="188">
                  <c:v>1277938</c:v>
                </c:pt>
                <c:pt idx="189">
                  <c:v>1277938</c:v>
                </c:pt>
                <c:pt idx="190">
                  <c:v>1277938</c:v>
                </c:pt>
                <c:pt idx="191">
                  <c:v>1277938</c:v>
                </c:pt>
                <c:pt idx="192">
                  <c:v>1277938</c:v>
                </c:pt>
                <c:pt idx="193">
                  <c:v>1277938</c:v>
                </c:pt>
                <c:pt idx="194">
                  <c:v>1277938</c:v>
                </c:pt>
                <c:pt idx="195">
                  <c:v>1277938</c:v>
                </c:pt>
                <c:pt idx="196">
                  <c:v>1277938</c:v>
                </c:pt>
                <c:pt idx="197">
                  <c:v>1277938</c:v>
                </c:pt>
                <c:pt idx="198">
                  <c:v>1277938</c:v>
                </c:pt>
                <c:pt idx="199">
                  <c:v>1277938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Layer 2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Sheet1!$C$2:$C$201</c:f>
              <c:numCache>
                <c:formatCode>0%</c:formatCode>
                <c:ptCount val="200"/>
                <c:pt idx="0">
                  <c:v>192088</c:v>
                </c:pt>
                <c:pt idx="1">
                  <c:v>192088</c:v>
                </c:pt>
                <c:pt idx="2">
                  <c:v>192088</c:v>
                </c:pt>
                <c:pt idx="3">
                  <c:v>192088</c:v>
                </c:pt>
                <c:pt idx="4">
                  <c:v>192088</c:v>
                </c:pt>
                <c:pt idx="5">
                  <c:v>192088</c:v>
                </c:pt>
                <c:pt idx="6">
                  <c:v>192088</c:v>
                </c:pt>
                <c:pt idx="7">
                  <c:v>192088</c:v>
                </c:pt>
                <c:pt idx="8">
                  <c:v>192088</c:v>
                </c:pt>
                <c:pt idx="9">
                  <c:v>192088</c:v>
                </c:pt>
                <c:pt idx="10">
                  <c:v>192088</c:v>
                </c:pt>
                <c:pt idx="11">
                  <c:v>192088</c:v>
                </c:pt>
                <c:pt idx="12">
                  <c:v>192088</c:v>
                </c:pt>
                <c:pt idx="13">
                  <c:v>192088</c:v>
                </c:pt>
                <c:pt idx="14">
                  <c:v>192088</c:v>
                </c:pt>
                <c:pt idx="15">
                  <c:v>192088</c:v>
                </c:pt>
                <c:pt idx="16">
                  <c:v>192088</c:v>
                </c:pt>
                <c:pt idx="17">
                  <c:v>192088</c:v>
                </c:pt>
                <c:pt idx="18">
                  <c:v>192088</c:v>
                </c:pt>
                <c:pt idx="19">
                  <c:v>192088</c:v>
                </c:pt>
                <c:pt idx="20">
                  <c:v>192088</c:v>
                </c:pt>
                <c:pt idx="21">
                  <c:v>192088</c:v>
                </c:pt>
                <c:pt idx="22">
                  <c:v>192088</c:v>
                </c:pt>
                <c:pt idx="23">
                  <c:v>192088</c:v>
                </c:pt>
                <c:pt idx="24">
                  <c:v>192088</c:v>
                </c:pt>
                <c:pt idx="25">
                  <c:v>192088</c:v>
                </c:pt>
                <c:pt idx="26">
                  <c:v>192088</c:v>
                </c:pt>
                <c:pt idx="27">
                  <c:v>192088</c:v>
                </c:pt>
                <c:pt idx="28">
                  <c:v>192088</c:v>
                </c:pt>
                <c:pt idx="29">
                  <c:v>192088</c:v>
                </c:pt>
                <c:pt idx="30">
                  <c:v>192088</c:v>
                </c:pt>
                <c:pt idx="31">
                  <c:v>192088</c:v>
                </c:pt>
                <c:pt idx="32">
                  <c:v>192088</c:v>
                </c:pt>
                <c:pt idx="33">
                  <c:v>192088</c:v>
                </c:pt>
                <c:pt idx="34">
                  <c:v>192088</c:v>
                </c:pt>
                <c:pt idx="35">
                  <c:v>192088</c:v>
                </c:pt>
                <c:pt idx="36">
                  <c:v>192088</c:v>
                </c:pt>
                <c:pt idx="37">
                  <c:v>192088</c:v>
                </c:pt>
                <c:pt idx="38">
                  <c:v>192088</c:v>
                </c:pt>
                <c:pt idx="39">
                  <c:v>192088</c:v>
                </c:pt>
                <c:pt idx="40">
                  <c:v>192088</c:v>
                </c:pt>
                <c:pt idx="41">
                  <c:v>192088</c:v>
                </c:pt>
                <c:pt idx="42">
                  <c:v>192088</c:v>
                </c:pt>
                <c:pt idx="43">
                  <c:v>192088</c:v>
                </c:pt>
                <c:pt idx="44">
                  <c:v>192088</c:v>
                </c:pt>
                <c:pt idx="45">
                  <c:v>192088</c:v>
                </c:pt>
                <c:pt idx="46">
                  <c:v>192088</c:v>
                </c:pt>
                <c:pt idx="47">
                  <c:v>192088</c:v>
                </c:pt>
                <c:pt idx="48">
                  <c:v>192088</c:v>
                </c:pt>
                <c:pt idx="49">
                  <c:v>192088</c:v>
                </c:pt>
                <c:pt idx="50">
                  <c:v>192088</c:v>
                </c:pt>
                <c:pt idx="51">
                  <c:v>192088</c:v>
                </c:pt>
                <c:pt idx="52">
                  <c:v>192088</c:v>
                </c:pt>
                <c:pt idx="53">
                  <c:v>192088</c:v>
                </c:pt>
                <c:pt idx="54">
                  <c:v>192088</c:v>
                </c:pt>
                <c:pt idx="55">
                  <c:v>192088</c:v>
                </c:pt>
                <c:pt idx="56">
                  <c:v>192088</c:v>
                </c:pt>
                <c:pt idx="57">
                  <c:v>192088</c:v>
                </c:pt>
                <c:pt idx="58">
                  <c:v>192088</c:v>
                </c:pt>
                <c:pt idx="59">
                  <c:v>192088</c:v>
                </c:pt>
                <c:pt idx="60">
                  <c:v>192088</c:v>
                </c:pt>
                <c:pt idx="61">
                  <c:v>192088</c:v>
                </c:pt>
                <c:pt idx="62">
                  <c:v>192088</c:v>
                </c:pt>
                <c:pt idx="63">
                  <c:v>192088</c:v>
                </c:pt>
                <c:pt idx="64">
                  <c:v>192088</c:v>
                </c:pt>
                <c:pt idx="65">
                  <c:v>192088</c:v>
                </c:pt>
                <c:pt idx="66">
                  <c:v>192088</c:v>
                </c:pt>
                <c:pt idx="67">
                  <c:v>192088</c:v>
                </c:pt>
                <c:pt idx="68">
                  <c:v>192088</c:v>
                </c:pt>
                <c:pt idx="69">
                  <c:v>192088</c:v>
                </c:pt>
                <c:pt idx="70">
                  <c:v>192088</c:v>
                </c:pt>
                <c:pt idx="71">
                  <c:v>192088</c:v>
                </c:pt>
                <c:pt idx="72">
                  <c:v>192088</c:v>
                </c:pt>
                <c:pt idx="73">
                  <c:v>192088</c:v>
                </c:pt>
                <c:pt idx="74">
                  <c:v>192088</c:v>
                </c:pt>
                <c:pt idx="75">
                  <c:v>192088</c:v>
                </c:pt>
                <c:pt idx="76">
                  <c:v>192088</c:v>
                </c:pt>
                <c:pt idx="77">
                  <c:v>192088</c:v>
                </c:pt>
                <c:pt idx="78">
                  <c:v>192088</c:v>
                </c:pt>
                <c:pt idx="79">
                  <c:v>192088</c:v>
                </c:pt>
                <c:pt idx="80">
                  <c:v>192088</c:v>
                </c:pt>
                <c:pt idx="81">
                  <c:v>192088</c:v>
                </c:pt>
                <c:pt idx="82">
                  <c:v>762000</c:v>
                </c:pt>
                <c:pt idx="83">
                  <c:v>762000</c:v>
                </c:pt>
                <c:pt idx="84">
                  <c:v>762000</c:v>
                </c:pt>
                <c:pt idx="85">
                  <c:v>762000</c:v>
                </c:pt>
                <c:pt idx="86">
                  <c:v>762000</c:v>
                </c:pt>
                <c:pt idx="87">
                  <c:v>762000</c:v>
                </c:pt>
                <c:pt idx="88">
                  <c:v>762000</c:v>
                </c:pt>
                <c:pt idx="89">
                  <c:v>762000</c:v>
                </c:pt>
                <c:pt idx="90">
                  <c:v>762000</c:v>
                </c:pt>
                <c:pt idx="91">
                  <c:v>762000</c:v>
                </c:pt>
                <c:pt idx="92">
                  <c:v>762000</c:v>
                </c:pt>
                <c:pt idx="93">
                  <c:v>762000</c:v>
                </c:pt>
                <c:pt idx="94">
                  <c:v>762000</c:v>
                </c:pt>
                <c:pt idx="95">
                  <c:v>762000</c:v>
                </c:pt>
                <c:pt idx="96">
                  <c:v>762000</c:v>
                </c:pt>
                <c:pt idx="97">
                  <c:v>762000</c:v>
                </c:pt>
                <c:pt idx="98">
                  <c:v>762000</c:v>
                </c:pt>
                <c:pt idx="99">
                  <c:v>762000</c:v>
                </c:pt>
                <c:pt idx="100">
                  <c:v>762000</c:v>
                </c:pt>
                <c:pt idx="101">
                  <c:v>762000</c:v>
                </c:pt>
                <c:pt idx="102">
                  <c:v>762000</c:v>
                </c:pt>
                <c:pt idx="103">
                  <c:v>762000</c:v>
                </c:pt>
                <c:pt idx="104">
                  <c:v>762000</c:v>
                </c:pt>
                <c:pt idx="105">
                  <c:v>762000</c:v>
                </c:pt>
                <c:pt idx="106">
                  <c:v>762000</c:v>
                </c:pt>
                <c:pt idx="107">
                  <c:v>762000</c:v>
                </c:pt>
                <c:pt idx="108">
                  <c:v>762000</c:v>
                </c:pt>
                <c:pt idx="109">
                  <c:v>762000</c:v>
                </c:pt>
                <c:pt idx="110">
                  <c:v>762000</c:v>
                </c:pt>
                <c:pt idx="111">
                  <c:v>762000</c:v>
                </c:pt>
                <c:pt idx="112">
                  <c:v>762000</c:v>
                </c:pt>
                <c:pt idx="113">
                  <c:v>762000</c:v>
                </c:pt>
                <c:pt idx="114">
                  <c:v>762000</c:v>
                </c:pt>
                <c:pt idx="115">
                  <c:v>762000</c:v>
                </c:pt>
                <c:pt idx="116">
                  <c:v>762000</c:v>
                </c:pt>
                <c:pt idx="117">
                  <c:v>762000</c:v>
                </c:pt>
                <c:pt idx="118">
                  <c:v>762000</c:v>
                </c:pt>
                <c:pt idx="119">
                  <c:v>762000</c:v>
                </c:pt>
                <c:pt idx="120">
                  <c:v>762000</c:v>
                </c:pt>
                <c:pt idx="121">
                  <c:v>762000</c:v>
                </c:pt>
                <c:pt idx="122">
                  <c:v>762000</c:v>
                </c:pt>
                <c:pt idx="123">
                  <c:v>762000</c:v>
                </c:pt>
                <c:pt idx="124">
                  <c:v>762000</c:v>
                </c:pt>
                <c:pt idx="125">
                  <c:v>762000</c:v>
                </c:pt>
                <c:pt idx="126">
                  <c:v>762000</c:v>
                </c:pt>
                <c:pt idx="127">
                  <c:v>762000</c:v>
                </c:pt>
                <c:pt idx="128">
                  <c:v>762000</c:v>
                </c:pt>
                <c:pt idx="129">
                  <c:v>409575</c:v>
                </c:pt>
                <c:pt idx="130">
                  <c:v>409575</c:v>
                </c:pt>
                <c:pt idx="131">
                  <c:v>409575</c:v>
                </c:pt>
                <c:pt idx="132">
                  <c:v>409575</c:v>
                </c:pt>
                <c:pt idx="133">
                  <c:v>409575</c:v>
                </c:pt>
                <c:pt idx="134">
                  <c:v>409575</c:v>
                </c:pt>
                <c:pt idx="135">
                  <c:v>409575</c:v>
                </c:pt>
                <c:pt idx="136">
                  <c:v>409575</c:v>
                </c:pt>
                <c:pt idx="137">
                  <c:v>409575</c:v>
                </c:pt>
                <c:pt idx="138">
                  <c:v>409575</c:v>
                </c:pt>
                <c:pt idx="139">
                  <c:v>409575</c:v>
                </c:pt>
                <c:pt idx="140">
                  <c:v>409575</c:v>
                </c:pt>
                <c:pt idx="141">
                  <c:v>409575</c:v>
                </c:pt>
                <c:pt idx="142">
                  <c:v>409575</c:v>
                </c:pt>
                <c:pt idx="143">
                  <c:v>409575</c:v>
                </c:pt>
                <c:pt idx="144">
                  <c:v>409575</c:v>
                </c:pt>
                <c:pt idx="145">
                  <c:v>409575</c:v>
                </c:pt>
                <c:pt idx="146">
                  <c:v>1592263</c:v>
                </c:pt>
                <c:pt idx="147">
                  <c:v>1592263</c:v>
                </c:pt>
                <c:pt idx="148">
                  <c:v>1592263</c:v>
                </c:pt>
                <c:pt idx="149">
                  <c:v>1592263</c:v>
                </c:pt>
                <c:pt idx="150">
                  <c:v>1592263</c:v>
                </c:pt>
                <c:pt idx="151">
                  <c:v>1592263</c:v>
                </c:pt>
                <c:pt idx="152">
                  <c:v>1592263</c:v>
                </c:pt>
                <c:pt idx="153">
                  <c:v>1592263</c:v>
                </c:pt>
                <c:pt idx="154">
                  <c:v>1592263</c:v>
                </c:pt>
                <c:pt idx="155">
                  <c:v>1592263</c:v>
                </c:pt>
                <c:pt idx="156">
                  <c:v>1592263</c:v>
                </c:pt>
                <c:pt idx="157">
                  <c:v>1592263</c:v>
                </c:pt>
                <c:pt idx="158">
                  <c:v>1592263</c:v>
                </c:pt>
                <c:pt idx="159">
                  <c:v>1592263</c:v>
                </c:pt>
                <c:pt idx="160">
                  <c:v>1592263</c:v>
                </c:pt>
                <c:pt idx="161">
                  <c:v>1592263</c:v>
                </c:pt>
                <c:pt idx="162">
                  <c:v>1592263</c:v>
                </c:pt>
                <c:pt idx="163">
                  <c:v>1060450</c:v>
                </c:pt>
                <c:pt idx="164">
                  <c:v>1060450</c:v>
                </c:pt>
                <c:pt idx="165">
                  <c:v>1060450</c:v>
                </c:pt>
                <c:pt idx="166">
                  <c:v>1060450</c:v>
                </c:pt>
                <c:pt idx="167">
                  <c:v>1060450</c:v>
                </c:pt>
                <c:pt idx="168">
                  <c:v>1060450</c:v>
                </c:pt>
                <c:pt idx="169">
                  <c:v>1060450</c:v>
                </c:pt>
                <c:pt idx="170">
                  <c:v>1060450</c:v>
                </c:pt>
                <c:pt idx="171">
                  <c:v>1060450</c:v>
                </c:pt>
                <c:pt idx="172">
                  <c:v>1060450</c:v>
                </c:pt>
                <c:pt idx="173">
                  <c:v>1060450</c:v>
                </c:pt>
                <c:pt idx="174">
                  <c:v>1060450</c:v>
                </c:pt>
                <c:pt idx="175">
                  <c:v>1060450</c:v>
                </c:pt>
                <c:pt idx="176">
                  <c:v>1060450</c:v>
                </c:pt>
                <c:pt idx="177">
                  <c:v>1060450</c:v>
                </c:pt>
                <c:pt idx="178">
                  <c:v>1060450</c:v>
                </c:pt>
                <c:pt idx="179">
                  <c:v>1060450</c:v>
                </c:pt>
                <c:pt idx="180">
                  <c:v>1060450</c:v>
                </c:pt>
                <c:pt idx="181">
                  <c:v>1060450</c:v>
                </c:pt>
                <c:pt idx="182">
                  <c:v>1060450</c:v>
                </c:pt>
                <c:pt idx="183">
                  <c:v>1060450</c:v>
                </c:pt>
                <c:pt idx="184">
                  <c:v>1060450</c:v>
                </c:pt>
                <c:pt idx="185">
                  <c:v>1060450</c:v>
                </c:pt>
                <c:pt idx="186">
                  <c:v>1060450</c:v>
                </c:pt>
                <c:pt idx="187">
                  <c:v>1060450</c:v>
                </c:pt>
                <c:pt idx="188">
                  <c:v>1060450</c:v>
                </c:pt>
                <c:pt idx="189">
                  <c:v>1060450</c:v>
                </c:pt>
                <c:pt idx="190">
                  <c:v>1060450</c:v>
                </c:pt>
                <c:pt idx="191">
                  <c:v>1060450</c:v>
                </c:pt>
                <c:pt idx="192">
                  <c:v>1060450</c:v>
                </c:pt>
                <c:pt idx="193">
                  <c:v>1060450</c:v>
                </c:pt>
                <c:pt idx="194">
                  <c:v>1060450</c:v>
                </c:pt>
                <c:pt idx="195">
                  <c:v>1060450</c:v>
                </c:pt>
                <c:pt idx="196">
                  <c:v>1060450</c:v>
                </c:pt>
                <c:pt idx="197">
                  <c:v>1060450</c:v>
                </c:pt>
                <c:pt idx="198">
                  <c:v>1060450</c:v>
                </c:pt>
                <c:pt idx="199">
                  <c:v>1060450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Layer 3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Sheet1!$D$2:$D$201</c:f>
              <c:numCache>
                <c:formatCode>0%</c:formatCode>
                <c:ptCount val="200"/>
                <c:pt idx="0">
                  <c:v>192088</c:v>
                </c:pt>
                <c:pt idx="1">
                  <c:v>192088</c:v>
                </c:pt>
                <c:pt idx="2">
                  <c:v>192088</c:v>
                </c:pt>
                <c:pt idx="3">
                  <c:v>192088</c:v>
                </c:pt>
                <c:pt idx="4">
                  <c:v>192088</c:v>
                </c:pt>
                <c:pt idx="5">
                  <c:v>192088</c:v>
                </c:pt>
                <c:pt idx="6">
                  <c:v>192088</c:v>
                </c:pt>
                <c:pt idx="7">
                  <c:v>192088</c:v>
                </c:pt>
                <c:pt idx="8">
                  <c:v>192088</c:v>
                </c:pt>
                <c:pt idx="9">
                  <c:v>192088</c:v>
                </c:pt>
                <c:pt idx="10">
                  <c:v>192088</c:v>
                </c:pt>
                <c:pt idx="11">
                  <c:v>192088</c:v>
                </c:pt>
                <c:pt idx="12">
                  <c:v>192088</c:v>
                </c:pt>
                <c:pt idx="13">
                  <c:v>192088</c:v>
                </c:pt>
                <c:pt idx="14">
                  <c:v>192088</c:v>
                </c:pt>
                <c:pt idx="15">
                  <c:v>192088</c:v>
                </c:pt>
                <c:pt idx="16">
                  <c:v>192088</c:v>
                </c:pt>
                <c:pt idx="17">
                  <c:v>192088</c:v>
                </c:pt>
                <c:pt idx="18">
                  <c:v>192088</c:v>
                </c:pt>
                <c:pt idx="19">
                  <c:v>192088</c:v>
                </c:pt>
                <c:pt idx="20">
                  <c:v>192088</c:v>
                </c:pt>
                <c:pt idx="21">
                  <c:v>192088</c:v>
                </c:pt>
                <c:pt idx="22">
                  <c:v>192088</c:v>
                </c:pt>
                <c:pt idx="23">
                  <c:v>192088</c:v>
                </c:pt>
                <c:pt idx="24">
                  <c:v>192088</c:v>
                </c:pt>
                <c:pt idx="25">
                  <c:v>192088</c:v>
                </c:pt>
                <c:pt idx="26">
                  <c:v>192088</c:v>
                </c:pt>
                <c:pt idx="27">
                  <c:v>192088</c:v>
                </c:pt>
                <c:pt idx="28">
                  <c:v>192088</c:v>
                </c:pt>
                <c:pt idx="29">
                  <c:v>192088</c:v>
                </c:pt>
                <c:pt idx="30">
                  <c:v>192088</c:v>
                </c:pt>
                <c:pt idx="31">
                  <c:v>192088</c:v>
                </c:pt>
                <c:pt idx="32">
                  <c:v>192088</c:v>
                </c:pt>
                <c:pt idx="33">
                  <c:v>192088</c:v>
                </c:pt>
                <c:pt idx="34">
                  <c:v>192088</c:v>
                </c:pt>
                <c:pt idx="35">
                  <c:v>192088</c:v>
                </c:pt>
                <c:pt idx="36">
                  <c:v>192088</c:v>
                </c:pt>
                <c:pt idx="37">
                  <c:v>192088</c:v>
                </c:pt>
                <c:pt idx="38">
                  <c:v>192088</c:v>
                </c:pt>
                <c:pt idx="39">
                  <c:v>192088</c:v>
                </c:pt>
                <c:pt idx="40">
                  <c:v>192088</c:v>
                </c:pt>
                <c:pt idx="41">
                  <c:v>192088</c:v>
                </c:pt>
                <c:pt idx="42">
                  <c:v>192088</c:v>
                </c:pt>
                <c:pt idx="43">
                  <c:v>192088</c:v>
                </c:pt>
                <c:pt idx="44">
                  <c:v>192088</c:v>
                </c:pt>
                <c:pt idx="45">
                  <c:v>192088</c:v>
                </c:pt>
                <c:pt idx="46">
                  <c:v>192088</c:v>
                </c:pt>
                <c:pt idx="47">
                  <c:v>192088</c:v>
                </c:pt>
                <c:pt idx="48">
                  <c:v>192088</c:v>
                </c:pt>
                <c:pt idx="49">
                  <c:v>192088</c:v>
                </c:pt>
                <c:pt idx="50">
                  <c:v>46038</c:v>
                </c:pt>
                <c:pt idx="51">
                  <c:v>46038</c:v>
                </c:pt>
                <c:pt idx="52">
                  <c:v>46038</c:v>
                </c:pt>
                <c:pt idx="53">
                  <c:v>46038</c:v>
                </c:pt>
                <c:pt idx="54">
                  <c:v>46038</c:v>
                </c:pt>
                <c:pt idx="55">
                  <c:v>46038</c:v>
                </c:pt>
                <c:pt idx="56">
                  <c:v>46038</c:v>
                </c:pt>
                <c:pt idx="57">
                  <c:v>46038</c:v>
                </c:pt>
                <c:pt idx="58">
                  <c:v>46038</c:v>
                </c:pt>
                <c:pt idx="59">
                  <c:v>46038</c:v>
                </c:pt>
                <c:pt idx="60">
                  <c:v>46038</c:v>
                </c:pt>
                <c:pt idx="61">
                  <c:v>46038</c:v>
                </c:pt>
                <c:pt idx="62">
                  <c:v>46038</c:v>
                </c:pt>
                <c:pt idx="63">
                  <c:v>46038</c:v>
                </c:pt>
                <c:pt idx="64">
                  <c:v>46038</c:v>
                </c:pt>
                <c:pt idx="65">
                  <c:v>46038</c:v>
                </c:pt>
                <c:pt idx="66">
                  <c:v>46038</c:v>
                </c:pt>
                <c:pt idx="67">
                  <c:v>46038</c:v>
                </c:pt>
                <c:pt idx="68">
                  <c:v>46038</c:v>
                </c:pt>
                <c:pt idx="69">
                  <c:v>46038</c:v>
                </c:pt>
                <c:pt idx="70">
                  <c:v>46038</c:v>
                </c:pt>
                <c:pt idx="71">
                  <c:v>46038</c:v>
                </c:pt>
                <c:pt idx="72">
                  <c:v>46038</c:v>
                </c:pt>
                <c:pt idx="73">
                  <c:v>46038</c:v>
                </c:pt>
                <c:pt idx="74">
                  <c:v>46038</c:v>
                </c:pt>
                <c:pt idx="75">
                  <c:v>46038</c:v>
                </c:pt>
                <c:pt idx="76">
                  <c:v>46038</c:v>
                </c:pt>
                <c:pt idx="77">
                  <c:v>46038</c:v>
                </c:pt>
                <c:pt idx="78">
                  <c:v>46038</c:v>
                </c:pt>
                <c:pt idx="79">
                  <c:v>46038</c:v>
                </c:pt>
                <c:pt idx="80">
                  <c:v>46038</c:v>
                </c:pt>
                <c:pt idx="81">
                  <c:v>46038</c:v>
                </c:pt>
                <c:pt idx="82">
                  <c:v>319088</c:v>
                </c:pt>
                <c:pt idx="83">
                  <c:v>319088</c:v>
                </c:pt>
                <c:pt idx="84">
                  <c:v>319088</c:v>
                </c:pt>
                <c:pt idx="85">
                  <c:v>319088</c:v>
                </c:pt>
                <c:pt idx="86">
                  <c:v>319088</c:v>
                </c:pt>
                <c:pt idx="87">
                  <c:v>319088</c:v>
                </c:pt>
                <c:pt idx="88">
                  <c:v>319088</c:v>
                </c:pt>
                <c:pt idx="89">
                  <c:v>319088</c:v>
                </c:pt>
                <c:pt idx="90">
                  <c:v>319088</c:v>
                </c:pt>
                <c:pt idx="91">
                  <c:v>319088</c:v>
                </c:pt>
                <c:pt idx="92">
                  <c:v>319088</c:v>
                </c:pt>
                <c:pt idx="93">
                  <c:v>319088</c:v>
                </c:pt>
                <c:pt idx="94">
                  <c:v>319088</c:v>
                </c:pt>
                <c:pt idx="95">
                  <c:v>319088</c:v>
                </c:pt>
                <c:pt idx="96">
                  <c:v>319088</c:v>
                </c:pt>
                <c:pt idx="97">
                  <c:v>319088</c:v>
                </c:pt>
                <c:pt idx="98">
                  <c:v>319088</c:v>
                </c:pt>
                <c:pt idx="99">
                  <c:v>319088</c:v>
                </c:pt>
                <c:pt idx="100">
                  <c:v>319088</c:v>
                </c:pt>
                <c:pt idx="101">
                  <c:v>319088</c:v>
                </c:pt>
                <c:pt idx="102">
                  <c:v>319088</c:v>
                </c:pt>
                <c:pt idx="103">
                  <c:v>319088</c:v>
                </c:pt>
                <c:pt idx="104">
                  <c:v>319088</c:v>
                </c:pt>
                <c:pt idx="105">
                  <c:v>319088</c:v>
                </c:pt>
                <c:pt idx="106">
                  <c:v>319088</c:v>
                </c:pt>
                <c:pt idx="107">
                  <c:v>319088</c:v>
                </c:pt>
                <c:pt idx="108">
                  <c:v>319088</c:v>
                </c:pt>
                <c:pt idx="109">
                  <c:v>319088</c:v>
                </c:pt>
                <c:pt idx="110">
                  <c:v>319088</c:v>
                </c:pt>
                <c:pt idx="111">
                  <c:v>319088</c:v>
                </c:pt>
                <c:pt idx="112">
                  <c:v>319088</c:v>
                </c:pt>
                <c:pt idx="113">
                  <c:v>319088</c:v>
                </c:pt>
                <c:pt idx="114">
                  <c:v>319088</c:v>
                </c:pt>
                <c:pt idx="115">
                  <c:v>319088</c:v>
                </c:pt>
                <c:pt idx="116">
                  <c:v>319088</c:v>
                </c:pt>
                <c:pt idx="117">
                  <c:v>319088</c:v>
                </c:pt>
                <c:pt idx="118">
                  <c:v>319088</c:v>
                </c:pt>
                <c:pt idx="119">
                  <c:v>319088</c:v>
                </c:pt>
                <c:pt idx="120">
                  <c:v>319088</c:v>
                </c:pt>
                <c:pt idx="121">
                  <c:v>319088</c:v>
                </c:pt>
                <c:pt idx="122">
                  <c:v>319088</c:v>
                </c:pt>
                <c:pt idx="123">
                  <c:v>319088</c:v>
                </c:pt>
                <c:pt idx="124">
                  <c:v>319088</c:v>
                </c:pt>
                <c:pt idx="125">
                  <c:v>319088</c:v>
                </c:pt>
                <c:pt idx="126">
                  <c:v>319088</c:v>
                </c:pt>
                <c:pt idx="127">
                  <c:v>319088</c:v>
                </c:pt>
                <c:pt idx="128">
                  <c:v>319088</c:v>
                </c:pt>
                <c:pt idx="129">
                  <c:v>188913</c:v>
                </c:pt>
                <c:pt idx="130">
                  <c:v>188913</c:v>
                </c:pt>
                <c:pt idx="131">
                  <c:v>188913</c:v>
                </c:pt>
                <c:pt idx="132">
                  <c:v>188913</c:v>
                </c:pt>
                <c:pt idx="133">
                  <c:v>188913</c:v>
                </c:pt>
                <c:pt idx="134">
                  <c:v>188913</c:v>
                </c:pt>
                <c:pt idx="135">
                  <c:v>188913</c:v>
                </c:pt>
                <c:pt idx="136">
                  <c:v>188913</c:v>
                </c:pt>
                <c:pt idx="137">
                  <c:v>188913</c:v>
                </c:pt>
                <c:pt idx="138">
                  <c:v>188913</c:v>
                </c:pt>
                <c:pt idx="139">
                  <c:v>188913</c:v>
                </c:pt>
                <c:pt idx="140">
                  <c:v>188913</c:v>
                </c:pt>
                <c:pt idx="141">
                  <c:v>188913</c:v>
                </c:pt>
                <c:pt idx="142">
                  <c:v>188913</c:v>
                </c:pt>
                <c:pt idx="143">
                  <c:v>188913</c:v>
                </c:pt>
                <c:pt idx="144">
                  <c:v>188913</c:v>
                </c:pt>
                <c:pt idx="145">
                  <c:v>188913</c:v>
                </c:pt>
                <c:pt idx="146">
                  <c:v>160338</c:v>
                </c:pt>
                <c:pt idx="147">
                  <c:v>160338</c:v>
                </c:pt>
                <c:pt idx="148">
                  <c:v>160338</c:v>
                </c:pt>
                <c:pt idx="149">
                  <c:v>160338</c:v>
                </c:pt>
                <c:pt idx="150">
                  <c:v>160338</c:v>
                </c:pt>
                <c:pt idx="151">
                  <c:v>160338</c:v>
                </c:pt>
                <c:pt idx="152">
                  <c:v>160338</c:v>
                </c:pt>
                <c:pt idx="153">
                  <c:v>160338</c:v>
                </c:pt>
                <c:pt idx="154">
                  <c:v>160338</c:v>
                </c:pt>
                <c:pt idx="155">
                  <c:v>160338</c:v>
                </c:pt>
                <c:pt idx="156">
                  <c:v>160338</c:v>
                </c:pt>
                <c:pt idx="157">
                  <c:v>160338</c:v>
                </c:pt>
                <c:pt idx="158">
                  <c:v>160338</c:v>
                </c:pt>
                <c:pt idx="159">
                  <c:v>160338</c:v>
                </c:pt>
                <c:pt idx="160">
                  <c:v>160338</c:v>
                </c:pt>
                <c:pt idx="161">
                  <c:v>160338</c:v>
                </c:pt>
                <c:pt idx="162">
                  <c:v>160338</c:v>
                </c:pt>
                <c:pt idx="163">
                  <c:v>430213</c:v>
                </c:pt>
                <c:pt idx="164">
                  <c:v>430213</c:v>
                </c:pt>
                <c:pt idx="165">
                  <c:v>430213</c:v>
                </c:pt>
                <c:pt idx="166">
                  <c:v>430213</c:v>
                </c:pt>
                <c:pt idx="167">
                  <c:v>430213</c:v>
                </c:pt>
                <c:pt idx="168">
                  <c:v>430213</c:v>
                </c:pt>
                <c:pt idx="169">
                  <c:v>430213</c:v>
                </c:pt>
                <c:pt idx="170">
                  <c:v>430213</c:v>
                </c:pt>
                <c:pt idx="171">
                  <c:v>430213</c:v>
                </c:pt>
                <c:pt idx="172">
                  <c:v>430213</c:v>
                </c:pt>
                <c:pt idx="173">
                  <c:v>430213</c:v>
                </c:pt>
                <c:pt idx="174">
                  <c:v>430213</c:v>
                </c:pt>
                <c:pt idx="175">
                  <c:v>430213</c:v>
                </c:pt>
                <c:pt idx="176">
                  <c:v>430213</c:v>
                </c:pt>
                <c:pt idx="177">
                  <c:v>430213</c:v>
                </c:pt>
                <c:pt idx="178">
                  <c:v>430213</c:v>
                </c:pt>
                <c:pt idx="179">
                  <c:v>430213</c:v>
                </c:pt>
                <c:pt idx="180">
                  <c:v>430213</c:v>
                </c:pt>
                <c:pt idx="181">
                  <c:v>430213</c:v>
                </c:pt>
                <c:pt idx="182">
                  <c:v>430213</c:v>
                </c:pt>
                <c:pt idx="183">
                  <c:v>430213</c:v>
                </c:pt>
                <c:pt idx="184">
                  <c:v>430213</c:v>
                </c:pt>
                <c:pt idx="185">
                  <c:v>430213</c:v>
                </c:pt>
                <c:pt idx="186">
                  <c:v>430213</c:v>
                </c:pt>
                <c:pt idx="187">
                  <c:v>430213</c:v>
                </c:pt>
                <c:pt idx="188">
                  <c:v>430213</c:v>
                </c:pt>
                <c:pt idx="189">
                  <c:v>430213</c:v>
                </c:pt>
                <c:pt idx="190">
                  <c:v>430213</c:v>
                </c:pt>
                <c:pt idx="191">
                  <c:v>430213</c:v>
                </c:pt>
                <c:pt idx="192">
                  <c:v>430213</c:v>
                </c:pt>
                <c:pt idx="193">
                  <c:v>430213</c:v>
                </c:pt>
                <c:pt idx="194">
                  <c:v>430213</c:v>
                </c:pt>
                <c:pt idx="195">
                  <c:v>430213</c:v>
                </c:pt>
                <c:pt idx="196">
                  <c:v>430213</c:v>
                </c:pt>
                <c:pt idx="197">
                  <c:v>430213</c:v>
                </c:pt>
                <c:pt idx="198">
                  <c:v>430213</c:v>
                </c:pt>
                <c:pt idx="199">
                  <c:v>430213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Layer 4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486D82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1D4D68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Sheet1!$E$2:$E$201</c:f>
              <c:numCache>
                <c:formatCode>0%</c:formatCode>
                <c:ptCount val="200"/>
                <c:pt idx="0">
                  <c:v>190500</c:v>
                </c:pt>
                <c:pt idx="1">
                  <c:v>190500</c:v>
                </c:pt>
                <c:pt idx="2">
                  <c:v>190500</c:v>
                </c:pt>
                <c:pt idx="3">
                  <c:v>190500</c:v>
                </c:pt>
                <c:pt idx="4">
                  <c:v>190500</c:v>
                </c:pt>
                <c:pt idx="5">
                  <c:v>190500</c:v>
                </c:pt>
                <c:pt idx="6">
                  <c:v>190500</c:v>
                </c:pt>
                <c:pt idx="7">
                  <c:v>190500</c:v>
                </c:pt>
                <c:pt idx="8">
                  <c:v>190500</c:v>
                </c:pt>
                <c:pt idx="9">
                  <c:v>190500</c:v>
                </c:pt>
                <c:pt idx="10">
                  <c:v>190500</c:v>
                </c:pt>
                <c:pt idx="11">
                  <c:v>190500</c:v>
                </c:pt>
                <c:pt idx="12">
                  <c:v>190500</c:v>
                </c:pt>
                <c:pt idx="13">
                  <c:v>190500</c:v>
                </c:pt>
                <c:pt idx="14">
                  <c:v>190500</c:v>
                </c:pt>
                <c:pt idx="15">
                  <c:v>190500</c:v>
                </c:pt>
                <c:pt idx="16">
                  <c:v>190500</c:v>
                </c:pt>
                <c:pt idx="17">
                  <c:v>190500</c:v>
                </c:pt>
                <c:pt idx="18">
                  <c:v>190500</c:v>
                </c:pt>
                <c:pt idx="19">
                  <c:v>190500</c:v>
                </c:pt>
                <c:pt idx="20">
                  <c:v>190500</c:v>
                </c:pt>
                <c:pt idx="21">
                  <c:v>190500</c:v>
                </c:pt>
                <c:pt idx="22">
                  <c:v>190500</c:v>
                </c:pt>
                <c:pt idx="23">
                  <c:v>190500</c:v>
                </c:pt>
                <c:pt idx="24">
                  <c:v>190500</c:v>
                </c:pt>
                <c:pt idx="25">
                  <c:v>190500</c:v>
                </c:pt>
                <c:pt idx="26">
                  <c:v>190500</c:v>
                </c:pt>
                <c:pt idx="27">
                  <c:v>190500</c:v>
                </c:pt>
                <c:pt idx="28">
                  <c:v>190500</c:v>
                </c:pt>
                <c:pt idx="29">
                  <c:v>190500</c:v>
                </c:pt>
                <c:pt idx="30">
                  <c:v>190500</c:v>
                </c:pt>
                <c:pt idx="31">
                  <c:v>190500</c:v>
                </c:pt>
                <c:pt idx="32">
                  <c:v>190500</c:v>
                </c:pt>
                <c:pt idx="33">
                  <c:v>190500</c:v>
                </c:pt>
                <c:pt idx="34">
                  <c:v>190500</c:v>
                </c:pt>
                <c:pt idx="35">
                  <c:v>190500</c:v>
                </c:pt>
                <c:pt idx="36">
                  <c:v>190500</c:v>
                </c:pt>
                <c:pt idx="37">
                  <c:v>190500</c:v>
                </c:pt>
                <c:pt idx="38">
                  <c:v>190500</c:v>
                </c:pt>
                <c:pt idx="39">
                  <c:v>190500</c:v>
                </c:pt>
                <c:pt idx="40">
                  <c:v>190500</c:v>
                </c:pt>
                <c:pt idx="41">
                  <c:v>190500</c:v>
                </c:pt>
                <c:pt idx="42">
                  <c:v>190500</c:v>
                </c:pt>
                <c:pt idx="43">
                  <c:v>190500</c:v>
                </c:pt>
                <c:pt idx="44">
                  <c:v>190500</c:v>
                </c:pt>
                <c:pt idx="45">
                  <c:v>190500</c:v>
                </c:pt>
                <c:pt idx="46">
                  <c:v>190500</c:v>
                </c:pt>
                <c:pt idx="47">
                  <c:v>190500</c:v>
                </c:pt>
                <c:pt idx="48">
                  <c:v>190500</c:v>
                </c:pt>
                <c:pt idx="49">
                  <c:v>190500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276225</c:v>
                </c:pt>
                <c:pt idx="83">
                  <c:v>276225</c:v>
                </c:pt>
                <c:pt idx="84">
                  <c:v>276225</c:v>
                </c:pt>
                <c:pt idx="85">
                  <c:v>276225</c:v>
                </c:pt>
                <c:pt idx="86">
                  <c:v>276225</c:v>
                </c:pt>
                <c:pt idx="87">
                  <c:v>276225</c:v>
                </c:pt>
                <c:pt idx="88">
                  <c:v>276225</c:v>
                </c:pt>
                <c:pt idx="89">
                  <c:v>276225</c:v>
                </c:pt>
                <c:pt idx="90">
                  <c:v>276225</c:v>
                </c:pt>
                <c:pt idx="91">
                  <c:v>276225</c:v>
                </c:pt>
                <c:pt idx="92">
                  <c:v>276225</c:v>
                </c:pt>
                <c:pt idx="93">
                  <c:v>276225</c:v>
                </c:pt>
                <c:pt idx="94">
                  <c:v>276225</c:v>
                </c:pt>
                <c:pt idx="95">
                  <c:v>276225</c:v>
                </c:pt>
                <c:pt idx="96">
                  <c:v>276225</c:v>
                </c:pt>
                <c:pt idx="97">
                  <c:v>276225</c:v>
                </c:pt>
                <c:pt idx="98">
                  <c:v>276225</c:v>
                </c:pt>
                <c:pt idx="99">
                  <c:v>276225</c:v>
                </c:pt>
                <c:pt idx="100">
                  <c:v>276225</c:v>
                </c:pt>
                <c:pt idx="101">
                  <c:v>276225</c:v>
                </c:pt>
                <c:pt idx="102">
                  <c:v>276225</c:v>
                </c:pt>
                <c:pt idx="103">
                  <c:v>276225</c:v>
                </c:pt>
                <c:pt idx="104">
                  <c:v>276225</c:v>
                </c:pt>
                <c:pt idx="105">
                  <c:v>276225</c:v>
                </c:pt>
                <c:pt idx="106">
                  <c:v>276225</c:v>
                </c:pt>
                <c:pt idx="107">
                  <c:v>276225</c:v>
                </c:pt>
                <c:pt idx="108">
                  <c:v>276225</c:v>
                </c:pt>
                <c:pt idx="109">
                  <c:v>276225</c:v>
                </c:pt>
                <c:pt idx="110">
                  <c:v>276225</c:v>
                </c:pt>
                <c:pt idx="111">
                  <c:v>276225</c:v>
                </c:pt>
                <c:pt idx="112">
                  <c:v>276225</c:v>
                </c:pt>
                <c:pt idx="113">
                  <c:v>276225</c:v>
                </c:pt>
                <c:pt idx="114">
                  <c:v>276225</c:v>
                </c:pt>
                <c:pt idx="115">
                  <c:v>276225</c:v>
                </c:pt>
                <c:pt idx="116">
                  <c:v>276225</c:v>
                </c:pt>
                <c:pt idx="117">
                  <c:v>276225</c:v>
                </c:pt>
                <c:pt idx="118">
                  <c:v>276225</c:v>
                </c:pt>
                <c:pt idx="119">
                  <c:v>276225</c:v>
                </c:pt>
                <c:pt idx="120">
                  <c:v>276225</c:v>
                </c:pt>
                <c:pt idx="121">
                  <c:v>276225</c:v>
                </c:pt>
                <c:pt idx="122">
                  <c:v>276225</c:v>
                </c:pt>
                <c:pt idx="123">
                  <c:v>276225</c:v>
                </c:pt>
                <c:pt idx="124">
                  <c:v>276225</c:v>
                </c:pt>
                <c:pt idx="125">
                  <c:v>276225</c:v>
                </c:pt>
                <c:pt idx="126">
                  <c:v>276225</c:v>
                </c:pt>
                <c:pt idx="127">
                  <c:v>276225</c:v>
                </c:pt>
                <c:pt idx="128">
                  <c:v>276225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95250</c:v>
                </c:pt>
                <c:pt idx="147">
                  <c:v>95250</c:v>
                </c:pt>
                <c:pt idx="148">
                  <c:v>95250</c:v>
                </c:pt>
                <c:pt idx="149">
                  <c:v>95250</c:v>
                </c:pt>
                <c:pt idx="150">
                  <c:v>95250</c:v>
                </c:pt>
                <c:pt idx="151">
                  <c:v>95250</c:v>
                </c:pt>
                <c:pt idx="152">
                  <c:v>95250</c:v>
                </c:pt>
                <c:pt idx="153">
                  <c:v>95250</c:v>
                </c:pt>
                <c:pt idx="154">
                  <c:v>95250</c:v>
                </c:pt>
                <c:pt idx="155">
                  <c:v>95250</c:v>
                </c:pt>
                <c:pt idx="156">
                  <c:v>95250</c:v>
                </c:pt>
                <c:pt idx="157">
                  <c:v>95250</c:v>
                </c:pt>
                <c:pt idx="158">
                  <c:v>95250</c:v>
                </c:pt>
                <c:pt idx="159">
                  <c:v>95250</c:v>
                </c:pt>
                <c:pt idx="160">
                  <c:v>95250</c:v>
                </c:pt>
                <c:pt idx="161">
                  <c:v>95250</c:v>
                </c:pt>
                <c:pt idx="162">
                  <c:v>95250</c:v>
                </c:pt>
                <c:pt idx="163">
                  <c:v>415925</c:v>
                </c:pt>
                <c:pt idx="164">
                  <c:v>415925</c:v>
                </c:pt>
                <c:pt idx="165">
                  <c:v>415925</c:v>
                </c:pt>
                <c:pt idx="166">
                  <c:v>415925</c:v>
                </c:pt>
                <c:pt idx="167">
                  <c:v>415925</c:v>
                </c:pt>
                <c:pt idx="168">
                  <c:v>415925</c:v>
                </c:pt>
                <c:pt idx="169">
                  <c:v>415925</c:v>
                </c:pt>
                <c:pt idx="170">
                  <c:v>415925</c:v>
                </c:pt>
                <c:pt idx="171">
                  <c:v>415925</c:v>
                </c:pt>
                <c:pt idx="172">
                  <c:v>415925</c:v>
                </c:pt>
                <c:pt idx="173">
                  <c:v>415925</c:v>
                </c:pt>
                <c:pt idx="174">
                  <c:v>415925</c:v>
                </c:pt>
                <c:pt idx="175">
                  <c:v>415925</c:v>
                </c:pt>
                <c:pt idx="176">
                  <c:v>415925</c:v>
                </c:pt>
                <c:pt idx="177">
                  <c:v>415925</c:v>
                </c:pt>
                <c:pt idx="178">
                  <c:v>415925</c:v>
                </c:pt>
                <c:pt idx="179">
                  <c:v>415925</c:v>
                </c:pt>
                <c:pt idx="180">
                  <c:v>415925</c:v>
                </c:pt>
                <c:pt idx="181">
                  <c:v>415925</c:v>
                </c:pt>
                <c:pt idx="182">
                  <c:v>415925</c:v>
                </c:pt>
                <c:pt idx="183">
                  <c:v>415925</c:v>
                </c:pt>
                <c:pt idx="184">
                  <c:v>415925</c:v>
                </c:pt>
                <c:pt idx="185">
                  <c:v>415925</c:v>
                </c:pt>
                <c:pt idx="186">
                  <c:v>415925</c:v>
                </c:pt>
                <c:pt idx="187">
                  <c:v>415925</c:v>
                </c:pt>
                <c:pt idx="188">
                  <c:v>415925</c:v>
                </c:pt>
                <c:pt idx="189">
                  <c:v>415925</c:v>
                </c:pt>
                <c:pt idx="190">
                  <c:v>415925</c:v>
                </c:pt>
                <c:pt idx="191">
                  <c:v>415925</c:v>
                </c:pt>
                <c:pt idx="192">
                  <c:v>415925</c:v>
                </c:pt>
                <c:pt idx="193">
                  <c:v>415925</c:v>
                </c:pt>
                <c:pt idx="194">
                  <c:v>415925</c:v>
                </c:pt>
                <c:pt idx="195">
                  <c:v>415925</c:v>
                </c:pt>
                <c:pt idx="196">
                  <c:v>415925</c:v>
                </c:pt>
                <c:pt idx="197">
                  <c:v>415925</c:v>
                </c:pt>
                <c:pt idx="198">
                  <c:v>415925</c:v>
                </c:pt>
                <c:pt idx="199">
                  <c:v>415925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Layer 5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79838F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AFC2CC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Sheet1!$F$2:$F$201</c:f>
              <c:numCache>
                <c:formatCode>0%</c:formatCode>
                <c:ptCount val="200"/>
                <c:pt idx="0">
                  <c:v>138113</c:v>
                </c:pt>
                <c:pt idx="1">
                  <c:v>138113</c:v>
                </c:pt>
                <c:pt idx="2">
                  <c:v>138113</c:v>
                </c:pt>
                <c:pt idx="3">
                  <c:v>138113</c:v>
                </c:pt>
                <c:pt idx="4">
                  <c:v>138113</c:v>
                </c:pt>
                <c:pt idx="5">
                  <c:v>138113</c:v>
                </c:pt>
                <c:pt idx="6">
                  <c:v>138113</c:v>
                </c:pt>
                <c:pt idx="7">
                  <c:v>138113</c:v>
                </c:pt>
                <c:pt idx="8">
                  <c:v>138113</c:v>
                </c:pt>
                <c:pt idx="9">
                  <c:v>138113</c:v>
                </c:pt>
                <c:pt idx="10">
                  <c:v>138113</c:v>
                </c:pt>
                <c:pt idx="11">
                  <c:v>138113</c:v>
                </c:pt>
                <c:pt idx="12">
                  <c:v>138113</c:v>
                </c:pt>
                <c:pt idx="13">
                  <c:v>138113</c:v>
                </c:pt>
                <c:pt idx="14">
                  <c:v>138113</c:v>
                </c:pt>
                <c:pt idx="15">
                  <c:v>138113</c:v>
                </c:pt>
                <c:pt idx="16">
                  <c:v>138113</c:v>
                </c:pt>
                <c:pt idx="17">
                  <c:v>138113</c:v>
                </c:pt>
                <c:pt idx="18">
                  <c:v>138113</c:v>
                </c:pt>
                <c:pt idx="19">
                  <c:v>138113</c:v>
                </c:pt>
                <c:pt idx="20">
                  <c:v>138113</c:v>
                </c:pt>
                <c:pt idx="21">
                  <c:v>138113</c:v>
                </c:pt>
                <c:pt idx="22">
                  <c:v>138113</c:v>
                </c:pt>
                <c:pt idx="23">
                  <c:v>138113</c:v>
                </c:pt>
                <c:pt idx="24">
                  <c:v>138113</c:v>
                </c:pt>
                <c:pt idx="25">
                  <c:v>138113</c:v>
                </c:pt>
                <c:pt idx="26">
                  <c:v>138113</c:v>
                </c:pt>
                <c:pt idx="27">
                  <c:v>138113</c:v>
                </c:pt>
                <c:pt idx="28">
                  <c:v>138113</c:v>
                </c:pt>
                <c:pt idx="29">
                  <c:v>138113</c:v>
                </c:pt>
                <c:pt idx="30">
                  <c:v>138113</c:v>
                </c:pt>
                <c:pt idx="31">
                  <c:v>138113</c:v>
                </c:pt>
                <c:pt idx="32">
                  <c:v>138113</c:v>
                </c:pt>
                <c:pt idx="33">
                  <c:v>138113</c:v>
                </c:pt>
                <c:pt idx="34">
                  <c:v>138113</c:v>
                </c:pt>
                <c:pt idx="35">
                  <c:v>138113</c:v>
                </c:pt>
                <c:pt idx="36">
                  <c:v>138113</c:v>
                </c:pt>
                <c:pt idx="37">
                  <c:v>138113</c:v>
                </c:pt>
                <c:pt idx="38">
                  <c:v>138113</c:v>
                </c:pt>
                <c:pt idx="39">
                  <c:v>138113</c:v>
                </c:pt>
                <c:pt idx="40">
                  <c:v>138113</c:v>
                </c:pt>
                <c:pt idx="41">
                  <c:v>138113</c:v>
                </c:pt>
                <c:pt idx="42">
                  <c:v>138113</c:v>
                </c:pt>
                <c:pt idx="43">
                  <c:v>138113</c:v>
                </c:pt>
                <c:pt idx="44">
                  <c:v>138113</c:v>
                </c:pt>
                <c:pt idx="45">
                  <c:v>138113</c:v>
                </c:pt>
                <c:pt idx="46">
                  <c:v>138113</c:v>
                </c:pt>
                <c:pt idx="47">
                  <c:v>138113</c:v>
                </c:pt>
                <c:pt idx="48">
                  <c:v>138113</c:v>
                </c:pt>
                <c:pt idx="49">
                  <c:v>138113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71438</c:v>
                </c:pt>
                <c:pt idx="83">
                  <c:v>71438</c:v>
                </c:pt>
                <c:pt idx="84">
                  <c:v>71438</c:v>
                </c:pt>
                <c:pt idx="85">
                  <c:v>71438</c:v>
                </c:pt>
                <c:pt idx="86">
                  <c:v>71438</c:v>
                </c:pt>
                <c:pt idx="87">
                  <c:v>71438</c:v>
                </c:pt>
                <c:pt idx="88">
                  <c:v>71438</c:v>
                </c:pt>
                <c:pt idx="89">
                  <c:v>71438</c:v>
                </c:pt>
                <c:pt idx="90">
                  <c:v>71438</c:v>
                </c:pt>
                <c:pt idx="91">
                  <c:v>71438</c:v>
                </c:pt>
                <c:pt idx="92">
                  <c:v>71438</c:v>
                </c:pt>
                <c:pt idx="93">
                  <c:v>71438</c:v>
                </c:pt>
                <c:pt idx="94">
                  <c:v>71438</c:v>
                </c:pt>
                <c:pt idx="95">
                  <c:v>71438</c:v>
                </c:pt>
                <c:pt idx="96">
                  <c:v>71438</c:v>
                </c:pt>
                <c:pt idx="97">
                  <c:v>71438</c:v>
                </c:pt>
                <c:pt idx="98">
                  <c:v>71438</c:v>
                </c:pt>
                <c:pt idx="99">
                  <c:v>71438</c:v>
                </c:pt>
                <c:pt idx="100">
                  <c:v>71438</c:v>
                </c:pt>
                <c:pt idx="101">
                  <c:v>71438</c:v>
                </c:pt>
                <c:pt idx="102">
                  <c:v>71438</c:v>
                </c:pt>
                <c:pt idx="103">
                  <c:v>71438</c:v>
                </c:pt>
                <c:pt idx="104">
                  <c:v>71438</c:v>
                </c:pt>
                <c:pt idx="105">
                  <c:v>71438</c:v>
                </c:pt>
                <c:pt idx="106">
                  <c:v>71438</c:v>
                </c:pt>
                <c:pt idx="107">
                  <c:v>71438</c:v>
                </c:pt>
                <c:pt idx="108">
                  <c:v>71438</c:v>
                </c:pt>
                <c:pt idx="109">
                  <c:v>71438</c:v>
                </c:pt>
                <c:pt idx="110">
                  <c:v>71438</c:v>
                </c:pt>
                <c:pt idx="111">
                  <c:v>71438</c:v>
                </c:pt>
                <c:pt idx="112">
                  <c:v>71438</c:v>
                </c:pt>
                <c:pt idx="113">
                  <c:v>71438</c:v>
                </c:pt>
                <c:pt idx="114">
                  <c:v>71438</c:v>
                </c:pt>
                <c:pt idx="115">
                  <c:v>71438</c:v>
                </c:pt>
                <c:pt idx="116">
                  <c:v>71438</c:v>
                </c:pt>
                <c:pt idx="117">
                  <c:v>71438</c:v>
                </c:pt>
                <c:pt idx="118">
                  <c:v>71438</c:v>
                </c:pt>
                <c:pt idx="119">
                  <c:v>71438</c:v>
                </c:pt>
                <c:pt idx="120">
                  <c:v>71438</c:v>
                </c:pt>
                <c:pt idx="121">
                  <c:v>71438</c:v>
                </c:pt>
                <c:pt idx="122">
                  <c:v>71438</c:v>
                </c:pt>
                <c:pt idx="123">
                  <c:v>71438</c:v>
                </c:pt>
                <c:pt idx="124">
                  <c:v>71438</c:v>
                </c:pt>
                <c:pt idx="125">
                  <c:v>71438</c:v>
                </c:pt>
                <c:pt idx="126">
                  <c:v>71438</c:v>
                </c:pt>
                <c:pt idx="127">
                  <c:v>71438</c:v>
                </c:pt>
                <c:pt idx="128">
                  <c:v>71438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15875</c:v>
                </c:pt>
                <c:pt idx="147">
                  <c:v>15875</c:v>
                </c:pt>
                <c:pt idx="148">
                  <c:v>15875</c:v>
                </c:pt>
                <c:pt idx="149">
                  <c:v>15875</c:v>
                </c:pt>
                <c:pt idx="150">
                  <c:v>15875</c:v>
                </c:pt>
                <c:pt idx="151">
                  <c:v>15875</c:v>
                </c:pt>
                <c:pt idx="152">
                  <c:v>15875</c:v>
                </c:pt>
                <c:pt idx="153">
                  <c:v>15875</c:v>
                </c:pt>
                <c:pt idx="154">
                  <c:v>15875</c:v>
                </c:pt>
                <c:pt idx="155">
                  <c:v>15875</c:v>
                </c:pt>
                <c:pt idx="156">
                  <c:v>15875</c:v>
                </c:pt>
                <c:pt idx="157">
                  <c:v>15875</c:v>
                </c:pt>
                <c:pt idx="158">
                  <c:v>15875</c:v>
                </c:pt>
                <c:pt idx="159">
                  <c:v>15875</c:v>
                </c:pt>
                <c:pt idx="160">
                  <c:v>15875</c:v>
                </c:pt>
                <c:pt idx="161">
                  <c:v>15875</c:v>
                </c:pt>
                <c:pt idx="162">
                  <c:v>15875</c:v>
                </c:pt>
                <c:pt idx="163">
                  <c:v>358775</c:v>
                </c:pt>
                <c:pt idx="164">
                  <c:v>358775</c:v>
                </c:pt>
                <c:pt idx="165">
                  <c:v>358775</c:v>
                </c:pt>
                <c:pt idx="166">
                  <c:v>358775</c:v>
                </c:pt>
                <c:pt idx="167">
                  <c:v>358775</c:v>
                </c:pt>
                <c:pt idx="168">
                  <c:v>358775</c:v>
                </c:pt>
                <c:pt idx="169">
                  <c:v>358775</c:v>
                </c:pt>
                <c:pt idx="170">
                  <c:v>358775</c:v>
                </c:pt>
                <c:pt idx="171">
                  <c:v>358775</c:v>
                </c:pt>
                <c:pt idx="172">
                  <c:v>358775</c:v>
                </c:pt>
                <c:pt idx="173">
                  <c:v>358775</c:v>
                </c:pt>
                <c:pt idx="174">
                  <c:v>358775</c:v>
                </c:pt>
                <c:pt idx="175">
                  <c:v>358775</c:v>
                </c:pt>
                <c:pt idx="176">
                  <c:v>358775</c:v>
                </c:pt>
                <c:pt idx="177">
                  <c:v>358775</c:v>
                </c:pt>
                <c:pt idx="178">
                  <c:v>358775</c:v>
                </c:pt>
                <c:pt idx="179">
                  <c:v>358775</c:v>
                </c:pt>
                <c:pt idx="180">
                  <c:v>358775</c:v>
                </c:pt>
                <c:pt idx="181">
                  <c:v>358775</c:v>
                </c:pt>
                <c:pt idx="182">
                  <c:v>358775</c:v>
                </c:pt>
                <c:pt idx="183">
                  <c:v>358775</c:v>
                </c:pt>
                <c:pt idx="184">
                  <c:v>358775</c:v>
                </c:pt>
                <c:pt idx="185">
                  <c:v>358775</c:v>
                </c:pt>
                <c:pt idx="186">
                  <c:v>358775</c:v>
                </c:pt>
                <c:pt idx="187">
                  <c:v>358775</c:v>
                </c:pt>
                <c:pt idx="188">
                  <c:v>358775</c:v>
                </c:pt>
                <c:pt idx="189">
                  <c:v>358775</c:v>
                </c:pt>
                <c:pt idx="190">
                  <c:v>358775</c:v>
                </c:pt>
                <c:pt idx="191">
                  <c:v>358775</c:v>
                </c:pt>
                <c:pt idx="192">
                  <c:v>358775</c:v>
                </c:pt>
                <c:pt idx="193">
                  <c:v>358775</c:v>
                </c:pt>
                <c:pt idx="194">
                  <c:v>358775</c:v>
                </c:pt>
                <c:pt idx="195">
                  <c:v>358775</c:v>
                </c:pt>
                <c:pt idx="196">
                  <c:v>358775</c:v>
                </c:pt>
                <c:pt idx="197">
                  <c:v>358775</c:v>
                </c:pt>
                <c:pt idx="198">
                  <c:v>358775</c:v>
                </c:pt>
                <c:pt idx="199">
                  <c:v>358775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Layer 6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2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3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4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5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6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8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8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9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0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19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0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1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2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3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4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5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6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7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8"/>
            <c:invertIfNegative val="0"/>
            <c:bubble3D val="0"/>
            <c:spPr>
              <a:solidFill>
                <a:srgbClr val="D8E3EB"/>
              </a:solidFill>
              <a:ln>
                <a:noFill/>
              </a:ln>
            </c:spPr>
          </c:dPt>
          <c:dPt>
            <c:idx val="12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3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4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3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4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5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6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7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8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59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60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61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62"/>
            <c:invertIfNegative val="0"/>
            <c:bubble3D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16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6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7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8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0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1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2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3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4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5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6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7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8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dPt>
            <c:idx val="199"/>
            <c:invertIfNegative val="0"/>
            <c:bubble3D val="0"/>
            <c:spPr>
              <a:solidFill>
                <a:srgbClr val="89A2B0"/>
              </a:solidFill>
              <a:ln>
                <a:noFill/>
              </a:ln>
            </c:spPr>
          </c:dPt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Sheet1!$G$2:$G$201</c:f>
              <c:numCache>
                <c:formatCode>0%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6350</c:v>
                </c:pt>
                <c:pt idx="83">
                  <c:v>6350</c:v>
                </c:pt>
                <c:pt idx="84">
                  <c:v>6350</c:v>
                </c:pt>
                <c:pt idx="85">
                  <c:v>6350</c:v>
                </c:pt>
                <c:pt idx="86">
                  <c:v>6350</c:v>
                </c:pt>
                <c:pt idx="87">
                  <c:v>6350</c:v>
                </c:pt>
                <c:pt idx="88">
                  <c:v>6350</c:v>
                </c:pt>
                <c:pt idx="89">
                  <c:v>6350</c:v>
                </c:pt>
                <c:pt idx="90">
                  <c:v>6350</c:v>
                </c:pt>
                <c:pt idx="91">
                  <c:v>6350</c:v>
                </c:pt>
                <c:pt idx="92">
                  <c:v>6350</c:v>
                </c:pt>
                <c:pt idx="93">
                  <c:v>6350</c:v>
                </c:pt>
                <c:pt idx="94">
                  <c:v>6350</c:v>
                </c:pt>
                <c:pt idx="95">
                  <c:v>6350</c:v>
                </c:pt>
                <c:pt idx="96">
                  <c:v>6350</c:v>
                </c:pt>
                <c:pt idx="97">
                  <c:v>6350</c:v>
                </c:pt>
                <c:pt idx="98">
                  <c:v>6350</c:v>
                </c:pt>
                <c:pt idx="99">
                  <c:v>6350</c:v>
                </c:pt>
                <c:pt idx="100">
                  <c:v>6350</c:v>
                </c:pt>
                <c:pt idx="101">
                  <c:v>6350</c:v>
                </c:pt>
                <c:pt idx="102">
                  <c:v>6350</c:v>
                </c:pt>
                <c:pt idx="103">
                  <c:v>6350</c:v>
                </c:pt>
                <c:pt idx="104">
                  <c:v>6350</c:v>
                </c:pt>
                <c:pt idx="105">
                  <c:v>6350</c:v>
                </c:pt>
                <c:pt idx="106">
                  <c:v>6350</c:v>
                </c:pt>
                <c:pt idx="107">
                  <c:v>6350</c:v>
                </c:pt>
                <c:pt idx="108">
                  <c:v>6350</c:v>
                </c:pt>
                <c:pt idx="109">
                  <c:v>6350</c:v>
                </c:pt>
                <c:pt idx="110">
                  <c:v>6350</c:v>
                </c:pt>
                <c:pt idx="111">
                  <c:v>6350</c:v>
                </c:pt>
                <c:pt idx="112">
                  <c:v>6350</c:v>
                </c:pt>
                <c:pt idx="113">
                  <c:v>6350</c:v>
                </c:pt>
                <c:pt idx="114">
                  <c:v>6350</c:v>
                </c:pt>
                <c:pt idx="115">
                  <c:v>6350</c:v>
                </c:pt>
                <c:pt idx="116">
                  <c:v>6350</c:v>
                </c:pt>
                <c:pt idx="117">
                  <c:v>6350</c:v>
                </c:pt>
                <c:pt idx="118">
                  <c:v>6350</c:v>
                </c:pt>
                <c:pt idx="119">
                  <c:v>6350</c:v>
                </c:pt>
                <c:pt idx="120">
                  <c:v>6350</c:v>
                </c:pt>
                <c:pt idx="121">
                  <c:v>6350</c:v>
                </c:pt>
                <c:pt idx="122">
                  <c:v>6350</c:v>
                </c:pt>
                <c:pt idx="123">
                  <c:v>6350</c:v>
                </c:pt>
                <c:pt idx="124">
                  <c:v>6350</c:v>
                </c:pt>
                <c:pt idx="125">
                  <c:v>6350</c:v>
                </c:pt>
                <c:pt idx="126">
                  <c:v>6350</c:v>
                </c:pt>
                <c:pt idx="127">
                  <c:v>6350</c:v>
                </c:pt>
                <c:pt idx="128">
                  <c:v>6350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41275</c:v>
                </c:pt>
                <c:pt idx="164">
                  <c:v>41275</c:v>
                </c:pt>
                <c:pt idx="165">
                  <c:v>41275</c:v>
                </c:pt>
                <c:pt idx="166">
                  <c:v>41275</c:v>
                </c:pt>
                <c:pt idx="167">
                  <c:v>41275</c:v>
                </c:pt>
                <c:pt idx="168">
                  <c:v>41275</c:v>
                </c:pt>
                <c:pt idx="169">
                  <c:v>41275</c:v>
                </c:pt>
                <c:pt idx="170">
                  <c:v>41275</c:v>
                </c:pt>
                <c:pt idx="171">
                  <c:v>41275</c:v>
                </c:pt>
                <c:pt idx="172">
                  <c:v>41275</c:v>
                </c:pt>
                <c:pt idx="173">
                  <c:v>41275</c:v>
                </c:pt>
                <c:pt idx="174">
                  <c:v>41275</c:v>
                </c:pt>
                <c:pt idx="175">
                  <c:v>41275</c:v>
                </c:pt>
                <c:pt idx="176">
                  <c:v>41275</c:v>
                </c:pt>
                <c:pt idx="177">
                  <c:v>41275</c:v>
                </c:pt>
                <c:pt idx="178">
                  <c:v>41275</c:v>
                </c:pt>
                <c:pt idx="179">
                  <c:v>41275</c:v>
                </c:pt>
                <c:pt idx="180">
                  <c:v>41275</c:v>
                </c:pt>
                <c:pt idx="181">
                  <c:v>41275</c:v>
                </c:pt>
                <c:pt idx="182">
                  <c:v>41275</c:v>
                </c:pt>
                <c:pt idx="183">
                  <c:v>41275</c:v>
                </c:pt>
                <c:pt idx="184">
                  <c:v>41275</c:v>
                </c:pt>
                <c:pt idx="185">
                  <c:v>41275</c:v>
                </c:pt>
                <c:pt idx="186">
                  <c:v>41275</c:v>
                </c:pt>
                <c:pt idx="187">
                  <c:v>41275</c:v>
                </c:pt>
                <c:pt idx="188">
                  <c:v>41275</c:v>
                </c:pt>
                <c:pt idx="189">
                  <c:v>41275</c:v>
                </c:pt>
                <c:pt idx="190">
                  <c:v>41275</c:v>
                </c:pt>
                <c:pt idx="191">
                  <c:v>41275</c:v>
                </c:pt>
                <c:pt idx="192">
                  <c:v>41275</c:v>
                </c:pt>
                <c:pt idx="193">
                  <c:v>41275</c:v>
                </c:pt>
                <c:pt idx="194">
                  <c:v>41275</c:v>
                </c:pt>
                <c:pt idx="195">
                  <c:v>41275</c:v>
                </c:pt>
                <c:pt idx="196">
                  <c:v>41275</c:v>
                </c:pt>
                <c:pt idx="197">
                  <c:v>41275</c:v>
                </c:pt>
                <c:pt idx="198">
                  <c:v>41275</c:v>
                </c:pt>
                <c:pt idx="199">
                  <c:v>41275</c:v>
                </c:pt>
              </c:numCache>
            </c:numRef>
          </c:val>
        </c:ser>
        <c:gapWidth val="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05"/>
      </c:valAx>
    </c:plotArea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33"/>
          <c:y val="0.0187"/>
          <c:w val="0.9155"/>
          <c:h val="0.944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NSY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Sheet1!$B$2:$B$2</c:f>
              <c:numCache>
                <c:formatCode>0"%"</c:formatCode>
                <c:ptCount val="1"/>
                <c:pt idx="0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1B4B Private avails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Sheet1!$C$2:$C$2</c:f>
              <c:numCache>
                <c:formatCode>0"%"</c:formatCode>
                <c:ptCount val="1"/>
                <c:pt idx="0">
                  <c:v>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OPN LI 1000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Sheet1!$D$2:$D$2</c:f>
              <c:numCache>
                <c:formatCode>0"%"</c:formatCode>
                <c:ptCount val="1"/>
                <c:pt idx="0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SCN LI 2086 RCOH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Sheet1!$E$2:$E$2</c:f>
              <c:numCache>
                <c:formatCode>0"%"</c:formatCode>
                <c:ptCount val="1"/>
                <c:pt idx="0">
                  <c:v>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MSC M&amp;R</c:v>
                </c:pt>
              </c:strCache>
            </c:strRef>
          </c:tx>
          <c:spPr>
            <a:solidFill>
              <a:srgbClr val="AFC2CC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Sheet1!$F$2:$F$2</c:f>
              <c:numCache>
                <c:formatCode>0"%"</c:formatCode>
                <c:ptCount val="1"/>
                <c:pt idx="0">
                  <c:v>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USCG ISVS</c:v>
                </c:pt>
              </c:strCache>
            </c:strRef>
          </c:tx>
          <c:spPr>
            <a:solidFill>
              <a:srgbClr val="D8E3EB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Sheet1!$A$2:$A$2</c:f>
              <c:strCache>
                <c:ptCount val="1"/>
                <c:pt idx="0">
                  <c:v>Total FY2025</c:v>
                </c:pt>
              </c:strCache>
            </c:strRef>
          </c:cat>
          <c:val>
            <c:numRef>
              <c:f>Sheet1!$G$2:$G$2</c:f>
              <c:numCache>
                <c:formatCode>0"%"</c:formatCode>
                <c:ptCount val="1"/>
                <c:pt idx="0">
                  <c:v>1</c:v>
                </c:pt>
              </c:numCache>
            </c:numRef>
          </c:val>
        </c:ser>
        <c:gapWidth val="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0"/>
          <c:min val="0"/>
        </c:scaling>
        <c:delete val="0"/>
        <c:axPos val="l"/>
        <c:numFmt formatCode="0&quot;%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34766552360855"/>
          <c:y val="8.3844580777096112E-2"/>
          <c:w val="0.88393563703508304"/>
          <c:h val="0.858077709611451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889-4652-A221-0D928A583B09}"/>
              </c:ext>
            </c:extLst>
          </c:dPt>
          <c:dLbls>
            <c:dLbl>
              <c:idx val="0"/>
              <c:layout>
                <c:manualLayout>
                  <c:x val="0"/>
                  <c:y val="-0.454805725971370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889-4652-A221-0D928A583B09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889-4652-A221-0D928A583B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16995.944</c:v>
                </c:pt>
                <c:pt idx="1">
                  <c:v>9511.107</c:v>
                </c:pt>
                <c:pt idx="2">
                  <c:v>9511.107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89-4652-A221-0D928A583B09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j-lt"/>
                      <a:ea typeface="+mj-ea"/>
                      <a:cs typeface="+mj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889-4652-A221-0D928A583B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7484.8369999999995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89-4652-A221-0D928A583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50002512"/>
        <c:axId val="1"/>
      </c:barChart>
      <c:catAx>
        <c:axId val="8500025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7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pPr>
            <a:endParaRPr lang="en-US"/>
          </a:p>
        </c:txPr>
        <c:crossAx val="850002512"/>
        <c:crosses val="min"/>
        <c:crossBetween val="between"/>
        <c:majorUnit val="1000"/>
      </c:valAx>
    </c:plotArea>
    <c:plotVisOnly val="0"/>
    <c:dispBlanksAs val="gap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502"/>
          <c:y val="0.0153"/>
          <c:w val="0.9429"/>
          <c:h val="0.966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Depot Ship Repair</c:v>
                </c:pt>
              </c:strCache>
            </c:strRef>
          </c:tx>
          <c:spPr>
            <a:solidFill>
              <a:srgbClr val="79838F"/>
            </a:solidFill>
            <a:ln>
              <a:noFill/>
            </a:ln>
          </c:spPr>
          <c:invertIfNegative val="0"/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Sheet1!$B$2:$B$201</c:f>
              <c:numCache>
                <c:formatCode>0%</c:formatCode>
                <c:ptCount val="200"/>
                <c:pt idx="0">
                  <c:v>3003550</c:v>
                </c:pt>
                <c:pt idx="1">
                  <c:v>3003550</c:v>
                </c:pt>
                <c:pt idx="2">
                  <c:v>3003550</c:v>
                </c:pt>
                <c:pt idx="3">
                  <c:v>3003550</c:v>
                </c:pt>
                <c:pt idx="4">
                  <c:v>3003550</c:v>
                </c:pt>
                <c:pt idx="5">
                  <c:v>3003550</c:v>
                </c:pt>
                <c:pt idx="6">
                  <c:v>3003550</c:v>
                </c:pt>
                <c:pt idx="7">
                  <c:v>3003550</c:v>
                </c:pt>
                <c:pt idx="8">
                  <c:v>3003550</c:v>
                </c:pt>
                <c:pt idx="9">
                  <c:v>3003550</c:v>
                </c:pt>
                <c:pt idx="10">
                  <c:v>3003550</c:v>
                </c:pt>
                <c:pt idx="11">
                  <c:v>3003550</c:v>
                </c:pt>
                <c:pt idx="12">
                  <c:v>3003550</c:v>
                </c:pt>
                <c:pt idx="13">
                  <c:v>3003550</c:v>
                </c:pt>
                <c:pt idx="14">
                  <c:v>3003550</c:v>
                </c:pt>
                <c:pt idx="15">
                  <c:v>3003550</c:v>
                </c:pt>
                <c:pt idx="16">
                  <c:v>3003550</c:v>
                </c:pt>
                <c:pt idx="17">
                  <c:v>3003550</c:v>
                </c:pt>
                <c:pt idx="18">
                  <c:v>3003550</c:v>
                </c:pt>
                <c:pt idx="19">
                  <c:v>3003550</c:v>
                </c:pt>
                <c:pt idx="20">
                  <c:v>3003550</c:v>
                </c:pt>
                <c:pt idx="21">
                  <c:v>3003550</c:v>
                </c:pt>
                <c:pt idx="22">
                  <c:v>3003550</c:v>
                </c:pt>
                <c:pt idx="23">
                  <c:v>3003550</c:v>
                </c:pt>
                <c:pt idx="24">
                  <c:v>3003550</c:v>
                </c:pt>
                <c:pt idx="25">
                  <c:v>3003550</c:v>
                </c:pt>
                <c:pt idx="26">
                  <c:v>3003550</c:v>
                </c:pt>
                <c:pt idx="27">
                  <c:v>3003550</c:v>
                </c:pt>
                <c:pt idx="28">
                  <c:v>3003550</c:v>
                </c:pt>
                <c:pt idx="29">
                  <c:v>3003550</c:v>
                </c:pt>
                <c:pt idx="30">
                  <c:v>3003550</c:v>
                </c:pt>
                <c:pt idx="31">
                  <c:v>3003550</c:v>
                </c:pt>
                <c:pt idx="32">
                  <c:v>3003550</c:v>
                </c:pt>
                <c:pt idx="33">
                  <c:v>3003550</c:v>
                </c:pt>
                <c:pt idx="34">
                  <c:v>3003550</c:v>
                </c:pt>
                <c:pt idx="35">
                  <c:v>3003550</c:v>
                </c:pt>
                <c:pt idx="36">
                  <c:v>3003550</c:v>
                </c:pt>
                <c:pt idx="37">
                  <c:v>3003550</c:v>
                </c:pt>
                <c:pt idx="38">
                  <c:v>3003550</c:v>
                </c:pt>
                <c:pt idx="39">
                  <c:v>3003550</c:v>
                </c:pt>
                <c:pt idx="40">
                  <c:v>3003550</c:v>
                </c:pt>
                <c:pt idx="41">
                  <c:v>3003550</c:v>
                </c:pt>
                <c:pt idx="42">
                  <c:v>3003550</c:v>
                </c:pt>
                <c:pt idx="43">
                  <c:v>3003550</c:v>
                </c:pt>
                <c:pt idx="44">
                  <c:v>3003550</c:v>
                </c:pt>
                <c:pt idx="45">
                  <c:v>3003550</c:v>
                </c:pt>
                <c:pt idx="46">
                  <c:v>3003550</c:v>
                </c:pt>
                <c:pt idx="47">
                  <c:v>3003550</c:v>
                </c:pt>
                <c:pt idx="48">
                  <c:v>3003550</c:v>
                </c:pt>
                <c:pt idx="49">
                  <c:v>3003550</c:v>
                </c:pt>
                <c:pt idx="50">
                  <c:v>3003550</c:v>
                </c:pt>
                <c:pt idx="51">
                  <c:v>3003550</c:v>
                </c:pt>
                <c:pt idx="52">
                  <c:v>3003550</c:v>
                </c:pt>
                <c:pt idx="53">
                  <c:v>3003550</c:v>
                </c:pt>
                <c:pt idx="54">
                  <c:v>3003550</c:v>
                </c:pt>
                <c:pt idx="55">
                  <c:v>3003550</c:v>
                </c:pt>
                <c:pt idx="56">
                  <c:v>3003550</c:v>
                </c:pt>
                <c:pt idx="57">
                  <c:v>3003550</c:v>
                </c:pt>
                <c:pt idx="58">
                  <c:v>3003550</c:v>
                </c:pt>
                <c:pt idx="59">
                  <c:v>3003550</c:v>
                </c:pt>
                <c:pt idx="60">
                  <c:v>3003550</c:v>
                </c:pt>
                <c:pt idx="61">
                  <c:v>3003550</c:v>
                </c:pt>
                <c:pt idx="62">
                  <c:v>3003550</c:v>
                </c:pt>
                <c:pt idx="63">
                  <c:v>3003550</c:v>
                </c:pt>
                <c:pt idx="64">
                  <c:v>3003550</c:v>
                </c:pt>
                <c:pt idx="65">
                  <c:v>3003550</c:v>
                </c:pt>
                <c:pt idx="66">
                  <c:v>3003550</c:v>
                </c:pt>
                <c:pt idx="67">
                  <c:v>3003550</c:v>
                </c:pt>
                <c:pt idx="68">
                  <c:v>3003550</c:v>
                </c:pt>
                <c:pt idx="69">
                  <c:v>3003550</c:v>
                </c:pt>
                <c:pt idx="70">
                  <c:v>3003550</c:v>
                </c:pt>
                <c:pt idx="71">
                  <c:v>3003550</c:v>
                </c:pt>
                <c:pt idx="72">
                  <c:v>3003550</c:v>
                </c:pt>
                <c:pt idx="73">
                  <c:v>3003550</c:v>
                </c:pt>
                <c:pt idx="74">
                  <c:v>3003550</c:v>
                </c:pt>
                <c:pt idx="75">
                  <c:v>3003550</c:v>
                </c:pt>
                <c:pt idx="76">
                  <c:v>3003550</c:v>
                </c:pt>
                <c:pt idx="77">
                  <c:v>3003550</c:v>
                </c:pt>
                <c:pt idx="78">
                  <c:v>3003550</c:v>
                </c:pt>
                <c:pt idx="79">
                  <c:v>3003550</c:v>
                </c:pt>
                <c:pt idx="80">
                  <c:v>3003550</c:v>
                </c:pt>
                <c:pt idx="81">
                  <c:v>3003550</c:v>
                </c:pt>
                <c:pt idx="82">
                  <c:v>3003550</c:v>
                </c:pt>
                <c:pt idx="83">
                  <c:v>3003550</c:v>
                </c:pt>
                <c:pt idx="84">
                  <c:v>3003550</c:v>
                </c:pt>
                <c:pt idx="85">
                  <c:v>3003550</c:v>
                </c:pt>
                <c:pt idx="86">
                  <c:v>3003550</c:v>
                </c:pt>
                <c:pt idx="87">
                  <c:v>3003550</c:v>
                </c:pt>
                <c:pt idx="88">
                  <c:v>3003550</c:v>
                </c:pt>
                <c:pt idx="89">
                  <c:v>3003550</c:v>
                </c:pt>
                <c:pt idx="90">
                  <c:v>3003550</c:v>
                </c:pt>
                <c:pt idx="91">
                  <c:v>3003550</c:v>
                </c:pt>
                <c:pt idx="92">
                  <c:v>3003550</c:v>
                </c:pt>
                <c:pt idx="93">
                  <c:v>3003550</c:v>
                </c:pt>
                <c:pt idx="94">
                  <c:v>3003550</c:v>
                </c:pt>
                <c:pt idx="95">
                  <c:v>3003550</c:v>
                </c:pt>
                <c:pt idx="96">
                  <c:v>3003550</c:v>
                </c:pt>
                <c:pt idx="97">
                  <c:v>3003550</c:v>
                </c:pt>
                <c:pt idx="98">
                  <c:v>3003550</c:v>
                </c:pt>
                <c:pt idx="99">
                  <c:v>3003550</c:v>
                </c:pt>
                <c:pt idx="100">
                  <c:v>3003550</c:v>
                </c:pt>
                <c:pt idx="101">
                  <c:v>3003550</c:v>
                </c:pt>
                <c:pt idx="102">
                  <c:v>3003550</c:v>
                </c:pt>
                <c:pt idx="103">
                  <c:v>2901950</c:v>
                </c:pt>
                <c:pt idx="104">
                  <c:v>2901950</c:v>
                </c:pt>
                <c:pt idx="105">
                  <c:v>2901950</c:v>
                </c:pt>
                <c:pt idx="106">
                  <c:v>2901950</c:v>
                </c:pt>
                <c:pt idx="107">
                  <c:v>2901950</c:v>
                </c:pt>
                <c:pt idx="108">
                  <c:v>2901950</c:v>
                </c:pt>
                <c:pt idx="109">
                  <c:v>2901950</c:v>
                </c:pt>
                <c:pt idx="110">
                  <c:v>2901950</c:v>
                </c:pt>
                <c:pt idx="111">
                  <c:v>2901950</c:v>
                </c:pt>
                <c:pt idx="112">
                  <c:v>2901950</c:v>
                </c:pt>
                <c:pt idx="113">
                  <c:v>2901950</c:v>
                </c:pt>
                <c:pt idx="114">
                  <c:v>2901950</c:v>
                </c:pt>
                <c:pt idx="115">
                  <c:v>2901950</c:v>
                </c:pt>
                <c:pt idx="116">
                  <c:v>2901950</c:v>
                </c:pt>
                <c:pt idx="117">
                  <c:v>2901950</c:v>
                </c:pt>
                <c:pt idx="118">
                  <c:v>2901950</c:v>
                </c:pt>
                <c:pt idx="119">
                  <c:v>2901950</c:v>
                </c:pt>
                <c:pt idx="120">
                  <c:v>2901950</c:v>
                </c:pt>
                <c:pt idx="121">
                  <c:v>2901950</c:v>
                </c:pt>
                <c:pt idx="122">
                  <c:v>2901950</c:v>
                </c:pt>
                <c:pt idx="123">
                  <c:v>2901950</c:v>
                </c:pt>
                <c:pt idx="124">
                  <c:v>2901950</c:v>
                </c:pt>
                <c:pt idx="125">
                  <c:v>2901950</c:v>
                </c:pt>
                <c:pt idx="126">
                  <c:v>2901950</c:v>
                </c:pt>
                <c:pt idx="127">
                  <c:v>2901950</c:v>
                </c:pt>
                <c:pt idx="128">
                  <c:v>2901950</c:v>
                </c:pt>
                <c:pt idx="129">
                  <c:v>2901950</c:v>
                </c:pt>
                <c:pt idx="130">
                  <c:v>2901950</c:v>
                </c:pt>
                <c:pt idx="131">
                  <c:v>2901950</c:v>
                </c:pt>
                <c:pt idx="132">
                  <c:v>2901950</c:v>
                </c:pt>
                <c:pt idx="133">
                  <c:v>2901950</c:v>
                </c:pt>
                <c:pt idx="134">
                  <c:v>2901950</c:v>
                </c:pt>
                <c:pt idx="135">
                  <c:v>2901950</c:v>
                </c:pt>
                <c:pt idx="136">
                  <c:v>2901950</c:v>
                </c:pt>
                <c:pt idx="137">
                  <c:v>2901950</c:v>
                </c:pt>
                <c:pt idx="138">
                  <c:v>2901950</c:v>
                </c:pt>
                <c:pt idx="139">
                  <c:v>2901950</c:v>
                </c:pt>
                <c:pt idx="140">
                  <c:v>2901950</c:v>
                </c:pt>
                <c:pt idx="141">
                  <c:v>2901950</c:v>
                </c:pt>
                <c:pt idx="142">
                  <c:v>2901950</c:v>
                </c:pt>
                <c:pt idx="143">
                  <c:v>2901950</c:v>
                </c:pt>
                <c:pt idx="144">
                  <c:v>2901950</c:v>
                </c:pt>
                <c:pt idx="145">
                  <c:v>2901950</c:v>
                </c:pt>
                <c:pt idx="146">
                  <c:v>2901950</c:v>
                </c:pt>
                <c:pt idx="147">
                  <c:v>2901950</c:v>
                </c:pt>
                <c:pt idx="148">
                  <c:v>2901950</c:v>
                </c:pt>
                <c:pt idx="149">
                  <c:v>2901950</c:v>
                </c:pt>
                <c:pt idx="150">
                  <c:v>2901950</c:v>
                </c:pt>
                <c:pt idx="151">
                  <c:v>2901950</c:v>
                </c:pt>
                <c:pt idx="152">
                  <c:v>2901950</c:v>
                </c:pt>
                <c:pt idx="153">
                  <c:v>2901950</c:v>
                </c:pt>
                <c:pt idx="154">
                  <c:v>2901950</c:v>
                </c:pt>
                <c:pt idx="155">
                  <c:v>2901950</c:v>
                </c:pt>
                <c:pt idx="156">
                  <c:v>2901950</c:v>
                </c:pt>
                <c:pt idx="157">
                  <c:v>2901950</c:v>
                </c:pt>
                <c:pt idx="158">
                  <c:v>2901950</c:v>
                </c:pt>
                <c:pt idx="159">
                  <c:v>2463800</c:v>
                </c:pt>
                <c:pt idx="160">
                  <c:v>2463800</c:v>
                </c:pt>
                <c:pt idx="161">
                  <c:v>2463800</c:v>
                </c:pt>
                <c:pt idx="162">
                  <c:v>2463800</c:v>
                </c:pt>
                <c:pt idx="163">
                  <c:v>2463800</c:v>
                </c:pt>
                <c:pt idx="164">
                  <c:v>2463800</c:v>
                </c:pt>
                <c:pt idx="165">
                  <c:v>2463800</c:v>
                </c:pt>
                <c:pt idx="166">
                  <c:v>2463800</c:v>
                </c:pt>
                <c:pt idx="167">
                  <c:v>2463800</c:v>
                </c:pt>
                <c:pt idx="168">
                  <c:v>2463800</c:v>
                </c:pt>
                <c:pt idx="169">
                  <c:v>2463800</c:v>
                </c:pt>
                <c:pt idx="170">
                  <c:v>2463800</c:v>
                </c:pt>
                <c:pt idx="171">
                  <c:v>2463800</c:v>
                </c:pt>
                <c:pt idx="172">
                  <c:v>2463800</c:v>
                </c:pt>
                <c:pt idx="173">
                  <c:v>2463800</c:v>
                </c:pt>
                <c:pt idx="174">
                  <c:v>2463800</c:v>
                </c:pt>
                <c:pt idx="175">
                  <c:v>2960688</c:v>
                </c:pt>
                <c:pt idx="176">
                  <c:v>2960688</c:v>
                </c:pt>
                <c:pt idx="177">
                  <c:v>2960688</c:v>
                </c:pt>
                <c:pt idx="178">
                  <c:v>2960688</c:v>
                </c:pt>
                <c:pt idx="179">
                  <c:v>2960688</c:v>
                </c:pt>
                <c:pt idx="180">
                  <c:v>2960688</c:v>
                </c:pt>
                <c:pt idx="181">
                  <c:v>2960688</c:v>
                </c:pt>
                <c:pt idx="182">
                  <c:v>2960688</c:v>
                </c:pt>
                <c:pt idx="183">
                  <c:v>2960688</c:v>
                </c:pt>
                <c:pt idx="184">
                  <c:v>2960688</c:v>
                </c:pt>
                <c:pt idx="185">
                  <c:v>2960688</c:v>
                </c:pt>
                <c:pt idx="186">
                  <c:v>2960688</c:v>
                </c:pt>
                <c:pt idx="187">
                  <c:v>2960688</c:v>
                </c:pt>
                <c:pt idx="188">
                  <c:v>2960688</c:v>
                </c:pt>
                <c:pt idx="189">
                  <c:v>2960688</c:v>
                </c:pt>
                <c:pt idx="190">
                  <c:v>2960688</c:v>
                </c:pt>
                <c:pt idx="191">
                  <c:v>3451225</c:v>
                </c:pt>
                <c:pt idx="192">
                  <c:v>3451225</c:v>
                </c:pt>
                <c:pt idx="193">
                  <c:v>3451225</c:v>
                </c:pt>
                <c:pt idx="194">
                  <c:v>3451225</c:v>
                </c:pt>
                <c:pt idx="195">
                  <c:v>3451225</c:v>
                </c:pt>
                <c:pt idx="196">
                  <c:v>3451225</c:v>
                </c:pt>
                <c:pt idx="197">
                  <c:v>3451225</c:v>
                </c:pt>
                <c:pt idx="198">
                  <c:v>3451225</c:v>
                </c:pt>
                <c:pt idx="199">
                  <c:v>3451225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 &amp; Technical Services</c:v>
                </c:pt>
              </c:strCache>
            </c:strRef>
          </c:tx>
          <c:spPr>
            <a:solidFill>
              <a:srgbClr val="486D82"/>
            </a:solidFill>
            <a:ln>
              <a:noFill/>
            </a:ln>
          </c:spPr>
          <c:invertIfNegative val="0"/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Sheet1!$C$2:$C$201</c:f>
              <c:numCache>
                <c:formatCode>0%</c:formatCode>
                <c:ptCount val="200"/>
                <c:pt idx="0">
                  <c:v>381000</c:v>
                </c:pt>
                <c:pt idx="1">
                  <c:v>381000</c:v>
                </c:pt>
                <c:pt idx="2">
                  <c:v>381000</c:v>
                </c:pt>
                <c:pt idx="3">
                  <c:v>381000</c:v>
                </c:pt>
                <c:pt idx="4">
                  <c:v>381000</c:v>
                </c:pt>
                <c:pt idx="5">
                  <c:v>381000</c:v>
                </c:pt>
                <c:pt idx="6">
                  <c:v>381000</c:v>
                </c:pt>
                <c:pt idx="7">
                  <c:v>381000</c:v>
                </c:pt>
                <c:pt idx="8">
                  <c:v>381000</c:v>
                </c:pt>
                <c:pt idx="9">
                  <c:v>381000</c:v>
                </c:pt>
                <c:pt idx="10">
                  <c:v>381000</c:v>
                </c:pt>
                <c:pt idx="11">
                  <c:v>381000</c:v>
                </c:pt>
                <c:pt idx="12">
                  <c:v>381000</c:v>
                </c:pt>
                <c:pt idx="13">
                  <c:v>381000</c:v>
                </c:pt>
                <c:pt idx="14">
                  <c:v>381000</c:v>
                </c:pt>
                <c:pt idx="15">
                  <c:v>381000</c:v>
                </c:pt>
                <c:pt idx="16">
                  <c:v>381000</c:v>
                </c:pt>
                <c:pt idx="17">
                  <c:v>381000</c:v>
                </c:pt>
                <c:pt idx="18">
                  <c:v>381000</c:v>
                </c:pt>
                <c:pt idx="19">
                  <c:v>381000</c:v>
                </c:pt>
                <c:pt idx="20">
                  <c:v>381000</c:v>
                </c:pt>
                <c:pt idx="21">
                  <c:v>381000</c:v>
                </c:pt>
                <c:pt idx="22">
                  <c:v>381000</c:v>
                </c:pt>
                <c:pt idx="23">
                  <c:v>381000</c:v>
                </c:pt>
                <c:pt idx="24">
                  <c:v>381000</c:v>
                </c:pt>
                <c:pt idx="25">
                  <c:v>381000</c:v>
                </c:pt>
                <c:pt idx="26">
                  <c:v>381000</c:v>
                </c:pt>
                <c:pt idx="27">
                  <c:v>381000</c:v>
                </c:pt>
                <c:pt idx="28">
                  <c:v>381000</c:v>
                </c:pt>
                <c:pt idx="29">
                  <c:v>381000</c:v>
                </c:pt>
                <c:pt idx="30">
                  <c:v>381000</c:v>
                </c:pt>
                <c:pt idx="31">
                  <c:v>381000</c:v>
                </c:pt>
                <c:pt idx="32">
                  <c:v>381000</c:v>
                </c:pt>
                <c:pt idx="33">
                  <c:v>381000</c:v>
                </c:pt>
                <c:pt idx="34">
                  <c:v>381000</c:v>
                </c:pt>
                <c:pt idx="35">
                  <c:v>381000</c:v>
                </c:pt>
                <c:pt idx="36">
                  <c:v>381000</c:v>
                </c:pt>
                <c:pt idx="37">
                  <c:v>381000</c:v>
                </c:pt>
                <c:pt idx="38">
                  <c:v>381000</c:v>
                </c:pt>
                <c:pt idx="39">
                  <c:v>381000</c:v>
                </c:pt>
                <c:pt idx="40">
                  <c:v>381000</c:v>
                </c:pt>
                <c:pt idx="41">
                  <c:v>381000</c:v>
                </c:pt>
                <c:pt idx="42">
                  <c:v>381000</c:v>
                </c:pt>
                <c:pt idx="43">
                  <c:v>381000</c:v>
                </c:pt>
                <c:pt idx="44">
                  <c:v>381000</c:v>
                </c:pt>
                <c:pt idx="45">
                  <c:v>381000</c:v>
                </c:pt>
                <c:pt idx="46">
                  <c:v>381000</c:v>
                </c:pt>
                <c:pt idx="47">
                  <c:v>381000</c:v>
                </c:pt>
                <c:pt idx="48">
                  <c:v>381000</c:v>
                </c:pt>
                <c:pt idx="49">
                  <c:v>381000</c:v>
                </c:pt>
                <c:pt idx="50">
                  <c:v>381000</c:v>
                </c:pt>
                <c:pt idx="51">
                  <c:v>381000</c:v>
                </c:pt>
                <c:pt idx="52">
                  <c:v>381000</c:v>
                </c:pt>
                <c:pt idx="53">
                  <c:v>381000</c:v>
                </c:pt>
                <c:pt idx="54">
                  <c:v>381000</c:v>
                </c:pt>
                <c:pt idx="55">
                  <c:v>381000</c:v>
                </c:pt>
                <c:pt idx="56">
                  <c:v>381000</c:v>
                </c:pt>
                <c:pt idx="57">
                  <c:v>381000</c:v>
                </c:pt>
                <c:pt idx="58">
                  <c:v>381000</c:v>
                </c:pt>
                <c:pt idx="59">
                  <c:v>381000</c:v>
                </c:pt>
                <c:pt idx="60">
                  <c:v>381000</c:v>
                </c:pt>
                <c:pt idx="61">
                  <c:v>381000</c:v>
                </c:pt>
                <c:pt idx="62">
                  <c:v>381000</c:v>
                </c:pt>
                <c:pt idx="63">
                  <c:v>381000</c:v>
                </c:pt>
                <c:pt idx="64">
                  <c:v>381000</c:v>
                </c:pt>
                <c:pt idx="65">
                  <c:v>381000</c:v>
                </c:pt>
                <c:pt idx="66">
                  <c:v>381000</c:v>
                </c:pt>
                <c:pt idx="67">
                  <c:v>381000</c:v>
                </c:pt>
                <c:pt idx="68">
                  <c:v>381000</c:v>
                </c:pt>
                <c:pt idx="69">
                  <c:v>381000</c:v>
                </c:pt>
                <c:pt idx="70">
                  <c:v>381000</c:v>
                </c:pt>
                <c:pt idx="71">
                  <c:v>381000</c:v>
                </c:pt>
                <c:pt idx="72">
                  <c:v>381000</c:v>
                </c:pt>
                <c:pt idx="73">
                  <c:v>381000</c:v>
                </c:pt>
                <c:pt idx="74">
                  <c:v>381000</c:v>
                </c:pt>
                <c:pt idx="75">
                  <c:v>381000</c:v>
                </c:pt>
                <c:pt idx="76">
                  <c:v>381000</c:v>
                </c:pt>
                <c:pt idx="77">
                  <c:v>381000</c:v>
                </c:pt>
                <c:pt idx="78">
                  <c:v>381000</c:v>
                </c:pt>
                <c:pt idx="79">
                  <c:v>381000</c:v>
                </c:pt>
                <c:pt idx="80">
                  <c:v>381000</c:v>
                </c:pt>
                <c:pt idx="81">
                  <c:v>381000</c:v>
                </c:pt>
                <c:pt idx="82">
                  <c:v>381000</c:v>
                </c:pt>
                <c:pt idx="83">
                  <c:v>381000</c:v>
                </c:pt>
                <c:pt idx="84">
                  <c:v>381000</c:v>
                </c:pt>
                <c:pt idx="85">
                  <c:v>381000</c:v>
                </c:pt>
                <c:pt idx="86">
                  <c:v>381000</c:v>
                </c:pt>
                <c:pt idx="87">
                  <c:v>381000</c:v>
                </c:pt>
                <c:pt idx="88">
                  <c:v>381000</c:v>
                </c:pt>
                <c:pt idx="89">
                  <c:v>381000</c:v>
                </c:pt>
                <c:pt idx="90">
                  <c:v>381000</c:v>
                </c:pt>
                <c:pt idx="91">
                  <c:v>381000</c:v>
                </c:pt>
                <c:pt idx="92">
                  <c:v>381000</c:v>
                </c:pt>
                <c:pt idx="93">
                  <c:v>381000</c:v>
                </c:pt>
                <c:pt idx="94">
                  <c:v>381000</c:v>
                </c:pt>
                <c:pt idx="95">
                  <c:v>381000</c:v>
                </c:pt>
                <c:pt idx="96">
                  <c:v>381000</c:v>
                </c:pt>
                <c:pt idx="97">
                  <c:v>381000</c:v>
                </c:pt>
                <c:pt idx="98">
                  <c:v>381000</c:v>
                </c:pt>
                <c:pt idx="99">
                  <c:v>381000</c:v>
                </c:pt>
                <c:pt idx="100">
                  <c:v>381000</c:v>
                </c:pt>
                <c:pt idx="101">
                  <c:v>381000</c:v>
                </c:pt>
                <c:pt idx="102">
                  <c:v>381000</c:v>
                </c:pt>
                <c:pt idx="103">
                  <c:v>606425</c:v>
                </c:pt>
                <c:pt idx="104">
                  <c:v>606425</c:v>
                </c:pt>
                <c:pt idx="105">
                  <c:v>606425</c:v>
                </c:pt>
                <c:pt idx="106">
                  <c:v>606425</c:v>
                </c:pt>
                <c:pt idx="107">
                  <c:v>606425</c:v>
                </c:pt>
                <c:pt idx="108">
                  <c:v>606425</c:v>
                </c:pt>
                <c:pt idx="109">
                  <c:v>606425</c:v>
                </c:pt>
                <c:pt idx="110">
                  <c:v>606425</c:v>
                </c:pt>
                <c:pt idx="111">
                  <c:v>606425</c:v>
                </c:pt>
                <c:pt idx="112">
                  <c:v>606425</c:v>
                </c:pt>
                <c:pt idx="113">
                  <c:v>606425</c:v>
                </c:pt>
                <c:pt idx="114">
                  <c:v>606425</c:v>
                </c:pt>
                <c:pt idx="115">
                  <c:v>606425</c:v>
                </c:pt>
                <c:pt idx="116">
                  <c:v>606425</c:v>
                </c:pt>
                <c:pt idx="117">
                  <c:v>606425</c:v>
                </c:pt>
                <c:pt idx="118">
                  <c:v>606425</c:v>
                </c:pt>
                <c:pt idx="119">
                  <c:v>606425</c:v>
                </c:pt>
                <c:pt idx="120">
                  <c:v>606425</c:v>
                </c:pt>
                <c:pt idx="121">
                  <c:v>606425</c:v>
                </c:pt>
                <c:pt idx="122">
                  <c:v>606425</c:v>
                </c:pt>
                <c:pt idx="123">
                  <c:v>606425</c:v>
                </c:pt>
                <c:pt idx="124">
                  <c:v>606425</c:v>
                </c:pt>
                <c:pt idx="125">
                  <c:v>606425</c:v>
                </c:pt>
                <c:pt idx="126">
                  <c:v>606425</c:v>
                </c:pt>
                <c:pt idx="127">
                  <c:v>606425</c:v>
                </c:pt>
                <c:pt idx="128">
                  <c:v>606425</c:v>
                </c:pt>
                <c:pt idx="129">
                  <c:v>606425</c:v>
                </c:pt>
                <c:pt idx="130">
                  <c:v>606425</c:v>
                </c:pt>
                <c:pt idx="131">
                  <c:v>606425</c:v>
                </c:pt>
                <c:pt idx="132">
                  <c:v>606425</c:v>
                </c:pt>
                <c:pt idx="133">
                  <c:v>606425</c:v>
                </c:pt>
                <c:pt idx="134">
                  <c:v>606425</c:v>
                </c:pt>
                <c:pt idx="135">
                  <c:v>606425</c:v>
                </c:pt>
                <c:pt idx="136">
                  <c:v>606425</c:v>
                </c:pt>
                <c:pt idx="137">
                  <c:v>606425</c:v>
                </c:pt>
                <c:pt idx="138">
                  <c:v>606425</c:v>
                </c:pt>
                <c:pt idx="139">
                  <c:v>606425</c:v>
                </c:pt>
                <c:pt idx="140">
                  <c:v>606425</c:v>
                </c:pt>
                <c:pt idx="141">
                  <c:v>606425</c:v>
                </c:pt>
                <c:pt idx="142">
                  <c:v>606425</c:v>
                </c:pt>
                <c:pt idx="143">
                  <c:v>606425</c:v>
                </c:pt>
                <c:pt idx="144">
                  <c:v>606425</c:v>
                </c:pt>
                <c:pt idx="145">
                  <c:v>606425</c:v>
                </c:pt>
                <c:pt idx="146">
                  <c:v>606425</c:v>
                </c:pt>
                <c:pt idx="147">
                  <c:v>606425</c:v>
                </c:pt>
                <c:pt idx="148">
                  <c:v>606425</c:v>
                </c:pt>
                <c:pt idx="149">
                  <c:v>606425</c:v>
                </c:pt>
                <c:pt idx="150">
                  <c:v>606425</c:v>
                </c:pt>
                <c:pt idx="151">
                  <c:v>606425</c:v>
                </c:pt>
                <c:pt idx="152">
                  <c:v>606425</c:v>
                </c:pt>
                <c:pt idx="153">
                  <c:v>606425</c:v>
                </c:pt>
                <c:pt idx="154">
                  <c:v>606425</c:v>
                </c:pt>
                <c:pt idx="155">
                  <c:v>606425</c:v>
                </c:pt>
                <c:pt idx="156">
                  <c:v>606425</c:v>
                </c:pt>
                <c:pt idx="157">
                  <c:v>606425</c:v>
                </c:pt>
                <c:pt idx="158">
                  <c:v>606425</c:v>
                </c:pt>
                <c:pt idx="159">
                  <c:v>1111250</c:v>
                </c:pt>
                <c:pt idx="160">
                  <c:v>1111250</c:v>
                </c:pt>
                <c:pt idx="161">
                  <c:v>1111250</c:v>
                </c:pt>
                <c:pt idx="162">
                  <c:v>1111250</c:v>
                </c:pt>
                <c:pt idx="163">
                  <c:v>1111250</c:v>
                </c:pt>
                <c:pt idx="164">
                  <c:v>1111250</c:v>
                </c:pt>
                <c:pt idx="165">
                  <c:v>1111250</c:v>
                </c:pt>
                <c:pt idx="166">
                  <c:v>1111250</c:v>
                </c:pt>
                <c:pt idx="167">
                  <c:v>1111250</c:v>
                </c:pt>
                <c:pt idx="168">
                  <c:v>1111250</c:v>
                </c:pt>
                <c:pt idx="169">
                  <c:v>1111250</c:v>
                </c:pt>
                <c:pt idx="170">
                  <c:v>1111250</c:v>
                </c:pt>
                <c:pt idx="171">
                  <c:v>1111250</c:v>
                </c:pt>
                <c:pt idx="172">
                  <c:v>1111250</c:v>
                </c:pt>
                <c:pt idx="173">
                  <c:v>1111250</c:v>
                </c:pt>
                <c:pt idx="174">
                  <c:v>1111250</c:v>
                </c:pt>
                <c:pt idx="175">
                  <c:v>503238</c:v>
                </c:pt>
                <c:pt idx="176">
                  <c:v>503238</c:v>
                </c:pt>
                <c:pt idx="177">
                  <c:v>503238</c:v>
                </c:pt>
                <c:pt idx="178">
                  <c:v>503238</c:v>
                </c:pt>
                <c:pt idx="179">
                  <c:v>503238</c:v>
                </c:pt>
                <c:pt idx="180">
                  <c:v>503238</c:v>
                </c:pt>
                <c:pt idx="181">
                  <c:v>503238</c:v>
                </c:pt>
                <c:pt idx="182">
                  <c:v>503238</c:v>
                </c:pt>
                <c:pt idx="183">
                  <c:v>503238</c:v>
                </c:pt>
                <c:pt idx="184">
                  <c:v>503238</c:v>
                </c:pt>
                <c:pt idx="185">
                  <c:v>503238</c:v>
                </c:pt>
                <c:pt idx="186">
                  <c:v>503238</c:v>
                </c:pt>
                <c:pt idx="187">
                  <c:v>503238</c:v>
                </c:pt>
                <c:pt idx="188">
                  <c:v>503238</c:v>
                </c:pt>
                <c:pt idx="189">
                  <c:v>503238</c:v>
                </c:pt>
                <c:pt idx="190">
                  <c:v>503238</c:v>
                </c:pt>
                <c:pt idx="191">
                  <c:v>57150</c:v>
                </c:pt>
                <c:pt idx="192">
                  <c:v>57150</c:v>
                </c:pt>
                <c:pt idx="193">
                  <c:v>57150</c:v>
                </c:pt>
                <c:pt idx="194">
                  <c:v>57150</c:v>
                </c:pt>
                <c:pt idx="195">
                  <c:v>57150</c:v>
                </c:pt>
                <c:pt idx="196">
                  <c:v>57150</c:v>
                </c:pt>
                <c:pt idx="197">
                  <c:v>57150</c:v>
                </c:pt>
                <c:pt idx="198">
                  <c:v>57150</c:v>
                </c:pt>
                <c:pt idx="199">
                  <c:v>57150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Hull, Mechanical &amp; Electrical (HM&amp;E)</c:v>
                </c:pt>
              </c:strCache>
            </c:strRef>
          </c:tx>
          <c:spPr>
            <a:solidFill>
              <a:srgbClr val="1D4D68"/>
            </a:solidFill>
            <a:ln>
              <a:noFill/>
            </a:ln>
          </c:spPr>
          <c:invertIfNegative val="0"/>
          <c:cat>
            <c:strRef>
              <c:f>Sheet1!$A$2:$A$201</c:f>
              <c:strCache>
                <c:ptCount val="20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</c:strCache>
            </c:strRef>
          </c:cat>
          <c:val>
            <c:numRef>
              <c:f>Sheet1!$D$2:$D$201</c:f>
              <c:numCache>
                <c:formatCode>0%</c:formatCode>
                <c:ptCount val="200"/>
                <c:pt idx="0">
                  <c:v>190500</c:v>
                </c:pt>
                <c:pt idx="1">
                  <c:v>190500</c:v>
                </c:pt>
                <c:pt idx="2">
                  <c:v>190500</c:v>
                </c:pt>
                <c:pt idx="3">
                  <c:v>190500</c:v>
                </c:pt>
                <c:pt idx="4">
                  <c:v>190500</c:v>
                </c:pt>
                <c:pt idx="5">
                  <c:v>190500</c:v>
                </c:pt>
                <c:pt idx="6">
                  <c:v>190500</c:v>
                </c:pt>
                <c:pt idx="7">
                  <c:v>190500</c:v>
                </c:pt>
                <c:pt idx="8">
                  <c:v>190500</c:v>
                </c:pt>
                <c:pt idx="9">
                  <c:v>190500</c:v>
                </c:pt>
                <c:pt idx="10">
                  <c:v>190500</c:v>
                </c:pt>
                <c:pt idx="11">
                  <c:v>190500</c:v>
                </c:pt>
                <c:pt idx="12">
                  <c:v>190500</c:v>
                </c:pt>
                <c:pt idx="13">
                  <c:v>190500</c:v>
                </c:pt>
                <c:pt idx="14">
                  <c:v>190500</c:v>
                </c:pt>
                <c:pt idx="15">
                  <c:v>190500</c:v>
                </c:pt>
                <c:pt idx="16">
                  <c:v>190500</c:v>
                </c:pt>
                <c:pt idx="17">
                  <c:v>190500</c:v>
                </c:pt>
                <c:pt idx="18">
                  <c:v>190500</c:v>
                </c:pt>
                <c:pt idx="19">
                  <c:v>190500</c:v>
                </c:pt>
                <c:pt idx="20">
                  <c:v>190500</c:v>
                </c:pt>
                <c:pt idx="21">
                  <c:v>190500</c:v>
                </c:pt>
                <c:pt idx="22">
                  <c:v>190500</c:v>
                </c:pt>
                <c:pt idx="23">
                  <c:v>190500</c:v>
                </c:pt>
                <c:pt idx="24">
                  <c:v>190500</c:v>
                </c:pt>
                <c:pt idx="25">
                  <c:v>190500</c:v>
                </c:pt>
                <c:pt idx="26">
                  <c:v>190500</c:v>
                </c:pt>
                <c:pt idx="27">
                  <c:v>190500</c:v>
                </c:pt>
                <c:pt idx="28">
                  <c:v>190500</c:v>
                </c:pt>
                <c:pt idx="29">
                  <c:v>190500</c:v>
                </c:pt>
                <c:pt idx="30">
                  <c:v>190500</c:v>
                </c:pt>
                <c:pt idx="31">
                  <c:v>190500</c:v>
                </c:pt>
                <c:pt idx="32">
                  <c:v>190500</c:v>
                </c:pt>
                <c:pt idx="33">
                  <c:v>190500</c:v>
                </c:pt>
                <c:pt idx="34">
                  <c:v>190500</c:v>
                </c:pt>
                <c:pt idx="35">
                  <c:v>190500</c:v>
                </c:pt>
                <c:pt idx="36">
                  <c:v>190500</c:v>
                </c:pt>
                <c:pt idx="37">
                  <c:v>190500</c:v>
                </c:pt>
                <c:pt idx="38">
                  <c:v>190500</c:v>
                </c:pt>
                <c:pt idx="39">
                  <c:v>190500</c:v>
                </c:pt>
                <c:pt idx="40">
                  <c:v>190500</c:v>
                </c:pt>
                <c:pt idx="41">
                  <c:v>190500</c:v>
                </c:pt>
                <c:pt idx="42">
                  <c:v>190500</c:v>
                </c:pt>
                <c:pt idx="43">
                  <c:v>190500</c:v>
                </c:pt>
                <c:pt idx="44">
                  <c:v>190500</c:v>
                </c:pt>
                <c:pt idx="45">
                  <c:v>190500</c:v>
                </c:pt>
                <c:pt idx="46">
                  <c:v>190500</c:v>
                </c:pt>
                <c:pt idx="47">
                  <c:v>190500</c:v>
                </c:pt>
                <c:pt idx="48">
                  <c:v>190500</c:v>
                </c:pt>
                <c:pt idx="49">
                  <c:v>190500</c:v>
                </c:pt>
                <c:pt idx="50">
                  <c:v>190500</c:v>
                </c:pt>
                <c:pt idx="51">
                  <c:v>190500</c:v>
                </c:pt>
                <c:pt idx="52">
                  <c:v>190500</c:v>
                </c:pt>
                <c:pt idx="53">
                  <c:v>190500</c:v>
                </c:pt>
                <c:pt idx="54">
                  <c:v>190500</c:v>
                </c:pt>
                <c:pt idx="55">
                  <c:v>190500</c:v>
                </c:pt>
                <c:pt idx="56">
                  <c:v>190500</c:v>
                </c:pt>
                <c:pt idx="57">
                  <c:v>190500</c:v>
                </c:pt>
                <c:pt idx="58">
                  <c:v>190500</c:v>
                </c:pt>
                <c:pt idx="59">
                  <c:v>190500</c:v>
                </c:pt>
                <c:pt idx="60">
                  <c:v>190500</c:v>
                </c:pt>
                <c:pt idx="61">
                  <c:v>190500</c:v>
                </c:pt>
                <c:pt idx="62">
                  <c:v>190500</c:v>
                </c:pt>
                <c:pt idx="63">
                  <c:v>190500</c:v>
                </c:pt>
                <c:pt idx="64">
                  <c:v>190500</c:v>
                </c:pt>
                <c:pt idx="65">
                  <c:v>190500</c:v>
                </c:pt>
                <c:pt idx="66">
                  <c:v>190500</c:v>
                </c:pt>
                <c:pt idx="67">
                  <c:v>190500</c:v>
                </c:pt>
                <c:pt idx="68">
                  <c:v>190500</c:v>
                </c:pt>
                <c:pt idx="69">
                  <c:v>190500</c:v>
                </c:pt>
                <c:pt idx="70">
                  <c:v>190500</c:v>
                </c:pt>
                <c:pt idx="71">
                  <c:v>190500</c:v>
                </c:pt>
                <c:pt idx="72">
                  <c:v>190500</c:v>
                </c:pt>
                <c:pt idx="73">
                  <c:v>190500</c:v>
                </c:pt>
                <c:pt idx="74">
                  <c:v>190500</c:v>
                </c:pt>
                <c:pt idx="75">
                  <c:v>190500</c:v>
                </c:pt>
                <c:pt idx="76">
                  <c:v>190500</c:v>
                </c:pt>
                <c:pt idx="77">
                  <c:v>190500</c:v>
                </c:pt>
                <c:pt idx="78">
                  <c:v>190500</c:v>
                </c:pt>
                <c:pt idx="79">
                  <c:v>190500</c:v>
                </c:pt>
                <c:pt idx="80">
                  <c:v>190500</c:v>
                </c:pt>
                <c:pt idx="81">
                  <c:v>190500</c:v>
                </c:pt>
                <c:pt idx="82">
                  <c:v>190500</c:v>
                </c:pt>
                <c:pt idx="83">
                  <c:v>190500</c:v>
                </c:pt>
                <c:pt idx="84">
                  <c:v>190500</c:v>
                </c:pt>
                <c:pt idx="85">
                  <c:v>190500</c:v>
                </c:pt>
                <c:pt idx="86">
                  <c:v>190500</c:v>
                </c:pt>
                <c:pt idx="87">
                  <c:v>190500</c:v>
                </c:pt>
                <c:pt idx="88">
                  <c:v>190500</c:v>
                </c:pt>
                <c:pt idx="89">
                  <c:v>190500</c:v>
                </c:pt>
                <c:pt idx="90">
                  <c:v>190500</c:v>
                </c:pt>
                <c:pt idx="91">
                  <c:v>190500</c:v>
                </c:pt>
                <c:pt idx="92">
                  <c:v>190500</c:v>
                </c:pt>
                <c:pt idx="93">
                  <c:v>190500</c:v>
                </c:pt>
                <c:pt idx="94">
                  <c:v>190500</c:v>
                </c:pt>
                <c:pt idx="95">
                  <c:v>190500</c:v>
                </c:pt>
                <c:pt idx="96">
                  <c:v>190500</c:v>
                </c:pt>
                <c:pt idx="97">
                  <c:v>190500</c:v>
                </c:pt>
                <c:pt idx="98">
                  <c:v>190500</c:v>
                </c:pt>
                <c:pt idx="99">
                  <c:v>190500</c:v>
                </c:pt>
                <c:pt idx="100">
                  <c:v>190500</c:v>
                </c:pt>
                <c:pt idx="101">
                  <c:v>190500</c:v>
                </c:pt>
                <c:pt idx="102">
                  <c:v>190500</c:v>
                </c:pt>
                <c:pt idx="103">
                  <c:v>66675</c:v>
                </c:pt>
                <c:pt idx="104">
                  <c:v>66675</c:v>
                </c:pt>
                <c:pt idx="105">
                  <c:v>66675</c:v>
                </c:pt>
                <c:pt idx="106">
                  <c:v>66675</c:v>
                </c:pt>
                <c:pt idx="107">
                  <c:v>66675</c:v>
                </c:pt>
                <c:pt idx="108">
                  <c:v>66675</c:v>
                </c:pt>
                <c:pt idx="109">
                  <c:v>66675</c:v>
                </c:pt>
                <c:pt idx="110">
                  <c:v>66675</c:v>
                </c:pt>
                <c:pt idx="111">
                  <c:v>66675</c:v>
                </c:pt>
                <c:pt idx="112">
                  <c:v>66675</c:v>
                </c:pt>
                <c:pt idx="113">
                  <c:v>66675</c:v>
                </c:pt>
                <c:pt idx="114">
                  <c:v>66675</c:v>
                </c:pt>
                <c:pt idx="115">
                  <c:v>66675</c:v>
                </c:pt>
                <c:pt idx="116">
                  <c:v>66675</c:v>
                </c:pt>
                <c:pt idx="117">
                  <c:v>66675</c:v>
                </c:pt>
                <c:pt idx="118">
                  <c:v>66675</c:v>
                </c:pt>
                <c:pt idx="119">
                  <c:v>66675</c:v>
                </c:pt>
                <c:pt idx="120">
                  <c:v>66675</c:v>
                </c:pt>
                <c:pt idx="121">
                  <c:v>66675</c:v>
                </c:pt>
                <c:pt idx="122">
                  <c:v>66675</c:v>
                </c:pt>
                <c:pt idx="123">
                  <c:v>66675</c:v>
                </c:pt>
                <c:pt idx="124">
                  <c:v>66675</c:v>
                </c:pt>
                <c:pt idx="125">
                  <c:v>66675</c:v>
                </c:pt>
                <c:pt idx="126">
                  <c:v>66675</c:v>
                </c:pt>
                <c:pt idx="127">
                  <c:v>66675</c:v>
                </c:pt>
                <c:pt idx="128">
                  <c:v>66675</c:v>
                </c:pt>
                <c:pt idx="129">
                  <c:v>66675</c:v>
                </c:pt>
                <c:pt idx="130">
                  <c:v>66675</c:v>
                </c:pt>
                <c:pt idx="131">
                  <c:v>66675</c:v>
                </c:pt>
                <c:pt idx="132">
                  <c:v>66675</c:v>
                </c:pt>
                <c:pt idx="133">
                  <c:v>66675</c:v>
                </c:pt>
                <c:pt idx="134">
                  <c:v>66675</c:v>
                </c:pt>
                <c:pt idx="135">
                  <c:v>66675</c:v>
                </c:pt>
                <c:pt idx="136">
                  <c:v>66675</c:v>
                </c:pt>
                <c:pt idx="137">
                  <c:v>66675</c:v>
                </c:pt>
                <c:pt idx="138">
                  <c:v>66675</c:v>
                </c:pt>
                <c:pt idx="139">
                  <c:v>66675</c:v>
                </c:pt>
                <c:pt idx="140">
                  <c:v>66675</c:v>
                </c:pt>
                <c:pt idx="141">
                  <c:v>66675</c:v>
                </c:pt>
                <c:pt idx="142">
                  <c:v>66675</c:v>
                </c:pt>
                <c:pt idx="143">
                  <c:v>66675</c:v>
                </c:pt>
                <c:pt idx="144">
                  <c:v>66675</c:v>
                </c:pt>
                <c:pt idx="145">
                  <c:v>66675</c:v>
                </c:pt>
                <c:pt idx="146">
                  <c:v>66675</c:v>
                </c:pt>
                <c:pt idx="147">
                  <c:v>66675</c:v>
                </c:pt>
                <c:pt idx="148">
                  <c:v>66675</c:v>
                </c:pt>
                <c:pt idx="149">
                  <c:v>66675</c:v>
                </c:pt>
                <c:pt idx="150">
                  <c:v>66675</c:v>
                </c:pt>
                <c:pt idx="151">
                  <c:v>66675</c:v>
                </c:pt>
                <c:pt idx="152">
                  <c:v>66675</c:v>
                </c:pt>
                <c:pt idx="153">
                  <c:v>66675</c:v>
                </c:pt>
                <c:pt idx="154">
                  <c:v>66675</c:v>
                </c:pt>
                <c:pt idx="155">
                  <c:v>66675</c:v>
                </c:pt>
                <c:pt idx="156">
                  <c:v>66675</c:v>
                </c:pt>
                <c:pt idx="157">
                  <c:v>66675</c:v>
                </c:pt>
                <c:pt idx="158">
                  <c:v>66675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111125</c:v>
                </c:pt>
                <c:pt idx="176">
                  <c:v>111125</c:v>
                </c:pt>
                <c:pt idx="177">
                  <c:v>111125</c:v>
                </c:pt>
                <c:pt idx="178">
                  <c:v>111125</c:v>
                </c:pt>
                <c:pt idx="179">
                  <c:v>111125</c:v>
                </c:pt>
                <c:pt idx="180">
                  <c:v>111125</c:v>
                </c:pt>
                <c:pt idx="181">
                  <c:v>111125</c:v>
                </c:pt>
                <c:pt idx="182">
                  <c:v>111125</c:v>
                </c:pt>
                <c:pt idx="183">
                  <c:v>111125</c:v>
                </c:pt>
                <c:pt idx="184">
                  <c:v>111125</c:v>
                </c:pt>
                <c:pt idx="185">
                  <c:v>111125</c:v>
                </c:pt>
                <c:pt idx="186">
                  <c:v>111125</c:v>
                </c:pt>
                <c:pt idx="187">
                  <c:v>111125</c:v>
                </c:pt>
                <c:pt idx="188">
                  <c:v>111125</c:v>
                </c:pt>
                <c:pt idx="189">
                  <c:v>111125</c:v>
                </c:pt>
                <c:pt idx="190">
                  <c:v>111125</c:v>
                </c:pt>
                <c:pt idx="191">
                  <c:v>66675</c:v>
                </c:pt>
                <c:pt idx="192">
                  <c:v>66675</c:v>
                </c:pt>
                <c:pt idx="193">
                  <c:v>66675</c:v>
                </c:pt>
                <c:pt idx="194">
                  <c:v>66675</c:v>
                </c:pt>
                <c:pt idx="195">
                  <c:v>66675</c:v>
                </c:pt>
                <c:pt idx="196">
                  <c:v>66675</c:v>
                </c:pt>
                <c:pt idx="197">
                  <c:v>66675</c:v>
                </c:pt>
                <c:pt idx="198">
                  <c:v>66675</c:v>
                </c:pt>
                <c:pt idx="199">
                  <c:v>66675</c:v>
                </c:pt>
              </c:numCache>
            </c:numRef>
          </c:val>
        </c:ser>
        <c:gapWidth val="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  <c:majorUnit val="0.05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Vessel MRO Market Sizing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U.S. Navy and U.S. Coast Guard vessel MRO, FY2025 TAM and SAM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erviewTitle"/>
          <p:cNvSpPr txBox="1"/>
          <p:nvPr/>
        </p:nvSpPr>
        <p:spPr>
          <a:xfrm>
            <a:off x="457200" y="566928"/>
            <a:ext cx="5184648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0" name="Hdr20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cxnSp>
        <p:nvCxnSpPr>
          <p:cNvPr id="21" name="Rule20"/>
          <p:cNvCxnSpPr/>
          <p:nvPr/>
        </p:nvCxnSpPr>
        <p:spPr>
          <a:xfrm>
            <a:off x="457200" y="1920240"/>
            <a:ext cx="52120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2" name="Body20"/>
          <p:cNvSpPr txBox="1"/>
          <p:nvPr/>
        </p:nvSpPr>
        <p:spPr>
          <a:xfrm>
            <a:off x="457200" y="1990240"/>
            <a:ext cx="5212080" cy="40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Saronic is deciding which defense MRO work to pursue and how candidate sites map to the Navy and Coast Guard footprint:</a:t>
            </a:r>
          </a:p>
          <a:p>
            <a:pPr marL="461963" indent="-176213">
              <a:lnSpc>
                <a:spcPct val="115000"/>
              </a:lnSpc>
              <a:spcAft>
                <a:spcPts val="6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–  </a:t>
            </a:r>
            <a:r>
              <a:rPr lang="en-US" sz="14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Priority work segments and vessel classes that define the reachable opportunity</a:t>
            </a:r>
          </a:p>
          <a:p>
            <a:pPr marL="461963" indent="-176213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–  </a:t>
            </a:r>
            <a:r>
              <a:rPr lang="en-US" sz="1400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Gulf Coast and California site fit against existing USN and USCG MRO demand</a:t>
            </a:r>
          </a:p>
        </p:txBody>
      </p:sp>
      <p:sp>
        <p:nvSpPr>
          <p:cNvPr id="30" name="Hdr30"/>
          <p:cNvSpPr txBox="1"/>
          <p:nvPr/>
        </p:nvSpPr>
        <p:spPr>
          <a:xfrm>
            <a:off x="6409944" y="15087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Current sizing outputs</a:t>
            </a:r>
          </a:p>
        </p:txBody>
      </p:sp>
      <p:cxnSp>
        <p:nvCxnSpPr>
          <p:cNvPr id="31" name="Rule30"/>
          <p:cNvCxnSpPr/>
          <p:nvPr/>
        </p:nvCxnSpPr>
        <p:spPr>
          <a:xfrm>
            <a:off x="6409944" y="1920240"/>
            <a:ext cx="52120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Body30"/>
          <p:cNvSpPr txBox="1"/>
          <p:nvPr/>
        </p:nvSpPr>
        <p:spPr>
          <a:xfrm>
            <a:off x="6409944" y="1990240"/>
            <a:ext cx="5212080" cy="40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FY2025 USN and USCG MRO contracting market by work segment, vessel category, prime, RMC geography, and appropriation</a:t>
            </a:r>
          </a:p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Priority-segment volume and average contract value</a:t>
            </a:r>
          </a:p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USG industrial-base funding and path to access</a:t>
            </a:r>
          </a:p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Competitor archetypes, positioning, and capability requirements</a:t>
            </a:r>
          </a:p>
          <a:p>
            <a:pPr marL="285750" indent="-228600">
              <a:lnSpc>
                <a:spcPct val="115000"/>
              </a:lnSpc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Saronic financial outlook and required USG investment</a:t>
            </a:r>
          </a:p>
          <a:p>
            <a:pPr marL="285750" indent="-2286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Scorecard summary and sequenced path to market</a:t>
            </a:r>
          </a:p>
        </p:txBody>
      </p:sp>
      <p:sp>
        <p:nvSpPr>
          <p:cNvPr id="40" name="PrelimNote"/>
          <p:cNvSpPr txBox="1"/>
          <p:nvPr/>
        </p:nvSpPr>
        <p:spPr>
          <a:xfrm>
            <a:off x="6409944" y="5879592"/>
            <a:ext cx="5212080" cy="484632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l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Estimate confidence improves with expert validation, additional contract-level diligence, and site-specific inputs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| Sizing breaks the MRO market into five nested levels.</a:t>
            </a:r>
          </a:p>
        </p:txBody>
      </p:sp>
      <p:sp>
        <p:nvSpPr>
          <p:cNvPr id="20" name="Ring0"/>
          <p:cNvSpPr txBox="1"/>
          <p:nvPr/>
        </p:nvSpPr>
        <p:spPr>
          <a:xfrm>
            <a:off x="436168" y="1195120"/>
            <a:ext cx="5212080" cy="5212080"/>
          </a:xfrm>
          <a:prstGeom prst="ellipse">
            <a:avLst/>
          </a:prstGeom>
          <a:solidFill>
            <a:srgbClr val="E2E9EF"/>
          </a:solidFill>
          <a:ln w="3175">
            <a:solidFill>
              <a:srgbClr val="C0C0C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" name="Ring1"/>
          <p:cNvSpPr txBox="1"/>
          <p:nvPr/>
        </p:nvSpPr>
        <p:spPr>
          <a:xfrm>
            <a:off x="847648" y="2018080"/>
            <a:ext cx="4389120" cy="4389120"/>
          </a:xfrm>
          <a:prstGeom prst="ellipse">
            <a:avLst/>
          </a:prstGeom>
          <a:solidFill>
            <a:srgbClr val="B6C8D8"/>
          </a:solidFill>
          <a:ln w="3175">
            <a:solidFill>
              <a:srgbClr val="C0C0C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" name="Ring2"/>
          <p:cNvSpPr txBox="1"/>
          <p:nvPr/>
        </p:nvSpPr>
        <p:spPr>
          <a:xfrm>
            <a:off x="1259128" y="2841040"/>
            <a:ext cx="3566160" cy="3566160"/>
          </a:xfrm>
          <a:prstGeom prst="ellipse">
            <a:avLst/>
          </a:prstGeom>
          <a:solidFill>
            <a:srgbClr val="6E91B1"/>
          </a:solidFill>
          <a:ln w="3175">
            <a:solidFill>
              <a:srgbClr val="C0C0C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3" name="Ring3"/>
          <p:cNvSpPr txBox="1"/>
          <p:nvPr/>
        </p:nvSpPr>
        <p:spPr>
          <a:xfrm>
            <a:off x="1624888" y="3664000"/>
            <a:ext cx="2834640" cy="2743200"/>
          </a:xfrm>
          <a:prstGeom prst="ellipse">
            <a:avLst/>
          </a:prstGeom>
          <a:solidFill>
            <a:srgbClr val="3D5972"/>
          </a:solidFill>
          <a:ln w="3175">
            <a:solidFill>
              <a:srgbClr val="C0C0C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" name="Ring4"/>
          <p:cNvSpPr txBox="1"/>
          <p:nvPr/>
        </p:nvSpPr>
        <p:spPr>
          <a:xfrm>
            <a:off x="2082088" y="4486960"/>
            <a:ext cx="1920240" cy="1920240"/>
          </a:xfrm>
          <a:prstGeom prst="ellipse">
            <a:avLst/>
          </a:prstGeom>
          <a:solidFill>
            <a:srgbClr val="263746"/>
          </a:solidFill>
          <a:ln w="3175">
            <a:solidFill>
              <a:srgbClr val="C0C0C0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0" name="RingLabel0"/>
          <p:cNvSpPr txBox="1"/>
          <p:nvPr/>
        </p:nvSpPr>
        <p:spPr>
          <a:xfrm>
            <a:off x="2150668" y="1430121"/>
            <a:ext cx="1782165" cy="352958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Funding</a:t>
            </a:r>
          </a:p>
        </p:txBody>
      </p:sp>
      <p:sp>
        <p:nvSpPr>
          <p:cNvPr id="31" name="RingLabel1"/>
          <p:cNvSpPr txBox="1"/>
          <p:nvPr/>
        </p:nvSpPr>
        <p:spPr>
          <a:xfrm>
            <a:off x="2150668" y="2253081"/>
            <a:ext cx="1782165" cy="352958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32" name="RingLabel2"/>
          <p:cNvSpPr txBox="1"/>
          <p:nvPr/>
        </p:nvSpPr>
        <p:spPr>
          <a:xfrm>
            <a:off x="2150668" y="3161080"/>
            <a:ext cx="1782165" cy="352958"/>
          </a:xfrm>
          <a:prstGeom prst="rect">
            <a:avLst/>
          </a:prstGeom>
          <a:solidFill>
            <a:srgbClr val="6E91B1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33" name="RingLabel3"/>
          <p:cNvSpPr txBox="1"/>
          <p:nvPr/>
        </p:nvSpPr>
        <p:spPr>
          <a:xfrm>
            <a:off x="2150668" y="4069080"/>
            <a:ext cx="1782165" cy="352958"/>
          </a:xfrm>
          <a:prstGeom prst="rect">
            <a:avLst/>
          </a:prstGeom>
          <a:solidFill>
            <a:srgbClr val="3D5972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TCV</a:t>
            </a:r>
          </a:p>
        </p:txBody>
      </p:sp>
      <p:sp>
        <p:nvSpPr>
          <p:cNvPr id="34" name="RingLabel4"/>
          <p:cNvSpPr txBox="1"/>
          <p:nvPr/>
        </p:nvSpPr>
        <p:spPr>
          <a:xfrm>
            <a:off x="2150668" y="5303520"/>
            <a:ext cx="1782165" cy="352958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Saronic ACV</a:t>
            </a:r>
          </a:p>
        </p:txBody>
      </p:sp>
      <p:graphicFrame>
        <p:nvGraphicFramePr>
          <p:cNvPr id="50" name="DefinitionsTable"/>
          <p:cNvGraphicFramePr>
            <a:graphicFrameLocks noGrp="1"/>
          </p:cNvGraphicFramePr>
          <p:nvPr/>
        </p:nvGraphicFramePr>
        <p:xfrm>
          <a:off x="6096304" y="1559966"/>
          <a:ext cx="5639104" cy="448147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75511"/>
                <a:gridCol w="4063593"/>
              </a:tblGrid>
              <a:tr h="3666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Level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29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Service-PSC code award spending for US Navy and US Coast Guard in FY2025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29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Addressable Market (TAM)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Reconciled FPDS-visible MRO TAM: 65 services-PSC MRO + embedded PSC 1905 MRO (~$9.0B)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29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Serviceable Addressable Market (SAM)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Scenario-selected subset of TAM atoms; Broad Addressable (~$7.1B, TAM less captive SUPSHIP &amp; FMS) narrowing to Depot Ship Repair on Marauder-type platforms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229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Saronic TCV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0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Share of SAM that Saronic can likely capture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1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Saronic ACV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100" b="0" dirty="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</a:rPr>
                        <a:t>Portion of TCV expected to convert into annual contract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0" name="FutureEffort"/>
          <p:cNvSpPr txBox="1"/>
          <p:nvPr/>
        </p:nvSpPr>
        <p:spPr>
          <a:xfrm>
            <a:off x="6096304" y="6071440"/>
            <a:ext cx="24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capture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Bottom-Up Approach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Bottom-Up Methodology | Filtering FPDS awards to 65 ship-MRO service codes sizes the reconciled FPDS-visible MRO TAM at $9.0B.</a:t>
            </a:r>
          </a:p>
        </p:txBody>
      </p:sp>
      <p:graphicFrame>
        <p:nvGraphicFramePr>
          <p:cNvPr id="314" name="Table 13"/>
          <p:cNvGraphicFramePr>
            <a:graphicFrameLocks noGrp="1"/>
          </p:cNvGraphicFramePr>
          <p:nvPr/>
        </p:nvGraphicFramePr>
        <p:xfrm>
          <a:off x="497651" y="1530849"/>
          <a:ext cx="12144490" cy="4621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786"/>
                <a:gridCol w="822960"/>
                <a:gridCol w="1532786"/>
                <a:gridCol w="1828800"/>
                <a:gridCol w="1532786"/>
                <a:gridCol w="1828800"/>
                <a:gridCol w="1532786"/>
                <a:gridCol w="1532786"/>
              </a:tblGrid>
              <a:tr h="385019"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Approach steps</a:t>
                      </a:r>
                    </a:p>
                  </a:txBody>
                  <a:tcPr marL="45720" marR="45720" anchor="b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Input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Filter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Output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93561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1. Filter federal PSCs to USN/USCG services-class codes</a:t>
                      </a:r>
                    </a:p>
                  </a:txBody>
                  <a:tcPr marL="45720" marR="45720" anchor="ctr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21543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 Filter to ship MRO codes</a:t>
                      </a:r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521543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3. Apply FY2025 obligations to size the MRO TAM</a:t>
                      </a:r>
                    </a:p>
                  </a:txBody>
                  <a:tcPr marL="45720" marR="45720" anchor="ctr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b="0" i="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13" name="Rectangle 12"/>
          <p:cNvSpPr/>
          <p:nvPr/>
        </p:nvSpPr>
        <p:spPr>
          <a:xfrm>
            <a:off x="2373620" y="2253016"/>
            <a:ext cx="2596896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2,539 PSCs</a:t>
            </a:r>
          </a:p>
          <a:p>
            <a:pPr algn="ctr"/>
            <a:r>
              <a:rPr lang="en-US" sz="1000" i="1" dirty="0">
                <a:solidFill>
                  <a:srgbClr val="000000"/>
                </a:solidFill>
                <a:latin typeface="+mj-lt"/>
              </a:rPr>
              <a:t>All federal contract-action codes</a:t>
            </a:r>
          </a:p>
        </p:txBody>
      </p:sp>
      <p:sp>
        <p:nvSpPr>
          <p:cNvPr id="319" name="Rectangle 18"/>
          <p:cNvSpPr/>
          <p:nvPr/>
        </p:nvSpPr>
        <p:spPr>
          <a:xfrm>
            <a:off x="9092950" y="5119652"/>
            <a:ext cx="2596896" cy="566928"/>
          </a:xfrm>
          <a:prstGeom prst="rect">
            <a:avLst/>
          </a:prstGeom>
          <a:solidFill>
            <a:srgbClr val="3D597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Reconciled MRO TAM:</a:t>
            </a:r>
            <a:r>
              <a:rPr lang="en-US" sz="1400" b="1" dirty="0">
                <a:sym typeface="Wingdings" panose="05000000000000000000" pitchFamily="2" charset="2"/>
              </a:rPr>
              <a:t> </a:t>
            </a:r>
            <a:r>
              <a:rPr lang="en-US" sz="1400" b="1" dirty="0"/>
              <a:t>$9.0B</a:t>
            </a:r>
          </a:p>
        </p:txBody>
      </p:sp>
      <p:sp>
        <p:nvSpPr>
          <p:cNvPr id="327" name="Rectangle 26"/>
          <p:cNvSpPr/>
          <p:nvPr/>
        </p:nvSpPr>
        <p:spPr>
          <a:xfrm>
            <a:off x="2373620" y="3602859"/>
            <a:ext cx="2596896" cy="566928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~1,800 Services PSCs</a:t>
            </a:r>
          </a:p>
        </p:txBody>
      </p:sp>
      <p:sp>
        <p:nvSpPr>
          <p:cNvPr id="337" name="Rectangle 36"/>
          <p:cNvSpPr/>
          <p:nvPr/>
        </p:nvSpPr>
        <p:spPr>
          <a:xfrm>
            <a:off x="497652" y="6152515"/>
            <a:ext cx="11192194" cy="36576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tx1"/>
                </a:solidFill>
                <a:latin typeface="+mj-lt"/>
              </a:rPr>
              <a:t>Sources: (1) FPDS FY2025 contract obligations, U.S. Navy and U.S. Coast Guard (65 ship-MRO PSCs); data as of April 2026</a:t>
            </a:r>
            <a:br>
              <a:rPr lang="en-US" sz="800" dirty="0">
                <a:solidFill>
                  <a:schemeClr val="tx1"/>
                </a:solidFill>
                <a:latin typeface="+mj-lt"/>
              </a:rPr>
            </a:br>
            <a:endParaRPr lang="en-US" sz="800" dirty="0">
              <a:solidFill>
                <a:schemeClr val="tx1"/>
              </a:solidFill>
              <a:latin typeface="+mj-lt"/>
              <a:ea typeface="Inter" panose="02000503000000020004" pitchFamily="2" charset="0"/>
            </a:endParaRPr>
          </a:p>
        </p:txBody>
      </p:sp>
      <p:sp>
        <p:nvSpPr>
          <p:cNvPr id="303" name="Rectangle 2"/>
          <p:cNvSpPr/>
          <p:nvPr/>
        </p:nvSpPr>
        <p:spPr>
          <a:xfrm>
            <a:off x="5733285" y="2253016"/>
            <a:ext cx="2596896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USN/USCG Services codes</a:t>
            </a:r>
          </a:p>
          <a:p>
            <a:pPr algn="ctr"/>
            <a:r>
              <a:rPr lang="pt-BR" sz="1000" i="1" dirty="0">
                <a:solidFill>
                  <a:srgbClr val="000000"/>
                </a:solidFill>
                <a:latin typeface="+mj-lt"/>
              </a:rPr>
              <a:t>J, K, N, H, L, M </a:t>
            </a:r>
            <a:r>
              <a:rPr lang="pt-BR" sz="1000" i="1" dirty="0" err="1">
                <a:solidFill>
                  <a:srgbClr val="000000"/>
                </a:solidFill>
                <a:latin typeface="+mj-lt"/>
              </a:rPr>
              <a:t>families</a:t>
            </a:r>
            <a:endParaRPr lang="en-US" sz="1000" i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09" name="Rectangle 8"/>
          <p:cNvSpPr/>
          <p:nvPr/>
        </p:nvSpPr>
        <p:spPr>
          <a:xfrm>
            <a:off x="9092950" y="2253016"/>
            <a:ext cx="2596896" cy="566928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~1,800 Services PSCs</a:t>
            </a:r>
            <a:endParaRPr lang="en-US" sz="1000" i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10" name="Rectangle 9"/>
          <p:cNvSpPr/>
          <p:nvPr/>
        </p:nvSpPr>
        <p:spPr>
          <a:xfrm>
            <a:off x="5733285" y="3602859"/>
            <a:ext cx="2596896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Ship MRO codes</a:t>
            </a:r>
          </a:p>
          <a:p>
            <a:pPr algn="ctr"/>
            <a:r>
              <a:rPr lang="pt-BR" sz="1000" i="1" dirty="0" err="1">
                <a:solidFill>
                  <a:srgbClr val="000000"/>
                </a:solidFill>
                <a:latin typeface="+mj-lt"/>
              </a:rPr>
              <a:t>Repair</a:t>
            </a:r>
            <a:r>
              <a:rPr lang="pt-BR" sz="1000" i="1" dirty="0">
                <a:solidFill>
                  <a:srgbClr val="000000"/>
                </a:solidFill>
                <a:latin typeface="+mj-lt"/>
              </a:rPr>
              <a:t>, </a:t>
            </a:r>
            <a:r>
              <a:rPr lang="pt-BR" sz="1000" i="1" dirty="0" err="1">
                <a:solidFill>
                  <a:srgbClr val="000000"/>
                </a:solidFill>
                <a:latin typeface="+mj-lt"/>
              </a:rPr>
              <a:t>modification</a:t>
            </a:r>
            <a:r>
              <a:rPr lang="pt-BR" sz="1000" i="1" dirty="0">
                <a:solidFill>
                  <a:srgbClr val="000000"/>
                </a:solidFill>
                <a:latin typeface="+mj-lt"/>
              </a:rPr>
              <a:t>, </a:t>
            </a:r>
            <a:r>
              <a:rPr lang="pt-BR" sz="1000" i="1" dirty="0" err="1">
                <a:solidFill>
                  <a:srgbClr val="000000"/>
                </a:solidFill>
                <a:latin typeface="+mj-lt"/>
              </a:rPr>
              <a:t>overhaul</a:t>
            </a:r>
            <a:r>
              <a:rPr lang="pt-BR" sz="1000" i="1" dirty="0">
                <a:solidFill>
                  <a:srgbClr val="000000"/>
                </a:solidFill>
                <a:latin typeface="+mj-lt"/>
              </a:rPr>
              <a:t>, </a:t>
            </a:r>
            <a:r>
              <a:rPr lang="pt-BR" sz="1000" i="1" dirty="0" err="1">
                <a:solidFill>
                  <a:srgbClr val="000000"/>
                </a:solidFill>
                <a:latin typeface="+mj-lt"/>
              </a:rPr>
              <a:t>husbanding</a:t>
            </a:r>
            <a:endParaRPr lang="en-US" sz="1000" i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11" name="Rectangle 10"/>
          <p:cNvSpPr/>
          <p:nvPr/>
        </p:nvSpPr>
        <p:spPr>
          <a:xfrm>
            <a:off x="9092950" y="3602859"/>
            <a:ext cx="2596896" cy="566928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65 Ship MRO PSCs</a:t>
            </a:r>
          </a:p>
        </p:txBody>
      </p:sp>
      <p:sp>
        <p:nvSpPr>
          <p:cNvPr id="312" name="Rectangle 11"/>
          <p:cNvSpPr/>
          <p:nvPr/>
        </p:nvSpPr>
        <p:spPr>
          <a:xfrm>
            <a:off x="2373620" y="5119652"/>
            <a:ext cx="2596896" cy="566928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65 Ship MRO PSCs</a:t>
            </a:r>
          </a:p>
        </p:txBody>
      </p:sp>
      <p:sp>
        <p:nvSpPr>
          <p:cNvPr id="315" name="Rectangle 14"/>
          <p:cNvSpPr/>
          <p:nvPr/>
        </p:nvSpPr>
        <p:spPr>
          <a:xfrm>
            <a:off x="5733285" y="5119652"/>
            <a:ext cx="2596896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FY2025 obligations</a:t>
            </a:r>
          </a:p>
          <a:p>
            <a:pPr algn="ctr"/>
            <a:r>
              <a:rPr lang="en-US" sz="1000" i="1" dirty="0">
                <a:solidFill>
                  <a:srgbClr val="000000"/>
                </a:solidFill>
                <a:latin typeface="+mj-lt"/>
              </a:rPr>
              <a:t>$7.1B 65-PSC services + $1.9B embedded PSC 1905</a:t>
            </a:r>
          </a:p>
        </p:txBody>
      </p:sp>
      <p:cxnSp>
        <p:nvCxnSpPr>
          <p:cNvPr id="322" name="Straight Arrow Connector 21"/>
          <p:cNvCxnSpPr>
            <a:cxnSpLocks/>
          </p:cNvCxnSpPr>
          <p:nvPr/>
        </p:nvCxnSpPr>
        <p:spPr>
          <a:xfrm>
            <a:off x="4970516" y="2536480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24"/>
          <p:cNvCxnSpPr>
            <a:cxnSpLocks/>
          </p:cNvCxnSpPr>
          <p:nvPr/>
        </p:nvCxnSpPr>
        <p:spPr>
          <a:xfrm>
            <a:off x="8330181" y="2536480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: Elbow 28"/>
          <p:cNvCxnSpPr>
            <a:cxnSpLocks/>
          </p:cNvCxnSpPr>
          <p:nvPr/>
        </p:nvCxnSpPr>
        <p:spPr>
          <a:xfrm rot="5400000">
            <a:off x="6640276" y="-148264"/>
            <a:ext cx="782915" cy="67193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7"/>
          <p:cNvCxnSpPr>
            <a:cxnSpLocks/>
          </p:cNvCxnSpPr>
          <p:nvPr/>
        </p:nvCxnSpPr>
        <p:spPr>
          <a:xfrm>
            <a:off x="4970516" y="3886323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40"/>
          <p:cNvCxnSpPr>
            <a:cxnSpLocks/>
          </p:cNvCxnSpPr>
          <p:nvPr/>
        </p:nvCxnSpPr>
        <p:spPr>
          <a:xfrm>
            <a:off x="8330181" y="3886323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: Elbow 43"/>
          <p:cNvCxnSpPr>
            <a:cxnSpLocks/>
          </p:cNvCxnSpPr>
          <p:nvPr/>
        </p:nvCxnSpPr>
        <p:spPr>
          <a:xfrm rot="5400000">
            <a:off x="6556801" y="1285054"/>
            <a:ext cx="949865" cy="67193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Arrow Connector 46"/>
          <p:cNvCxnSpPr>
            <a:cxnSpLocks/>
          </p:cNvCxnSpPr>
          <p:nvPr/>
        </p:nvCxnSpPr>
        <p:spPr>
          <a:xfrm>
            <a:off x="4970516" y="5403116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49"/>
          <p:cNvCxnSpPr>
            <a:cxnSpLocks/>
          </p:cNvCxnSpPr>
          <p:nvPr/>
        </p:nvCxnSpPr>
        <p:spPr>
          <a:xfrm>
            <a:off x="8330181" y="5403116"/>
            <a:ext cx="7627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Vessel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Vessel Taxonomy | MRO TAM scope covers every SECNAV and USCG hull category.</a:t>
            </a:r>
          </a:p>
        </p:txBody>
      </p:sp>
      <p:graphicFrame>
        <p:nvGraphicFramePr>
          <p:cNvPr id="303" name="Table 2"/>
          <p:cNvGraphicFramePr>
            <a:graphicFrameLocks noGrp="1"/>
          </p:cNvGraphicFramePr>
          <p:nvPr/>
        </p:nvGraphicFramePr>
        <p:xfrm>
          <a:off x="160359" y="1376859"/>
          <a:ext cx="11867537" cy="503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497"/>
                <a:gridCol w="1666720"/>
                <a:gridCol w="1666720"/>
                <a:gridCol w="1666720"/>
                <a:gridCol w="1666720"/>
                <a:gridCol w="1666720"/>
                <a:gridCol w="1666720"/>
                <a:gridCol w="1666720"/>
              </a:tblGrid>
              <a:tr h="2329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baseline="30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>
                          <a:solidFill>
                            <a:schemeClr val="bg1"/>
                          </a:solidFill>
                        </a:rPr>
                        <a:t>US Navy</a:t>
                      </a:r>
                      <a:r>
                        <a:rPr lang="en-US" sz="1000" b="1" i="0" baseline="30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000" b="1" i="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000" b="0" i="1" baseline="0" dirty="0">
                          <a:solidFill>
                            <a:schemeClr val="bg1"/>
                          </a:solidFill>
                        </a:rPr>
                        <a:t>(Definitions IAW SECNAVINST 5030.8D 28JUN22)</a:t>
                      </a:r>
                      <a:endParaRPr lang="en-US" sz="1000" b="0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i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i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E1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i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E192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b="1" i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92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US Coast Guard</a:t>
                      </a:r>
                      <a:endParaRPr sz="1000" b="1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8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Combatant Ships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3E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Auxiliary Ships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B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Combatant Crafts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B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Unmanned Maritime Platforms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D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Support Crafts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Cutters</a:t>
                      </a:r>
                      <a:endParaRPr kumimoji="0" lang="en-US" sz="10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Boats</a:t>
                      </a:r>
                      <a:endParaRPr kumimoji="0" lang="en-US" sz="10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1302782">
                <a:tc rowSpan="2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Definition</a:t>
                      </a:r>
                    </a:p>
                  </a:txBody>
                  <a:tcPr marL="45720" marR="4572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Warships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Any commissioned ship built or armed for naval combat.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Other Combatants: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Ships with the capability to contribute directly to Navy warfighting or directly to other combatant operations and support missions. 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Any naval ship designed to operate in the open ocean in a variety of sea states to provide indirect support to combatant forces or services to shore-based establishments and infrastructure.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Smaller vessels designed to meet various combat-related mission roles, including amphibious warfare, insertion, patrol, overwatch and enemy denial-of-use, and mobility of riverine and littoral areas. Combatant craft are not part of the battle force inventory.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Unmanned maritime vessels and vehicles are platforms designed to operate remotely, independently or integrated with manned platforms. Certain unmanned maritime vehicles may, in the future, be part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of the battle force inventory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i="1">
                          <a:latin typeface="+mj-lt"/>
                        </a:rPr>
                        <a:t>Support craft are noncommissioned vessels and watercraft designed to provide support for naval operations or shore-based establishments and are not part of the battle force inventory.</a:t>
                      </a:r>
                    </a:p>
                    <a:p>
                      <a:pPr marL="1714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i="1">
                          <a:latin typeface="Arial (Body)"/>
                        </a:rPr>
                        <a:t>Any commissioned vessel 65’ in length or greater, with accommodations for a crew to live aboard. </a:t>
                      </a:r>
                      <a:endParaRPr kumimoji="0" lang="en-U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i="1"/>
                        <a:t>Any vessel under 65’ in length without a permanently assigned crew.</a:t>
                      </a:r>
                      <a:endParaRPr kumimoji="0" lang="en-U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9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(Body)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27065">
                <a:tc vMerge="1"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Classifications</a:t>
                      </a:r>
                    </a:p>
                  </a:txBody>
                  <a:tcPr marL="45720" marR="4572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Warship:</a:t>
                      </a:r>
                    </a:p>
                    <a:p>
                      <a:pPr marL="114300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Aircraft Carriers  (CVN)</a:t>
                      </a:r>
                    </a:p>
                    <a:p>
                      <a:pPr marL="114300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Surface Combatants  (CG / DDG / FFG / LCS)</a:t>
                      </a:r>
                    </a:p>
                    <a:p>
                      <a:pPr marL="114300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Submarines  (SSN / SSBN / SSGN)</a:t>
                      </a:r>
                    </a:p>
                    <a:p>
                      <a:pPr marL="114300" marR="0" lvl="1" indent="-1143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Amphibious Warfare Ships  (LHA / LHD / LPD / LSD)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Other Combatant: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Mine Warfare  (MCM)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Combat Logistics Ships  (AO / AOE / AOL / AKE)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Command Ships  (LCC)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Support Ships  (AS)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Surveillance Ships  (AGOS)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Salvage Ships &amp; Fleet Ocean Tugs  (ARS / ATF / ATS)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Expeditionary &amp;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Seabasing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Ships  (EPF / ESB / ESD / LSM)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Crane Ship  (ACS)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General Auxiliary  (AG)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Research, Survey &amp; Instrumentation Ships  (AGM / AGOR / AGS)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Hospital Ship  (AH)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Cargo &amp; Vehicle Cargo Ships  (AK / AKR)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Transport Oiler  (AOT)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Cable Repairing Ship (ARC)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Aviation Logistics Support Ship  (AVB)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High Speed Transport  (HST)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Submarine Escort Ship  (AGSE)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Patrol Combatant  (PC)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Amphibious Warfare Craft  (LCAC / LCU)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Patrol Boats  (36PB / 64PB / 87PB)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Special Warfare Craft  (DSB / CCA / CCM / CCH / NSW RHIB / SDV / SWCS / SSC)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Unmanned Surface Vehicles (MUSV / SUSV / VSUSV)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Unmanned Undersea Vehicles  (XLUUV / LUUV / MUUV / SUUV)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Dry Docks (AFDL / ARDM / AFDM)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Harbor Tugs  (YT / YTB / YTL)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Lighters &amp; Barges  (YC / YCV / YFN / YFNX / YFNB / YON / YOS / YWN / YWO)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Other Craft, Self-Propelled  (FSF / SBX / YFB / YP / YSD / YDT / YTT)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Other Craft, Non-Self-Propelled  (APL / YD / YFND / YFP / YR / YRB / YRBM / YRDH / YRDM / IX)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Sealift Support Craft  (INLS / LCM 8 / LARC V / MPF UB / OPDS UB)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Ships Boats  (5MRB / 7MRB / 11MRB)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Shore-Based Harbor Security Boats  (27HS / 28HS / 32HS / 33HS / 11MHS / 35HS / 36HS)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Icebreakers, Oceangoing  (WAGB)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Icebreakers, Great Lakes  (WLBB)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National Security Cutters  (WMSL)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High Endurance Cutters  (WHEC)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Medium Endurance Cutters  (WMEC)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Offshore Patrol Cutter (WMSM)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Fast Response Cutters  (WPC)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Patrol Boats  (WPB)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Seagoing Buoy Tenders  (WLB)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Coastal Buoy Tenders  (WLM)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Inland Construction Tenders  (WLIC)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Ice Breaking Tugs  (WTGB)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River Buoy Tenders  (WLR)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Inland Buoy Tenders  (WLI)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Small Harbor Tugs  (WYTL)</a:t>
                      </a:r>
                    </a:p>
                    <a:p>
                      <a:pPr marL="58738" marR="0" lvl="1" indent="-587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Barque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Eagle  (WIX)</a:t>
                      </a: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Response Boats  (MLB / RB-M / TPSB / RB-S II / UTM / UTL)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Aids to Navigation Boats  (ANB / BUSL / TANB / AB-S / AB-SKF)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Cutter Boats  (CB-LRI / CB-OTH / ASB/LC / MSB / CB-L / CB-ATON / CB-M / CB-S / UTL)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Special Purpose Craft  (SPC-SV / SPC-TTB / SPC-TB / SPC-LE / SPC-BTD / SPC-LEO / SPC-SW / SPC-IRT / SKF-ICE / SKF)</a:t>
                      </a:r>
                    </a:p>
                    <a:p>
                      <a:pPr marL="117475" marR="0" lvl="1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Training Craft  (CT-64 / SB)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18288" marR="1828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0" name="Speech Bubble: Rectangle 9"/>
          <p:cNvSpPr/>
          <p:nvPr/>
        </p:nvSpPr>
        <p:spPr>
          <a:xfrm>
            <a:off x="2380253" y="5427654"/>
            <a:ext cx="1377082" cy="566929"/>
          </a:xfrm>
          <a:prstGeom prst="wedgeRectCallout">
            <a:avLst>
              <a:gd name="adj1" fmla="val -69839"/>
              <a:gd name="adj2" fmla="val -34178"/>
            </a:avLst>
          </a:prstGeom>
          <a:solidFill>
            <a:srgbClr val="E2E9E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i="1" dirty="0">
                <a:solidFill>
                  <a:schemeClr val="tx1"/>
                </a:solidFill>
              </a:rPr>
              <a:t>Military Sealift Command (MSC) vessels sit across Combatant Ships and Auxiliary Ships</a:t>
            </a:r>
          </a:p>
        </p:txBody>
      </p:sp>
      <p:sp>
        <p:nvSpPr>
          <p:cNvPr id="305" name="Rectangle 4"/>
          <p:cNvSpPr/>
          <p:nvPr/>
        </p:nvSpPr>
        <p:spPr>
          <a:xfrm>
            <a:off x="7459746" y="6410227"/>
            <a:ext cx="4275432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tx1"/>
                </a:solidFill>
                <a:ea typeface="Inter" panose="02000503000000020004" pitchFamily="2" charset="0"/>
              </a:rPr>
              <a:t>Sources: (1) </a:t>
            </a:r>
            <a:r>
              <a:rPr lang="en-US" sz="800">
                <a:solidFill>
                  <a:schemeClr val="tx1"/>
                </a:solidFill>
              </a:rPr>
              <a:t>SECNAVINST 5030.8D (28 Jun 2022)</a:t>
            </a:r>
            <a:r>
              <a:rPr lang="en-US" sz="800">
                <a:solidFill>
                  <a:schemeClr val="tx1"/>
                </a:solidFill>
              </a:rPr>
              <a:t>; </a:t>
            </a:r>
            <a:r>
              <a:rPr lang="en-US" sz="800">
                <a:solidFill>
                  <a:schemeClr val="tx1"/>
                </a:solidFill>
              </a:rPr>
              <a:t>(2) Coast Guard Cutter Fleet</a:t>
            </a:r>
            <a:r>
              <a:rPr lang="en-US" sz="800">
                <a:solidFill>
                  <a:schemeClr val="tx1"/>
                </a:solidFill>
              </a:rPr>
              <a:t>; </a:t>
            </a:r>
            <a:r>
              <a:rPr lang="en-US" sz="800">
                <a:solidFill>
                  <a:schemeClr val="tx1"/>
                </a:solidFill>
              </a:rPr>
              <a:t>(3) Boats of the United States Coast Guard (2024)</a:t>
            </a:r>
            <a:endParaRPr lang="en-US" sz="800">
              <a:solidFill>
                <a:schemeClr val="tx1"/>
              </a:solidFill>
              <a:ea typeface="Inter" panose="02000503000000020004" pitchFamily="2" charset="0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285026" y="1047983"/>
            <a:ext cx="3622253" cy="27543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defRPr/>
            </a:pPr>
            <a:r>
              <a:rPr lang="en-US" sz="800" i="1" dirty="0">
                <a:solidFill>
                  <a:schemeClr val="tx1"/>
                </a:solidFill>
              </a:rPr>
              <a:t>U.S. Navy and Coast Guard Vessel Taxonomy</a:t>
            </a:r>
            <a:endParaRPr lang="en-US" sz="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 Segments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MRO Work Segments | Depot ship repair and nuclear and complex overhauls captured ~75% of FY2025 MRO TAM.</a:t>
            </a:r>
          </a:p>
        </p:txBody>
      </p:sp>
      <p:sp>
        <p:nvSpPr>
          <p:cNvPr id="10" name="ChartCaption"/>
          <p:cNvSpPr txBox="1"/>
          <p:nvPr/>
        </p:nvSpPr>
        <p:spPr>
          <a:xfrm>
            <a:off x="403013" y="1298363"/>
            <a:ext cx="3622253" cy="27543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FY2025 reconciled FPDS-visible MRO TAM by work segment ($M)</a:t>
            </a:r>
          </a:p>
        </p:txBody>
      </p:sp>
      <p:graphicFrame>
        <p:nvGraphicFramePr>
          <p:cNvPr id="20" name="WorkSegmentTable"/>
          <p:cNvGraphicFramePr>
            <a:graphicFrameLocks noGrp="1"/>
          </p:cNvGraphicFramePr>
          <p:nvPr/>
        </p:nvGraphicFramePr>
        <p:xfrm>
          <a:off x="7004304" y="1417320"/>
          <a:ext cx="4233672" cy="380390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691640"/>
                <a:gridCol w="2542032"/>
              </a:tblGrid>
              <a:tr h="18288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 Segment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Depot Ship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Whole-ship maintenance availabilities at Pacific and Atlantic Regional Maintenance Centers; MAC-MO IDIQ task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 &amp; Complex Overhauls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PSC 1905 embedded MRO: engineered overhauls, refueling and complex overhauls (RCOH), and inactivations at SUPSHIP yards (Newport News, GDEB); separate from J998/J999 depot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Hull, Mechanical &amp; Electrical (HM&amp;E)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 accessories, pumps, valves, piping, HVAC, diesel engines, and ship structural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Combat Systems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Weapons, fire control, VLS, and guided missiles (including Trident II on Ohio-class SSBNs); aircraft launch and arresting gear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Electronics &amp; C4ISR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Afloat C4ISR: radar, sonar, radio and network systems, navigation, alarms, and electrical signal equipment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35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 &amp; Technical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Quality control, testing, and inspection; OEM technical representation; husbanding (fuel, transport, port visits); shipyard operations support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FooterNote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FPDS FY2025 contract obligations, U.S. Navy and U.S. Coast Guard; data as of April 2026</a:t>
            </a:r>
          </a:p>
        </p:txBody>
      </p:sp>
      <p:graphicFrame>
        <p:nvGraphicFramePr>
          <p:cNvPr id="40" name="WorkSegmentStackedColumn"/>
          <p:cNvGraphicFramePr/>
          <p:nvPr/>
        </p:nvGraphicFramePr>
        <p:xfrm>
          <a:off x="465138" y="1660000"/>
          <a:ext cx="3946525" cy="4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ChartTotal"/>
          <p:cNvSpPr txBox="1"/>
          <p:nvPr/>
        </p:nvSpPr>
        <p:spPr>
          <a:xfrm>
            <a:off x="2387600" y="1574800"/>
            <a:ext cx="427038" cy="122238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$8,971M</a:t>
            </a:r>
          </a:p>
        </p:txBody>
      </p:sp>
      <p:sp>
        <p:nvSpPr>
          <p:cNvPr id="50" name="LegendSwatch"/>
          <p:cNvSpPr txBox="1"/>
          <p:nvPr/>
        </p:nvSpPr>
        <p:spPr>
          <a:xfrm>
            <a:off x="4495800" y="1776413"/>
            <a:ext cx="142875" cy="106362"/>
          </a:xfrm>
          <a:prstGeom prst="rect">
            <a:avLst/>
          </a:prstGeom>
          <a:solidFill>
            <a:srgbClr val="D8E3EB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LegendLabel"/>
          <p:cNvSpPr txBox="1"/>
          <p:nvPr/>
        </p:nvSpPr>
        <p:spPr>
          <a:xfrm>
            <a:off x="4689475" y="1771650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 &amp; Technical Services</a:t>
            </a:r>
          </a:p>
        </p:txBody>
      </p:sp>
      <p:sp>
        <p:nvSpPr>
          <p:cNvPr id="52" name="LegendSwatch"/>
          <p:cNvSpPr txBox="1"/>
          <p:nvPr/>
        </p:nvSpPr>
        <p:spPr>
          <a:xfrm>
            <a:off x="4495800" y="1949450"/>
            <a:ext cx="142875" cy="106362"/>
          </a:xfrm>
          <a:prstGeom prst="rect">
            <a:avLst/>
          </a:prstGeom>
          <a:solidFill>
            <a:srgbClr val="AFC2CC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LegendLabel"/>
          <p:cNvSpPr txBox="1"/>
          <p:nvPr/>
        </p:nvSpPr>
        <p:spPr>
          <a:xfrm>
            <a:off x="4689475" y="1944688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Electronics &amp; C4ISR Sustainment</a:t>
            </a:r>
          </a:p>
        </p:txBody>
      </p:sp>
      <p:sp>
        <p:nvSpPr>
          <p:cNvPr id="54" name="LegendSwatch"/>
          <p:cNvSpPr txBox="1"/>
          <p:nvPr/>
        </p:nvSpPr>
        <p:spPr>
          <a:xfrm>
            <a:off x="4495800" y="2122488"/>
            <a:ext cx="142875" cy="106362"/>
          </a:xfrm>
          <a:prstGeom prst="rect">
            <a:avLst/>
          </a:prstGeom>
          <a:solidFill>
            <a:srgbClr val="89A2B0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LegendLabel"/>
          <p:cNvSpPr txBox="1"/>
          <p:nvPr/>
        </p:nvSpPr>
        <p:spPr>
          <a:xfrm>
            <a:off x="4689475" y="2117725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Combat Systems Sustainment</a:t>
            </a:r>
          </a:p>
        </p:txBody>
      </p:sp>
      <p:sp>
        <p:nvSpPr>
          <p:cNvPr id="56" name="LegendSwatch"/>
          <p:cNvSpPr txBox="1"/>
          <p:nvPr/>
        </p:nvSpPr>
        <p:spPr>
          <a:xfrm>
            <a:off x="4495800" y="2295525"/>
            <a:ext cx="142875" cy="106362"/>
          </a:xfrm>
          <a:prstGeom prst="rect">
            <a:avLst/>
          </a:prstGeom>
          <a:solidFill>
            <a:srgbClr val="486D82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7" name="LegendLabel"/>
          <p:cNvSpPr txBox="1"/>
          <p:nvPr/>
        </p:nvSpPr>
        <p:spPr>
          <a:xfrm>
            <a:off x="4689475" y="2290763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Hull, Mechanical &amp; Electrical (HM&amp;E)</a:t>
            </a:r>
          </a:p>
        </p:txBody>
      </p:sp>
      <p:sp>
        <p:nvSpPr>
          <p:cNvPr id="58" name="LegendSwatch"/>
          <p:cNvSpPr txBox="1"/>
          <p:nvPr/>
        </p:nvSpPr>
        <p:spPr>
          <a:xfrm>
            <a:off x="4495800" y="2468563"/>
            <a:ext cx="142875" cy="106362"/>
          </a:xfrm>
          <a:prstGeom prst="rect">
            <a:avLst/>
          </a:prstGeom>
          <a:solidFill>
            <a:srgbClr val="1D4D68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9" name="LegendLabel"/>
          <p:cNvSpPr txBox="1"/>
          <p:nvPr/>
        </p:nvSpPr>
        <p:spPr>
          <a:xfrm>
            <a:off x="4689475" y="2463800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Nuclear &amp; Complex Overhauls</a:t>
            </a:r>
          </a:p>
        </p:txBody>
      </p:sp>
      <p:sp>
        <p:nvSpPr>
          <p:cNvPr id="60" name="LegendSwatch"/>
          <p:cNvSpPr txBox="1"/>
          <p:nvPr/>
        </p:nvSpPr>
        <p:spPr>
          <a:xfrm>
            <a:off x="4495800" y="2641600"/>
            <a:ext cx="142875" cy="106362"/>
          </a:xfrm>
          <a:prstGeom prst="rect">
            <a:avLst/>
          </a:prstGeom>
          <a:solidFill>
            <a:srgbClr val="79838F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LegendLabel"/>
          <p:cNvSpPr txBox="1"/>
          <p:nvPr/>
        </p:nvSpPr>
        <p:spPr>
          <a:xfrm>
            <a:off x="4689475" y="2636838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Depot Ship Repair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Composition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Composition | Depot ship repair and nuclear and complex overhauls drove ~74% of MRO TAM, led by DDG and SSN/CVN work.</a:t>
            </a:r>
          </a:p>
        </p:txBody>
      </p:sp>
      <p:sp>
        <p:nvSpPr>
          <p:cNvPr id="10" name="ChartCaption"/>
          <p:cNvSpPr txBox="1"/>
          <p:nvPr/>
        </p:nvSpPr>
        <p:spPr>
          <a:xfrm>
            <a:off x="511175" y="1585116"/>
            <a:ext cx="4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FY2025 reconciled FPDS-visible MRO TAM by work segment and vessel type ($M)</a:t>
            </a:r>
          </a:p>
        </p:txBody>
      </p:sp>
      <p:sp>
        <p:nvSpPr>
          <p:cNvPr id="20" name="SegmentCommentary"/>
          <p:cNvSpPr txBox="1"/>
          <p:nvPr/>
        </p:nvSpPr>
        <p:spPr>
          <a:xfrm>
            <a:off x="8145755" y="2044628"/>
            <a:ext cx="3535070" cy="3477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 work concentrates in DDG and amphibious hulls.</a:t>
            </a:r>
          </a:p>
          <a:p>
            <a:pPr>
              <a:lnSpc>
                <a:spcPct val="115000"/>
              </a:lnSpc>
              <a:spcAft>
                <a:spcPts val="110"/>
              </a:spcAft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 25% ($1.2B) and LPD 13% ($613M) lead; T-AO, CVN, LSD, and LCS each 6%–7%.</a:t>
            </a:r>
          </a:p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Nuclear and complex overhauls are submarine-led.</a:t>
            </a:r>
          </a:p>
          <a:p>
            <a:pPr>
              <a:lnSpc>
                <a:spcPct val="115000"/>
              </a:lnSpc>
              <a:spcAft>
                <a:spcPts val="110"/>
              </a:spcAft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SSN 66% ($1,255M) and CVN 18% ($337M) drive the segment; refueling overhauls at GDEB, CVN RCOH at HII Newport News.</a:t>
            </a:r>
          </a:p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 spreads thinly across surface hulls.</a:t>
            </a:r>
          </a:p>
          <a:p>
            <a:pPr>
              <a:lnSpc>
                <a:spcPct val="115000"/>
              </a:lnSpc>
              <a:spcAft>
                <a:spcPts val="110"/>
              </a:spcAft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 6%; LCS, LPD, T-AO, and CVN at 2%–3% each.</a:t>
            </a:r>
          </a:p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Combat systems sustainment is SSBN-dominated.</a:t>
            </a:r>
          </a:p>
          <a:p>
            <a:pPr>
              <a:lnSpc>
                <a:spcPct val="115000"/>
              </a:lnSpc>
              <a:spcAft>
                <a:spcPts val="110"/>
              </a:spcAft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SSBN 55% ($319M); Trident II and VLS sustainment on Ohio-class SSBNs.</a:t>
            </a:r>
          </a:p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Port and technical work tracks logistics and carrier hulls.</a:t>
            </a:r>
          </a:p>
          <a:p>
            <a:pPr>
              <a:lnSpc>
                <a:spcPct val="115000"/>
              </a:lnSpc>
              <a:spcAft>
                <a:spcPts val="110"/>
              </a:spcAft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T-AO, DDG, T-AKE, and CVN each 8%–10%; ESB 4%.</a:t>
            </a:r>
          </a:p>
          <a:p>
            <a:pPr>
              <a:lnSpc>
                <a:spcPct val="115000"/>
              </a:lnSpc>
              <a:spcAft>
                <a:spcPts val="20"/>
              </a:spcAft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Electronics and C4ISR work is SSBN-led.</a:t>
            </a:r>
          </a:p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SSBN 13% ($42M) Trident II support; CVN, SSN, and DDG trace.</a:t>
            </a:r>
          </a:p>
        </p:txBody>
      </p:sp>
      <p:sp>
        <p:nvSpPr>
          <p:cNvPr id="30" name="FooterNote"/>
          <p:cNvSpPr txBox="1"/>
          <p:nvPr/>
        </p:nvSpPr>
        <p:spPr>
          <a:xfrm>
            <a:off x="457200" y="6008287"/>
            <a:ext cx="1130838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FPDS FY2025 contract obligations, U.S. Navy and U.S. Coast Guard; data as of April 2026</a:t>
            </a:r>
          </a:p>
        </p:txBody>
      </p:sp>
      <p:graphicFrame>
        <p:nvGraphicFramePr>
          <p:cNvPr id="40" name="TamCompositionMarimekko"/>
          <p:cNvGraphicFramePr/>
          <p:nvPr/>
        </p:nvGraphicFramePr>
        <p:xfrm>
          <a:off x="430000" y="1860000"/>
          <a:ext cx="7740000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VDiv"/>
          <p:cNvSpPr txBox="1"/>
          <p:nvPr/>
        </p:nvSpPr>
        <p:spPr>
          <a:xfrm>
            <a:off x="2639216" y="2047875"/>
            <a:ext cx="9525" cy="3584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VDiv"/>
          <p:cNvSpPr txBox="1"/>
          <p:nvPr/>
        </p:nvSpPr>
        <p:spPr>
          <a:xfrm>
            <a:off x="3772564" y="2047875"/>
            <a:ext cx="9525" cy="3584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2" name="VDiv"/>
          <p:cNvSpPr txBox="1"/>
          <p:nvPr/>
        </p:nvSpPr>
        <p:spPr>
          <a:xfrm>
            <a:off x="5437168" y="2047875"/>
            <a:ext cx="9525" cy="3584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3" name="VDiv"/>
          <p:cNvSpPr txBox="1"/>
          <p:nvPr/>
        </p:nvSpPr>
        <p:spPr>
          <a:xfrm>
            <a:off x="6039259" y="2047875"/>
            <a:ext cx="9525" cy="3584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4" name="VDiv"/>
          <p:cNvSpPr txBox="1"/>
          <p:nvPr/>
        </p:nvSpPr>
        <p:spPr>
          <a:xfrm>
            <a:off x="6641350" y="2047875"/>
            <a:ext cx="9525" cy="3584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5" name="HDiv"/>
          <p:cNvSpPr txBox="1"/>
          <p:nvPr/>
        </p:nvSpPr>
        <p:spPr>
          <a:xfrm>
            <a:off x="873123" y="2755901"/>
            <a:ext cx="17708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6" name="HDiv"/>
          <p:cNvSpPr txBox="1"/>
          <p:nvPr/>
        </p:nvSpPr>
        <p:spPr>
          <a:xfrm>
            <a:off x="873123" y="2563813"/>
            <a:ext cx="17708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7" name="HDiv"/>
          <p:cNvSpPr txBox="1"/>
          <p:nvPr/>
        </p:nvSpPr>
        <p:spPr>
          <a:xfrm>
            <a:off x="873123" y="2371725"/>
            <a:ext cx="17708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8" name="HDiv"/>
          <p:cNvSpPr txBox="1"/>
          <p:nvPr/>
        </p:nvSpPr>
        <p:spPr>
          <a:xfrm>
            <a:off x="873123" y="2181225"/>
            <a:ext cx="17708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9" name="HDiv"/>
          <p:cNvSpPr txBox="1"/>
          <p:nvPr/>
        </p:nvSpPr>
        <p:spPr>
          <a:xfrm>
            <a:off x="2643979" y="2281238"/>
            <a:ext cx="11333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0" name="HDiv"/>
          <p:cNvSpPr txBox="1"/>
          <p:nvPr/>
        </p:nvSpPr>
        <p:spPr>
          <a:xfrm>
            <a:off x="2643979" y="2089150"/>
            <a:ext cx="113334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1" name="HDiv"/>
          <p:cNvSpPr txBox="1"/>
          <p:nvPr/>
        </p:nvSpPr>
        <p:spPr>
          <a:xfrm>
            <a:off x="3777326" y="3478213"/>
            <a:ext cx="16646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2" name="HDiv"/>
          <p:cNvSpPr txBox="1"/>
          <p:nvPr/>
        </p:nvSpPr>
        <p:spPr>
          <a:xfrm>
            <a:off x="3777326" y="2716213"/>
            <a:ext cx="16646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3" name="HDiv"/>
          <p:cNvSpPr txBox="1"/>
          <p:nvPr/>
        </p:nvSpPr>
        <p:spPr>
          <a:xfrm>
            <a:off x="3777326" y="2397125"/>
            <a:ext cx="16646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4" name="HDiv"/>
          <p:cNvSpPr txBox="1"/>
          <p:nvPr/>
        </p:nvSpPr>
        <p:spPr>
          <a:xfrm>
            <a:off x="3777326" y="2120900"/>
            <a:ext cx="16646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5" name="HDiv"/>
          <p:cNvSpPr txBox="1"/>
          <p:nvPr/>
        </p:nvSpPr>
        <p:spPr>
          <a:xfrm>
            <a:off x="3777326" y="2049462"/>
            <a:ext cx="16646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6" name="HDiv"/>
          <p:cNvSpPr txBox="1"/>
          <p:nvPr/>
        </p:nvSpPr>
        <p:spPr>
          <a:xfrm>
            <a:off x="5441931" y="2641600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7" name="HDiv"/>
          <p:cNvSpPr txBox="1"/>
          <p:nvPr/>
        </p:nvSpPr>
        <p:spPr>
          <a:xfrm>
            <a:off x="5441931" y="2232025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8" name="HDiv"/>
          <p:cNvSpPr txBox="1"/>
          <p:nvPr/>
        </p:nvSpPr>
        <p:spPr>
          <a:xfrm>
            <a:off x="6044022" y="3906838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9" name="HDiv"/>
          <p:cNvSpPr txBox="1"/>
          <p:nvPr/>
        </p:nvSpPr>
        <p:spPr>
          <a:xfrm>
            <a:off x="6044022" y="2314575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0" name="HDiv"/>
          <p:cNvSpPr txBox="1"/>
          <p:nvPr/>
        </p:nvSpPr>
        <p:spPr>
          <a:xfrm>
            <a:off x="6044022" y="2154237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1" name="HDiv"/>
          <p:cNvSpPr txBox="1"/>
          <p:nvPr/>
        </p:nvSpPr>
        <p:spPr>
          <a:xfrm>
            <a:off x="6044022" y="2058987"/>
            <a:ext cx="6020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2" name="HDiv"/>
          <p:cNvSpPr txBox="1"/>
          <p:nvPr/>
        </p:nvSpPr>
        <p:spPr>
          <a:xfrm>
            <a:off x="6646113" y="4349750"/>
            <a:ext cx="1310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3" name="HDiv"/>
          <p:cNvSpPr txBox="1"/>
          <p:nvPr/>
        </p:nvSpPr>
        <p:spPr>
          <a:xfrm>
            <a:off x="6646113" y="3289300"/>
            <a:ext cx="1310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4" name="HDiv"/>
          <p:cNvSpPr txBox="1"/>
          <p:nvPr/>
        </p:nvSpPr>
        <p:spPr>
          <a:xfrm>
            <a:off x="6646113" y="2859087"/>
            <a:ext cx="1310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5" name="HDiv"/>
          <p:cNvSpPr txBox="1"/>
          <p:nvPr/>
        </p:nvSpPr>
        <p:spPr>
          <a:xfrm>
            <a:off x="6646113" y="2443162"/>
            <a:ext cx="1310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6" name="HDiv"/>
          <p:cNvSpPr txBox="1"/>
          <p:nvPr/>
        </p:nvSpPr>
        <p:spPr>
          <a:xfrm>
            <a:off x="6646113" y="2084387"/>
            <a:ext cx="13104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04" name="Text Placeholder 25"/>
          <p:cNvSpPr>
            <a:spLocks/>
          </p:cNvSpPr>
          <p:nvPr/>
        </p:nvSpPr>
        <p:spPr bwMode="gray">
          <a:xfrm>
            <a:off x="1641475" y="413543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80%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5" name="Text Placeholder 25"/>
          <p:cNvSpPr>
            <a:spLocks/>
          </p:cNvSpPr>
          <p:nvPr/>
        </p:nvSpPr>
        <p:spPr bwMode="gray">
          <a:xfrm>
            <a:off x="1670050" y="22209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7" name="Text Placeholder 25"/>
          <p:cNvSpPr>
            <a:spLocks/>
          </p:cNvSpPr>
          <p:nvPr/>
        </p:nvSpPr>
        <p:spPr bwMode="gray">
          <a:xfrm>
            <a:off x="1670050" y="2603500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0" name="Text Placeholder 25"/>
          <p:cNvSpPr>
            <a:spLocks/>
          </p:cNvSpPr>
          <p:nvPr/>
        </p:nvSpPr>
        <p:spPr bwMode="gray">
          <a:xfrm>
            <a:off x="1670050" y="24114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8" name="Text Placeholder 25"/>
          <p:cNvSpPr>
            <a:spLocks/>
          </p:cNvSpPr>
          <p:nvPr/>
        </p:nvSpPr>
        <p:spPr bwMode="gray">
          <a:xfrm>
            <a:off x="6224588" y="305435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44%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7" name="Text Placeholder 25"/>
          <p:cNvSpPr>
            <a:spLocks/>
          </p:cNvSpPr>
          <p:nvPr/>
        </p:nvSpPr>
        <p:spPr bwMode="gray">
          <a:xfrm>
            <a:off x="4518025" y="25003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9%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7" name="Text Placeholder 25"/>
          <p:cNvSpPr>
            <a:spLocks/>
          </p:cNvSpPr>
          <p:nvPr/>
        </p:nvSpPr>
        <p:spPr bwMode="gray">
          <a:xfrm>
            <a:off x="6253163" y="2051050"/>
            <a:ext cx="176213" cy="1222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6" name="Text Placeholder 25"/>
          <p:cNvSpPr>
            <a:spLocks/>
          </p:cNvSpPr>
          <p:nvPr/>
        </p:nvSpPr>
        <p:spPr bwMode="gray">
          <a:xfrm>
            <a:off x="4489450" y="449738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60%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9" name="Text Placeholder 25"/>
          <p:cNvSpPr>
            <a:spLocks/>
          </p:cNvSpPr>
          <p:nvPr/>
        </p:nvSpPr>
        <p:spPr bwMode="auto">
          <a:xfrm>
            <a:off x="2606675" y="5665788"/>
            <a:ext cx="12080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Amphibious Warfare Ships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64" name="Text Placeholder 25"/>
          <p:cNvSpPr>
            <a:spLocks/>
          </p:cNvSpPr>
          <p:nvPr/>
        </p:nvSpPr>
        <p:spPr bwMode="gray">
          <a:xfrm>
            <a:off x="6253163" y="2178050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5%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43" name="Text Placeholder 25"/>
          <p:cNvSpPr>
            <a:spLocks/>
          </p:cNvSpPr>
          <p:nvPr/>
        </p:nvSpPr>
        <p:spPr bwMode="auto">
          <a:xfrm>
            <a:off x="6059488" y="5665788"/>
            <a:ext cx="7112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Aircraft Carriers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25" name="Text Placeholder 25"/>
          <p:cNvSpPr>
            <a:spLocks/>
          </p:cNvSpPr>
          <p:nvPr/>
        </p:nvSpPr>
        <p:spPr bwMode="gray">
          <a:xfrm>
            <a:off x="4105275" y="2028825"/>
            <a:ext cx="176213" cy="1222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6" name="Text Placeholder 25"/>
          <p:cNvSpPr>
            <a:spLocks/>
          </p:cNvSpPr>
          <p:nvPr/>
        </p:nvSpPr>
        <p:spPr bwMode="gray">
          <a:xfrm>
            <a:off x="7181850" y="493236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36%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1" name="Text Placeholder 25"/>
          <p:cNvSpPr>
            <a:spLocks/>
          </p:cNvSpPr>
          <p:nvPr/>
        </p:nvSpPr>
        <p:spPr bwMode="gray">
          <a:xfrm>
            <a:off x="3122613" y="2009775"/>
            <a:ext cx="176213" cy="1222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75" name="Text Placeholder 25"/>
          <p:cNvSpPr>
            <a:spLocks/>
          </p:cNvSpPr>
          <p:nvPr/>
        </p:nvSpPr>
        <p:spPr bwMode="gray">
          <a:xfrm>
            <a:off x="7181850" y="259556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12%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2" name="Text Placeholder 25"/>
          <p:cNvSpPr>
            <a:spLocks/>
          </p:cNvSpPr>
          <p:nvPr/>
        </p:nvSpPr>
        <p:spPr bwMode="gray">
          <a:xfrm>
            <a:off x="3122613" y="2128838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4" name="Text Placeholder 25"/>
          <p:cNvSpPr>
            <a:spLocks/>
          </p:cNvSpPr>
          <p:nvPr/>
        </p:nvSpPr>
        <p:spPr bwMode="gray">
          <a:xfrm>
            <a:off x="7181850" y="376396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30%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0" name="Text Placeholder 25"/>
          <p:cNvSpPr>
            <a:spLocks/>
          </p:cNvSpPr>
          <p:nvPr/>
        </p:nvSpPr>
        <p:spPr bwMode="gray">
          <a:xfrm>
            <a:off x="3094038" y="389890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93%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3" name="Text Placeholder 25"/>
          <p:cNvSpPr>
            <a:spLocks/>
          </p:cNvSpPr>
          <p:nvPr/>
        </p:nvSpPr>
        <p:spPr bwMode="gray">
          <a:xfrm>
            <a:off x="7210425" y="2008188"/>
            <a:ext cx="176213" cy="1222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2" name="Text Placeholder 25"/>
          <p:cNvSpPr>
            <a:spLocks/>
          </p:cNvSpPr>
          <p:nvPr/>
        </p:nvSpPr>
        <p:spPr bwMode="gray">
          <a:xfrm>
            <a:off x="7181850" y="220821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10%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48" name="Text Placeholder 25"/>
          <p:cNvSpPr>
            <a:spLocks/>
          </p:cNvSpPr>
          <p:nvPr/>
        </p:nvSpPr>
        <p:spPr bwMode="gray">
          <a:xfrm>
            <a:off x="1670050" y="20558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4%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71" name="Text Placeholder 25"/>
          <p:cNvSpPr>
            <a:spLocks/>
          </p:cNvSpPr>
          <p:nvPr/>
        </p:nvSpPr>
        <p:spPr bwMode="gray">
          <a:xfrm>
            <a:off x="7181850" y="301783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12%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44" name="Text Placeholder 25"/>
          <p:cNvSpPr>
            <a:spLocks/>
          </p:cNvSpPr>
          <p:nvPr/>
        </p:nvSpPr>
        <p:spPr bwMode="auto">
          <a:xfrm>
            <a:off x="7170738" y="5665788"/>
            <a:ext cx="2555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Other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18" name="Text Placeholder 25"/>
          <p:cNvSpPr>
            <a:spLocks/>
          </p:cNvSpPr>
          <p:nvPr/>
        </p:nvSpPr>
        <p:spPr bwMode="gray">
          <a:xfrm>
            <a:off x="1614488" y="1868488"/>
            <a:ext cx="2857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2,239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23" name="Text Placeholder 25"/>
          <p:cNvSpPr>
            <a:spLocks/>
          </p:cNvSpPr>
          <p:nvPr/>
        </p:nvSpPr>
        <p:spPr bwMode="gray">
          <a:xfrm>
            <a:off x="3067050" y="1868488"/>
            <a:ext cx="2857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1,441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28" name="Text Placeholder 25"/>
          <p:cNvSpPr>
            <a:spLocks/>
          </p:cNvSpPr>
          <p:nvPr/>
        </p:nvSpPr>
        <p:spPr bwMode="gray">
          <a:xfrm>
            <a:off x="4462463" y="1868488"/>
            <a:ext cx="2857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2,093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57" name="Text Placeholder 25"/>
          <p:cNvSpPr>
            <a:spLocks/>
          </p:cNvSpPr>
          <p:nvPr/>
        </p:nvSpPr>
        <p:spPr bwMode="gray">
          <a:xfrm>
            <a:off x="5635625" y="1868488"/>
            <a:ext cx="200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769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63" name="Text Placeholder 25"/>
          <p:cNvSpPr>
            <a:spLocks/>
          </p:cNvSpPr>
          <p:nvPr/>
        </p:nvSpPr>
        <p:spPr bwMode="gray">
          <a:xfrm>
            <a:off x="6240463" y="1868488"/>
            <a:ext cx="200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759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70" name="Text Placeholder 25"/>
          <p:cNvSpPr>
            <a:spLocks/>
          </p:cNvSpPr>
          <p:nvPr/>
        </p:nvSpPr>
        <p:spPr bwMode="gray">
          <a:xfrm>
            <a:off x="7154863" y="1868488"/>
            <a:ext cx="28575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1,667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62" name="Text Placeholder 25"/>
          <p:cNvSpPr>
            <a:spLocks/>
          </p:cNvSpPr>
          <p:nvPr/>
        </p:nvSpPr>
        <p:spPr bwMode="gray">
          <a:xfrm>
            <a:off x="5619751" y="407828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83%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4" name="Text Placeholder 25"/>
          <p:cNvSpPr>
            <a:spLocks/>
          </p:cNvSpPr>
          <p:nvPr/>
        </p:nvSpPr>
        <p:spPr bwMode="auto">
          <a:xfrm>
            <a:off x="4333875" y="5665788"/>
            <a:ext cx="5445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Submarines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02" name="Text Placeholder 25"/>
          <p:cNvSpPr>
            <a:spLocks/>
          </p:cNvSpPr>
          <p:nvPr/>
        </p:nvSpPr>
        <p:spPr bwMode="auto">
          <a:xfrm>
            <a:off x="1292225" y="5665788"/>
            <a:ext cx="9318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Surface Combatants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54" name="Text Placeholder 25"/>
          <p:cNvSpPr>
            <a:spLocks/>
          </p:cNvSpPr>
          <p:nvPr/>
        </p:nvSpPr>
        <p:spPr bwMode="gray">
          <a:xfrm>
            <a:off x="4932363" y="1990725"/>
            <a:ext cx="176213" cy="1222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0%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58" name="Text Placeholder 25"/>
          <p:cNvSpPr>
            <a:spLocks/>
          </p:cNvSpPr>
          <p:nvPr/>
        </p:nvSpPr>
        <p:spPr bwMode="gray">
          <a:xfrm>
            <a:off x="5619751" y="238125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11%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42" name="Text Placeholder 25"/>
          <p:cNvSpPr>
            <a:spLocks/>
          </p:cNvSpPr>
          <p:nvPr/>
        </p:nvSpPr>
        <p:spPr bwMode="auto">
          <a:xfrm>
            <a:off x="4948238" y="5665788"/>
            <a:ext cx="10668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Combat Logistics Ships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55" name="Text Placeholder 25"/>
          <p:cNvSpPr>
            <a:spLocks/>
          </p:cNvSpPr>
          <p:nvPr/>
        </p:nvSpPr>
        <p:spPr bwMode="gray">
          <a:xfrm>
            <a:off x="4518025" y="2203450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latin typeface="+mj-lt"/>
                <a:ea typeface="+mj-ea"/>
                <a:cs typeface="+mj-cs"/>
              </a:rPr>
              <a:t>8%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69" name="Text Placeholder 25"/>
          <p:cNvSpPr>
            <a:spLocks/>
          </p:cNvSpPr>
          <p:nvPr/>
        </p:nvSpPr>
        <p:spPr bwMode="gray">
          <a:xfrm>
            <a:off x="6224588" y="471170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48%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6" name="Text Placeholder 25"/>
          <p:cNvSpPr>
            <a:spLocks/>
          </p:cNvSpPr>
          <p:nvPr/>
        </p:nvSpPr>
        <p:spPr bwMode="gray">
          <a:xfrm>
            <a:off x="4489450" y="304165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21%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1" name="Text Placeholder 25"/>
          <p:cNvSpPr>
            <a:spLocks/>
          </p:cNvSpPr>
          <p:nvPr/>
        </p:nvSpPr>
        <p:spPr bwMode="gray">
          <a:xfrm>
            <a:off x="5648325" y="20812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3" name="Rectangle 142"/>
          <p:cNvSpPr/>
          <p:nvPr/>
        </p:nvSpPr>
        <p:spPr bwMode="auto">
          <a:xfrm>
            <a:off x="4178300" y="1281113"/>
            <a:ext cx="142875" cy="1063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Rectangle 143"/>
          <p:cNvSpPr/>
          <p:nvPr/>
        </p:nvSpPr>
        <p:spPr bwMode="auto">
          <a:xfrm>
            <a:off x="4178300" y="1454150"/>
            <a:ext cx="142875" cy="10636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144"/>
          <p:cNvSpPr/>
          <p:nvPr/>
        </p:nvSpPr>
        <p:spPr bwMode="auto">
          <a:xfrm>
            <a:off x="4178300" y="1627188"/>
            <a:ext cx="142875" cy="106363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Rectangle 145"/>
          <p:cNvSpPr/>
          <p:nvPr/>
        </p:nvSpPr>
        <p:spPr bwMode="auto">
          <a:xfrm>
            <a:off x="6148388" y="1281113"/>
            <a:ext cx="142875" cy="106363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Rectangle 146"/>
          <p:cNvSpPr/>
          <p:nvPr/>
        </p:nvSpPr>
        <p:spPr bwMode="auto">
          <a:xfrm>
            <a:off x="6148388" y="1454150"/>
            <a:ext cx="142875" cy="106363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Rectangle 147"/>
          <p:cNvSpPr/>
          <p:nvPr/>
        </p:nvSpPr>
        <p:spPr bwMode="auto">
          <a:xfrm>
            <a:off x="6148388" y="1627188"/>
            <a:ext cx="142875" cy="106363"/>
          </a:xfrm>
          <a:prstGeom prst="rect">
            <a:avLst/>
          </a:prstGeom>
          <a:solidFill>
            <a:schemeClr val="accent6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Text Placeholder 25"/>
          <p:cNvSpPr>
            <a:spLocks/>
          </p:cNvSpPr>
          <p:nvPr/>
        </p:nvSpPr>
        <p:spPr bwMode="auto">
          <a:xfrm>
            <a:off x="4371975" y="1276350"/>
            <a:ext cx="835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Depot Ship Repair</a:t>
            </a:r>
            <a:endParaRPr lang="en-US" sz="800" dirty="0"/>
          </a:p>
        </p:txBody>
      </p:sp>
      <p:sp>
        <p:nvSpPr>
          <p:cNvPr id="330" name="Text Placeholder 25"/>
          <p:cNvSpPr>
            <a:spLocks/>
          </p:cNvSpPr>
          <p:nvPr/>
        </p:nvSpPr>
        <p:spPr bwMode="auto">
          <a:xfrm>
            <a:off x="4371975" y="1449388"/>
            <a:ext cx="13716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Nuclear &amp; Complex Overhauls</a:t>
            </a:r>
            <a:endParaRPr lang="en-US" sz="800" dirty="0"/>
          </a:p>
        </p:txBody>
      </p:sp>
      <p:sp>
        <p:nvSpPr>
          <p:cNvPr id="331" name="Text Placeholder 25"/>
          <p:cNvSpPr>
            <a:spLocks/>
          </p:cNvSpPr>
          <p:nvPr/>
        </p:nvSpPr>
        <p:spPr bwMode="auto">
          <a:xfrm>
            <a:off x="4371975" y="1622425"/>
            <a:ext cx="16748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Hull, Mechanical &amp; Electrical (HM&amp;E)</a:t>
            </a:r>
            <a:endParaRPr lang="en-US" sz="800" dirty="0"/>
          </a:p>
        </p:txBody>
      </p:sp>
      <p:sp>
        <p:nvSpPr>
          <p:cNvPr id="345" name="Text Placeholder 25"/>
          <p:cNvSpPr>
            <a:spLocks/>
          </p:cNvSpPr>
          <p:nvPr/>
        </p:nvSpPr>
        <p:spPr bwMode="auto">
          <a:xfrm>
            <a:off x="6342063" y="1276350"/>
            <a:ext cx="13731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Combat Systems Sustainment</a:t>
            </a:r>
            <a:endParaRPr lang="en-US" sz="800" dirty="0"/>
          </a:p>
        </p:txBody>
      </p:sp>
      <p:sp>
        <p:nvSpPr>
          <p:cNvPr id="346" name="Text Placeholder 25"/>
          <p:cNvSpPr>
            <a:spLocks/>
          </p:cNvSpPr>
          <p:nvPr/>
        </p:nvSpPr>
        <p:spPr bwMode="auto">
          <a:xfrm>
            <a:off x="6342063" y="1449388"/>
            <a:ext cx="15208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Electronics &amp; C4ISR Sustainment</a:t>
            </a:r>
            <a:endParaRPr lang="en-US" sz="800" dirty="0"/>
          </a:p>
        </p:txBody>
      </p:sp>
      <p:sp>
        <p:nvSpPr>
          <p:cNvPr id="347" name="Text Placeholder 25"/>
          <p:cNvSpPr>
            <a:spLocks/>
          </p:cNvSpPr>
          <p:nvPr/>
        </p:nvSpPr>
        <p:spPr bwMode="auto">
          <a:xfrm>
            <a:off x="6342063" y="1622425"/>
            <a:ext cx="11684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/>
              <a:t>Port &amp; Technical Services</a:t>
            </a:r>
            <a:endParaRPr lang="en-US" sz="800" dirty="0"/>
          </a:p>
        </p:txBody>
      </p:sp>
      <p:sp>
        <p:nvSpPr>
          <p:cNvPr id="303" name="Rectangle 2"/>
          <p:cNvSpPr/>
          <p:nvPr/>
        </p:nvSpPr>
        <p:spPr>
          <a:xfrm>
            <a:off x="8145755" y="1620565"/>
            <a:ext cx="3538728" cy="27432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1" dirty="0">
                <a:solidFill>
                  <a:srgbClr val="162029"/>
                </a:solidFill>
              </a:rPr>
              <a:t>Segment composition by hull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Top-Down Detail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Top-Down Composition | Public Naval Shipyard labor leads the $17.0B budget-anchored MRO at 44%, ahead of OMN 1B4B private availabilities at 25%.</a:t>
            </a:r>
          </a:p>
        </p:txBody>
      </p:sp>
      <p:sp>
        <p:nvSpPr>
          <p:cNvPr id="100" name="ChartCaption"/>
          <p:cNvSpPr txBox="1"/>
          <p:nvPr/>
        </p:nvSpPr>
        <p:spPr>
          <a:xfrm>
            <a:off x="403013" y="1298363"/>
            <a:ext cx="3622253" cy="27543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FY2025 budget-anchored MRO funding by source ($M)</a:t>
            </a:r>
          </a:p>
        </p:txBody>
      </p:sp>
      <p:graphicFrame>
        <p:nvGraphicFramePr>
          <p:cNvPr id="307" name="BLD.tam_top_down_detail.table.line_item_detail"/>
          <p:cNvGraphicFramePr>
            <a:graphicFrameLocks noGrp="1"/>
          </p:cNvGraphicFramePr>
          <p:nvPr/>
        </p:nvGraphicFramePr>
        <p:xfrm>
          <a:off x="6675120" y="1308266"/>
          <a:ext cx="5074920" cy="45889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822960"/>
                <a:gridCol w="1508760"/>
              </a:tblGrid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Category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FY2025</a:t>
                      </a:r>
                      <a:r>
                        <a:rPr lang="en-US"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 ($M)</a:t>
                      </a:r>
                      <a:endParaRPr sz="900" b="1" i="0" dirty="0">
                        <a:solidFill>
                          <a:srgbClr val="162029"/>
                        </a:solidFill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PB26 PDF Source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OMN 1B4B Total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11,764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OMN OP-5, p.157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   Private avail subtotal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4,279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IL: Non-depot / Intermediate </a:t>
                      </a:r>
                      <a:r>
                        <a:rPr sz="900" b="0" i="1" dirty="0" err="1">
                          <a:solidFill>
                            <a:srgbClr val="000000"/>
                          </a:solidFill>
                          <a:latin typeface="+mj-lt"/>
                        </a:rPr>
                        <a:t>Maint</a:t>
                      </a:r>
                      <a:endParaRPr sz="900" b="0" i="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162029"/>
                          </a:solidFill>
                          <a:latin typeface="+mj-lt"/>
                        </a:rPr>
                        <a:t>1,429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ORATA: </a:t>
                      </a:r>
                      <a:r>
                        <a:rPr sz="900" b="0" i="1" dirty="0" err="1">
                          <a:solidFill>
                            <a:srgbClr val="000000"/>
                          </a:solidFill>
                          <a:latin typeface="+mj-lt"/>
                        </a:rPr>
                        <a:t>Misc</a:t>
                      </a: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Restricted/Trade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162029"/>
                          </a:solidFill>
                          <a:latin typeface="+mj-lt"/>
                        </a:rPr>
                        <a:t>990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 dirty="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CM: Continuous Maintenance (CMAV)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663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SRA: Selected Restricted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384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PIA: Planned Incremental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322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OH: Overhauls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250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ERATA: Emergent Repair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136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SIA: Surface Incremental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64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SCO: Service Craft Overhauls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>
                          <a:solidFill>
                            <a:srgbClr val="162029"/>
                          </a:solidFill>
                          <a:latin typeface="+mj-lt"/>
                        </a:rPr>
                        <a:t>23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CIA: Carrier Incremental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162029"/>
                          </a:solidFill>
                          <a:latin typeface="+mj-lt"/>
                        </a:rPr>
                        <a:t>16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000000"/>
                          </a:solidFill>
                          <a:latin typeface="+mj-lt"/>
                        </a:rPr>
                        <a:t>      PMA: Planned Maintenance Avail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1" dirty="0">
                          <a:solidFill>
                            <a:srgbClr val="162029"/>
                          </a:solidFill>
                          <a:latin typeface="+mj-lt"/>
                        </a:rPr>
                        <a:t>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   Public NSY (4 yards) subtotal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7,485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OPN LI 1000: Ship </a:t>
                      </a:r>
                      <a:r>
                        <a:rPr sz="900" b="1" i="0" dirty="0" err="1">
                          <a:solidFill>
                            <a:srgbClr val="000000"/>
                          </a:solidFill>
                          <a:latin typeface="+mj-lt"/>
                        </a:rPr>
                        <a:t>Maint</a:t>
                      </a: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, Repair and Mod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2,392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OPN BA-1 P-40, p.521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MSC M and R (1B1B FY2025</a:t>
                      </a:r>
                      <a:r>
                        <a:rPr lang="en-US"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 transfer</a:t>
                      </a: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1,240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OMN OP-5, p.129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SCN LI 2086 CVN RCOH (HII NNS)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1,480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SCN P-40, p.175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13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000000"/>
                          </a:solidFill>
                          <a:latin typeface="+mj-lt"/>
                        </a:rPr>
                        <a:t>USCG ISVS (PC and I floor)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120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+mj-lt"/>
                        </a:rPr>
                        <a:t>USCG Justification, p.6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2455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chemeClr val="bg1"/>
                          </a:solidFill>
                          <a:latin typeface="+mj-lt"/>
                        </a:rPr>
                        <a:t>MRO </a:t>
                      </a:r>
                      <a:r>
                        <a:rPr lang="en-US" sz="900" b="1" i="0" dirty="0">
                          <a:solidFill>
                            <a:schemeClr val="bg1"/>
                          </a:solidFill>
                          <a:latin typeface="+mj-lt"/>
                        </a:rPr>
                        <a:t>Total (Top-Down Approach)</a:t>
                      </a:r>
                      <a:endParaRPr sz="900" b="1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chemeClr val="bg1"/>
                          </a:solidFill>
                          <a:latin typeface="+mj-lt"/>
                        </a:rPr>
                        <a:t>16,996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900" b="1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sp>
        <p:nvSpPr>
          <p:cNvPr id="101" name="FooterNote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PB26 OMN OP-5; (2) PB26 SCN P-40 LI 2086 and OPN BA-1 P-40 LI 1000; (3) PB26 USCG Justification; data as of April 2026</a:t>
            </a:r>
          </a:p>
        </p:txBody>
      </p:sp>
      <p:graphicFrame>
        <p:nvGraphicFramePr>
          <p:cNvPr id="102" name="TopDownStackedColumn"/>
          <p:cNvGraphicFramePr/>
          <p:nvPr/>
        </p:nvGraphicFramePr>
        <p:xfrm>
          <a:off x="465138" y="1660000"/>
          <a:ext cx="3946525" cy="4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3" name="ChartTotal"/>
          <p:cNvSpPr txBox="1"/>
          <p:nvPr/>
        </p:nvSpPr>
        <p:spPr>
          <a:xfrm>
            <a:off x="2359025" y="1574800"/>
            <a:ext cx="484188" cy="122238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$16,996M</a:t>
            </a:r>
          </a:p>
        </p:txBody>
      </p:sp>
      <p:sp>
        <p:nvSpPr>
          <p:cNvPr id="104" name="OnePctChip"/>
          <p:cNvSpPr txBox="1"/>
          <p:nvPr/>
        </p:nvSpPr>
        <p:spPr>
          <a:xfrm>
            <a:off x="2513013" y="1697038"/>
            <a:ext cx="176213" cy="122238"/>
          </a:xfrm>
          <a:prstGeom prst="rect">
            <a:avLst/>
          </a:prstGeom>
          <a:solidFill>
            <a:srgbClr val="D8E3EB"/>
          </a:solidFill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1%</a:t>
            </a:r>
          </a:p>
        </p:txBody>
      </p:sp>
      <p:sp>
        <p:nvSpPr>
          <p:cNvPr id="110" name="LegendSwatch"/>
          <p:cNvSpPr txBox="1"/>
          <p:nvPr/>
        </p:nvSpPr>
        <p:spPr>
          <a:xfrm>
            <a:off x="4540250" y="1747838"/>
            <a:ext cx="142875" cy="106362"/>
          </a:xfrm>
          <a:prstGeom prst="rect">
            <a:avLst/>
          </a:prstGeom>
          <a:solidFill>
            <a:srgbClr val="D8E3EB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1" name="LegendLabel"/>
          <p:cNvSpPr txBox="1"/>
          <p:nvPr/>
        </p:nvSpPr>
        <p:spPr>
          <a:xfrm>
            <a:off x="4733925" y="1743075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USCG ISVS</a:t>
            </a:r>
          </a:p>
        </p:txBody>
      </p:sp>
      <p:sp>
        <p:nvSpPr>
          <p:cNvPr id="112" name="LegendSwatch"/>
          <p:cNvSpPr txBox="1"/>
          <p:nvPr/>
        </p:nvSpPr>
        <p:spPr>
          <a:xfrm>
            <a:off x="4540250" y="1920875"/>
            <a:ext cx="142875" cy="106362"/>
          </a:xfrm>
          <a:prstGeom prst="rect">
            <a:avLst/>
          </a:prstGeom>
          <a:solidFill>
            <a:srgbClr val="AFC2CC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3" name="LegendLabel"/>
          <p:cNvSpPr txBox="1"/>
          <p:nvPr/>
        </p:nvSpPr>
        <p:spPr>
          <a:xfrm>
            <a:off x="4733925" y="1916113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MSC M&amp;R</a:t>
            </a:r>
          </a:p>
        </p:txBody>
      </p:sp>
      <p:sp>
        <p:nvSpPr>
          <p:cNvPr id="114" name="LegendSwatch"/>
          <p:cNvSpPr txBox="1"/>
          <p:nvPr/>
        </p:nvSpPr>
        <p:spPr>
          <a:xfrm>
            <a:off x="4540250" y="2093913"/>
            <a:ext cx="142875" cy="106362"/>
          </a:xfrm>
          <a:prstGeom prst="rect">
            <a:avLst/>
          </a:prstGeom>
          <a:solidFill>
            <a:srgbClr val="89A2B0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5" name="LegendLabel"/>
          <p:cNvSpPr txBox="1"/>
          <p:nvPr/>
        </p:nvSpPr>
        <p:spPr>
          <a:xfrm>
            <a:off x="4733925" y="2089150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SCN LI 2086 RCOH</a:t>
            </a:r>
          </a:p>
        </p:txBody>
      </p:sp>
      <p:sp>
        <p:nvSpPr>
          <p:cNvPr id="116" name="LegendSwatch"/>
          <p:cNvSpPr txBox="1"/>
          <p:nvPr/>
        </p:nvSpPr>
        <p:spPr>
          <a:xfrm>
            <a:off x="4540250" y="2266950"/>
            <a:ext cx="142875" cy="106362"/>
          </a:xfrm>
          <a:prstGeom prst="rect">
            <a:avLst/>
          </a:prstGeom>
          <a:solidFill>
            <a:srgbClr val="486D82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7" name="LegendLabel"/>
          <p:cNvSpPr txBox="1"/>
          <p:nvPr/>
        </p:nvSpPr>
        <p:spPr>
          <a:xfrm>
            <a:off x="4733925" y="2262188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OPN LI 1000</a:t>
            </a:r>
          </a:p>
        </p:txBody>
      </p:sp>
      <p:sp>
        <p:nvSpPr>
          <p:cNvPr id="118" name="LegendSwatch"/>
          <p:cNvSpPr txBox="1"/>
          <p:nvPr/>
        </p:nvSpPr>
        <p:spPr>
          <a:xfrm>
            <a:off x="4540250" y="2439988"/>
            <a:ext cx="142875" cy="106362"/>
          </a:xfrm>
          <a:prstGeom prst="rect">
            <a:avLst/>
          </a:prstGeom>
          <a:solidFill>
            <a:srgbClr val="1D4D68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9" name="LegendLabel"/>
          <p:cNvSpPr txBox="1"/>
          <p:nvPr/>
        </p:nvSpPr>
        <p:spPr>
          <a:xfrm>
            <a:off x="4733925" y="2435225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1B4B Private avails</a:t>
            </a:r>
          </a:p>
        </p:txBody>
      </p:sp>
      <p:sp>
        <p:nvSpPr>
          <p:cNvPr id="120" name="LegendSwatch"/>
          <p:cNvSpPr txBox="1"/>
          <p:nvPr/>
        </p:nvSpPr>
        <p:spPr>
          <a:xfrm>
            <a:off x="4540250" y="2613025"/>
            <a:ext cx="142875" cy="106362"/>
          </a:xfrm>
          <a:prstGeom prst="rect">
            <a:avLst/>
          </a:prstGeom>
          <a:solidFill>
            <a:srgbClr val="79838F"/>
          </a:solidFill>
          <a:ln w="9525">
            <a:solidFill>
              <a:srgbClr val="FFFFFF"/>
            </a:solidFill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1" name="LegendLabel"/>
          <p:cNvSpPr txBox="1"/>
          <p:nvPr/>
        </p:nvSpPr>
        <p:spPr>
          <a:xfrm>
            <a:off x="4733925" y="2608263"/>
            <a:ext cx="1750000" cy="12223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NSY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Top-Down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Top-Down Funnel | Removing the $7.49B Public NSY labor floor from the $17.0B budget leaves $9.5B of non-public-NSY MRO, near the $9.0B bottom-up TAM.</a:t>
            </a:r>
          </a:p>
        </p:txBody>
      </p:sp>
      <p:graphicFrame>
        <p:nvGraphicFramePr>
          <p:cNvPr id="100" name="Chart 49"/>
          <p:cNvGraphicFramePr/>
          <p:nvPr/>
        </p:nvGraphicFramePr>
        <p:xfrm>
          <a:off x="354013" y="1646238"/>
          <a:ext cx="60182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8" name="BLD.tam_approach_top_down.footer.main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(1) PB26 OMN OP-5 Exhibit 1B4B Ship Maintenance (p.157, MSC p.129); (2) PB26 OPN BA-1 P-40 LI 1000 (p.521); (3) PB26 SCN P-40 LI 2086 CVN RCOH (p.175); (4) PB26 USCG Justification ISVS PC and I (p.6); data as of April 2026</a:t>
            </a:r>
          </a:p>
        </p:txBody>
      </p:sp>
      <p:sp>
        <p:nvSpPr>
          <p:cNvPr id="318" name="BLD.tam_top_down_funnel.commentary.main"/>
          <p:cNvSpPr txBox="1"/>
          <p:nvPr/>
        </p:nvSpPr>
        <p:spPr>
          <a:xfrm>
            <a:off x="6675120" y="1527048"/>
            <a:ext cx="5074920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</a:rPr>
              <a:t>$17.0B input pool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OMN 1B4B: $11.76B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OPN LI 1000: $2.39B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SCN LI 2086 CVN RCOH: $1.48B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MSC M&amp;R: $1.24B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USCG ISVS: $0.12B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</a:rPr>
              <a:t>$7.49B Public NSY (44% of input)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Federal civilian labor at four public yards: Norfolk, Portsmouth, Puget Sound, Pearl Harbor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Executed in-house, structurally FPDS-invisible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</a:rPr>
              <a:t>$9.5B non-public-NSY residual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$4.28B OMN 1B4B private availabilities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$5.23B non-1B4B anchors (OPN, SCN, MSC, USCG)</a:t>
            </a:r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</a:rPr>
              <a:t>$9.5B FY2025 non-public-NSY MRO funding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USN/USCG non-public-NSY scope</a:t>
            </a:r>
          </a:p>
          <a:p>
            <a:pPr marL="228600" lvl="1" indent="-171450" algn="l">
              <a:buChar char="•"/>
            </a:pPr>
            <a:r>
              <a:rPr lang="en-US" sz="1000" dirty="0">
                <a:solidFill>
                  <a:srgbClr val="162029"/>
                </a:solidFill>
                <a:latin typeface="Arial"/>
              </a:rPr>
              <a:t>Reconciles to bottom-up FPDS on slide 10</a:t>
            </a:r>
          </a:p>
        </p:txBody>
      </p:sp>
      <p:cxnSp>
        <p:nvCxnSpPr>
          <p:cNvPr id="332" name="Straight Connector 31"/>
          <p:cNvCxnSpPr/>
          <p:nvPr/>
        </p:nvCxnSpPr>
        <p:spPr bwMode="auto">
          <a:xfrm>
            <a:off x="2349500" y="1973263"/>
            <a:ext cx="787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2"/>
          <p:cNvCxnSpPr/>
          <p:nvPr/>
        </p:nvCxnSpPr>
        <p:spPr bwMode="auto">
          <a:xfrm>
            <a:off x="4122738" y="3438525"/>
            <a:ext cx="7874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" name="Text Placeholder 25"/>
          <p:cNvSpPr>
            <a:spLocks/>
          </p:cNvSpPr>
          <p:nvPr/>
        </p:nvSpPr>
        <p:spPr bwMode="auto">
          <a:xfrm>
            <a:off x="1265238" y="5345113"/>
            <a:ext cx="11811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latin typeface="+mj-lt"/>
                <a:ea typeface="+mj-ea"/>
                <a:cs typeface="+mj-cs"/>
              </a:rPr>
              <a:t>Total Budget-Anchored MRO</a:t>
            </a:r>
            <a:r>
              <a:rPr lang="en-US" altLang="en-US" sz="1000" dirty="0">
                <a:latin typeface="+mj-lt"/>
                <a:ea typeface="+mj-ea"/>
                <a:cs typeface="+mj-cs"/>
              </a:rPr>
              <a:t> ($M)</a:t>
            </a:r>
            <a:endParaRPr lang="en-US" sz="1000" dirty="0">
              <a:latin typeface="+mj-lt"/>
              <a:ea typeface="+mj-ea"/>
              <a:cs typeface="+mj-cs"/>
            </a:endParaRPr>
          </a:p>
        </p:txBody>
      </p:sp>
      <p:sp>
        <p:nvSpPr>
          <p:cNvPr id="323" name="Text Placeholder 25"/>
          <p:cNvSpPr>
            <a:spLocks/>
          </p:cNvSpPr>
          <p:nvPr/>
        </p:nvSpPr>
        <p:spPr bwMode="auto">
          <a:xfrm>
            <a:off x="3136900" y="5345113"/>
            <a:ext cx="98425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1000" smtClean="0">
                <a:latin typeface="+mj-lt"/>
                <a:ea typeface="+mj-ea"/>
                <a:cs typeface="+mj-cs"/>
              </a:rPr>
              <a:t>Public NSY</a:t>
            </a:r>
            <a:r>
              <a:rPr lang="en-US" altLang="en-US" sz="1000" dirty="0">
                <a:latin typeface="+mj-lt"/>
                <a:ea typeface="+mj-ea"/>
                <a:cs typeface="+mj-cs"/>
              </a:rPr>
              <a:t> ($M)</a:t>
            </a:r>
            <a:endParaRPr lang="en-US" sz="1000" dirty="0">
              <a:latin typeface="+mj-lt"/>
              <a:ea typeface="+mj-ea"/>
              <a:cs typeface="+mj-cs"/>
            </a:endParaRPr>
          </a:p>
        </p:txBody>
      </p:sp>
      <p:sp>
        <p:nvSpPr>
          <p:cNvPr id="324" name="Text Placeholder 25"/>
          <p:cNvSpPr>
            <a:spLocks/>
          </p:cNvSpPr>
          <p:nvPr/>
        </p:nvSpPr>
        <p:spPr bwMode="auto">
          <a:xfrm>
            <a:off x="4827588" y="5345113"/>
            <a:ext cx="11509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smtClean="0">
                <a:latin typeface="+mj-lt"/>
                <a:ea typeface="+mj-ea"/>
                <a:cs typeface="+mj-cs"/>
              </a:rPr>
              <a:t>Non-public-NSY MRO funding</a:t>
            </a:r>
            <a:r>
              <a:rPr lang="en-US" altLang="en-US" sz="1000" dirty="0">
                <a:latin typeface="+mj-lt"/>
                <a:ea typeface="+mj-ea"/>
                <a:cs typeface="+mj-cs"/>
              </a:rPr>
              <a:t> ($M)</a:t>
            </a:r>
            <a:endParaRPr lang="en-US" sz="1000" dirty="0">
              <a:latin typeface="+mj-lt"/>
              <a:ea typeface="+mj-ea"/>
              <a:cs typeface="+mj-cs"/>
            </a:endParaRPr>
          </a:p>
        </p:txBody>
      </p:sp>
      <p:sp>
        <p:nvSpPr>
          <p:cNvPr id="351" name="Rectangle 50"/>
          <p:cNvSpPr/>
          <p:nvPr/>
        </p:nvSpPr>
        <p:spPr>
          <a:xfrm>
            <a:off x="393181" y="1377019"/>
            <a:ext cx="3622253" cy="27543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defRPr/>
            </a:pPr>
            <a:r>
              <a:rPr lang="en-US" sz="800" i="1" dirty="0">
                <a:solidFill>
                  <a:schemeClr val="tx1"/>
                </a:solidFill>
              </a:rPr>
              <a:t>FY2025 MRO Top-Down Funnel ($M)</a:t>
            </a:r>
            <a:endParaRPr lang="en-US" sz="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Reconciliation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Reconciliation Bridge | Public Naval Shipyard labor of $7.49B is the structural FPDS-invisible gap between the $17.0B top-down and $9.0B bottom-up MRO.</a:t>
            </a:r>
          </a:p>
        </p:txBody>
      </p:sp>
      <p:graphicFrame>
        <p:nvGraphicFramePr>
          <p:cNvPr id="307" name="BLD.tam_reconciliation.table.bridge_components"/>
          <p:cNvGraphicFramePr>
            <a:graphicFrameLocks noGrp="1"/>
          </p:cNvGraphicFramePr>
          <p:nvPr/>
        </p:nvGraphicFramePr>
        <p:xfrm>
          <a:off x="846560" y="1664055"/>
          <a:ext cx="10853189" cy="3916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9573"/>
                <a:gridCol w="1196615"/>
                <a:gridCol w="1196615"/>
                <a:gridCol w="1049840"/>
                <a:gridCol w="4610546"/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Bridge Component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T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op-down</a:t>
                      </a: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 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(</a:t>
                      </a: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$M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)</a:t>
                      </a:r>
                      <a:endParaRPr sz="1100" b="1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B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ottom-up</a:t>
                      </a: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 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(</a:t>
                      </a: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$M</a:t>
                      </a: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)</a:t>
                      </a:r>
                      <a:endParaRPr sz="1100" b="1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Gap (TD-BU)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chemeClr val="bg1"/>
                          </a:solidFill>
                          <a:latin typeface="Arial"/>
                        </a:rPr>
                        <a:t>Explanation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447B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Navy private 1B4B (avail subtotal)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4,279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3,493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+786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Primary reconciliation test: FY2025 PB26 forecast vs FPDS actual obligations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Navy Public NSY (4 yards)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7,485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+7,485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STRUCTURAL: federal civilian workforce, FPDS-invisible by construction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OPN LI 1000 Ship Maint Repair and Mod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2,392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(in PSCs)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~+1,500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Modernization side of avails, separate appropriation from OMN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MSC M and R (1B1B FY2025 to 1B4B FY2026)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1,240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+546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MSC HQ contracting flow. Reconciles within plus or minus 15%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SCN CVN RCOH (LI 2086)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1,480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2,057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-577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Multi-year incremental funding vs single-FY FPDS obligation. PSC 1905 sees more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USCG cutter MRO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-153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TD anchor (ISVS PC and I floor) is known low. FPDS sees actual cutter awards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Other (RDT and E-DW Strategic, AF/Army cross-svc, etc.)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>
                          <a:solidFill>
                            <a:srgbClr val="16202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~1,520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-1,520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 dirty="0">
                          <a:solidFill>
                            <a:srgbClr val="162029"/>
                          </a:solidFill>
                          <a:latin typeface="Arial"/>
                        </a:rPr>
                        <a:t>BU captures Strategic Systems (Draper Trident), AF/Army flows. Not in OP-5/MSC/SCN/USCG anchors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Total</a:t>
                      </a:r>
                      <a:endParaRPr sz="1100" b="1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16,996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8,971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+8,025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 dirty="0">
                          <a:solidFill>
                            <a:srgbClr val="162029"/>
                          </a:solidFill>
                          <a:latin typeface="Arial"/>
                        </a:rPr>
                        <a:t>Public NSY $7,485M + non-public-NSY TD $9,511M vs BU $8,971M = +$540M (~6%)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8" name="BLD.tam_reconciliation.footer.main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(1) PB26 budget-book line items; (2) FPDS FY2025 contract obligations; data as of April 2026</a:t>
            </a:r>
          </a:p>
        </p:txBody>
      </p:sp>
      <p:sp>
        <p:nvSpPr>
          <p:cNvPr id="302" name="Oval 1"/>
          <p:cNvSpPr/>
          <p:nvPr/>
        </p:nvSpPr>
        <p:spPr>
          <a:xfrm>
            <a:off x="452627" y="201615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03" name="Oval 2"/>
          <p:cNvSpPr/>
          <p:nvPr/>
        </p:nvSpPr>
        <p:spPr>
          <a:xfrm>
            <a:off x="452627" y="247319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10" name="Oval 9"/>
          <p:cNvSpPr/>
          <p:nvPr/>
        </p:nvSpPr>
        <p:spPr>
          <a:xfrm>
            <a:off x="452627" y="293023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11" name="Oval 10"/>
          <p:cNvSpPr/>
          <p:nvPr/>
        </p:nvSpPr>
        <p:spPr>
          <a:xfrm>
            <a:off x="452627" y="338727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2" name="Oval 11"/>
          <p:cNvSpPr/>
          <p:nvPr/>
        </p:nvSpPr>
        <p:spPr>
          <a:xfrm>
            <a:off x="452627" y="384431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13" name="Oval 12"/>
          <p:cNvSpPr/>
          <p:nvPr/>
        </p:nvSpPr>
        <p:spPr>
          <a:xfrm>
            <a:off x="452627" y="475839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15" name="Oval 14"/>
          <p:cNvSpPr/>
          <p:nvPr/>
        </p:nvSpPr>
        <p:spPr>
          <a:xfrm>
            <a:off x="452627" y="4301351"/>
            <a:ext cx="282371" cy="27432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00" b="1" dirty="0">
                <a:solidFill>
                  <a:srgbClr val="0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TAM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Non-Public-NSY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Non-Public-NSY Cross-Check | Non-public-NSY MRO of $9.51B converges within ~6% of the $8.97B reconciled bottom-up MRO TAM.</a:t>
            </a:r>
          </a:p>
        </p:txBody>
      </p:sp>
      <p:sp>
        <p:nvSpPr>
          <p:cNvPr id="307" name="BLD.tam_private_addressable.callout.convergence_result"/>
          <p:cNvSpPr/>
          <p:nvPr/>
        </p:nvSpPr>
        <p:spPr>
          <a:xfrm>
            <a:off x="457200" y="4251960"/>
            <a:ext cx="11242548" cy="868680"/>
          </a:xfrm>
          <a:prstGeom prst="rect">
            <a:avLst/>
          </a:prstGeom>
          <a:solidFill>
            <a:srgbClr val="263746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latin typeface="Arial (Body)"/>
              </a:rPr>
              <a:t>Convergence: A = $8,971M / B = $9,511M / Delta = $540M (~6%)</a:t>
            </a:r>
          </a:p>
          <a:p>
            <a:pPr algn="ctr"/>
            <a:r>
              <a:rPr sz="1000" i="1" dirty="0">
                <a:latin typeface="Arial (Body)"/>
              </a:rPr>
              <a:t>Within plus or minus 10% reconciliation target. Residual driven by RDT and E-DW Strategic Systems, AF/Army cross-service, and USCG-above-ISVS flows visible in BU FPDS but not in OP-5/MSC/SCN/USCG top-down anchors.</a:t>
            </a:r>
          </a:p>
        </p:txBody>
      </p:sp>
      <p:sp>
        <p:nvSpPr>
          <p:cNvPr id="309" name="BLD.tam_private_addressable.footer.main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(1) Non-Public-NSY Bridge; (2) TAS-attributed appropriation rollup; data as of April 2026</a:t>
            </a:r>
          </a:p>
        </p:txBody>
      </p:sp>
      <p:sp>
        <p:nvSpPr>
          <p:cNvPr id="310" name="BLD.tam_private_addressable.custom.left_title"/>
          <p:cNvSpPr txBox="1"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162029"/>
                </a:solidFill>
                <a:latin typeface="Arial"/>
              </a:rPr>
              <a:t>Narrative A: Bottom-Up (FPDS)</a:t>
            </a:r>
          </a:p>
        </p:txBody>
      </p:sp>
      <p:sp>
        <p:nvSpPr>
          <p:cNvPr id="311" name="BLD.tam_private_addressable.custom.tile_a_step_1"/>
          <p:cNvSpPr/>
          <p:nvPr/>
        </p:nvSpPr>
        <p:spPr>
          <a:xfrm>
            <a:off x="457200" y="1783080"/>
            <a:ext cx="5303520" cy="594360"/>
          </a:xfrm>
          <a:prstGeom prst="roundRect">
            <a:avLst>
              <a:gd name="adj" fmla="val 0"/>
            </a:avLst>
          </a:prstGeom>
          <a:solidFill>
            <a:srgbClr val="E2E9EF"/>
          </a:solidFill>
          <a:ln w="9525"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+mj-lt"/>
              </a:rPr>
              <a:t>FPDS 65-PSC services universe</a:t>
            </a:r>
          </a:p>
          <a:p>
            <a:pPr algn="ctr"/>
            <a:r>
              <a:rPr sz="1000" i="1" dirty="0">
                <a:solidFill>
                  <a:srgbClr val="000000"/>
                </a:solidFill>
                <a:latin typeface="+mj-lt"/>
              </a:rPr>
              <a:t>Navy $6,794M + USCG $273M = $7,067M</a:t>
            </a:r>
          </a:p>
        </p:txBody>
      </p:sp>
      <p:sp>
        <p:nvSpPr>
          <p:cNvPr id="312" name="BLD.tam_private_addressable.custom.tile_a_step_2"/>
          <p:cNvSpPr/>
          <p:nvPr/>
        </p:nvSpPr>
        <p:spPr>
          <a:xfrm>
            <a:off x="457200" y="2542032"/>
            <a:ext cx="5303520" cy="594360"/>
          </a:xfrm>
          <a:prstGeom prst="roundRect">
            <a:avLst>
              <a:gd name="adj" fmla="val 0"/>
            </a:avLst>
          </a:prstGeom>
          <a:solidFill>
            <a:srgbClr val="B6C8D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</a:rPr>
              <a:t>+ PSC 1905 embedded MRO</a:t>
            </a:r>
          </a:p>
          <a:p>
            <a:pPr algn="ctr"/>
            <a:r>
              <a:rPr sz="1000" b="1" i="1" dirty="0">
                <a:solidFill>
                  <a:schemeClr val="tx1"/>
                </a:solidFill>
              </a:rPr>
              <a:t>Classifier-derived MRO inside shipbuilding contracts: $1,904M</a:t>
            </a:r>
          </a:p>
        </p:txBody>
      </p:sp>
      <p:sp>
        <p:nvSpPr>
          <p:cNvPr id="313" name="BLD.tam_private_addressable.custom.tile_a_step_3"/>
          <p:cNvSpPr/>
          <p:nvPr/>
        </p:nvSpPr>
        <p:spPr>
          <a:xfrm>
            <a:off x="457200" y="3300984"/>
            <a:ext cx="5303520" cy="777240"/>
          </a:xfrm>
          <a:prstGeom prst="roundRect">
            <a:avLst>
              <a:gd name="adj" fmla="val 0"/>
            </a:avLst>
          </a:prstGeom>
          <a:solidFill>
            <a:srgbClr val="3D597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Reconciled FPDS MRO TAM: $8,971M</a:t>
            </a:r>
          </a:p>
          <a:p>
            <a:pPr algn="ctr"/>
            <a:r>
              <a:rPr sz="1000" i="1" dirty="0"/>
              <a:t>All private contractors. Public NSY = $0 by construction.</a:t>
            </a:r>
          </a:p>
        </p:txBody>
      </p:sp>
      <p:cxnSp>
        <p:nvCxnSpPr>
          <p:cNvPr id="314" name="BLD.tam_private_addressable.custom.left_connector_0"/>
          <p:cNvCxnSpPr/>
          <p:nvPr/>
        </p:nvCxnSpPr>
        <p:spPr>
          <a:xfrm>
            <a:off x="3108960" y="2377440"/>
            <a:ext cx="0" cy="164592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BLD.tam_private_addressable.custom.left_connector_1"/>
          <p:cNvCxnSpPr/>
          <p:nvPr/>
        </p:nvCxnSpPr>
        <p:spPr>
          <a:xfrm>
            <a:off x="3108960" y="3136391"/>
            <a:ext cx="0" cy="164593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BLD.tam_private_addressable.custom.right_title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sz="1200" b="1" i="0">
                <a:solidFill>
                  <a:srgbClr val="162029"/>
                </a:solidFill>
                <a:latin typeface="Arial"/>
              </a:rPr>
              <a:t>Narrative B: Top-Down (Budget Anchor)</a:t>
            </a:r>
          </a:p>
        </p:txBody>
      </p:sp>
      <p:sp>
        <p:nvSpPr>
          <p:cNvPr id="317" name="BLD.tam_private_addressable.custom.tile_b_step_1"/>
          <p:cNvSpPr/>
          <p:nvPr/>
        </p:nvSpPr>
        <p:spPr>
          <a:xfrm>
            <a:off x="6400800" y="1783080"/>
            <a:ext cx="5303520" cy="594360"/>
          </a:xfrm>
          <a:prstGeom prst="roundRect">
            <a:avLst>
              <a:gd name="adj" fmla="val 0"/>
            </a:avLst>
          </a:prstGeom>
          <a:solidFill>
            <a:srgbClr val="E2E9EF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00000"/>
                </a:solidFill>
                <a:latin typeface="+mj-lt"/>
              </a:rPr>
              <a:t>Top-down MRO anchor (S8 total)</a:t>
            </a:r>
          </a:p>
          <a:p>
            <a:pPr algn="ctr"/>
            <a:r>
              <a:rPr sz="1000" i="1" dirty="0">
                <a:solidFill>
                  <a:srgbClr val="000000"/>
                </a:solidFill>
                <a:latin typeface="+mj-lt"/>
              </a:rPr>
              <a:t>OMN 1B4B + OPN LI 1000 + MSC + SCN + USCG: $16,996M</a:t>
            </a:r>
          </a:p>
        </p:txBody>
      </p:sp>
      <p:sp>
        <p:nvSpPr>
          <p:cNvPr id="318" name="BLD.tam_private_addressable.custom.tile_b_step_2"/>
          <p:cNvSpPr/>
          <p:nvPr/>
        </p:nvSpPr>
        <p:spPr>
          <a:xfrm>
            <a:off x="6400800" y="2542032"/>
            <a:ext cx="5303520" cy="594360"/>
          </a:xfrm>
          <a:prstGeom prst="roundRect">
            <a:avLst>
              <a:gd name="adj" fmla="val 0"/>
            </a:avLst>
          </a:prstGeom>
          <a:solidFill>
            <a:srgbClr val="B6C8D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</a:rPr>
              <a:t>minus Public NSY (4 yards)</a:t>
            </a:r>
          </a:p>
          <a:p>
            <a:pPr algn="ctr"/>
            <a:r>
              <a:rPr sz="1000" i="1" dirty="0">
                <a:solidFill>
                  <a:schemeClr val="tx1"/>
                </a:solidFill>
              </a:rPr>
              <a:t>Federal civilian workforce, not addressable to any private entrant: $7,485M</a:t>
            </a:r>
          </a:p>
        </p:txBody>
      </p:sp>
      <p:sp>
        <p:nvSpPr>
          <p:cNvPr id="319" name="BLD.tam_private_addressable.custom.tile_b_step_3"/>
          <p:cNvSpPr/>
          <p:nvPr/>
        </p:nvSpPr>
        <p:spPr>
          <a:xfrm>
            <a:off x="6400800" y="3300984"/>
            <a:ext cx="5303520" cy="777240"/>
          </a:xfrm>
          <a:prstGeom prst="roundRect">
            <a:avLst>
              <a:gd name="adj" fmla="val 0"/>
            </a:avLst>
          </a:prstGeom>
          <a:solidFill>
            <a:srgbClr val="3D597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Non-public-NSY TD: $9,511M</a:t>
            </a:r>
          </a:p>
          <a:p>
            <a:pPr algn="ctr"/>
            <a:r>
              <a:rPr sz="1000" i="1" dirty="0"/>
              <a:t>Captive HII/GDEB complex OH retained (addressability is a SAM question).</a:t>
            </a:r>
          </a:p>
        </p:txBody>
      </p:sp>
      <p:cxnSp>
        <p:nvCxnSpPr>
          <p:cNvPr id="320" name="BLD.tam_private_addressable.custom.right_connector_0"/>
          <p:cNvCxnSpPr/>
          <p:nvPr/>
        </p:nvCxnSpPr>
        <p:spPr>
          <a:xfrm>
            <a:off x="9052560" y="2377440"/>
            <a:ext cx="0" cy="164592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BLD.tam_private_addressable.custom.right_connector_1"/>
          <p:cNvCxnSpPr/>
          <p:nvPr/>
        </p:nvCxnSpPr>
        <p:spPr>
          <a:xfrm>
            <a:off x="9052560" y="3136391"/>
            <a:ext cx="0" cy="164593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Fleet Structure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Fleet Structure | The Marauder-comparable fleet spans 14 hull programs across three mission-fit tiers and anchors the SAM vessel universe.</a:t>
            </a:r>
          </a:p>
        </p:txBody>
      </p:sp>
      <p:graphicFrame>
        <p:nvGraphicFramePr>
          <p:cNvPr id="305" name="BLD.fleet_reference.table.tier_roster"/>
          <p:cNvGraphicFramePr>
            <a:graphicFrameLocks noGrp="1"/>
          </p:cNvGraphicFramePr>
          <p:nvPr/>
        </p:nvGraphicFramePr>
        <p:xfrm>
          <a:off x="452628" y="1514017"/>
          <a:ext cx="7772400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/>
                <a:gridCol w="2194560"/>
                <a:gridCol w="29718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62029"/>
                          </a:solidFill>
                          <a:latin typeface="Arial"/>
                        </a:rPr>
                        <a:t>Tier / mission fit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62029"/>
                          </a:solidFill>
                          <a:latin typeface="Arial"/>
                        </a:rPr>
                        <a:t>Hull programs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62029"/>
                          </a:solidFill>
                          <a:latin typeface="Arial"/>
                        </a:rPr>
                        <a:t>Role and Marauder fit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>
                          <a:solidFill>
                            <a:srgbClr val="162029"/>
                          </a:solidFill>
                          <a:latin typeface="Arial"/>
                        </a:rPr>
                        <a:t>FY2025 $M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ysClr val="windowText" lastClr="000000"/>
                          </a:solidFill>
                          <a:latin typeface="Arial"/>
                        </a:rPr>
                        <a:t>Tier 1: Combat Logistics and MSC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T-AKE, T-AO, T-EPF, ESB, T-ESB, T-AK, T-AKR, T-ESD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Containerized logistics and at-sea payload hosting mirror Marauder's 180-foot ASV with 150MT modular deck. MSC-operated scheduled availabilities book under J998/J999.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$715M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ysClr val="windowText" lastClr="000000"/>
                          </a:solidFill>
                          <a:latin typeface="Arial"/>
                        </a:rPr>
                        <a:t>Tier 2: Amphibious connectors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LSM, T-LSM, LCU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Smaller connector hulls for contested-littoral payload delivery. </a:t>
                      </a: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Programs </a:t>
                      </a:r>
                      <a:r>
                        <a:rPr lang="en-US" sz="1000" b="0" i="0">
                          <a:solidFill>
                            <a:srgbClr val="162029"/>
                          </a:solidFill>
                          <a:latin typeface="Arial"/>
                        </a:rPr>
                        <a:t>relatively </a:t>
                      </a: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early </a:t>
                      </a: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in cycle</a:t>
                      </a:r>
                      <a:r>
                        <a:rPr lang="en-US"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.</a:t>
                      </a:r>
                      <a:endParaRPr sz="1000" b="0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$0M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ysClr val="windowText" lastClr="000000"/>
                          </a:solidFill>
                          <a:latin typeface="Arial"/>
                        </a:rPr>
                        <a:t>Tier 3: USCG size-class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FRC, WPC, WLB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150-225 ft hulls parallel to Marauder in size and deck-cargo handling. WPC and WLB are the only USCG cutters with material FY2025 MRO spend.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162029"/>
                          </a:solidFill>
                          <a:latin typeface="Arial"/>
                        </a:rPr>
                        <a:t>$43M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Comp-set total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14 hull programs across 3 tiers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Segment mix: Depot 82%, Port and Technical 14%, HM&amp;E 4%, Combat/Electronics/Nuclear near 0%. See slide 11 for per-hull split.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 dirty="0">
                          <a:solidFill>
                            <a:srgbClr val="162029"/>
                          </a:solidFill>
                          <a:latin typeface="Arial"/>
                        </a:rPr>
                        <a:t>$758M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6" name="BLD.fleet_reference.callout.mission_fit"/>
          <p:cNvSpPr/>
          <p:nvPr/>
        </p:nvSpPr>
        <p:spPr>
          <a:xfrm>
            <a:off x="8428024" y="2818364"/>
            <a:ext cx="3337560" cy="1414667"/>
          </a:xfrm>
          <a:prstGeom prst="rect">
            <a:avLst/>
          </a:prstGeom>
          <a:solidFill>
            <a:srgbClr val="D8E3EB"/>
          </a:solidFill>
          <a:ln w="9525">
            <a:solidFill>
              <a:srgbClr val="1D4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</a:rPr>
              <a:t>Hull inclusion criteria</a:t>
            </a:r>
            <a:endParaRPr sz="1100" b="1" i="0" dirty="0">
              <a:solidFill>
                <a:srgbClr val="162029"/>
              </a:solidFill>
              <a:latin typeface="Arial"/>
            </a:endParaRP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Availability pipeline: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MSC scheduled ROH and mid-term availabilities at MSRA yards, not NAVSEA combatant overhauls.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Crewing: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Civilian mariners and commercial-style sustainment, parallel to Marauder's ASV concept.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Yard pool: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Pierside and MSRA yards, not the four public shipyards.</a:t>
            </a:r>
          </a:p>
        </p:txBody>
      </p:sp>
      <p:sp>
        <p:nvSpPr>
          <p:cNvPr id="309" name="BLD.fleet_reference.footer.main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(1) FPDS FY2025 contract obligations; (2) MSC fleet disposition; (3) USCG Cutter Fleet inventory; (4) Marauder ASV design envelope; data as of April 2026</a:t>
            </a:r>
          </a:p>
        </p:txBody>
      </p:sp>
      <p:sp>
        <p:nvSpPr>
          <p:cNvPr id="310" name="TextBox 9"/>
          <p:cNvSpPr txBox="1"/>
          <p:nvPr/>
        </p:nvSpPr>
        <p:spPr>
          <a:xfrm>
            <a:off x="452628" y="1434833"/>
            <a:ext cx="5486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i="1" dirty="0"/>
              <a:t>FY2025 Marauder-Like Comp-Set by Mission-Fit Tier ($M)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Marauder-Like Fleet MRO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Marauder-Like Fleet MRO | Marauder-comparable fleet MRO totals $758M, with 82% concentrated in depot ship repair.</a:t>
            </a:r>
          </a:p>
        </p:txBody>
      </p:sp>
      <p:graphicFrame>
        <p:nvGraphicFramePr>
          <p:cNvPr id="40" name="FleetMroMarimekko"/>
          <p:cNvGraphicFramePr/>
          <p:nvPr/>
        </p:nvGraphicFramePr>
        <p:xfrm>
          <a:off x="440000" y="1850000"/>
          <a:ext cx="7460000" cy="3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0" name="VDiv"/>
          <p:cNvSpPr txBox="1"/>
          <p:nvPr/>
        </p:nvSpPr>
        <p:spPr>
          <a:xfrm>
            <a:off x="4432257" y="1906610"/>
            <a:ext cx="9525" cy="3574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1" name="VDiv"/>
          <p:cNvSpPr txBox="1"/>
          <p:nvPr/>
        </p:nvSpPr>
        <p:spPr>
          <a:xfrm>
            <a:off x="6401787" y="1906610"/>
            <a:ext cx="9525" cy="3574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2" name="VDiv"/>
          <p:cNvSpPr txBox="1"/>
          <p:nvPr/>
        </p:nvSpPr>
        <p:spPr>
          <a:xfrm>
            <a:off x="6964509" y="1906610"/>
            <a:ext cx="9525" cy="3574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3" name="VDiv"/>
          <p:cNvSpPr txBox="1"/>
          <p:nvPr/>
        </p:nvSpPr>
        <p:spPr>
          <a:xfrm>
            <a:off x="7527232" y="1906610"/>
            <a:ext cx="9525" cy="3574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4" name="HDiv"/>
          <p:cNvSpPr txBox="1"/>
          <p:nvPr/>
        </p:nvSpPr>
        <p:spPr>
          <a:xfrm>
            <a:off x="814492" y="2473330"/>
            <a:ext cx="36225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5" name="HDiv"/>
          <p:cNvSpPr txBox="1"/>
          <p:nvPr/>
        </p:nvSpPr>
        <p:spPr>
          <a:xfrm>
            <a:off x="814492" y="2092342"/>
            <a:ext cx="362252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6" name="HDiv"/>
          <p:cNvSpPr txBox="1"/>
          <p:nvPr/>
        </p:nvSpPr>
        <p:spPr>
          <a:xfrm>
            <a:off x="4437020" y="2574927"/>
            <a:ext cx="19695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7" name="HDiv"/>
          <p:cNvSpPr txBox="1"/>
          <p:nvPr/>
        </p:nvSpPr>
        <p:spPr>
          <a:xfrm>
            <a:off x="4437020" y="1968520"/>
            <a:ext cx="19695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8" name="HDiv"/>
          <p:cNvSpPr txBox="1"/>
          <p:nvPr/>
        </p:nvSpPr>
        <p:spPr>
          <a:xfrm>
            <a:off x="6406549" y="3013063"/>
            <a:ext cx="56272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69" name="HDiv"/>
          <p:cNvSpPr txBox="1"/>
          <p:nvPr/>
        </p:nvSpPr>
        <p:spPr>
          <a:xfrm>
            <a:off x="6969272" y="2516191"/>
            <a:ext cx="5627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0" name="HDiv"/>
          <p:cNvSpPr txBox="1"/>
          <p:nvPr/>
        </p:nvSpPr>
        <p:spPr>
          <a:xfrm>
            <a:off x="6969272" y="2012969"/>
            <a:ext cx="5627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1" name="HDiv"/>
          <p:cNvSpPr txBox="1"/>
          <p:nvPr/>
        </p:nvSpPr>
        <p:spPr>
          <a:xfrm>
            <a:off x="7531994" y="2025669"/>
            <a:ext cx="3165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72" name="HDiv"/>
          <p:cNvSpPr txBox="1"/>
          <p:nvPr/>
        </p:nvSpPr>
        <p:spPr>
          <a:xfrm>
            <a:off x="7531994" y="1968520"/>
            <a:ext cx="3165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328" name="Straight Connector 27"/>
          <p:cNvCxnSpPr>
            <a:cxnSpLocks/>
          </p:cNvCxnSpPr>
          <p:nvPr/>
        </p:nvCxnSpPr>
        <p:spPr bwMode="gray">
          <a:xfrm flipH="1" flipV="1">
            <a:off x="7807325" y="1935163"/>
            <a:ext cx="53975" cy="31750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3" name="Text Placeholder 25"/>
          <p:cNvSpPr>
            <a:spLocks/>
          </p:cNvSpPr>
          <p:nvPr/>
        </p:nvSpPr>
        <p:spPr bwMode="gray">
          <a:xfrm>
            <a:off x="6564313" y="418941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69%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20" name="Text Placeholder 25"/>
          <p:cNvSpPr>
            <a:spLocks/>
          </p:cNvSpPr>
          <p:nvPr/>
        </p:nvSpPr>
        <p:spPr bwMode="gray">
          <a:xfrm>
            <a:off x="2524125" y="1757363"/>
            <a:ext cx="200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384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41" name="Text Placeholder 25"/>
          <p:cNvSpPr>
            <a:spLocks/>
          </p:cNvSpPr>
          <p:nvPr/>
        </p:nvSpPr>
        <p:spPr bwMode="gray">
          <a:xfrm>
            <a:off x="5314950" y="1757363"/>
            <a:ext cx="200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ffectLst/>
                <a:latin typeface="+mj-lt"/>
                <a:ea typeface="+mj-ea"/>
                <a:cs typeface="+mj-cs"/>
              </a:rPr>
              <a:t>208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32" name="Text Placeholder 25"/>
          <p:cNvSpPr>
            <a:spLocks/>
          </p:cNvSpPr>
          <p:nvPr/>
        </p:nvSpPr>
        <p:spPr bwMode="auto">
          <a:xfrm>
            <a:off x="5265738" y="5514975"/>
            <a:ext cx="30003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ffectLst/>
                <a:latin typeface="+mj-lt"/>
                <a:ea typeface="+mj-ea"/>
                <a:cs typeface="+mj-cs"/>
              </a:rPr>
              <a:t>T-AKE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51" name="Text Placeholder 25"/>
          <p:cNvSpPr>
            <a:spLocks/>
          </p:cNvSpPr>
          <p:nvPr/>
        </p:nvSpPr>
        <p:spPr bwMode="gray">
          <a:xfrm>
            <a:off x="7170738" y="1757363"/>
            <a:ext cx="14287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59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56" name="Text Placeholder 25"/>
          <p:cNvSpPr>
            <a:spLocks/>
          </p:cNvSpPr>
          <p:nvPr/>
        </p:nvSpPr>
        <p:spPr bwMode="gray">
          <a:xfrm>
            <a:off x="7612063" y="1757363"/>
            <a:ext cx="14287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35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47" name="Text Placeholder 25"/>
          <p:cNvSpPr>
            <a:spLocks/>
          </p:cNvSpPr>
          <p:nvPr/>
        </p:nvSpPr>
        <p:spPr bwMode="auto">
          <a:xfrm>
            <a:off x="7096125" y="5514975"/>
            <a:ext cx="2936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T-EPF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07" name="Text Placeholder 25"/>
          <p:cNvSpPr>
            <a:spLocks/>
          </p:cNvSpPr>
          <p:nvPr/>
        </p:nvSpPr>
        <p:spPr bwMode="gray">
          <a:xfrm>
            <a:off x="7154863" y="1901825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3%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53" name="Text Placeholder 25"/>
          <p:cNvSpPr>
            <a:spLocks/>
          </p:cNvSpPr>
          <p:nvPr/>
        </p:nvSpPr>
        <p:spPr bwMode="gray">
          <a:xfrm>
            <a:off x="7567613" y="369570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97%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08" name="Text Placeholder 25"/>
          <p:cNvSpPr>
            <a:spLocks/>
          </p:cNvSpPr>
          <p:nvPr/>
        </p:nvSpPr>
        <p:spPr bwMode="gray">
          <a:xfrm>
            <a:off x="7126288" y="3940175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83%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09" name="Text Placeholder 25"/>
          <p:cNvSpPr>
            <a:spLocks/>
          </p:cNvSpPr>
          <p:nvPr/>
        </p:nvSpPr>
        <p:spPr bwMode="gray">
          <a:xfrm>
            <a:off x="7596188" y="1936750"/>
            <a:ext cx="176213" cy="1222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2%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42" name="Text Placeholder 25"/>
          <p:cNvSpPr>
            <a:spLocks/>
          </p:cNvSpPr>
          <p:nvPr/>
        </p:nvSpPr>
        <p:spPr bwMode="auto">
          <a:xfrm>
            <a:off x="6578600" y="5514975"/>
            <a:ext cx="2047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ESB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40" name="Text Placeholder 25"/>
          <p:cNvSpPr>
            <a:spLocks/>
          </p:cNvSpPr>
          <p:nvPr/>
        </p:nvSpPr>
        <p:spPr bwMode="gray">
          <a:xfrm>
            <a:off x="5299075" y="2216150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17%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5" name="Text Placeholder 25"/>
          <p:cNvSpPr>
            <a:spLocks/>
          </p:cNvSpPr>
          <p:nvPr/>
        </p:nvSpPr>
        <p:spPr bwMode="gray">
          <a:xfrm>
            <a:off x="7861300" y="1906588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2%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45" name="Text Placeholder 25"/>
          <p:cNvSpPr>
            <a:spLocks/>
          </p:cNvSpPr>
          <p:nvPr/>
        </p:nvSpPr>
        <p:spPr bwMode="gray">
          <a:xfrm>
            <a:off x="6564313" y="240188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31%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34" name="Text Placeholder 25"/>
          <p:cNvSpPr>
            <a:spLocks/>
          </p:cNvSpPr>
          <p:nvPr/>
        </p:nvSpPr>
        <p:spPr bwMode="gray">
          <a:xfrm>
            <a:off x="5327650" y="1879600"/>
            <a:ext cx="176213" cy="1222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2%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3" name="Text Placeholder 25"/>
          <p:cNvSpPr>
            <a:spLocks/>
          </p:cNvSpPr>
          <p:nvPr/>
        </p:nvSpPr>
        <p:spPr bwMode="gray">
          <a:xfrm>
            <a:off x="5299075" y="397033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81%</a:t>
            </a:r>
            <a:endParaRPr lang="en-US" sz="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5" name="Text Placeholder 25"/>
          <p:cNvSpPr>
            <a:spLocks/>
          </p:cNvSpPr>
          <p:nvPr/>
        </p:nvSpPr>
        <p:spPr bwMode="auto">
          <a:xfrm>
            <a:off x="2503488" y="5514975"/>
            <a:ext cx="24288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T-AO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19" name="Text Placeholder 25"/>
          <p:cNvSpPr>
            <a:spLocks/>
          </p:cNvSpPr>
          <p:nvPr/>
        </p:nvSpPr>
        <p:spPr bwMode="gray">
          <a:xfrm>
            <a:off x="2508250" y="222726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11%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18" name="Text Placeholder 25"/>
          <p:cNvSpPr>
            <a:spLocks/>
          </p:cNvSpPr>
          <p:nvPr/>
        </p:nvSpPr>
        <p:spPr bwMode="gray">
          <a:xfrm>
            <a:off x="2536825" y="1941513"/>
            <a:ext cx="1762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5%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17" name="Text Placeholder 25"/>
          <p:cNvSpPr>
            <a:spLocks/>
          </p:cNvSpPr>
          <p:nvPr/>
        </p:nvSpPr>
        <p:spPr bwMode="gray">
          <a:xfrm>
            <a:off x="2508250" y="3919538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84%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52" name="Text Placeholder 25"/>
          <p:cNvSpPr>
            <a:spLocks/>
          </p:cNvSpPr>
          <p:nvPr/>
        </p:nvSpPr>
        <p:spPr bwMode="auto">
          <a:xfrm>
            <a:off x="7566025" y="5514975"/>
            <a:ext cx="236538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WPC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306" name="Text Placeholder 25"/>
          <p:cNvSpPr>
            <a:spLocks/>
          </p:cNvSpPr>
          <p:nvPr/>
        </p:nvSpPr>
        <p:spPr bwMode="gray">
          <a:xfrm>
            <a:off x="7126288" y="2208213"/>
            <a:ext cx="23336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solidFill>
                  <a:schemeClr val="bg1"/>
                </a:solidFill>
                <a:ea typeface="+mj-ea"/>
                <a:cs typeface="+mj-cs"/>
              </a:rPr>
              <a:t>14%</a:t>
            </a:r>
            <a:endParaRPr lang="en-US" sz="8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46" name="Text Placeholder 25"/>
          <p:cNvSpPr>
            <a:spLocks/>
          </p:cNvSpPr>
          <p:nvPr/>
        </p:nvSpPr>
        <p:spPr bwMode="gray">
          <a:xfrm>
            <a:off x="6608763" y="1757363"/>
            <a:ext cx="14287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4288" tIns="0" rIns="14288" bIns="0" rtlCol="0" anchor="b">
            <a:noAutofit/>
          </a:bodyPr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a typeface="+mj-ea"/>
                <a:cs typeface="+mj-cs"/>
              </a:rPr>
              <a:t>60</a:t>
            </a:r>
            <a:endParaRPr lang="en-US" sz="800" dirty="0">
              <a:ea typeface="+mj-ea"/>
              <a:cs typeface="+mj-cs"/>
            </a:endParaRPr>
          </a:p>
        </p:txBody>
      </p:sp>
      <p:sp>
        <p:nvSpPr>
          <p:cNvPr id="451" name="Rectangle 150"/>
          <p:cNvSpPr/>
          <p:nvPr/>
        </p:nvSpPr>
        <p:spPr bwMode="auto">
          <a:xfrm>
            <a:off x="3244850" y="1422400"/>
            <a:ext cx="142875" cy="1063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Rectangle 151"/>
          <p:cNvSpPr/>
          <p:nvPr/>
        </p:nvSpPr>
        <p:spPr bwMode="auto">
          <a:xfrm>
            <a:off x="4375150" y="1422400"/>
            <a:ext cx="142875" cy="10636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Rectangle 152"/>
          <p:cNvSpPr/>
          <p:nvPr/>
        </p:nvSpPr>
        <p:spPr bwMode="auto">
          <a:xfrm>
            <a:off x="6345238" y="1422400"/>
            <a:ext cx="142875" cy="106363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Text Placeholder 25"/>
          <p:cNvSpPr>
            <a:spLocks/>
          </p:cNvSpPr>
          <p:nvPr/>
        </p:nvSpPr>
        <p:spPr bwMode="auto">
          <a:xfrm>
            <a:off x="3438525" y="1417638"/>
            <a:ext cx="835025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ffectLst/>
                <a:latin typeface="+mj-lt"/>
                <a:ea typeface="+mj-ea"/>
                <a:cs typeface="+mj-cs"/>
              </a:rPr>
              <a:t>Depot Ship Repair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73" name="Text Placeholder 25"/>
          <p:cNvSpPr>
            <a:spLocks/>
          </p:cNvSpPr>
          <p:nvPr/>
        </p:nvSpPr>
        <p:spPr bwMode="auto">
          <a:xfrm>
            <a:off x="4568825" y="1417638"/>
            <a:ext cx="16748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ffectLst/>
                <a:latin typeface="+mj-lt"/>
                <a:ea typeface="+mj-ea"/>
                <a:cs typeface="+mj-cs"/>
              </a:rPr>
              <a:t>Hull, Mechanical &amp; Electrical (HM&amp;E)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374" name="Text Placeholder 25"/>
          <p:cNvSpPr>
            <a:spLocks/>
          </p:cNvSpPr>
          <p:nvPr/>
        </p:nvSpPr>
        <p:spPr bwMode="auto">
          <a:xfrm>
            <a:off x="6538913" y="1417638"/>
            <a:ext cx="1168400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" smtClean="0">
                <a:effectLst/>
                <a:latin typeface="+mj-lt"/>
                <a:ea typeface="+mj-ea"/>
                <a:cs typeface="+mj-cs"/>
              </a:rPr>
              <a:t>Port &amp; Technical Services</a:t>
            </a:r>
            <a:endParaRPr lang="en-US" sz="800" dirty="0">
              <a:latin typeface="+mj-lt"/>
              <a:ea typeface="+mj-ea"/>
              <a:cs typeface="+mj-cs"/>
            </a:endParaRPr>
          </a:p>
        </p:txBody>
      </p:sp>
      <p:sp>
        <p:nvSpPr>
          <p:cNvPr id="546" name="BLD.marauder_like_fleet_mro.footer.main"/>
          <p:cNvSpPr txBox="1"/>
          <p:nvPr/>
        </p:nvSpPr>
        <p:spPr>
          <a:xfrm>
            <a:off x="457200" y="6116439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 dirty="0">
                <a:solidFill>
                  <a:srgbClr val="162029"/>
                </a:solidFill>
                <a:latin typeface="Arial"/>
              </a:rPr>
              <a:t>Sources: (1) FPDS FY2025 contract obligations; data as of April 2026</a:t>
            </a:r>
          </a:p>
        </p:txBody>
      </p:sp>
      <p:sp>
        <p:nvSpPr>
          <p:cNvPr id="302" name="BLD.marauder_like_fleet_mro.callout.dollar_composition"/>
          <p:cNvSpPr/>
          <p:nvPr/>
        </p:nvSpPr>
        <p:spPr>
          <a:xfrm>
            <a:off x="8166101" y="2354481"/>
            <a:ext cx="3573461" cy="36317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MRO work types for Marauder-like vessels</a:t>
            </a:r>
            <a:endParaRPr sz="1000" b="1" dirty="0">
              <a:solidFill>
                <a:srgbClr val="1620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Depot Ship Repair: </a:t>
            </a:r>
            <a:r>
              <a:rPr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$623M (82%). MSC ROH and mid-term availabilities at MSRA yards, booked under J998/J999.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 and Technical: </a:t>
            </a:r>
            <a:r>
              <a:rPr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$107M (14%). Husbanding, </a:t>
            </a:r>
            <a:r>
              <a:rPr sz="1000" dirty="0" err="1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pierside</a:t>
            </a:r>
            <a:r>
              <a:rPr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 reps, logistics support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HM&amp;E: </a:t>
            </a:r>
            <a:r>
              <a:rPr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$28M (4%). Hull, mechanical, and electrical sustainment contracts outside the depot envelope.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Combat, Electronics, Nuclear: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Minimal. </a:t>
            </a:r>
            <a:r>
              <a:rPr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MSC and USCG hulls do not carry the combat system load or nuclear overhaul stream that DDG and SSN fleets do.</a:t>
            </a:r>
            <a:endParaRPr lang="en-US" sz="1000" dirty="0">
              <a:solidFill>
                <a:srgbClr val="1620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1620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Hull concentration</a:t>
            </a:r>
          </a:p>
          <a:p>
            <a:pPr marL="228600" indent="-228600">
              <a:buFont typeface="Arial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T-AO oilers: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$384M (51% of comp-set). Largest single hull program by far.</a:t>
            </a:r>
          </a:p>
          <a:p>
            <a:pPr marL="228600" indent="-228600">
              <a:buFont typeface="Arial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T-AKE dry cargo: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$208M (27%). MSC Lewis and Clark class.</a:t>
            </a:r>
          </a:p>
          <a:p>
            <a:pPr marL="228600" indent="-228600">
              <a:buFont typeface="Arial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ESB and T-ESB: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$64M combined (8%).</a:t>
            </a:r>
          </a:p>
          <a:p>
            <a:pPr marL="228600" indent="-228600">
              <a:buFont typeface="Arial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T-EPF expeditionary fast transport: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$59M (8%).</a:t>
            </a:r>
          </a:p>
          <a:p>
            <a:pPr marL="228600" indent="-228600">
              <a:buFont typeface="Arial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WPC and WLB cutters: </a:t>
            </a:r>
            <a:r>
              <a:rPr lang="en-US" sz="1000" dirty="0">
                <a:solidFill>
                  <a:srgbClr val="1620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$43M combined (6%). Only USCG hulls with material FY2025 spend.</a:t>
            </a:r>
          </a:p>
          <a:p>
            <a:endParaRPr lang="en-US" sz="1000" dirty="0">
              <a:solidFill>
                <a:srgbClr val="1620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dirty="0">
              <a:solidFill>
                <a:srgbClr val="1620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Rectangle 29"/>
          <p:cNvSpPr/>
          <p:nvPr/>
        </p:nvSpPr>
        <p:spPr>
          <a:xfrm>
            <a:off x="452438" y="1552407"/>
            <a:ext cx="3879849" cy="27543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defRPr/>
            </a:pPr>
            <a:r>
              <a:rPr lang="en-US" sz="800" i="1" dirty="0">
                <a:solidFill>
                  <a:schemeClr val="tx1"/>
                </a:solidFill>
              </a:rPr>
              <a:t>FY2025 Marauder-Like Fleet MRO by Hull × Work Segment ($M)</a:t>
            </a:r>
            <a:endParaRPr lang="en-US" sz="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9" name="Rectangle 68"/>
          <p:cNvSpPr/>
          <p:nvPr/>
        </p:nvSpPr>
        <p:spPr>
          <a:xfrm>
            <a:off x="814386" y="5711206"/>
            <a:ext cx="7043737" cy="27432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i="1" dirty="0">
                <a:solidFill>
                  <a:srgbClr val="162029"/>
                </a:solidFill>
              </a:rPr>
              <a:t>Marauder-comparable vessels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BLD.sam_sizing.breadcrumb.main"/>
          <p:cNvSpPr txBox="1"/>
          <p:nvPr/>
        </p:nvSpPr>
        <p:spPr>
          <a:xfrm>
            <a:off x="452628" y="263347"/>
            <a:ext cx="4875580" cy="15361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sz="1000" b="1" i="0" dirty="0">
                <a:solidFill>
                  <a:srgbClr val="44505C"/>
                </a:solidFill>
                <a:latin typeface="Arial"/>
              </a:rPr>
              <a:t>SAM</a:t>
            </a:r>
            <a:r>
              <a:rPr sz="1000" b="0" i="0" dirty="0">
                <a:solidFill>
                  <a:srgbClr val="44505C"/>
                </a:solidFill>
                <a:latin typeface="Arial"/>
              </a:rPr>
              <a:t> / Sizing</a:t>
            </a:r>
          </a:p>
        </p:txBody>
      </p:sp>
      <p:sp>
        <p:nvSpPr>
          <p:cNvPr id="303" name="BLD.sam_sizing.title.main"/>
          <p:cNvSpPr txBox="1"/>
          <p:nvPr/>
        </p:nvSpPr>
        <p:spPr>
          <a:xfrm>
            <a:off x="452628" y="566928"/>
            <a:ext cx="11282781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buNone/>
            </a:pPr>
            <a:r>
              <a:rPr sz="2000" b="0" i="0" dirty="0">
                <a:solidFill>
                  <a:srgbClr val="162029"/>
                </a:solidFill>
                <a:latin typeface="Arial"/>
              </a:rPr>
              <a:t>SAM Sizing | Intersecting the Marauder-comparable fleet with depot ship repair sizes SAM at </a:t>
            </a:r>
            <a:r>
              <a:rPr lang="en-US" sz="2000" b="0" i="0" dirty="0">
                <a:solidFill>
                  <a:srgbClr val="162029"/>
                </a:solidFill>
                <a:latin typeface="Arial"/>
              </a:rPr>
              <a:t>~</a:t>
            </a:r>
            <a:r>
              <a:rPr sz="2000" b="0" i="0" dirty="0">
                <a:solidFill>
                  <a:srgbClr val="162029"/>
                </a:solidFill>
                <a:latin typeface="Arial"/>
              </a:rPr>
              <a:t>$623M, </a:t>
            </a:r>
            <a:r>
              <a:rPr lang="en-US" sz="2000" b="0" i="0" dirty="0">
                <a:solidFill>
                  <a:srgbClr val="162029"/>
                </a:solidFill>
                <a:latin typeface="Arial"/>
              </a:rPr>
              <a:t>~</a:t>
            </a:r>
            <a:r>
              <a:rPr lang="en-US" sz="2000" dirty="0">
                <a:solidFill>
                  <a:srgbClr val="162029"/>
                </a:solidFill>
                <a:latin typeface="Arial"/>
              </a:rPr>
              <a:t>7</a:t>
            </a:r>
            <a:r>
              <a:rPr sz="2000" b="0" i="0" dirty="0">
                <a:solidFill>
                  <a:srgbClr val="162029"/>
                </a:solidFill>
                <a:latin typeface="Arial"/>
              </a:rPr>
              <a:t>% of TAM.</a:t>
            </a:r>
          </a:p>
        </p:txBody>
      </p:sp>
      <p:sp>
        <p:nvSpPr>
          <p:cNvPr id="304" name="BLD.sam_sizing.prelim.main"/>
          <p:cNvSpPr/>
          <p:nvPr/>
        </p:nvSpPr>
        <p:spPr>
          <a:xfrm>
            <a:off x="10232136" y="111556"/>
            <a:ext cx="1467612" cy="265176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>
            <a:noAutofit/>
          </a:bodyPr>
          <a:lstStyle/>
          <a:p>
            <a:pPr algn="ctr">
              <a:buNone/>
            </a:pPr>
            <a:r>
              <a:rPr sz="1200" b="1" i="0">
                <a:solidFill>
                  <a:srgbClr val="000000"/>
                </a:solidFill>
                <a:latin typeface="Arial"/>
              </a:rPr>
              <a:t>Preliminary</a:t>
            </a:r>
          </a:p>
        </p:txBody>
      </p:sp>
      <p:sp>
        <p:nvSpPr>
          <p:cNvPr id="309" name="BLD.sam_sizing.footer.main"/>
          <p:cNvSpPr txBox="1"/>
          <p:nvPr/>
        </p:nvSpPr>
        <p:spPr>
          <a:xfrm>
            <a:off x="457200" y="6037783"/>
            <a:ext cx="11308384" cy="360273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(1) FPDS FY2025 contract obligations; data as of April 2026</a:t>
            </a:r>
          </a:p>
        </p:txBody>
      </p:sp>
      <p:sp>
        <p:nvSpPr>
          <p:cNvPr id="310" name="Rectangle 12"/>
          <p:cNvSpPr/>
          <p:nvPr/>
        </p:nvSpPr>
        <p:spPr>
          <a:xfrm>
            <a:off x="769908" y="1518814"/>
            <a:ext cx="4279392" cy="566928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+mj-lt"/>
              </a:rPr>
              <a:t>MRO TAM</a:t>
            </a:r>
          </a:p>
          <a:p>
            <a:pPr algn="ctr"/>
            <a:r>
              <a:rPr lang="en-US" sz="1000" i="1" dirty="0">
                <a:solidFill>
                  <a:srgbClr val="000000"/>
                </a:solidFill>
                <a:latin typeface="+mj-lt"/>
              </a:rPr>
              <a:t>FY2025 Navy + USCG services obligations. $8,971M total.</a:t>
            </a:r>
          </a:p>
        </p:txBody>
      </p:sp>
      <p:sp>
        <p:nvSpPr>
          <p:cNvPr id="311" name="Rectangle 26"/>
          <p:cNvSpPr/>
          <p:nvPr/>
        </p:nvSpPr>
        <p:spPr>
          <a:xfrm>
            <a:off x="769908" y="2649313"/>
            <a:ext cx="4279392" cy="566928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Depot Ship Repair</a:t>
            </a:r>
          </a:p>
          <a:p>
            <a:pPr algn="ctr"/>
            <a:r>
              <a:rPr lang="en-US" sz="1000" i="1" dirty="0">
                <a:solidFill>
                  <a:schemeClr val="tx1"/>
                </a:solidFill>
              </a:rPr>
              <a:t>$4,781M. 53% of TAM. PSCs J998 (scheduled) + J999 (unscheduled) ship repair.</a:t>
            </a:r>
          </a:p>
        </p:txBody>
      </p:sp>
      <p:sp>
        <p:nvSpPr>
          <p:cNvPr id="312" name="Rectangle 32"/>
          <p:cNvSpPr/>
          <p:nvPr/>
        </p:nvSpPr>
        <p:spPr>
          <a:xfrm>
            <a:off x="769908" y="3779812"/>
            <a:ext cx="4279392" cy="566928"/>
          </a:xfrm>
          <a:prstGeom prst="rect">
            <a:avLst/>
          </a:prstGeom>
          <a:solidFill>
            <a:srgbClr val="3D5972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Marauder-like Fleet MRO</a:t>
            </a:r>
          </a:p>
          <a:p>
            <a:pPr algn="ctr"/>
            <a:r>
              <a:rPr lang="en-US" sz="1000" i="1" dirty="0"/>
              <a:t>$758M. 8% of TAM. 14-hull comp-set across all 6 work segments (reference).</a:t>
            </a:r>
            <a:endParaRPr lang="en-US" sz="1000" b="1" dirty="0"/>
          </a:p>
        </p:txBody>
      </p:sp>
      <p:sp>
        <p:nvSpPr>
          <p:cNvPr id="313" name="Rectangle 18"/>
          <p:cNvSpPr/>
          <p:nvPr/>
        </p:nvSpPr>
        <p:spPr>
          <a:xfrm>
            <a:off x="769908" y="4910310"/>
            <a:ext cx="4279392" cy="566928"/>
          </a:xfrm>
          <a:prstGeom prst="rect">
            <a:avLst/>
          </a:prstGeom>
          <a:solidFill>
            <a:srgbClr val="263746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 (Body)"/>
              </a:rPr>
              <a:t>SAM = $623M</a:t>
            </a:r>
          </a:p>
        </p:txBody>
      </p:sp>
      <p:cxnSp>
        <p:nvCxnSpPr>
          <p:cNvPr id="314" name="Straight Arrow Connector 19"/>
          <p:cNvCxnSpPr>
            <a:cxnSpLocks/>
          </p:cNvCxnSpPr>
          <p:nvPr/>
        </p:nvCxnSpPr>
        <p:spPr>
          <a:xfrm>
            <a:off x="2909604" y="2085742"/>
            <a:ext cx="0" cy="563571"/>
          </a:xfrm>
          <a:prstGeom prst="straightConnector1">
            <a:avLst/>
          </a:prstGeom>
          <a:ln>
            <a:solidFill>
              <a:srgbClr val="00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3"/>
          <p:cNvCxnSpPr>
            <a:cxnSpLocks/>
          </p:cNvCxnSpPr>
          <p:nvPr/>
        </p:nvCxnSpPr>
        <p:spPr>
          <a:xfrm>
            <a:off x="2909604" y="3238508"/>
            <a:ext cx="0" cy="541304"/>
          </a:xfrm>
          <a:prstGeom prst="straightConnector1">
            <a:avLst/>
          </a:prstGeom>
          <a:ln>
            <a:solidFill>
              <a:srgbClr val="00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20"/>
          <p:cNvCxnSpPr>
            <a:cxnSpLocks/>
          </p:cNvCxnSpPr>
          <p:nvPr/>
        </p:nvCxnSpPr>
        <p:spPr>
          <a:xfrm>
            <a:off x="2909604" y="4346740"/>
            <a:ext cx="0" cy="563570"/>
          </a:xfrm>
          <a:prstGeom prst="straightConnector1">
            <a:avLst/>
          </a:prstGeom>
          <a:ln>
            <a:solidFill>
              <a:srgbClr val="00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Rectangle 34"/>
          <p:cNvSpPr/>
          <p:nvPr/>
        </p:nvSpPr>
        <p:spPr>
          <a:xfrm>
            <a:off x="3066457" y="2176483"/>
            <a:ext cx="2488767" cy="3820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defRPr/>
            </a:pPr>
            <a:r>
              <a:rPr lang="en-US" sz="1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J998 + J999 depot PSCs only</a:t>
            </a:r>
          </a:p>
        </p:txBody>
      </p:sp>
      <p:sp>
        <p:nvSpPr>
          <p:cNvPr id="318" name="Rectangle 35"/>
          <p:cNvSpPr/>
          <p:nvPr/>
        </p:nvSpPr>
        <p:spPr>
          <a:xfrm>
            <a:off x="3041531" y="3306982"/>
            <a:ext cx="2488767" cy="382089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>
              <a:defRPr/>
            </a:pPr>
            <a:r>
              <a:rPr lang="en-US" sz="1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14-hull Marauder-like comp-set</a:t>
            </a:r>
          </a:p>
        </p:txBody>
      </p:sp>
      <p:graphicFrame>
        <p:nvGraphicFramePr>
          <p:cNvPr id="319" name="Table 13"/>
          <p:cNvGraphicFramePr>
            <a:graphicFrameLocks noGrp="1"/>
          </p:cNvGraphicFramePr>
          <p:nvPr/>
        </p:nvGraphicFramePr>
        <p:xfrm>
          <a:off x="6013654" y="1908126"/>
          <a:ext cx="5721524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8845"/>
                <a:gridCol w="4122679"/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Note</a:t>
                      </a:r>
                    </a:p>
                  </a:txBody>
                  <a:tcPr marL="45720" marR="4572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Detail</a:t>
                      </a:r>
                    </a:p>
                  </a:txBody>
                  <a:tcPr marL="45720" marR="45720"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SAM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Serviceable Addressable Market: depot ship repair spend on Marauder-type platforms, per the Definitions slide.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</a:txBody>
                  <a:tcPr marL="50800" marT="88900" marB="889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Comp-set</a:t>
                      </a:r>
                      <a:endParaRPr lang="en-US" sz="12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 hull programs across 3 mission-fit tiers (slide 10). Combat logistics and MSC primary: T-EPF, T-AKE, T-AO, T-ESB, T-ESD. Amphibious connectors: LSM, LCU. USCG size-class: FRC, WPC, WLB.</a:t>
                      </a:r>
                      <a:endParaRPr lang="en-US" sz="1200" b="0" baseline="3000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Derivation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FY2025 FPDS contract obligations, filtered to depot PSCs (J998, J999) intersected with the 14-hull Marauder comp-set. 82% of comp-set MRO lands in depot because MSC auxiliaries book scheduled ROH and mid-term availabilities at MSRA yards under those PSCs.</a:t>
                      </a: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j-lt"/>
                          <a:ea typeface="Inter SemiBold" panose="02000503000000020004" pitchFamily="2" charset="0"/>
                        </a:rPr>
                        <a:t>Out of scope</a:t>
                      </a:r>
                      <a:endParaRPr lang="en-US" sz="1200" b="0" i="1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</a:endParaRP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Non-depot work on the comp-set ($135M: HM&amp;E, Port and Technical, Combat and Electronics and Nuclear). Depot work on non-comp-set hulls ($4,158M: CVN, DDG, SSN/SSBN, and other combatants).</a:t>
                      </a:r>
                      <a:endParaRPr lang="en-US" sz="1200" b="0" kern="1200" baseline="30000" dirty="0">
                        <a:solidFill>
                          <a:srgbClr val="000000"/>
                        </a:solidFill>
                        <a:latin typeface="+mj-lt"/>
                        <a:ea typeface="Inter SemiBold" panose="02000503000000020004" pitchFamily="2" charset="0"/>
                        <a:cs typeface="+mn-cs"/>
                      </a:endParaRPr>
                    </a:p>
                  </a:txBody>
                  <a:tcPr marL="45720" marR="4572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Contract Vehicles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Contract Vehicles &amp; Qualifications | MSRA and MAC-MO carry ~84% of Navy depot MRO, with Coast Guard cutter repair on a separate USCG track.</a:t>
            </a:r>
          </a:p>
        </p:txBody>
      </p:sp>
      <p:graphicFrame>
        <p:nvGraphicFramePr>
          <p:cNvPr id="305" name="BLD.contract_vehicles.table.table_0"/>
          <p:cNvGraphicFramePr>
            <a:graphicFrameLocks noGrp="1"/>
          </p:cNvGraphicFramePr>
          <p:nvPr/>
        </p:nvGraphicFramePr>
        <p:xfrm>
          <a:off x="452628" y="1612087"/>
          <a:ext cx="6858000" cy="436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/>
                <a:gridCol w="2011680"/>
                <a:gridCol w="1298448"/>
                <a:gridCol w="2130552"/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>
                          <a:solidFill>
                            <a:srgbClr val="162029"/>
                          </a:solidFill>
                          <a:latin typeface="Arial"/>
                        </a:rPr>
                        <a:t>Vehicle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Arial"/>
                        </a:rPr>
                        <a:t>Qualification requirements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D8E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Arial"/>
                        </a:rPr>
                        <a:t>Typical POP/ceiling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ACC4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 i="0" dirty="0">
                          <a:solidFill>
                            <a:srgbClr val="FFFFFF"/>
                          </a:solidFill>
                          <a:latin typeface="Arial"/>
                        </a:rPr>
                        <a:t>Example awardees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80A4B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Arial"/>
                        </a:rPr>
                        <a:t>MSR</a:t>
                      </a:r>
                      <a:r>
                        <a:rPr lang="en-US" sz="900" b="1" i="0" dirty="0">
                          <a:solidFill>
                            <a:srgbClr val="162029"/>
                          </a:solidFill>
                          <a:latin typeface="Arial"/>
                        </a:rPr>
                        <a:t>A</a:t>
                      </a:r>
                    </a:p>
                    <a:p>
                      <a:pPr algn="l">
                        <a:buNone/>
                      </a:pPr>
                      <a:r>
                        <a:rPr sz="800" b="0" i="1" dirty="0">
                          <a:solidFill>
                            <a:srgbClr val="162029"/>
                          </a:solidFill>
                          <a:latin typeface="Arial"/>
                        </a:rPr>
                        <a:t>Master Ship Repair Agreement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DFARS master agreement (not a contract). CNRMC application per location: ship-repair identity, on-site survey, DCMA financial capability review. Tier 1/2/3 by workload capacity (22,000 or 1,040 man-days).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~123-day notional (up to ~1 year actual). 5-year recert; DCMA annual reviews.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~11 private CONUS yards. Tier-1 primes (BAE, GD NASSCO, HII, Vigor, </a:t>
                      </a:r>
                      <a:r>
                        <a:rPr sz="900" b="0" i="0" dirty="0" err="1">
                          <a:solidFill>
                            <a:srgbClr val="162029"/>
                          </a:solidFill>
                          <a:latin typeface="Arial"/>
                        </a:rPr>
                        <a:t>Detyens</a:t>
                      </a: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) anchor depot $ share.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i="0" dirty="0">
                          <a:solidFill>
                            <a:srgbClr val="162029"/>
                          </a:solidFill>
                          <a:latin typeface="+mn-lt"/>
                        </a:rPr>
                        <a:t>MAC-MO</a:t>
                      </a:r>
                    </a:p>
                    <a:p>
                      <a:pPr algn="l">
                        <a:buNone/>
                      </a:pPr>
                      <a:r>
                        <a:rPr lang="en-US" sz="800" b="0" i="1" dirty="0">
                          <a:solidFill>
                            <a:srgbClr val="162029"/>
                          </a:solidFill>
                          <a:latin typeface="+mn-lt"/>
                        </a:rPr>
                        <a:t>Multiple-Award Contract, Maintenance and Overhaul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Navy ship-maintenance strategy, not a standing qualification. Pre-qualified contractors compete per home port (SWRMC, MARMC, SERMC).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~5-year period. Firm-fixed-price delivery orders per availability.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MSRA-holders who win each home-port pool solicitation.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 err="1">
                          <a:solidFill>
                            <a:srgbClr val="162029"/>
                          </a:solidFill>
                          <a:latin typeface="Arial"/>
                        </a:rPr>
                        <a:t>SeaPort-NxG</a:t>
                      </a:r>
                      <a:endParaRPr lang="en-US" sz="900" b="1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  <a:p>
                      <a:pPr algn="l">
                        <a:buNone/>
                      </a:pPr>
                      <a:r>
                        <a:rPr sz="800" b="0" i="1" dirty="0">
                          <a:solidFill>
                            <a:srgbClr val="162029"/>
                          </a:solidFill>
                          <a:latin typeface="Arial"/>
                        </a:rPr>
                        <a:t>Navy Professional Support Services IDIQ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Rolling Admissions qualification (current solicitation N00178-24-R-7000). Engineering, PM, technical services; not depot repair.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5-year POP. Timing tied to open admissions window.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Broad prime pool. Not a substitute for MSRA on shipyard MRO.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i="0" dirty="0" err="1">
                          <a:solidFill>
                            <a:srgbClr val="162029"/>
                          </a:solidFill>
                          <a:latin typeface="+mn-lt"/>
                        </a:rPr>
                        <a:t>FedMall</a:t>
                      </a:r>
                      <a:r>
                        <a:rPr lang="en-US" sz="900" b="1" i="0" dirty="0">
                          <a:solidFill>
                            <a:srgbClr val="162029"/>
                          </a:solidFill>
                          <a:latin typeface="+mn-lt"/>
                        </a:rPr>
                        <a:t> / GSA</a:t>
                      </a:r>
                    </a:p>
                    <a:p>
                      <a:pPr algn="l">
                        <a:buNone/>
                      </a:pPr>
                      <a:r>
                        <a:rPr lang="en-US" sz="800" b="0" i="1" dirty="0">
                          <a:solidFill>
                            <a:srgbClr val="162029"/>
                          </a:solidFill>
                          <a:latin typeface="+mn-lt"/>
                        </a:rPr>
                        <a:t>Small-purchase and professional services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 err="1">
                          <a:solidFill>
                            <a:srgbClr val="162029"/>
                          </a:solidFill>
                          <a:latin typeface="Arial"/>
                        </a:rPr>
                        <a:t>FedMall</a:t>
                      </a: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 is DLA's catalog portal (typically paired with LTA/BPA). GSA MAS and OASIS+ for catalog and professional services. Outside the depot MRO pipeline.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FedMall &lt;$250K small-purchase. GSA MAS 5-year option periods.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Broad vendor base. Typical use: OEM parts, husbanding, ancillary technical services.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6350" cap="flat" cmpd="sng" algn="ctr">
                      <a:solidFill>
                        <a:srgbClr val="1620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 i="0" dirty="0">
                          <a:solidFill>
                            <a:srgbClr val="162029"/>
                          </a:solidFill>
                          <a:latin typeface="Arial"/>
                        </a:rPr>
                        <a:t>USCG/SFLC</a:t>
                      </a:r>
                      <a:endParaRPr lang="en-US" sz="900" b="1" i="0" dirty="0">
                        <a:solidFill>
                          <a:srgbClr val="162029"/>
                        </a:solidFill>
                        <a:latin typeface="Arial"/>
                      </a:endParaRPr>
                    </a:p>
                    <a:p>
                      <a:pPr algn="l">
                        <a:buNone/>
                      </a:pPr>
                      <a:r>
                        <a:rPr sz="800" b="0" i="1" dirty="0">
                          <a:solidFill>
                            <a:srgbClr val="162029"/>
                          </a:solidFill>
                          <a:latin typeface="Arial"/>
                        </a:rPr>
                        <a:t>Coast Guard procurement via SAM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Separate gate, not Navy MSRA. Coast Guard solicitation requirements, NAICS 336611. For drydock work: Std Spec 8634 facility certification and qualified Dockmaster.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>
                          <a:solidFill>
                            <a:srgbClr val="162029"/>
                          </a:solidFill>
                          <a:latin typeface="Arial"/>
                        </a:rPr>
                        <a:t>Per-solicitation competition. Drydock certification submitted to the KO per facility.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dirty="0">
                          <a:solidFill>
                            <a:srgbClr val="162029"/>
                          </a:solidFill>
                          <a:latin typeface="Arial"/>
                        </a:rPr>
                        <a:t>CG-certified cutter repair yards. Dockside repair has lower gating than drydock.</a:t>
                      </a: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BLD.contract_vehicles.callout.callout_1"/>
          <p:cNvSpPr/>
          <p:nvPr/>
        </p:nvSpPr>
        <p:spPr>
          <a:xfrm>
            <a:off x="7543800" y="2377439"/>
            <a:ext cx="4221784" cy="2548521"/>
          </a:xfrm>
          <a:prstGeom prst="rect">
            <a:avLst/>
          </a:prstGeom>
          <a:solidFill>
            <a:srgbClr val="D8E3EB"/>
          </a:solidFill>
          <a:ln w="9525">
            <a:solidFill>
              <a:srgbClr val="1D4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>
            <a:noAutofit/>
          </a:bodyPr>
          <a:lstStyle/>
          <a:p>
            <a:pPr algn="l">
              <a:buNone/>
            </a:pPr>
            <a:r>
              <a:rPr sz="1100" b="1" i="0" dirty="0">
                <a:solidFill>
                  <a:srgbClr val="162029"/>
                </a:solidFill>
                <a:latin typeface="Arial"/>
              </a:rPr>
              <a:t>Qualification paths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SAM/UEI registration: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Baseline for any federal bid; NAICS 336611 for ship repair.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MSRA (Navy gate):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DFARS master agreement, location-specific, Tier 1/2/3 by workload capacity. DCMA financial review; 5-year recertification.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MAC-MO home-port pool: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Win the regional competition (SWRMC, MARMC, SERMC) for FFP delivery orders on home-port availabilities.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Coast Guard MRO: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USCG SFLC direct solicitations on SAM. For drydock work, Std Spec 8634 facility certification and a qualified Dockmaster.</a:t>
            </a:r>
          </a:p>
          <a:p>
            <a:pPr marL="228600" indent="-228600" algn="l">
              <a:buFont typeface="Arial"/>
              <a:buChar char="•"/>
            </a:pPr>
            <a:r>
              <a:rPr sz="1000" b="1" i="0" dirty="0">
                <a:solidFill>
                  <a:srgbClr val="162029"/>
                </a:solidFill>
                <a:latin typeface="Arial"/>
              </a:rPr>
              <a:t>Adjacent channels: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162029"/>
                </a:solidFill>
                <a:latin typeface="Arial"/>
              </a:rPr>
              <a:t>SeaPort-NxG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(pro services), </a:t>
            </a:r>
            <a:r>
              <a:rPr sz="1000" b="0" i="0" dirty="0" err="1">
                <a:solidFill>
                  <a:srgbClr val="162029"/>
                </a:solidFill>
                <a:latin typeface="Arial"/>
              </a:rPr>
              <a:t>FedMall</a:t>
            </a:r>
            <a:r>
              <a:rPr sz="1000" b="0" i="0" dirty="0">
                <a:solidFill>
                  <a:srgbClr val="162029"/>
                </a:solidFill>
                <a:latin typeface="Arial"/>
              </a:rPr>
              <a:t> (DLA catalog), GSA MAS and OASIS+; not gates for depot or drydock MRO.</a:t>
            </a:r>
          </a:p>
        </p:txBody>
      </p:sp>
      <p:sp>
        <p:nvSpPr>
          <p:cNvPr id="308" name="BLD.contract_vehicles.footer.main"/>
          <p:cNvSpPr txBox="1"/>
          <p:nvPr/>
        </p:nvSpPr>
        <p:spPr>
          <a:xfrm>
            <a:off x="457200" y="6037783"/>
            <a:ext cx="11308384" cy="502920"/>
          </a:xfrm>
          <a:prstGeom prst="rect">
            <a:avLst/>
          </a:prstGeom>
          <a:noFill/>
        </p:spPr>
        <p:txBody>
          <a:bodyPr wrap="square" lIns="0" tIns="18288" rIns="0" bIns="18288">
            <a:noAutofit/>
          </a:bodyPr>
          <a:lstStyle/>
          <a:p>
            <a:pPr algn="l">
              <a:buNone/>
            </a:pPr>
            <a:r>
              <a:rPr sz="800" b="0" i="0">
                <a:solidFill>
                  <a:srgbClr val="162029"/>
                </a:solidFill>
                <a:latin typeface="Arial"/>
              </a:rPr>
              <a:t>Sources: FPDS FY2025 obligations; DFARS 217.71 (Master Agreements); GAO MAC-MO references; CNRMC MSRA instruction (2025); USCG Std Spec 8634; data as of April 2026</a:t>
            </a:r>
          </a:p>
        </p:txBody>
      </p:sp>
      <p:sp>
        <p:nvSpPr>
          <p:cNvPr id="309" name="TextBox 8"/>
          <p:cNvSpPr txBox="1"/>
          <p:nvPr/>
        </p:nvSpPr>
        <p:spPr>
          <a:xfrm>
            <a:off x="452628" y="1340120"/>
            <a:ext cx="5029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i="1" dirty="0"/>
              <a:t>Navy and Coast Guard MRO Contract Vehicles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deck_mro</Application>
  <PresentationFormat>Widescreen</PresentationFormat>
  <Slides>15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U.S. Navy &amp; USCG Vessel MRO - Market Sizing (TAM/SAM)</dc:title>
  <dc:creator>deck_mro build_deck.py</dc:creator>
  <cp:lastModifiedBy>deck_mro build_deck.py</cp:lastModifiedBy>
  <cp:revision>1</cp:revision>
  <dcterms:created xsi:type="dcterms:W3CDTF">2026-06-11T03:14:43Z</dcterms:created>
  <dcterms:modified xsi:type="dcterms:W3CDTF">2026-06-11T03:14:43Z</dcterms:modified>
</cp:coreProperties>
</file>