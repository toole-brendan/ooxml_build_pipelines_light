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1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28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8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8.3299999999999999E-2"/>
          <c:y val="1.38E-2"/>
          <c:w val="0.91549999999999998"/>
          <c:h val="0.9491000000000000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Depot Ship Repair</c:v>
                </c:pt>
              </c:strCache>
            </c:strRef>
          </c:tx>
          <c:spPr>
            <a:solidFill>
              <a:srgbClr val="79838F"/>
            </a:solidFill>
            <a:ln w="9525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FY2025 MRO TAM</c:v>
                </c:pt>
              </c:strCache>
            </c:strRef>
          </c:cat>
          <c:val>
            <c:numRef>
              <c:f>Sheet1!$B$2:$B$2</c:f>
              <c:numCache>
                <c:formatCode>0"%"</c:formatCode>
                <c:ptCount val="1"/>
                <c:pt idx="0">
                  <c:v>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D3B-9545-AF54-B92C21A50E8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Nuclear &amp; Complex Overhauls</c:v>
                </c:pt>
              </c:strCache>
            </c:strRef>
          </c:tx>
          <c:spPr>
            <a:solidFill>
              <a:srgbClr val="1D4D68"/>
            </a:solidFill>
            <a:ln w="9525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FY2025 MRO TAM</c:v>
                </c:pt>
              </c:strCache>
            </c:strRef>
          </c:cat>
          <c:val>
            <c:numRef>
              <c:f>Sheet1!$C$2:$C$2</c:f>
              <c:numCache>
                <c:formatCode>0"%"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D3B-9545-AF54-B92C21A50E8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Hull, Mechanical &amp; Electrical (HM&amp;E)</c:v>
                </c:pt>
              </c:strCache>
            </c:strRef>
          </c:tx>
          <c:spPr>
            <a:solidFill>
              <a:srgbClr val="486D82"/>
            </a:solidFill>
            <a:ln w="9525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FY2025 MRO TAM</c:v>
                </c:pt>
              </c:strCache>
            </c:strRef>
          </c:cat>
          <c:val>
            <c:numRef>
              <c:f>Sheet1!$D$2:$D$2</c:f>
              <c:numCache>
                <c:formatCode>0"%"</c:formatCode>
                <c:ptCount val="1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D3B-9545-AF54-B92C21A50E8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Combat Systems Sustainment</c:v>
                </c:pt>
              </c:strCache>
            </c:strRef>
          </c:tx>
          <c:spPr>
            <a:solidFill>
              <a:srgbClr val="89A2B0"/>
            </a:solidFill>
            <a:ln w="9525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FY2025 MRO TAM</c:v>
                </c:pt>
              </c:strCache>
            </c:strRef>
          </c:cat>
          <c:val>
            <c:numRef>
              <c:f>Sheet1!$E$2:$E$2</c:f>
              <c:numCache>
                <c:formatCode>0"%"</c:formatCode>
                <c:ptCount val="1"/>
                <c:pt idx="0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D3B-9545-AF54-B92C21A50E8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Port &amp; Technical Services</c:v>
                </c:pt>
              </c:strCache>
            </c:strRef>
          </c:tx>
          <c:spPr>
            <a:solidFill>
              <a:srgbClr val="D8E3EB"/>
            </a:solidFill>
            <a:ln w="9525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FY2025 MRO TAM</c:v>
                </c:pt>
              </c:strCache>
            </c:strRef>
          </c:cat>
          <c:val>
            <c:numRef>
              <c:f>Sheet1!$F$2:$F$2</c:f>
              <c:numCache>
                <c:formatCode>0"%"</c:formatCode>
                <c:ptCount val="1"/>
                <c:pt idx="0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D3B-9545-AF54-B92C21A50E8E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Electronics &amp; C4ISR Sustainment</c:v>
                </c:pt>
              </c:strCache>
            </c:strRef>
          </c:tx>
          <c:spPr>
            <a:solidFill>
              <a:srgbClr val="AFC2CC"/>
            </a:solidFill>
            <a:ln w="9525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FY2025 MRO TAM</c:v>
                </c:pt>
              </c:strCache>
            </c:strRef>
          </c:cat>
          <c:val>
            <c:numRef>
              <c:f>Sheet1!$G$2:$G$2</c:f>
              <c:numCache>
                <c:formatCode>0"%"</c:formatCode>
                <c:ptCount val="1"/>
                <c:pt idx="0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D3B-9545-AF54-B92C21A50E8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00"/>
          <c:min val="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5"/>
      </c:valAx>
    </c:plotArea>
    <c:plotVisOnly val="1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5.7251000000000003E-2"/>
          <c:y val="4.8173000000000001E-2"/>
          <c:w val="0.91517099999999996"/>
          <c:h val="0.9191219999999999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Layer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923D-F143-AF39-FDFBDD356CAB}"/>
              </c:ext>
            </c:extLst>
          </c:dPt>
          <c:dPt>
            <c:idx val="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923D-F143-AF39-FDFBDD356CAB}"/>
              </c:ext>
            </c:extLst>
          </c:dPt>
          <c:dPt>
            <c:idx val="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923D-F143-AF39-FDFBDD356CAB}"/>
              </c:ext>
            </c:extLst>
          </c:dPt>
          <c:dPt>
            <c:idx val="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923D-F143-AF39-FDFBDD356CAB}"/>
              </c:ext>
            </c:extLst>
          </c:dPt>
          <c:dPt>
            <c:idx val="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923D-F143-AF39-FDFBDD356CAB}"/>
              </c:ext>
            </c:extLst>
          </c:dPt>
          <c:dPt>
            <c:idx val="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923D-F143-AF39-FDFBDD356CAB}"/>
              </c:ext>
            </c:extLst>
          </c:dPt>
          <c:dPt>
            <c:idx val="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923D-F143-AF39-FDFBDD356CAB}"/>
              </c:ext>
            </c:extLst>
          </c:dPt>
          <c:dPt>
            <c:idx val="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F-923D-F143-AF39-FDFBDD356CAB}"/>
              </c:ext>
            </c:extLst>
          </c:dPt>
          <c:dPt>
            <c:idx val="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1-923D-F143-AF39-FDFBDD356CAB}"/>
              </c:ext>
            </c:extLst>
          </c:dPt>
          <c:dPt>
            <c:idx val="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3-923D-F143-AF39-FDFBDD356CAB}"/>
              </c:ext>
            </c:extLst>
          </c:dPt>
          <c:dPt>
            <c:idx val="1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5-923D-F143-AF39-FDFBDD356CAB}"/>
              </c:ext>
            </c:extLst>
          </c:dPt>
          <c:dPt>
            <c:idx val="1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7-923D-F143-AF39-FDFBDD356CAB}"/>
              </c:ext>
            </c:extLst>
          </c:dPt>
          <c:dPt>
            <c:idx val="1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9-923D-F143-AF39-FDFBDD356CAB}"/>
              </c:ext>
            </c:extLst>
          </c:dPt>
          <c:dPt>
            <c:idx val="1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B-923D-F143-AF39-FDFBDD356CAB}"/>
              </c:ext>
            </c:extLst>
          </c:dPt>
          <c:dPt>
            <c:idx val="1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D-923D-F143-AF39-FDFBDD356CAB}"/>
              </c:ext>
            </c:extLst>
          </c:dPt>
          <c:dPt>
            <c:idx val="1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F-923D-F143-AF39-FDFBDD356CAB}"/>
              </c:ext>
            </c:extLst>
          </c:dPt>
          <c:dPt>
            <c:idx val="1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21-923D-F143-AF39-FDFBDD356CAB}"/>
              </c:ext>
            </c:extLst>
          </c:dPt>
          <c:dPt>
            <c:idx val="1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23-923D-F143-AF39-FDFBDD356CAB}"/>
              </c:ext>
            </c:extLst>
          </c:dPt>
          <c:dPt>
            <c:idx val="1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25-923D-F143-AF39-FDFBDD356CAB}"/>
              </c:ext>
            </c:extLst>
          </c:dPt>
          <c:dPt>
            <c:idx val="1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27-923D-F143-AF39-FDFBDD356CAB}"/>
              </c:ext>
            </c:extLst>
          </c:dPt>
          <c:dPt>
            <c:idx val="2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29-923D-F143-AF39-FDFBDD356CAB}"/>
              </c:ext>
            </c:extLst>
          </c:dPt>
          <c:dPt>
            <c:idx val="2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2B-923D-F143-AF39-FDFBDD356CAB}"/>
              </c:ext>
            </c:extLst>
          </c:dPt>
          <c:dPt>
            <c:idx val="2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2D-923D-F143-AF39-FDFBDD356CAB}"/>
              </c:ext>
            </c:extLst>
          </c:dPt>
          <c:dPt>
            <c:idx val="2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2F-923D-F143-AF39-FDFBDD356CAB}"/>
              </c:ext>
            </c:extLst>
          </c:dPt>
          <c:dPt>
            <c:idx val="2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31-923D-F143-AF39-FDFBDD356CAB}"/>
              </c:ext>
            </c:extLst>
          </c:dPt>
          <c:dPt>
            <c:idx val="2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33-923D-F143-AF39-FDFBDD356CAB}"/>
              </c:ext>
            </c:extLst>
          </c:dPt>
          <c:dPt>
            <c:idx val="2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35-923D-F143-AF39-FDFBDD356CAB}"/>
              </c:ext>
            </c:extLst>
          </c:dPt>
          <c:dPt>
            <c:idx val="2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37-923D-F143-AF39-FDFBDD356CAB}"/>
              </c:ext>
            </c:extLst>
          </c:dPt>
          <c:dPt>
            <c:idx val="2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39-923D-F143-AF39-FDFBDD356CAB}"/>
              </c:ext>
            </c:extLst>
          </c:dPt>
          <c:dPt>
            <c:idx val="2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3B-923D-F143-AF39-FDFBDD356CAB}"/>
              </c:ext>
            </c:extLst>
          </c:dPt>
          <c:dPt>
            <c:idx val="3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3D-923D-F143-AF39-FDFBDD356CAB}"/>
              </c:ext>
            </c:extLst>
          </c:dPt>
          <c:dPt>
            <c:idx val="3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3F-923D-F143-AF39-FDFBDD356CAB}"/>
              </c:ext>
            </c:extLst>
          </c:dPt>
          <c:dPt>
            <c:idx val="3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41-923D-F143-AF39-FDFBDD356CAB}"/>
              </c:ext>
            </c:extLst>
          </c:dPt>
          <c:dPt>
            <c:idx val="3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43-923D-F143-AF39-FDFBDD356CAB}"/>
              </c:ext>
            </c:extLst>
          </c:dPt>
          <c:dPt>
            <c:idx val="3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45-923D-F143-AF39-FDFBDD356CAB}"/>
              </c:ext>
            </c:extLst>
          </c:dPt>
          <c:dPt>
            <c:idx val="3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47-923D-F143-AF39-FDFBDD356CAB}"/>
              </c:ext>
            </c:extLst>
          </c:dPt>
          <c:dPt>
            <c:idx val="3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49-923D-F143-AF39-FDFBDD356CAB}"/>
              </c:ext>
            </c:extLst>
          </c:dPt>
          <c:dPt>
            <c:idx val="3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4B-923D-F143-AF39-FDFBDD356CAB}"/>
              </c:ext>
            </c:extLst>
          </c:dPt>
          <c:dPt>
            <c:idx val="3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4D-923D-F143-AF39-FDFBDD356CAB}"/>
              </c:ext>
            </c:extLst>
          </c:dPt>
          <c:dPt>
            <c:idx val="3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4F-923D-F143-AF39-FDFBDD356CAB}"/>
              </c:ext>
            </c:extLst>
          </c:dPt>
          <c:dPt>
            <c:idx val="4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51-923D-F143-AF39-FDFBDD356CAB}"/>
              </c:ext>
            </c:extLst>
          </c:dPt>
          <c:dPt>
            <c:idx val="4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53-923D-F143-AF39-FDFBDD356CAB}"/>
              </c:ext>
            </c:extLst>
          </c:dPt>
          <c:dPt>
            <c:idx val="4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55-923D-F143-AF39-FDFBDD356CAB}"/>
              </c:ext>
            </c:extLst>
          </c:dPt>
          <c:dPt>
            <c:idx val="4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57-923D-F143-AF39-FDFBDD356CAB}"/>
              </c:ext>
            </c:extLst>
          </c:dPt>
          <c:dPt>
            <c:idx val="4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59-923D-F143-AF39-FDFBDD356CAB}"/>
              </c:ext>
            </c:extLst>
          </c:dPt>
          <c:dPt>
            <c:idx val="4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5B-923D-F143-AF39-FDFBDD356CAB}"/>
              </c:ext>
            </c:extLst>
          </c:dPt>
          <c:dPt>
            <c:idx val="4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5D-923D-F143-AF39-FDFBDD356CAB}"/>
              </c:ext>
            </c:extLst>
          </c:dPt>
          <c:dPt>
            <c:idx val="4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5F-923D-F143-AF39-FDFBDD356CAB}"/>
              </c:ext>
            </c:extLst>
          </c:dPt>
          <c:dPt>
            <c:idx val="4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61-923D-F143-AF39-FDFBDD356CAB}"/>
              </c:ext>
            </c:extLst>
          </c:dPt>
          <c:dPt>
            <c:idx val="4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63-923D-F143-AF39-FDFBDD356CAB}"/>
              </c:ext>
            </c:extLst>
          </c:dPt>
          <c:dPt>
            <c:idx val="5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65-923D-F143-AF39-FDFBDD356CAB}"/>
              </c:ext>
            </c:extLst>
          </c:dPt>
          <c:dPt>
            <c:idx val="5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67-923D-F143-AF39-FDFBDD356CAB}"/>
              </c:ext>
            </c:extLst>
          </c:dPt>
          <c:dPt>
            <c:idx val="5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69-923D-F143-AF39-FDFBDD356CAB}"/>
              </c:ext>
            </c:extLst>
          </c:dPt>
          <c:dPt>
            <c:idx val="5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6B-923D-F143-AF39-FDFBDD356CAB}"/>
              </c:ext>
            </c:extLst>
          </c:dPt>
          <c:dPt>
            <c:idx val="5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6D-923D-F143-AF39-FDFBDD356CAB}"/>
              </c:ext>
            </c:extLst>
          </c:dPt>
          <c:dPt>
            <c:idx val="5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6F-923D-F143-AF39-FDFBDD356CAB}"/>
              </c:ext>
            </c:extLst>
          </c:dPt>
          <c:dPt>
            <c:idx val="5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71-923D-F143-AF39-FDFBDD356CAB}"/>
              </c:ext>
            </c:extLst>
          </c:dPt>
          <c:dPt>
            <c:idx val="5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73-923D-F143-AF39-FDFBDD356CAB}"/>
              </c:ext>
            </c:extLst>
          </c:dPt>
          <c:dPt>
            <c:idx val="5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75-923D-F143-AF39-FDFBDD356CAB}"/>
              </c:ext>
            </c:extLst>
          </c:dPt>
          <c:dPt>
            <c:idx val="5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77-923D-F143-AF39-FDFBDD356CAB}"/>
              </c:ext>
            </c:extLst>
          </c:dPt>
          <c:dPt>
            <c:idx val="6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79-923D-F143-AF39-FDFBDD356CAB}"/>
              </c:ext>
            </c:extLst>
          </c:dPt>
          <c:dPt>
            <c:idx val="6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7B-923D-F143-AF39-FDFBDD356CAB}"/>
              </c:ext>
            </c:extLst>
          </c:dPt>
          <c:dPt>
            <c:idx val="6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7D-923D-F143-AF39-FDFBDD356CAB}"/>
              </c:ext>
            </c:extLst>
          </c:dPt>
          <c:dPt>
            <c:idx val="6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7F-923D-F143-AF39-FDFBDD356CAB}"/>
              </c:ext>
            </c:extLst>
          </c:dPt>
          <c:dPt>
            <c:idx val="6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81-923D-F143-AF39-FDFBDD356CAB}"/>
              </c:ext>
            </c:extLst>
          </c:dPt>
          <c:dPt>
            <c:idx val="6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83-923D-F143-AF39-FDFBDD356CAB}"/>
              </c:ext>
            </c:extLst>
          </c:dPt>
          <c:dPt>
            <c:idx val="6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85-923D-F143-AF39-FDFBDD356CAB}"/>
              </c:ext>
            </c:extLst>
          </c:dPt>
          <c:dPt>
            <c:idx val="6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87-923D-F143-AF39-FDFBDD356CAB}"/>
              </c:ext>
            </c:extLst>
          </c:dPt>
          <c:dPt>
            <c:idx val="6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89-923D-F143-AF39-FDFBDD356CAB}"/>
              </c:ext>
            </c:extLst>
          </c:dPt>
          <c:dPt>
            <c:idx val="6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8B-923D-F143-AF39-FDFBDD356CAB}"/>
              </c:ext>
            </c:extLst>
          </c:dPt>
          <c:dPt>
            <c:idx val="7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8D-923D-F143-AF39-FDFBDD356CAB}"/>
              </c:ext>
            </c:extLst>
          </c:dPt>
          <c:dPt>
            <c:idx val="7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8F-923D-F143-AF39-FDFBDD356CAB}"/>
              </c:ext>
            </c:extLst>
          </c:dPt>
          <c:dPt>
            <c:idx val="7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91-923D-F143-AF39-FDFBDD356CAB}"/>
              </c:ext>
            </c:extLst>
          </c:dPt>
          <c:dPt>
            <c:idx val="7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93-923D-F143-AF39-FDFBDD356CAB}"/>
              </c:ext>
            </c:extLst>
          </c:dPt>
          <c:dPt>
            <c:idx val="7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95-923D-F143-AF39-FDFBDD356CAB}"/>
              </c:ext>
            </c:extLst>
          </c:dPt>
          <c:dPt>
            <c:idx val="7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97-923D-F143-AF39-FDFBDD356CAB}"/>
              </c:ext>
            </c:extLst>
          </c:dPt>
          <c:dPt>
            <c:idx val="7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99-923D-F143-AF39-FDFBDD356CAB}"/>
              </c:ext>
            </c:extLst>
          </c:dPt>
          <c:dPt>
            <c:idx val="7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9B-923D-F143-AF39-FDFBDD356CAB}"/>
              </c:ext>
            </c:extLst>
          </c:dPt>
          <c:dPt>
            <c:idx val="7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9D-923D-F143-AF39-FDFBDD356CAB}"/>
              </c:ext>
            </c:extLst>
          </c:dPt>
          <c:dPt>
            <c:idx val="7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9F-923D-F143-AF39-FDFBDD356CAB}"/>
              </c:ext>
            </c:extLst>
          </c:dPt>
          <c:dPt>
            <c:idx val="8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A1-923D-F143-AF39-FDFBDD356CAB}"/>
              </c:ext>
            </c:extLst>
          </c:dPt>
          <c:dPt>
            <c:idx val="8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A3-923D-F143-AF39-FDFBDD356CAB}"/>
              </c:ext>
            </c:extLst>
          </c:dPt>
          <c:dPt>
            <c:idx val="8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A5-923D-F143-AF39-FDFBDD356CAB}"/>
              </c:ext>
            </c:extLst>
          </c:dPt>
          <c:dPt>
            <c:idx val="8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A7-923D-F143-AF39-FDFBDD356CAB}"/>
              </c:ext>
            </c:extLst>
          </c:dPt>
          <c:dPt>
            <c:idx val="8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A9-923D-F143-AF39-FDFBDD356CAB}"/>
              </c:ext>
            </c:extLst>
          </c:dPt>
          <c:dPt>
            <c:idx val="8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AB-923D-F143-AF39-FDFBDD356CAB}"/>
              </c:ext>
            </c:extLst>
          </c:dPt>
          <c:dPt>
            <c:idx val="8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AD-923D-F143-AF39-FDFBDD356CAB}"/>
              </c:ext>
            </c:extLst>
          </c:dPt>
          <c:dPt>
            <c:idx val="8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AF-923D-F143-AF39-FDFBDD356CAB}"/>
              </c:ext>
            </c:extLst>
          </c:dPt>
          <c:dPt>
            <c:idx val="8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B1-923D-F143-AF39-FDFBDD356CAB}"/>
              </c:ext>
            </c:extLst>
          </c:dPt>
          <c:dPt>
            <c:idx val="8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B3-923D-F143-AF39-FDFBDD356CAB}"/>
              </c:ext>
            </c:extLst>
          </c:dPt>
          <c:dPt>
            <c:idx val="9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B5-923D-F143-AF39-FDFBDD356CAB}"/>
              </c:ext>
            </c:extLst>
          </c:dPt>
          <c:dPt>
            <c:idx val="9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B7-923D-F143-AF39-FDFBDD356CAB}"/>
              </c:ext>
            </c:extLst>
          </c:dPt>
          <c:dPt>
            <c:idx val="9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B9-923D-F143-AF39-FDFBDD356CAB}"/>
              </c:ext>
            </c:extLst>
          </c:dPt>
          <c:dPt>
            <c:idx val="9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BB-923D-F143-AF39-FDFBDD356CAB}"/>
              </c:ext>
            </c:extLst>
          </c:dPt>
          <c:dPt>
            <c:idx val="9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BD-923D-F143-AF39-FDFBDD356CAB}"/>
              </c:ext>
            </c:extLst>
          </c:dPt>
          <c:dPt>
            <c:idx val="9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BF-923D-F143-AF39-FDFBDD356CAB}"/>
              </c:ext>
            </c:extLst>
          </c:dPt>
          <c:dPt>
            <c:idx val="9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C1-923D-F143-AF39-FDFBDD356CAB}"/>
              </c:ext>
            </c:extLst>
          </c:dPt>
          <c:dPt>
            <c:idx val="9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C3-923D-F143-AF39-FDFBDD356CAB}"/>
              </c:ext>
            </c:extLst>
          </c:dPt>
          <c:dPt>
            <c:idx val="9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C5-923D-F143-AF39-FDFBDD356CAB}"/>
              </c:ext>
            </c:extLst>
          </c:dPt>
          <c:dPt>
            <c:idx val="9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C7-923D-F143-AF39-FDFBDD356CAB}"/>
              </c:ext>
            </c:extLst>
          </c:dPt>
          <c:dPt>
            <c:idx val="10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C9-923D-F143-AF39-FDFBDD356CAB}"/>
              </c:ext>
            </c:extLst>
          </c:dPt>
          <c:dPt>
            <c:idx val="10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CB-923D-F143-AF39-FDFBDD356CAB}"/>
              </c:ext>
            </c:extLst>
          </c:dPt>
          <c:dPt>
            <c:idx val="10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CD-923D-F143-AF39-FDFBDD356CAB}"/>
              </c:ext>
            </c:extLst>
          </c:dPt>
          <c:dPt>
            <c:idx val="10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CF-923D-F143-AF39-FDFBDD356CAB}"/>
              </c:ext>
            </c:extLst>
          </c:dPt>
          <c:dPt>
            <c:idx val="10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D1-923D-F143-AF39-FDFBDD356CAB}"/>
              </c:ext>
            </c:extLst>
          </c:dPt>
          <c:dPt>
            <c:idx val="10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D3-923D-F143-AF39-FDFBDD356CAB}"/>
              </c:ext>
            </c:extLst>
          </c:dPt>
          <c:dPt>
            <c:idx val="10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D5-923D-F143-AF39-FDFBDD356CAB}"/>
              </c:ext>
            </c:extLst>
          </c:dPt>
          <c:dPt>
            <c:idx val="10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D7-923D-F143-AF39-FDFBDD356CAB}"/>
              </c:ext>
            </c:extLst>
          </c:dPt>
          <c:dPt>
            <c:idx val="10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D9-923D-F143-AF39-FDFBDD356CAB}"/>
              </c:ext>
            </c:extLst>
          </c:dPt>
          <c:dPt>
            <c:idx val="10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DB-923D-F143-AF39-FDFBDD356CAB}"/>
              </c:ext>
            </c:extLst>
          </c:dPt>
          <c:dPt>
            <c:idx val="11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DD-923D-F143-AF39-FDFBDD356CAB}"/>
              </c:ext>
            </c:extLst>
          </c:dPt>
          <c:dPt>
            <c:idx val="11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DF-923D-F143-AF39-FDFBDD356CAB}"/>
              </c:ext>
            </c:extLst>
          </c:dPt>
          <c:dPt>
            <c:idx val="11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E1-923D-F143-AF39-FDFBDD356CAB}"/>
              </c:ext>
            </c:extLst>
          </c:dPt>
          <c:dPt>
            <c:idx val="11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E3-923D-F143-AF39-FDFBDD356CAB}"/>
              </c:ext>
            </c:extLst>
          </c:dPt>
          <c:dPt>
            <c:idx val="11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E5-923D-F143-AF39-FDFBDD356CAB}"/>
              </c:ext>
            </c:extLst>
          </c:dPt>
          <c:dPt>
            <c:idx val="11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E7-923D-F143-AF39-FDFBDD356CAB}"/>
              </c:ext>
            </c:extLst>
          </c:dPt>
          <c:dPt>
            <c:idx val="11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E9-923D-F143-AF39-FDFBDD356CAB}"/>
              </c:ext>
            </c:extLst>
          </c:dPt>
          <c:dPt>
            <c:idx val="11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EB-923D-F143-AF39-FDFBDD356CAB}"/>
              </c:ext>
            </c:extLst>
          </c:dPt>
          <c:dPt>
            <c:idx val="11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ED-923D-F143-AF39-FDFBDD356CAB}"/>
              </c:ext>
            </c:extLst>
          </c:dPt>
          <c:dPt>
            <c:idx val="11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EF-923D-F143-AF39-FDFBDD356CAB}"/>
              </c:ext>
            </c:extLst>
          </c:dPt>
          <c:dPt>
            <c:idx val="12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F1-923D-F143-AF39-FDFBDD356CAB}"/>
              </c:ext>
            </c:extLst>
          </c:dPt>
          <c:dPt>
            <c:idx val="12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F3-923D-F143-AF39-FDFBDD356CAB}"/>
              </c:ext>
            </c:extLst>
          </c:dPt>
          <c:dPt>
            <c:idx val="12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F5-923D-F143-AF39-FDFBDD356CAB}"/>
              </c:ext>
            </c:extLst>
          </c:dPt>
          <c:dPt>
            <c:idx val="12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F7-923D-F143-AF39-FDFBDD356CAB}"/>
              </c:ext>
            </c:extLst>
          </c:dPt>
          <c:dPt>
            <c:idx val="12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F9-923D-F143-AF39-FDFBDD356CAB}"/>
              </c:ext>
            </c:extLst>
          </c:dPt>
          <c:dPt>
            <c:idx val="12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FB-923D-F143-AF39-FDFBDD356CAB}"/>
              </c:ext>
            </c:extLst>
          </c:dPt>
          <c:dPt>
            <c:idx val="12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FD-923D-F143-AF39-FDFBDD356CAB}"/>
              </c:ext>
            </c:extLst>
          </c:dPt>
          <c:dPt>
            <c:idx val="12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FF-923D-F143-AF39-FDFBDD356CAB}"/>
              </c:ext>
            </c:extLst>
          </c:dPt>
          <c:dPt>
            <c:idx val="12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01-923D-F143-AF39-FDFBDD356CAB}"/>
              </c:ext>
            </c:extLst>
          </c:dPt>
          <c:dPt>
            <c:idx val="12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03-923D-F143-AF39-FDFBDD356CAB}"/>
              </c:ext>
            </c:extLst>
          </c:dPt>
          <c:dPt>
            <c:idx val="13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05-923D-F143-AF39-FDFBDD356CAB}"/>
              </c:ext>
            </c:extLst>
          </c:dPt>
          <c:dPt>
            <c:idx val="13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07-923D-F143-AF39-FDFBDD356CAB}"/>
              </c:ext>
            </c:extLst>
          </c:dPt>
          <c:dPt>
            <c:idx val="13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09-923D-F143-AF39-FDFBDD356CAB}"/>
              </c:ext>
            </c:extLst>
          </c:dPt>
          <c:dPt>
            <c:idx val="13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0B-923D-F143-AF39-FDFBDD356CAB}"/>
              </c:ext>
            </c:extLst>
          </c:dPt>
          <c:dPt>
            <c:idx val="13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0D-923D-F143-AF39-FDFBDD356CAB}"/>
              </c:ext>
            </c:extLst>
          </c:dPt>
          <c:dPt>
            <c:idx val="13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0F-923D-F143-AF39-FDFBDD356CAB}"/>
              </c:ext>
            </c:extLst>
          </c:dPt>
          <c:dPt>
            <c:idx val="13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11-923D-F143-AF39-FDFBDD356CAB}"/>
              </c:ext>
            </c:extLst>
          </c:dPt>
          <c:dPt>
            <c:idx val="13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13-923D-F143-AF39-FDFBDD356CAB}"/>
              </c:ext>
            </c:extLst>
          </c:dPt>
          <c:dPt>
            <c:idx val="13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15-923D-F143-AF39-FDFBDD356CAB}"/>
              </c:ext>
            </c:extLst>
          </c:dPt>
          <c:dPt>
            <c:idx val="13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17-923D-F143-AF39-FDFBDD356CAB}"/>
              </c:ext>
            </c:extLst>
          </c:dPt>
          <c:dPt>
            <c:idx val="14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19-923D-F143-AF39-FDFBDD356CAB}"/>
              </c:ext>
            </c:extLst>
          </c:dPt>
          <c:dPt>
            <c:idx val="14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1B-923D-F143-AF39-FDFBDD356CAB}"/>
              </c:ext>
            </c:extLst>
          </c:dPt>
          <c:dPt>
            <c:idx val="14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1D-923D-F143-AF39-FDFBDD356CAB}"/>
              </c:ext>
            </c:extLst>
          </c:dPt>
          <c:dPt>
            <c:idx val="14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1F-923D-F143-AF39-FDFBDD356CAB}"/>
              </c:ext>
            </c:extLst>
          </c:dPt>
          <c:dPt>
            <c:idx val="14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21-923D-F143-AF39-FDFBDD356CAB}"/>
              </c:ext>
            </c:extLst>
          </c:dPt>
          <c:dPt>
            <c:idx val="14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23-923D-F143-AF39-FDFBDD356CAB}"/>
              </c:ext>
            </c:extLst>
          </c:dPt>
          <c:dPt>
            <c:idx val="14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25-923D-F143-AF39-FDFBDD356CAB}"/>
              </c:ext>
            </c:extLst>
          </c:dPt>
          <c:dPt>
            <c:idx val="14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27-923D-F143-AF39-FDFBDD356CAB}"/>
              </c:ext>
            </c:extLst>
          </c:dPt>
          <c:dPt>
            <c:idx val="14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29-923D-F143-AF39-FDFBDD356CAB}"/>
              </c:ext>
            </c:extLst>
          </c:dPt>
          <c:dPt>
            <c:idx val="14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2B-923D-F143-AF39-FDFBDD356CAB}"/>
              </c:ext>
            </c:extLst>
          </c:dPt>
          <c:dPt>
            <c:idx val="15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2D-923D-F143-AF39-FDFBDD356CAB}"/>
              </c:ext>
            </c:extLst>
          </c:dPt>
          <c:dPt>
            <c:idx val="15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2F-923D-F143-AF39-FDFBDD356CAB}"/>
              </c:ext>
            </c:extLst>
          </c:dPt>
          <c:dPt>
            <c:idx val="15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31-923D-F143-AF39-FDFBDD356CAB}"/>
              </c:ext>
            </c:extLst>
          </c:dPt>
          <c:dPt>
            <c:idx val="15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33-923D-F143-AF39-FDFBDD356CAB}"/>
              </c:ext>
            </c:extLst>
          </c:dPt>
          <c:dPt>
            <c:idx val="15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35-923D-F143-AF39-FDFBDD356CAB}"/>
              </c:ext>
            </c:extLst>
          </c:dPt>
          <c:dPt>
            <c:idx val="15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37-923D-F143-AF39-FDFBDD356CAB}"/>
              </c:ext>
            </c:extLst>
          </c:dPt>
          <c:dPt>
            <c:idx val="15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39-923D-F143-AF39-FDFBDD356CAB}"/>
              </c:ext>
            </c:extLst>
          </c:dPt>
          <c:dPt>
            <c:idx val="15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3B-923D-F143-AF39-FDFBDD356CAB}"/>
              </c:ext>
            </c:extLst>
          </c:dPt>
          <c:dPt>
            <c:idx val="15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3D-923D-F143-AF39-FDFBDD356CAB}"/>
              </c:ext>
            </c:extLst>
          </c:dPt>
          <c:dPt>
            <c:idx val="15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3F-923D-F143-AF39-FDFBDD356CAB}"/>
              </c:ext>
            </c:extLst>
          </c:dPt>
          <c:dPt>
            <c:idx val="16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41-923D-F143-AF39-FDFBDD356CAB}"/>
              </c:ext>
            </c:extLst>
          </c:dPt>
          <c:dPt>
            <c:idx val="16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43-923D-F143-AF39-FDFBDD356CAB}"/>
              </c:ext>
            </c:extLst>
          </c:dPt>
          <c:dPt>
            <c:idx val="16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45-923D-F143-AF39-FDFBDD356CAB}"/>
              </c:ext>
            </c:extLst>
          </c:dPt>
          <c:dPt>
            <c:idx val="16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47-923D-F143-AF39-FDFBDD356CAB}"/>
              </c:ext>
            </c:extLst>
          </c:dPt>
          <c:dPt>
            <c:idx val="16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49-923D-F143-AF39-FDFBDD356CAB}"/>
              </c:ext>
            </c:extLst>
          </c:dPt>
          <c:dPt>
            <c:idx val="16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4B-923D-F143-AF39-FDFBDD356CAB}"/>
              </c:ext>
            </c:extLst>
          </c:dPt>
          <c:dPt>
            <c:idx val="16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4D-923D-F143-AF39-FDFBDD356CAB}"/>
              </c:ext>
            </c:extLst>
          </c:dPt>
          <c:dPt>
            <c:idx val="16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4F-923D-F143-AF39-FDFBDD356CAB}"/>
              </c:ext>
            </c:extLst>
          </c:dPt>
          <c:dPt>
            <c:idx val="16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51-923D-F143-AF39-FDFBDD356CAB}"/>
              </c:ext>
            </c:extLst>
          </c:dPt>
          <c:dPt>
            <c:idx val="16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53-923D-F143-AF39-FDFBDD356CAB}"/>
              </c:ext>
            </c:extLst>
          </c:dPt>
          <c:dPt>
            <c:idx val="17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55-923D-F143-AF39-FDFBDD356CAB}"/>
              </c:ext>
            </c:extLst>
          </c:dPt>
          <c:dPt>
            <c:idx val="17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57-923D-F143-AF39-FDFBDD356CAB}"/>
              </c:ext>
            </c:extLst>
          </c:dPt>
          <c:dPt>
            <c:idx val="17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59-923D-F143-AF39-FDFBDD356CAB}"/>
              </c:ext>
            </c:extLst>
          </c:dPt>
          <c:dPt>
            <c:idx val="17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5B-923D-F143-AF39-FDFBDD356CAB}"/>
              </c:ext>
            </c:extLst>
          </c:dPt>
          <c:dPt>
            <c:idx val="17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5D-923D-F143-AF39-FDFBDD356CAB}"/>
              </c:ext>
            </c:extLst>
          </c:dPt>
          <c:dPt>
            <c:idx val="17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5F-923D-F143-AF39-FDFBDD356CAB}"/>
              </c:ext>
            </c:extLst>
          </c:dPt>
          <c:dPt>
            <c:idx val="17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61-923D-F143-AF39-FDFBDD356CAB}"/>
              </c:ext>
            </c:extLst>
          </c:dPt>
          <c:dPt>
            <c:idx val="17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63-923D-F143-AF39-FDFBDD356CAB}"/>
              </c:ext>
            </c:extLst>
          </c:dPt>
          <c:dPt>
            <c:idx val="17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65-923D-F143-AF39-FDFBDD356CAB}"/>
              </c:ext>
            </c:extLst>
          </c:dPt>
          <c:dPt>
            <c:idx val="17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67-923D-F143-AF39-FDFBDD356CAB}"/>
              </c:ext>
            </c:extLst>
          </c:dPt>
          <c:dPt>
            <c:idx val="18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69-923D-F143-AF39-FDFBDD356CAB}"/>
              </c:ext>
            </c:extLst>
          </c:dPt>
          <c:dPt>
            <c:idx val="18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6B-923D-F143-AF39-FDFBDD356CAB}"/>
              </c:ext>
            </c:extLst>
          </c:dPt>
          <c:dPt>
            <c:idx val="18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6D-923D-F143-AF39-FDFBDD356CAB}"/>
              </c:ext>
            </c:extLst>
          </c:dPt>
          <c:dPt>
            <c:idx val="18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6F-923D-F143-AF39-FDFBDD356CAB}"/>
              </c:ext>
            </c:extLst>
          </c:dPt>
          <c:dPt>
            <c:idx val="18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71-923D-F143-AF39-FDFBDD356CAB}"/>
              </c:ext>
            </c:extLst>
          </c:dPt>
          <c:dPt>
            <c:idx val="18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73-923D-F143-AF39-FDFBDD356CAB}"/>
              </c:ext>
            </c:extLst>
          </c:dPt>
          <c:dPt>
            <c:idx val="18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75-923D-F143-AF39-FDFBDD356CAB}"/>
              </c:ext>
            </c:extLst>
          </c:dPt>
          <c:dPt>
            <c:idx val="18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77-923D-F143-AF39-FDFBDD356CAB}"/>
              </c:ext>
            </c:extLst>
          </c:dPt>
          <c:dPt>
            <c:idx val="18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79-923D-F143-AF39-FDFBDD356CAB}"/>
              </c:ext>
            </c:extLst>
          </c:dPt>
          <c:dPt>
            <c:idx val="18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7B-923D-F143-AF39-FDFBDD356CAB}"/>
              </c:ext>
            </c:extLst>
          </c:dPt>
          <c:dPt>
            <c:idx val="19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7D-923D-F143-AF39-FDFBDD356CAB}"/>
              </c:ext>
            </c:extLst>
          </c:dPt>
          <c:dPt>
            <c:idx val="19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7F-923D-F143-AF39-FDFBDD356CAB}"/>
              </c:ext>
            </c:extLst>
          </c:dPt>
          <c:dPt>
            <c:idx val="19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81-923D-F143-AF39-FDFBDD356CAB}"/>
              </c:ext>
            </c:extLst>
          </c:dPt>
          <c:dPt>
            <c:idx val="19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83-923D-F143-AF39-FDFBDD356CAB}"/>
              </c:ext>
            </c:extLst>
          </c:dPt>
          <c:dPt>
            <c:idx val="19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85-923D-F143-AF39-FDFBDD356CAB}"/>
              </c:ext>
            </c:extLst>
          </c:dPt>
          <c:dPt>
            <c:idx val="19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87-923D-F143-AF39-FDFBDD356CAB}"/>
              </c:ext>
            </c:extLst>
          </c:dPt>
          <c:dPt>
            <c:idx val="19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89-923D-F143-AF39-FDFBDD356CAB}"/>
              </c:ext>
            </c:extLst>
          </c:dPt>
          <c:dPt>
            <c:idx val="19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8B-923D-F143-AF39-FDFBDD356CAB}"/>
              </c:ext>
            </c:extLst>
          </c:dPt>
          <c:dPt>
            <c:idx val="19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8D-923D-F143-AF39-FDFBDD356CAB}"/>
              </c:ext>
            </c:extLst>
          </c:dPt>
          <c:dPt>
            <c:idx val="19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8F-923D-F143-AF39-FDFBDD356CAB}"/>
              </c:ext>
            </c:extLst>
          </c:dPt>
          <c:cat>
            <c:strRef>
              <c:f>Sheet1!$A$2:$A$201</c:f>
              <c:strCache>
                <c:ptCount val="200"/>
              </c:strCache>
            </c:strRef>
          </c:cat>
          <c:val>
            <c:numRef>
              <c:f>Sheet1!$B$2:$B$201</c:f>
              <c:numCache>
                <c:formatCode>0%</c:formatCode>
                <c:ptCount val="200"/>
                <c:pt idx="0">
                  <c:v>2871788</c:v>
                </c:pt>
                <c:pt idx="1">
                  <c:v>2871788</c:v>
                </c:pt>
                <c:pt idx="2">
                  <c:v>2871788</c:v>
                </c:pt>
                <c:pt idx="3">
                  <c:v>2871788</c:v>
                </c:pt>
                <c:pt idx="4">
                  <c:v>2871788</c:v>
                </c:pt>
                <c:pt idx="5">
                  <c:v>2871788</c:v>
                </c:pt>
                <c:pt idx="6">
                  <c:v>2871788</c:v>
                </c:pt>
                <c:pt idx="7">
                  <c:v>2871788</c:v>
                </c:pt>
                <c:pt idx="8">
                  <c:v>2871788</c:v>
                </c:pt>
                <c:pt idx="9">
                  <c:v>2871788</c:v>
                </c:pt>
                <c:pt idx="10">
                  <c:v>2871788</c:v>
                </c:pt>
                <c:pt idx="11">
                  <c:v>2871788</c:v>
                </c:pt>
                <c:pt idx="12">
                  <c:v>2871788</c:v>
                </c:pt>
                <c:pt idx="13">
                  <c:v>2871788</c:v>
                </c:pt>
                <c:pt idx="14">
                  <c:v>2871788</c:v>
                </c:pt>
                <c:pt idx="15">
                  <c:v>2871788</c:v>
                </c:pt>
                <c:pt idx="16">
                  <c:v>2871788</c:v>
                </c:pt>
                <c:pt idx="17">
                  <c:v>2871788</c:v>
                </c:pt>
                <c:pt idx="18">
                  <c:v>2871788</c:v>
                </c:pt>
                <c:pt idx="19">
                  <c:v>2871788</c:v>
                </c:pt>
                <c:pt idx="20">
                  <c:v>2871788</c:v>
                </c:pt>
                <c:pt idx="21">
                  <c:v>2871788</c:v>
                </c:pt>
                <c:pt idx="22">
                  <c:v>2871788</c:v>
                </c:pt>
                <c:pt idx="23">
                  <c:v>2871788</c:v>
                </c:pt>
                <c:pt idx="24">
                  <c:v>2871788</c:v>
                </c:pt>
                <c:pt idx="25">
                  <c:v>2871788</c:v>
                </c:pt>
                <c:pt idx="26">
                  <c:v>2871788</c:v>
                </c:pt>
                <c:pt idx="27">
                  <c:v>2871788</c:v>
                </c:pt>
                <c:pt idx="28">
                  <c:v>2871788</c:v>
                </c:pt>
                <c:pt idx="29">
                  <c:v>2871788</c:v>
                </c:pt>
                <c:pt idx="30">
                  <c:v>2871788</c:v>
                </c:pt>
                <c:pt idx="31">
                  <c:v>2871788</c:v>
                </c:pt>
                <c:pt idx="32">
                  <c:v>2871788</c:v>
                </c:pt>
                <c:pt idx="33">
                  <c:v>2871788</c:v>
                </c:pt>
                <c:pt idx="34">
                  <c:v>2871788</c:v>
                </c:pt>
                <c:pt idx="35">
                  <c:v>2871788</c:v>
                </c:pt>
                <c:pt idx="36">
                  <c:v>2871788</c:v>
                </c:pt>
                <c:pt idx="37">
                  <c:v>2871788</c:v>
                </c:pt>
                <c:pt idx="38">
                  <c:v>2871788</c:v>
                </c:pt>
                <c:pt idx="39">
                  <c:v>2871788</c:v>
                </c:pt>
                <c:pt idx="40">
                  <c:v>2871788</c:v>
                </c:pt>
                <c:pt idx="41">
                  <c:v>2871788</c:v>
                </c:pt>
                <c:pt idx="42">
                  <c:v>2871788</c:v>
                </c:pt>
                <c:pt idx="43">
                  <c:v>2871788</c:v>
                </c:pt>
                <c:pt idx="44">
                  <c:v>2871788</c:v>
                </c:pt>
                <c:pt idx="45">
                  <c:v>2871788</c:v>
                </c:pt>
                <c:pt idx="46">
                  <c:v>2871788</c:v>
                </c:pt>
                <c:pt idx="47">
                  <c:v>2871788</c:v>
                </c:pt>
                <c:pt idx="48">
                  <c:v>2871788</c:v>
                </c:pt>
                <c:pt idx="49">
                  <c:v>2871788</c:v>
                </c:pt>
                <c:pt idx="50">
                  <c:v>3346450</c:v>
                </c:pt>
                <c:pt idx="51">
                  <c:v>3346450</c:v>
                </c:pt>
                <c:pt idx="52">
                  <c:v>3346450</c:v>
                </c:pt>
                <c:pt idx="53">
                  <c:v>3346450</c:v>
                </c:pt>
                <c:pt idx="54">
                  <c:v>3346450</c:v>
                </c:pt>
                <c:pt idx="55">
                  <c:v>3346450</c:v>
                </c:pt>
                <c:pt idx="56">
                  <c:v>3346450</c:v>
                </c:pt>
                <c:pt idx="57">
                  <c:v>3346450</c:v>
                </c:pt>
                <c:pt idx="58">
                  <c:v>3346450</c:v>
                </c:pt>
                <c:pt idx="59">
                  <c:v>3346450</c:v>
                </c:pt>
                <c:pt idx="60">
                  <c:v>3346450</c:v>
                </c:pt>
                <c:pt idx="61">
                  <c:v>3346450</c:v>
                </c:pt>
                <c:pt idx="62">
                  <c:v>3346450</c:v>
                </c:pt>
                <c:pt idx="63">
                  <c:v>3346450</c:v>
                </c:pt>
                <c:pt idx="64">
                  <c:v>3346450</c:v>
                </c:pt>
                <c:pt idx="65">
                  <c:v>3346450</c:v>
                </c:pt>
                <c:pt idx="66">
                  <c:v>3346450</c:v>
                </c:pt>
                <c:pt idx="67">
                  <c:v>3346450</c:v>
                </c:pt>
                <c:pt idx="68">
                  <c:v>3346450</c:v>
                </c:pt>
                <c:pt idx="69">
                  <c:v>3346450</c:v>
                </c:pt>
                <c:pt idx="70">
                  <c:v>3346450</c:v>
                </c:pt>
                <c:pt idx="71">
                  <c:v>3346450</c:v>
                </c:pt>
                <c:pt idx="72">
                  <c:v>3346450</c:v>
                </c:pt>
                <c:pt idx="73">
                  <c:v>3346450</c:v>
                </c:pt>
                <c:pt idx="74">
                  <c:v>3346450</c:v>
                </c:pt>
                <c:pt idx="75">
                  <c:v>3346450</c:v>
                </c:pt>
                <c:pt idx="76">
                  <c:v>3346450</c:v>
                </c:pt>
                <c:pt idx="77">
                  <c:v>3346450</c:v>
                </c:pt>
                <c:pt idx="78">
                  <c:v>3346450</c:v>
                </c:pt>
                <c:pt idx="79">
                  <c:v>3346450</c:v>
                </c:pt>
                <c:pt idx="80">
                  <c:v>3346450</c:v>
                </c:pt>
                <c:pt idx="81">
                  <c:v>3346450</c:v>
                </c:pt>
                <c:pt idx="82">
                  <c:v>2149475</c:v>
                </c:pt>
                <c:pt idx="83">
                  <c:v>2149475</c:v>
                </c:pt>
                <c:pt idx="84">
                  <c:v>2149475</c:v>
                </c:pt>
                <c:pt idx="85">
                  <c:v>2149475</c:v>
                </c:pt>
                <c:pt idx="86">
                  <c:v>2149475</c:v>
                </c:pt>
                <c:pt idx="87">
                  <c:v>2149475</c:v>
                </c:pt>
                <c:pt idx="88">
                  <c:v>2149475</c:v>
                </c:pt>
                <c:pt idx="89">
                  <c:v>2149475</c:v>
                </c:pt>
                <c:pt idx="90">
                  <c:v>2149475</c:v>
                </c:pt>
                <c:pt idx="91">
                  <c:v>2149475</c:v>
                </c:pt>
                <c:pt idx="92">
                  <c:v>2149475</c:v>
                </c:pt>
                <c:pt idx="93">
                  <c:v>2149475</c:v>
                </c:pt>
                <c:pt idx="94">
                  <c:v>2149475</c:v>
                </c:pt>
                <c:pt idx="95">
                  <c:v>2149475</c:v>
                </c:pt>
                <c:pt idx="96">
                  <c:v>2149475</c:v>
                </c:pt>
                <c:pt idx="97">
                  <c:v>2149475</c:v>
                </c:pt>
                <c:pt idx="98">
                  <c:v>2149475</c:v>
                </c:pt>
                <c:pt idx="99">
                  <c:v>2149475</c:v>
                </c:pt>
                <c:pt idx="100">
                  <c:v>2149475</c:v>
                </c:pt>
                <c:pt idx="101">
                  <c:v>2149475</c:v>
                </c:pt>
                <c:pt idx="102">
                  <c:v>2149475</c:v>
                </c:pt>
                <c:pt idx="103">
                  <c:v>2149475</c:v>
                </c:pt>
                <c:pt idx="104">
                  <c:v>2149475</c:v>
                </c:pt>
                <c:pt idx="105">
                  <c:v>2149475</c:v>
                </c:pt>
                <c:pt idx="106">
                  <c:v>2149475</c:v>
                </c:pt>
                <c:pt idx="107">
                  <c:v>2149475</c:v>
                </c:pt>
                <c:pt idx="108">
                  <c:v>2149475</c:v>
                </c:pt>
                <c:pt idx="109">
                  <c:v>2149475</c:v>
                </c:pt>
                <c:pt idx="110">
                  <c:v>2149475</c:v>
                </c:pt>
                <c:pt idx="111">
                  <c:v>2149475</c:v>
                </c:pt>
                <c:pt idx="112">
                  <c:v>2149475</c:v>
                </c:pt>
                <c:pt idx="113">
                  <c:v>2149475</c:v>
                </c:pt>
                <c:pt idx="114">
                  <c:v>2149475</c:v>
                </c:pt>
                <c:pt idx="115">
                  <c:v>2149475</c:v>
                </c:pt>
                <c:pt idx="116">
                  <c:v>2149475</c:v>
                </c:pt>
                <c:pt idx="117">
                  <c:v>2149475</c:v>
                </c:pt>
                <c:pt idx="118">
                  <c:v>2149475</c:v>
                </c:pt>
                <c:pt idx="119">
                  <c:v>2149475</c:v>
                </c:pt>
                <c:pt idx="120">
                  <c:v>2149475</c:v>
                </c:pt>
                <c:pt idx="121">
                  <c:v>2149475</c:v>
                </c:pt>
                <c:pt idx="122">
                  <c:v>2149475</c:v>
                </c:pt>
                <c:pt idx="123">
                  <c:v>2149475</c:v>
                </c:pt>
                <c:pt idx="124">
                  <c:v>2149475</c:v>
                </c:pt>
                <c:pt idx="125">
                  <c:v>2149475</c:v>
                </c:pt>
                <c:pt idx="126">
                  <c:v>2149475</c:v>
                </c:pt>
                <c:pt idx="127">
                  <c:v>2149475</c:v>
                </c:pt>
                <c:pt idx="128">
                  <c:v>2149475</c:v>
                </c:pt>
                <c:pt idx="129">
                  <c:v>2986088</c:v>
                </c:pt>
                <c:pt idx="130">
                  <c:v>2986088</c:v>
                </c:pt>
                <c:pt idx="131">
                  <c:v>2986088</c:v>
                </c:pt>
                <c:pt idx="132">
                  <c:v>2986088</c:v>
                </c:pt>
                <c:pt idx="133">
                  <c:v>2986088</c:v>
                </c:pt>
                <c:pt idx="134">
                  <c:v>2986088</c:v>
                </c:pt>
                <c:pt idx="135">
                  <c:v>2986088</c:v>
                </c:pt>
                <c:pt idx="136">
                  <c:v>2986088</c:v>
                </c:pt>
                <c:pt idx="137">
                  <c:v>2986088</c:v>
                </c:pt>
                <c:pt idx="138">
                  <c:v>2986088</c:v>
                </c:pt>
                <c:pt idx="139">
                  <c:v>2986088</c:v>
                </c:pt>
                <c:pt idx="140">
                  <c:v>2986088</c:v>
                </c:pt>
                <c:pt idx="141">
                  <c:v>2986088</c:v>
                </c:pt>
                <c:pt idx="142">
                  <c:v>2986088</c:v>
                </c:pt>
                <c:pt idx="143">
                  <c:v>2986088</c:v>
                </c:pt>
                <c:pt idx="144">
                  <c:v>2986088</c:v>
                </c:pt>
                <c:pt idx="145">
                  <c:v>2986088</c:v>
                </c:pt>
                <c:pt idx="146">
                  <c:v>1720850</c:v>
                </c:pt>
                <c:pt idx="147">
                  <c:v>1720850</c:v>
                </c:pt>
                <c:pt idx="148">
                  <c:v>1720850</c:v>
                </c:pt>
                <c:pt idx="149">
                  <c:v>1720850</c:v>
                </c:pt>
                <c:pt idx="150">
                  <c:v>1720850</c:v>
                </c:pt>
                <c:pt idx="151">
                  <c:v>1720850</c:v>
                </c:pt>
                <c:pt idx="152">
                  <c:v>1720850</c:v>
                </c:pt>
                <c:pt idx="153">
                  <c:v>1720850</c:v>
                </c:pt>
                <c:pt idx="154">
                  <c:v>1720850</c:v>
                </c:pt>
                <c:pt idx="155">
                  <c:v>1720850</c:v>
                </c:pt>
                <c:pt idx="156">
                  <c:v>1720850</c:v>
                </c:pt>
                <c:pt idx="157">
                  <c:v>1720850</c:v>
                </c:pt>
                <c:pt idx="158">
                  <c:v>1720850</c:v>
                </c:pt>
                <c:pt idx="159">
                  <c:v>1720850</c:v>
                </c:pt>
                <c:pt idx="160">
                  <c:v>1720850</c:v>
                </c:pt>
                <c:pt idx="161">
                  <c:v>1720850</c:v>
                </c:pt>
                <c:pt idx="162">
                  <c:v>1720850</c:v>
                </c:pt>
                <c:pt idx="163">
                  <c:v>1277938</c:v>
                </c:pt>
                <c:pt idx="164">
                  <c:v>1277938</c:v>
                </c:pt>
                <c:pt idx="165">
                  <c:v>1277938</c:v>
                </c:pt>
                <c:pt idx="166">
                  <c:v>1277938</c:v>
                </c:pt>
                <c:pt idx="167">
                  <c:v>1277938</c:v>
                </c:pt>
                <c:pt idx="168">
                  <c:v>1277938</c:v>
                </c:pt>
                <c:pt idx="169">
                  <c:v>1277938</c:v>
                </c:pt>
                <c:pt idx="170">
                  <c:v>1277938</c:v>
                </c:pt>
                <c:pt idx="171">
                  <c:v>1277938</c:v>
                </c:pt>
                <c:pt idx="172">
                  <c:v>1277938</c:v>
                </c:pt>
                <c:pt idx="173">
                  <c:v>1277938</c:v>
                </c:pt>
                <c:pt idx="174">
                  <c:v>1277938</c:v>
                </c:pt>
                <c:pt idx="175">
                  <c:v>1277938</c:v>
                </c:pt>
                <c:pt idx="176">
                  <c:v>1277938</c:v>
                </c:pt>
                <c:pt idx="177">
                  <c:v>1277938</c:v>
                </c:pt>
                <c:pt idx="178">
                  <c:v>1277938</c:v>
                </c:pt>
                <c:pt idx="179">
                  <c:v>1277938</c:v>
                </c:pt>
                <c:pt idx="180">
                  <c:v>1277938</c:v>
                </c:pt>
                <c:pt idx="181">
                  <c:v>1277938</c:v>
                </c:pt>
                <c:pt idx="182">
                  <c:v>1277938</c:v>
                </c:pt>
                <c:pt idx="183">
                  <c:v>1277938</c:v>
                </c:pt>
                <c:pt idx="184">
                  <c:v>1277938</c:v>
                </c:pt>
                <c:pt idx="185">
                  <c:v>1277938</c:v>
                </c:pt>
                <c:pt idx="186">
                  <c:v>1277938</c:v>
                </c:pt>
                <c:pt idx="187">
                  <c:v>1277938</c:v>
                </c:pt>
                <c:pt idx="188">
                  <c:v>1277938</c:v>
                </c:pt>
                <c:pt idx="189">
                  <c:v>1277938</c:v>
                </c:pt>
                <c:pt idx="190">
                  <c:v>1277938</c:v>
                </c:pt>
                <c:pt idx="191">
                  <c:v>1277938</c:v>
                </c:pt>
                <c:pt idx="192">
                  <c:v>1277938</c:v>
                </c:pt>
                <c:pt idx="193">
                  <c:v>1277938</c:v>
                </c:pt>
                <c:pt idx="194">
                  <c:v>1277938</c:v>
                </c:pt>
                <c:pt idx="195">
                  <c:v>1277938</c:v>
                </c:pt>
                <c:pt idx="196">
                  <c:v>1277938</c:v>
                </c:pt>
                <c:pt idx="197">
                  <c:v>1277938</c:v>
                </c:pt>
                <c:pt idx="198">
                  <c:v>1277938</c:v>
                </c:pt>
                <c:pt idx="199">
                  <c:v>1277938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190-923D-F143-AF39-FDFBDD356CA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Layer 2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92-923D-F143-AF39-FDFBDD356CAB}"/>
              </c:ext>
            </c:extLst>
          </c:dPt>
          <c:dPt>
            <c:idx val="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94-923D-F143-AF39-FDFBDD356CAB}"/>
              </c:ext>
            </c:extLst>
          </c:dPt>
          <c:dPt>
            <c:idx val="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96-923D-F143-AF39-FDFBDD356CAB}"/>
              </c:ext>
            </c:extLst>
          </c:dPt>
          <c:dPt>
            <c:idx val="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98-923D-F143-AF39-FDFBDD356CAB}"/>
              </c:ext>
            </c:extLst>
          </c:dPt>
          <c:dPt>
            <c:idx val="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9A-923D-F143-AF39-FDFBDD356CAB}"/>
              </c:ext>
            </c:extLst>
          </c:dPt>
          <c:dPt>
            <c:idx val="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9C-923D-F143-AF39-FDFBDD356CAB}"/>
              </c:ext>
            </c:extLst>
          </c:dPt>
          <c:dPt>
            <c:idx val="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9E-923D-F143-AF39-FDFBDD356CAB}"/>
              </c:ext>
            </c:extLst>
          </c:dPt>
          <c:dPt>
            <c:idx val="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A0-923D-F143-AF39-FDFBDD356CAB}"/>
              </c:ext>
            </c:extLst>
          </c:dPt>
          <c:dPt>
            <c:idx val="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A2-923D-F143-AF39-FDFBDD356CAB}"/>
              </c:ext>
            </c:extLst>
          </c:dPt>
          <c:dPt>
            <c:idx val="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A4-923D-F143-AF39-FDFBDD356CAB}"/>
              </c:ext>
            </c:extLst>
          </c:dPt>
          <c:dPt>
            <c:idx val="1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A6-923D-F143-AF39-FDFBDD356CAB}"/>
              </c:ext>
            </c:extLst>
          </c:dPt>
          <c:dPt>
            <c:idx val="1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A8-923D-F143-AF39-FDFBDD356CAB}"/>
              </c:ext>
            </c:extLst>
          </c:dPt>
          <c:dPt>
            <c:idx val="1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AA-923D-F143-AF39-FDFBDD356CAB}"/>
              </c:ext>
            </c:extLst>
          </c:dPt>
          <c:dPt>
            <c:idx val="1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AC-923D-F143-AF39-FDFBDD356CAB}"/>
              </c:ext>
            </c:extLst>
          </c:dPt>
          <c:dPt>
            <c:idx val="1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AE-923D-F143-AF39-FDFBDD356CAB}"/>
              </c:ext>
            </c:extLst>
          </c:dPt>
          <c:dPt>
            <c:idx val="1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B0-923D-F143-AF39-FDFBDD356CAB}"/>
              </c:ext>
            </c:extLst>
          </c:dPt>
          <c:dPt>
            <c:idx val="1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B2-923D-F143-AF39-FDFBDD356CAB}"/>
              </c:ext>
            </c:extLst>
          </c:dPt>
          <c:dPt>
            <c:idx val="1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B4-923D-F143-AF39-FDFBDD356CAB}"/>
              </c:ext>
            </c:extLst>
          </c:dPt>
          <c:dPt>
            <c:idx val="1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B6-923D-F143-AF39-FDFBDD356CAB}"/>
              </c:ext>
            </c:extLst>
          </c:dPt>
          <c:dPt>
            <c:idx val="1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B8-923D-F143-AF39-FDFBDD356CAB}"/>
              </c:ext>
            </c:extLst>
          </c:dPt>
          <c:dPt>
            <c:idx val="2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BA-923D-F143-AF39-FDFBDD356CAB}"/>
              </c:ext>
            </c:extLst>
          </c:dPt>
          <c:dPt>
            <c:idx val="2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BC-923D-F143-AF39-FDFBDD356CAB}"/>
              </c:ext>
            </c:extLst>
          </c:dPt>
          <c:dPt>
            <c:idx val="2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BE-923D-F143-AF39-FDFBDD356CAB}"/>
              </c:ext>
            </c:extLst>
          </c:dPt>
          <c:dPt>
            <c:idx val="2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C0-923D-F143-AF39-FDFBDD356CAB}"/>
              </c:ext>
            </c:extLst>
          </c:dPt>
          <c:dPt>
            <c:idx val="2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C2-923D-F143-AF39-FDFBDD356CAB}"/>
              </c:ext>
            </c:extLst>
          </c:dPt>
          <c:dPt>
            <c:idx val="2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C4-923D-F143-AF39-FDFBDD356CAB}"/>
              </c:ext>
            </c:extLst>
          </c:dPt>
          <c:dPt>
            <c:idx val="2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C6-923D-F143-AF39-FDFBDD356CAB}"/>
              </c:ext>
            </c:extLst>
          </c:dPt>
          <c:dPt>
            <c:idx val="2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C8-923D-F143-AF39-FDFBDD356CAB}"/>
              </c:ext>
            </c:extLst>
          </c:dPt>
          <c:dPt>
            <c:idx val="2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CA-923D-F143-AF39-FDFBDD356CAB}"/>
              </c:ext>
            </c:extLst>
          </c:dPt>
          <c:dPt>
            <c:idx val="2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CC-923D-F143-AF39-FDFBDD356CAB}"/>
              </c:ext>
            </c:extLst>
          </c:dPt>
          <c:dPt>
            <c:idx val="3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CE-923D-F143-AF39-FDFBDD356CAB}"/>
              </c:ext>
            </c:extLst>
          </c:dPt>
          <c:dPt>
            <c:idx val="3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D0-923D-F143-AF39-FDFBDD356CAB}"/>
              </c:ext>
            </c:extLst>
          </c:dPt>
          <c:dPt>
            <c:idx val="3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D2-923D-F143-AF39-FDFBDD356CAB}"/>
              </c:ext>
            </c:extLst>
          </c:dPt>
          <c:dPt>
            <c:idx val="3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D4-923D-F143-AF39-FDFBDD356CAB}"/>
              </c:ext>
            </c:extLst>
          </c:dPt>
          <c:dPt>
            <c:idx val="3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D6-923D-F143-AF39-FDFBDD356CAB}"/>
              </c:ext>
            </c:extLst>
          </c:dPt>
          <c:dPt>
            <c:idx val="3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D8-923D-F143-AF39-FDFBDD356CAB}"/>
              </c:ext>
            </c:extLst>
          </c:dPt>
          <c:dPt>
            <c:idx val="3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DA-923D-F143-AF39-FDFBDD356CAB}"/>
              </c:ext>
            </c:extLst>
          </c:dPt>
          <c:dPt>
            <c:idx val="3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DC-923D-F143-AF39-FDFBDD356CAB}"/>
              </c:ext>
            </c:extLst>
          </c:dPt>
          <c:dPt>
            <c:idx val="3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DE-923D-F143-AF39-FDFBDD356CAB}"/>
              </c:ext>
            </c:extLst>
          </c:dPt>
          <c:dPt>
            <c:idx val="3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E0-923D-F143-AF39-FDFBDD356CAB}"/>
              </c:ext>
            </c:extLst>
          </c:dPt>
          <c:dPt>
            <c:idx val="4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E2-923D-F143-AF39-FDFBDD356CAB}"/>
              </c:ext>
            </c:extLst>
          </c:dPt>
          <c:dPt>
            <c:idx val="4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E4-923D-F143-AF39-FDFBDD356CAB}"/>
              </c:ext>
            </c:extLst>
          </c:dPt>
          <c:dPt>
            <c:idx val="4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E6-923D-F143-AF39-FDFBDD356CAB}"/>
              </c:ext>
            </c:extLst>
          </c:dPt>
          <c:dPt>
            <c:idx val="4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E8-923D-F143-AF39-FDFBDD356CAB}"/>
              </c:ext>
            </c:extLst>
          </c:dPt>
          <c:dPt>
            <c:idx val="4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EA-923D-F143-AF39-FDFBDD356CAB}"/>
              </c:ext>
            </c:extLst>
          </c:dPt>
          <c:dPt>
            <c:idx val="4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EC-923D-F143-AF39-FDFBDD356CAB}"/>
              </c:ext>
            </c:extLst>
          </c:dPt>
          <c:dPt>
            <c:idx val="4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EE-923D-F143-AF39-FDFBDD356CAB}"/>
              </c:ext>
            </c:extLst>
          </c:dPt>
          <c:dPt>
            <c:idx val="4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F0-923D-F143-AF39-FDFBDD356CAB}"/>
              </c:ext>
            </c:extLst>
          </c:dPt>
          <c:dPt>
            <c:idx val="4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F2-923D-F143-AF39-FDFBDD356CAB}"/>
              </c:ext>
            </c:extLst>
          </c:dPt>
          <c:dPt>
            <c:idx val="4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F4-923D-F143-AF39-FDFBDD356CAB}"/>
              </c:ext>
            </c:extLst>
          </c:dPt>
          <c:dPt>
            <c:idx val="5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F6-923D-F143-AF39-FDFBDD356CAB}"/>
              </c:ext>
            </c:extLst>
          </c:dPt>
          <c:dPt>
            <c:idx val="5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F8-923D-F143-AF39-FDFBDD356CAB}"/>
              </c:ext>
            </c:extLst>
          </c:dPt>
          <c:dPt>
            <c:idx val="5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FA-923D-F143-AF39-FDFBDD356CAB}"/>
              </c:ext>
            </c:extLst>
          </c:dPt>
          <c:dPt>
            <c:idx val="5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FC-923D-F143-AF39-FDFBDD356CAB}"/>
              </c:ext>
            </c:extLst>
          </c:dPt>
          <c:dPt>
            <c:idx val="5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1FE-923D-F143-AF39-FDFBDD356CAB}"/>
              </c:ext>
            </c:extLst>
          </c:dPt>
          <c:dPt>
            <c:idx val="5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00-923D-F143-AF39-FDFBDD356CAB}"/>
              </c:ext>
            </c:extLst>
          </c:dPt>
          <c:dPt>
            <c:idx val="5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02-923D-F143-AF39-FDFBDD356CAB}"/>
              </c:ext>
            </c:extLst>
          </c:dPt>
          <c:dPt>
            <c:idx val="5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04-923D-F143-AF39-FDFBDD356CAB}"/>
              </c:ext>
            </c:extLst>
          </c:dPt>
          <c:dPt>
            <c:idx val="5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06-923D-F143-AF39-FDFBDD356CAB}"/>
              </c:ext>
            </c:extLst>
          </c:dPt>
          <c:dPt>
            <c:idx val="5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08-923D-F143-AF39-FDFBDD356CAB}"/>
              </c:ext>
            </c:extLst>
          </c:dPt>
          <c:dPt>
            <c:idx val="6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0A-923D-F143-AF39-FDFBDD356CAB}"/>
              </c:ext>
            </c:extLst>
          </c:dPt>
          <c:dPt>
            <c:idx val="6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0C-923D-F143-AF39-FDFBDD356CAB}"/>
              </c:ext>
            </c:extLst>
          </c:dPt>
          <c:dPt>
            <c:idx val="6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0E-923D-F143-AF39-FDFBDD356CAB}"/>
              </c:ext>
            </c:extLst>
          </c:dPt>
          <c:dPt>
            <c:idx val="6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10-923D-F143-AF39-FDFBDD356CAB}"/>
              </c:ext>
            </c:extLst>
          </c:dPt>
          <c:dPt>
            <c:idx val="6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12-923D-F143-AF39-FDFBDD356CAB}"/>
              </c:ext>
            </c:extLst>
          </c:dPt>
          <c:dPt>
            <c:idx val="6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14-923D-F143-AF39-FDFBDD356CAB}"/>
              </c:ext>
            </c:extLst>
          </c:dPt>
          <c:dPt>
            <c:idx val="6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16-923D-F143-AF39-FDFBDD356CAB}"/>
              </c:ext>
            </c:extLst>
          </c:dPt>
          <c:dPt>
            <c:idx val="6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18-923D-F143-AF39-FDFBDD356CAB}"/>
              </c:ext>
            </c:extLst>
          </c:dPt>
          <c:dPt>
            <c:idx val="6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1A-923D-F143-AF39-FDFBDD356CAB}"/>
              </c:ext>
            </c:extLst>
          </c:dPt>
          <c:dPt>
            <c:idx val="6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1C-923D-F143-AF39-FDFBDD356CAB}"/>
              </c:ext>
            </c:extLst>
          </c:dPt>
          <c:dPt>
            <c:idx val="7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1E-923D-F143-AF39-FDFBDD356CAB}"/>
              </c:ext>
            </c:extLst>
          </c:dPt>
          <c:dPt>
            <c:idx val="7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20-923D-F143-AF39-FDFBDD356CAB}"/>
              </c:ext>
            </c:extLst>
          </c:dPt>
          <c:dPt>
            <c:idx val="7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22-923D-F143-AF39-FDFBDD356CAB}"/>
              </c:ext>
            </c:extLst>
          </c:dPt>
          <c:dPt>
            <c:idx val="7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24-923D-F143-AF39-FDFBDD356CAB}"/>
              </c:ext>
            </c:extLst>
          </c:dPt>
          <c:dPt>
            <c:idx val="7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26-923D-F143-AF39-FDFBDD356CAB}"/>
              </c:ext>
            </c:extLst>
          </c:dPt>
          <c:dPt>
            <c:idx val="7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28-923D-F143-AF39-FDFBDD356CAB}"/>
              </c:ext>
            </c:extLst>
          </c:dPt>
          <c:dPt>
            <c:idx val="7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2A-923D-F143-AF39-FDFBDD356CAB}"/>
              </c:ext>
            </c:extLst>
          </c:dPt>
          <c:dPt>
            <c:idx val="7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2C-923D-F143-AF39-FDFBDD356CAB}"/>
              </c:ext>
            </c:extLst>
          </c:dPt>
          <c:dPt>
            <c:idx val="7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2E-923D-F143-AF39-FDFBDD356CAB}"/>
              </c:ext>
            </c:extLst>
          </c:dPt>
          <c:dPt>
            <c:idx val="7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30-923D-F143-AF39-FDFBDD356CAB}"/>
              </c:ext>
            </c:extLst>
          </c:dPt>
          <c:dPt>
            <c:idx val="8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32-923D-F143-AF39-FDFBDD356CAB}"/>
              </c:ext>
            </c:extLst>
          </c:dPt>
          <c:dPt>
            <c:idx val="8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34-923D-F143-AF39-FDFBDD356CAB}"/>
              </c:ext>
            </c:extLst>
          </c:dPt>
          <c:dPt>
            <c:idx val="8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36-923D-F143-AF39-FDFBDD356CAB}"/>
              </c:ext>
            </c:extLst>
          </c:dPt>
          <c:dPt>
            <c:idx val="8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38-923D-F143-AF39-FDFBDD356CAB}"/>
              </c:ext>
            </c:extLst>
          </c:dPt>
          <c:dPt>
            <c:idx val="8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3A-923D-F143-AF39-FDFBDD356CAB}"/>
              </c:ext>
            </c:extLst>
          </c:dPt>
          <c:dPt>
            <c:idx val="8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3C-923D-F143-AF39-FDFBDD356CAB}"/>
              </c:ext>
            </c:extLst>
          </c:dPt>
          <c:dPt>
            <c:idx val="8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3E-923D-F143-AF39-FDFBDD356CAB}"/>
              </c:ext>
            </c:extLst>
          </c:dPt>
          <c:dPt>
            <c:idx val="8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40-923D-F143-AF39-FDFBDD356CAB}"/>
              </c:ext>
            </c:extLst>
          </c:dPt>
          <c:dPt>
            <c:idx val="8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42-923D-F143-AF39-FDFBDD356CAB}"/>
              </c:ext>
            </c:extLst>
          </c:dPt>
          <c:dPt>
            <c:idx val="8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44-923D-F143-AF39-FDFBDD356CAB}"/>
              </c:ext>
            </c:extLst>
          </c:dPt>
          <c:dPt>
            <c:idx val="9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46-923D-F143-AF39-FDFBDD356CAB}"/>
              </c:ext>
            </c:extLst>
          </c:dPt>
          <c:dPt>
            <c:idx val="9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48-923D-F143-AF39-FDFBDD356CAB}"/>
              </c:ext>
            </c:extLst>
          </c:dPt>
          <c:dPt>
            <c:idx val="9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4A-923D-F143-AF39-FDFBDD356CAB}"/>
              </c:ext>
            </c:extLst>
          </c:dPt>
          <c:dPt>
            <c:idx val="9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4C-923D-F143-AF39-FDFBDD356CAB}"/>
              </c:ext>
            </c:extLst>
          </c:dPt>
          <c:dPt>
            <c:idx val="9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4E-923D-F143-AF39-FDFBDD356CAB}"/>
              </c:ext>
            </c:extLst>
          </c:dPt>
          <c:dPt>
            <c:idx val="9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50-923D-F143-AF39-FDFBDD356CAB}"/>
              </c:ext>
            </c:extLst>
          </c:dPt>
          <c:dPt>
            <c:idx val="9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52-923D-F143-AF39-FDFBDD356CAB}"/>
              </c:ext>
            </c:extLst>
          </c:dPt>
          <c:dPt>
            <c:idx val="9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54-923D-F143-AF39-FDFBDD356CAB}"/>
              </c:ext>
            </c:extLst>
          </c:dPt>
          <c:dPt>
            <c:idx val="9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56-923D-F143-AF39-FDFBDD356CAB}"/>
              </c:ext>
            </c:extLst>
          </c:dPt>
          <c:dPt>
            <c:idx val="9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58-923D-F143-AF39-FDFBDD356CAB}"/>
              </c:ext>
            </c:extLst>
          </c:dPt>
          <c:dPt>
            <c:idx val="10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5A-923D-F143-AF39-FDFBDD356CAB}"/>
              </c:ext>
            </c:extLst>
          </c:dPt>
          <c:dPt>
            <c:idx val="10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5C-923D-F143-AF39-FDFBDD356CAB}"/>
              </c:ext>
            </c:extLst>
          </c:dPt>
          <c:dPt>
            <c:idx val="10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5E-923D-F143-AF39-FDFBDD356CAB}"/>
              </c:ext>
            </c:extLst>
          </c:dPt>
          <c:dPt>
            <c:idx val="10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60-923D-F143-AF39-FDFBDD356CAB}"/>
              </c:ext>
            </c:extLst>
          </c:dPt>
          <c:dPt>
            <c:idx val="10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62-923D-F143-AF39-FDFBDD356CAB}"/>
              </c:ext>
            </c:extLst>
          </c:dPt>
          <c:dPt>
            <c:idx val="10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64-923D-F143-AF39-FDFBDD356CAB}"/>
              </c:ext>
            </c:extLst>
          </c:dPt>
          <c:dPt>
            <c:idx val="10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66-923D-F143-AF39-FDFBDD356CAB}"/>
              </c:ext>
            </c:extLst>
          </c:dPt>
          <c:dPt>
            <c:idx val="10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68-923D-F143-AF39-FDFBDD356CAB}"/>
              </c:ext>
            </c:extLst>
          </c:dPt>
          <c:dPt>
            <c:idx val="10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6A-923D-F143-AF39-FDFBDD356CAB}"/>
              </c:ext>
            </c:extLst>
          </c:dPt>
          <c:dPt>
            <c:idx val="10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6C-923D-F143-AF39-FDFBDD356CAB}"/>
              </c:ext>
            </c:extLst>
          </c:dPt>
          <c:dPt>
            <c:idx val="11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6E-923D-F143-AF39-FDFBDD356CAB}"/>
              </c:ext>
            </c:extLst>
          </c:dPt>
          <c:dPt>
            <c:idx val="11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70-923D-F143-AF39-FDFBDD356CAB}"/>
              </c:ext>
            </c:extLst>
          </c:dPt>
          <c:dPt>
            <c:idx val="11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72-923D-F143-AF39-FDFBDD356CAB}"/>
              </c:ext>
            </c:extLst>
          </c:dPt>
          <c:dPt>
            <c:idx val="11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74-923D-F143-AF39-FDFBDD356CAB}"/>
              </c:ext>
            </c:extLst>
          </c:dPt>
          <c:dPt>
            <c:idx val="11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76-923D-F143-AF39-FDFBDD356CAB}"/>
              </c:ext>
            </c:extLst>
          </c:dPt>
          <c:dPt>
            <c:idx val="11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78-923D-F143-AF39-FDFBDD356CAB}"/>
              </c:ext>
            </c:extLst>
          </c:dPt>
          <c:dPt>
            <c:idx val="11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7A-923D-F143-AF39-FDFBDD356CAB}"/>
              </c:ext>
            </c:extLst>
          </c:dPt>
          <c:dPt>
            <c:idx val="11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7C-923D-F143-AF39-FDFBDD356CAB}"/>
              </c:ext>
            </c:extLst>
          </c:dPt>
          <c:dPt>
            <c:idx val="11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7E-923D-F143-AF39-FDFBDD356CAB}"/>
              </c:ext>
            </c:extLst>
          </c:dPt>
          <c:dPt>
            <c:idx val="11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80-923D-F143-AF39-FDFBDD356CAB}"/>
              </c:ext>
            </c:extLst>
          </c:dPt>
          <c:dPt>
            <c:idx val="12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82-923D-F143-AF39-FDFBDD356CAB}"/>
              </c:ext>
            </c:extLst>
          </c:dPt>
          <c:dPt>
            <c:idx val="12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84-923D-F143-AF39-FDFBDD356CAB}"/>
              </c:ext>
            </c:extLst>
          </c:dPt>
          <c:dPt>
            <c:idx val="12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86-923D-F143-AF39-FDFBDD356CAB}"/>
              </c:ext>
            </c:extLst>
          </c:dPt>
          <c:dPt>
            <c:idx val="12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88-923D-F143-AF39-FDFBDD356CAB}"/>
              </c:ext>
            </c:extLst>
          </c:dPt>
          <c:dPt>
            <c:idx val="12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8A-923D-F143-AF39-FDFBDD356CAB}"/>
              </c:ext>
            </c:extLst>
          </c:dPt>
          <c:dPt>
            <c:idx val="12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8C-923D-F143-AF39-FDFBDD356CAB}"/>
              </c:ext>
            </c:extLst>
          </c:dPt>
          <c:dPt>
            <c:idx val="12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8E-923D-F143-AF39-FDFBDD356CAB}"/>
              </c:ext>
            </c:extLst>
          </c:dPt>
          <c:dPt>
            <c:idx val="12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90-923D-F143-AF39-FDFBDD356CAB}"/>
              </c:ext>
            </c:extLst>
          </c:dPt>
          <c:dPt>
            <c:idx val="12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92-923D-F143-AF39-FDFBDD356CAB}"/>
              </c:ext>
            </c:extLst>
          </c:dPt>
          <c:dPt>
            <c:idx val="12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94-923D-F143-AF39-FDFBDD356CAB}"/>
              </c:ext>
            </c:extLst>
          </c:dPt>
          <c:dPt>
            <c:idx val="13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96-923D-F143-AF39-FDFBDD356CAB}"/>
              </c:ext>
            </c:extLst>
          </c:dPt>
          <c:dPt>
            <c:idx val="13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98-923D-F143-AF39-FDFBDD356CAB}"/>
              </c:ext>
            </c:extLst>
          </c:dPt>
          <c:dPt>
            <c:idx val="13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9A-923D-F143-AF39-FDFBDD356CAB}"/>
              </c:ext>
            </c:extLst>
          </c:dPt>
          <c:dPt>
            <c:idx val="13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9C-923D-F143-AF39-FDFBDD356CAB}"/>
              </c:ext>
            </c:extLst>
          </c:dPt>
          <c:dPt>
            <c:idx val="13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9E-923D-F143-AF39-FDFBDD356CAB}"/>
              </c:ext>
            </c:extLst>
          </c:dPt>
          <c:dPt>
            <c:idx val="13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A0-923D-F143-AF39-FDFBDD356CAB}"/>
              </c:ext>
            </c:extLst>
          </c:dPt>
          <c:dPt>
            <c:idx val="13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A2-923D-F143-AF39-FDFBDD356CAB}"/>
              </c:ext>
            </c:extLst>
          </c:dPt>
          <c:dPt>
            <c:idx val="13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A4-923D-F143-AF39-FDFBDD356CAB}"/>
              </c:ext>
            </c:extLst>
          </c:dPt>
          <c:dPt>
            <c:idx val="13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A6-923D-F143-AF39-FDFBDD356CAB}"/>
              </c:ext>
            </c:extLst>
          </c:dPt>
          <c:dPt>
            <c:idx val="13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A8-923D-F143-AF39-FDFBDD356CAB}"/>
              </c:ext>
            </c:extLst>
          </c:dPt>
          <c:dPt>
            <c:idx val="14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AA-923D-F143-AF39-FDFBDD356CAB}"/>
              </c:ext>
            </c:extLst>
          </c:dPt>
          <c:dPt>
            <c:idx val="14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AC-923D-F143-AF39-FDFBDD356CAB}"/>
              </c:ext>
            </c:extLst>
          </c:dPt>
          <c:dPt>
            <c:idx val="14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AE-923D-F143-AF39-FDFBDD356CAB}"/>
              </c:ext>
            </c:extLst>
          </c:dPt>
          <c:dPt>
            <c:idx val="14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B0-923D-F143-AF39-FDFBDD356CAB}"/>
              </c:ext>
            </c:extLst>
          </c:dPt>
          <c:dPt>
            <c:idx val="14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B2-923D-F143-AF39-FDFBDD356CAB}"/>
              </c:ext>
            </c:extLst>
          </c:dPt>
          <c:dPt>
            <c:idx val="14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B4-923D-F143-AF39-FDFBDD356CAB}"/>
              </c:ext>
            </c:extLst>
          </c:dPt>
          <c:dPt>
            <c:idx val="14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B6-923D-F143-AF39-FDFBDD356CAB}"/>
              </c:ext>
            </c:extLst>
          </c:dPt>
          <c:dPt>
            <c:idx val="14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B8-923D-F143-AF39-FDFBDD356CAB}"/>
              </c:ext>
            </c:extLst>
          </c:dPt>
          <c:dPt>
            <c:idx val="14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BA-923D-F143-AF39-FDFBDD356CAB}"/>
              </c:ext>
            </c:extLst>
          </c:dPt>
          <c:dPt>
            <c:idx val="14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BC-923D-F143-AF39-FDFBDD356CAB}"/>
              </c:ext>
            </c:extLst>
          </c:dPt>
          <c:dPt>
            <c:idx val="15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BE-923D-F143-AF39-FDFBDD356CAB}"/>
              </c:ext>
            </c:extLst>
          </c:dPt>
          <c:dPt>
            <c:idx val="15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C0-923D-F143-AF39-FDFBDD356CAB}"/>
              </c:ext>
            </c:extLst>
          </c:dPt>
          <c:dPt>
            <c:idx val="15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C2-923D-F143-AF39-FDFBDD356CAB}"/>
              </c:ext>
            </c:extLst>
          </c:dPt>
          <c:dPt>
            <c:idx val="15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C4-923D-F143-AF39-FDFBDD356CAB}"/>
              </c:ext>
            </c:extLst>
          </c:dPt>
          <c:dPt>
            <c:idx val="15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C6-923D-F143-AF39-FDFBDD356CAB}"/>
              </c:ext>
            </c:extLst>
          </c:dPt>
          <c:dPt>
            <c:idx val="15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C8-923D-F143-AF39-FDFBDD356CAB}"/>
              </c:ext>
            </c:extLst>
          </c:dPt>
          <c:dPt>
            <c:idx val="15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CA-923D-F143-AF39-FDFBDD356CAB}"/>
              </c:ext>
            </c:extLst>
          </c:dPt>
          <c:dPt>
            <c:idx val="15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CC-923D-F143-AF39-FDFBDD356CAB}"/>
              </c:ext>
            </c:extLst>
          </c:dPt>
          <c:dPt>
            <c:idx val="15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CE-923D-F143-AF39-FDFBDD356CAB}"/>
              </c:ext>
            </c:extLst>
          </c:dPt>
          <c:dPt>
            <c:idx val="15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D0-923D-F143-AF39-FDFBDD356CAB}"/>
              </c:ext>
            </c:extLst>
          </c:dPt>
          <c:dPt>
            <c:idx val="16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D2-923D-F143-AF39-FDFBDD356CAB}"/>
              </c:ext>
            </c:extLst>
          </c:dPt>
          <c:dPt>
            <c:idx val="16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D4-923D-F143-AF39-FDFBDD356CAB}"/>
              </c:ext>
            </c:extLst>
          </c:dPt>
          <c:dPt>
            <c:idx val="16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D6-923D-F143-AF39-FDFBDD356CAB}"/>
              </c:ext>
            </c:extLst>
          </c:dPt>
          <c:dPt>
            <c:idx val="16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D8-923D-F143-AF39-FDFBDD356CAB}"/>
              </c:ext>
            </c:extLst>
          </c:dPt>
          <c:dPt>
            <c:idx val="16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DA-923D-F143-AF39-FDFBDD356CAB}"/>
              </c:ext>
            </c:extLst>
          </c:dPt>
          <c:dPt>
            <c:idx val="16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DC-923D-F143-AF39-FDFBDD356CAB}"/>
              </c:ext>
            </c:extLst>
          </c:dPt>
          <c:dPt>
            <c:idx val="16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DE-923D-F143-AF39-FDFBDD356CAB}"/>
              </c:ext>
            </c:extLst>
          </c:dPt>
          <c:dPt>
            <c:idx val="16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E0-923D-F143-AF39-FDFBDD356CAB}"/>
              </c:ext>
            </c:extLst>
          </c:dPt>
          <c:dPt>
            <c:idx val="16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E2-923D-F143-AF39-FDFBDD356CAB}"/>
              </c:ext>
            </c:extLst>
          </c:dPt>
          <c:dPt>
            <c:idx val="16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E4-923D-F143-AF39-FDFBDD356CAB}"/>
              </c:ext>
            </c:extLst>
          </c:dPt>
          <c:dPt>
            <c:idx val="17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E6-923D-F143-AF39-FDFBDD356CAB}"/>
              </c:ext>
            </c:extLst>
          </c:dPt>
          <c:dPt>
            <c:idx val="17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E8-923D-F143-AF39-FDFBDD356CAB}"/>
              </c:ext>
            </c:extLst>
          </c:dPt>
          <c:dPt>
            <c:idx val="17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EA-923D-F143-AF39-FDFBDD356CAB}"/>
              </c:ext>
            </c:extLst>
          </c:dPt>
          <c:dPt>
            <c:idx val="17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EC-923D-F143-AF39-FDFBDD356CAB}"/>
              </c:ext>
            </c:extLst>
          </c:dPt>
          <c:dPt>
            <c:idx val="17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EE-923D-F143-AF39-FDFBDD356CAB}"/>
              </c:ext>
            </c:extLst>
          </c:dPt>
          <c:dPt>
            <c:idx val="17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F0-923D-F143-AF39-FDFBDD356CAB}"/>
              </c:ext>
            </c:extLst>
          </c:dPt>
          <c:dPt>
            <c:idx val="17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F2-923D-F143-AF39-FDFBDD356CAB}"/>
              </c:ext>
            </c:extLst>
          </c:dPt>
          <c:dPt>
            <c:idx val="17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F4-923D-F143-AF39-FDFBDD356CAB}"/>
              </c:ext>
            </c:extLst>
          </c:dPt>
          <c:dPt>
            <c:idx val="17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F6-923D-F143-AF39-FDFBDD356CAB}"/>
              </c:ext>
            </c:extLst>
          </c:dPt>
          <c:dPt>
            <c:idx val="17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F8-923D-F143-AF39-FDFBDD356CAB}"/>
              </c:ext>
            </c:extLst>
          </c:dPt>
          <c:dPt>
            <c:idx val="18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FA-923D-F143-AF39-FDFBDD356CAB}"/>
              </c:ext>
            </c:extLst>
          </c:dPt>
          <c:dPt>
            <c:idx val="18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FC-923D-F143-AF39-FDFBDD356CAB}"/>
              </c:ext>
            </c:extLst>
          </c:dPt>
          <c:dPt>
            <c:idx val="18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2FE-923D-F143-AF39-FDFBDD356CAB}"/>
              </c:ext>
            </c:extLst>
          </c:dPt>
          <c:dPt>
            <c:idx val="18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00-923D-F143-AF39-FDFBDD356CAB}"/>
              </c:ext>
            </c:extLst>
          </c:dPt>
          <c:dPt>
            <c:idx val="18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02-923D-F143-AF39-FDFBDD356CAB}"/>
              </c:ext>
            </c:extLst>
          </c:dPt>
          <c:dPt>
            <c:idx val="18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04-923D-F143-AF39-FDFBDD356CAB}"/>
              </c:ext>
            </c:extLst>
          </c:dPt>
          <c:dPt>
            <c:idx val="18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06-923D-F143-AF39-FDFBDD356CAB}"/>
              </c:ext>
            </c:extLst>
          </c:dPt>
          <c:dPt>
            <c:idx val="18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08-923D-F143-AF39-FDFBDD356CAB}"/>
              </c:ext>
            </c:extLst>
          </c:dPt>
          <c:dPt>
            <c:idx val="18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0A-923D-F143-AF39-FDFBDD356CAB}"/>
              </c:ext>
            </c:extLst>
          </c:dPt>
          <c:dPt>
            <c:idx val="18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0C-923D-F143-AF39-FDFBDD356CAB}"/>
              </c:ext>
            </c:extLst>
          </c:dPt>
          <c:dPt>
            <c:idx val="19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0E-923D-F143-AF39-FDFBDD356CAB}"/>
              </c:ext>
            </c:extLst>
          </c:dPt>
          <c:dPt>
            <c:idx val="19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10-923D-F143-AF39-FDFBDD356CAB}"/>
              </c:ext>
            </c:extLst>
          </c:dPt>
          <c:dPt>
            <c:idx val="19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12-923D-F143-AF39-FDFBDD356CAB}"/>
              </c:ext>
            </c:extLst>
          </c:dPt>
          <c:dPt>
            <c:idx val="19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14-923D-F143-AF39-FDFBDD356CAB}"/>
              </c:ext>
            </c:extLst>
          </c:dPt>
          <c:dPt>
            <c:idx val="19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16-923D-F143-AF39-FDFBDD356CAB}"/>
              </c:ext>
            </c:extLst>
          </c:dPt>
          <c:dPt>
            <c:idx val="19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18-923D-F143-AF39-FDFBDD356CAB}"/>
              </c:ext>
            </c:extLst>
          </c:dPt>
          <c:dPt>
            <c:idx val="19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1A-923D-F143-AF39-FDFBDD356CAB}"/>
              </c:ext>
            </c:extLst>
          </c:dPt>
          <c:dPt>
            <c:idx val="19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1C-923D-F143-AF39-FDFBDD356CAB}"/>
              </c:ext>
            </c:extLst>
          </c:dPt>
          <c:dPt>
            <c:idx val="19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1E-923D-F143-AF39-FDFBDD356CAB}"/>
              </c:ext>
            </c:extLst>
          </c:dPt>
          <c:dPt>
            <c:idx val="19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20-923D-F143-AF39-FDFBDD356CAB}"/>
              </c:ext>
            </c:extLst>
          </c:dPt>
          <c:cat>
            <c:strRef>
              <c:f>Sheet1!$A$2:$A$201</c:f>
              <c:strCache>
                <c:ptCount val="200"/>
              </c:strCache>
            </c:strRef>
          </c:cat>
          <c:val>
            <c:numRef>
              <c:f>Sheet1!$C$2:$C$201</c:f>
              <c:numCache>
                <c:formatCode>0%</c:formatCode>
                <c:ptCount val="200"/>
                <c:pt idx="0">
                  <c:v>192088</c:v>
                </c:pt>
                <c:pt idx="1">
                  <c:v>192088</c:v>
                </c:pt>
                <c:pt idx="2">
                  <c:v>192088</c:v>
                </c:pt>
                <c:pt idx="3">
                  <c:v>192088</c:v>
                </c:pt>
                <c:pt idx="4">
                  <c:v>192088</c:v>
                </c:pt>
                <c:pt idx="5">
                  <c:v>192088</c:v>
                </c:pt>
                <c:pt idx="6">
                  <c:v>192088</c:v>
                </c:pt>
                <c:pt idx="7">
                  <c:v>192088</c:v>
                </c:pt>
                <c:pt idx="8">
                  <c:v>192088</c:v>
                </c:pt>
                <c:pt idx="9">
                  <c:v>192088</c:v>
                </c:pt>
                <c:pt idx="10">
                  <c:v>192088</c:v>
                </c:pt>
                <c:pt idx="11">
                  <c:v>192088</c:v>
                </c:pt>
                <c:pt idx="12">
                  <c:v>192088</c:v>
                </c:pt>
                <c:pt idx="13">
                  <c:v>192088</c:v>
                </c:pt>
                <c:pt idx="14">
                  <c:v>192088</c:v>
                </c:pt>
                <c:pt idx="15">
                  <c:v>192088</c:v>
                </c:pt>
                <c:pt idx="16">
                  <c:v>192088</c:v>
                </c:pt>
                <c:pt idx="17">
                  <c:v>192088</c:v>
                </c:pt>
                <c:pt idx="18">
                  <c:v>192088</c:v>
                </c:pt>
                <c:pt idx="19">
                  <c:v>192088</c:v>
                </c:pt>
                <c:pt idx="20">
                  <c:v>192088</c:v>
                </c:pt>
                <c:pt idx="21">
                  <c:v>192088</c:v>
                </c:pt>
                <c:pt idx="22">
                  <c:v>192088</c:v>
                </c:pt>
                <c:pt idx="23">
                  <c:v>192088</c:v>
                </c:pt>
                <c:pt idx="24">
                  <c:v>192088</c:v>
                </c:pt>
                <c:pt idx="25">
                  <c:v>192088</c:v>
                </c:pt>
                <c:pt idx="26">
                  <c:v>192088</c:v>
                </c:pt>
                <c:pt idx="27">
                  <c:v>192088</c:v>
                </c:pt>
                <c:pt idx="28">
                  <c:v>192088</c:v>
                </c:pt>
                <c:pt idx="29">
                  <c:v>192088</c:v>
                </c:pt>
                <c:pt idx="30">
                  <c:v>192088</c:v>
                </c:pt>
                <c:pt idx="31">
                  <c:v>192088</c:v>
                </c:pt>
                <c:pt idx="32">
                  <c:v>192088</c:v>
                </c:pt>
                <c:pt idx="33">
                  <c:v>192088</c:v>
                </c:pt>
                <c:pt idx="34">
                  <c:v>192088</c:v>
                </c:pt>
                <c:pt idx="35">
                  <c:v>192088</c:v>
                </c:pt>
                <c:pt idx="36">
                  <c:v>192088</c:v>
                </c:pt>
                <c:pt idx="37">
                  <c:v>192088</c:v>
                </c:pt>
                <c:pt idx="38">
                  <c:v>192088</c:v>
                </c:pt>
                <c:pt idx="39">
                  <c:v>192088</c:v>
                </c:pt>
                <c:pt idx="40">
                  <c:v>192088</c:v>
                </c:pt>
                <c:pt idx="41">
                  <c:v>192088</c:v>
                </c:pt>
                <c:pt idx="42">
                  <c:v>192088</c:v>
                </c:pt>
                <c:pt idx="43">
                  <c:v>192088</c:v>
                </c:pt>
                <c:pt idx="44">
                  <c:v>192088</c:v>
                </c:pt>
                <c:pt idx="45">
                  <c:v>192088</c:v>
                </c:pt>
                <c:pt idx="46">
                  <c:v>192088</c:v>
                </c:pt>
                <c:pt idx="47">
                  <c:v>192088</c:v>
                </c:pt>
                <c:pt idx="48">
                  <c:v>192088</c:v>
                </c:pt>
                <c:pt idx="49">
                  <c:v>192088</c:v>
                </c:pt>
                <c:pt idx="50">
                  <c:v>192088</c:v>
                </c:pt>
                <c:pt idx="51">
                  <c:v>192088</c:v>
                </c:pt>
                <c:pt idx="52">
                  <c:v>192088</c:v>
                </c:pt>
                <c:pt idx="53">
                  <c:v>192088</c:v>
                </c:pt>
                <c:pt idx="54">
                  <c:v>192088</c:v>
                </c:pt>
                <c:pt idx="55">
                  <c:v>192088</c:v>
                </c:pt>
                <c:pt idx="56">
                  <c:v>192088</c:v>
                </c:pt>
                <c:pt idx="57">
                  <c:v>192088</c:v>
                </c:pt>
                <c:pt idx="58">
                  <c:v>192088</c:v>
                </c:pt>
                <c:pt idx="59">
                  <c:v>192088</c:v>
                </c:pt>
                <c:pt idx="60">
                  <c:v>192088</c:v>
                </c:pt>
                <c:pt idx="61">
                  <c:v>192088</c:v>
                </c:pt>
                <c:pt idx="62">
                  <c:v>192088</c:v>
                </c:pt>
                <c:pt idx="63">
                  <c:v>192088</c:v>
                </c:pt>
                <c:pt idx="64">
                  <c:v>192088</c:v>
                </c:pt>
                <c:pt idx="65">
                  <c:v>192088</c:v>
                </c:pt>
                <c:pt idx="66">
                  <c:v>192088</c:v>
                </c:pt>
                <c:pt idx="67">
                  <c:v>192088</c:v>
                </c:pt>
                <c:pt idx="68">
                  <c:v>192088</c:v>
                </c:pt>
                <c:pt idx="69">
                  <c:v>192088</c:v>
                </c:pt>
                <c:pt idx="70">
                  <c:v>192088</c:v>
                </c:pt>
                <c:pt idx="71">
                  <c:v>192088</c:v>
                </c:pt>
                <c:pt idx="72">
                  <c:v>192088</c:v>
                </c:pt>
                <c:pt idx="73">
                  <c:v>192088</c:v>
                </c:pt>
                <c:pt idx="74">
                  <c:v>192088</c:v>
                </c:pt>
                <c:pt idx="75">
                  <c:v>192088</c:v>
                </c:pt>
                <c:pt idx="76">
                  <c:v>192088</c:v>
                </c:pt>
                <c:pt idx="77">
                  <c:v>192088</c:v>
                </c:pt>
                <c:pt idx="78">
                  <c:v>192088</c:v>
                </c:pt>
                <c:pt idx="79">
                  <c:v>192088</c:v>
                </c:pt>
                <c:pt idx="80">
                  <c:v>192088</c:v>
                </c:pt>
                <c:pt idx="81">
                  <c:v>192088</c:v>
                </c:pt>
                <c:pt idx="82">
                  <c:v>762000</c:v>
                </c:pt>
                <c:pt idx="83">
                  <c:v>762000</c:v>
                </c:pt>
                <c:pt idx="84">
                  <c:v>762000</c:v>
                </c:pt>
                <c:pt idx="85">
                  <c:v>762000</c:v>
                </c:pt>
                <c:pt idx="86">
                  <c:v>762000</c:v>
                </c:pt>
                <c:pt idx="87">
                  <c:v>762000</c:v>
                </c:pt>
                <c:pt idx="88">
                  <c:v>762000</c:v>
                </c:pt>
                <c:pt idx="89">
                  <c:v>762000</c:v>
                </c:pt>
                <c:pt idx="90">
                  <c:v>762000</c:v>
                </c:pt>
                <c:pt idx="91">
                  <c:v>762000</c:v>
                </c:pt>
                <c:pt idx="92">
                  <c:v>762000</c:v>
                </c:pt>
                <c:pt idx="93">
                  <c:v>762000</c:v>
                </c:pt>
                <c:pt idx="94">
                  <c:v>762000</c:v>
                </c:pt>
                <c:pt idx="95">
                  <c:v>762000</c:v>
                </c:pt>
                <c:pt idx="96">
                  <c:v>762000</c:v>
                </c:pt>
                <c:pt idx="97">
                  <c:v>762000</c:v>
                </c:pt>
                <c:pt idx="98">
                  <c:v>762000</c:v>
                </c:pt>
                <c:pt idx="99">
                  <c:v>762000</c:v>
                </c:pt>
                <c:pt idx="100">
                  <c:v>762000</c:v>
                </c:pt>
                <c:pt idx="101">
                  <c:v>762000</c:v>
                </c:pt>
                <c:pt idx="102">
                  <c:v>762000</c:v>
                </c:pt>
                <c:pt idx="103">
                  <c:v>762000</c:v>
                </c:pt>
                <c:pt idx="104">
                  <c:v>762000</c:v>
                </c:pt>
                <c:pt idx="105">
                  <c:v>762000</c:v>
                </c:pt>
                <c:pt idx="106">
                  <c:v>762000</c:v>
                </c:pt>
                <c:pt idx="107">
                  <c:v>762000</c:v>
                </c:pt>
                <c:pt idx="108">
                  <c:v>762000</c:v>
                </c:pt>
                <c:pt idx="109">
                  <c:v>762000</c:v>
                </c:pt>
                <c:pt idx="110">
                  <c:v>762000</c:v>
                </c:pt>
                <c:pt idx="111">
                  <c:v>762000</c:v>
                </c:pt>
                <c:pt idx="112">
                  <c:v>762000</c:v>
                </c:pt>
                <c:pt idx="113">
                  <c:v>762000</c:v>
                </c:pt>
                <c:pt idx="114">
                  <c:v>762000</c:v>
                </c:pt>
                <c:pt idx="115">
                  <c:v>762000</c:v>
                </c:pt>
                <c:pt idx="116">
                  <c:v>762000</c:v>
                </c:pt>
                <c:pt idx="117">
                  <c:v>762000</c:v>
                </c:pt>
                <c:pt idx="118">
                  <c:v>762000</c:v>
                </c:pt>
                <c:pt idx="119">
                  <c:v>762000</c:v>
                </c:pt>
                <c:pt idx="120">
                  <c:v>762000</c:v>
                </c:pt>
                <c:pt idx="121">
                  <c:v>762000</c:v>
                </c:pt>
                <c:pt idx="122">
                  <c:v>762000</c:v>
                </c:pt>
                <c:pt idx="123">
                  <c:v>762000</c:v>
                </c:pt>
                <c:pt idx="124">
                  <c:v>762000</c:v>
                </c:pt>
                <c:pt idx="125">
                  <c:v>762000</c:v>
                </c:pt>
                <c:pt idx="126">
                  <c:v>762000</c:v>
                </c:pt>
                <c:pt idx="127">
                  <c:v>762000</c:v>
                </c:pt>
                <c:pt idx="128">
                  <c:v>762000</c:v>
                </c:pt>
                <c:pt idx="129">
                  <c:v>409575</c:v>
                </c:pt>
                <c:pt idx="130">
                  <c:v>409575</c:v>
                </c:pt>
                <c:pt idx="131">
                  <c:v>409575</c:v>
                </c:pt>
                <c:pt idx="132">
                  <c:v>409575</c:v>
                </c:pt>
                <c:pt idx="133">
                  <c:v>409575</c:v>
                </c:pt>
                <c:pt idx="134">
                  <c:v>409575</c:v>
                </c:pt>
                <c:pt idx="135">
                  <c:v>409575</c:v>
                </c:pt>
                <c:pt idx="136">
                  <c:v>409575</c:v>
                </c:pt>
                <c:pt idx="137">
                  <c:v>409575</c:v>
                </c:pt>
                <c:pt idx="138">
                  <c:v>409575</c:v>
                </c:pt>
                <c:pt idx="139">
                  <c:v>409575</c:v>
                </c:pt>
                <c:pt idx="140">
                  <c:v>409575</c:v>
                </c:pt>
                <c:pt idx="141">
                  <c:v>409575</c:v>
                </c:pt>
                <c:pt idx="142">
                  <c:v>409575</c:v>
                </c:pt>
                <c:pt idx="143">
                  <c:v>409575</c:v>
                </c:pt>
                <c:pt idx="144">
                  <c:v>409575</c:v>
                </c:pt>
                <c:pt idx="145">
                  <c:v>409575</c:v>
                </c:pt>
                <c:pt idx="146">
                  <c:v>1592263</c:v>
                </c:pt>
                <c:pt idx="147">
                  <c:v>1592263</c:v>
                </c:pt>
                <c:pt idx="148">
                  <c:v>1592263</c:v>
                </c:pt>
                <c:pt idx="149">
                  <c:v>1592263</c:v>
                </c:pt>
                <c:pt idx="150">
                  <c:v>1592263</c:v>
                </c:pt>
                <c:pt idx="151">
                  <c:v>1592263</c:v>
                </c:pt>
                <c:pt idx="152">
                  <c:v>1592263</c:v>
                </c:pt>
                <c:pt idx="153">
                  <c:v>1592263</c:v>
                </c:pt>
                <c:pt idx="154">
                  <c:v>1592263</c:v>
                </c:pt>
                <c:pt idx="155">
                  <c:v>1592263</c:v>
                </c:pt>
                <c:pt idx="156">
                  <c:v>1592263</c:v>
                </c:pt>
                <c:pt idx="157">
                  <c:v>1592263</c:v>
                </c:pt>
                <c:pt idx="158">
                  <c:v>1592263</c:v>
                </c:pt>
                <c:pt idx="159">
                  <c:v>1592263</c:v>
                </c:pt>
                <c:pt idx="160">
                  <c:v>1592263</c:v>
                </c:pt>
                <c:pt idx="161">
                  <c:v>1592263</c:v>
                </c:pt>
                <c:pt idx="162">
                  <c:v>1592263</c:v>
                </c:pt>
                <c:pt idx="163">
                  <c:v>1060450</c:v>
                </c:pt>
                <c:pt idx="164">
                  <c:v>1060450</c:v>
                </c:pt>
                <c:pt idx="165">
                  <c:v>1060450</c:v>
                </c:pt>
                <c:pt idx="166">
                  <c:v>1060450</c:v>
                </c:pt>
                <c:pt idx="167">
                  <c:v>1060450</c:v>
                </c:pt>
                <c:pt idx="168">
                  <c:v>1060450</c:v>
                </c:pt>
                <c:pt idx="169">
                  <c:v>1060450</c:v>
                </c:pt>
                <c:pt idx="170">
                  <c:v>1060450</c:v>
                </c:pt>
                <c:pt idx="171">
                  <c:v>1060450</c:v>
                </c:pt>
                <c:pt idx="172">
                  <c:v>1060450</c:v>
                </c:pt>
                <c:pt idx="173">
                  <c:v>1060450</c:v>
                </c:pt>
                <c:pt idx="174">
                  <c:v>1060450</c:v>
                </c:pt>
                <c:pt idx="175">
                  <c:v>1060450</c:v>
                </c:pt>
                <c:pt idx="176">
                  <c:v>1060450</c:v>
                </c:pt>
                <c:pt idx="177">
                  <c:v>1060450</c:v>
                </c:pt>
                <c:pt idx="178">
                  <c:v>1060450</c:v>
                </c:pt>
                <c:pt idx="179">
                  <c:v>1060450</c:v>
                </c:pt>
                <c:pt idx="180">
                  <c:v>1060450</c:v>
                </c:pt>
                <c:pt idx="181">
                  <c:v>1060450</c:v>
                </c:pt>
                <c:pt idx="182">
                  <c:v>1060450</c:v>
                </c:pt>
                <c:pt idx="183">
                  <c:v>1060450</c:v>
                </c:pt>
                <c:pt idx="184">
                  <c:v>1060450</c:v>
                </c:pt>
                <c:pt idx="185">
                  <c:v>1060450</c:v>
                </c:pt>
                <c:pt idx="186">
                  <c:v>1060450</c:v>
                </c:pt>
                <c:pt idx="187">
                  <c:v>1060450</c:v>
                </c:pt>
                <c:pt idx="188">
                  <c:v>1060450</c:v>
                </c:pt>
                <c:pt idx="189">
                  <c:v>1060450</c:v>
                </c:pt>
                <c:pt idx="190">
                  <c:v>1060450</c:v>
                </c:pt>
                <c:pt idx="191">
                  <c:v>1060450</c:v>
                </c:pt>
                <c:pt idx="192">
                  <c:v>1060450</c:v>
                </c:pt>
                <c:pt idx="193">
                  <c:v>1060450</c:v>
                </c:pt>
                <c:pt idx="194">
                  <c:v>1060450</c:v>
                </c:pt>
                <c:pt idx="195">
                  <c:v>1060450</c:v>
                </c:pt>
                <c:pt idx="196">
                  <c:v>1060450</c:v>
                </c:pt>
                <c:pt idx="197">
                  <c:v>1060450</c:v>
                </c:pt>
                <c:pt idx="198">
                  <c:v>1060450</c:v>
                </c:pt>
                <c:pt idx="199">
                  <c:v>1060450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321-923D-F143-AF39-FDFBDD356CA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Layer 3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23-923D-F143-AF39-FDFBDD356CAB}"/>
              </c:ext>
            </c:extLst>
          </c:dPt>
          <c:dPt>
            <c:idx val="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25-923D-F143-AF39-FDFBDD356CAB}"/>
              </c:ext>
            </c:extLst>
          </c:dPt>
          <c:dPt>
            <c:idx val="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27-923D-F143-AF39-FDFBDD356CAB}"/>
              </c:ext>
            </c:extLst>
          </c:dPt>
          <c:dPt>
            <c:idx val="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29-923D-F143-AF39-FDFBDD356CAB}"/>
              </c:ext>
            </c:extLst>
          </c:dPt>
          <c:dPt>
            <c:idx val="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2B-923D-F143-AF39-FDFBDD356CAB}"/>
              </c:ext>
            </c:extLst>
          </c:dPt>
          <c:dPt>
            <c:idx val="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2D-923D-F143-AF39-FDFBDD356CAB}"/>
              </c:ext>
            </c:extLst>
          </c:dPt>
          <c:dPt>
            <c:idx val="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2F-923D-F143-AF39-FDFBDD356CAB}"/>
              </c:ext>
            </c:extLst>
          </c:dPt>
          <c:dPt>
            <c:idx val="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31-923D-F143-AF39-FDFBDD356CAB}"/>
              </c:ext>
            </c:extLst>
          </c:dPt>
          <c:dPt>
            <c:idx val="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33-923D-F143-AF39-FDFBDD356CAB}"/>
              </c:ext>
            </c:extLst>
          </c:dPt>
          <c:dPt>
            <c:idx val="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35-923D-F143-AF39-FDFBDD356CAB}"/>
              </c:ext>
            </c:extLst>
          </c:dPt>
          <c:dPt>
            <c:idx val="1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37-923D-F143-AF39-FDFBDD356CAB}"/>
              </c:ext>
            </c:extLst>
          </c:dPt>
          <c:dPt>
            <c:idx val="1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39-923D-F143-AF39-FDFBDD356CAB}"/>
              </c:ext>
            </c:extLst>
          </c:dPt>
          <c:dPt>
            <c:idx val="1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3B-923D-F143-AF39-FDFBDD356CAB}"/>
              </c:ext>
            </c:extLst>
          </c:dPt>
          <c:dPt>
            <c:idx val="1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3D-923D-F143-AF39-FDFBDD356CAB}"/>
              </c:ext>
            </c:extLst>
          </c:dPt>
          <c:dPt>
            <c:idx val="1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3F-923D-F143-AF39-FDFBDD356CAB}"/>
              </c:ext>
            </c:extLst>
          </c:dPt>
          <c:dPt>
            <c:idx val="1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41-923D-F143-AF39-FDFBDD356CAB}"/>
              </c:ext>
            </c:extLst>
          </c:dPt>
          <c:dPt>
            <c:idx val="1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43-923D-F143-AF39-FDFBDD356CAB}"/>
              </c:ext>
            </c:extLst>
          </c:dPt>
          <c:dPt>
            <c:idx val="1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45-923D-F143-AF39-FDFBDD356CAB}"/>
              </c:ext>
            </c:extLst>
          </c:dPt>
          <c:dPt>
            <c:idx val="1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47-923D-F143-AF39-FDFBDD356CAB}"/>
              </c:ext>
            </c:extLst>
          </c:dPt>
          <c:dPt>
            <c:idx val="1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49-923D-F143-AF39-FDFBDD356CAB}"/>
              </c:ext>
            </c:extLst>
          </c:dPt>
          <c:dPt>
            <c:idx val="2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4B-923D-F143-AF39-FDFBDD356CAB}"/>
              </c:ext>
            </c:extLst>
          </c:dPt>
          <c:dPt>
            <c:idx val="2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4D-923D-F143-AF39-FDFBDD356CAB}"/>
              </c:ext>
            </c:extLst>
          </c:dPt>
          <c:dPt>
            <c:idx val="2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4F-923D-F143-AF39-FDFBDD356CAB}"/>
              </c:ext>
            </c:extLst>
          </c:dPt>
          <c:dPt>
            <c:idx val="2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51-923D-F143-AF39-FDFBDD356CAB}"/>
              </c:ext>
            </c:extLst>
          </c:dPt>
          <c:dPt>
            <c:idx val="2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53-923D-F143-AF39-FDFBDD356CAB}"/>
              </c:ext>
            </c:extLst>
          </c:dPt>
          <c:dPt>
            <c:idx val="2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55-923D-F143-AF39-FDFBDD356CAB}"/>
              </c:ext>
            </c:extLst>
          </c:dPt>
          <c:dPt>
            <c:idx val="2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57-923D-F143-AF39-FDFBDD356CAB}"/>
              </c:ext>
            </c:extLst>
          </c:dPt>
          <c:dPt>
            <c:idx val="2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59-923D-F143-AF39-FDFBDD356CAB}"/>
              </c:ext>
            </c:extLst>
          </c:dPt>
          <c:dPt>
            <c:idx val="2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5B-923D-F143-AF39-FDFBDD356CAB}"/>
              </c:ext>
            </c:extLst>
          </c:dPt>
          <c:dPt>
            <c:idx val="2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5D-923D-F143-AF39-FDFBDD356CAB}"/>
              </c:ext>
            </c:extLst>
          </c:dPt>
          <c:dPt>
            <c:idx val="3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5F-923D-F143-AF39-FDFBDD356CAB}"/>
              </c:ext>
            </c:extLst>
          </c:dPt>
          <c:dPt>
            <c:idx val="3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61-923D-F143-AF39-FDFBDD356CAB}"/>
              </c:ext>
            </c:extLst>
          </c:dPt>
          <c:dPt>
            <c:idx val="3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63-923D-F143-AF39-FDFBDD356CAB}"/>
              </c:ext>
            </c:extLst>
          </c:dPt>
          <c:dPt>
            <c:idx val="3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65-923D-F143-AF39-FDFBDD356CAB}"/>
              </c:ext>
            </c:extLst>
          </c:dPt>
          <c:dPt>
            <c:idx val="3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67-923D-F143-AF39-FDFBDD356CAB}"/>
              </c:ext>
            </c:extLst>
          </c:dPt>
          <c:dPt>
            <c:idx val="3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69-923D-F143-AF39-FDFBDD356CAB}"/>
              </c:ext>
            </c:extLst>
          </c:dPt>
          <c:dPt>
            <c:idx val="3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6B-923D-F143-AF39-FDFBDD356CAB}"/>
              </c:ext>
            </c:extLst>
          </c:dPt>
          <c:dPt>
            <c:idx val="3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6D-923D-F143-AF39-FDFBDD356CAB}"/>
              </c:ext>
            </c:extLst>
          </c:dPt>
          <c:dPt>
            <c:idx val="3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6F-923D-F143-AF39-FDFBDD356CAB}"/>
              </c:ext>
            </c:extLst>
          </c:dPt>
          <c:dPt>
            <c:idx val="3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71-923D-F143-AF39-FDFBDD356CAB}"/>
              </c:ext>
            </c:extLst>
          </c:dPt>
          <c:dPt>
            <c:idx val="4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73-923D-F143-AF39-FDFBDD356CAB}"/>
              </c:ext>
            </c:extLst>
          </c:dPt>
          <c:dPt>
            <c:idx val="4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75-923D-F143-AF39-FDFBDD356CAB}"/>
              </c:ext>
            </c:extLst>
          </c:dPt>
          <c:dPt>
            <c:idx val="4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77-923D-F143-AF39-FDFBDD356CAB}"/>
              </c:ext>
            </c:extLst>
          </c:dPt>
          <c:dPt>
            <c:idx val="4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79-923D-F143-AF39-FDFBDD356CAB}"/>
              </c:ext>
            </c:extLst>
          </c:dPt>
          <c:dPt>
            <c:idx val="4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7B-923D-F143-AF39-FDFBDD356CAB}"/>
              </c:ext>
            </c:extLst>
          </c:dPt>
          <c:dPt>
            <c:idx val="4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7D-923D-F143-AF39-FDFBDD356CAB}"/>
              </c:ext>
            </c:extLst>
          </c:dPt>
          <c:dPt>
            <c:idx val="4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7F-923D-F143-AF39-FDFBDD356CAB}"/>
              </c:ext>
            </c:extLst>
          </c:dPt>
          <c:dPt>
            <c:idx val="4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81-923D-F143-AF39-FDFBDD356CAB}"/>
              </c:ext>
            </c:extLst>
          </c:dPt>
          <c:dPt>
            <c:idx val="4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83-923D-F143-AF39-FDFBDD356CAB}"/>
              </c:ext>
            </c:extLst>
          </c:dPt>
          <c:dPt>
            <c:idx val="4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85-923D-F143-AF39-FDFBDD356CAB}"/>
              </c:ext>
            </c:extLst>
          </c:dPt>
          <c:dPt>
            <c:idx val="5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87-923D-F143-AF39-FDFBDD356CAB}"/>
              </c:ext>
            </c:extLst>
          </c:dPt>
          <c:dPt>
            <c:idx val="5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89-923D-F143-AF39-FDFBDD356CAB}"/>
              </c:ext>
            </c:extLst>
          </c:dPt>
          <c:dPt>
            <c:idx val="5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8B-923D-F143-AF39-FDFBDD356CAB}"/>
              </c:ext>
            </c:extLst>
          </c:dPt>
          <c:dPt>
            <c:idx val="5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8D-923D-F143-AF39-FDFBDD356CAB}"/>
              </c:ext>
            </c:extLst>
          </c:dPt>
          <c:dPt>
            <c:idx val="5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8F-923D-F143-AF39-FDFBDD356CAB}"/>
              </c:ext>
            </c:extLst>
          </c:dPt>
          <c:dPt>
            <c:idx val="5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91-923D-F143-AF39-FDFBDD356CAB}"/>
              </c:ext>
            </c:extLst>
          </c:dPt>
          <c:dPt>
            <c:idx val="5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93-923D-F143-AF39-FDFBDD356CAB}"/>
              </c:ext>
            </c:extLst>
          </c:dPt>
          <c:dPt>
            <c:idx val="5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95-923D-F143-AF39-FDFBDD356CAB}"/>
              </c:ext>
            </c:extLst>
          </c:dPt>
          <c:dPt>
            <c:idx val="5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97-923D-F143-AF39-FDFBDD356CAB}"/>
              </c:ext>
            </c:extLst>
          </c:dPt>
          <c:dPt>
            <c:idx val="5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99-923D-F143-AF39-FDFBDD356CAB}"/>
              </c:ext>
            </c:extLst>
          </c:dPt>
          <c:dPt>
            <c:idx val="6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9B-923D-F143-AF39-FDFBDD356CAB}"/>
              </c:ext>
            </c:extLst>
          </c:dPt>
          <c:dPt>
            <c:idx val="6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9D-923D-F143-AF39-FDFBDD356CAB}"/>
              </c:ext>
            </c:extLst>
          </c:dPt>
          <c:dPt>
            <c:idx val="6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9F-923D-F143-AF39-FDFBDD356CAB}"/>
              </c:ext>
            </c:extLst>
          </c:dPt>
          <c:dPt>
            <c:idx val="6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A1-923D-F143-AF39-FDFBDD356CAB}"/>
              </c:ext>
            </c:extLst>
          </c:dPt>
          <c:dPt>
            <c:idx val="6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A3-923D-F143-AF39-FDFBDD356CAB}"/>
              </c:ext>
            </c:extLst>
          </c:dPt>
          <c:dPt>
            <c:idx val="6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A5-923D-F143-AF39-FDFBDD356CAB}"/>
              </c:ext>
            </c:extLst>
          </c:dPt>
          <c:dPt>
            <c:idx val="6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A7-923D-F143-AF39-FDFBDD356CAB}"/>
              </c:ext>
            </c:extLst>
          </c:dPt>
          <c:dPt>
            <c:idx val="6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A9-923D-F143-AF39-FDFBDD356CAB}"/>
              </c:ext>
            </c:extLst>
          </c:dPt>
          <c:dPt>
            <c:idx val="6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AB-923D-F143-AF39-FDFBDD356CAB}"/>
              </c:ext>
            </c:extLst>
          </c:dPt>
          <c:dPt>
            <c:idx val="6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AD-923D-F143-AF39-FDFBDD356CAB}"/>
              </c:ext>
            </c:extLst>
          </c:dPt>
          <c:dPt>
            <c:idx val="7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AF-923D-F143-AF39-FDFBDD356CAB}"/>
              </c:ext>
            </c:extLst>
          </c:dPt>
          <c:dPt>
            <c:idx val="7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B1-923D-F143-AF39-FDFBDD356CAB}"/>
              </c:ext>
            </c:extLst>
          </c:dPt>
          <c:dPt>
            <c:idx val="7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B3-923D-F143-AF39-FDFBDD356CAB}"/>
              </c:ext>
            </c:extLst>
          </c:dPt>
          <c:dPt>
            <c:idx val="7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B5-923D-F143-AF39-FDFBDD356CAB}"/>
              </c:ext>
            </c:extLst>
          </c:dPt>
          <c:dPt>
            <c:idx val="7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B7-923D-F143-AF39-FDFBDD356CAB}"/>
              </c:ext>
            </c:extLst>
          </c:dPt>
          <c:dPt>
            <c:idx val="7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B9-923D-F143-AF39-FDFBDD356CAB}"/>
              </c:ext>
            </c:extLst>
          </c:dPt>
          <c:dPt>
            <c:idx val="7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BB-923D-F143-AF39-FDFBDD356CAB}"/>
              </c:ext>
            </c:extLst>
          </c:dPt>
          <c:dPt>
            <c:idx val="7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BD-923D-F143-AF39-FDFBDD356CAB}"/>
              </c:ext>
            </c:extLst>
          </c:dPt>
          <c:dPt>
            <c:idx val="7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BF-923D-F143-AF39-FDFBDD356CAB}"/>
              </c:ext>
            </c:extLst>
          </c:dPt>
          <c:dPt>
            <c:idx val="7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C1-923D-F143-AF39-FDFBDD356CAB}"/>
              </c:ext>
            </c:extLst>
          </c:dPt>
          <c:dPt>
            <c:idx val="8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C3-923D-F143-AF39-FDFBDD356CAB}"/>
              </c:ext>
            </c:extLst>
          </c:dPt>
          <c:dPt>
            <c:idx val="8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C5-923D-F143-AF39-FDFBDD356CAB}"/>
              </c:ext>
            </c:extLst>
          </c:dPt>
          <c:dPt>
            <c:idx val="8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C7-923D-F143-AF39-FDFBDD356CAB}"/>
              </c:ext>
            </c:extLst>
          </c:dPt>
          <c:dPt>
            <c:idx val="8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C9-923D-F143-AF39-FDFBDD356CAB}"/>
              </c:ext>
            </c:extLst>
          </c:dPt>
          <c:dPt>
            <c:idx val="8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CB-923D-F143-AF39-FDFBDD356CAB}"/>
              </c:ext>
            </c:extLst>
          </c:dPt>
          <c:dPt>
            <c:idx val="8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CD-923D-F143-AF39-FDFBDD356CAB}"/>
              </c:ext>
            </c:extLst>
          </c:dPt>
          <c:dPt>
            <c:idx val="8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CF-923D-F143-AF39-FDFBDD356CAB}"/>
              </c:ext>
            </c:extLst>
          </c:dPt>
          <c:dPt>
            <c:idx val="8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D1-923D-F143-AF39-FDFBDD356CAB}"/>
              </c:ext>
            </c:extLst>
          </c:dPt>
          <c:dPt>
            <c:idx val="8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D3-923D-F143-AF39-FDFBDD356CAB}"/>
              </c:ext>
            </c:extLst>
          </c:dPt>
          <c:dPt>
            <c:idx val="8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D5-923D-F143-AF39-FDFBDD356CAB}"/>
              </c:ext>
            </c:extLst>
          </c:dPt>
          <c:dPt>
            <c:idx val="9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D7-923D-F143-AF39-FDFBDD356CAB}"/>
              </c:ext>
            </c:extLst>
          </c:dPt>
          <c:dPt>
            <c:idx val="9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D9-923D-F143-AF39-FDFBDD356CAB}"/>
              </c:ext>
            </c:extLst>
          </c:dPt>
          <c:dPt>
            <c:idx val="9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DB-923D-F143-AF39-FDFBDD356CAB}"/>
              </c:ext>
            </c:extLst>
          </c:dPt>
          <c:dPt>
            <c:idx val="9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DD-923D-F143-AF39-FDFBDD356CAB}"/>
              </c:ext>
            </c:extLst>
          </c:dPt>
          <c:dPt>
            <c:idx val="9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DF-923D-F143-AF39-FDFBDD356CAB}"/>
              </c:ext>
            </c:extLst>
          </c:dPt>
          <c:dPt>
            <c:idx val="9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E1-923D-F143-AF39-FDFBDD356CAB}"/>
              </c:ext>
            </c:extLst>
          </c:dPt>
          <c:dPt>
            <c:idx val="9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E3-923D-F143-AF39-FDFBDD356CAB}"/>
              </c:ext>
            </c:extLst>
          </c:dPt>
          <c:dPt>
            <c:idx val="9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E5-923D-F143-AF39-FDFBDD356CAB}"/>
              </c:ext>
            </c:extLst>
          </c:dPt>
          <c:dPt>
            <c:idx val="9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E7-923D-F143-AF39-FDFBDD356CAB}"/>
              </c:ext>
            </c:extLst>
          </c:dPt>
          <c:dPt>
            <c:idx val="9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E9-923D-F143-AF39-FDFBDD356CAB}"/>
              </c:ext>
            </c:extLst>
          </c:dPt>
          <c:dPt>
            <c:idx val="10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EB-923D-F143-AF39-FDFBDD356CAB}"/>
              </c:ext>
            </c:extLst>
          </c:dPt>
          <c:dPt>
            <c:idx val="10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ED-923D-F143-AF39-FDFBDD356CAB}"/>
              </c:ext>
            </c:extLst>
          </c:dPt>
          <c:dPt>
            <c:idx val="10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EF-923D-F143-AF39-FDFBDD356CAB}"/>
              </c:ext>
            </c:extLst>
          </c:dPt>
          <c:dPt>
            <c:idx val="10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F1-923D-F143-AF39-FDFBDD356CAB}"/>
              </c:ext>
            </c:extLst>
          </c:dPt>
          <c:dPt>
            <c:idx val="10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F3-923D-F143-AF39-FDFBDD356CAB}"/>
              </c:ext>
            </c:extLst>
          </c:dPt>
          <c:dPt>
            <c:idx val="10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F5-923D-F143-AF39-FDFBDD356CAB}"/>
              </c:ext>
            </c:extLst>
          </c:dPt>
          <c:dPt>
            <c:idx val="10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F7-923D-F143-AF39-FDFBDD356CAB}"/>
              </c:ext>
            </c:extLst>
          </c:dPt>
          <c:dPt>
            <c:idx val="10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F9-923D-F143-AF39-FDFBDD356CAB}"/>
              </c:ext>
            </c:extLst>
          </c:dPt>
          <c:dPt>
            <c:idx val="10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FB-923D-F143-AF39-FDFBDD356CAB}"/>
              </c:ext>
            </c:extLst>
          </c:dPt>
          <c:dPt>
            <c:idx val="10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FD-923D-F143-AF39-FDFBDD356CAB}"/>
              </c:ext>
            </c:extLst>
          </c:dPt>
          <c:dPt>
            <c:idx val="11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3FF-923D-F143-AF39-FDFBDD356CAB}"/>
              </c:ext>
            </c:extLst>
          </c:dPt>
          <c:dPt>
            <c:idx val="11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01-923D-F143-AF39-FDFBDD356CAB}"/>
              </c:ext>
            </c:extLst>
          </c:dPt>
          <c:dPt>
            <c:idx val="11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03-923D-F143-AF39-FDFBDD356CAB}"/>
              </c:ext>
            </c:extLst>
          </c:dPt>
          <c:dPt>
            <c:idx val="11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05-923D-F143-AF39-FDFBDD356CAB}"/>
              </c:ext>
            </c:extLst>
          </c:dPt>
          <c:dPt>
            <c:idx val="11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07-923D-F143-AF39-FDFBDD356CAB}"/>
              </c:ext>
            </c:extLst>
          </c:dPt>
          <c:dPt>
            <c:idx val="11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09-923D-F143-AF39-FDFBDD356CAB}"/>
              </c:ext>
            </c:extLst>
          </c:dPt>
          <c:dPt>
            <c:idx val="11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0B-923D-F143-AF39-FDFBDD356CAB}"/>
              </c:ext>
            </c:extLst>
          </c:dPt>
          <c:dPt>
            <c:idx val="11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0D-923D-F143-AF39-FDFBDD356CAB}"/>
              </c:ext>
            </c:extLst>
          </c:dPt>
          <c:dPt>
            <c:idx val="11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0F-923D-F143-AF39-FDFBDD356CAB}"/>
              </c:ext>
            </c:extLst>
          </c:dPt>
          <c:dPt>
            <c:idx val="11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11-923D-F143-AF39-FDFBDD356CAB}"/>
              </c:ext>
            </c:extLst>
          </c:dPt>
          <c:dPt>
            <c:idx val="12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13-923D-F143-AF39-FDFBDD356CAB}"/>
              </c:ext>
            </c:extLst>
          </c:dPt>
          <c:dPt>
            <c:idx val="12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15-923D-F143-AF39-FDFBDD356CAB}"/>
              </c:ext>
            </c:extLst>
          </c:dPt>
          <c:dPt>
            <c:idx val="12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17-923D-F143-AF39-FDFBDD356CAB}"/>
              </c:ext>
            </c:extLst>
          </c:dPt>
          <c:dPt>
            <c:idx val="12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19-923D-F143-AF39-FDFBDD356CAB}"/>
              </c:ext>
            </c:extLst>
          </c:dPt>
          <c:dPt>
            <c:idx val="12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1B-923D-F143-AF39-FDFBDD356CAB}"/>
              </c:ext>
            </c:extLst>
          </c:dPt>
          <c:dPt>
            <c:idx val="12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1D-923D-F143-AF39-FDFBDD356CAB}"/>
              </c:ext>
            </c:extLst>
          </c:dPt>
          <c:dPt>
            <c:idx val="12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1F-923D-F143-AF39-FDFBDD356CAB}"/>
              </c:ext>
            </c:extLst>
          </c:dPt>
          <c:dPt>
            <c:idx val="12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21-923D-F143-AF39-FDFBDD356CAB}"/>
              </c:ext>
            </c:extLst>
          </c:dPt>
          <c:dPt>
            <c:idx val="12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23-923D-F143-AF39-FDFBDD356CAB}"/>
              </c:ext>
            </c:extLst>
          </c:dPt>
          <c:dPt>
            <c:idx val="12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25-923D-F143-AF39-FDFBDD356CAB}"/>
              </c:ext>
            </c:extLst>
          </c:dPt>
          <c:dPt>
            <c:idx val="13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27-923D-F143-AF39-FDFBDD356CAB}"/>
              </c:ext>
            </c:extLst>
          </c:dPt>
          <c:dPt>
            <c:idx val="13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29-923D-F143-AF39-FDFBDD356CAB}"/>
              </c:ext>
            </c:extLst>
          </c:dPt>
          <c:dPt>
            <c:idx val="13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2B-923D-F143-AF39-FDFBDD356CAB}"/>
              </c:ext>
            </c:extLst>
          </c:dPt>
          <c:dPt>
            <c:idx val="13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2D-923D-F143-AF39-FDFBDD356CAB}"/>
              </c:ext>
            </c:extLst>
          </c:dPt>
          <c:dPt>
            <c:idx val="13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2F-923D-F143-AF39-FDFBDD356CAB}"/>
              </c:ext>
            </c:extLst>
          </c:dPt>
          <c:dPt>
            <c:idx val="13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31-923D-F143-AF39-FDFBDD356CAB}"/>
              </c:ext>
            </c:extLst>
          </c:dPt>
          <c:dPt>
            <c:idx val="13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33-923D-F143-AF39-FDFBDD356CAB}"/>
              </c:ext>
            </c:extLst>
          </c:dPt>
          <c:dPt>
            <c:idx val="13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35-923D-F143-AF39-FDFBDD356CAB}"/>
              </c:ext>
            </c:extLst>
          </c:dPt>
          <c:dPt>
            <c:idx val="13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37-923D-F143-AF39-FDFBDD356CAB}"/>
              </c:ext>
            </c:extLst>
          </c:dPt>
          <c:dPt>
            <c:idx val="13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39-923D-F143-AF39-FDFBDD356CAB}"/>
              </c:ext>
            </c:extLst>
          </c:dPt>
          <c:dPt>
            <c:idx val="14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3B-923D-F143-AF39-FDFBDD356CAB}"/>
              </c:ext>
            </c:extLst>
          </c:dPt>
          <c:dPt>
            <c:idx val="14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3D-923D-F143-AF39-FDFBDD356CAB}"/>
              </c:ext>
            </c:extLst>
          </c:dPt>
          <c:dPt>
            <c:idx val="14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3F-923D-F143-AF39-FDFBDD356CAB}"/>
              </c:ext>
            </c:extLst>
          </c:dPt>
          <c:dPt>
            <c:idx val="14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41-923D-F143-AF39-FDFBDD356CAB}"/>
              </c:ext>
            </c:extLst>
          </c:dPt>
          <c:dPt>
            <c:idx val="14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43-923D-F143-AF39-FDFBDD356CAB}"/>
              </c:ext>
            </c:extLst>
          </c:dPt>
          <c:dPt>
            <c:idx val="14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45-923D-F143-AF39-FDFBDD356CAB}"/>
              </c:ext>
            </c:extLst>
          </c:dPt>
          <c:dPt>
            <c:idx val="14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47-923D-F143-AF39-FDFBDD356CAB}"/>
              </c:ext>
            </c:extLst>
          </c:dPt>
          <c:dPt>
            <c:idx val="14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49-923D-F143-AF39-FDFBDD356CAB}"/>
              </c:ext>
            </c:extLst>
          </c:dPt>
          <c:dPt>
            <c:idx val="14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4B-923D-F143-AF39-FDFBDD356CAB}"/>
              </c:ext>
            </c:extLst>
          </c:dPt>
          <c:dPt>
            <c:idx val="14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4D-923D-F143-AF39-FDFBDD356CAB}"/>
              </c:ext>
            </c:extLst>
          </c:dPt>
          <c:dPt>
            <c:idx val="15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4F-923D-F143-AF39-FDFBDD356CAB}"/>
              </c:ext>
            </c:extLst>
          </c:dPt>
          <c:dPt>
            <c:idx val="15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51-923D-F143-AF39-FDFBDD356CAB}"/>
              </c:ext>
            </c:extLst>
          </c:dPt>
          <c:dPt>
            <c:idx val="15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53-923D-F143-AF39-FDFBDD356CAB}"/>
              </c:ext>
            </c:extLst>
          </c:dPt>
          <c:dPt>
            <c:idx val="15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55-923D-F143-AF39-FDFBDD356CAB}"/>
              </c:ext>
            </c:extLst>
          </c:dPt>
          <c:dPt>
            <c:idx val="15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57-923D-F143-AF39-FDFBDD356CAB}"/>
              </c:ext>
            </c:extLst>
          </c:dPt>
          <c:dPt>
            <c:idx val="15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59-923D-F143-AF39-FDFBDD356CAB}"/>
              </c:ext>
            </c:extLst>
          </c:dPt>
          <c:dPt>
            <c:idx val="15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5B-923D-F143-AF39-FDFBDD356CAB}"/>
              </c:ext>
            </c:extLst>
          </c:dPt>
          <c:dPt>
            <c:idx val="15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5D-923D-F143-AF39-FDFBDD356CAB}"/>
              </c:ext>
            </c:extLst>
          </c:dPt>
          <c:dPt>
            <c:idx val="15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5F-923D-F143-AF39-FDFBDD356CAB}"/>
              </c:ext>
            </c:extLst>
          </c:dPt>
          <c:dPt>
            <c:idx val="15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61-923D-F143-AF39-FDFBDD356CAB}"/>
              </c:ext>
            </c:extLst>
          </c:dPt>
          <c:dPt>
            <c:idx val="16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63-923D-F143-AF39-FDFBDD356CAB}"/>
              </c:ext>
            </c:extLst>
          </c:dPt>
          <c:dPt>
            <c:idx val="16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65-923D-F143-AF39-FDFBDD356CAB}"/>
              </c:ext>
            </c:extLst>
          </c:dPt>
          <c:dPt>
            <c:idx val="16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67-923D-F143-AF39-FDFBDD356CAB}"/>
              </c:ext>
            </c:extLst>
          </c:dPt>
          <c:dPt>
            <c:idx val="16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69-923D-F143-AF39-FDFBDD356CAB}"/>
              </c:ext>
            </c:extLst>
          </c:dPt>
          <c:dPt>
            <c:idx val="16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6B-923D-F143-AF39-FDFBDD356CAB}"/>
              </c:ext>
            </c:extLst>
          </c:dPt>
          <c:dPt>
            <c:idx val="16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6D-923D-F143-AF39-FDFBDD356CAB}"/>
              </c:ext>
            </c:extLst>
          </c:dPt>
          <c:dPt>
            <c:idx val="16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6F-923D-F143-AF39-FDFBDD356CAB}"/>
              </c:ext>
            </c:extLst>
          </c:dPt>
          <c:dPt>
            <c:idx val="16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71-923D-F143-AF39-FDFBDD356CAB}"/>
              </c:ext>
            </c:extLst>
          </c:dPt>
          <c:dPt>
            <c:idx val="16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73-923D-F143-AF39-FDFBDD356CAB}"/>
              </c:ext>
            </c:extLst>
          </c:dPt>
          <c:dPt>
            <c:idx val="16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75-923D-F143-AF39-FDFBDD356CAB}"/>
              </c:ext>
            </c:extLst>
          </c:dPt>
          <c:dPt>
            <c:idx val="17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77-923D-F143-AF39-FDFBDD356CAB}"/>
              </c:ext>
            </c:extLst>
          </c:dPt>
          <c:dPt>
            <c:idx val="17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79-923D-F143-AF39-FDFBDD356CAB}"/>
              </c:ext>
            </c:extLst>
          </c:dPt>
          <c:dPt>
            <c:idx val="17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7B-923D-F143-AF39-FDFBDD356CAB}"/>
              </c:ext>
            </c:extLst>
          </c:dPt>
          <c:dPt>
            <c:idx val="17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7D-923D-F143-AF39-FDFBDD356CAB}"/>
              </c:ext>
            </c:extLst>
          </c:dPt>
          <c:dPt>
            <c:idx val="17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7F-923D-F143-AF39-FDFBDD356CAB}"/>
              </c:ext>
            </c:extLst>
          </c:dPt>
          <c:dPt>
            <c:idx val="17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81-923D-F143-AF39-FDFBDD356CAB}"/>
              </c:ext>
            </c:extLst>
          </c:dPt>
          <c:dPt>
            <c:idx val="17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83-923D-F143-AF39-FDFBDD356CAB}"/>
              </c:ext>
            </c:extLst>
          </c:dPt>
          <c:dPt>
            <c:idx val="17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85-923D-F143-AF39-FDFBDD356CAB}"/>
              </c:ext>
            </c:extLst>
          </c:dPt>
          <c:dPt>
            <c:idx val="17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87-923D-F143-AF39-FDFBDD356CAB}"/>
              </c:ext>
            </c:extLst>
          </c:dPt>
          <c:dPt>
            <c:idx val="17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89-923D-F143-AF39-FDFBDD356CAB}"/>
              </c:ext>
            </c:extLst>
          </c:dPt>
          <c:dPt>
            <c:idx val="18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8B-923D-F143-AF39-FDFBDD356CAB}"/>
              </c:ext>
            </c:extLst>
          </c:dPt>
          <c:dPt>
            <c:idx val="18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8D-923D-F143-AF39-FDFBDD356CAB}"/>
              </c:ext>
            </c:extLst>
          </c:dPt>
          <c:dPt>
            <c:idx val="18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8F-923D-F143-AF39-FDFBDD356CAB}"/>
              </c:ext>
            </c:extLst>
          </c:dPt>
          <c:dPt>
            <c:idx val="18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91-923D-F143-AF39-FDFBDD356CAB}"/>
              </c:ext>
            </c:extLst>
          </c:dPt>
          <c:dPt>
            <c:idx val="18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93-923D-F143-AF39-FDFBDD356CAB}"/>
              </c:ext>
            </c:extLst>
          </c:dPt>
          <c:dPt>
            <c:idx val="18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95-923D-F143-AF39-FDFBDD356CAB}"/>
              </c:ext>
            </c:extLst>
          </c:dPt>
          <c:dPt>
            <c:idx val="18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97-923D-F143-AF39-FDFBDD356CAB}"/>
              </c:ext>
            </c:extLst>
          </c:dPt>
          <c:dPt>
            <c:idx val="18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99-923D-F143-AF39-FDFBDD356CAB}"/>
              </c:ext>
            </c:extLst>
          </c:dPt>
          <c:dPt>
            <c:idx val="18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9B-923D-F143-AF39-FDFBDD356CAB}"/>
              </c:ext>
            </c:extLst>
          </c:dPt>
          <c:dPt>
            <c:idx val="18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9D-923D-F143-AF39-FDFBDD356CAB}"/>
              </c:ext>
            </c:extLst>
          </c:dPt>
          <c:dPt>
            <c:idx val="19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9F-923D-F143-AF39-FDFBDD356CAB}"/>
              </c:ext>
            </c:extLst>
          </c:dPt>
          <c:dPt>
            <c:idx val="19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A1-923D-F143-AF39-FDFBDD356CAB}"/>
              </c:ext>
            </c:extLst>
          </c:dPt>
          <c:dPt>
            <c:idx val="19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A3-923D-F143-AF39-FDFBDD356CAB}"/>
              </c:ext>
            </c:extLst>
          </c:dPt>
          <c:dPt>
            <c:idx val="19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A5-923D-F143-AF39-FDFBDD356CAB}"/>
              </c:ext>
            </c:extLst>
          </c:dPt>
          <c:dPt>
            <c:idx val="19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A7-923D-F143-AF39-FDFBDD356CAB}"/>
              </c:ext>
            </c:extLst>
          </c:dPt>
          <c:dPt>
            <c:idx val="19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A9-923D-F143-AF39-FDFBDD356CAB}"/>
              </c:ext>
            </c:extLst>
          </c:dPt>
          <c:dPt>
            <c:idx val="19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AB-923D-F143-AF39-FDFBDD356CAB}"/>
              </c:ext>
            </c:extLst>
          </c:dPt>
          <c:dPt>
            <c:idx val="19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AD-923D-F143-AF39-FDFBDD356CAB}"/>
              </c:ext>
            </c:extLst>
          </c:dPt>
          <c:dPt>
            <c:idx val="19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AF-923D-F143-AF39-FDFBDD356CAB}"/>
              </c:ext>
            </c:extLst>
          </c:dPt>
          <c:dPt>
            <c:idx val="19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B1-923D-F143-AF39-FDFBDD356CAB}"/>
              </c:ext>
            </c:extLst>
          </c:dPt>
          <c:cat>
            <c:strRef>
              <c:f>Sheet1!$A$2:$A$201</c:f>
              <c:strCache>
                <c:ptCount val="200"/>
              </c:strCache>
            </c:strRef>
          </c:cat>
          <c:val>
            <c:numRef>
              <c:f>Sheet1!$D$2:$D$201</c:f>
              <c:numCache>
                <c:formatCode>0%</c:formatCode>
                <c:ptCount val="200"/>
                <c:pt idx="0">
                  <c:v>192088</c:v>
                </c:pt>
                <c:pt idx="1">
                  <c:v>192088</c:v>
                </c:pt>
                <c:pt idx="2">
                  <c:v>192088</c:v>
                </c:pt>
                <c:pt idx="3">
                  <c:v>192088</c:v>
                </c:pt>
                <c:pt idx="4">
                  <c:v>192088</c:v>
                </c:pt>
                <c:pt idx="5">
                  <c:v>192088</c:v>
                </c:pt>
                <c:pt idx="6">
                  <c:v>192088</c:v>
                </c:pt>
                <c:pt idx="7">
                  <c:v>192088</c:v>
                </c:pt>
                <c:pt idx="8">
                  <c:v>192088</c:v>
                </c:pt>
                <c:pt idx="9">
                  <c:v>192088</c:v>
                </c:pt>
                <c:pt idx="10">
                  <c:v>192088</c:v>
                </c:pt>
                <c:pt idx="11">
                  <c:v>192088</c:v>
                </c:pt>
                <c:pt idx="12">
                  <c:v>192088</c:v>
                </c:pt>
                <c:pt idx="13">
                  <c:v>192088</c:v>
                </c:pt>
                <c:pt idx="14">
                  <c:v>192088</c:v>
                </c:pt>
                <c:pt idx="15">
                  <c:v>192088</c:v>
                </c:pt>
                <c:pt idx="16">
                  <c:v>192088</c:v>
                </c:pt>
                <c:pt idx="17">
                  <c:v>192088</c:v>
                </c:pt>
                <c:pt idx="18">
                  <c:v>192088</c:v>
                </c:pt>
                <c:pt idx="19">
                  <c:v>192088</c:v>
                </c:pt>
                <c:pt idx="20">
                  <c:v>192088</c:v>
                </c:pt>
                <c:pt idx="21">
                  <c:v>192088</c:v>
                </c:pt>
                <c:pt idx="22">
                  <c:v>192088</c:v>
                </c:pt>
                <c:pt idx="23">
                  <c:v>192088</c:v>
                </c:pt>
                <c:pt idx="24">
                  <c:v>192088</c:v>
                </c:pt>
                <c:pt idx="25">
                  <c:v>192088</c:v>
                </c:pt>
                <c:pt idx="26">
                  <c:v>192088</c:v>
                </c:pt>
                <c:pt idx="27">
                  <c:v>192088</c:v>
                </c:pt>
                <c:pt idx="28">
                  <c:v>192088</c:v>
                </c:pt>
                <c:pt idx="29">
                  <c:v>192088</c:v>
                </c:pt>
                <c:pt idx="30">
                  <c:v>192088</c:v>
                </c:pt>
                <c:pt idx="31">
                  <c:v>192088</c:v>
                </c:pt>
                <c:pt idx="32">
                  <c:v>192088</c:v>
                </c:pt>
                <c:pt idx="33">
                  <c:v>192088</c:v>
                </c:pt>
                <c:pt idx="34">
                  <c:v>192088</c:v>
                </c:pt>
                <c:pt idx="35">
                  <c:v>192088</c:v>
                </c:pt>
                <c:pt idx="36">
                  <c:v>192088</c:v>
                </c:pt>
                <c:pt idx="37">
                  <c:v>192088</c:v>
                </c:pt>
                <c:pt idx="38">
                  <c:v>192088</c:v>
                </c:pt>
                <c:pt idx="39">
                  <c:v>192088</c:v>
                </c:pt>
                <c:pt idx="40">
                  <c:v>192088</c:v>
                </c:pt>
                <c:pt idx="41">
                  <c:v>192088</c:v>
                </c:pt>
                <c:pt idx="42">
                  <c:v>192088</c:v>
                </c:pt>
                <c:pt idx="43">
                  <c:v>192088</c:v>
                </c:pt>
                <c:pt idx="44">
                  <c:v>192088</c:v>
                </c:pt>
                <c:pt idx="45">
                  <c:v>192088</c:v>
                </c:pt>
                <c:pt idx="46">
                  <c:v>192088</c:v>
                </c:pt>
                <c:pt idx="47">
                  <c:v>192088</c:v>
                </c:pt>
                <c:pt idx="48">
                  <c:v>192088</c:v>
                </c:pt>
                <c:pt idx="49">
                  <c:v>192088</c:v>
                </c:pt>
                <c:pt idx="50">
                  <c:v>46038</c:v>
                </c:pt>
                <c:pt idx="51">
                  <c:v>46038</c:v>
                </c:pt>
                <c:pt idx="52">
                  <c:v>46038</c:v>
                </c:pt>
                <c:pt idx="53">
                  <c:v>46038</c:v>
                </c:pt>
                <c:pt idx="54">
                  <c:v>46038</c:v>
                </c:pt>
                <c:pt idx="55">
                  <c:v>46038</c:v>
                </c:pt>
                <c:pt idx="56">
                  <c:v>46038</c:v>
                </c:pt>
                <c:pt idx="57">
                  <c:v>46038</c:v>
                </c:pt>
                <c:pt idx="58">
                  <c:v>46038</c:v>
                </c:pt>
                <c:pt idx="59">
                  <c:v>46038</c:v>
                </c:pt>
                <c:pt idx="60">
                  <c:v>46038</c:v>
                </c:pt>
                <c:pt idx="61">
                  <c:v>46038</c:v>
                </c:pt>
                <c:pt idx="62">
                  <c:v>46038</c:v>
                </c:pt>
                <c:pt idx="63">
                  <c:v>46038</c:v>
                </c:pt>
                <c:pt idx="64">
                  <c:v>46038</c:v>
                </c:pt>
                <c:pt idx="65">
                  <c:v>46038</c:v>
                </c:pt>
                <c:pt idx="66">
                  <c:v>46038</c:v>
                </c:pt>
                <c:pt idx="67">
                  <c:v>46038</c:v>
                </c:pt>
                <c:pt idx="68">
                  <c:v>46038</c:v>
                </c:pt>
                <c:pt idx="69">
                  <c:v>46038</c:v>
                </c:pt>
                <c:pt idx="70">
                  <c:v>46038</c:v>
                </c:pt>
                <c:pt idx="71">
                  <c:v>46038</c:v>
                </c:pt>
                <c:pt idx="72">
                  <c:v>46038</c:v>
                </c:pt>
                <c:pt idx="73">
                  <c:v>46038</c:v>
                </c:pt>
                <c:pt idx="74">
                  <c:v>46038</c:v>
                </c:pt>
                <c:pt idx="75">
                  <c:v>46038</c:v>
                </c:pt>
                <c:pt idx="76">
                  <c:v>46038</c:v>
                </c:pt>
                <c:pt idx="77">
                  <c:v>46038</c:v>
                </c:pt>
                <c:pt idx="78">
                  <c:v>46038</c:v>
                </c:pt>
                <c:pt idx="79">
                  <c:v>46038</c:v>
                </c:pt>
                <c:pt idx="80">
                  <c:v>46038</c:v>
                </c:pt>
                <c:pt idx="81">
                  <c:v>46038</c:v>
                </c:pt>
                <c:pt idx="82">
                  <c:v>319088</c:v>
                </c:pt>
                <c:pt idx="83">
                  <c:v>319088</c:v>
                </c:pt>
                <c:pt idx="84">
                  <c:v>319088</c:v>
                </c:pt>
                <c:pt idx="85">
                  <c:v>319088</c:v>
                </c:pt>
                <c:pt idx="86">
                  <c:v>319088</c:v>
                </c:pt>
                <c:pt idx="87">
                  <c:v>319088</c:v>
                </c:pt>
                <c:pt idx="88">
                  <c:v>319088</c:v>
                </c:pt>
                <c:pt idx="89">
                  <c:v>319088</c:v>
                </c:pt>
                <c:pt idx="90">
                  <c:v>319088</c:v>
                </c:pt>
                <c:pt idx="91">
                  <c:v>319088</c:v>
                </c:pt>
                <c:pt idx="92">
                  <c:v>319088</c:v>
                </c:pt>
                <c:pt idx="93">
                  <c:v>319088</c:v>
                </c:pt>
                <c:pt idx="94">
                  <c:v>319088</c:v>
                </c:pt>
                <c:pt idx="95">
                  <c:v>319088</c:v>
                </c:pt>
                <c:pt idx="96">
                  <c:v>319088</c:v>
                </c:pt>
                <c:pt idx="97">
                  <c:v>319088</c:v>
                </c:pt>
                <c:pt idx="98">
                  <c:v>319088</c:v>
                </c:pt>
                <c:pt idx="99">
                  <c:v>319088</c:v>
                </c:pt>
                <c:pt idx="100">
                  <c:v>319088</c:v>
                </c:pt>
                <c:pt idx="101">
                  <c:v>319088</c:v>
                </c:pt>
                <c:pt idx="102">
                  <c:v>319088</c:v>
                </c:pt>
                <c:pt idx="103">
                  <c:v>319088</c:v>
                </c:pt>
                <c:pt idx="104">
                  <c:v>319088</c:v>
                </c:pt>
                <c:pt idx="105">
                  <c:v>319088</c:v>
                </c:pt>
                <c:pt idx="106">
                  <c:v>319088</c:v>
                </c:pt>
                <c:pt idx="107">
                  <c:v>319088</c:v>
                </c:pt>
                <c:pt idx="108">
                  <c:v>319088</c:v>
                </c:pt>
                <c:pt idx="109">
                  <c:v>319088</c:v>
                </c:pt>
                <c:pt idx="110">
                  <c:v>319088</c:v>
                </c:pt>
                <c:pt idx="111">
                  <c:v>319088</c:v>
                </c:pt>
                <c:pt idx="112">
                  <c:v>319088</c:v>
                </c:pt>
                <c:pt idx="113">
                  <c:v>319088</c:v>
                </c:pt>
                <c:pt idx="114">
                  <c:v>319088</c:v>
                </c:pt>
                <c:pt idx="115">
                  <c:v>319088</c:v>
                </c:pt>
                <c:pt idx="116">
                  <c:v>319088</c:v>
                </c:pt>
                <c:pt idx="117">
                  <c:v>319088</c:v>
                </c:pt>
                <c:pt idx="118">
                  <c:v>319088</c:v>
                </c:pt>
                <c:pt idx="119">
                  <c:v>319088</c:v>
                </c:pt>
                <c:pt idx="120">
                  <c:v>319088</c:v>
                </c:pt>
                <c:pt idx="121">
                  <c:v>319088</c:v>
                </c:pt>
                <c:pt idx="122">
                  <c:v>319088</c:v>
                </c:pt>
                <c:pt idx="123">
                  <c:v>319088</c:v>
                </c:pt>
                <c:pt idx="124">
                  <c:v>319088</c:v>
                </c:pt>
                <c:pt idx="125">
                  <c:v>319088</c:v>
                </c:pt>
                <c:pt idx="126">
                  <c:v>319088</c:v>
                </c:pt>
                <c:pt idx="127">
                  <c:v>319088</c:v>
                </c:pt>
                <c:pt idx="128">
                  <c:v>319088</c:v>
                </c:pt>
                <c:pt idx="129">
                  <c:v>188913</c:v>
                </c:pt>
                <c:pt idx="130">
                  <c:v>188913</c:v>
                </c:pt>
                <c:pt idx="131">
                  <c:v>188913</c:v>
                </c:pt>
                <c:pt idx="132">
                  <c:v>188913</c:v>
                </c:pt>
                <c:pt idx="133">
                  <c:v>188913</c:v>
                </c:pt>
                <c:pt idx="134">
                  <c:v>188913</c:v>
                </c:pt>
                <c:pt idx="135">
                  <c:v>188913</c:v>
                </c:pt>
                <c:pt idx="136">
                  <c:v>188913</c:v>
                </c:pt>
                <c:pt idx="137">
                  <c:v>188913</c:v>
                </c:pt>
                <c:pt idx="138">
                  <c:v>188913</c:v>
                </c:pt>
                <c:pt idx="139">
                  <c:v>188913</c:v>
                </c:pt>
                <c:pt idx="140">
                  <c:v>188913</c:v>
                </c:pt>
                <c:pt idx="141">
                  <c:v>188913</c:v>
                </c:pt>
                <c:pt idx="142">
                  <c:v>188913</c:v>
                </c:pt>
                <c:pt idx="143">
                  <c:v>188913</c:v>
                </c:pt>
                <c:pt idx="144">
                  <c:v>188913</c:v>
                </c:pt>
                <c:pt idx="145">
                  <c:v>188913</c:v>
                </c:pt>
                <c:pt idx="146">
                  <c:v>160338</c:v>
                </c:pt>
                <c:pt idx="147">
                  <c:v>160338</c:v>
                </c:pt>
                <c:pt idx="148">
                  <c:v>160338</c:v>
                </c:pt>
                <c:pt idx="149">
                  <c:v>160338</c:v>
                </c:pt>
                <c:pt idx="150">
                  <c:v>160338</c:v>
                </c:pt>
                <c:pt idx="151">
                  <c:v>160338</c:v>
                </c:pt>
                <c:pt idx="152">
                  <c:v>160338</c:v>
                </c:pt>
                <c:pt idx="153">
                  <c:v>160338</c:v>
                </c:pt>
                <c:pt idx="154">
                  <c:v>160338</c:v>
                </c:pt>
                <c:pt idx="155">
                  <c:v>160338</c:v>
                </c:pt>
                <c:pt idx="156">
                  <c:v>160338</c:v>
                </c:pt>
                <c:pt idx="157">
                  <c:v>160338</c:v>
                </c:pt>
                <c:pt idx="158">
                  <c:v>160338</c:v>
                </c:pt>
                <c:pt idx="159">
                  <c:v>160338</c:v>
                </c:pt>
                <c:pt idx="160">
                  <c:v>160338</c:v>
                </c:pt>
                <c:pt idx="161">
                  <c:v>160338</c:v>
                </c:pt>
                <c:pt idx="162">
                  <c:v>160338</c:v>
                </c:pt>
                <c:pt idx="163">
                  <c:v>430213</c:v>
                </c:pt>
                <c:pt idx="164">
                  <c:v>430213</c:v>
                </c:pt>
                <c:pt idx="165">
                  <c:v>430213</c:v>
                </c:pt>
                <c:pt idx="166">
                  <c:v>430213</c:v>
                </c:pt>
                <c:pt idx="167">
                  <c:v>430213</c:v>
                </c:pt>
                <c:pt idx="168">
                  <c:v>430213</c:v>
                </c:pt>
                <c:pt idx="169">
                  <c:v>430213</c:v>
                </c:pt>
                <c:pt idx="170">
                  <c:v>430213</c:v>
                </c:pt>
                <c:pt idx="171">
                  <c:v>430213</c:v>
                </c:pt>
                <c:pt idx="172">
                  <c:v>430213</c:v>
                </c:pt>
                <c:pt idx="173">
                  <c:v>430213</c:v>
                </c:pt>
                <c:pt idx="174">
                  <c:v>430213</c:v>
                </c:pt>
                <c:pt idx="175">
                  <c:v>430213</c:v>
                </c:pt>
                <c:pt idx="176">
                  <c:v>430213</c:v>
                </c:pt>
                <c:pt idx="177">
                  <c:v>430213</c:v>
                </c:pt>
                <c:pt idx="178">
                  <c:v>430213</c:v>
                </c:pt>
                <c:pt idx="179">
                  <c:v>430213</c:v>
                </c:pt>
                <c:pt idx="180">
                  <c:v>430213</c:v>
                </c:pt>
                <c:pt idx="181">
                  <c:v>430213</c:v>
                </c:pt>
                <c:pt idx="182">
                  <c:v>430213</c:v>
                </c:pt>
                <c:pt idx="183">
                  <c:v>430213</c:v>
                </c:pt>
                <c:pt idx="184">
                  <c:v>430213</c:v>
                </c:pt>
                <c:pt idx="185">
                  <c:v>430213</c:v>
                </c:pt>
                <c:pt idx="186">
                  <c:v>430213</c:v>
                </c:pt>
                <c:pt idx="187">
                  <c:v>430213</c:v>
                </c:pt>
                <c:pt idx="188">
                  <c:v>430213</c:v>
                </c:pt>
                <c:pt idx="189">
                  <c:v>430213</c:v>
                </c:pt>
                <c:pt idx="190">
                  <c:v>430213</c:v>
                </c:pt>
                <c:pt idx="191">
                  <c:v>430213</c:v>
                </c:pt>
                <c:pt idx="192">
                  <c:v>430213</c:v>
                </c:pt>
                <c:pt idx="193">
                  <c:v>430213</c:v>
                </c:pt>
                <c:pt idx="194">
                  <c:v>430213</c:v>
                </c:pt>
                <c:pt idx="195">
                  <c:v>430213</c:v>
                </c:pt>
                <c:pt idx="196">
                  <c:v>430213</c:v>
                </c:pt>
                <c:pt idx="197">
                  <c:v>430213</c:v>
                </c:pt>
                <c:pt idx="198">
                  <c:v>430213</c:v>
                </c:pt>
                <c:pt idx="199">
                  <c:v>430213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4B2-923D-F143-AF39-FDFBDD356CA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Layer 4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B4-923D-F143-AF39-FDFBDD356CAB}"/>
              </c:ext>
            </c:extLst>
          </c:dPt>
          <c:dPt>
            <c:idx val="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B6-923D-F143-AF39-FDFBDD356CAB}"/>
              </c:ext>
            </c:extLst>
          </c:dPt>
          <c:dPt>
            <c:idx val="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B8-923D-F143-AF39-FDFBDD356CAB}"/>
              </c:ext>
            </c:extLst>
          </c:dPt>
          <c:dPt>
            <c:idx val="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BA-923D-F143-AF39-FDFBDD356CAB}"/>
              </c:ext>
            </c:extLst>
          </c:dPt>
          <c:dPt>
            <c:idx val="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BC-923D-F143-AF39-FDFBDD356CAB}"/>
              </c:ext>
            </c:extLst>
          </c:dPt>
          <c:dPt>
            <c:idx val="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BE-923D-F143-AF39-FDFBDD356CAB}"/>
              </c:ext>
            </c:extLst>
          </c:dPt>
          <c:dPt>
            <c:idx val="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C0-923D-F143-AF39-FDFBDD356CAB}"/>
              </c:ext>
            </c:extLst>
          </c:dPt>
          <c:dPt>
            <c:idx val="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C2-923D-F143-AF39-FDFBDD356CAB}"/>
              </c:ext>
            </c:extLst>
          </c:dPt>
          <c:dPt>
            <c:idx val="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C4-923D-F143-AF39-FDFBDD356CAB}"/>
              </c:ext>
            </c:extLst>
          </c:dPt>
          <c:dPt>
            <c:idx val="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C6-923D-F143-AF39-FDFBDD356CAB}"/>
              </c:ext>
            </c:extLst>
          </c:dPt>
          <c:dPt>
            <c:idx val="1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C8-923D-F143-AF39-FDFBDD356CAB}"/>
              </c:ext>
            </c:extLst>
          </c:dPt>
          <c:dPt>
            <c:idx val="1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CA-923D-F143-AF39-FDFBDD356CAB}"/>
              </c:ext>
            </c:extLst>
          </c:dPt>
          <c:dPt>
            <c:idx val="1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CC-923D-F143-AF39-FDFBDD356CAB}"/>
              </c:ext>
            </c:extLst>
          </c:dPt>
          <c:dPt>
            <c:idx val="1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CE-923D-F143-AF39-FDFBDD356CAB}"/>
              </c:ext>
            </c:extLst>
          </c:dPt>
          <c:dPt>
            <c:idx val="1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D0-923D-F143-AF39-FDFBDD356CAB}"/>
              </c:ext>
            </c:extLst>
          </c:dPt>
          <c:dPt>
            <c:idx val="1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D2-923D-F143-AF39-FDFBDD356CAB}"/>
              </c:ext>
            </c:extLst>
          </c:dPt>
          <c:dPt>
            <c:idx val="1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D4-923D-F143-AF39-FDFBDD356CAB}"/>
              </c:ext>
            </c:extLst>
          </c:dPt>
          <c:dPt>
            <c:idx val="1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D6-923D-F143-AF39-FDFBDD356CAB}"/>
              </c:ext>
            </c:extLst>
          </c:dPt>
          <c:dPt>
            <c:idx val="1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D8-923D-F143-AF39-FDFBDD356CAB}"/>
              </c:ext>
            </c:extLst>
          </c:dPt>
          <c:dPt>
            <c:idx val="1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DA-923D-F143-AF39-FDFBDD356CAB}"/>
              </c:ext>
            </c:extLst>
          </c:dPt>
          <c:dPt>
            <c:idx val="2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DC-923D-F143-AF39-FDFBDD356CAB}"/>
              </c:ext>
            </c:extLst>
          </c:dPt>
          <c:dPt>
            <c:idx val="2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DE-923D-F143-AF39-FDFBDD356CAB}"/>
              </c:ext>
            </c:extLst>
          </c:dPt>
          <c:dPt>
            <c:idx val="2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E0-923D-F143-AF39-FDFBDD356CAB}"/>
              </c:ext>
            </c:extLst>
          </c:dPt>
          <c:dPt>
            <c:idx val="2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E2-923D-F143-AF39-FDFBDD356CAB}"/>
              </c:ext>
            </c:extLst>
          </c:dPt>
          <c:dPt>
            <c:idx val="2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E4-923D-F143-AF39-FDFBDD356CAB}"/>
              </c:ext>
            </c:extLst>
          </c:dPt>
          <c:dPt>
            <c:idx val="2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E6-923D-F143-AF39-FDFBDD356CAB}"/>
              </c:ext>
            </c:extLst>
          </c:dPt>
          <c:dPt>
            <c:idx val="2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E8-923D-F143-AF39-FDFBDD356CAB}"/>
              </c:ext>
            </c:extLst>
          </c:dPt>
          <c:dPt>
            <c:idx val="2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EA-923D-F143-AF39-FDFBDD356CAB}"/>
              </c:ext>
            </c:extLst>
          </c:dPt>
          <c:dPt>
            <c:idx val="2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EC-923D-F143-AF39-FDFBDD356CAB}"/>
              </c:ext>
            </c:extLst>
          </c:dPt>
          <c:dPt>
            <c:idx val="2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EE-923D-F143-AF39-FDFBDD356CAB}"/>
              </c:ext>
            </c:extLst>
          </c:dPt>
          <c:dPt>
            <c:idx val="3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F0-923D-F143-AF39-FDFBDD356CAB}"/>
              </c:ext>
            </c:extLst>
          </c:dPt>
          <c:dPt>
            <c:idx val="3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F2-923D-F143-AF39-FDFBDD356CAB}"/>
              </c:ext>
            </c:extLst>
          </c:dPt>
          <c:dPt>
            <c:idx val="3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F4-923D-F143-AF39-FDFBDD356CAB}"/>
              </c:ext>
            </c:extLst>
          </c:dPt>
          <c:dPt>
            <c:idx val="3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F6-923D-F143-AF39-FDFBDD356CAB}"/>
              </c:ext>
            </c:extLst>
          </c:dPt>
          <c:dPt>
            <c:idx val="3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F8-923D-F143-AF39-FDFBDD356CAB}"/>
              </c:ext>
            </c:extLst>
          </c:dPt>
          <c:dPt>
            <c:idx val="3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FA-923D-F143-AF39-FDFBDD356CAB}"/>
              </c:ext>
            </c:extLst>
          </c:dPt>
          <c:dPt>
            <c:idx val="3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FC-923D-F143-AF39-FDFBDD356CAB}"/>
              </c:ext>
            </c:extLst>
          </c:dPt>
          <c:dPt>
            <c:idx val="3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4FE-923D-F143-AF39-FDFBDD356CAB}"/>
              </c:ext>
            </c:extLst>
          </c:dPt>
          <c:dPt>
            <c:idx val="3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00-923D-F143-AF39-FDFBDD356CAB}"/>
              </c:ext>
            </c:extLst>
          </c:dPt>
          <c:dPt>
            <c:idx val="3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02-923D-F143-AF39-FDFBDD356CAB}"/>
              </c:ext>
            </c:extLst>
          </c:dPt>
          <c:dPt>
            <c:idx val="4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04-923D-F143-AF39-FDFBDD356CAB}"/>
              </c:ext>
            </c:extLst>
          </c:dPt>
          <c:dPt>
            <c:idx val="4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06-923D-F143-AF39-FDFBDD356CAB}"/>
              </c:ext>
            </c:extLst>
          </c:dPt>
          <c:dPt>
            <c:idx val="4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08-923D-F143-AF39-FDFBDD356CAB}"/>
              </c:ext>
            </c:extLst>
          </c:dPt>
          <c:dPt>
            <c:idx val="4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0A-923D-F143-AF39-FDFBDD356CAB}"/>
              </c:ext>
            </c:extLst>
          </c:dPt>
          <c:dPt>
            <c:idx val="4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0C-923D-F143-AF39-FDFBDD356CAB}"/>
              </c:ext>
            </c:extLst>
          </c:dPt>
          <c:dPt>
            <c:idx val="4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0E-923D-F143-AF39-FDFBDD356CAB}"/>
              </c:ext>
            </c:extLst>
          </c:dPt>
          <c:dPt>
            <c:idx val="4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10-923D-F143-AF39-FDFBDD356CAB}"/>
              </c:ext>
            </c:extLst>
          </c:dPt>
          <c:dPt>
            <c:idx val="4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12-923D-F143-AF39-FDFBDD356CAB}"/>
              </c:ext>
            </c:extLst>
          </c:dPt>
          <c:dPt>
            <c:idx val="4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14-923D-F143-AF39-FDFBDD356CAB}"/>
              </c:ext>
            </c:extLst>
          </c:dPt>
          <c:dPt>
            <c:idx val="4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16-923D-F143-AF39-FDFBDD356CAB}"/>
              </c:ext>
            </c:extLst>
          </c:dPt>
          <c:dPt>
            <c:idx val="5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18-923D-F143-AF39-FDFBDD356CAB}"/>
              </c:ext>
            </c:extLst>
          </c:dPt>
          <c:dPt>
            <c:idx val="5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1A-923D-F143-AF39-FDFBDD356CAB}"/>
              </c:ext>
            </c:extLst>
          </c:dPt>
          <c:dPt>
            <c:idx val="5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1C-923D-F143-AF39-FDFBDD356CAB}"/>
              </c:ext>
            </c:extLst>
          </c:dPt>
          <c:dPt>
            <c:idx val="5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1E-923D-F143-AF39-FDFBDD356CAB}"/>
              </c:ext>
            </c:extLst>
          </c:dPt>
          <c:dPt>
            <c:idx val="5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20-923D-F143-AF39-FDFBDD356CAB}"/>
              </c:ext>
            </c:extLst>
          </c:dPt>
          <c:dPt>
            <c:idx val="5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22-923D-F143-AF39-FDFBDD356CAB}"/>
              </c:ext>
            </c:extLst>
          </c:dPt>
          <c:dPt>
            <c:idx val="5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24-923D-F143-AF39-FDFBDD356CAB}"/>
              </c:ext>
            </c:extLst>
          </c:dPt>
          <c:dPt>
            <c:idx val="5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26-923D-F143-AF39-FDFBDD356CAB}"/>
              </c:ext>
            </c:extLst>
          </c:dPt>
          <c:dPt>
            <c:idx val="5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28-923D-F143-AF39-FDFBDD356CAB}"/>
              </c:ext>
            </c:extLst>
          </c:dPt>
          <c:dPt>
            <c:idx val="5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2A-923D-F143-AF39-FDFBDD356CAB}"/>
              </c:ext>
            </c:extLst>
          </c:dPt>
          <c:dPt>
            <c:idx val="6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2C-923D-F143-AF39-FDFBDD356CAB}"/>
              </c:ext>
            </c:extLst>
          </c:dPt>
          <c:dPt>
            <c:idx val="6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2E-923D-F143-AF39-FDFBDD356CAB}"/>
              </c:ext>
            </c:extLst>
          </c:dPt>
          <c:dPt>
            <c:idx val="6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30-923D-F143-AF39-FDFBDD356CAB}"/>
              </c:ext>
            </c:extLst>
          </c:dPt>
          <c:dPt>
            <c:idx val="6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32-923D-F143-AF39-FDFBDD356CAB}"/>
              </c:ext>
            </c:extLst>
          </c:dPt>
          <c:dPt>
            <c:idx val="6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34-923D-F143-AF39-FDFBDD356CAB}"/>
              </c:ext>
            </c:extLst>
          </c:dPt>
          <c:dPt>
            <c:idx val="6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36-923D-F143-AF39-FDFBDD356CAB}"/>
              </c:ext>
            </c:extLst>
          </c:dPt>
          <c:dPt>
            <c:idx val="6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38-923D-F143-AF39-FDFBDD356CAB}"/>
              </c:ext>
            </c:extLst>
          </c:dPt>
          <c:dPt>
            <c:idx val="6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3A-923D-F143-AF39-FDFBDD356CAB}"/>
              </c:ext>
            </c:extLst>
          </c:dPt>
          <c:dPt>
            <c:idx val="6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3C-923D-F143-AF39-FDFBDD356CAB}"/>
              </c:ext>
            </c:extLst>
          </c:dPt>
          <c:dPt>
            <c:idx val="6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3E-923D-F143-AF39-FDFBDD356CAB}"/>
              </c:ext>
            </c:extLst>
          </c:dPt>
          <c:dPt>
            <c:idx val="7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40-923D-F143-AF39-FDFBDD356CAB}"/>
              </c:ext>
            </c:extLst>
          </c:dPt>
          <c:dPt>
            <c:idx val="7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42-923D-F143-AF39-FDFBDD356CAB}"/>
              </c:ext>
            </c:extLst>
          </c:dPt>
          <c:dPt>
            <c:idx val="7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44-923D-F143-AF39-FDFBDD356CAB}"/>
              </c:ext>
            </c:extLst>
          </c:dPt>
          <c:dPt>
            <c:idx val="7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46-923D-F143-AF39-FDFBDD356CAB}"/>
              </c:ext>
            </c:extLst>
          </c:dPt>
          <c:dPt>
            <c:idx val="7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48-923D-F143-AF39-FDFBDD356CAB}"/>
              </c:ext>
            </c:extLst>
          </c:dPt>
          <c:dPt>
            <c:idx val="7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4A-923D-F143-AF39-FDFBDD356CAB}"/>
              </c:ext>
            </c:extLst>
          </c:dPt>
          <c:dPt>
            <c:idx val="7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4C-923D-F143-AF39-FDFBDD356CAB}"/>
              </c:ext>
            </c:extLst>
          </c:dPt>
          <c:dPt>
            <c:idx val="7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4E-923D-F143-AF39-FDFBDD356CAB}"/>
              </c:ext>
            </c:extLst>
          </c:dPt>
          <c:dPt>
            <c:idx val="7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50-923D-F143-AF39-FDFBDD356CAB}"/>
              </c:ext>
            </c:extLst>
          </c:dPt>
          <c:dPt>
            <c:idx val="7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52-923D-F143-AF39-FDFBDD356CAB}"/>
              </c:ext>
            </c:extLst>
          </c:dPt>
          <c:dPt>
            <c:idx val="8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54-923D-F143-AF39-FDFBDD356CAB}"/>
              </c:ext>
            </c:extLst>
          </c:dPt>
          <c:dPt>
            <c:idx val="8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56-923D-F143-AF39-FDFBDD356CAB}"/>
              </c:ext>
            </c:extLst>
          </c:dPt>
          <c:dPt>
            <c:idx val="82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58-923D-F143-AF39-FDFBDD356CAB}"/>
              </c:ext>
            </c:extLst>
          </c:dPt>
          <c:dPt>
            <c:idx val="83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5A-923D-F143-AF39-FDFBDD356CAB}"/>
              </c:ext>
            </c:extLst>
          </c:dPt>
          <c:dPt>
            <c:idx val="84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5C-923D-F143-AF39-FDFBDD356CAB}"/>
              </c:ext>
            </c:extLst>
          </c:dPt>
          <c:dPt>
            <c:idx val="85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5E-923D-F143-AF39-FDFBDD356CAB}"/>
              </c:ext>
            </c:extLst>
          </c:dPt>
          <c:dPt>
            <c:idx val="86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60-923D-F143-AF39-FDFBDD356CAB}"/>
              </c:ext>
            </c:extLst>
          </c:dPt>
          <c:dPt>
            <c:idx val="87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62-923D-F143-AF39-FDFBDD356CAB}"/>
              </c:ext>
            </c:extLst>
          </c:dPt>
          <c:dPt>
            <c:idx val="88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64-923D-F143-AF39-FDFBDD356CAB}"/>
              </c:ext>
            </c:extLst>
          </c:dPt>
          <c:dPt>
            <c:idx val="89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66-923D-F143-AF39-FDFBDD356CAB}"/>
              </c:ext>
            </c:extLst>
          </c:dPt>
          <c:dPt>
            <c:idx val="90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68-923D-F143-AF39-FDFBDD356CAB}"/>
              </c:ext>
            </c:extLst>
          </c:dPt>
          <c:dPt>
            <c:idx val="91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6A-923D-F143-AF39-FDFBDD356CAB}"/>
              </c:ext>
            </c:extLst>
          </c:dPt>
          <c:dPt>
            <c:idx val="92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6C-923D-F143-AF39-FDFBDD356CAB}"/>
              </c:ext>
            </c:extLst>
          </c:dPt>
          <c:dPt>
            <c:idx val="93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6E-923D-F143-AF39-FDFBDD356CAB}"/>
              </c:ext>
            </c:extLst>
          </c:dPt>
          <c:dPt>
            <c:idx val="94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70-923D-F143-AF39-FDFBDD356CAB}"/>
              </c:ext>
            </c:extLst>
          </c:dPt>
          <c:dPt>
            <c:idx val="95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72-923D-F143-AF39-FDFBDD356CAB}"/>
              </c:ext>
            </c:extLst>
          </c:dPt>
          <c:dPt>
            <c:idx val="96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74-923D-F143-AF39-FDFBDD356CAB}"/>
              </c:ext>
            </c:extLst>
          </c:dPt>
          <c:dPt>
            <c:idx val="97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76-923D-F143-AF39-FDFBDD356CAB}"/>
              </c:ext>
            </c:extLst>
          </c:dPt>
          <c:dPt>
            <c:idx val="98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78-923D-F143-AF39-FDFBDD356CAB}"/>
              </c:ext>
            </c:extLst>
          </c:dPt>
          <c:dPt>
            <c:idx val="99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7A-923D-F143-AF39-FDFBDD356CAB}"/>
              </c:ext>
            </c:extLst>
          </c:dPt>
          <c:dPt>
            <c:idx val="100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7C-923D-F143-AF39-FDFBDD356CAB}"/>
              </c:ext>
            </c:extLst>
          </c:dPt>
          <c:dPt>
            <c:idx val="101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7E-923D-F143-AF39-FDFBDD356CAB}"/>
              </c:ext>
            </c:extLst>
          </c:dPt>
          <c:dPt>
            <c:idx val="102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80-923D-F143-AF39-FDFBDD356CAB}"/>
              </c:ext>
            </c:extLst>
          </c:dPt>
          <c:dPt>
            <c:idx val="103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82-923D-F143-AF39-FDFBDD356CAB}"/>
              </c:ext>
            </c:extLst>
          </c:dPt>
          <c:dPt>
            <c:idx val="104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84-923D-F143-AF39-FDFBDD356CAB}"/>
              </c:ext>
            </c:extLst>
          </c:dPt>
          <c:dPt>
            <c:idx val="105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86-923D-F143-AF39-FDFBDD356CAB}"/>
              </c:ext>
            </c:extLst>
          </c:dPt>
          <c:dPt>
            <c:idx val="106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88-923D-F143-AF39-FDFBDD356CAB}"/>
              </c:ext>
            </c:extLst>
          </c:dPt>
          <c:dPt>
            <c:idx val="107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8A-923D-F143-AF39-FDFBDD356CAB}"/>
              </c:ext>
            </c:extLst>
          </c:dPt>
          <c:dPt>
            <c:idx val="108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8C-923D-F143-AF39-FDFBDD356CAB}"/>
              </c:ext>
            </c:extLst>
          </c:dPt>
          <c:dPt>
            <c:idx val="109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8E-923D-F143-AF39-FDFBDD356CAB}"/>
              </c:ext>
            </c:extLst>
          </c:dPt>
          <c:dPt>
            <c:idx val="110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90-923D-F143-AF39-FDFBDD356CAB}"/>
              </c:ext>
            </c:extLst>
          </c:dPt>
          <c:dPt>
            <c:idx val="111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92-923D-F143-AF39-FDFBDD356CAB}"/>
              </c:ext>
            </c:extLst>
          </c:dPt>
          <c:dPt>
            <c:idx val="112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94-923D-F143-AF39-FDFBDD356CAB}"/>
              </c:ext>
            </c:extLst>
          </c:dPt>
          <c:dPt>
            <c:idx val="113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96-923D-F143-AF39-FDFBDD356CAB}"/>
              </c:ext>
            </c:extLst>
          </c:dPt>
          <c:dPt>
            <c:idx val="114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98-923D-F143-AF39-FDFBDD356CAB}"/>
              </c:ext>
            </c:extLst>
          </c:dPt>
          <c:dPt>
            <c:idx val="115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9A-923D-F143-AF39-FDFBDD356CAB}"/>
              </c:ext>
            </c:extLst>
          </c:dPt>
          <c:dPt>
            <c:idx val="116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9C-923D-F143-AF39-FDFBDD356CAB}"/>
              </c:ext>
            </c:extLst>
          </c:dPt>
          <c:dPt>
            <c:idx val="117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9E-923D-F143-AF39-FDFBDD356CAB}"/>
              </c:ext>
            </c:extLst>
          </c:dPt>
          <c:dPt>
            <c:idx val="118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A0-923D-F143-AF39-FDFBDD356CAB}"/>
              </c:ext>
            </c:extLst>
          </c:dPt>
          <c:dPt>
            <c:idx val="119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A2-923D-F143-AF39-FDFBDD356CAB}"/>
              </c:ext>
            </c:extLst>
          </c:dPt>
          <c:dPt>
            <c:idx val="120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A4-923D-F143-AF39-FDFBDD356CAB}"/>
              </c:ext>
            </c:extLst>
          </c:dPt>
          <c:dPt>
            <c:idx val="121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A6-923D-F143-AF39-FDFBDD356CAB}"/>
              </c:ext>
            </c:extLst>
          </c:dPt>
          <c:dPt>
            <c:idx val="122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A8-923D-F143-AF39-FDFBDD356CAB}"/>
              </c:ext>
            </c:extLst>
          </c:dPt>
          <c:dPt>
            <c:idx val="123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AA-923D-F143-AF39-FDFBDD356CAB}"/>
              </c:ext>
            </c:extLst>
          </c:dPt>
          <c:dPt>
            <c:idx val="124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AC-923D-F143-AF39-FDFBDD356CAB}"/>
              </c:ext>
            </c:extLst>
          </c:dPt>
          <c:dPt>
            <c:idx val="125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AE-923D-F143-AF39-FDFBDD356CAB}"/>
              </c:ext>
            </c:extLst>
          </c:dPt>
          <c:dPt>
            <c:idx val="126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B0-923D-F143-AF39-FDFBDD356CAB}"/>
              </c:ext>
            </c:extLst>
          </c:dPt>
          <c:dPt>
            <c:idx val="127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B2-923D-F143-AF39-FDFBDD356CAB}"/>
              </c:ext>
            </c:extLst>
          </c:dPt>
          <c:dPt>
            <c:idx val="128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B4-923D-F143-AF39-FDFBDD356CAB}"/>
              </c:ext>
            </c:extLst>
          </c:dPt>
          <c:dPt>
            <c:idx val="12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B6-923D-F143-AF39-FDFBDD356CAB}"/>
              </c:ext>
            </c:extLst>
          </c:dPt>
          <c:dPt>
            <c:idx val="13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B8-923D-F143-AF39-FDFBDD356CAB}"/>
              </c:ext>
            </c:extLst>
          </c:dPt>
          <c:dPt>
            <c:idx val="13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BA-923D-F143-AF39-FDFBDD356CAB}"/>
              </c:ext>
            </c:extLst>
          </c:dPt>
          <c:dPt>
            <c:idx val="13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BC-923D-F143-AF39-FDFBDD356CAB}"/>
              </c:ext>
            </c:extLst>
          </c:dPt>
          <c:dPt>
            <c:idx val="13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BE-923D-F143-AF39-FDFBDD356CAB}"/>
              </c:ext>
            </c:extLst>
          </c:dPt>
          <c:dPt>
            <c:idx val="13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C0-923D-F143-AF39-FDFBDD356CAB}"/>
              </c:ext>
            </c:extLst>
          </c:dPt>
          <c:dPt>
            <c:idx val="13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C2-923D-F143-AF39-FDFBDD356CAB}"/>
              </c:ext>
            </c:extLst>
          </c:dPt>
          <c:dPt>
            <c:idx val="13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C4-923D-F143-AF39-FDFBDD356CAB}"/>
              </c:ext>
            </c:extLst>
          </c:dPt>
          <c:dPt>
            <c:idx val="13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C6-923D-F143-AF39-FDFBDD356CAB}"/>
              </c:ext>
            </c:extLst>
          </c:dPt>
          <c:dPt>
            <c:idx val="13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C8-923D-F143-AF39-FDFBDD356CAB}"/>
              </c:ext>
            </c:extLst>
          </c:dPt>
          <c:dPt>
            <c:idx val="13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CA-923D-F143-AF39-FDFBDD356CAB}"/>
              </c:ext>
            </c:extLst>
          </c:dPt>
          <c:dPt>
            <c:idx val="14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CC-923D-F143-AF39-FDFBDD356CAB}"/>
              </c:ext>
            </c:extLst>
          </c:dPt>
          <c:dPt>
            <c:idx val="14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CE-923D-F143-AF39-FDFBDD356CAB}"/>
              </c:ext>
            </c:extLst>
          </c:dPt>
          <c:dPt>
            <c:idx val="14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D0-923D-F143-AF39-FDFBDD356CAB}"/>
              </c:ext>
            </c:extLst>
          </c:dPt>
          <c:dPt>
            <c:idx val="14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D2-923D-F143-AF39-FDFBDD356CAB}"/>
              </c:ext>
            </c:extLst>
          </c:dPt>
          <c:dPt>
            <c:idx val="14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D4-923D-F143-AF39-FDFBDD356CAB}"/>
              </c:ext>
            </c:extLst>
          </c:dPt>
          <c:dPt>
            <c:idx val="14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D6-923D-F143-AF39-FDFBDD356CAB}"/>
              </c:ext>
            </c:extLst>
          </c:dPt>
          <c:dPt>
            <c:idx val="14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D8-923D-F143-AF39-FDFBDD356CAB}"/>
              </c:ext>
            </c:extLst>
          </c:dPt>
          <c:dPt>
            <c:idx val="14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DA-923D-F143-AF39-FDFBDD356CAB}"/>
              </c:ext>
            </c:extLst>
          </c:dPt>
          <c:dPt>
            <c:idx val="14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DC-923D-F143-AF39-FDFBDD356CAB}"/>
              </c:ext>
            </c:extLst>
          </c:dPt>
          <c:dPt>
            <c:idx val="14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DE-923D-F143-AF39-FDFBDD356CAB}"/>
              </c:ext>
            </c:extLst>
          </c:dPt>
          <c:dPt>
            <c:idx val="15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E0-923D-F143-AF39-FDFBDD356CAB}"/>
              </c:ext>
            </c:extLst>
          </c:dPt>
          <c:dPt>
            <c:idx val="15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E2-923D-F143-AF39-FDFBDD356CAB}"/>
              </c:ext>
            </c:extLst>
          </c:dPt>
          <c:dPt>
            <c:idx val="15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E4-923D-F143-AF39-FDFBDD356CAB}"/>
              </c:ext>
            </c:extLst>
          </c:dPt>
          <c:dPt>
            <c:idx val="153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E6-923D-F143-AF39-FDFBDD356CAB}"/>
              </c:ext>
            </c:extLst>
          </c:dPt>
          <c:dPt>
            <c:idx val="154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E8-923D-F143-AF39-FDFBDD356CAB}"/>
              </c:ext>
            </c:extLst>
          </c:dPt>
          <c:dPt>
            <c:idx val="155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EA-923D-F143-AF39-FDFBDD356CAB}"/>
              </c:ext>
            </c:extLst>
          </c:dPt>
          <c:dPt>
            <c:idx val="156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EC-923D-F143-AF39-FDFBDD356CAB}"/>
              </c:ext>
            </c:extLst>
          </c:dPt>
          <c:dPt>
            <c:idx val="157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EE-923D-F143-AF39-FDFBDD356CAB}"/>
              </c:ext>
            </c:extLst>
          </c:dPt>
          <c:dPt>
            <c:idx val="158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F0-923D-F143-AF39-FDFBDD356CAB}"/>
              </c:ext>
            </c:extLst>
          </c:dPt>
          <c:dPt>
            <c:idx val="159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F2-923D-F143-AF39-FDFBDD356CAB}"/>
              </c:ext>
            </c:extLst>
          </c:dPt>
          <c:dPt>
            <c:idx val="160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F4-923D-F143-AF39-FDFBDD356CAB}"/>
              </c:ext>
            </c:extLst>
          </c:dPt>
          <c:dPt>
            <c:idx val="161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F6-923D-F143-AF39-FDFBDD356CAB}"/>
              </c:ext>
            </c:extLst>
          </c:dPt>
          <c:dPt>
            <c:idx val="162"/>
            <c:invertIfNegative val="0"/>
            <c:bubble3D val="0"/>
            <c:spPr>
              <a:solidFill>
                <a:srgbClr val="486D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F8-923D-F143-AF39-FDFBDD356CAB}"/>
              </c:ext>
            </c:extLst>
          </c:dPt>
          <c:dPt>
            <c:idx val="16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FA-923D-F143-AF39-FDFBDD356CAB}"/>
              </c:ext>
            </c:extLst>
          </c:dPt>
          <c:dPt>
            <c:idx val="16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FC-923D-F143-AF39-FDFBDD356CAB}"/>
              </c:ext>
            </c:extLst>
          </c:dPt>
          <c:dPt>
            <c:idx val="16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5FE-923D-F143-AF39-FDFBDD356CAB}"/>
              </c:ext>
            </c:extLst>
          </c:dPt>
          <c:dPt>
            <c:idx val="16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00-923D-F143-AF39-FDFBDD356CAB}"/>
              </c:ext>
            </c:extLst>
          </c:dPt>
          <c:dPt>
            <c:idx val="16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02-923D-F143-AF39-FDFBDD356CAB}"/>
              </c:ext>
            </c:extLst>
          </c:dPt>
          <c:dPt>
            <c:idx val="16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04-923D-F143-AF39-FDFBDD356CAB}"/>
              </c:ext>
            </c:extLst>
          </c:dPt>
          <c:dPt>
            <c:idx val="16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06-923D-F143-AF39-FDFBDD356CAB}"/>
              </c:ext>
            </c:extLst>
          </c:dPt>
          <c:dPt>
            <c:idx val="17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08-923D-F143-AF39-FDFBDD356CAB}"/>
              </c:ext>
            </c:extLst>
          </c:dPt>
          <c:dPt>
            <c:idx val="17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0A-923D-F143-AF39-FDFBDD356CAB}"/>
              </c:ext>
            </c:extLst>
          </c:dPt>
          <c:dPt>
            <c:idx val="17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0C-923D-F143-AF39-FDFBDD356CAB}"/>
              </c:ext>
            </c:extLst>
          </c:dPt>
          <c:dPt>
            <c:idx val="17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0E-923D-F143-AF39-FDFBDD356CAB}"/>
              </c:ext>
            </c:extLst>
          </c:dPt>
          <c:dPt>
            <c:idx val="17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10-923D-F143-AF39-FDFBDD356CAB}"/>
              </c:ext>
            </c:extLst>
          </c:dPt>
          <c:dPt>
            <c:idx val="17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12-923D-F143-AF39-FDFBDD356CAB}"/>
              </c:ext>
            </c:extLst>
          </c:dPt>
          <c:dPt>
            <c:idx val="17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14-923D-F143-AF39-FDFBDD356CAB}"/>
              </c:ext>
            </c:extLst>
          </c:dPt>
          <c:dPt>
            <c:idx val="17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16-923D-F143-AF39-FDFBDD356CAB}"/>
              </c:ext>
            </c:extLst>
          </c:dPt>
          <c:dPt>
            <c:idx val="17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18-923D-F143-AF39-FDFBDD356CAB}"/>
              </c:ext>
            </c:extLst>
          </c:dPt>
          <c:dPt>
            <c:idx val="17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1A-923D-F143-AF39-FDFBDD356CAB}"/>
              </c:ext>
            </c:extLst>
          </c:dPt>
          <c:dPt>
            <c:idx val="18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1C-923D-F143-AF39-FDFBDD356CAB}"/>
              </c:ext>
            </c:extLst>
          </c:dPt>
          <c:dPt>
            <c:idx val="18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1E-923D-F143-AF39-FDFBDD356CAB}"/>
              </c:ext>
            </c:extLst>
          </c:dPt>
          <c:dPt>
            <c:idx val="18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20-923D-F143-AF39-FDFBDD356CAB}"/>
              </c:ext>
            </c:extLst>
          </c:dPt>
          <c:dPt>
            <c:idx val="18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22-923D-F143-AF39-FDFBDD356CAB}"/>
              </c:ext>
            </c:extLst>
          </c:dPt>
          <c:dPt>
            <c:idx val="18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24-923D-F143-AF39-FDFBDD356CAB}"/>
              </c:ext>
            </c:extLst>
          </c:dPt>
          <c:dPt>
            <c:idx val="18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26-923D-F143-AF39-FDFBDD356CAB}"/>
              </c:ext>
            </c:extLst>
          </c:dPt>
          <c:dPt>
            <c:idx val="18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28-923D-F143-AF39-FDFBDD356CAB}"/>
              </c:ext>
            </c:extLst>
          </c:dPt>
          <c:dPt>
            <c:idx val="18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2A-923D-F143-AF39-FDFBDD356CAB}"/>
              </c:ext>
            </c:extLst>
          </c:dPt>
          <c:dPt>
            <c:idx val="18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2C-923D-F143-AF39-FDFBDD356CAB}"/>
              </c:ext>
            </c:extLst>
          </c:dPt>
          <c:dPt>
            <c:idx val="18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2E-923D-F143-AF39-FDFBDD356CAB}"/>
              </c:ext>
            </c:extLst>
          </c:dPt>
          <c:dPt>
            <c:idx val="190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30-923D-F143-AF39-FDFBDD356CAB}"/>
              </c:ext>
            </c:extLst>
          </c:dPt>
          <c:dPt>
            <c:idx val="191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32-923D-F143-AF39-FDFBDD356CAB}"/>
              </c:ext>
            </c:extLst>
          </c:dPt>
          <c:dPt>
            <c:idx val="192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34-923D-F143-AF39-FDFBDD356CAB}"/>
              </c:ext>
            </c:extLst>
          </c:dPt>
          <c:dPt>
            <c:idx val="193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36-923D-F143-AF39-FDFBDD356CAB}"/>
              </c:ext>
            </c:extLst>
          </c:dPt>
          <c:dPt>
            <c:idx val="194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38-923D-F143-AF39-FDFBDD356CAB}"/>
              </c:ext>
            </c:extLst>
          </c:dPt>
          <c:dPt>
            <c:idx val="195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3A-923D-F143-AF39-FDFBDD356CAB}"/>
              </c:ext>
            </c:extLst>
          </c:dPt>
          <c:dPt>
            <c:idx val="196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3C-923D-F143-AF39-FDFBDD356CAB}"/>
              </c:ext>
            </c:extLst>
          </c:dPt>
          <c:dPt>
            <c:idx val="197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3E-923D-F143-AF39-FDFBDD356CAB}"/>
              </c:ext>
            </c:extLst>
          </c:dPt>
          <c:dPt>
            <c:idx val="198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40-923D-F143-AF39-FDFBDD356CAB}"/>
              </c:ext>
            </c:extLst>
          </c:dPt>
          <c:dPt>
            <c:idx val="199"/>
            <c:invertIfNegative val="0"/>
            <c:bubble3D val="0"/>
            <c:spPr>
              <a:solidFill>
                <a:srgbClr val="1D4D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42-923D-F143-AF39-FDFBDD356CAB}"/>
              </c:ext>
            </c:extLst>
          </c:dPt>
          <c:cat>
            <c:strRef>
              <c:f>Sheet1!$A$2:$A$201</c:f>
              <c:strCache>
                <c:ptCount val="200"/>
              </c:strCache>
            </c:strRef>
          </c:cat>
          <c:val>
            <c:numRef>
              <c:f>Sheet1!$E$2:$E$201</c:f>
              <c:numCache>
                <c:formatCode>0%</c:formatCode>
                <c:ptCount val="200"/>
                <c:pt idx="0">
                  <c:v>190500</c:v>
                </c:pt>
                <c:pt idx="1">
                  <c:v>190500</c:v>
                </c:pt>
                <c:pt idx="2">
                  <c:v>190500</c:v>
                </c:pt>
                <c:pt idx="3">
                  <c:v>190500</c:v>
                </c:pt>
                <c:pt idx="4">
                  <c:v>190500</c:v>
                </c:pt>
                <c:pt idx="5">
                  <c:v>190500</c:v>
                </c:pt>
                <c:pt idx="6">
                  <c:v>190500</c:v>
                </c:pt>
                <c:pt idx="7">
                  <c:v>190500</c:v>
                </c:pt>
                <c:pt idx="8">
                  <c:v>190500</c:v>
                </c:pt>
                <c:pt idx="9">
                  <c:v>190500</c:v>
                </c:pt>
                <c:pt idx="10">
                  <c:v>190500</c:v>
                </c:pt>
                <c:pt idx="11">
                  <c:v>190500</c:v>
                </c:pt>
                <c:pt idx="12">
                  <c:v>190500</c:v>
                </c:pt>
                <c:pt idx="13">
                  <c:v>190500</c:v>
                </c:pt>
                <c:pt idx="14">
                  <c:v>190500</c:v>
                </c:pt>
                <c:pt idx="15">
                  <c:v>190500</c:v>
                </c:pt>
                <c:pt idx="16">
                  <c:v>190500</c:v>
                </c:pt>
                <c:pt idx="17">
                  <c:v>190500</c:v>
                </c:pt>
                <c:pt idx="18">
                  <c:v>190500</c:v>
                </c:pt>
                <c:pt idx="19">
                  <c:v>190500</c:v>
                </c:pt>
                <c:pt idx="20">
                  <c:v>190500</c:v>
                </c:pt>
                <c:pt idx="21">
                  <c:v>190500</c:v>
                </c:pt>
                <c:pt idx="22">
                  <c:v>190500</c:v>
                </c:pt>
                <c:pt idx="23">
                  <c:v>190500</c:v>
                </c:pt>
                <c:pt idx="24">
                  <c:v>190500</c:v>
                </c:pt>
                <c:pt idx="25">
                  <c:v>190500</c:v>
                </c:pt>
                <c:pt idx="26">
                  <c:v>190500</c:v>
                </c:pt>
                <c:pt idx="27">
                  <c:v>190500</c:v>
                </c:pt>
                <c:pt idx="28">
                  <c:v>190500</c:v>
                </c:pt>
                <c:pt idx="29">
                  <c:v>190500</c:v>
                </c:pt>
                <c:pt idx="30">
                  <c:v>190500</c:v>
                </c:pt>
                <c:pt idx="31">
                  <c:v>190500</c:v>
                </c:pt>
                <c:pt idx="32">
                  <c:v>190500</c:v>
                </c:pt>
                <c:pt idx="33">
                  <c:v>190500</c:v>
                </c:pt>
                <c:pt idx="34">
                  <c:v>190500</c:v>
                </c:pt>
                <c:pt idx="35">
                  <c:v>190500</c:v>
                </c:pt>
                <c:pt idx="36">
                  <c:v>190500</c:v>
                </c:pt>
                <c:pt idx="37">
                  <c:v>190500</c:v>
                </c:pt>
                <c:pt idx="38">
                  <c:v>190500</c:v>
                </c:pt>
                <c:pt idx="39">
                  <c:v>190500</c:v>
                </c:pt>
                <c:pt idx="40">
                  <c:v>190500</c:v>
                </c:pt>
                <c:pt idx="41">
                  <c:v>190500</c:v>
                </c:pt>
                <c:pt idx="42">
                  <c:v>190500</c:v>
                </c:pt>
                <c:pt idx="43">
                  <c:v>190500</c:v>
                </c:pt>
                <c:pt idx="44">
                  <c:v>190500</c:v>
                </c:pt>
                <c:pt idx="45">
                  <c:v>190500</c:v>
                </c:pt>
                <c:pt idx="46">
                  <c:v>190500</c:v>
                </c:pt>
                <c:pt idx="47">
                  <c:v>190500</c:v>
                </c:pt>
                <c:pt idx="48">
                  <c:v>190500</c:v>
                </c:pt>
                <c:pt idx="49">
                  <c:v>190500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276225</c:v>
                </c:pt>
                <c:pt idx="83">
                  <c:v>276225</c:v>
                </c:pt>
                <c:pt idx="84">
                  <c:v>276225</c:v>
                </c:pt>
                <c:pt idx="85">
                  <c:v>276225</c:v>
                </c:pt>
                <c:pt idx="86">
                  <c:v>276225</c:v>
                </c:pt>
                <c:pt idx="87">
                  <c:v>276225</c:v>
                </c:pt>
                <c:pt idx="88">
                  <c:v>276225</c:v>
                </c:pt>
                <c:pt idx="89">
                  <c:v>276225</c:v>
                </c:pt>
                <c:pt idx="90">
                  <c:v>276225</c:v>
                </c:pt>
                <c:pt idx="91">
                  <c:v>276225</c:v>
                </c:pt>
                <c:pt idx="92">
                  <c:v>276225</c:v>
                </c:pt>
                <c:pt idx="93">
                  <c:v>276225</c:v>
                </c:pt>
                <c:pt idx="94">
                  <c:v>276225</c:v>
                </c:pt>
                <c:pt idx="95">
                  <c:v>276225</c:v>
                </c:pt>
                <c:pt idx="96">
                  <c:v>276225</c:v>
                </c:pt>
                <c:pt idx="97">
                  <c:v>276225</c:v>
                </c:pt>
                <c:pt idx="98">
                  <c:v>276225</c:v>
                </c:pt>
                <c:pt idx="99">
                  <c:v>276225</c:v>
                </c:pt>
                <c:pt idx="100">
                  <c:v>276225</c:v>
                </c:pt>
                <c:pt idx="101">
                  <c:v>276225</c:v>
                </c:pt>
                <c:pt idx="102">
                  <c:v>276225</c:v>
                </c:pt>
                <c:pt idx="103">
                  <c:v>276225</c:v>
                </c:pt>
                <c:pt idx="104">
                  <c:v>276225</c:v>
                </c:pt>
                <c:pt idx="105">
                  <c:v>276225</c:v>
                </c:pt>
                <c:pt idx="106">
                  <c:v>276225</c:v>
                </c:pt>
                <c:pt idx="107">
                  <c:v>276225</c:v>
                </c:pt>
                <c:pt idx="108">
                  <c:v>276225</c:v>
                </c:pt>
                <c:pt idx="109">
                  <c:v>276225</c:v>
                </c:pt>
                <c:pt idx="110">
                  <c:v>276225</c:v>
                </c:pt>
                <c:pt idx="111">
                  <c:v>276225</c:v>
                </c:pt>
                <c:pt idx="112">
                  <c:v>276225</c:v>
                </c:pt>
                <c:pt idx="113">
                  <c:v>276225</c:v>
                </c:pt>
                <c:pt idx="114">
                  <c:v>276225</c:v>
                </c:pt>
                <c:pt idx="115">
                  <c:v>276225</c:v>
                </c:pt>
                <c:pt idx="116">
                  <c:v>276225</c:v>
                </c:pt>
                <c:pt idx="117">
                  <c:v>276225</c:v>
                </c:pt>
                <c:pt idx="118">
                  <c:v>276225</c:v>
                </c:pt>
                <c:pt idx="119">
                  <c:v>276225</c:v>
                </c:pt>
                <c:pt idx="120">
                  <c:v>276225</c:v>
                </c:pt>
                <c:pt idx="121">
                  <c:v>276225</c:v>
                </c:pt>
                <c:pt idx="122">
                  <c:v>276225</c:v>
                </c:pt>
                <c:pt idx="123">
                  <c:v>276225</c:v>
                </c:pt>
                <c:pt idx="124">
                  <c:v>276225</c:v>
                </c:pt>
                <c:pt idx="125">
                  <c:v>276225</c:v>
                </c:pt>
                <c:pt idx="126">
                  <c:v>276225</c:v>
                </c:pt>
                <c:pt idx="127">
                  <c:v>276225</c:v>
                </c:pt>
                <c:pt idx="128">
                  <c:v>276225</c:v>
                </c:pt>
                <c:pt idx="129">
                  <c:v>0</c:v>
                </c:pt>
                <c:pt idx="130">
                  <c:v>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</c:v>
                </c:pt>
                <c:pt idx="135">
                  <c:v>0</c:v>
                </c:pt>
                <c:pt idx="136">
                  <c:v>0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95250</c:v>
                </c:pt>
                <c:pt idx="147">
                  <c:v>95250</c:v>
                </c:pt>
                <c:pt idx="148">
                  <c:v>95250</c:v>
                </c:pt>
                <c:pt idx="149">
                  <c:v>95250</c:v>
                </c:pt>
                <c:pt idx="150">
                  <c:v>95250</c:v>
                </c:pt>
                <c:pt idx="151">
                  <c:v>95250</c:v>
                </c:pt>
                <c:pt idx="152">
                  <c:v>95250</c:v>
                </c:pt>
                <c:pt idx="153">
                  <c:v>95250</c:v>
                </c:pt>
                <c:pt idx="154">
                  <c:v>95250</c:v>
                </c:pt>
                <c:pt idx="155">
                  <c:v>95250</c:v>
                </c:pt>
                <c:pt idx="156">
                  <c:v>95250</c:v>
                </c:pt>
                <c:pt idx="157">
                  <c:v>95250</c:v>
                </c:pt>
                <c:pt idx="158">
                  <c:v>95250</c:v>
                </c:pt>
                <c:pt idx="159">
                  <c:v>95250</c:v>
                </c:pt>
                <c:pt idx="160">
                  <c:v>95250</c:v>
                </c:pt>
                <c:pt idx="161">
                  <c:v>95250</c:v>
                </c:pt>
                <c:pt idx="162">
                  <c:v>95250</c:v>
                </c:pt>
                <c:pt idx="163">
                  <c:v>415925</c:v>
                </c:pt>
                <c:pt idx="164">
                  <c:v>415925</c:v>
                </c:pt>
                <c:pt idx="165">
                  <c:v>415925</c:v>
                </c:pt>
                <c:pt idx="166">
                  <c:v>415925</c:v>
                </c:pt>
                <c:pt idx="167">
                  <c:v>415925</c:v>
                </c:pt>
                <c:pt idx="168">
                  <c:v>415925</c:v>
                </c:pt>
                <c:pt idx="169">
                  <c:v>415925</c:v>
                </c:pt>
                <c:pt idx="170">
                  <c:v>415925</c:v>
                </c:pt>
                <c:pt idx="171">
                  <c:v>415925</c:v>
                </c:pt>
                <c:pt idx="172">
                  <c:v>415925</c:v>
                </c:pt>
                <c:pt idx="173">
                  <c:v>415925</c:v>
                </c:pt>
                <c:pt idx="174">
                  <c:v>415925</c:v>
                </c:pt>
                <c:pt idx="175">
                  <c:v>415925</c:v>
                </c:pt>
                <c:pt idx="176">
                  <c:v>415925</c:v>
                </c:pt>
                <c:pt idx="177">
                  <c:v>415925</c:v>
                </c:pt>
                <c:pt idx="178">
                  <c:v>415925</c:v>
                </c:pt>
                <c:pt idx="179">
                  <c:v>415925</c:v>
                </c:pt>
                <c:pt idx="180">
                  <c:v>415925</c:v>
                </c:pt>
                <c:pt idx="181">
                  <c:v>415925</c:v>
                </c:pt>
                <c:pt idx="182">
                  <c:v>415925</c:v>
                </c:pt>
                <c:pt idx="183">
                  <c:v>415925</c:v>
                </c:pt>
                <c:pt idx="184">
                  <c:v>415925</c:v>
                </c:pt>
                <c:pt idx="185">
                  <c:v>415925</c:v>
                </c:pt>
                <c:pt idx="186">
                  <c:v>415925</c:v>
                </c:pt>
                <c:pt idx="187">
                  <c:v>415925</c:v>
                </c:pt>
                <c:pt idx="188">
                  <c:v>415925</c:v>
                </c:pt>
                <c:pt idx="189">
                  <c:v>415925</c:v>
                </c:pt>
                <c:pt idx="190">
                  <c:v>415925</c:v>
                </c:pt>
                <c:pt idx="191">
                  <c:v>415925</c:v>
                </c:pt>
                <c:pt idx="192">
                  <c:v>415925</c:v>
                </c:pt>
                <c:pt idx="193">
                  <c:v>415925</c:v>
                </c:pt>
                <c:pt idx="194">
                  <c:v>415925</c:v>
                </c:pt>
                <c:pt idx="195">
                  <c:v>415925</c:v>
                </c:pt>
                <c:pt idx="196">
                  <c:v>415925</c:v>
                </c:pt>
                <c:pt idx="197">
                  <c:v>415925</c:v>
                </c:pt>
                <c:pt idx="198">
                  <c:v>415925</c:v>
                </c:pt>
                <c:pt idx="199">
                  <c:v>415925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643-923D-F143-AF39-FDFBDD356CA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Layer 5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45-923D-F143-AF39-FDFBDD356CAB}"/>
              </c:ext>
            </c:extLst>
          </c:dPt>
          <c:dPt>
            <c:idx val="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47-923D-F143-AF39-FDFBDD356CAB}"/>
              </c:ext>
            </c:extLst>
          </c:dPt>
          <c:dPt>
            <c:idx val="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49-923D-F143-AF39-FDFBDD356CAB}"/>
              </c:ext>
            </c:extLst>
          </c:dPt>
          <c:dPt>
            <c:idx val="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4B-923D-F143-AF39-FDFBDD356CAB}"/>
              </c:ext>
            </c:extLst>
          </c:dPt>
          <c:dPt>
            <c:idx val="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4D-923D-F143-AF39-FDFBDD356CAB}"/>
              </c:ext>
            </c:extLst>
          </c:dPt>
          <c:dPt>
            <c:idx val="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4F-923D-F143-AF39-FDFBDD356CAB}"/>
              </c:ext>
            </c:extLst>
          </c:dPt>
          <c:dPt>
            <c:idx val="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51-923D-F143-AF39-FDFBDD356CAB}"/>
              </c:ext>
            </c:extLst>
          </c:dPt>
          <c:dPt>
            <c:idx val="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53-923D-F143-AF39-FDFBDD356CAB}"/>
              </c:ext>
            </c:extLst>
          </c:dPt>
          <c:dPt>
            <c:idx val="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55-923D-F143-AF39-FDFBDD356CAB}"/>
              </c:ext>
            </c:extLst>
          </c:dPt>
          <c:dPt>
            <c:idx val="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57-923D-F143-AF39-FDFBDD356CAB}"/>
              </c:ext>
            </c:extLst>
          </c:dPt>
          <c:dPt>
            <c:idx val="1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59-923D-F143-AF39-FDFBDD356CAB}"/>
              </c:ext>
            </c:extLst>
          </c:dPt>
          <c:dPt>
            <c:idx val="1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5B-923D-F143-AF39-FDFBDD356CAB}"/>
              </c:ext>
            </c:extLst>
          </c:dPt>
          <c:dPt>
            <c:idx val="1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5D-923D-F143-AF39-FDFBDD356CAB}"/>
              </c:ext>
            </c:extLst>
          </c:dPt>
          <c:dPt>
            <c:idx val="1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5F-923D-F143-AF39-FDFBDD356CAB}"/>
              </c:ext>
            </c:extLst>
          </c:dPt>
          <c:dPt>
            <c:idx val="1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61-923D-F143-AF39-FDFBDD356CAB}"/>
              </c:ext>
            </c:extLst>
          </c:dPt>
          <c:dPt>
            <c:idx val="1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63-923D-F143-AF39-FDFBDD356CAB}"/>
              </c:ext>
            </c:extLst>
          </c:dPt>
          <c:dPt>
            <c:idx val="1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65-923D-F143-AF39-FDFBDD356CAB}"/>
              </c:ext>
            </c:extLst>
          </c:dPt>
          <c:dPt>
            <c:idx val="1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67-923D-F143-AF39-FDFBDD356CAB}"/>
              </c:ext>
            </c:extLst>
          </c:dPt>
          <c:dPt>
            <c:idx val="1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69-923D-F143-AF39-FDFBDD356CAB}"/>
              </c:ext>
            </c:extLst>
          </c:dPt>
          <c:dPt>
            <c:idx val="1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6B-923D-F143-AF39-FDFBDD356CAB}"/>
              </c:ext>
            </c:extLst>
          </c:dPt>
          <c:dPt>
            <c:idx val="2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6D-923D-F143-AF39-FDFBDD356CAB}"/>
              </c:ext>
            </c:extLst>
          </c:dPt>
          <c:dPt>
            <c:idx val="2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6F-923D-F143-AF39-FDFBDD356CAB}"/>
              </c:ext>
            </c:extLst>
          </c:dPt>
          <c:dPt>
            <c:idx val="2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71-923D-F143-AF39-FDFBDD356CAB}"/>
              </c:ext>
            </c:extLst>
          </c:dPt>
          <c:dPt>
            <c:idx val="2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73-923D-F143-AF39-FDFBDD356CAB}"/>
              </c:ext>
            </c:extLst>
          </c:dPt>
          <c:dPt>
            <c:idx val="2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75-923D-F143-AF39-FDFBDD356CAB}"/>
              </c:ext>
            </c:extLst>
          </c:dPt>
          <c:dPt>
            <c:idx val="2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77-923D-F143-AF39-FDFBDD356CAB}"/>
              </c:ext>
            </c:extLst>
          </c:dPt>
          <c:dPt>
            <c:idx val="2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79-923D-F143-AF39-FDFBDD356CAB}"/>
              </c:ext>
            </c:extLst>
          </c:dPt>
          <c:dPt>
            <c:idx val="2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7B-923D-F143-AF39-FDFBDD356CAB}"/>
              </c:ext>
            </c:extLst>
          </c:dPt>
          <c:dPt>
            <c:idx val="2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7D-923D-F143-AF39-FDFBDD356CAB}"/>
              </c:ext>
            </c:extLst>
          </c:dPt>
          <c:dPt>
            <c:idx val="2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7F-923D-F143-AF39-FDFBDD356CAB}"/>
              </c:ext>
            </c:extLst>
          </c:dPt>
          <c:dPt>
            <c:idx val="3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81-923D-F143-AF39-FDFBDD356CAB}"/>
              </c:ext>
            </c:extLst>
          </c:dPt>
          <c:dPt>
            <c:idx val="3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83-923D-F143-AF39-FDFBDD356CAB}"/>
              </c:ext>
            </c:extLst>
          </c:dPt>
          <c:dPt>
            <c:idx val="3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85-923D-F143-AF39-FDFBDD356CAB}"/>
              </c:ext>
            </c:extLst>
          </c:dPt>
          <c:dPt>
            <c:idx val="3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87-923D-F143-AF39-FDFBDD356CAB}"/>
              </c:ext>
            </c:extLst>
          </c:dPt>
          <c:dPt>
            <c:idx val="3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89-923D-F143-AF39-FDFBDD356CAB}"/>
              </c:ext>
            </c:extLst>
          </c:dPt>
          <c:dPt>
            <c:idx val="3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8B-923D-F143-AF39-FDFBDD356CAB}"/>
              </c:ext>
            </c:extLst>
          </c:dPt>
          <c:dPt>
            <c:idx val="3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8D-923D-F143-AF39-FDFBDD356CAB}"/>
              </c:ext>
            </c:extLst>
          </c:dPt>
          <c:dPt>
            <c:idx val="3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8F-923D-F143-AF39-FDFBDD356CAB}"/>
              </c:ext>
            </c:extLst>
          </c:dPt>
          <c:dPt>
            <c:idx val="3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91-923D-F143-AF39-FDFBDD356CAB}"/>
              </c:ext>
            </c:extLst>
          </c:dPt>
          <c:dPt>
            <c:idx val="3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93-923D-F143-AF39-FDFBDD356CAB}"/>
              </c:ext>
            </c:extLst>
          </c:dPt>
          <c:dPt>
            <c:idx val="4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95-923D-F143-AF39-FDFBDD356CAB}"/>
              </c:ext>
            </c:extLst>
          </c:dPt>
          <c:dPt>
            <c:idx val="4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97-923D-F143-AF39-FDFBDD356CAB}"/>
              </c:ext>
            </c:extLst>
          </c:dPt>
          <c:dPt>
            <c:idx val="4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99-923D-F143-AF39-FDFBDD356CAB}"/>
              </c:ext>
            </c:extLst>
          </c:dPt>
          <c:dPt>
            <c:idx val="4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9B-923D-F143-AF39-FDFBDD356CAB}"/>
              </c:ext>
            </c:extLst>
          </c:dPt>
          <c:dPt>
            <c:idx val="4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9D-923D-F143-AF39-FDFBDD356CAB}"/>
              </c:ext>
            </c:extLst>
          </c:dPt>
          <c:dPt>
            <c:idx val="4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9F-923D-F143-AF39-FDFBDD356CAB}"/>
              </c:ext>
            </c:extLst>
          </c:dPt>
          <c:dPt>
            <c:idx val="4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A1-923D-F143-AF39-FDFBDD356CAB}"/>
              </c:ext>
            </c:extLst>
          </c:dPt>
          <c:dPt>
            <c:idx val="4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A3-923D-F143-AF39-FDFBDD356CAB}"/>
              </c:ext>
            </c:extLst>
          </c:dPt>
          <c:dPt>
            <c:idx val="4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A5-923D-F143-AF39-FDFBDD356CAB}"/>
              </c:ext>
            </c:extLst>
          </c:dPt>
          <c:dPt>
            <c:idx val="4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A7-923D-F143-AF39-FDFBDD356CAB}"/>
              </c:ext>
            </c:extLst>
          </c:dPt>
          <c:dPt>
            <c:idx val="5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A9-923D-F143-AF39-FDFBDD356CAB}"/>
              </c:ext>
            </c:extLst>
          </c:dPt>
          <c:dPt>
            <c:idx val="5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AB-923D-F143-AF39-FDFBDD356CAB}"/>
              </c:ext>
            </c:extLst>
          </c:dPt>
          <c:dPt>
            <c:idx val="5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AD-923D-F143-AF39-FDFBDD356CAB}"/>
              </c:ext>
            </c:extLst>
          </c:dPt>
          <c:dPt>
            <c:idx val="5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AF-923D-F143-AF39-FDFBDD356CAB}"/>
              </c:ext>
            </c:extLst>
          </c:dPt>
          <c:dPt>
            <c:idx val="5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B1-923D-F143-AF39-FDFBDD356CAB}"/>
              </c:ext>
            </c:extLst>
          </c:dPt>
          <c:dPt>
            <c:idx val="5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B3-923D-F143-AF39-FDFBDD356CAB}"/>
              </c:ext>
            </c:extLst>
          </c:dPt>
          <c:dPt>
            <c:idx val="5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B5-923D-F143-AF39-FDFBDD356CAB}"/>
              </c:ext>
            </c:extLst>
          </c:dPt>
          <c:dPt>
            <c:idx val="5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B7-923D-F143-AF39-FDFBDD356CAB}"/>
              </c:ext>
            </c:extLst>
          </c:dPt>
          <c:dPt>
            <c:idx val="5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B9-923D-F143-AF39-FDFBDD356CAB}"/>
              </c:ext>
            </c:extLst>
          </c:dPt>
          <c:dPt>
            <c:idx val="5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BB-923D-F143-AF39-FDFBDD356CAB}"/>
              </c:ext>
            </c:extLst>
          </c:dPt>
          <c:dPt>
            <c:idx val="6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BD-923D-F143-AF39-FDFBDD356CAB}"/>
              </c:ext>
            </c:extLst>
          </c:dPt>
          <c:dPt>
            <c:idx val="6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BF-923D-F143-AF39-FDFBDD356CAB}"/>
              </c:ext>
            </c:extLst>
          </c:dPt>
          <c:dPt>
            <c:idx val="6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C1-923D-F143-AF39-FDFBDD356CAB}"/>
              </c:ext>
            </c:extLst>
          </c:dPt>
          <c:dPt>
            <c:idx val="6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C3-923D-F143-AF39-FDFBDD356CAB}"/>
              </c:ext>
            </c:extLst>
          </c:dPt>
          <c:dPt>
            <c:idx val="6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C5-923D-F143-AF39-FDFBDD356CAB}"/>
              </c:ext>
            </c:extLst>
          </c:dPt>
          <c:dPt>
            <c:idx val="6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C7-923D-F143-AF39-FDFBDD356CAB}"/>
              </c:ext>
            </c:extLst>
          </c:dPt>
          <c:dPt>
            <c:idx val="6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C9-923D-F143-AF39-FDFBDD356CAB}"/>
              </c:ext>
            </c:extLst>
          </c:dPt>
          <c:dPt>
            <c:idx val="6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CB-923D-F143-AF39-FDFBDD356CAB}"/>
              </c:ext>
            </c:extLst>
          </c:dPt>
          <c:dPt>
            <c:idx val="6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CD-923D-F143-AF39-FDFBDD356CAB}"/>
              </c:ext>
            </c:extLst>
          </c:dPt>
          <c:dPt>
            <c:idx val="6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CF-923D-F143-AF39-FDFBDD356CAB}"/>
              </c:ext>
            </c:extLst>
          </c:dPt>
          <c:dPt>
            <c:idx val="7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D1-923D-F143-AF39-FDFBDD356CAB}"/>
              </c:ext>
            </c:extLst>
          </c:dPt>
          <c:dPt>
            <c:idx val="7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D3-923D-F143-AF39-FDFBDD356CAB}"/>
              </c:ext>
            </c:extLst>
          </c:dPt>
          <c:dPt>
            <c:idx val="7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D5-923D-F143-AF39-FDFBDD356CAB}"/>
              </c:ext>
            </c:extLst>
          </c:dPt>
          <c:dPt>
            <c:idx val="7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D7-923D-F143-AF39-FDFBDD356CAB}"/>
              </c:ext>
            </c:extLst>
          </c:dPt>
          <c:dPt>
            <c:idx val="7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D9-923D-F143-AF39-FDFBDD356CAB}"/>
              </c:ext>
            </c:extLst>
          </c:dPt>
          <c:dPt>
            <c:idx val="7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DB-923D-F143-AF39-FDFBDD356CAB}"/>
              </c:ext>
            </c:extLst>
          </c:dPt>
          <c:dPt>
            <c:idx val="7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DD-923D-F143-AF39-FDFBDD356CAB}"/>
              </c:ext>
            </c:extLst>
          </c:dPt>
          <c:dPt>
            <c:idx val="7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DF-923D-F143-AF39-FDFBDD356CAB}"/>
              </c:ext>
            </c:extLst>
          </c:dPt>
          <c:dPt>
            <c:idx val="7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E1-923D-F143-AF39-FDFBDD356CAB}"/>
              </c:ext>
            </c:extLst>
          </c:dPt>
          <c:dPt>
            <c:idx val="7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E3-923D-F143-AF39-FDFBDD356CAB}"/>
              </c:ext>
            </c:extLst>
          </c:dPt>
          <c:dPt>
            <c:idx val="8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E5-923D-F143-AF39-FDFBDD356CAB}"/>
              </c:ext>
            </c:extLst>
          </c:dPt>
          <c:dPt>
            <c:idx val="8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E7-923D-F143-AF39-FDFBDD356CAB}"/>
              </c:ext>
            </c:extLst>
          </c:dPt>
          <c:dPt>
            <c:idx val="8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E9-923D-F143-AF39-FDFBDD356CAB}"/>
              </c:ext>
            </c:extLst>
          </c:dPt>
          <c:dPt>
            <c:idx val="8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EB-923D-F143-AF39-FDFBDD356CAB}"/>
              </c:ext>
            </c:extLst>
          </c:dPt>
          <c:dPt>
            <c:idx val="8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ED-923D-F143-AF39-FDFBDD356CAB}"/>
              </c:ext>
            </c:extLst>
          </c:dPt>
          <c:dPt>
            <c:idx val="8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EF-923D-F143-AF39-FDFBDD356CAB}"/>
              </c:ext>
            </c:extLst>
          </c:dPt>
          <c:dPt>
            <c:idx val="8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F1-923D-F143-AF39-FDFBDD356CAB}"/>
              </c:ext>
            </c:extLst>
          </c:dPt>
          <c:dPt>
            <c:idx val="8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F3-923D-F143-AF39-FDFBDD356CAB}"/>
              </c:ext>
            </c:extLst>
          </c:dPt>
          <c:dPt>
            <c:idx val="8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F5-923D-F143-AF39-FDFBDD356CAB}"/>
              </c:ext>
            </c:extLst>
          </c:dPt>
          <c:dPt>
            <c:idx val="8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F7-923D-F143-AF39-FDFBDD356CAB}"/>
              </c:ext>
            </c:extLst>
          </c:dPt>
          <c:dPt>
            <c:idx val="9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F9-923D-F143-AF39-FDFBDD356CAB}"/>
              </c:ext>
            </c:extLst>
          </c:dPt>
          <c:dPt>
            <c:idx val="9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FB-923D-F143-AF39-FDFBDD356CAB}"/>
              </c:ext>
            </c:extLst>
          </c:dPt>
          <c:dPt>
            <c:idx val="9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FD-923D-F143-AF39-FDFBDD356CAB}"/>
              </c:ext>
            </c:extLst>
          </c:dPt>
          <c:dPt>
            <c:idx val="9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6FF-923D-F143-AF39-FDFBDD356CAB}"/>
              </c:ext>
            </c:extLst>
          </c:dPt>
          <c:dPt>
            <c:idx val="9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01-923D-F143-AF39-FDFBDD356CAB}"/>
              </c:ext>
            </c:extLst>
          </c:dPt>
          <c:dPt>
            <c:idx val="9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03-923D-F143-AF39-FDFBDD356CAB}"/>
              </c:ext>
            </c:extLst>
          </c:dPt>
          <c:dPt>
            <c:idx val="9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05-923D-F143-AF39-FDFBDD356CAB}"/>
              </c:ext>
            </c:extLst>
          </c:dPt>
          <c:dPt>
            <c:idx val="9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07-923D-F143-AF39-FDFBDD356CAB}"/>
              </c:ext>
            </c:extLst>
          </c:dPt>
          <c:dPt>
            <c:idx val="9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09-923D-F143-AF39-FDFBDD356CAB}"/>
              </c:ext>
            </c:extLst>
          </c:dPt>
          <c:dPt>
            <c:idx val="9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0B-923D-F143-AF39-FDFBDD356CAB}"/>
              </c:ext>
            </c:extLst>
          </c:dPt>
          <c:dPt>
            <c:idx val="10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0D-923D-F143-AF39-FDFBDD356CAB}"/>
              </c:ext>
            </c:extLst>
          </c:dPt>
          <c:dPt>
            <c:idx val="10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0F-923D-F143-AF39-FDFBDD356CAB}"/>
              </c:ext>
            </c:extLst>
          </c:dPt>
          <c:dPt>
            <c:idx val="10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11-923D-F143-AF39-FDFBDD356CAB}"/>
              </c:ext>
            </c:extLst>
          </c:dPt>
          <c:dPt>
            <c:idx val="10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13-923D-F143-AF39-FDFBDD356CAB}"/>
              </c:ext>
            </c:extLst>
          </c:dPt>
          <c:dPt>
            <c:idx val="10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15-923D-F143-AF39-FDFBDD356CAB}"/>
              </c:ext>
            </c:extLst>
          </c:dPt>
          <c:dPt>
            <c:idx val="10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17-923D-F143-AF39-FDFBDD356CAB}"/>
              </c:ext>
            </c:extLst>
          </c:dPt>
          <c:dPt>
            <c:idx val="10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19-923D-F143-AF39-FDFBDD356CAB}"/>
              </c:ext>
            </c:extLst>
          </c:dPt>
          <c:dPt>
            <c:idx val="10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1B-923D-F143-AF39-FDFBDD356CAB}"/>
              </c:ext>
            </c:extLst>
          </c:dPt>
          <c:dPt>
            <c:idx val="10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1D-923D-F143-AF39-FDFBDD356CAB}"/>
              </c:ext>
            </c:extLst>
          </c:dPt>
          <c:dPt>
            <c:idx val="10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1F-923D-F143-AF39-FDFBDD356CAB}"/>
              </c:ext>
            </c:extLst>
          </c:dPt>
          <c:dPt>
            <c:idx val="11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21-923D-F143-AF39-FDFBDD356CAB}"/>
              </c:ext>
            </c:extLst>
          </c:dPt>
          <c:dPt>
            <c:idx val="11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23-923D-F143-AF39-FDFBDD356CAB}"/>
              </c:ext>
            </c:extLst>
          </c:dPt>
          <c:dPt>
            <c:idx val="11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25-923D-F143-AF39-FDFBDD356CAB}"/>
              </c:ext>
            </c:extLst>
          </c:dPt>
          <c:dPt>
            <c:idx val="11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27-923D-F143-AF39-FDFBDD356CAB}"/>
              </c:ext>
            </c:extLst>
          </c:dPt>
          <c:dPt>
            <c:idx val="11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29-923D-F143-AF39-FDFBDD356CAB}"/>
              </c:ext>
            </c:extLst>
          </c:dPt>
          <c:dPt>
            <c:idx val="11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2B-923D-F143-AF39-FDFBDD356CAB}"/>
              </c:ext>
            </c:extLst>
          </c:dPt>
          <c:dPt>
            <c:idx val="11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2D-923D-F143-AF39-FDFBDD356CAB}"/>
              </c:ext>
            </c:extLst>
          </c:dPt>
          <c:dPt>
            <c:idx val="11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2F-923D-F143-AF39-FDFBDD356CAB}"/>
              </c:ext>
            </c:extLst>
          </c:dPt>
          <c:dPt>
            <c:idx val="11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31-923D-F143-AF39-FDFBDD356CAB}"/>
              </c:ext>
            </c:extLst>
          </c:dPt>
          <c:dPt>
            <c:idx val="119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33-923D-F143-AF39-FDFBDD356CAB}"/>
              </c:ext>
            </c:extLst>
          </c:dPt>
          <c:dPt>
            <c:idx val="120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35-923D-F143-AF39-FDFBDD356CAB}"/>
              </c:ext>
            </c:extLst>
          </c:dPt>
          <c:dPt>
            <c:idx val="121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37-923D-F143-AF39-FDFBDD356CAB}"/>
              </c:ext>
            </c:extLst>
          </c:dPt>
          <c:dPt>
            <c:idx val="122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39-923D-F143-AF39-FDFBDD356CAB}"/>
              </c:ext>
            </c:extLst>
          </c:dPt>
          <c:dPt>
            <c:idx val="123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3B-923D-F143-AF39-FDFBDD356CAB}"/>
              </c:ext>
            </c:extLst>
          </c:dPt>
          <c:dPt>
            <c:idx val="124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3D-923D-F143-AF39-FDFBDD356CAB}"/>
              </c:ext>
            </c:extLst>
          </c:dPt>
          <c:dPt>
            <c:idx val="125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3F-923D-F143-AF39-FDFBDD356CAB}"/>
              </c:ext>
            </c:extLst>
          </c:dPt>
          <c:dPt>
            <c:idx val="126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41-923D-F143-AF39-FDFBDD356CAB}"/>
              </c:ext>
            </c:extLst>
          </c:dPt>
          <c:dPt>
            <c:idx val="127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43-923D-F143-AF39-FDFBDD356CAB}"/>
              </c:ext>
            </c:extLst>
          </c:dPt>
          <c:dPt>
            <c:idx val="128"/>
            <c:invertIfNegative val="0"/>
            <c:bubble3D val="0"/>
            <c:spPr>
              <a:solidFill>
                <a:srgbClr val="79838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45-923D-F143-AF39-FDFBDD356CAB}"/>
              </c:ext>
            </c:extLst>
          </c:dPt>
          <c:dPt>
            <c:idx val="12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47-923D-F143-AF39-FDFBDD356CAB}"/>
              </c:ext>
            </c:extLst>
          </c:dPt>
          <c:dPt>
            <c:idx val="13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49-923D-F143-AF39-FDFBDD356CAB}"/>
              </c:ext>
            </c:extLst>
          </c:dPt>
          <c:dPt>
            <c:idx val="13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4B-923D-F143-AF39-FDFBDD356CAB}"/>
              </c:ext>
            </c:extLst>
          </c:dPt>
          <c:dPt>
            <c:idx val="13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4D-923D-F143-AF39-FDFBDD356CAB}"/>
              </c:ext>
            </c:extLst>
          </c:dPt>
          <c:dPt>
            <c:idx val="13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4F-923D-F143-AF39-FDFBDD356CAB}"/>
              </c:ext>
            </c:extLst>
          </c:dPt>
          <c:dPt>
            <c:idx val="13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51-923D-F143-AF39-FDFBDD356CAB}"/>
              </c:ext>
            </c:extLst>
          </c:dPt>
          <c:dPt>
            <c:idx val="13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53-923D-F143-AF39-FDFBDD356CAB}"/>
              </c:ext>
            </c:extLst>
          </c:dPt>
          <c:dPt>
            <c:idx val="13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55-923D-F143-AF39-FDFBDD356CAB}"/>
              </c:ext>
            </c:extLst>
          </c:dPt>
          <c:dPt>
            <c:idx val="13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57-923D-F143-AF39-FDFBDD356CAB}"/>
              </c:ext>
            </c:extLst>
          </c:dPt>
          <c:dPt>
            <c:idx val="13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59-923D-F143-AF39-FDFBDD356CAB}"/>
              </c:ext>
            </c:extLst>
          </c:dPt>
          <c:dPt>
            <c:idx val="13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5B-923D-F143-AF39-FDFBDD356CAB}"/>
              </c:ext>
            </c:extLst>
          </c:dPt>
          <c:dPt>
            <c:idx val="14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5D-923D-F143-AF39-FDFBDD356CAB}"/>
              </c:ext>
            </c:extLst>
          </c:dPt>
          <c:dPt>
            <c:idx val="14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5F-923D-F143-AF39-FDFBDD356CAB}"/>
              </c:ext>
            </c:extLst>
          </c:dPt>
          <c:dPt>
            <c:idx val="14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61-923D-F143-AF39-FDFBDD356CAB}"/>
              </c:ext>
            </c:extLst>
          </c:dPt>
          <c:dPt>
            <c:idx val="14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63-923D-F143-AF39-FDFBDD356CAB}"/>
              </c:ext>
            </c:extLst>
          </c:dPt>
          <c:dPt>
            <c:idx val="14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65-923D-F143-AF39-FDFBDD356CAB}"/>
              </c:ext>
            </c:extLst>
          </c:dPt>
          <c:dPt>
            <c:idx val="14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67-923D-F143-AF39-FDFBDD356CAB}"/>
              </c:ext>
            </c:extLst>
          </c:dPt>
          <c:dPt>
            <c:idx val="146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69-923D-F143-AF39-FDFBDD356CAB}"/>
              </c:ext>
            </c:extLst>
          </c:dPt>
          <c:dPt>
            <c:idx val="147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6B-923D-F143-AF39-FDFBDD356CAB}"/>
              </c:ext>
            </c:extLst>
          </c:dPt>
          <c:dPt>
            <c:idx val="148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6D-923D-F143-AF39-FDFBDD356CAB}"/>
              </c:ext>
            </c:extLst>
          </c:dPt>
          <c:dPt>
            <c:idx val="149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6F-923D-F143-AF39-FDFBDD356CAB}"/>
              </c:ext>
            </c:extLst>
          </c:dPt>
          <c:dPt>
            <c:idx val="150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71-923D-F143-AF39-FDFBDD356CAB}"/>
              </c:ext>
            </c:extLst>
          </c:dPt>
          <c:dPt>
            <c:idx val="151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73-923D-F143-AF39-FDFBDD356CAB}"/>
              </c:ext>
            </c:extLst>
          </c:dPt>
          <c:dPt>
            <c:idx val="152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75-923D-F143-AF39-FDFBDD356CAB}"/>
              </c:ext>
            </c:extLst>
          </c:dPt>
          <c:dPt>
            <c:idx val="153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77-923D-F143-AF39-FDFBDD356CAB}"/>
              </c:ext>
            </c:extLst>
          </c:dPt>
          <c:dPt>
            <c:idx val="154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79-923D-F143-AF39-FDFBDD356CAB}"/>
              </c:ext>
            </c:extLst>
          </c:dPt>
          <c:dPt>
            <c:idx val="155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7B-923D-F143-AF39-FDFBDD356CAB}"/>
              </c:ext>
            </c:extLst>
          </c:dPt>
          <c:dPt>
            <c:idx val="156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7D-923D-F143-AF39-FDFBDD356CAB}"/>
              </c:ext>
            </c:extLst>
          </c:dPt>
          <c:dPt>
            <c:idx val="157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7F-923D-F143-AF39-FDFBDD356CAB}"/>
              </c:ext>
            </c:extLst>
          </c:dPt>
          <c:dPt>
            <c:idx val="158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81-923D-F143-AF39-FDFBDD356CAB}"/>
              </c:ext>
            </c:extLst>
          </c:dPt>
          <c:dPt>
            <c:idx val="159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83-923D-F143-AF39-FDFBDD356CAB}"/>
              </c:ext>
            </c:extLst>
          </c:dPt>
          <c:dPt>
            <c:idx val="160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85-923D-F143-AF39-FDFBDD356CAB}"/>
              </c:ext>
            </c:extLst>
          </c:dPt>
          <c:dPt>
            <c:idx val="161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87-923D-F143-AF39-FDFBDD356CAB}"/>
              </c:ext>
            </c:extLst>
          </c:dPt>
          <c:dPt>
            <c:idx val="162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89-923D-F143-AF39-FDFBDD356CAB}"/>
              </c:ext>
            </c:extLst>
          </c:dPt>
          <c:dPt>
            <c:idx val="163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8B-923D-F143-AF39-FDFBDD356CAB}"/>
              </c:ext>
            </c:extLst>
          </c:dPt>
          <c:dPt>
            <c:idx val="164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8D-923D-F143-AF39-FDFBDD356CAB}"/>
              </c:ext>
            </c:extLst>
          </c:dPt>
          <c:dPt>
            <c:idx val="165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8F-923D-F143-AF39-FDFBDD356CAB}"/>
              </c:ext>
            </c:extLst>
          </c:dPt>
          <c:dPt>
            <c:idx val="166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91-923D-F143-AF39-FDFBDD356CAB}"/>
              </c:ext>
            </c:extLst>
          </c:dPt>
          <c:dPt>
            <c:idx val="167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93-923D-F143-AF39-FDFBDD356CAB}"/>
              </c:ext>
            </c:extLst>
          </c:dPt>
          <c:dPt>
            <c:idx val="168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95-923D-F143-AF39-FDFBDD356CAB}"/>
              </c:ext>
            </c:extLst>
          </c:dPt>
          <c:dPt>
            <c:idx val="169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97-923D-F143-AF39-FDFBDD356CAB}"/>
              </c:ext>
            </c:extLst>
          </c:dPt>
          <c:dPt>
            <c:idx val="170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99-923D-F143-AF39-FDFBDD356CAB}"/>
              </c:ext>
            </c:extLst>
          </c:dPt>
          <c:dPt>
            <c:idx val="171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9B-923D-F143-AF39-FDFBDD356CAB}"/>
              </c:ext>
            </c:extLst>
          </c:dPt>
          <c:dPt>
            <c:idx val="172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9D-923D-F143-AF39-FDFBDD356CAB}"/>
              </c:ext>
            </c:extLst>
          </c:dPt>
          <c:dPt>
            <c:idx val="173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9F-923D-F143-AF39-FDFBDD356CAB}"/>
              </c:ext>
            </c:extLst>
          </c:dPt>
          <c:dPt>
            <c:idx val="174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A1-923D-F143-AF39-FDFBDD356CAB}"/>
              </c:ext>
            </c:extLst>
          </c:dPt>
          <c:dPt>
            <c:idx val="175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A3-923D-F143-AF39-FDFBDD356CAB}"/>
              </c:ext>
            </c:extLst>
          </c:dPt>
          <c:dPt>
            <c:idx val="176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A5-923D-F143-AF39-FDFBDD356CAB}"/>
              </c:ext>
            </c:extLst>
          </c:dPt>
          <c:dPt>
            <c:idx val="177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A7-923D-F143-AF39-FDFBDD356CAB}"/>
              </c:ext>
            </c:extLst>
          </c:dPt>
          <c:dPt>
            <c:idx val="178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A9-923D-F143-AF39-FDFBDD356CAB}"/>
              </c:ext>
            </c:extLst>
          </c:dPt>
          <c:dPt>
            <c:idx val="179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AB-923D-F143-AF39-FDFBDD356CAB}"/>
              </c:ext>
            </c:extLst>
          </c:dPt>
          <c:dPt>
            <c:idx val="180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AD-923D-F143-AF39-FDFBDD356CAB}"/>
              </c:ext>
            </c:extLst>
          </c:dPt>
          <c:dPt>
            <c:idx val="181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AF-923D-F143-AF39-FDFBDD356CAB}"/>
              </c:ext>
            </c:extLst>
          </c:dPt>
          <c:dPt>
            <c:idx val="182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B1-923D-F143-AF39-FDFBDD356CAB}"/>
              </c:ext>
            </c:extLst>
          </c:dPt>
          <c:dPt>
            <c:idx val="183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B3-923D-F143-AF39-FDFBDD356CAB}"/>
              </c:ext>
            </c:extLst>
          </c:dPt>
          <c:dPt>
            <c:idx val="184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B5-923D-F143-AF39-FDFBDD356CAB}"/>
              </c:ext>
            </c:extLst>
          </c:dPt>
          <c:dPt>
            <c:idx val="185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B7-923D-F143-AF39-FDFBDD356CAB}"/>
              </c:ext>
            </c:extLst>
          </c:dPt>
          <c:dPt>
            <c:idx val="186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B9-923D-F143-AF39-FDFBDD356CAB}"/>
              </c:ext>
            </c:extLst>
          </c:dPt>
          <c:dPt>
            <c:idx val="187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BB-923D-F143-AF39-FDFBDD356CAB}"/>
              </c:ext>
            </c:extLst>
          </c:dPt>
          <c:dPt>
            <c:idx val="188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BD-923D-F143-AF39-FDFBDD356CAB}"/>
              </c:ext>
            </c:extLst>
          </c:dPt>
          <c:dPt>
            <c:idx val="189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BF-923D-F143-AF39-FDFBDD356CAB}"/>
              </c:ext>
            </c:extLst>
          </c:dPt>
          <c:dPt>
            <c:idx val="190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C1-923D-F143-AF39-FDFBDD356CAB}"/>
              </c:ext>
            </c:extLst>
          </c:dPt>
          <c:dPt>
            <c:idx val="191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C3-923D-F143-AF39-FDFBDD356CAB}"/>
              </c:ext>
            </c:extLst>
          </c:dPt>
          <c:dPt>
            <c:idx val="192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C5-923D-F143-AF39-FDFBDD356CAB}"/>
              </c:ext>
            </c:extLst>
          </c:dPt>
          <c:dPt>
            <c:idx val="193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C7-923D-F143-AF39-FDFBDD356CAB}"/>
              </c:ext>
            </c:extLst>
          </c:dPt>
          <c:dPt>
            <c:idx val="194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C9-923D-F143-AF39-FDFBDD356CAB}"/>
              </c:ext>
            </c:extLst>
          </c:dPt>
          <c:dPt>
            <c:idx val="195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CB-923D-F143-AF39-FDFBDD356CAB}"/>
              </c:ext>
            </c:extLst>
          </c:dPt>
          <c:dPt>
            <c:idx val="196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CD-923D-F143-AF39-FDFBDD356CAB}"/>
              </c:ext>
            </c:extLst>
          </c:dPt>
          <c:dPt>
            <c:idx val="197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CF-923D-F143-AF39-FDFBDD356CAB}"/>
              </c:ext>
            </c:extLst>
          </c:dPt>
          <c:dPt>
            <c:idx val="198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D1-923D-F143-AF39-FDFBDD356CAB}"/>
              </c:ext>
            </c:extLst>
          </c:dPt>
          <c:dPt>
            <c:idx val="199"/>
            <c:invertIfNegative val="0"/>
            <c:bubble3D val="0"/>
            <c:spPr>
              <a:solidFill>
                <a:srgbClr val="AFC2C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D3-923D-F143-AF39-FDFBDD356CAB}"/>
              </c:ext>
            </c:extLst>
          </c:dPt>
          <c:cat>
            <c:strRef>
              <c:f>Sheet1!$A$2:$A$201</c:f>
              <c:strCache>
                <c:ptCount val="200"/>
              </c:strCache>
            </c:strRef>
          </c:cat>
          <c:val>
            <c:numRef>
              <c:f>Sheet1!$F$2:$F$201</c:f>
              <c:numCache>
                <c:formatCode>0%</c:formatCode>
                <c:ptCount val="200"/>
                <c:pt idx="0">
                  <c:v>138113</c:v>
                </c:pt>
                <c:pt idx="1">
                  <c:v>138113</c:v>
                </c:pt>
                <c:pt idx="2">
                  <c:v>138113</c:v>
                </c:pt>
                <c:pt idx="3">
                  <c:v>138113</c:v>
                </c:pt>
                <c:pt idx="4">
                  <c:v>138113</c:v>
                </c:pt>
                <c:pt idx="5">
                  <c:v>138113</c:v>
                </c:pt>
                <c:pt idx="6">
                  <c:v>138113</c:v>
                </c:pt>
                <c:pt idx="7">
                  <c:v>138113</c:v>
                </c:pt>
                <c:pt idx="8">
                  <c:v>138113</c:v>
                </c:pt>
                <c:pt idx="9">
                  <c:v>138113</c:v>
                </c:pt>
                <c:pt idx="10">
                  <c:v>138113</c:v>
                </c:pt>
                <c:pt idx="11">
                  <c:v>138113</c:v>
                </c:pt>
                <c:pt idx="12">
                  <c:v>138113</c:v>
                </c:pt>
                <c:pt idx="13">
                  <c:v>138113</c:v>
                </c:pt>
                <c:pt idx="14">
                  <c:v>138113</c:v>
                </c:pt>
                <c:pt idx="15">
                  <c:v>138113</c:v>
                </c:pt>
                <c:pt idx="16">
                  <c:v>138113</c:v>
                </c:pt>
                <c:pt idx="17">
                  <c:v>138113</c:v>
                </c:pt>
                <c:pt idx="18">
                  <c:v>138113</c:v>
                </c:pt>
                <c:pt idx="19">
                  <c:v>138113</c:v>
                </c:pt>
                <c:pt idx="20">
                  <c:v>138113</c:v>
                </c:pt>
                <c:pt idx="21">
                  <c:v>138113</c:v>
                </c:pt>
                <c:pt idx="22">
                  <c:v>138113</c:v>
                </c:pt>
                <c:pt idx="23">
                  <c:v>138113</c:v>
                </c:pt>
                <c:pt idx="24">
                  <c:v>138113</c:v>
                </c:pt>
                <c:pt idx="25">
                  <c:v>138113</c:v>
                </c:pt>
                <c:pt idx="26">
                  <c:v>138113</c:v>
                </c:pt>
                <c:pt idx="27">
                  <c:v>138113</c:v>
                </c:pt>
                <c:pt idx="28">
                  <c:v>138113</c:v>
                </c:pt>
                <c:pt idx="29">
                  <c:v>138113</c:v>
                </c:pt>
                <c:pt idx="30">
                  <c:v>138113</c:v>
                </c:pt>
                <c:pt idx="31">
                  <c:v>138113</c:v>
                </c:pt>
                <c:pt idx="32">
                  <c:v>138113</c:v>
                </c:pt>
                <c:pt idx="33">
                  <c:v>138113</c:v>
                </c:pt>
                <c:pt idx="34">
                  <c:v>138113</c:v>
                </c:pt>
                <c:pt idx="35">
                  <c:v>138113</c:v>
                </c:pt>
                <c:pt idx="36">
                  <c:v>138113</c:v>
                </c:pt>
                <c:pt idx="37">
                  <c:v>138113</c:v>
                </c:pt>
                <c:pt idx="38">
                  <c:v>138113</c:v>
                </c:pt>
                <c:pt idx="39">
                  <c:v>138113</c:v>
                </c:pt>
                <c:pt idx="40">
                  <c:v>138113</c:v>
                </c:pt>
                <c:pt idx="41">
                  <c:v>138113</c:v>
                </c:pt>
                <c:pt idx="42">
                  <c:v>138113</c:v>
                </c:pt>
                <c:pt idx="43">
                  <c:v>138113</c:v>
                </c:pt>
                <c:pt idx="44">
                  <c:v>138113</c:v>
                </c:pt>
                <c:pt idx="45">
                  <c:v>138113</c:v>
                </c:pt>
                <c:pt idx="46">
                  <c:v>138113</c:v>
                </c:pt>
                <c:pt idx="47">
                  <c:v>138113</c:v>
                </c:pt>
                <c:pt idx="48">
                  <c:v>138113</c:v>
                </c:pt>
                <c:pt idx="49">
                  <c:v>138113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71438</c:v>
                </c:pt>
                <c:pt idx="83">
                  <c:v>71438</c:v>
                </c:pt>
                <c:pt idx="84">
                  <c:v>71438</c:v>
                </c:pt>
                <c:pt idx="85">
                  <c:v>71438</c:v>
                </c:pt>
                <c:pt idx="86">
                  <c:v>71438</c:v>
                </c:pt>
                <c:pt idx="87">
                  <c:v>71438</c:v>
                </c:pt>
                <c:pt idx="88">
                  <c:v>71438</c:v>
                </c:pt>
                <c:pt idx="89">
                  <c:v>71438</c:v>
                </c:pt>
                <c:pt idx="90">
                  <c:v>71438</c:v>
                </c:pt>
                <c:pt idx="91">
                  <c:v>71438</c:v>
                </c:pt>
                <c:pt idx="92">
                  <c:v>71438</c:v>
                </c:pt>
                <c:pt idx="93">
                  <c:v>71438</c:v>
                </c:pt>
                <c:pt idx="94">
                  <c:v>71438</c:v>
                </c:pt>
                <c:pt idx="95">
                  <c:v>71438</c:v>
                </c:pt>
                <c:pt idx="96">
                  <c:v>71438</c:v>
                </c:pt>
                <c:pt idx="97">
                  <c:v>71438</c:v>
                </c:pt>
                <c:pt idx="98">
                  <c:v>71438</c:v>
                </c:pt>
                <c:pt idx="99">
                  <c:v>71438</c:v>
                </c:pt>
                <c:pt idx="100">
                  <c:v>71438</c:v>
                </c:pt>
                <c:pt idx="101">
                  <c:v>71438</c:v>
                </c:pt>
                <c:pt idx="102">
                  <c:v>71438</c:v>
                </c:pt>
                <c:pt idx="103">
                  <c:v>71438</c:v>
                </c:pt>
                <c:pt idx="104">
                  <c:v>71438</c:v>
                </c:pt>
                <c:pt idx="105">
                  <c:v>71438</c:v>
                </c:pt>
                <c:pt idx="106">
                  <c:v>71438</c:v>
                </c:pt>
                <c:pt idx="107">
                  <c:v>71438</c:v>
                </c:pt>
                <c:pt idx="108">
                  <c:v>71438</c:v>
                </c:pt>
                <c:pt idx="109">
                  <c:v>71438</c:v>
                </c:pt>
                <c:pt idx="110">
                  <c:v>71438</c:v>
                </c:pt>
                <c:pt idx="111">
                  <c:v>71438</c:v>
                </c:pt>
                <c:pt idx="112">
                  <c:v>71438</c:v>
                </c:pt>
                <c:pt idx="113">
                  <c:v>71438</c:v>
                </c:pt>
                <c:pt idx="114">
                  <c:v>71438</c:v>
                </c:pt>
                <c:pt idx="115">
                  <c:v>71438</c:v>
                </c:pt>
                <c:pt idx="116">
                  <c:v>71438</c:v>
                </c:pt>
                <c:pt idx="117">
                  <c:v>71438</c:v>
                </c:pt>
                <c:pt idx="118">
                  <c:v>71438</c:v>
                </c:pt>
                <c:pt idx="119">
                  <c:v>71438</c:v>
                </c:pt>
                <c:pt idx="120">
                  <c:v>71438</c:v>
                </c:pt>
                <c:pt idx="121">
                  <c:v>71438</c:v>
                </c:pt>
                <c:pt idx="122">
                  <c:v>71438</c:v>
                </c:pt>
                <c:pt idx="123">
                  <c:v>71438</c:v>
                </c:pt>
                <c:pt idx="124">
                  <c:v>71438</c:v>
                </c:pt>
                <c:pt idx="125">
                  <c:v>71438</c:v>
                </c:pt>
                <c:pt idx="126">
                  <c:v>71438</c:v>
                </c:pt>
                <c:pt idx="127">
                  <c:v>71438</c:v>
                </c:pt>
                <c:pt idx="128">
                  <c:v>71438</c:v>
                </c:pt>
                <c:pt idx="129">
                  <c:v>0</c:v>
                </c:pt>
                <c:pt idx="130">
                  <c:v>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</c:v>
                </c:pt>
                <c:pt idx="135">
                  <c:v>0</c:v>
                </c:pt>
                <c:pt idx="136">
                  <c:v>0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15875</c:v>
                </c:pt>
                <c:pt idx="147">
                  <c:v>15875</c:v>
                </c:pt>
                <c:pt idx="148">
                  <c:v>15875</c:v>
                </c:pt>
                <c:pt idx="149">
                  <c:v>15875</c:v>
                </c:pt>
                <c:pt idx="150">
                  <c:v>15875</c:v>
                </c:pt>
                <c:pt idx="151">
                  <c:v>15875</c:v>
                </c:pt>
                <c:pt idx="152">
                  <c:v>15875</c:v>
                </c:pt>
                <c:pt idx="153">
                  <c:v>15875</c:v>
                </c:pt>
                <c:pt idx="154">
                  <c:v>15875</c:v>
                </c:pt>
                <c:pt idx="155">
                  <c:v>15875</c:v>
                </c:pt>
                <c:pt idx="156">
                  <c:v>15875</c:v>
                </c:pt>
                <c:pt idx="157">
                  <c:v>15875</c:v>
                </c:pt>
                <c:pt idx="158">
                  <c:v>15875</c:v>
                </c:pt>
                <c:pt idx="159">
                  <c:v>15875</c:v>
                </c:pt>
                <c:pt idx="160">
                  <c:v>15875</c:v>
                </c:pt>
                <c:pt idx="161">
                  <c:v>15875</c:v>
                </c:pt>
                <c:pt idx="162">
                  <c:v>15875</c:v>
                </c:pt>
                <c:pt idx="163">
                  <c:v>358775</c:v>
                </c:pt>
                <c:pt idx="164">
                  <c:v>358775</c:v>
                </c:pt>
                <c:pt idx="165">
                  <c:v>358775</c:v>
                </c:pt>
                <c:pt idx="166">
                  <c:v>358775</c:v>
                </c:pt>
                <c:pt idx="167">
                  <c:v>358775</c:v>
                </c:pt>
                <c:pt idx="168">
                  <c:v>358775</c:v>
                </c:pt>
                <c:pt idx="169">
                  <c:v>358775</c:v>
                </c:pt>
                <c:pt idx="170">
                  <c:v>358775</c:v>
                </c:pt>
                <c:pt idx="171">
                  <c:v>358775</c:v>
                </c:pt>
                <c:pt idx="172">
                  <c:v>358775</c:v>
                </c:pt>
                <c:pt idx="173">
                  <c:v>358775</c:v>
                </c:pt>
                <c:pt idx="174">
                  <c:v>358775</c:v>
                </c:pt>
                <c:pt idx="175">
                  <c:v>358775</c:v>
                </c:pt>
                <c:pt idx="176">
                  <c:v>358775</c:v>
                </c:pt>
                <c:pt idx="177">
                  <c:v>358775</c:v>
                </c:pt>
                <c:pt idx="178">
                  <c:v>358775</c:v>
                </c:pt>
                <c:pt idx="179">
                  <c:v>358775</c:v>
                </c:pt>
                <c:pt idx="180">
                  <c:v>358775</c:v>
                </c:pt>
                <c:pt idx="181">
                  <c:v>358775</c:v>
                </c:pt>
                <c:pt idx="182">
                  <c:v>358775</c:v>
                </c:pt>
                <c:pt idx="183">
                  <c:v>358775</c:v>
                </c:pt>
                <c:pt idx="184">
                  <c:v>358775</c:v>
                </c:pt>
                <c:pt idx="185">
                  <c:v>358775</c:v>
                </c:pt>
                <c:pt idx="186">
                  <c:v>358775</c:v>
                </c:pt>
                <c:pt idx="187">
                  <c:v>358775</c:v>
                </c:pt>
                <c:pt idx="188">
                  <c:v>358775</c:v>
                </c:pt>
                <c:pt idx="189">
                  <c:v>358775</c:v>
                </c:pt>
                <c:pt idx="190">
                  <c:v>358775</c:v>
                </c:pt>
                <c:pt idx="191">
                  <c:v>358775</c:v>
                </c:pt>
                <c:pt idx="192">
                  <c:v>358775</c:v>
                </c:pt>
                <c:pt idx="193">
                  <c:v>358775</c:v>
                </c:pt>
                <c:pt idx="194">
                  <c:v>358775</c:v>
                </c:pt>
                <c:pt idx="195">
                  <c:v>358775</c:v>
                </c:pt>
                <c:pt idx="196">
                  <c:v>358775</c:v>
                </c:pt>
                <c:pt idx="197">
                  <c:v>358775</c:v>
                </c:pt>
                <c:pt idx="198">
                  <c:v>358775</c:v>
                </c:pt>
                <c:pt idx="199">
                  <c:v>358775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7D4-923D-F143-AF39-FDFBDD356CAB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Layer 6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D6-923D-F143-AF39-FDFBDD356CAB}"/>
              </c:ext>
            </c:extLst>
          </c:dPt>
          <c:dPt>
            <c:idx val="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D8-923D-F143-AF39-FDFBDD356CAB}"/>
              </c:ext>
            </c:extLst>
          </c:dPt>
          <c:dPt>
            <c:idx val="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DA-923D-F143-AF39-FDFBDD356CAB}"/>
              </c:ext>
            </c:extLst>
          </c:dPt>
          <c:dPt>
            <c:idx val="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DC-923D-F143-AF39-FDFBDD356CAB}"/>
              </c:ext>
            </c:extLst>
          </c:dPt>
          <c:dPt>
            <c:idx val="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DE-923D-F143-AF39-FDFBDD356CAB}"/>
              </c:ext>
            </c:extLst>
          </c:dPt>
          <c:dPt>
            <c:idx val="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E0-923D-F143-AF39-FDFBDD356CAB}"/>
              </c:ext>
            </c:extLst>
          </c:dPt>
          <c:dPt>
            <c:idx val="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E2-923D-F143-AF39-FDFBDD356CAB}"/>
              </c:ext>
            </c:extLst>
          </c:dPt>
          <c:dPt>
            <c:idx val="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E4-923D-F143-AF39-FDFBDD356CAB}"/>
              </c:ext>
            </c:extLst>
          </c:dPt>
          <c:dPt>
            <c:idx val="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E6-923D-F143-AF39-FDFBDD356CAB}"/>
              </c:ext>
            </c:extLst>
          </c:dPt>
          <c:dPt>
            <c:idx val="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E8-923D-F143-AF39-FDFBDD356CAB}"/>
              </c:ext>
            </c:extLst>
          </c:dPt>
          <c:dPt>
            <c:idx val="1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EA-923D-F143-AF39-FDFBDD356CAB}"/>
              </c:ext>
            </c:extLst>
          </c:dPt>
          <c:dPt>
            <c:idx val="1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EC-923D-F143-AF39-FDFBDD356CAB}"/>
              </c:ext>
            </c:extLst>
          </c:dPt>
          <c:dPt>
            <c:idx val="1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EE-923D-F143-AF39-FDFBDD356CAB}"/>
              </c:ext>
            </c:extLst>
          </c:dPt>
          <c:dPt>
            <c:idx val="1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F0-923D-F143-AF39-FDFBDD356CAB}"/>
              </c:ext>
            </c:extLst>
          </c:dPt>
          <c:dPt>
            <c:idx val="1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F2-923D-F143-AF39-FDFBDD356CAB}"/>
              </c:ext>
            </c:extLst>
          </c:dPt>
          <c:dPt>
            <c:idx val="1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F4-923D-F143-AF39-FDFBDD356CAB}"/>
              </c:ext>
            </c:extLst>
          </c:dPt>
          <c:dPt>
            <c:idx val="1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F6-923D-F143-AF39-FDFBDD356CAB}"/>
              </c:ext>
            </c:extLst>
          </c:dPt>
          <c:dPt>
            <c:idx val="1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F8-923D-F143-AF39-FDFBDD356CAB}"/>
              </c:ext>
            </c:extLst>
          </c:dPt>
          <c:dPt>
            <c:idx val="1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FA-923D-F143-AF39-FDFBDD356CAB}"/>
              </c:ext>
            </c:extLst>
          </c:dPt>
          <c:dPt>
            <c:idx val="1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FC-923D-F143-AF39-FDFBDD356CAB}"/>
              </c:ext>
            </c:extLst>
          </c:dPt>
          <c:dPt>
            <c:idx val="2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7FE-923D-F143-AF39-FDFBDD356CAB}"/>
              </c:ext>
            </c:extLst>
          </c:dPt>
          <c:dPt>
            <c:idx val="2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00-923D-F143-AF39-FDFBDD356CAB}"/>
              </c:ext>
            </c:extLst>
          </c:dPt>
          <c:dPt>
            <c:idx val="2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02-923D-F143-AF39-FDFBDD356CAB}"/>
              </c:ext>
            </c:extLst>
          </c:dPt>
          <c:dPt>
            <c:idx val="2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04-923D-F143-AF39-FDFBDD356CAB}"/>
              </c:ext>
            </c:extLst>
          </c:dPt>
          <c:dPt>
            <c:idx val="2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06-923D-F143-AF39-FDFBDD356CAB}"/>
              </c:ext>
            </c:extLst>
          </c:dPt>
          <c:dPt>
            <c:idx val="2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08-923D-F143-AF39-FDFBDD356CAB}"/>
              </c:ext>
            </c:extLst>
          </c:dPt>
          <c:dPt>
            <c:idx val="2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0A-923D-F143-AF39-FDFBDD356CAB}"/>
              </c:ext>
            </c:extLst>
          </c:dPt>
          <c:dPt>
            <c:idx val="2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0C-923D-F143-AF39-FDFBDD356CAB}"/>
              </c:ext>
            </c:extLst>
          </c:dPt>
          <c:dPt>
            <c:idx val="2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0E-923D-F143-AF39-FDFBDD356CAB}"/>
              </c:ext>
            </c:extLst>
          </c:dPt>
          <c:dPt>
            <c:idx val="2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10-923D-F143-AF39-FDFBDD356CAB}"/>
              </c:ext>
            </c:extLst>
          </c:dPt>
          <c:dPt>
            <c:idx val="3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12-923D-F143-AF39-FDFBDD356CAB}"/>
              </c:ext>
            </c:extLst>
          </c:dPt>
          <c:dPt>
            <c:idx val="3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14-923D-F143-AF39-FDFBDD356CAB}"/>
              </c:ext>
            </c:extLst>
          </c:dPt>
          <c:dPt>
            <c:idx val="3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16-923D-F143-AF39-FDFBDD356CAB}"/>
              </c:ext>
            </c:extLst>
          </c:dPt>
          <c:dPt>
            <c:idx val="3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18-923D-F143-AF39-FDFBDD356CAB}"/>
              </c:ext>
            </c:extLst>
          </c:dPt>
          <c:dPt>
            <c:idx val="3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1A-923D-F143-AF39-FDFBDD356CAB}"/>
              </c:ext>
            </c:extLst>
          </c:dPt>
          <c:dPt>
            <c:idx val="3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1C-923D-F143-AF39-FDFBDD356CAB}"/>
              </c:ext>
            </c:extLst>
          </c:dPt>
          <c:dPt>
            <c:idx val="3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1E-923D-F143-AF39-FDFBDD356CAB}"/>
              </c:ext>
            </c:extLst>
          </c:dPt>
          <c:dPt>
            <c:idx val="3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20-923D-F143-AF39-FDFBDD356CAB}"/>
              </c:ext>
            </c:extLst>
          </c:dPt>
          <c:dPt>
            <c:idx val="3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22-923D-F143-AF39-FDFBDD356CAB}"/>
              </c:ext>
            </c:extLst>
          </c:dPt>
          <c:dPt>
            <c:idx val="3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24-923D-F143-AF39-FDFBDD356CAB}"/>
              </c:ext>
            </c:extLst>
          </c:dPt>
          <c:dPt>
            <c:idx val="4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26-923D-F143-AF39-FDFBDD356CAB}"/>
              </c:ext>
            </c:extLst>
          </c:dPt>
          <c:dPt>
            <c:idx val="4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28-923D-F143-AF39-FDFBDD356CAB}"/>
              </c:ext>
            </c:extLst>
          </c:dPt>
          <c:dPt>
            <c:idx val="4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2A-923D-F143-AF39-FDFBDD356CAB}"/>
              </c:ext>
            </c:extLst>
          </c:dPt>
          <c:dPt>
            <c:idx val="4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2C-923D-F143-AF39-FDFBDD356CAB}"/>
              </c:ext>
            </c:extLst>
          </c:dPt>
          <c:dPt>
            <c:idx val="4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2E-923D-F143-AF39-FDFBDD356CAB}"/>
              </c:ext>
            </c:extLst>
          </c:dPt>
          <c:dPt>
            <c:idx val="4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30-923D-F143-AF39-FDFBDD356CAB}"/>
              </c:ext>
            </c:extLst>
          </c:dPt>
          <c:dPt>
            <c:idx val="4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32-923D-F143-AF39-FDFBDD356CAB}"/>
              </c:ext>
            </c:extLst>
          </c:dPt>
          <c:dPt>
            <c:idx val="4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34-923D-F143-AF39-FDFBDD356CAB}"/>
              </c:ext>
            </c:extLst>
          </c:dPt>
          <c:dPt>
            <c:idx val="4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36-923D-F143-AF39-FDFBDD356CAB}"/>
              </c:ext>
            </c:extLst>
          </c:dPt>
          <c:dPt>
            <c:idx val="4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38-923D-F143-AF39-FDFBDD356CAB}"/>
              </c:ext>
            </c:extLst>
          </c:dPt>
          <c:dPt>
            <c:idx val="5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3A-923D-F143-AF39-FDFBDD356CAB}"/>
              </c:ext>
            </c:extLst>
          </c:dPt>
          <c:dPt>
            <c:idx val="5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3C-923D-F143-AF39-FDFBDD356CAB}"/>
              </c:ext>
            </c:extLst>
          </c:dPt>
          <c:dPt>
            <c:idx val="5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3E-923D-F143-AF39-FDFBDD356CAB}"/>
              </c:ext>
            </c:extLst>
          </c:dPt>
          <c:dPt>
            <c:idx val="5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40-923D-F143-AF39-FDFBDD356CAB}"/>
              </c:ext>
            </c:extLst>
          </c:dPt>
          <c:dPt>
            <c:idx val="5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42-923D-F143-AF39-FDFBDD356CAB}"/>
              </c:ext>
            </c:extLst>
          </c:dPt>
          <c:dPt>
            <c:idx val="5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44-923D-F143-AF39-FDFBDD356CAB}"/>
              </c:ext>
            </c:extLst>
          </c:dPt>
          <c:dPt>
            <c:idx val="5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46-923D-F143-AF39-FDFBDD356CAB}"/>
              </c:ext>
            </c:extLst>
          </c:dPt>
          <c:dPt>
            <c:idx val="5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48-923D-F143-AF39-FDFBDD356CAB}"/>
              </c:ext>
            </c:extLst>
          </c:dPt>
          <c:dPt>
            <c:idx val="5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4A-923D-F143-AF39-FDFBDD356CAB}"/>
              </c:ext>
            </c:extLst>
          </c:dPt>
          <c:dPt>
            <c:idx val="5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4C-923D-F143-AF39-FDFBDD356CAB}"/>
              </c:ext>
            </c:extLst>
          </c:dPt>
          <c:dPt>
            <c:idx val="6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4E-923D-F143-AF39-FDFBDD356CAB}"/>
              </c:ext>
            </c:extLst>
          </c:dPt>
          <c:dPt>
            <c:idx val="6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50-923D-F143-AF39-FDFBDD356CAB}"/>
              </c:ext>
            </c:extLst>
          </c:dPt>
          <c:dPt>
            <c:idx val="6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52-923D-F143-AF39-FDFBDD356CAB}"/>
              </c:ext>
            </c:extLst>
          </c:dPt>
          <c:dPt>
            <c:idx val="6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54-923D-F143-AF39-FDFBDD356CAB}"/>
              </c:ext>
            </c:extLst>
          </c:dPt>
          <c:dPt>
            <c:idx val="6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56-923D-F143-AF39-FDFBDD356CAB}"/>
              </c:ext>
            </c:extLst>
          </c:dPt>
          <c:dPt>
            <c:idx val="6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58-923D-F143-AF39-FDFBDD356CAB}"/>
              </c:ext>
            </c:extLst>
          </c:dPt>
          <c:dPt>
            <c:idx val="6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5A-923D-F143-AF39-FDFBDD356CAB}"/>
              </c:ext>
            </c:extLst>
          </c:dPt>
          <c:dPt>
            <c:idx val="6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5C-923D-F143-AF39-FDFBDD356CAB}"/>
              </c:ext>
            </c:extLst>
          </c:dPt>
          <c:dPt>
            <c:idx val="6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5E-923D-F143-AF39-FDFBDD356CAB}"/>
              </c:ext>
            </c:extLst>
          </c:dPt>
          <c:dPt>
            <c:idx val="6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60-923D-F143-AF39-FDFBDD356CAB}"/>
              </c:ext>
            </c:extLst>
          </c:dPt>
          <c:dPt>
            <c:idx val="7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62-923D-F143-AF39-FDFBDD356CAB}"/>
              </c:ext>
            </c:extLst>
          </c:dPt>
          <c:dPt>
            <c:idx val="7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64-923D-F143-AF39-FDFBDD356CAB}"/>
              </c:ext>
            </c:extLst>
          </c:dPt>
          <c:dPt>
            <c:idx val="7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66-923D-F143-AF39-FDFBDD356CAB}"/>
              </c:ext>
            </c:extLst>
          </c:dPt>
          <c:dPt>
            <c:idx val="7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68-923D-F143-AF39-FDFBDD356CAB}"/>
              </c:ext>
            </c:extLst>
          </c:dPt>
          <c:dPt>
            <c:idx val="7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6A-923D-F143-AF39-FDFBDD356CAB}"/>
              </c:ext>
            </c:extLst>
          </c:dPt>
          <c:dPt>
            <c:idx val="7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6C-923D-F143-AF39-FDFBDD356CAB}"/>
              </c:ext>
            </c:extLst>
          </c:dPt>
          <c:dPt>
            <c:idx val="7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6E-923D-F143-AF39-FDFBDD356CAB}"/>
              </c:ext>
            </c:extLst>
          </c:dPt>
          <c:dPt>
            <c:idx val="7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70-923D-F143-AF39-FDFBDD356CAB}"/>
              </c:ext>
            </c:extLst>
          </c:dPt>
          <c:dPt>
            <c:idx val="7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72-923D-F143-AF39-FDFBDD356CAB}"/>
              </c:ext>
            </c:extLst>
          </c:dPt>
          <c:dPt>
            <c:idx val="7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74-923D-F143-AF39-FDFBDD356CAB}"/>
              </c:ext>
            </c:extLst>
          </c:dPt>
          <c:dPt>
            <c:idx val="8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76-923D-F143-AF39-FDFBDD356CAB}"/>
              </c:ext>
            </c:extLst>
          </c:dPt>
          <c:dPt>
            <c:idx val="8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78-923D-F143-AF39-FDFBDD356CAB}"/>
              </c:ext>
            </c:extLst>
          </c:dPt>
          <c:dPt>
            <c:idx val="8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7A-923D-F143-AF39-FDFBDD356CAB}"/>
              </c:ext>
            </c:extLst>
          </c:dPt>
          <c:dPt>
            <c:idx val="8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7C-923D-F143-AF39-FDFBDD356CAB}"/>
              </c:ext>
            </c:extLst>
          </c:dPt>
          <c:dPt>
            <c:idx val="8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7E-923D-F143-AF39-FDFBDD356CAB}"/>
              </c:ext>
            </c:extLst>
          </c:dPt>
          <c:dPt>
            <c:idx val="8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80-923D-F143-AF39-FDFBDD356CAB}"/>
              </c:ext>
            </c:extLst>
          </c:dPt>
          <c:dPt>
            <c:idx val="8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82-923D-F143-AF39-FDFBDD356CAB}"/>
              </c:ext>
            </c:extLst>
          </c:dPt>
          <c:dPt>
            <c:idx val="8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84-923D-F143-AF39-FDFBDD356CAB}"/>
              </c:ext>
            </c:extLst>
          </c:dPt>
          <c:dPt>
            <c:idx val="8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86-923D-F143-AF39-FDFBDD356CAB}"/>
              </c:ext>
            </c:extLst>
          </c:dPt>
          <c:dPt>
            <c:idx val="8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88-923D-F143-AF39-FDFBDD356CAB}"/>
              </c:ext>
            </c:extLst>
          </c:dPt>
          <c:dPt>
            <c:idx val="9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8A-923D-F143-AF39-FDFBDD356CAB}"/>
              </c:ext>
            </c:extLst>
          </c:dPt>
          <c:dPt>
            <c:idx val="9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8C-923D-F143-AF39-FDFBDD356CAB}"/>
              </c:ext>
            </c:extLst>
          </c:dPt>
          <c:dPt>
            <c:idx val="9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8E-923D-F143-AF39-FDFBDD356CAB}"/>
              </c:ext>
            </c:extLst>
          </c:dPt>
          <c:dPt>
            <c:idx val="9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90-923D-F143-AF39-FDFBDD356CAB}"/>
              </c:ext>
            </c:extLst>
          </c:dPt>
          <c:dPt>
            <c:idx val="9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92-923D-F143-AF39-FDFBDD356CAB}"/>
              </c:ext>
            </c:extLst>
          </c:dPt>
          <c:dPt>
            <c:idx val="9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94-923D-F143-AF39-FDFBDD356CAB}"/>
              </c:ext>
            </c:extLst>
          </c:dPt>
          <c:dPt>
            <c:idx val="9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96-923D-F143-AF39-FDFBDD356CAB}"/>
              </c:ext>
            </c:extLst>
          </c:dPt>
          <c:dPt>
            <c:idx val="9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98-923D-F143-AF39-FDFBDD356CAB}"/>
              </c:ext>
            </c:extLst>
          </c:dPt>
          <c:dPt>
            <c:idx val="9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9A-923D-F143-AF39-FDFBDD356CAB}"/>
              </c:ext>
            </c:extLst>
          </c:dPt>
          <c:dPt>
            <c:idx val="9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9C-923D-F143-AF39-FDFBDD356CAB}"/>
              </c:ext>
            </c:extLst>
          </c:dPt>
          <c:dPt>
            <c:idx val="10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9E-923D-F143-AF39-FDFBDD356CAB}"/>
              </c:ext>
            </c:extLst>
          </c:dPt>
          <c:dPt>
            <c:idx val="10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A0-923D-F143-AF39-FDFBDD356CAB}"/>
              </c:ext>
            </c:extLst>
          </c:dPt>
          <c:dPt>
            <c:idx val="10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A2-923D-F143-AF39-FDFBDD356CAB}"/>
              </c:ext>
            </c:extLst>
          </c:dPt>
          <c:dPt>
            <c:idx val="10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A4-923D-F143-AF39-FDFBDD356CAB}"/>
              </c:ext>
            </c:extLst>
          </c:dPt>
          <c:dPt>
            <c:idx val="10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A6-923D-F143-AF39-FDFBDD356CAB}"/>
              </c:ext>
            </c:extLst>
          </c:dPt>
          <c:dPt>
            <c:idx val="10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A8-923D-F143-AF39-FDFBDD356CAB}"/>
              </c:ext>
            </c:extLst>
          </c:dPt>
          <c:dPt>
            <c:idx val="10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AA-923D-F143-AF39-FDFBDD356CAB}"/>
              </c:ext>
            </c:extLst>
          </c:dPt>
          <c:dPt>
            <c:idx val="10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AC-923D-F143-AF39-FDFBDD356CAB}"/>
              </c:ext>
            </c:extLst>
          </c:dPt>
          <c:dPt>
            <c:idx val="10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AE-923D-F143-AF39-FDFBDD356CAB}"/>
              </c:ext>
            </c:extLst>
          </c:dPt>
          <c:dPt>
            <c:idx val="10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B0-923D-F143-AF39-FDFBDD356CAB}"/>
              </c:ext>
            </c:extLst>
          </c:dPt>
          <c:dPt>
            <c:idx val="11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B2-923D-F143-AF39-FDFBDD356CAB}"/>
              </c:ext>
            </c:extLst>
          </c:dPt>
          <c:dPt>
            <c:idx val="11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B4-923D-F143-AF39-FDFBDD356CAB}"/>
              </c:ext>
            </c:extLst>
          </c:dPt>
          <c:dPt>
            <c:idx val="11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B6-923D-F143-AF39-FDFBDD356CAB}"/>
              </c:ext>
            </c:extLst>
          </c:dPt>
          <c:dPt>
            <c:idx val="11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B8-923D-F143-AF39-FDFBDD356CAB}"/>
              </c:ext>
            </c:extLst>
          </c:dPt>
          <c:dPt>
            <c:idx val="11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BA-923D-F143-AF39-FDFBDD356CAB}"/>
              </c:ext>
            </c:extLst>
          </c:dPt>
          <c:dPt>
            <c:idx val="11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BC-923D-F143-AF39-FDFBDD356CAB}"/>
              </c:ext>
            </c:extLst>
          </c:dPt>
          <c:dPt>
            <c:idx val="11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BE-923D-F143-AF39-FDFBDD356CAB}"/>
              </c:ext>
            </c:extLst>
          </c:dPt>
          <c:dPt>
            <c:idx val="11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C0-923D-F143-AF39-FDFBDD356CAB}"/>
              </c:ext>
            </c:extLst>
          </c:dPt>
          <c:dPt>
            <c:idx val="11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C2-923D-F143-AF39-FDFBDD356CAB}"/>
              </c:ext>
            </c:extLst>
          </c:dPt>
          <c:dPt>
            <c:idx val="119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C4-923D-F143-AF39-FDFBDD356CAB}"/>
              </c:ext>
            </c:extLst>
          </c:dPt>
          <c:dPt>
            <c:idx val="120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C6-923D-F143-AF39-FDFBDD356CAB}"/>
              </c:ext>
            </c:extLst>
          </c:dPt>
          <c:dPt>
            <c:idx val="121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C8-923D-F143-AF39-FDFBDD356CAB}"/>
              </c:ext>
            </c:extLst>
          </c:dPt>
          <c:dPt>
            <c:idx val="122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CA-923D-F143-AF39-FDFBDD356CAB}"/>
              </c:ext>
            </c:extLst>
          </c:dPt>
          <c:dPt>
            <c:idx val="123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CC-923D-F143-AF39-FDFBDD356CAB}"/>
              </c:ext>
            </c:extLst>
          </c:dPt>
          <c:dPt>
            <c:idx val="124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CE-923D-F143-AF39-FDFBDD356CAB}"/>
              </c:ext>
            </c:extLst>
          </c:dPt>
          <c:dPt>
            <c:idx val="125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D0-923D-F143-AF39-FDFBDD356CAB}"/>
              </c:ext>
            </c:extLst>
          </c:dPt>
          <c:dPt>
            <c:idx val="126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D2-923D-F143-AF39-FDFBDD356CAB}"/>
              </c:ext>
            </c:extLst>
          </c:dPt>
          <c:dPt>
            <c:idx val="127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D4-923D-F143-AF39-FDFBDD356CAB}"/>
              </c:ext>
            </c:extLst>
          </c:dPt>
          <c:dPt>
            <c:idx val="128"/>
            <c:invertIfNegative val="0"/>
            <c:bubble3D val="0"/>
            <c:spPr>
              <a:solidFill>
                <a:srgbClr val="D8E3E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D6-923D-F143-AF39-FDFBDD356CAB}"/>
              </c:ext>
            </c:extLst>
          </c:dPt>
          <c:dPt>
            <c:idx val="12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D8-923D-F143-AF39-FDFBDD356CAB}"/>
              </c:ext>
            </c:extLst>
          </c:dPt>
          <c:dPt>
            <c:idx val="13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DA-923D-F143-AF39-FDFBDD356CAB}"/>
              </c:ext>
            </c:extLst>
          </c:dPt>
          <c:dPt>
            <c:idx val="13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DC-923D-F143-AF39-FDFBDD356CAB}"/>
              </c:ext>
            </c:extLst>
          </c:dPt>
          <c:dPt>
            <c:idx val="13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DE-923D-F143-AF39-FDFBDD356CAB}"/>
              </c:ext>
            </c:extLst>
          </c:dPt>
          <c:dPt>
            <c:idx val="13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E0-923D-F143-AF39-FDFBDD356CAB}"/>
              </c:ext>
            </c:extLst>
          </c:dPt>
          <c:dPt>
            <c:idx val="13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E2-923D-F143-AF39-FDFBDD356CAB}"/>
              </c:ext>
            </c:extLst>
          </c:dPt>
          <c:dPt>
            <c:idx val="13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E4-923D-F143-AF39-FDFBDD356CAB}"/>
              </c:ext>
            </c:extLst>
          </c:dPt>
          <c:dPt>
            <c:idx val="13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E6-923D-F143-AF39-FDFBDD356CAB}"/>
              </c:ext>
            </c:extLst>
          </c:dPt>
          <c:dPt>
            <c:idx val="13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E8-923D-F143-AF39-FDFBDD356CAB}"/>
              </c:ext>
            </c:extLst>
          </c:dPt>
          <c:dPt>
            <c:idx val="13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EA-923D-F143-AF39-FDFBDD356CAB}"/>
              </c:ext>
            </c:extLst>
          </c:dPt>
          <c:dPt>
            <c:idx val="13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EC-923D-F143-AF39-FDFBDD356CAB}"/>
              </c:ext>
            </c:extLst>
          </c:dPt>
          <c:dPt>
            <c:idx val="14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EE-923D-F143-AF39-FDFBDD356CAB}"/>
              </c:ext>
            </c:extLst>
          </c:dPt>
          <c:dPt>
            <c:idx val="14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F0-923D-F143-AF39-FDFBDD356CAB}"/>
              </c:ext>
            </c:extLst>
          </c:dPt>
          <c:dPt>
            <c:idx val="14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F2-923D-F143-AF39-FDFBDD356CAB}"/>
              </c:ext>
            </c:extLst>
          </c:dPt>
          <c:dPt>
            <c:idx val="14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F4-923D-F143-AF39-FDFBDD356CAB}"/>
              </c:ext>
            </c:extLst>
          </c:dPt>
          <c:dPt>
            <c:idx val="14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F6-923D-F143-AF39-FDFBDD356CAB}"/>
              </c:ext>
            </c:extLst>
          </c:dPt>
          <c:dPt>
            <c:idx val="14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F8-923D-F143-AF39-FDFBDD356CAB}"/>
              </c:ext>
            </c:extLst>
          </c:dPt>
          <c:dPt>
            <c:idx val="14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FA-923D-F143-AF39-FDFBDD356CAB}"/>
              </c:ext>
            </c:extLst>
          </c:dPt>
          <c:dPt>
            <c:idx val="14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FC-923D-F143-AF39-FDFBDD356CAB}"/>
              </c:ext>
            </c:extLst>
          </c:dPt>
          <c:dPt>
            <c:idx val="14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8FE-923D-F143-AF39-FDFBDD356CAB}"/>
              </c:ext>
            </c:extLst>
          </c:dPt>
          <c:dPt>
            <c:idx val="14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00-923D-F143-AF39-FDFBDD356CAB}"/>
              </c:ext>
            </c:extLst>
          </c:dPt>
          <c:dPt>
            <c:idx val="15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02-923D-F143-AF39-FDFBDD356CAB}"/>
              </c:ext>
            </c:extLst>
          </c:dPt>
          <c:dPt>
            <c:idx val="15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04-923D-F143-AF39-FDFBDD356CAB}"/>
              </c:ext>
            </c:extLst>
          </c:dPt>
          <c:dPt>
            <c:idx val="15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06-923D-F143-AF39-FDFBDD356CAB}"/>
              </c:ext>
            </c:extLst>
          </c:dPt>
          <c:dPt>
            <c:idx val="153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08-923D-F143-AF39-FDFBDD356CAB}"/>
              </c:ext>
            </c:extLst>
          </c:dPt>
          <c:dPt>
            <c:idx val="154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0A-923D-F143-AF39-FDFBDD356CAB}"/>
              </c:ext>
            </c:extLst>
          </c:dPt>
          <c:dPt>
            <c:idx val="155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0C-923D-F143-AF39-FDFBDD356CAB}"/>
              </c:ext>
            </c:extLst>
          </c:dPt>
          <c:dPt>
            <c:idx val="156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0E-923D-F143-AF39-FDFBDD356CAB}"/>
              </c:ext>
            </c:extLst>
          </c:dPt>
          <c:dPt>
            <c:idx val="157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10-923D-F143-AF39-FDFBDD356CAB}"/>
              </c:ext>
            </c:extLst>
          </c:dPt>
          <c:dPt>
            <c:idx val="158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12-923D-F143-AF39-FDFBDD356CAB}"/>
              </c:ext>
            </c:extLst>
          </c:dPt>
          <c:dPt>
            <c:idx val="159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14-923D-F143-AF39-FDFBDD356CAB}"/>
              </c:ext>
            </c:extLst>
          </c:dPt>
          <c:dPt>
            <c:idx val="160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16-923D-F143-AF39-FDFBDD356CAB}"/>
              </c:ext>
            </c:extLst>
          </c:dPt>
          <c:dPt>
            <c:idx val="161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18-923D-F143-AF39-FDFBDD356CAB}"/>
              </c:ext>
            </c:extLst>
          </c:dPt>
          <c:dPt>
            <c:idx val="162"/>
            <c:invertIfNegative val="0"/>
            <c:bubble3D val="0"/>
            <c:spPr>
              <a:solidFill>
                <a:srgbClr val="FFFFF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1A-923D-F143-AF39-FDFBDD356CAB}"/>
              </c:ext>
            </c:extLst>
          </c:dPt>
          <c:dPt>
            <c:idx val="16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1C-923D-F143-AF39-FDFBDD356CAB}"/>
              </c:ext>
            </c:extLst>
          </c:dPt>
          <c:dPt>
            <c:idx val="16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1E-923D-F143-AF39-FDFBDD356CAB}"/>
              </c:ext>
            </c:extLst>
          </c:dPt>
          <c:dPt>
            <c:idx val="16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20-923D-F143-AF39-FDFBDD356CAB}"/>
              </c:ext>
            </c:extLst>
          </c:dPt>
          <c:dPt>
            <c:idx val="16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22-923D-F143-AF39-FDFBDD356CAB}"/>
              </c:ext>
            </c:extLst>
          </c:dPt>
          <c:dPt>
            <c:idx val="16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24-923D-F143-AF39-FDFBDD356CAB}"/>
              </c:ext>
            </c:extLst>
          </c:dPt>
          <c:dPt>
            <c:idx val="16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26-923D-F143-AF39-FDFBDD356CAB}"/>
              </c:ext>
            </c:extLst>
          </c:dPt>
          <c:dPt>
            <c:idx val="16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28-923D-F143-AF39-FDFBDD356CAB}"/>
              </c:ext>
            </c:extLst>
          </c:dPt>
          <c:dPt>
            <c:idx val="17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2A-923D-F143-AF39-FDFBDD356CAB}"/>
              </c:ext>
            </c:extLst>
          </c:dPt>
          <c:dPt>
            <c:idx val="17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2C-923D-F143-AF39-FDFBDD356CAB}"/>
              </c:ext>
            </c:extLst>
          </c:dPt>
          <c:dPt>
            <c:idx val="17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2E-923D-F143-AF39-FDFBDD356CAB}"/>
              </c:ext>
            </c:extLst>
          </c:dPt>
          <c:dPt>
            <c:idx val="17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30-923D-F143-AF39-FDFBDD356CAB}"/>
              </c:ext>
            </c:extLst>
          </c:dPt>
          <c:dPt>
            <c:idx val="17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32-923D-F143-AF39-FDFBDD356CAB}"/>
              </c:ext>
            </c:extLst>
          </c:dPt>
          <c:dPt>
            <c:idx val="17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34-923D-F143-AF39-FDFBDD356CAB}"/>
              </c:ext>
            </c:extLst>
          </c:dPt>
          <c:dPt>
            <c:idx val="17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36-923D-F143-AF39-FDFBDD356CAB}"/>
              </c:ext>
            </c:extLst>
          </c:dPt>
          <c:dPt>
            <c:idx val="17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38-923D-F143-AF39-FDFBDD356CAB}"/>
              </c:ext>
            </c:extLst>
          </c:dPt>
          <c:dPt>
            <c:idx val="17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3A-923D-F143-AF39-FDFBDD356CAB}"/>
              </c:ext>
            </c:extLst>
          </c:dPt>
          <c:dPt>
            <c:idx val="17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3C-923D-F143-AF39-FDFBDD356CAB}"/>
              </c:ext>
            </c:extLst>
          </c:dPt>
          <c:dPt>
            <c:idx val="18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3E-923D-F143-AF39-FDFBDD356CAB}"/>
              </c:ext>
            </c:extLst>
          </c:dPt>
          <c:dPt>
            <c:idx val="18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40-923D-F143-AF39-FDFBDD356CAB}"/>
              </c:ext>
            </c:extLst>
          </c:dPt>
          <c:dPt>
            <c:idx val="18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42-923D-F143-AF39-FDFBDD356CAB}"/>
              </c:ext>
            </c:extLst>
          </c:dPt>
          <c:dPt>
            <c:idx val="18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44-923D-F143-AF39-FDFBDD356CAB}"/>
              </c:ext>
            </c:extLst>
          </c:dPt>
          <c:dPt>
            <c:idx val="18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46-923D-F143-AF39-FDFBDD356CAB}"/>
              </c:ext>
            </c:extLst>
          </c:dPt>
          <c:dPt>
            <c:idx val="18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48-923D-F143-AF39-FDFBDD356CAB}"/>
              </c:ext>
            </c:extLst>
          </c:dPt>
          <c:dPt>
            <c:idx val="18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4A-923D-F143-AF39-FDFBDD356CAB}"/>
              </c:ext>
            </c:extLst>
          </c:dPt>
          <c:dPt>
            <c:idx val="18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4C-923D-F143-AF39-FDFBDD356CAB}"/>
              </c:ext>
            </c:extLst>
          </c:dPt>
          <c:dPt>
            <c:idx val="18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4E-923D-F143-AF39-FDFBDD356CAB}"/>
              </c:ext>
            </c:extLst>
          </c:dPt>
          <c:dPt>
            <c:idx val="18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50-923D-F143-AF39-FDFBDD356CAB}"/>
              </c:ext>
            </c:extLst>
          </c:dPt>
          <c:dPt>
            <c:idx val="190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52-923D-F143-AF39-FDFBDD356CAB}"/>
              </c:ext>
            </c:extLst>
          </c:dPt>
          <c:dPt>
            <c:idx val="191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54-923D-F143-AF39-FDFBDD356CAB}"/>
              </c:ext>
            </c:extLst>
          </c:dPt>
          <c:dPt>
            <c:idx val="192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56-923D-F143-AF39-FDFBDD356CAB}"/>
              </c:ext>
            </c:extLst>
          </c:dPt>
          <c:dPt>
            <c:idx val="193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58-923D-F143-AF39-FDFBDD356CAB}"/>
              </c:ext>
            </c:extLst>
          </c:dPt>
          <c:dPt>
            <c:idx val="194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5A-923D-F143-AF39-FDFBDD356CAB}"/>
              </c:ext>
            </c:extLst>
          </c:dPt>
          <c:dPt>
            <c:idx val="195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5C-923D-F143-AF39-FDFBDD356CAB}"/>
              </c:ext>
            </c:extLst>
          </c:dPt>
          <c:dPt>
            <c:idx val="196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5E-923D-F143-AF39-FDFBDD356CAB}"/>
              </c:ext>
            </c:extLst>
          </c:dPt>
          <c:dPt>
            <c:idx val="197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60-923D-F143-AF39-FDFBDD356CAB}"/>
              </c:ext>
            </c:extLst>
          </c:dPt>
          <c:dPt>
            <c:idx val="198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62-923D-F143-AF39-FDFBDD356CAB}"/>
              </c:ext>
            </c:extLst>
          </c:dPt>
          <c:dPt>
            <c:idx val="199"/>
            <c:invertIfNegative val="0"/>
            <c:bubble3D val="0"/>
            <c:spPr>
              <a:solidFill>
                <a:srgbClr val="89A2B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964-923D-F143-AF39-FDFBDD356CAB}"/>
              </c:ext>
            </c:extLst>
          </c:dPt>
          <c:cat>
            <c:strRef>
              <c:f>Sheet1!$A$2:$A$201</c:f>
              <c:strCache>
                <c:ptCount val="200"/>
              </c:strCache>
            </c:strRef>
          </c:cat>
          <c:val>
            <c:numRef>
              <c:f>Sheet1!$G$2:$G$201</c:f>
              <c:numCache>
                <c:formatCode>0%</c:formatCode>
                <c:ptCount val="20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6350</c:v>
                </c:pt>
                <c:pt idx="83">
                  <c:v>6350</c:v>
                </c:pt>
                <c:pt idx="84">
                  <c:v>6350</c:v>
                </c:pt>
                <c:pt idx="85">
                  <c:v>6350</c:v>
                </c:pt>
                <c:pt idx="86">
                  <c:v>6350</c:v>
                </c:pt>
                <c:pt idx="87">
                  <c:v>6350</c:v>
                </c:pt>
                <c:pt idx="88">
                  <c:v>6350</c:v>
                </c:pt>
                <c:pt idx="89">
                  <c:v>6350</c:v>
                </c:pt>
                <c:pt idx="90">
                  <c:v>6350</c:v>
                </c:pt>
                <c:pt idx="91">
                  <c:v>6350</c:v>
                </c:pt>
                <c:pt idx="92">
                  <c:v>6350</c:v>
                </c:pt>
                <c:pt idx="93">
                  <c:v>6350</c:v>
                </c:pt>
                <c:pt idx="94">
                  <c:v>6350</c:v>
                </c:pt>
                <c:pt idx="95">
                  <c:v>6350</c:v>
                </c:pt>
                <c:pt idx="96">
                  <c:v>6350</c:v>
                </c:pt>
                <c:pt idx="97">
                  <c:v>6350</c:v>
                </c:pt>
                <c:pt idx="98">
                  <c:v>6350</c:v>
                </c:pt>
                <c:pt idx="99">
                  <c:v>6350</c:v>
                </c:pt>
                <c:pt idx="100">
                  <c:v>6350</c:v>
                </c:pt>
                <c:pt idx="101">
                  <c:v>6350</c:v>
                </c:pt>
                <c:pt idx="102">
                  <c:v>6350</c:v>
                </c:pt>
                <c:pt idx="103">
                  <c:v>6350</c:v>
                </c:pt>
                <c:pt idx="104">
                  <c:v>6350</c:v>
                </c:pt>
                <c:pt idx="105">
                  <c:v>6350</c:v>
                </c:pt>
                <c:pt idx="106">
                  <c:v>6350</c:v>
                </c:pt>
                <c:pt idx="107">
                  <c:v>6350</c:v>
                </c:pt>
                <c:pt idx="108">
                  <c:v>6350</c:v>
                </c:pt>
                <c:pt idx="109">
                  <c:v>6350</c:v>
                </c:pt>
                <c:pt idx="110">
                  <c:v>6350</c:v>
                </c:pt>
                <c:pt idx="111">
                  <c:v>6350</c:v>
                </c:pt>
                <c:pt idx="112">
                  <c:v>6350</c:v>
                </c:pt>
                <c:pt idx="113">
                  <c:v>6350</c:v>
                </c:pt>
                <c:pt idx="114">
                  <c:v>6350</c:v>
                </c:pt>
                <c:pt idx="115">
                  <c:v>6350</c:v>
                </c:pt>
                <c:pt idx="116">
                  <c:v>6350</c:v>
                </c:pt>
                <c:pt idx="117">
                  <c:v>6350</c:v>
                </c:pt>
                <c:pt idx="118">
                  <c:v>6350</c:v>
                </c:pt>
                <c:pt idx="119">
                  <c:v>6350</c:v>
                </c:pt>
                <c:pt idx="120">
                  <c:v>6350</c:v>
                </c:pt>
                <c:pt idx="121">
                  <c:v>6350</c:v>
                </c:pt>
                <c:pt idx="122">
                  <c:v>6350</c:v>
                </c:pt>
                <c:pt idx="123">
                  <c:v>6350</c:v>
                </c:pt>
                <c:pt idx="124">
                  <c:v>6350</c:v>
                </c:pt>
                <c:pt idx="125">
                  <c:v>6350</c:v>
                </c:pt>
                <c:pt idx="126">
                  <c:v>6350</c:v>
                </c:pt>
                <c:pt idx="127">
                  <c:v>6350</c:v>
                </c:pt>
                <c:pt idx="128">
                  <c:v>6350</c:v>
                </c:pt>
                <c:pt idx="129">
                  <c:v>0</c:v>
                </c:pt>
                <c:pt idx="130">
                  <c:v>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</c:v>
                </c:pt>
                <c:pt idx="135">
                  <c:v>0</c:v>
                </c:pt>
                <c:pt idx="136">
                  <c:v>0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0</c:v>
                </c:pt>
                <c:pt idx="163">
                  <c:v>41275</c:v>
                </c:pt>
                <c:pt idx="164">
                  <c:v>41275</c:v>
                </c:pt>
                <c:pt idx="165">
                  <c:v>41275</c:v>
                </c:pt>
                <c:pt idx="166">
                  <c:v>41275</c:v>
                </c:pt>
                <c:pt idx="167">
                  <c:v>41275</c:v>
                </c:pt>
                <c:pt idx="168">
                  <c:v>41275</c:v>
                </c:pt>
                <c:pt idx="169">
                  <c:v>41275</c:v>
                </c:pt>
                <c:pt idx="170">
                  <c:v>41275</c:v>
                </c:pt>
                <c:pt idx="171">
                  <c:v>41275</c:v>
                </c:pt>
                <c:pt idx="172">
                  <c:v>41275</c:v>
                </c:pt>
                <c:pt idx="173">
                  <c:v>41275</c:v>
                </c:pt>
                <c:pt idx="174">
                  <c:v>41275</c:v>
                </c:pt>
                <c:pt idx="175">
                  <c:v>41275</c:v>
                </c:pt>
                <c:pt idx="176">
                  <c:v>41275</c:v>
                </c:pt>
                <c:pt idx="177">
                  <c:v>41275</c:v>
                </c:pt>
                <c:pt idx="178">
                  <c:v>41275</c:v>
                </c:pt>
                <c:pt idx="179">
                  <c:v>41275</c:v>
                </c:pt>
                <c:pt idx="180">
                  <c:v>41275</c:v>
                </c:pt>
                <c:pt idx="181">
                  <c:v>41275</c:v>
                </c:pt>
                <c:pt idx="182">
                  <c:v>41275</c:v>
                </c:pt>
                <c:pt idx="183">
                  <c:v>41275</c:v>
                </c:pt>
                <c:pt idx="184">
                  <c:v>41275</c:v>
                </c:pt>
                <c:pt idx="185">
                  <c:v>41275</c:v>
                </c:pt>
                <c:pt idx="186">
                  <c:v>41275</c:v>
                </c:pt>
                <c:pt idx="187">
                  <c:v>41275</c:v>
                </c:pt>
                <c:pt idx="188">
                  <c:v>41275</c:v>
                </c:pt>
                <c:pt idx="189">
                  <c:v>41275</c:v>
                </c:pt>
                <c:pt idx="190">
                  <c:v>41275</c:v>
                </c:pt>
                <c:pt idx="191">
                  <c:v>41275</c:v>
                </c:pt>
                <c:pt idx="192">
                  <c:v>41275</c:v>
                </c:pt>
                <c:pt idx="193">
                  <c:v>41275</c:v>
                </c:pt>
                <c:pt idx="194">
                  <c:v>41275</c:v>
                </c:pt>
                <c:pt idx="195">
                  <c:v>41275</c:v>
                </c:pt>
                <c:pt idx="196">
                  <c:v>41275</c:v>
                </c:pt>
                <c:pt idx="197">
                  <c:v>41275</c:v>
                </c:pt>
                <c:pt idx="198">
                  <c:v>41275</c:v>
                </c:pt>
                <c:pt idx="199">
                  <c:v>41275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965-923D-F143-AF39-FDFBDD356C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"/>
          <c:min val="0"/>
        </c:scaling>
        <c:delete val="0"/>
        <c:axPos val="l"/>
        <c:numFmt formatCode="0%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0.05"/>
      </c:valAx>
    </c:plotArea>
    <c:plotVisOnly val="1"/>
    <c:dispBlanksAs val="gap"/>
    <c:showDLblsOverMax val="1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8.3299999999999999E-2"/>
          <c:y val="1.8700000000000001E-2"/>
          <c:w val="0.91549999999999998"/>
          <c:h val="0.9441000000000000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NSY</c:v>
                </c:pt>
              </c:strCache>
            </c:strRef>
          </c:tx>
          <c:spPr>
            <a:solidFill>
              <a:srgbClr val="79838F"/>
            </a:solidFill>
            <a:ln w="9525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FY2025</c:v>
                </c:pt>
              </c:strCache>
            </c:strRef>
          </c:cat>
          <c:val>
            <c:numRef>
              <c:f>Sheet1!$B$2:$B$2</c:f>
              <c:numCache>
                <c:formatCode>0"%"</c:formatCode>
                <c:ptCount val="1"/>
                <c:pt idx="0">
                  <c:v>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22D-D34F-8745-B59D976552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1B4B Private avails</c:v>
                </c:pt>
              </c:strCache>
            </c:strRef>
          </c:tx>
          <c:spPr>
            <a:solidFill>
              <a:srgbClr val="1D4D68"/>
            </a:solidFill>
            <a:ln w="9525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FY2025</c:v>
                </c:pt>
              </c:strCache>
            </c:strRef>
          </c:cat>
          <c:val>
            <c:numRef>
              <c:f>Sheet1!$C$2:$C$2</c:f>
              <c:numCache>
                <c:formatCode>0"%"</c:formatCode>
                <c:ptCount val="1"/>
                <c:pt idx="0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22D-D34F-8745-B59D9765526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OPN LI 1000</c:v>
                </c:pt>
              </c:strCache>
            </c:strRef>
          </c:tx>
          <c:spPr>
            <a:solidFill>
              <a:srgbClr val="486D82"/>
            </a:solidFill>
            <a:ln w="9525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FY2025</c:v>
                </c:pt>
              </c:strCache>
            </c:strRef>
          </c:cat>
          <c:val>
            <c:numRef>
              <c:f>Sheet1!$D$2:$D$2</c:f>
              <c:numCache>
                <c:formatCode>0"%"</c:formatCode>
                <c:ptCount val="1"/>
                <c:pt idx="0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22D-D34F-8745-B59D9765526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SCN LI 2086 RCOH</c:v>
                </c:pt>
              </c:strCache>
            </c:strRef>
          </c:tx>
          <c:spPr>
            <a:solidFill>
              <a:srgbClr val="89A2B0"/>
            </a:solidFill>
            <a:ln w="9525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FY2025</c:v>
                </c:pt>
              </c:strCache>
            </c:strRef>
          </c:cat>
          <c:val>
            <c:numRef>
              <c:f>Sheet1!$E$2:$E$2</c:f>
              <c:numCache>
                <c:formatCode>0"%"</c:formatCode>
                <c:ptCount val="1"/>
                <c:pt idx="0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22D-D34F-8745-B59D9765526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MSC M&amp;R</c:v>
                </c:pt>
              </c:strCache>
            </c:strRef>
          </c:tx>
          <c:spPr>
            <a:solidFill>
              <a:srgbClr val="AFC2CC"/>
            </a:solidFill>
            <a:ln w="9525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wrap="square" anchor="ctr" anchorCtr="1"/>
              <a:lstStyle/>
              <a:p>
                <a:pPr>
                  <a:defRPr sz="800" b="1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Sheet1!$A$2:$A$2</c:f>
              <c:strCache>
                <c:ptCount val="1"/>
                <c:pt idx="0">
                  <c:v>Total FY2025</c:v>
                </c:pt>
              </c:strCache>
            </c:strRef>
          </c:cat>
          <c:val>
            <c:numRef>
              <c:f>Sheet1!$F$2:$F$2</c:f>
              <c:numCache>
                <c:formatCode>0"%"</c:formatCode>
                <c:ptCount val="1"/>
                <c:pt idx="0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22D-D34F-8745-B59D9765526E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USCG ISVS</c:v>
                </c:pt>
              </c:strCache>
            </c:strRef>
          </c:tx>
          <c:spPr>
            <a:solidFill>
              <a:srgbClr val="D8E3EB"/>
            </a:solidFill>
            <a:ln w="9525">
              <a:solidFill>
                <a:srgbClr val="FFFFFF"/>
              </a:solidFill>
            </a:ln>
          </c:spPr>
          <c:invertIfNegative val="0"/>
          <c:cat>
            <c:strRef>
              <c:f>Sheet1!$A$2:$A$2</c:f>
              <c:strCache>
                <c:ptCount val="1"/>
                <c:pt idx="0">
                  <c:v>Total FY2025</c:v>
                </c:pt>
              </c:strCache>
            </c:strRef>
          </c:cat>
          <c:val>
            <c:numRef>
              <c:f>Sheet1!$G$2:$G$2</c:f>
              <c:numCache>
                <c:formatCode>0"%"</c:formatCode>
                <c:ptCount val="1"/>
                <c:pt idx="0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22D-D34F-8745-B59D976552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00"/>
          <c:min val="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5"/>
      </c:valAx>
    </c:plotArea>
    <c:plotVisOnly val="1"/>
    <c:dispBlanksAs val="gap"/>
    <c:showDLblsOverMax val="1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234766552360855"/>
          <c:y val="8.3844580777096112E-2"/>
          <c:w val="0.88393563703508304"/>
          <c:h val="0.85807770961145191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Pt>
            <c:idx val="1"/>
            <c:invertIfNegative val="0"/>
            <c:bubble3D val="0"/>
            <c:spPr>
              <a:noFill/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0-F889-4652-A221-0D928A583B09}"/>
              </c:ext>
            </c:extLst>
          </c:dPt>
          <c:dLbls>
            <c:dLbl>
              <c:idx val="0"/>
              <c:layout>
                <c:manualLayout>
                  <c:x val="0"/>
                  <c:y val="-0.45480572597137015"/>
                </c:manualLayout>
              </c:layout>
              <c:numFmt formatCode="#,##0;&quot;-&quot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000" kern="1200">
                      <a:solidFill>
                        <a:schemeClr val="tx2"/>
                      </a:solidFill>
                      <a:latin typeface="+mj-lt"/>
                      <a:ea typeface="+mj-ea"/>
                      <a:cs typeface="+mj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F889-4652-A221-0D928A583B09}"/>
                </c:ext>
              </c:extLst>
            </c:dLbl>
            <c:dLbl>
              <c:idx val="2"/>
              <c:layout>
                <c:manualLayout>
                  <c:x val="0"/>
                  <c:y val="0"/>
                </c:manualLayout>
              </c:layout>
              <c:numFmt formatCode="#,##0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000" kern="1200">
                      <a:solidFill>
                        <a:schemeClr val="bg1"/>
                      </a:solidFill>
                      <a:latin typeface="+mj-lt"/>
                      <a:ea typeface="+mj-ea"/>
                      <a:cs typeface="+mj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F889-4652-A221-0D928A583B09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16995.944</c:v>
                </c:pt>
                <c:pt idx="1">
                  <c:v>9511.107</c:v>
                </c:pt>
                <c:pt idx="2">
                  <c:v>9511.107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889-4652-A221-0D928A583B09}"/>
            </c:ext>
          </c:extLst>
        </c:ser>
        <c:ser>
          <c:idx val="1"/>
          <c:order val="1"/>
          <c:spPr>
            <a:solidFill>
              <a:schemeClr val="accent2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0"/>
                </c:manualLayout>
              </c:layout>
              <c:numFmt formatCode="#,##0;#,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000" kern="1200">
                      <a:solidFill>
                        <a:schemeClr val="bg1"/>
                      </a:solidFill>
                      <a:latin typeface="+mj-lt"/>
                      <a:ea typeface="+mj-ea"/>
                      <a:cs typeface="+mj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F889-4652-A221-0D928A583B09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Sheet1!$A$2:$C$2</c:f>
              <c:numCache>
                <c:formatCode>General</c:formatCode>
                <c:ptCount val="3"/>
                <c:pt idx="1">
                  <c:v>7484.8369999999995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889-4652-A221-0D928A583B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50002512"/>
        <c:axId val="1"/>
      </c:barChart>
      <c:catAx>
        <c:axId val="85000251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7000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#,##0;&quot;-&quot;#,##0" sourceLinked="0"/>
        <c:majorTickMark val="out"/>
        <c:minorTickMark val="none"/>
        <c:tickLblPos val="nextTo"/>
        <c:spPr>
          <a:ln w="9525" cmpd="sng" algn="ctr">
            <a:solidFill>
              <a:schemeClr val="tx1"/>
            </a:solidFill>
            <a:prstDash val="solid"/>
          </a:ln>
        </c:spPr>
        <c:txPr>
          <a:bodyPr wrap="none"/>
          <a:lstStyle/>
          <a:p>
            <a:pPr>
              <a:defRPr sz="1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pPr>
            <a:endParaRPr lang="en-US"/>
          </a:p>
        </c:txPr>
        <c:crossAx val="850002512"/>
        <c:crosses val="min"/>
        <c:crossBetween val="between"/>
        <c:majorUnit val="1000"/>
      </c:valAx>
    </c:plotArea>
    <c:plotVisOnly val="0"/>
    <c:dispBlanksAs val="gap"/>
    <c:showDLblsOverMax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5.0200000000000002E-2"/>
          <c:y val="1.5299999999999999E-2"/>
          <c:w val="0.94289999999999996"/>
          <c:h val="0.96619999999999995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Depot Ship Repair</c:v>
                </c:pt>
              </c:strCache>
            </c:strRef>
          </c:tx>
          <c:spPr>
            <a:solidFill>
              <a:srgbClr val="79838F"/>
            </a:solidFill>
            <a:ln>
              <a:noFill/>
            </a:ln>
          </c:spPr>
          <c:invertIfNegative val="0"/>
          <c:cat>
            <c:strRef>
              <c:f>Sheet1!$A$2:$A$201</c:f>
              <c:strCache>
                <c:ptCount val="200"/>
              </c:strCache>
            </c:strRef>
          </c:cat>
          <c:val>
            <c:numRef>
              <c:f>Sheet1!$B$2:$B$201</c:f>
              <c:numCache>
                <c:formatCode>0%</c:formatCode>
                <c:ptCount val="200"/>
                <c:pt idx="0">
                  <c:v>3003550</c:v>
                </c:pt>
                <c:pt idx="1">
                  <c:v>3003550</c:v>
                </c:pt>
                <c:pt idx="2">
                  <c:v>3003550</c:v>
                </c:pt>
                <c:pt idx="3">
                  <c:v>3003550</c:v>
                </c:pt>
                <c:pt idx="4">
                  <c:v>3003550</c:v>
                </c:pt>
                <c:pt idx="5">
                  <c:v>3003550</c:v>
                </c:pt>
                <c:pt idx="6">
                  <c:v>3003550</c:v>
                </c:pt>
                <c:pt idx="7">
                  <c:v>3003550</c:v>
                </c:pt>
                <c:pt idx="8">
                  <c:v>3003550</c:v>
                </c:pt>
                <c:pt idx="9">
                  <c:v>3003550</c:v>
                </c:pt>
                <c:pt idx="10">
                  <c:v>3003550</c:v>
                </c:pt>
                <c:pt idx="11">
                  <c:v>3003550</c:v>
                </c:pt>
                <c:pt idx="12">
                  <c:v>3003550</c:v>
                </c:pt>
                <c:pt idx="13">
                  <c:v>3003550</c:v>
                </c:pt>
                <c:pt idx="14">
                  <c:v>3003550</c:v>
                </c:pt>
                <c:pt idx="15">
                  <c:v>3003550</c:v>
                </c:pt>
                <c:pt idx="16">
                  <c:v>3003550</c:v>
                </c:pt>
                <c:pt idx="17">
                  <c:v>3003550</c:v>
                </c:pt>
                <c:pt idx="18">
                  <c:v>3003550</c:v>
                </c:pt>
                <c:pt idx="19">
                  <c:v>3003550</c:v>
                </c:pt>
                <c:pt idx="20">
                  <c:v>3003550</c:v>
                </c:pt>
                <c:pt idx="21">
                  <c:v>3003550</c:v>
                </c:pt>
                <c:pt idx="22">
                  <c:v>3003550</c:v>
                </c:pt>
                <c:pt idx="23">
                  <c:v>3003550</c:v>
                </c:pt>
                <c:pt idx="24">
                  <c:v>3003550</c:v>
                </c:pt>
                <c:pt idx="25">
                  <c:v>3003550</c:v>
                </c:pt>
                <c:pt idx="26">
                  <c:v>3003550</c:v>
                </c:pt>
                <c:pt idx="27">
                  <c:v>3003550</c:v>
                </c:pt>
                <c:pt idx="28">
                  <c:v>3003550</c:v>
                </c:pt>
                <c:pt idx="29">
                  <c:v>3003550</c:v>
                </c:pt>
                <c:pt idx="30">
                  <c:v>3003550</c:v>
                </c:pt>
                <c:pt idx="31">
                  <c:v>3003550</c:v>
                </c:pt>
                <c:pt idx="32">
                  <c:v>3003550</c:v>
                </c:pt>
                <c:pt idx="33">
                  <c:v>3003550</c:v>
                </c:pt>
                <c:pt idx="34">
                  <c:v>3003550</c:v>
                </c:pt>
                <c:pt idx="35">
                  <c:v>3003550</c:v>
                </c:pt>
                <c:pt idx="36">
                  <c:v>3003550</c:v>
                </c:pt>
                <c:pt idx="37">
                  <c:v>3003550</c:v>
                </c:pt>
                <c:pt idx="38">
                  <c:v>3003550</c:v>
                </c:pt>
                <c:pt idx="39">
                  <c:v>3003550</c:v>
                </c:pt>
                <c:pt idx="40">
                  <c:v>3003550</c:v>
                </c:pt>
                <c:pt idx="41">
                  <c:v>3003550</c:v>
                </c:pt>
                <c:pt idx="42">
                  <c:v>3003550</c:v>
                </c:pt>
                <c:pt idx="43">
                  <c:v>3003550</c:v>
                </c:pt>
                <c:pt idx="44">
                  <c:v>3003550</c:v>
                </c:pt>
                <c:pt idx="45">
                  <c:v>3003550</c:v>
                </c:pt>
                <c:pt idx="46">
                  <c:v>3003550</c:v>
                </c:pt>
                <c:pt idx="47">
                  <c:v>3003550</c:v>
                </c:pt>
                <c:pt idx="48">
                  <c:v>3003550</c:v>
                </c:pt>
                <c:pt idx="49">
                  <c:v>3003550</c:v>
                </c:pt>
                <c:pt idx="50">
                  <c:v>3003550</c:v>
                </c:pt>
                <c:pt idx="51">
                  <c:v>3003550</c:v>
                </c:pt>
                <c:pt idx="52">
                  <c:v>3003550</c:v>
                </c:pt>
                <c:pt idx="53">
                  <c:v>3003550</c:v>
                </c:pt>
                <c:pt idx="54">
                  <c:v>3003550</c:v>
                </c:pt>
                <c:pt idx="55">
                  <c:v>3003550</c:v>
                </c:pt>
                <c:pt idx="56">
                  <c:v>3003550</c:v>
                </c:pt>
                <c:pt idx="57">
                  <c:v>3003550</c:v>
                </c:pt>
                <c:pt idx="58">
                  <c:v>3003550</c:v>
                </c:pt>
                <c:pt idx="59">
                  <c:v>3003550</c:v>
                </c:pt>
                <c:pt idx="60">
                  <c:v>3003550</c:v>
                </c:pt>
                <c:pt idx="61">
                  <c:v>3003550</c:v>
                </c:pt>
                <c:pt idx="62">
                  <c:v>3003550</c:v>
                </c:pt>
                <c:pt idx="63">
                  <c:v>3003550</c:v>
                </c:pt>
                <c:pt idx="64">
                  <c:v>3003550</c:v>
                </c:pt>
                <c:pt idx="65">
                  <c:v>3003550</c:v>
                </c:pt>
                <c:pt idx="66">
                  <c:v>3003550</c:v>
                </c:pt>
                <c:pt idx="67">
                  <c:v>3003550</c:v>
                </c:pt>
                <c:pt idx="68">
                  <c:v>3003550</c:v>
                </c:pt>
                <c:pt idx="69">
                  <c:v>3003550</c:v>
                </c:pt>
                <c:pt idx="70">
                  <c:v>3003550</c:v>
                </c:pt>
                <c:pt idx="71">
                  <c:v>3003550</c:v>
                </c:pt>
                <c:pt idx="72">
                  <c:v>3003550</c:v>
                </c:pt>
                <c:pt idx="73">
                  <c:v>3003550</c:v>
                </c:pt>
                <c:pt idx="74">
                  <c:v>3003550</c:v>
                </c:pt>
                <c:pt idx="75">
                  <c:v>3003550</c:v>
                </c:pt>
                <c:pt idx="76">
                  <c:v>3003550</c:v>
                </c:pt>
                <c:pt idx="77">
                  <c:v>3003550</c:v>
                </c:pt>
                <c:pt idx="78">
                  <c:v>3003550</c:v>
                </c:pt>
                <c:pt idx="79">
                  <c:v>3003550</c:v>
                </c:pt>
                <c:pt idx="80">
                  <c:v>3003550</c:v>
                </c:pt>
                <c:pt idx="81">
                  <c:v>3003550</c:v>
                </c:pt>
                <c:pt idx="82">
                  <c:v>3003550</c:v>
                </c:pt>
                <c:pt idx="83">
                  <c:v>3003550</c:v>
                </c:pt>
                <c:pt idx="84">
                  <c:v>3003550</c:v>
                </c:pt>
                <c:pt idx="85">
                  <c:v>3003550</c:v>
                </c:pt>
                <c:pt idx="86">
                  <c:v>3003550</c:v>
                </c:pt>
                <c:pt idx="87">
                  <c:v>3003550</c:v>
                </c:pt>
                <c:pt idx="88">
                  <c:v>3003550</c:v>
                </c:pt>
                <c:pt idx="89">
                  <c:v>3003550</c:v>
                </c:pt>
                <c:pt idx="90">
                  <c:v>3003550</c:v>
                </c:pt>
                <c:pt idx="91">
                  <c:v>3003550</c:v>
                </c:pt>
                <c:pt idx="92">
                  <c:v>3003550</c:v>
                </c:pt>
                <c:pt idx="93">
                  <c:v>3003550</c:v>
                </c:pt>
                <c:pt idx="94">
                  <c:v>3003550</c:v>
                </c:pt>
                <c:pt idx="95">
                  <c:v>3003550</c:v>
                </c:pt>
                <c:pt idx="96">
                  <c:v>3003550</c:v>
                </c:pt>
                <c:pt idx="97">
                  <c:v>3003550</c:v>
                </c:pt>
                <c:pt idx="98">
                  <c:v>3003550</c:v>
                </c:pt>
                <c:pt idx="99">
                  <c:v>3003550</c:v>
                </c:pt>
                <c:pt idx="100">
                  <c:v>3003550</c:v>
                </c:pt>
                <c:pt idx="101">
                  <c:v>3003550</c:v>
                </c:pt>
                <c:pt idx="102">
                  <c:v>3003550</c:v>
                </c:pt>
                <c:pt idx="103">
                  <c:v>2901950</c:v>
                </c:pt>
                <c:pt idx="104">
                  <c:v>2901950</c:v>
                </c:pt>
                <c:pt idx="105">
                  <c:v>2901950</c:v>
                </c:pt>
                <c:pt idx="106">
                  <c:v>2901950</c:v>
                </c:pt>
                <c:pt idx="107">
                  <c:v>2901950</c:v>
                </c:pt>
                <c:pt idx="108">
                  <c:v>2901950</c:v>
                </c:pt>
                <c:pt idx="109">
                  <c:v>2901950</c:v>
                </c:pt>
                <c:pt idx="110">
                  <c:v>2901950</c:v>
                </c:pt>
                <c:pt idx="111">
                  <c:v>2901950</c:v>
                </c:pt>
                <c:pt idx="112">
                  <c:v>2901950</c:v>
                </c:pt>
                <c:pt idx="113">
                  <c:v>2901950</c:v>
                </c:pt>
                <c:pt idx="114">
                  <c:v>2901950</c:v>
                </c:pt>
                <c:pt idx="115">
                  <c:v>2901950</c:v>
                </c:pt>
                <c:pt idx="116">
                  <c:v>2901950</c:v>
                </c:pt>
                <c:pt idx="117">
                  <c:v>2901950</c:v>
                </c:pt>
                <c:pt idx="118">
                  <c:v>2901950</c:v>
                </c:pt>
                <c:pt idx="119">
                  <c:v>2901950</c:v>
                </c:pt>
                <c:pt idx="120">
                  <c:v>2901950</c:v>
                </c:pt>
                <c:pt idx="121">
                  <c:v>2901950</c:v>
                </c:pt>
                <c:pt idx="122">
                  <c:v>2901950</c:v>
                </c:pt>
                <c:pt idx="123">
                  <c:v>2901950</c:v>
                </c:pt>
                <c:pt idx="124">
                  <c:v>2901950</c:v>
                </c:pt>
                <c:pt idx="125">
                  <c:v>2901950</c:v>
                </c:pt>
                <c:pt idx="126">
                  <c:v>2901950</c:v>
                </c:pt>
                <c:pt idx="127">
                  <c:v>2901950</c:v>
                </c:pt>
                <c:pt idx="128">
                  <c:v>2901950</c:v>
                </c:pt>
                <c:pt idx="129">
                  <c:v>2901950</c:v>
                </c:pt>
                <c:pt idx="130">
                  <c:v>2901950</c:v>
                </c:pt>
                <c:pt idx="131">
                  <c:v>2901950</c:v>
                </c:pt>
                <c:pt idx="132">
                  <c:v>2901950</c:v>
                </c:pt>
                <c:pt idx="133">
                  <c:v>2901950</c:v>
                </c:pt>
                <c:pt idx="134">
                  <c:v>2901950</c:v>
                </c:pt>
                <c:pt idx="135">
                  <c:v>2901950</c:v>
                </c:pt>
                <c:pt idx="136">
                  <c:v>2901950</c:v>
                </c:pt>
                <c:pt idx="137">
                  <c:v>2901950</c:v>
                </c:pt>
                <c:pt idx="138">
                  <c:v>2901950</c:v>
                </c:pt>
                <c:pt idx="139">
                  <c:v>2901950</c:v>
                </c:pt>
                <c:pt idx="140">
                  <c:v>2901950</c:v>
                </c:pt>
                <c:pt idx="141">
                  <c:v>2901950</c:v>
                </c:pt>
                <c:pt idx="142">
                  <c:v>2901950</c:v>
                </c:pt>
                <c:pt idx="143">
                  <c:v>2901950</c:v>
                </c:pt>
                <c:pt idx="144">
                  <c:v>2901950</c:v>
                </c:pt>
                <c:pt idx="145">
                  <c:v>2901950</c:v>
                </c:pt>
                <c:pt idx="146">
                  <c:v>2901950</c:v>
                </c:pt>
                <c:pt idx="147">
                  <c:v>2901950</c:v>
                </c:pt>
                <c:pt idx="148">
                  <c:v>2901950</c:v>
                </c:pt>
                <c:pt idx="149">
                  <c:v>2901950</c:v>
                </c:pt>
                <c:pt idx="150">
                  <c:v>2901950</c:v>
                </c:pt>
                <c:pt idx="151">
                  <c:v>2901950</c:v>
                </c:pt>
                <c:pt idx="152">
                  <c:v>2901950</c:v>
                </c:pt>
                <c:pt idx="153">
                  <c:v>2901950</c:v>
                </c:pt>
                <c:pt idx="154">
                  <c:v>2901950</c:v>
                </c:pt>
                <c:pt idx="155">
                  <c:v>2901950</c:v>
                </c:pt>
                <c:pt idx="156">
                  <c:v>2901950</c:v>
                </c:pt>
                <c:pt idx="157">
                  <c:v>2901950</c:v>
                </c:pt>
                <c:pt idx="158">
                  <c:v>2901950</c:v>
                </c:pt>
                <c:pt idx="159">
                  <c:v>2463800</c:v>
                </c:pt>
                <c:pt idx="160">
                  <c:v>2463800</c:v>
                </c:pt>
                <c:pt idx="161">
                  <c:v>2463800</c:v>
                </c:pt>
                <c:pt idx="162">
                  <c:v>2463800</c:v>
                </c:pt>
                <c:pt idx="163">
                  <c:v>2463800</c:v>
                </c:pt>
                <c:pt idx="164">
                  <c:v>2463800</c:v>
                </c:pt>
                <c:pt idx="165">
                  <c:v>2463800</c:v>
                </c:pt>
                <c:pt idx="166">
                  <c:v>2463800</c:v>
                </c:pt>
                <c:pt idx="167">
                  <c:v>2463800</c:v>
                </c:pt>
                <c:pt idx="168">
                  <c:v>2463800</c:v>
                </c:pt>
                <c:pt idx="169">
                  <c:v>2463800</c:v>
                </c:pt>
                <c:pt idx="170">
                  <c:v>2463800</c:v>
                </c:pt>
                <c:pt idx="171">
                  <c:v>2463800</c:v>
                </c:pt>
                <c:pt idx="172">
                  <c:v>2463800</c:v>
                </c:pt>
                <c:pt idx="173">
                  <c:v>2463800</c:v>
                </c:pt>
                <c:pt idx="174">
                  <c:v>2463800</c:v>
                </c:pt>
                <c:pt idx="175">
                  <c:v>2960688</c:v>
                </c:pt>
                <c:pt idx="176">
                  <c:v>2960688</c:v>
                </c:pt>
                <c:pt idx="177">
                  <c:v>2960688</c:v>
                </c:pt>
                <c:pt idx="178">
                  <c:v>2960688</c:v>
                </c:pt>
                <c:pt idx="179">
                  <c:v>2960688</c:v>
                </c:pt>
                <c:pt idx="180">
                  <c:v>2960688</c:v>
                </c:pt>
                <c:pt idx="181">
                  <c:v>2960688</c:v>
                </c:pt>
                <c:pt idx="182">
                  <c:v>2960688</c:v>
                </c:pt>
                <c:pt idx="183">
                  <c:v>2960688</c:v>
                </c:pt>
                <c:pt idx="184">
                  <c:v>2960688</c:v>
                </c:pt>
                <c:pt idx="185">
                  <c:v>2960688</c:v>
                </c:pt>
                <c:pt idx="186">
                  <c:v>2960688</c:v>
                </c:pt>
                <c:pt idx="187">
                  <c:v>2960688</c:v>
                </c:pt>
                <c:pt idx="188">
                  <c:v>2960688</c:v>
                </c:pt>
                <c:pt idx="189">
                  <c:v>2960688</c:v>
                </c:pt>
                <c:pt idx="190">
                  <c:v>2960688</c:v>
                </c:pt>
                <c:pt idx="191">
                  <c:v>3451225</c:v>
                </c:pt>
                <c:pt idx="192">
                  <c:v>3451225</c:v>
                </c:pt>
                <c:pt idx="193">
                  <c:v>3451225</c:v>
                </c:pt>
                <c:pt idx="194">
                  <c:v>3451225</c:v>
                </c:pt>
                <c:pt idx="195">
                  <c:v>3451225</c:v>
                </c:pt>
                <c:pt idx="196">
                  <c:v>3451225</c:v>
                </c:pt>
                <c:pt idx="197">
                  <c:v>3451225</c:v>
                </c:pt>
                <c:pt idx="198">
                  <c:v>3451225</c:v>
                </c:pt>
                <c:pt idx="199">
                  <c:v>3451225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FB-D94C-91FC-1B50307CC16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Port &amp; Technical Services</c:v>
                </c:pt>
              </c:strCache>
            </c:strRef>
          </c:tx>
          <c:spPr>
            <a:solidFill>
              <a:srgbClr val="486D82"/>
            </a:solidFill>
            <a:ln>
              <a:noFill/>
            </a:ln>
          </c:spPr>
          <c:invertIfNegative val="0"/>
          <c:cat>
            <c:strRef>
              <c:f>Sheet1!$A$2:$A$201</c:f>
              <c:strCache>
                <c:ptCount val="200"/>
              </c:strCache>
            </c:strRef>
          </c:cat>
          <c:val>
            <c:numRef>
              <c:f>Sheet1!$C$2:$C$201</c:f>
              <c:numCache>
                <c:formatCode>0%</c:formatCode>
                <c:ptCount val="200"/>
                <c:pt idx="0">
                  <c:v>381000</c:v>
                </c:pt>
                <c:pt idx="1">
                  <c:v>381000</c:v>
                </c:pt>
                <c:pt idx="2">
                  <c:v>381000</c:v>
                </c:pt>
                <c:pt idx="3">
                  <c:v>381000</c:v>
                </c:pt>
                <c:pt idx="4">
                  <c:v>381000</c:v>
                </c:pt>
                <c:pt idx="5">
                  <c:v>381000</c:v>
                </c:pt>
                <c:pt idx="6">
                  <c:v>381000</c:v>
                </c:pt>
                <c:pt idx="7">
                  <c:v>381000</c:v>
                </c:pt>
                <c:pt idx="8">
                  <c:v>381000</c:v>
                </c:pt>
                <c:pt idx="9">
                  <c:v>381000</c:v>
                </c:pt>
                <c:pt idx="10">
                  <c:v>381000</c:v>
                </c:pt>
                <c:pt idx="11">
                  <c:v>381000</c:v>
                </c:pt>
                <c:pt idx="12">
                  <c:v>381000</c:v>
                </c:pt>
                <c:pt idx="13">
                  <c:v>381000</c:v>
                </c:pt>
                <c:pt idx="14">
                  <c:v>381000</c:v>
                </c:pt>
                <c:pt idx="15">
                  <c:v>381000</c:v>
                </c:pt>
                <c:pt idx="16">
                  <c:v>381000</c:v>
                </c:pt>
                <c:pt idx="17">
                  <c:v>381000</c:v>
                </c:pt>
                <c:pt idx="18">
                  <c:v>381000</c:v>
                </c:pt>
                <c:pt idx="19">
                  <c:v>381000</c:v>
                </c:pt>
                <c:pt idx="20">
                  <c:v>381000</c:v>
                </c:pt>
                <c:pt idx="21">
                  <c:v>381000</c:v>
                </c:pt>
                <c:pt idx="22">
                  <c:v>381000</c:v>
                </c:pt>
                <c:pt idx="23">
                  <c:v>381000</c:v>
                </c:pt>
                <c:pt idx="24">
                  <c:v>381000</c:v>
                </c:pt>
                <c:pt idx="25">
                  <c:v>381000</c:v>
                </c:pt>
                <c:pt idx="26">
                  <c:v>381000</c:v>
                </c:pt>
                <c:pt idx="27">
                  <c:v>381000</c:v>
                </c:pt>
                <c:pt idx="28">
                  <c:v>381000</c:v>
                </c:pt>
                <c:pt idx="29">
                  <c:v>381000</c:v>
                </c:pt>
                <c:pt idx="30">
                  <c:v>381000</c:v>
                </c:pt>
                <c:pt idx="31">
                  <c:v>381000</c:v>
                </c:pt>
                <c:pt idx="32">
                  <c:v>381000</c:v>
                </c:pt>
                <c:pt idx="33">
                  <c:v>381000</c:v>
                </c:pt>
                <c:pt idx="34">
                  <c:v>381000</c:v>
                </c:pt>
                <c:pt idx="35">
                  <c:v>381000</c:v>
                </c:pt>
                <c:pt idx="36">
                  <c:v>381000</c:v>
                </c:pt>
                <c:pt idx="37">
                  <c:v>381000</c:v>
                </c:pt>
                <c:pt idx="38">
                  <c:v>381000</c:v>
                </c:pt>
                <c:pt idx="39">
                  <c:v>381000</c:v>
                </c:pt>
                <c:pt idx="40">
                  <c:v>381000</c:v>
                </c:pt>
                <c:pt idx="41">
                  <c:v>381000</c:v>
                </c:pt>
                <c:pt idx="42">
                  <c:v>381000</c:v>
                </c:pt>
                <c:pt idx="43">
                  <c:v>381000</c:v>
                </c:pt>
                <c:pt idx="44">
                  <c:v>381000</c:v>
                </c:pt>
                <c:pt idx="45">
                  <c:v>381000</c:v>
                </c:pt>
                <c:pt idx="46">
                  <c:v>381000</c:v>
                </c:pt>
                <c:pt idx="47">
                  <c:v>381000</c:v>
                </c:pt>
                <c:pt idx="48">
                  <c:v>381000</c:v>
                </c:pt>
                <c:pt idx="49">
                  <c:v>381000</c:v>
                </c:pt>
                <c:pt idx="50">
                  <c:v>381000</c:v>
                </c:pt>
                <c:pt idx="51">
                  <c:v>381000</c:v>
                </c:pt>
                <c:pt idx="52">
                  <c:v>381000</c:v>
                </c:pt>
                <c:pt idx="53">
                  <c:v>381000</c:v>
                </c:pt>
                <c:pt idx="54">
                  <c:v>381000</c:v>
                </c:pt>
                <c:pt idx="55">
                  <c:v>381000</c:v>
                </c:pt>
                <c:pt idx="56">
                  <c:v>381000</c:v>
                </c:pt>
                <c:pt idx="57">
                  <c:v>381000</c:v>
                </c:pt>
                <c:pt idx="58">
                  <c:v>381000</c:v>
                </c:pt>
                <c:pt idx="59">
                  <c:v>381000</c:v>
                </c:pt>
                <c:pt idx="60">
                  <c:v>381000</c:v>
                </c:pt>
                <c:pt idx="61">
                  <c:v>381000</c:v>
                </c:pt>
                <c:pt idx="62">
                  <c:v>381000</c:v>
                </c:pt>
                <c:pt idx="63">
                  <c:v>381000</c:v>
                </c:pt>
                <c:pt idx="64">
                  <c:v>381000</c:v>
                </c:pt>
                <c:pt idx="65">
                  <c:v>381000</c:v>
                </c:pt>
                <c:pt idx="66">
                  <c:v>381000</c:v>
                </c:pt>
                <c:pt idx="67">
                  <c:v>381000</c:v>
                </c:pt>
                <c:pt idx="68">
                  <c:v>381000</c:v>
                </c:pt>
                <c:pt idx="69">
                  <c:v>381000</c:v>
                </c:pt>
                <c:pt idx="70">
                  <c:v>381000</c:v>
                </c:pt>
                <c:pt idx="71">
                  <c:v>381000</c:v>
                </c:pt>
                <c:pt idx="72">
                  <c:v>381000</c:v>
                </c:pt>
                <c:pt idx="73">
                  <c:v>381000</c:v>
                </c:pt>
                <c:pt idx="74">
                  <c:v>381000</c:v>
                </c:pt>
                <c:pt idx="75">
                  <c:v>381000</c:v>
                </c:pt>
                <c:pt idx="76">
                  <c:v>381000</c:v>
                </c:pt>
                <c:pt idx="77">
                  <c:v>381000</c:v>
                </c:pt>
                <c:pt idx="78">
                  <c:v>381000</c:v>
                </c:pt>
                <c:pt idx="79">
                  <c:v>381000</c:v>
                </c:pt>
                <c:pt idx="80">
                  <c:v>381000</c:v>
                </c:pt>
                <c:pt idx="81">
                  <c:v>381000</c:v>
                </c:pt>
                <c:pt idx="82">
                  <c:v>381000</c:v>
                </c:pt>
                <c:pt idx="83">
                  <c:v>381000</c:v>
                </c:pt>
                <c:pt idx="84">
                  <c:v>381000</c:v>
                </c:pt>
                <c:pt idx="85">
                  <c:v>381000</c:v>
                </c:pt>
                <c:pt idx="86">
                  <c:v>381000</c:v>
                </c:pt>
                <c:pt idx="87">
                  <c:v>381000</c:v>
                </c:pt>
                <c:pt idx="88">
                  <c:v>381000</c:v>
                </c:pt>
                <c:pt idx="89">
                  <c:v>381000</c:v>
                </c:pt>
                <c:pt idx="90">
                  <c:v>381000</c:v>
                </c:pt>
                <c:pt idx="91">
                  <c:v>381000</c:v>
                </c:pt>
                <c:pt idx="92">
                  <c:v>381000</c:v>
                </c:pt>
                <c:pt idx="93">
                  <c:v>381000</c:v>
                </c:pt>
                <c:pt idx="94">
                  <c:v>381000</c:v>
                </c:pt>
                <c:pt idx="95">
                  <c:v>381000</c:v>
                </c:pt>
                <c:pt idx="96">
                  <c:v>381000</c:v>
                </c:pt>
                <c:pt idx="97">
                  <c:v>381000</c:v>
                </c:pt>
                <c:pt idx="98">
                  <c:v>381000</c:v>
                </c:pt>
                <c:pt idx="99">
                  <c:v>381000</c:v>
                </c:pt>
                <c:pt idx="100">
                  <c:v>381000</c:v>
                </c:pt>
                <c:pt idx="101">
                  <c:v>381000</c:v>
                </c:pt>
                <c:pt idx="102">
                  <c:v>381000</c:v>
                </c:pt>
                <c:pt idx="103">
                  <c:v>606425</c:v>
                </c:pt>
                <c:pt idx="104">
                  <c:v>606425</c:v>
                </c:pt>
                <c:pt idx="105">
                  <c:v>606425</c:v>
                </c:pt>
                <c:pt idx="106">
                  <c:v>606425</c:v>
                </c:pt>
                <c:pt idx="107">
                  <c:v>606425</c:v>
                </c:pt>
                <c:pt idx="108">
                  <c:v>606425</c:v>
                </c:pt>
                <c:pt idx="109">
                  <c:v>606425</c:v>
                </c:pt>
                <c:pt idx="110">
                  <c:v>606425</c:v>
                </c:pt>
                <c:pt idx="111">
                  <c:v>606425</c:v>
                </c:pt>
                <c:pt idx="112">
                  <c:v>606425</c:v>
                </c:pt>
                <c:pt idx="113">
                  <c:v>606425</c:v>
                </c:pt>
                <c:pt idx="114">
                  <c:v>606425</c:v>
                </c:pt>
                <c:pt idx="115">
                  <c:v>606425</c:v>
                </c:pt>
                <c:pt idx="116">
                  <c:v>606425</c:v>
                </c:pt>
                <c:pt idx="117">
                  <c:v>606425</c:v>
                </c:pt>
                <c:pt idx="118">
                  <c:v>606425</c:v>
                </c:pt>
                <c:pt idx="119">
                  <c:v>606425</c:v>
                </c:pt>
                <c:pt idx="120">
                  <c:v>606425</c:v>
                </c:pt>
                <c:pt idx="121">
                  <c:v>606425</c:v>
                </c:pt>
                <c:pt idx="122">
                  <c:v>606425</c:v>
                </c:pt>
                <c:pt idx="123">
                  <c:v>606425</c:v>
                </c:pt>
                <c:pt idx="124">
                  <c:v>606425</c:v>
                </c:pt>
                <c:pt idx="125">
                  <c:v>606425</c:v>
                </c:pt>
                <c:pt idx="126">
                  <c:v>606425</c:v>
                </c:pt>
                <c:pt idx="127">
                  <c:v>606425</c:v>
                </c:pt>
                <c:pt idx="128">
                  <c:v>606425</c:v>
                </c:pt>
                <c:pt idx="129">
                  <c:v>606425</c:v>
                </c:pt>
                <c:pt idx="130">
                  <c:v>606425</c:v>
                </c:pt>
                <c:pt idx="131">
                  <c:v>606425</c:v>
                </c:pt>
                <c:pt idx="132">
                  <c:v>606425</c:v>
                </c:pt>
                <c:pt idx="133">
                  <c:v>606425</c:v>
                </c:pt>
                <c:pt idx="134">
                  <c:v>606425</c:v>
                </c:pt>
                <c:pt idx="135">
                  <c:v>606425</c:v>
                </c:pt>
                <c:pt idx="136">
                  <c:v>606425</c:v>
                </c:pt>
                <c:pt idx="137">
                  <c:v>606425</c:v>
                </c:pt>
                <c:pt idx="138">
                  <c:v>606425</c:v>
                </c:pt>
                <c:pt idx="139">
                  <c:v>606425</c:v>
                </c:pt>
                <c:pt idx="140">
                  <c:v>606425</c:v>
                </c:pt>
                <c:pt idx="141">
                  <c:v>606425</c:v>
                </c:pt>
                <c:pt idx="142">
                  <c:v>606425</c:v>
                </c:pt>
                <c:pt idx="143">
                  <c:v>606425</c:v>
                </c:pt>
                <c:pt idx="144">
                  <c:v>606425</c:v>
                </c:pt>
                <c:pt idx="145">
                  <c:v>606425</c:v>
                </c:pt>
                <c:pt idx="146">
                  <c:v>606425</c:v>
                </c:pt>
                <c:pt idx="147">
                  <c:v>606425</c:v>
                </c:pt>
                <c:pt idx="148">
                  <c:v>606425</c:v>
                </c:pt>
                <c:pt idx="149">
                  <c:v>606425</c:v>
                </c:pt>
                <c:pt idx="150">
                  <c:v>606425</c:v>
                </c:pt>
                <c:pt idx="151">
                  <c:v>606425</c:v>
                </c:pt>
                <c:pt idx="152">
                  <c:v>606425</c:v>
                </c:pt>
                <c:pt idx="153">
                  <c:v>606425</c:v>
                </c:pt>
                <c:pt idx="154">
                  <c:v>606425</c:v>
                </c:pt>
                <c:pt idx="155">
                  <c:v>606425</c:v>
                </c:pt>
                <c:pt idx="156">
                  <c:v>606425</c:v>
                </c:pt>
                <c:pt idx="157">
                  <c:v>606425</c:v>
                </c:pt>
                <c:pt idx="158">
                  <c:v>606425</c:v>
                </c:pt>
                <c:pt idx="159">
                  <c:v>1111250</c:v>
                </c:pt>
                <c:pt idx="160">
                  <c:v>1111250</c:v>
                </c:pt>
                <c:pt idx="161">
                  <c:v>1111250</c:v>
                </c:pt>
                <c:pt idx="162">
                  <c:v>1111250</c:v>
                </c:pt>
                <c:pt idx="163">
                  <c:v>1111250</c:v>
                </c:pt>
                <c:pt idx="164">
                  <c:v>1111250</c:v>
                </c:pt>
                <c:pt idx="165">
                  <c:v>1111250</c:v>
                </c:pt>
                <c:pt idx="166">
                  <c:v>1111250</c:v>
                </c:pt>
                <c:pt idx="167">
                  <c:v>1111250</c:v>
                </c:pt>
                <c:pt idx="168">
                  <c:v>1111250</c:v>
                </c:pt>
                <c:pt idx="169">
                  <c:v>1111250</c:v>
                </c:pt>
                <c:pt idx="170">
                  <c:v>1111250</c:v>
                </c:pt>
                <c:pt idx="171">
                  <c:v>1111250</c:v>
                </c:pt>
                <c:pt idx="172">
                  <c:v>1111250</c:v>
                </c:pt>
                <c:pt idx="173">
                  <c:v>1111250</c:v>
                </c:pt>
                <c:pt idx="174">
                  <c:v>1111250</c:v>
                </c:pt>
                <c:pt idx="175">
                  <c:v>503238</c:v>
                </c:pt>
                <c:pt idx="176">
                  <c:v>503238</c:v>
                </c:pt>
                <c:pt idx="177">
                  <c:v>503238</c:v>
                </c:pt>
                <c:pt idx="178">
                  <c:v>503238</c:v>
                </c:pt>
                <c:pt idx="179">
                  <c:v>503238</c:v>
                </c:pt>
                <c:pt idx="180">
                  <c:v>503238</c:v>
                </c:pt>
                <c:pt idx="181">
                  <c:v>503238</c:v>
                </c:pt>
                <c:pt idx="182">
                  <c:v>503238</c:v>
                </c:pt>
                <c:pt idx="183">
                  <c:v>503238</c:v>
                </c:pt>
                <c:pt idx="184">
                  <c:v>503238</c:v>
                </c:pt>
                <c:pt idx="185">
                  <c:v>503238</c:v>
                </c:pt>
                <c:pt idx="186">
                  <c:v>503238</c:v>
                </c:pt>
                <c:pt idx="187">
                  <c:v>503238</c:v>
                </c:pt>
                <c:pt idx="188">
                  <c:v>503238</c:v>
                </c:pt>
                <c:pt idx="189">
                  <c:v>503238</c:v>
                </c:pt>
                <c:pt idx="190">
                  <c:v>503238</c:v>
                </c:pt>
                <c:pt idx="191">
                  <c:v>57150</c:v>
                </c:pt>
                <c:pt idx="192">
                  <c:v>57150</c:v>
                </c:pt>
                <c:pt idx="193">
                  <c:v>57150</c:v>
                </c:pt>
                <c:pt idx="194">
                  <c:v>57150</c:v>
                </c:pt>
                <c:pt idx="195">
                  <c:v>57150</c:v>
                </c:pt>
                <c:pt idx="196">
                  <c:v>57150</c:v>
                </c:pt>
                <c:pt idx="197">
                  <c:v>57150</c:v>
                </c:pt>
                <c:pt idx="198">
                  <c:v>57150</c:v>
                </c:pt>
                <c:pt idx="199">
                  <c:v>57150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FB-D94C-91FC-1B50307CC16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Hull, Mechanical &amp; Electrical (HM&amp;E)</c:v>
                </c:pt>
              </c:strCache>
            </c:strRef>
          </c:tx>
          <c:spPr>
            <a:solidFill>
              <a:srgbClr val="1D4D68"/>
            </a:solidFill>
            <a:ln>
              <a:noFill/>
            </a:ln>
          </c:spPr>
          <c:invertIfNegative val="0"/>
          <c:cat>
            <c:strRef>
              <c:f>Sheet1!$A$2:$A$201</c:f>
              <c:strCache>
                <c:ptCount val="200"/>
              </c:strCache>
            </c:strRef>
          </c:cat>
          <c:val>
            <c:numRef>
              <c:f>Sheet1!$D$2:$D$201</c:f>
              <c:numCache>
                <c:formatCode>0%</c:formatCode>
                <c:ptCount val="200"/>
                <c:pt idx="0">
                  <c:v>190500</c:v>
                </c:pt>
                <c:pt idx="1">
                  <c:v>190500</c:v>
                </c:pt>
                <c:pt idx="2">
                  <c:v>190500</c:v>
                </c:pt>
                <c:pt idx="3">
                  <c:v>190500</c:v>
                </c:pt>
                <c:pt idx="4">
                  <c:v>190500</c:v>
                </c:pt>
                <c:pt idx="5">
                  <c:v>190500</c:v>
                </c:pt>
                <c:pt idx="6">
                  <c:v>190500</c:v>
                </c:pt>
                <c:pt idx="7">
                  <c:v>190500</c:v>
                </c:pt>
                <c:pt idx="8">
                  <c:v>190500</c:v>
                </c:pt>
                <c:pt idx="9">
                  <c:v>190500</c:v>
                </c:pt>
                <c:pt idx="10">
                  <c:v>190500</c:v>
                </c:pt>
                <c:pt idx="11">
                  <c:v>190500</c:v>
                </c:pt>
                <c:pt idx="12">
                  <c:v>190500</c:v>
                </c:pt>
                <c:pt idx="13">
                  <c:v>190500</c:v>
                </c:pt>
                <c:pt idx="14">
                  <c:v>190500</c:v>
                </c:pt>
                <c:pt idx="15">
                  <c:v>190500</c:v>
                </c:pt>
                <c:pt idx="16">
                  <c:v>190500</c:v>
                </c:pt>
                <c:pt idx="17">
                  <c:v>190500</c:v>
                </c:pt>
                <c:pt idx="18">
                  <c:v>190500</c:v>
                </c:pt>
                <c:pt idx="19">
                  <c:v>190500</c:v>
                </c:pt>
                <c:pt idx="20">
                  <c:v>190500</c:v>
                </c:pt>
                <c:pt idx="21">
                  <c:v>190500</c:v>
                </c:pt>
                <c:pt idx="22">
                  <c:v>190500</c:v>
                </c:pt>
                <c:pt idx="23">
                  <c:v>190500</c:v>
                </c:pt>
                <c:pt idx="24">
                  <c:v>190500</c:v>
                </c:pt>
                <c:pt idx="25">
                  <c:v>190500</c:v>
                </c:pt>
                <c:pt idx="26">
                  <c:v>190500</c:v>
                </c:pt>
                <c:pt idx="27">
                  <c:v>190500</c:v>
                </c:pt>
                <c:pt idx="28">
                  <c:v>190500</c:v>
                </c:pt>
                <c:pt idx="29">
                  <c:v>190500</c:v>
                </c:pt>
                <c:pt idx="30">
                  <c:v>190500</c:v>
                </c:pt>
                <c:pt idx="31">
                  <c:v>190500</c:v>
                </c:pt>
                <c:pt idx="32">
                  <c:v>190500</c:v>
                </c:pt>
                <c:pt idx="33">
                  <c:v>190500</c:v>
                </c:pt>
                <c:pt idx="34">
                  <c:v>190500</c:v>
                </c:pt>
                <c:pt idx="35">
                  <c:v>190500</c:v>
                </c:pt>
                <c:pt idx="36">
                  <c:v>190500</c:v>
                </c:pt>
                <c:pt idx="37">
                  <c:v>190500</c:v>
                </c:pt>
                <c:pt idx="38">
                  <c:v>190500</c:v>
                </c:pt>
                <c:pt idx="39">
                  <c:v>190500</c:v>
                </c:pt>
                <c:pt idx="40">
                  <c:v>190500</c:v>
                </c:pt>
                <c:pt idx="41">
                  <c:v>190500</c:v>
                </c:pt>
                <c:pt idx="42">
                  <c:v>190500</c:v>
                </c:pt>
                <c:pt idx="43">
                  <c:v>190500</c:v>
                </c:pt>
                <c:pt idx="44">
                  <c:v>190500</c:v>
                </c:pt>
                <c:pt idx="45">
                  <c:v>190500</c:v>
                </c:pt>
                <c:pt idx="46">
                  <c:v>190500</c:v>
                </c:pt>
                <c:pt idx="47">
                  <c:v>190500</c:v>
                </c:pt>
                <c:pt idx="48">
                  <c:v>190500</c:v>
                </c:pt>
                <c:pt idx="49">
                  <c:v>190500</c:v>
                </c:pt>
                <c:pt idx="50">
                  <c:v>190500</c:v>
                </c:pt>
                <c:pt idx="51">
                  <c:v>190500</c:v>
                </c:pt>
                <c:pt idx="52">
                  <c:v>190500</c:v>
                </c:pt>
                <c:pt idx="53">
                  <c:v>190500</c:v>
                </c:pt>
                <c:pt idx="54">
                  <c:v>190500</c:v>
                </c:pt>
                <c:pt idx="55">
                  <c:v>190500</c:v>
                </c:pt>
                <c:pt idx="56">
                  <c:v>190500</c:v>
                </c:pt>
                <c:pt idx="57">
                  <c:v>190500</c:v>
                </c:pt>
                <c:pt idx="58">
                  <c:v>190500</c:v>
                </c:pt>
                <c:pt idx="59">
                  <c:v>190500</c:v>
                </c:pt>
                <c:pt idx="60">
                  <c:v>190500</c:v>
                </c:pt>
                <c:pt idx="61">
                  <c:v>190500</c:v>
                </c:pt>
                <c:pt idx="62">
                  <c:v>190500</c:v>
                </c:pt>
                <c:pt idx="63">
                  <c:v>190500</c:v>
                </c:pt>
                <c:pt idx="64">
                  <c:v>190500</c:v>
                </c:pt>
                <c:pt idx="65">
                  <c:v>190500</c:v>
                </c:pt>
                <c:pt idx="66">
                  <c:v>190500</c:v>
                </c:pt>
                <c:pt idx="67">
                  <c:v>190500</c:v>
                </c:pt>
                <c:pt idx="68">
                  <c:v>190500</c:v>
                </c:pt>
                <c:pt idx="69">
                  <c:v>190500</c:v>
                </c:pt>
                <c:pt idx="70">
                  <c:v>190500</c:v>
                </c:pt>
                <c:pt idx="71">
                  <c:v>190500</c:v>
                </c:pt>
                <c:pt idx="72">
                  <c:v>190500</c:v>
                </c:pt>
                <c:pt idx="73">
                  <c:v>190500</c:v>
                </c:pt>
                <c:pt idx="74">
                  <c:v>190500</c:v>
                </c:pt>
                <c:pt idx="75">
                  <c:v>190500</c:v>
                </c:pt>
                <c:pt idx="76">
                  <c:v>190500</c:v>
                </c:pt>
                <c:pt idx="77">
                  <c:v>190500</c:v>
                </c:pt>
                <c:pt idx="78">
                  <c:v>190500</c:v>
                </c:pt>
                <c:pt idx="79">
                  <c:v>190500</c:v>
                </c:pt>
                <c:pt idx="80">
                  <c:v>190500</c:v>
                </c:pt>
                <c:pt idx="81">
                  <c:v>190500</c:v>
                </c:pt>
                <c:pt idx="82">
                  <c:v>190500</c:v>
                </c:pt>
                <c:pt idx="83">
                  <c:v>190500</c:v>
                </c:pt>
                <c:pt idx="84">
                  <c:v>190500</c:v>
                </c:pt>
                <c:pt idx="85">
                  <c:v>190500</c:v>
                </c:pt>
                <c:pt idx="86">
                  <c:v>190500</c:v>
                </c:pt>
                <c:pt idx="87">
                  <c:v>190500</c:v>
                </c:pt>
                <c:pt idx="88">
                  <c:v>190500</c:v>
                </c:pt>
                <c:pt idx="89">
                  <c:v>190500</c:v>
                </c:pt>
                <c:pt idx="90">
                  <c:v>190500</c:v>
                </c:pt>
                <c:pt idx="91">
                  <c:v>190500</c:v>
                </c:pt>
                <c:pt idx="92">
                  <c:v>190500</c:v>
                </c:pt>
                <c:pt idx="93">
                  <c:v>190500</c:v>
                </c:pt>
                <c:pt idx="94">
                  <c:v>190500</c:v>
                </c:pt>
                <c:pt idx="95">
                  <c:v>190500</c:v>
                </c:pt>
                <c:pt idx="96">
                  <c:v>190500</c:v>
                </c:pt>
                <c:pt idx="97">
                  <c:v>190500</c:v>
                </c:pt>
                <c:pt idx="98">
                  <c:v>190500</c:v>
                </c:pt>
                <c:pt idx="99">
                  <c:v>190500</c:v>
                </c:pt>
                <c:pt idx="100">
                  <c:v>190500</c:v>
                </c:pt>
                <c:pt idx="101">
                  <c:v>190500</c:v>
                </c:pt>
                <c:pt idx="102">
                  <c:v>190500</c:v>
                </c:pt>
                <c:pt idx="103">
                  <c:v>66675</c:v>
                </c:pt>
                <c:pt idx="104">
                  <c:v>66675</c:v>
                </c:pt>
                <c:pt idx="105">
                  <c:v>66675</c:v>
                </c:pt>
                <c:pt idx="106">
                  <c:v>66675</c:v>
                </c:pt>
                <c:pt idx="107">
                  <c:v>66675</c:v>
                </c:pt>
                <c:pt idx="108">
                  <c:v>66675</c:v>
                </c:pt>
                <c:pt idx="109">
                  <c:v>66675</c:v>
                </c:pt>
                <c:pt idx="110">
                  <c:v>66675</c:v>
                </c:pt>
                <c:pt idx="111">
                  <c:v>66675</c:v>
                </c:pt>
                <c:pt idx="112">
                  <c:v>66675</c:v>
                </c:pt>
                <c:pt idx="113">
                  <c:v>66675</c:v>
                </c:pt>
                <c:pt idx="114">
                  <c:v>66675</c:v>
                </c:pt>
                <c:pt idx="115">
                  <c:v>66675</c:v>
                </c:pt>
                <c:pt idx="116">
                  <c:v>66675</c:v>
                </c:pt>
                <c:pt idx="117">
                  <c:v>66675</c:v>
                </c:pt>
                <c:pt idx="118">
                  <c:v>66675</c:v>
                </c:pt>
                <c:pt idx="119">
                  <c:v>66675</c:v>
                </c:pt>
                <c:pt idx="120">
                  <c:v>66675</c:v>
                </c:pt>
                <c:pt idx="121">
                  <c:v>66675</c:v>
                </c:pt>
                <c:pt idx="122">
                  <c:v>66675</c:v>
                </c:pt>
                <c:pt idx="123">
                  <c:v>66675</c:v>
                </c:pt>
                <c:pt idx="124">
                  <c:v>66675</c:v>
                </c:pt>
                <c:pt idx="125">
                  <c:v>66675</c:v>
                </c:pt>
                <c:pt idx="126">
                  <c:v>66675</c:v>
                </c:pt>
                <c:pt idx="127">
                  <c:v>66675</c:v>
                </c:pt>
                <c:pt idx="128">
                  <c:v>66675</c:v>
                </c:pt>
                <c:pt idx="129">
                  <c:v>66675</c:v>
                </c:pt>
                <c:pt idx="130">
                  <c:v>66675</c:v>
                </c:pt>
                <c:pt idx="131">
                  <c:v>66675</c:v>
                </c:pt>
                <c:pt idx="132">
                  <c:v>66675</c:v>
                </c:pt>
                <c:pt idx="133">
                  <c:v>66675</c:v>
                </c:pt>
                <c:pt idx="134">
                  <c:v>66675</c:v>
                </c:pt>
                <c:pt idx="135">
                  <c:v>66675</c:v>
                </c:pt>
                <c:pt idx="136">
                  <c:v>66675</c:v>
                </c:pt>
                <c:pt idx="137">
                  <c:v>66675</c:v>
                </c:pt>
                <c:pt idx="138">
                  <c:v>66675</c:v>
                </c:pt>
                <c:pt idx="139">
                  <c:v>66675</c:v>
                </c:pt>
                <c:pt idx="140">
                  <c:v>66675</c:v>
                </c:pt>
                <c:pt idx="141">
                  <c:v>66675</c:v>
                </c:pt>
                <c:pt idx="142">
                  <c:v>66675</c:v>
                </c:pt>
                <c:pt idx="143">
                  <c:v>66675</c:v>
                </c:pt>
                <c:pt idx="144">
                  <c:v>66675</c:v>
                </c:pt>
                <c:pt idx="145">
                  <c:v>66675</c:v>
                </c:pt>
                <c:pt idx="146">
                  <c:v>66675</c:v>
                </c:pt>
                <c:pt idx="147">
                  <c:v>66675</c:v>
                </c:pt>
                <c:pt idx="148">
                  <c:v>66675</c:v>
                </c:pt>
                <c:pt idx="149">
                  <c:v>66675</c:v>
                </c:pt>
                <c:pt idx="150">
                  <c:v>66675</c:v>
                </c:pt>
                <c:pt idx="151">
                  <c:v>66675</c:v>
                </c:pt>
                <c:pt idx="152">
                  <c:v>66675</c:v>
                </c:pt>
                <c:pt idx="153">
                  <c:v>66675</c:v>
                </c:pt>
                <c:pt idx="154">
                  <c:v>66675</c:v>
                </c:pt>
                <c:pt idx="155">
                  <c:v>66675</c:v>
                </c:pt>
                <c:pt idx="156">
                  <c:v>66675</c:v>
                </c:pt>
                <c:pt idx="157">
                  <c:v>66675</c:v>
                </c:pt>
                <c:pt idx="158">
                  <c:v>66675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</c:v>
                </c:pt>
                <c:pt idx="168">
                  <c:v>0</c:v>
                </c:pt>
                <c:pt idx="169">
                  <c:v>0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111125</c:v>
                </c:pt>
                <c:pt idx="176">
                  <c:v>111125</c:v>
                </c:pt>
                <c:pt idx="177">
                  <c:v>111125</c:v>
                </c:pt>
                <c:pt idx="178">
                  <c:v>111125</c:v>
                </c:pt>
                <c:pt idx="179">
                  <c:v>111125</c:v>
                </c:pt>
                <c:pt idx="180">
                  <c:v>111125</c:v>
                </c:pt>
                <c:pt idx="181">
                  <c:v>111125</c:v>
                </c:pt>
                <c:pt idx="182">
                  <c:v>111125</c:v>
                </c:pt>
                <c:pt idx="183">
                  <c:v>111125</c:v>
                </c:pt>
                <c:pt idx="184">
                  <c:v>111125</c:v>
                </c:pt>
                <c:pt idx="185">
                  <c:v>111125</c:v>
                </c:pt>
                <c:pt idx="186">
                  <c:v>111125</c:v>
                </c:pt>
                <c:pt idx="187">
                  <c:v>111125</c:v>
                </c:pt>
                <c:pt idx="188">
                  <c:v>111125</c:v>
                </c:pt>
                <c:pt idx="189">
                  <c:v>111125</c:v>
                </c:pt>
                <c:pt idx="190">
                  <c:v>111125</c:v>
                </c:pt>
                <c:pt idx="191">
                  <c:v>66675</c:v>
                </c:pt>
                <c:pt idx="192">
                  <c:v>66675</c:v>
                </c:pt>
                <c:pt idx="193">
                  <c:v>66675</c:v>
                </c:pt>
                <c:pt idx="194">
                  <c:v>66675</c:v>
                </c:pt>
                <c:pt idx="195">
                  <c:v>66675</c:v>
                </c:pt>
                <c:pt idx="196">
                  <c:v>66675</c:v>
                </c:pt>
                <c:pt idx="197">
                  <c:v>66675</c:v>
                </c:pt>
                <c:pt idx="198">
                  <c:v>66675</c:v>
                </c:pt>
                <c:pt idx="199">
                  <c:v>66675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FB-D94C-91FC-1B50307CC1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"/>
          <c:min val="0"/>
        </c:scaling>
        <c:delete val="0"/>
        <c:axPos val="l"/>
        <c:numFmt formatCode="0%" sourceLinked="0"/>
        <c:majorTickMark val="out"/>
        <c:minorTickMark val="none"/>
        <c:tickLblPos val="nextTo"/>
        <c:spPr>
          <a:ln w="9525" cap="flat">
            <a:solidFill>
              <a:srgbClr val="162029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9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  <c:majorUnit val="0.05"/>
      </c:valAx>
    </c:plotArea>
    <c:plotVisOnly val="1"/>
    <c:dispBlanksAs val="gap"/>
    <c:showDLblsOverMax val="1"/>
  </c:chart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6/29/26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overTitle"/>
          <p:cNvSpPr>
            <a:spLocks noGrp="1"/>
          </p:cNvSpPr>
          <p:nvPr>
            <p:ph type="body" sz="quarter" idx="12"/>
          </p:nvPr>
        </p:nvSpPr>
        <p:spPr>
          <a:xfrm>
            <a:off x="453080" y="4140000"/>
            <a:ext cx="11285842" cy="2162129"/>
          </a:xfrm>
        </p:spPr>
        <p:txBody>
          <a:bodyPr anchor="t"/>
          <a:lstStyle/>
          <a:p>
            <a:pPr>
              <a:lnSpc>
                <a:spcPct val="115000"/>
              </a:lnSpc>
            </a:pPr>
            <a:r>
              <a:rPr lang="en-US" sz="2800" kern="1200" dirty="0"/>
              <a:t>Vessel MRO Market Sizing</a:t>
            </a:r>
          </a:p>
          <a:p>
            <a:pPr>
              <a:lnSpc>
                <a:spcPct val="115000"/>
              </a:lnSpc>
            </a:pPr>
            <a:r>
              <a:rPr lang="en-US" sz="2000" i="1" kern="1200" dirty="0"/>
              <a:t>U.S. Navy and U.S. Coast Guard vessel MRO, FY2025 TAM and SAM</a:t>
            </a:r>
          </a:p>
        </p:txBody>
      </p:sp>
      <p:sp>
        <p:nvSpPr>
          <p:cNvPr id="101" name="CoverFooter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5000"/>
              </a:lnSpc>
            </a:pPr>
            <a:r>
              <a:rPr lang="en-US" kern="1200" dirty="0"/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erviewTitle"/>
          <p:cNvSpPr txBox="1"/>
          <p:nvPr/>
        </p:nvSpPr>
        <p:spPr>
          <a:xfrm>
            <a:off x="457200" y="566928"/>
            <a:ext cx="518464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Overview</a:t>
            </a:r>
          </a:p>
        </p:txBody>
      </p:sp>
      <p:sp>
        <p:nvSpPr>
          <p:cNvPr id="20" name="Hdr20"/>
          <p:cNvSpPr txBox="1"/>
          <p:nvPr/>
        </p:nvSpPr>
        <p:spPr>
          <a:xfrm>
            <a:off x="457200" y="150876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Context</a:t>
            </a:r>
          </a:p>
        </p:txBody>
      </p:sp>
      <p:cxnSp>
        <p:nvCxnSpPr>
          <p:cNvPr id="21" name="Rule20"/>
          <p:cNvCxnSpPr/>
          <p:nvPr/>
        </p:nvCxnSpPr>
        <p:spPr>
          <a:xfrm>
            <a:off x="457200" y="1920240"/>
            <a:ext cx="521208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22" name="Body20"/>
          <p:cNvSpPr txBox="1"/>
          <p:nvPr/>
        </p:nvSpPr>
        <p:spPr>
          <a:xfrm>
            <a:off x="457200" y="1990240"/>
            <a:ext cx="5212080" cy="4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28600">
              <a:lnSpc>
                <a:spcPct val="115000"/>
              </a:lnSpc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Saronic is deciding which defense MRO work to pursue and how candidate sites map to the Navy and Coast Guard footprint:</a:t>
            </a:r>
          </a:p>
          <a:p>
            <a:pPr marL="461963" indent="-176213">
              <a:lnSpc>
                <a:spcPct val="115000"/>
              </a:lnSpc>
              <a:spcAft>
                <a:spcPts val="60"/>
              </a:spcAft>
              <a:buNone/>
            </a:pPr>
            <a:r>
              <a:rPr lang="en-US" sz="1400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–  Priority work segments and vessel classes that define the reachable opportunity</a:t>
            </a:r>
          </a:p>
          <a:p>
            <a:pPr marL="461963" indent="-176213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–  Gulf Coast and California site fit against existing USN and USCG MRO demand</a:t>
            </a:r>
          </a:p>
        </p:txBody>
      </p:sp>
      <p:sp>
        <p:nvSpPr>
          <p:cNvPr id="30" name="Hdr30"/>
          <p:cNvSpPr txBox="1"/>
          <p:nvPr/>
        </p:nvSpPr>
        <p:spPr>
          <a:xfrm>
            <a:off x="6409944" y="150876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Current sizing outputs</a:t>
            </a:r>
          </a:p>
        </p:txBody>
      </p:sp>
      <p:cxnSp>
        <p:nvCxnSpPr>
          <p:cNvPr id="31" name="Rule30"/>
          <p:cNvCxnSpPr/>
          <p:nvPr/>
        </p:nvCxnSpPr>
        <p:spPr>
          <a:xfrm>
            <a:off x="6409944" y="1920240"/>
            <a:ext cx="5212080" cy="0"/>
          </a:xfrm>
          <a:prstGeom prst="line">
            <a:avLst/>
          </a:prstGeom>
          <a:ln w="9525">
            <a:solidFill>
              <a:srgbClr val="BFBFBF"/>
            </a:solidFill>
          </a:ln>
        </p:spPr>
      </p:cxnSp>
      <p:sp>
        <p:nvSpPr>
          <p:cNvPr id="32" name="Body30"/>
          <p:cNvSpPr txBox="1"/>
          <p:nvPr/>
        </p:nvSpPr>
        <p:spPr>
          <a:xfrm>
            <a:off x="6409944" y="1990240"/>
            <a:ext cx="5212080" cy="4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285750" indent="-228600">
              <a:lnSpc>
                <a:spcPct val="115000"/>
              </a:lnSpc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FY2025 USN and USCG MRO contracting market by work segment, vessel category, prime, RMC geography, and appropriation</a:t>
            </a:r>
          </a:p>
          <a:p>
            <a:pPr marL="285750" indent="-228600">
              <a:lnSpc>
                <a:spcPct val="115000"/>
              </a:lnSpc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Priority-segment volume and average contract value</a:t>
            </a:r>
          </a:p>
          <a:p>
            <a:pPr marL="285750" indent="-228600">
              <a:lnSpc>
                <a:spcPct val="115000"/>
              </a:lnSpc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USG industrial-base funding and path to access</a:t>
            </a:r>
          </a:p>
          <a:p>
            <a:pPr marL="285750" indent="-228600">
              <a:lnSpc>
                <a:spcPct val="115000"/>
              </a:lnSpc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Competitor archetypes, positioning, and capability requirements</a:t>
            </a:r>
          </a:p>
          <a:p>
            <a:pPr marL="285750" indent="-228600">
              <a:lnSpc>
                <a:spcPct val="115000"/>
              </a:lnSpc>
              <a:spcAft>
                <a:spcPts val="6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Saronic financial outlook and required USG investment</a:t>
            </a:r>
          </a:p>
          <a:p>
            <a:pPr marL="285750" indent="-2286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Scorecard summary and sequenced path to market</a:t>
            </a:r>
          </a:p>
        </p:txBody>
      </p:sp>
      <p:sp>
        <p:nvSpPr>
          <p:cNvPr id="40" name="PrelimNote"/>
          <p:cNvSpPr txBox="1"/>
          <p:nvPr/>
        </p:nvSpPr>
        <p:spPr>
          <a:xfrm>
            <a:off x="6409944" y="5879592"/>
            <a:ext cx="5212080" cy="484632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91440" tIns="45720" rIns="91440" bIns="4572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12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Estimate confidence improves with expert validation, additional contract-level diligence, and site-specific inputs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Definitions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45720" tIns="9144" rIns="45720" bIns="9144" anchor="ctr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Definitions | Sizing breaks the MRO market into five nested levels.</a:t>
            </a:r>
          </a:p>
        </p:txBody>
      </p:sp>
      <p:sp>
        <p:nvSpPr>
          <p:cNvPr id="20" name="Ring0"/>
          <p:cNvSpPr txBox="1"/>
          <p:nvPr/>
        </p:nvSpPr>
        <p:spPr>
          <a:xfrm>
            <a:off x="436168" y="1195120"/>
            <a:ext cx="5212080" cy="5212080"/>
          </a:xfrm>
          <a:prstGeom prst="ellipse">
            <a:avLst/>
          </a:prstGeom>
          <a:solidFill>
            <a:srgbClr val="E2E9EF"/>
          </a:solidFill>
          <a:ln w="3175">
            <a:solidFill>
              <a:srgbClr val="C0C0C0"/>
            </a:solidFill>
          </a:ln>
        </p:spPr>
        <p:txBody>
          <a:bodyPr wrap="square" lIns="91440" tIns="45720" rIns="91440" bIns="4572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1" name="Ring1"/>
          <p:cNvSpPr txBox="1"/>
          <p:nvPr/>
        </p:nvSpPr>
        <p:spPr>
          <a:xfrm>
            <a:off x="847648" y="2018080"/>
            <a:ext cx="4389120" cy="4389120"/>
          </a:xfrm>
          <a:prstGeom prst="ellipse">
            <a:avLst/>
          </a:prstGeom>
          <a:solidFill>
            <a:srgbClr val="B6C8D8"/>
          </a:solidFill>
          <a:ln w="3175">
            <a:solidFill>
              <a:srgbClr val="C0C0C0"/>
            </a:solidFill>
          </a:ln>
        </p:spPr>
        <p:txBody>
          <a:bodyPr wrap="square" lIns="91440" tIns="45720" rIns="91440" bIns="4572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2" name="Ring2"/>
          <p:cNvSpPr txBox="1"/>
          <p:nvPr/>
        </p:nvSpPr>
        <p:spPr>
          <a:xfrm>
            <a:off x="1259128" y="2841040"/>
            <a:ext cx="3566160" cy="3566160"/>
          </a:xfrm>
          <a:prstGeom prst="ellipse">
            <a:avLst/>
          </a:prstGeom>
          <a:solidFill>
            <a:srgbClr val="6E91B1"/>
          </a:solidFill>
          <a:ln w="3175">
            <a:solidFill>
              <a:srgbClr val="C0C0C0"/>
            </a:solidFill>
          </a:ln>
        </p:spPr>
        <p:txBody>
          <a:bodyPr wrap="square" lIns="91440" tIns="45720" rIns="91440" bIns="4572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3" name="Ring3"/>
          <p:cNvSpPr txBox="1"/>
          <p:nvPr/>
        </p:nvSpPr>
        <p:spPr>
          <a:xfrm>
            <a:off x="1624888" y="3664000"/>
            <a:ext cx="2834640" cy="2743200"/>
          </a:xfrm>
          <a:prstGeom prst="ellipse">
            <a:avLst/>
          </a:prstGeom>
          <a:solidFill>
            <a:srgbClr val="3D5972"/>
          </a:solidFill>
          <a:ln w="3175">
            <a:solidFill>
              <a:srgbClr val="C0C0C0"/>
            </a:solidFill>
          </a:ln>
        </p:spPr>
        <p:txBody>
          <a:bodyPr wrap="square" lIns="91440" tIns="45720" rIns="91440" bIns="4572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4" name="Ring4"/>
          <p:cNvSpPr txBox="1"/>
          <p:nvPr/>
        </p:nvSpPr>
        <p:spPr>
          <a:xfrm>
            <a:off x="2082088" y="4486960"/>
            <a:ext cx="1920240" cy="1920240"/>
          </a:xfrm>
          <a:prstGeom prst="ellipse">
            <a:avLst/>
          </a:prstGeom>
          <a:solidFill>
            <a:srgbClr val="263746"/>
          </a:solidFill>
          <a:ln w="3175">
            <a:solidFill>
              <a:srgbClr val="C0C0C0"/>
            </a:solidFill>
          </a:ln>
        </p:spPr>
        <p:txBody>
          <a:bodyPr wrap="square" lIns="91440" tIns="45720" rIns="91440" bIns="4572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30" name="RingLabel0"/>
          <p:cNvSpPr txBox="1"/>
          <p:nvPr/>
        </p:nvSpPr>
        <p:spPr>
          <a:xfrm>
            <a:off x="2150668" y="1430121"/>
            <a:ext cx="1782165" cy="352958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Funding</a:t>
            </a:r>
          </a:p>
        </p:txBody>
      </p:sp>
      <p:sp>
        <p:nvSpPr>
          <p:cNvPr id="31" name="RingLabel1"/>
          <p:cNvSpPr txBox="1"/>
          <p:nvPr/>
        </p:nvSpPr>
        <p:spPr>
          <a:xfrm>
            <a:off x="2150668" y="2253081"/>
            <a:ext cx="1782165" cy="352958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TAM</a:t>
            </a:r>
          </a:p>
        </p:txBody>
      </p:sp>
      <p:sp>
        <p:nvSpPr>
          <p:cNvPr id="32" name="RingLabel2"/>
          <p:cNvSpPr txBox="1"/>
          <p:nvPr/>
        </p:nvSpPr>
        <p:spPr>
          <a:xfrm>
            <a:off x="2150668" y="3161080"/>
            <a:ext cx="1782165" cy="352958"/>
          </a:xfrm>
          <a:prstGeom prst="rect">
            <a:avLst/>
          </a:prstGeom>
          <a:solidFill>
            <a:srgbClr val="6E91B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</a:t>
            </a:r>
          </a:p>
        </p:txBody>
      </p:sp>
      <p:sp>
        <p:nvSpPr>
          <p:cNvPr id="33" name="RingLabel3"/>
          <p:cNvSpPr txBox="1"/>
          <p:nvPr/>
        </p:nvSpPr>
        <p:spPr>
          <a:xfrm>
            <a:off x="2150668" y="4069080"/>
            <a:ext cx="1782165" cy="352958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Saronic TCV</a:t>
            </a:r>
          </a:p>
        </p:txBody>
      </p:sp>
      <p:sp>
        <p:nvSpPr>
          <p:cNvPr id="34" name="RingLabel4"/>
          <p:cNvSpPr txBox="1"/>
          <p:nvPr/>
        </p:nvSpPr>
        <p:spPr>
          <a:xfrm>
            <a:off x="2150668" y="5303520"/>
            <a:ext cx="1782165" cy="352958"/>
          </a:xfrm>
          <a:prstGeom prst="rect">
            <a:avLst/>
          </a:prstGeom>
          <a:solidFill>
            <a:srgbClr val="26374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Saronic ACV</a:t>
            </a:r>
          </a:p>
        </p:txBody>
      </p:sp>
      <p:graphicFrame>
        <p:nvGraphicFramePr>
          <p:cNvPr id="50" name="DefinitionsTable"/>
          <p:cNvGraphicFramePr>
            <a:graphicFrameLocks noGrp="1"/>
          </p:cNvGraphicFramePr>
          <p:nvPr/>
        </p:nvGraphicFramePr>
        <p:xfrm>
          <a:off x="6096304" y="1559966"/>
          <a:ext cx="5639104" cy="4481474"/>
        </p:xfrm>
        <a:graphic>
          <a:graphicData uri="http://schemas.openxmlformats.org/drawingml/2006/table">
            <a:tbl>
              <a:tblPr firstRow="1" firstCol="1">
                <a:tableStyleId>{2D5ABB26-0587-4C30-8999-92F81FD0307C}</a:tableStyleId>
              </a:tblPr>
              <a:tblGrid>
                <a:gridCol w="1575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35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667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Level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Definition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Funding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All Service-PSC code award spending for US Navy and US Coast Guard in FY2025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Total Addressable Market (TAM)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Reconciled FPDS-visible MRO TAM: 65 services-PSC MRO + embedded PSC 1905 MRO (~$9.0B)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Serviceable Addressable Market (SAM)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Scenario-selected subset of TAM atoms; Broad Addressable (~$7.1B, TAM less captive SUPSHIP &amp; FMS) narrowing to Depot Ship Repair on Marauder-type platforms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1100" b="1" dirty="0">
                          <a:solidFill>
                            <a:srgbClr val="7F7F7F"/>
                          </a:solidFill>
                          <a:latin typeface="Arial"/>
                          <a:ea typeface="Arial"/>
                          <a:cs typeface="Arial"/>
                        </a:rPr>
                        <a:t>Saronic TCV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1100" b="0" dirty="0">
                          <a:solidFill>
                            <a:srgbClr val="7F7F7F"/>
                          </a:solidFill>
                          <a:latin typeface="Arial"/>
                          <a:ea typeface="Arial"/>
                          <a:cs typeface="Arial"/>
                        </a:rPr>
                        <a:t>Share of SAM that Saronic can likely capture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1100" b="1" dirty="0">
                          <a:solidFill>
                            <a:srgbClr val="7F7F7F"/>
                          </a:solidFill>
                          <a:latin typeface="Arial"/>
                          <a:ea typeface="Arial"/>
                          <a:cs typeface="Arial"/>
                        </a:rPr>
                        <a:t>Saronic ACV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1100" b="0" dirty="0">
                          <a:solidFill>
                            <a:srgbClr val="7F7F7F"/>
                          </a:solidFill>
                          <a:latin typeface="Arial"/>
                          <a:ea typeface="Arial"/>
                          <a:cs typeface="Arial"/>
                        </a:rPr>
                        <a:t>Portion of TCV expected to convert into annual contract value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0" name="FutureEffort"/>
          <p:cNvSpPr txBox="1"/>
          <p:nvPr/>
        </p:nvSpPr>
        <p:spPr>
          <a:xfrm>
            <a:off x="6096304" y="6071440"/>
            <a:ext cx="24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</a:pPr>
            <a:r>
              <a:rPr lang="en-US" sz="10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Future capture layer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Bottom-Up Approach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45720" tIns="9144" rIns="45720" bIns="9144" anchor="ctr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Bottom-Up Methodology | Filtering FPDS awards to 65 ship-MRO service codes sizes the reconciled FPDS-visible MRO TAM at $9.0B.</a:t>
            </a:r>
          </a:p>
        </p:txBody>
      </p:sp>
      <p:graphicFrame>
        <p:nvGraphicFramePr>
          <p:cNvPr id="314" name="Table 13"/>
          <p:cNvGraphicFramePr>
            <a:graphicFrameLocks noGrp="1"/>
          </p:cNvGraphicFramePr>
          <p:nvPr/>
        </p:nvGraphicFramePr>
        <p:xfrm>
          <a:off x="497651" y="1530849"/>
          <a:ext cx="12144490" cy="462166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32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27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327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3278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3278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5019">
                <a:tc>
                  <a:txBody>
                    <a:bodyPr/>
                    <a:lstStyle/>
                    <a:p>
                      <a:r>
                        <a:rPr lang="en-US" sz="1400" b="0" i="1" dirty="0">
                          <a:solidFill>
                            <a:srgbClr val="000000"/>
                          </a:solidFill>
                          <a:latin typeface="+mj-lt"/>
                          <a:ea typeface="Inter SemiBold" panose="02000503000000020004" pitchFamily="2" charset="0"/>
                        </a:rPr>
                        <a:t>Approach steps</a:t>
                      </a:r>
                    </a:p>
                  </a:txBody>
                  <a:tcPr marL="45720" marR="45720" anchor="b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1" dirty="0">
                          <a:solidFill>
                            <a:srgbClr val="000000"/>
                          </a:solidFill>
                          <a:latin typeface="+mj-lt"/>
                          <a:ea typeface="Inter SemiBold" panose="02000503000000020004" pitchFamily="2" charset="0"/>
                        </a:rPr>
                        <a:t>Input</a:t>
                      </a:r>
                    </a:p>
                  </a:txBody>
                  <a:tcPr marL="45720" marR="4572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1" dirty="0">
                          <a:solidFill>
                            <a:srgbClr val="000000"/>
                          </a:solidFill>
                          <a:latin typeface="+mj-lt"/>
                          <a:ea typeface="Inter SemiBold" panose="02000503000000020004" pitchFamily="2" charset="0"/>
                        </a:rPr>
                        <a:t>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1" dirty="0">
                          <a:solidFill>
                            <a:srgbClr val="000000"/>
                          </a:solidFill>
                          <a:latin typeface="+mj-lt"/>
                          <a:ea typeface="Inter SemiBold" panose="02000503000000020004" pitchFamily="2" charset="0"/>
                        </a:rPr>
                        <a:t>Filter</a:t>
                      </a:r>
                    </a:p>
                  </a:txBody>
                  <a:tcPr marL="45720" marR="4572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1" dirty="0">
                          <a:solidFill>
                            <a:srgbClr val="000000"/>
                          </a:solidFill>
                          <a:latin typeface="+mj-lt"/>
                          <a:ea typeface="Inter SemiBold" panose="02000503000000020004" pitchFamily="2" charset="0"/>
                        </a:rPr>
                        <a:t>Output</a:t>
                      </a:r>
                    </a:p>
                  </a:txBody>
                  <a:tcPr marL="45720" marR="4572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561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rgbClr val="000000"/>
                          </a:solidFill>
                          <a:latin typeface="+mj-lt"/>
                          <a:ea typeface="Inter SemiBold" panose="02000503000000020004" pitchFamily="2" charset="0"/>
                        </a:rPr>
                        <a:t>1. Filter federal PSCs to USN/USCG services-class codes</a:t>
                      </a:r>
                    </a:p>
                  </a:txBody>
                  <a:tcPr marL="45720" marR="45720" anchor="ctr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b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b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b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1543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2. Filter to ship MRO codes</a:t>
                      </a:r>
                      <a:endParaRPr lang="en-US" sz="14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 anchor="ctr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1543">
                <a:tc>
                  <a:txBody>
                    <a:bodyPr/>
                    <a:lstStyle/>
                    <a:p>
                      <a:r>
                        <a:rPr lang="en-US" sz="1400" b="0" i="0" dirty="0">
                          <a:solidFill>
                            <a:srgbClr val="000000"/>
                          </a:solidFill>
                          <a:latin typeface="+mj-lt"/>
                          <a:ea typeface="Inter SemiBold" panose="02000503000000020004" pitchFamily="2" charset="0"/>
                        </a:rPr>
                        <a:t>3. Apply FY2025 obligations to size the MRO TAM</a:t>
                      </a:r>
                    </a:p>
                  </a:txBody>
                  <a:tcPr marL="45720" marR="45720" anchor="ctr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i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b="0" i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i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b="0" i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i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b="0" i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400" b="0" i="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3" name="Rectangle 12"/>
          <p:cNvSpPr/>
          <p:nvPr/>
        </p:nvSpPr>
        <p:spPr>
          <a:xfrm>
            <a:off x="2373620" y="2253016"/>
            <a:ext cx="2596896" cy="566928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000000"/>
                </a:solidFill>
                <a:latin typeface="+mj-lt"/>
              </a:rPr>
              <a:t>2,539 PSCs</a:t>
            </a:r>
          </a:p>
          <a:p>
            <a:pPr algn="ctr"/>
            <a:r>
              <a:rPr lang="en-US" sz="1000" i="1" dirty="0">
                <a:solidFill>
                  <a:srgbClr val="000000"/>
                </a:solidFill>
                <a:latin typeface="+mj-lt"/>
              </a:rPr>
              <a:t>All federal contract-action codes</a:t>
            </a:r>
          </a:p>
        </p:txBody>
      </p:sp>
      <p:sp>
        <p:nvSpPr>
          <p:cNvPr id="319" name="Rectangle 18"/>
          <p:cNvSpPr/>
          <p:nvPr/>
        </p:nvSpPr>
        <p:spPr>
          <a:xfrm>
            <a:off x="9092950" y="5119652"/>
            <a:ext cx="2596896" cy="566928"/>
          </a:xfrm>
          <a:prstGeom prst="rect">
            <a:avLst/>
          </a:prstGeom>
          <a:solidFill>
            <a:srgbClr val="3D5972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Reconciled MRO TAM:</a:t>
            </a:r>
            <a:r>
              <a:rPr lang="en-US" sz="1400" b="1" dirty="0">
                <a:sym typeface="Wingdings" panose="05000000000000000000" pitchFamily="2" charset="2"/>
              </a:rPr>
              <a:t> </a:t>
            </a:r>
            <a:r>
              <a:rPr lang="en-US" sz="1400" b="1" dirty="0"/>
              <a:t>$9.0B</a:t>
            </a:r>
          </a:p>
        </p:txBody>
      </p:sp>
      <p:sp>
        <p:nvSpPr>
          <p:cNvPr id="327" name="Rectangle 26"/>
          <p:cNvSpPr/>
          <p:nvPr/>
        </p:nvSpPr>
        <p:spPr>
          <a:xfrm>
            <a:off x="2373620" y="3602859"/>
            <a:ext cx="2596896" cy="566928"/>
          </a:xfrm>
          <a:prstGeom prst="rect">
            <a:avLst/>
          </a:prstGeom>
          <a:solidFill>
            <a:srgbClr val="E2E9EF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000000"/>
                </a:solidFill>
                <a:latin typeface="+mj-lt"/>
              </a:rPr>
              <a:t>~1,800 Services PSCs</a:t>
            </a:r>
          </a:p>
        </p:txBody>
      </p:sp>
      <p:sp>
        <p:nvSpPr>
          <p:cNvPr id="337" name="Rectangle 36"/>
          <p:cNvSpPr/>
          <p:nvPr/>
        </p:nvSpPr>
        <p:spPr>
          <a:xfrm>
            <a:off x="497652" y="6152515"/>
            <a:ext cx="11192194" cy="365760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tx1"/>
                </a:solidFill>
                <a:latin typeface="+mj-lt"/>
              </a:rPr>
              <a:t>Sources: (1) FPDS FY2025 contract obligations, U.S. Navy and U.S. Coast Guard (65 ship-MRO PSCs); data as of April 2026</a:t>
            </a:r>
            <a:br>
              <a:rPr lang="en-US" sz="800" dirty="0">
                <a:solidFill>
                  <a:schemeClr val="tx1"/>
                </a:solidFill>
                <a:latin typeface="+mj-lt"/>
              </a:rPr>
            </a:br>
            <a:endParaRPr lang="en-US" sz="800" dirty="0">
              <a:solidFill>
                <a:schemeClr val="tx1"/>
              </a:solidFill>
              <a:latin typeface="+mj-lt"/>
              <a:ea typeface="Inter" panose="02000503000000020004" pitchFamily="2" charset="0"/>
            </a:endParaRPr>
          </a:p>
        </p:txBody>
      </p:sp>
      <p:sp>
        <p:nvSpPr>
          <p:cNvPr id="303" name="Rectangle 2"/>
          <p:cNvSpPr/>
          <p:nvPr/>
        </p:nvSpPr>
        <p:spPr>
          <a:xfrm>
            <a:off x="5733285" y="2253016"/>
            <a:ext cx="2596896" cy="566928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000000"/>
                </a:solidFill>
                <a:latin typeface="+mj-lt"/>
              </a:rPr>
              <a:t>USN/USCG Services codes</a:t>
            </a:r>
          </a:p>
          <a:p>
            <a:pPr algn="ctr"/>
            <a:r>
              <a:rPr lang="pt-BR" sz="1000" i="1" dirty="0">
                <a:solidFill>
                  <a:srgbClr val="000000"/>
                </a:solidFill>
                <a:latin typeface="+mj-lt"/>
              </a:rPr>
              <a:t>J, K, N, H, L, M </a:t>
            </a:r>
            <a:r>
              <a:rPr lang="pt-BR" sz="1000" i="1" dirty="0" err="1">
                <a:solidFill>
                  <a:srgbClr val="000000"/>
                </a:solidFill>
                <a:latin typeface="+mj-lt"/>
              </a:rPr>
              <a:t>families</a:t>
            </a:r>
            <a:endParaRPr lang="en-US" sz="1000" i="1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309" name="Rectangle 8"/>
          <p:cNvSpPr/>
          <p:nvPr/>
        </p:nvSpPr>
        <p:spPr>
          <a:xfrm>
            <a:off x="9092950" y="2253016"/>
            <a:ext cx="2596896" cy="566928"/>
          </a:xfrm>
          <a:prstGeom prst="rect">
            <a:avLst/>
          </a:prstGeom>
          <a:solidFill>
            <a:srgbClr val="E2E9EF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000000"/>
                </a:solidFill>
                <a:latin typeface="+mj-lt"/>
              </a:rPr>
              <a:t>~1,800 Services PSCs</a:t>
            </a:r>
            <a:endParaRPr lang="en-US" sz="1000" i="1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310" name="Rectangle 9"/>
          <p:cNvSpPr/>
          <p:nvPr/>
        </p:nvSpPr>
        <p:spPr>
          <a:xfrm>
            <a:off x="5733285" y="3602859"/>
            <a:ext cx="2596896" cy="566928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000000"/>
                </a:solidFill>
                <a:latin typeface="+mj-lt"/>
              </a:rPr>
              <a:t>Ship MRO codes</a:t>
            </a:r>
          </a:p>
          <a:p>
            <a:pPr algn="ctr"/>
            <a:r>
              <a:rPr lang="pt-BR" sz="1000" i="1" dirty="0" err="1">
                <a:solidFill>
                  <a:srgbClr val="000000"/>
                </a:solidFill>
                <a:latin typeface="+mj-lt"/>
              </a:rPr>
              <a:t>Repair</a:t>
            </a:r>
            <a:r>
              <a:rPr lang="pt-BR" sz="1000" i="1" dirty="0">
                <a:solidFill>
                  <a:srgbClr val="000000"/>
                </a:solidFill>
                <a:latin typeface="+mj-lt"/>
              </a:rPr>
              <a:t>, </a:t>
            </a:r>
            <a:r>
              <a:rPr lang="pt-BR" sz="1000" i="1" dirty="0" err="1">
                <a:solidFill>
                  <a:srgbClr val="000000"/>
                </a:solidFill>
                <a:latin typeface="+mj-lt"/>
              </a:rPr>
              <a:t>modification</a:t>
            </a:r>
            <a:r>
              <a:rPr lang="pt-BR" sz="1000" i="1" dirty="0">
                <a:solidFill>
                  <a:srgbClr val="000000"/>
                </a:solidFill>
                <a:latin typeface="+mj-lt"/>
              </a:rPr>
              <a:t>, </a:t>
            </a:r>
            <a:r>
              <a:rPr lang="pt-BR" sz="1000" i="1" dirty="0" err="1">
                <a:solidFill>
                  <a:srgbClr val="000000"/>
                </a:solidFill>
                <a:latin typeface="+mj-lt"/>
              </a:rPr>
              <a:t>overhaul</a:t>
            </a:r>
            <a:r>
              <a:rPr lang="pt-BR" sz="1000" i="1" dirty="0">
                <a:solidFill>
                  <a:srgbClr val="000000"/>
                </a:solidFill>
                <a:latin typeface="+mj-lt"/>
              </a:rPr>
              <a:t>, </a:t>
            </a:r>
            <a:r>
              <a:rPr lang="pt-BR" sz="1000" i="1" dirty="0" err="1">
                <a:solidFill>
                  <a:srgbClr val="000000"/>
                </a:solidFill>
                <a:latin typeface="+mj-lt"/>
              </a:rPr>
              <a:t>husbanding</a:t>
            </a:r>
            <a:endParaRPr lang="en-US" sz="1000" i="1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311" name="Rectangle 10"/>
          <p:cNvSpPr/>
          <p:nvPr/>
        </p:nvSpPr>
        <p:spPr>
          <a:xfrm>
            <a:off x="9092950" y="3602859"/>
            <a:ext cx="2596896" cy="566928"/>
          </a:xfrm>
          <a:prstGeom prst="rect">
            <a:avLst/>
          </a:prstGeom>
          <a:solidFill>
            <a:srgbClr val="B6C8D8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65 Ship MRO PSCs</a:t>
            </a:r>
          </a:p>
        </p:txBody>
      </p:sp>
      <p:sp>
        <p:nvSpPr>
          <p:cNvPr id="312" name="Rectangle 11"/>
          <p:cNvSpPr/>
          <p:nvPr/>
        </p:nvSpPr>
        <p:spPr>
          <a:xfrm>
            <a:off x="2373620" y="5119652"/>
            <a:ext cx="2596896" cy="566928"/>
          </a:xfrm>
          <a:prstGeom prst="rect">
            <a:avLst/>
          </a:prstGeom>
          <a:solidFill>
            <a:srgbClr val="B6C8D8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65 Ship MRO PSCs</a:t>
            </a:r>
          </a:p>
        </p:txBody>
      </p:sp>
      <p:sp>
        <p:nvSpPr>
          <p:cNvPr id="315" name="Rectangle 14"/>
          <p:cNvSpPr/>
          <p:nvPr/>
        </p:nvSpPr>
        <p:spPr>
          <a:xfrm>
            <a:off x="5733285" y="5119652"/>
            <a:ext cx="2596896" cy="566928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000000"/>
                </a:solidFill>
                <a:latin typeface="+mj-lt"/>
              </a:rPr>
              <a:t>FY2025 obligations</a:t>
            </a:r>
          </a:p>
          <a:p>
            <a:pPr algn="ctr"/>
            <a:r>
              <a:rPr lang="en-US" sz="1000" i="1" dirty="0">
                <a:solidFill>
                  <a:srgbClr val="000000"/>
                </a:solidFill>
                <a:latin typeface="+mj-lt"/>
              </a:rPr>
              <a:t>$7.1B 65-PSC services + $1.9B embedded PSC 1905</a:t>
            </a:r>
          </a:p>
        </p:txBody>
      </p:sp>
      <p:cxnSp>
        <p:nvCxnSpPr>
          <p:cNvPr id="322" name="Straight Arrow Connector 21"/>
          <p:cNvCxnSpPr>
            <a:cxnSpLocks/>
          </p:cNvCxnSpPr>
          <p:nvPr/>
        </p:nvCxnSpPr>
        <p:spPr>
          <a:xfrm>
            <a:off x="4970516" y="2536480"/>
            <a:ext cx="7627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Arrow Connector 24"/>
          <p:cNvCxnSpPr>
            <a:cxnSpLocks/>
          </p:cNvCxnSpPr>
          <p:nvPr/>
        </p:nvCxnSpPr>
        <p:spPr>
          <a:xfrm>
            <a:off x="8330181" y="2536480"/>
            <a:ext cx="7627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: Elbow 28"/>
          <p:cNvCxnSpPr>
            <a:cxnSpLocks/>
          </p:cNvCxnSpPr>
          <p:nvPr/>
        </p:nvCxnSpPr>
        <p:spPr>
          <a:xfrm rot="5400000">
            <a:off x="6640276" y="-148264"/>
            <a:ext cx="782915" cy="671933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7"/>
          <p:cNvCxnSpPr>
            <a:cxnSpLocks/>
          </p:cNvCxnSpPr>
          <p:nvPr/>
        </p:nvCxnSpPr>
        <p:spPr>
          <a:xfrm>
            <a:off x="4970516" y="3886323"/>
            <a:ext cx="7627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40"/>
          <p:cNvCxnSpPr>
            <a:cxnSpLocks/>
          </p:cNvCxnSpPr>
          <p:nvPr/>
        </p:nvCxnSpPr>
        <p:spPr>
          <a:xfrm>
            <a:off x="8330181" y="3886323"/>
            <a:ext cx="7627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: Elbow 43"/>
          <p:cNvCxnSpPr>
            <a:cxnSpLocks/>
          </p:cNvCxnSpPr>
          <p:nvPr/>
        </p:nvCxnSpPr>
        <p:spPr>
          <a:xfrm rot="5400000">
            <a:off x="6556801" y="1285054"/>
            <a:ext cx="949865" cy="671933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Arrow Connector 46"/>
          <p:cNvCxnSpPr>
            <a:cxnSpLocks/>
          </p:cNvCxnSpPr>
          <p:nvPr/>
        </p:nvCxnSpPr>
        <p:spPr>
          <a:xfrm>
            <a:off x="4970516" y="5403116"/>
            <a:ext cx="7627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Arrow Connector 49"/>
          <p:cNvCxnSpPr>
            <a:cxnSpLocks/>
          </p:cNvCxnSpPr>
          <p:nvPr/>
        </p:nvCxnSpPr>
        <p:spPr>
          <a:xfrm>
            <a:off x="8330181" y="5403116"/>
            <a:ext cx="76276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Vessel Taxonomy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45720" tIns="9144" rIns="45720" bIns="9144" anchor="ctr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Vessel Taxonomy | MRO TAM scope covers every SECNAV and USCG hull category.</a:t>
            </a:r>
          </a:p>
        </p:txBody>
      </p:sp>
      <p:graphicFrame>
        <p:nvGraphicFramePr>
          <p:cNvPr id="303" name="Table 2"/>
          <p:cNvGraphicFramePr>
            <a:graphicFrameLocks noGrp="1"/>
          </p:cNvGraphicFramePr>
          <p:nvPr/>
        </p:nvGraphicFramePr>
        <p:xfrm>
          <a:off x="160359" y="1376859"/>
          <a:ext cx="11867537" cy="50311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04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6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6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6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66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6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66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66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29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i="0" baseline="30000" dirty="0">
                        <a:solidFill>
                          <a:schemeClr val="bg1"/>
                        </a:solidFill>
                      </a:endParaRPr>
                    </a:p>
                  </a:txBody>
                  <a:tcPr marL="45720" marR="4572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i="0" dirty="0">
                          <a:solidFill>
                            <a:schemeClr val="bg1"/>
                          </a:solidFill>
                        </a:rPr>
                        <a:t>US Navy</a:t>
                      </a:r>
                      <a:r>
                        <a:rPr lang="en-US" sz="1000" b="1" i="0" baseline="300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1000" b="1" i="0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1000" b="0" i="1" baseline="0" dirty="0">
                          <a:solidFill>
                            <a:schemeClr val="bg1"/>
                          </a:solidFill>
                        </a:rPr>
                        <a:t>(Definitions IAW SECNAVINST 5030.8D 28JUN22)</a:t>
                      </a:r>
                      <a:endParaRPr lang="en-US" sz="1000" b="0" i="1" baseline="30000" dirty="0">
                        <a:solidFill>
                          <a:schemeClr val="bg1"/>
                        </a:solidFill>
                      </a:endParaRPr>
                    </a:p>
                  </a:txBody>
                  <a:tcPr marL="45720" marR="4572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92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000" b="1" i="0">
                        <a:solidFill>
                          <a:schemeClr val="bg1"/>
                        </a:solidFill>
                      </a:endParaRPr>
                    </a:p>
                  </a:txBody>
                  <a:tcPr marL="45720" marR="4572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92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000" b="1" i="0">
                        <a:solidFill>
                          <a:schemeClr val="bg1"/>
                        </a:solidFill>
                      </a:endParaRPr>
                    </a:p>
                  </a:txBody>
                  <a:tcPr marL="45720" marR="4572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E192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000" b="1" i="0">
                        <a:solidFill>
                          <a:schemeClr val="bg1"/>
                        </a:solidFill>
                      </a:endParaRPr>
                    </a:p>
                  </a:txBody>
                  <a:tcPr marL="45720" marR="4572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E192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000" b="1" i="0">
                        <a:solidFill>
                          <a:schemeClr val="bg1"/>
                        </a:solidFill>
                      </a:endParaRPr>
                    </a:p>
                  </a:txBody>
                  <a:tcPr marL="45720" marR="4572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924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</a:rPr>
                        <a:t>US Coast Guard</a:t>
                      </a:r>
                      <a:endParaRPr sz="1000" b="1">
                        <a:solidFill>
                          <a:schemeClr val="bg1"/>
                        </a:solidFill>
                      </a:endParaRPr>
                    </a:p>
                  </a:txBody>
                  <a:tcPr marL="45720" marR="4572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4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1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Combatant Ships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3E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Auxiliary Ships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47BB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Combatant Crafts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9B9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Unmanned Maritime Platforms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EDD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Support Crafts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Cutters</a:t>
                      </a:r>
                      <a:endParaRPr kumimoji="0" lang="en-US" sz="1000" b="1" i="0" u="none" strike="noStrike" kern="1200" cap="none" spc="0" normalizeH="0" baseline="3000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Boats</a:t>
                      </a:r>
                      <a:endParaRPr kumimoji="0" lang="en-US" sz="1000" b="1" i="0" u="none" strike="noStrike" kern="1200" cap="none" spc="0" normalizeH="0" baseline="3000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2782">
                <a:tc rowSpan="2"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Definition</a:t>
                      </a:r>
                    </a:p>
                  </a:txBody>
                  <a:tcPr marL="45720" marR="45720" vert="vert27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Warships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0" lang="en-US" sz="90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Any commissioned ship built or armed for naval combat.</a:t>
                      </a: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Other Combatants:</a:t>
                      </a: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sz="90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Ships with the capability to contribute directly to Navy warfighting or directly to other combatant operations and support missions. </a:t>
                      </a: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Any naval ship designed to operate in the open ocean in a variety of sea states to provide indirect support to combatant forces or services to shore-based establishments and infrastructure.</a:t>
                      </a: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Smaller vessels designed to meet various combat-related mission roles, including amphibious warfare, insertion, patrol, overwatch and enemy denial-of-use, and mobility of riverine and littoral areas. Combatant craft are not part of the battle force inventory.</a:t>
                      </a:r>
                      <a:endParaRPr kumimoji="0" lang="en-US" sz="9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Unmanned maritime vessels and vehicles are platforms designed to operate remotely, independently or integrated with manned platforms. Certain unmanned maritime vehicles may, in the future, be part</a:t>
                      </a: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of the battle force inventory</a:t>
                      </a: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900" i="1">
                          <a:latin typeface="+mj-lt"/>
                        </a:rPr>
                        <a:t>Support craft are noncommissioned vessels and watercraft designed to provide support for naval operations or shore-based establishments and are not part of the battle force inventory.</a:t>
                      </a:r>
                    </a:p>
                    <a:p>
                      <a:pPr marL="171450" marR="0" lvl="1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sz="9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900" i="1">
                          <a:latin typeface="Arial (Body)"/>
                        </a:rPr>
                        <a:t>Any commissioned vessel 65’ in length or greater, with accommodations for a crew to live aboard. </a:t>
                      </a:r>
                      <a:endParaRPr kumimoji="0" lang="en-US" sz="9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900" i="1"/>
                        <a:t>Any vessel under 65’ in length without a permanently assigned crew.</a:t>
                      </a:r>
                      <a:endParaRPr kumimoji="0" lang="en-US" sz="9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9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 (Body)"/>
                        <a:ea typeface="+mn-ea"/>
                        <a:cs typeface="+mn-cs"/>
                      </a:endParaRP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7065">
                <a:tc vMerge="1"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Classifications</a:t>
                      </a:r>
                    </a:p>
                  </a:txBody>
                  <a:tcPr marL="45720" marR="45720" vert="vert27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Warship:</a:t>
                      </a:r>
                    </a:p>
                    <a:p>
                      <a:pPr marL="114300" marR="0" lvl="1" indent="-1143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Aircraft Carriers  (CVN)</a:t>
                      </a:r>
                    </a:p>
                    <a:p>
                      <a:pPr marL="114300" marR="0" lvl="1" indent="-1143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Surface Combatants  (CG / DDG / FFG / LCS)</a:t>
                      </a:r>
                    </a:p>
                    <a:p>
                      <a:pPr marL="114300" marR="0" lvl="1" indent="-1143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Submarines  (SSN / SSBN / SSGN)</a:t>
                      </a:r>
                    </a:p>
                    <a:p>
                      <a:pPr marL="114300" marR="0" lvl="1" indent="-1143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Amphibious Warfare Ships  (LHA / LHD / LPD / LSD)</a:t>
                      </a: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Other Combatant:</a:t>
                      </a: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Mine Warfare  (MCM)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Combat Logistics Ships  (AO / AOE / AOL / AKE)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Command Ships  (LCC)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Material Support Ships  (AS)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Surveillance Ships  (AGOS)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Salvage Ships &amp; Fleet Ocean Tugs  (ARS / ATF / ATS)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Expeditionary &amp; </a:t>
                      </a:r>
                      <a:r>
                        <a:rPr kumimoji="0" 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Seabasing</a:t>
                      </a: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Ships  (EPF / ESB / ESD / LSM)</a:t>
                      </a: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Crane Ship  (ACS)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General Auxiliary  (AG)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Research, Survey &amp; Instrumentation Ships  (AGM / AGOR / AGS)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Hospital Ship  (AH)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Cargo &amp; Vehicle Cargo Ships  (AK / AKR)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Transport Oiler  (AOT)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Cable Repairing Ship (ARC)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Aviation Logistics Support Ship  (AVB)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High Speed Transport  (HST)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Submarine Escort Ship  (AGSE)</a:t>
                      </a: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Patrol Combatant  (PC)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Amphibious Warfare Craft  (LCAC / LCU)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Patrol Boats  (36PB / 64PB / 87PB)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Special Warfare Craft  (DSB / CCA / CCM / CCH / NSW RHIB / SDV / SWCS / SSC)</a:t>
                      </a: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Unmanned Surface Vehicles (MUSV / SUSV / VSUSV)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Unmanned Undersea Vehicles  (XLUUV / LUUV / MUUV / SUUV)</a:t>
                      </a: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Dry Docks (AFDL / ARDM / AFDM)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Harbor Tugs  (YT / YTB / YTL)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Lighters &amp; Barges  (YC / YCV / YFN / YFNX / YFNB / YON / YOS / YWN / YWO)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Other Craft, Self-Propelled  (FSF / SBX / YFB / YP / YSD / YDT / YTT)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Other Craft, Non-Self-Propelled  (APL / YD / YFND / YFP / YR / YRB / YRBM / YRDH / YRDM / IX)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Sealift Support Craft  (INLS / LCM 8 / LARC V / MPF UB / OPDS UB)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Ships Boats  (5MRB / 7MRB / 11MRB)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Shore-Based Harbor Security Boats  (27HS / 28HS / 32HS / 33HS / 11MHS / 35HS / 36HS)</a:t>
                      </a: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Icebreakers, Oceangoing  (WAGB)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Icebreakers, Great Lakes  (WLBB)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National Security Cutters  (WMSL)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High Endurance Cutters  (WHEC)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Medium Endurance Cutters  (WMEC)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Offshore Patrol Cutter (WMSM)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Fast Response Cutters  (WPC)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Patrol Boats  (WPB)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Seagoing Buoy Tenders  (WLB)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Coastal Buoy Tenders  (WLM)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Inland Construction Tenders  (WLIC)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Ice Breaking Tugs  (WTGB)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River Buoy Tenders  (WLR)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Inland Buoy Tenders  (WLI)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 Harbor Tugs  (WYTL)</a:t>
                      </a:r>
                    </a:p>
                    <a:p>
                      <a:pPr marL="58738" marR="0" lvl="1" indent="-5873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Barque</a:t>
                      </a: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Eagle  (WIX)</a:t>
                      </a: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Response Boats  (MLB / RB-M / TPSB / RB-S II / UTM / UTL)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Aids to Navigation Boats  (ANB / BUSL / TANB / AB-S / AB-SKF)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Cutter Boats  (CB-LRI / CB-OTH / ASB/LC / MSB / CB-L / CB-ATON / CB-M / CB-S / UTL)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Special Purpose Craft  (SPC-SV / SPC-TTB / SPC-TB / SPC-LE / SPC-BTD / SPC-LEO / SPC-SW / SPC-IRT / SKF-ICE / SKF)</a:t>
                      </a:r>
                    </a:p>
                    <a:p>
                      <a:pPr marL="117475" marR="0" lvl="1" indent="-1174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Craft  (CT-64 / SB)</a:t>
                      </a:r>
                    </a:p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8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 marL="18288" marR="18288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0" name="Speech Bubble: Rectangle 9"/>
          <p:cNvSpPr/>
          <p:nvPr/>
        </p:nvSpPr>
        <p:spPr>
          <a:xfrm>
            <a:off x="2380253" y="5427654"/>
            <a:ext cx="1377082" cy="566929"/>
          </a:xfrm>
          <a:prstGeom prst="wedgeRectCallout">
            <a:avLst>
              <a:gd name="adj1" fmla="val -69839"/>
              <a:gd name="adj2" fmla="val -34178"/>
            </a:avLst>
          </a:prstGeom>
          <a:solidFill>
            <a:srgbClr val="E2E9EF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i="1" dirty="0">
                <a:solidFill>
                  <a:schemeClr val="tx1"/>
                </a:solidFill>
              </a:rPr>
              <a:t>Military Sealift Command (MSC) vessels sit across Combatant Ships and Auxiliary Ships</a:t>
            </a:r>
          </a:p>
        </p:txBody>
      </p:sp>
      <p:sp>
        <p:nvSpPr>
          <p:cNvPr id="305" name="Rectangle 4"/>
          <p:cNvSpPr/>
          <p:nvPr/>
        </p:nvSpPr>
        <p:spPr>
          <a:xfrm>
            <a:off x="7459746" y="6410227"/>
            <a:ext cx="4275432" cy="3657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>
                <a:solidFill>
                  <a:schemeClr val="tx1"/>
                </a:solidFill>
                <a:ea typeface="Inter" panose="02000503000000020004" pitchFamily="2" charset="0"/>
              </a:rPr>
              <a:t>Sources: (1) </a:t>
            </a:r>
            <a:r>
              <a:rPr lang="en-US" sz="800">
                <a:solidFill>
                  <a:schemeClr val="tx1"/>
                </a:solidFill>
              </a:rPr>
              <a:t>SECNAVINST 5030.8D (28 Jun 2022); (2) Coast Guard Cutter Fleet; (3) Boats of the United States Coast Guard (2024)</a:t>
            </a:r>
            <a:endParaRPr lang="en-US" sz="800">
              <a:solidFill>
                <a:schemeClr val="tx1"/>
              </a:solidFill>
              <a:ea typeface="Inter" panose="02000503000000020004" pitchFamily="2" charset="0"/>
            </a:endParaRPr>
          </a:p>
        </p:txBody>
      </p:sp>
      <p:sp>
        <p:nvSpPr>
          <p:cNvPr id="308" name="Rectangle 7"/>
          <p:cNvSpPr/>
          <p:nvPr/>
        </p:nvSpPr>
        <p:spPr>
          <a:xfrm>
            <a:off x="285026" y="1047983"/>
            <a:ext cx="3622253" cy="27543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fontAlgn="t">
              <a:defRPr/>
            </a:pPr>
            <a:r>
              <a:rPr lang="en-US" sz="800" i="1" dirty="0">
                <a:solidFill>
                  <a:schemeClr val="tx1"/>
                </a:solidFill>
              </a:rPr>
              <a:t>U.S. Navy and Coast Guard Vessel Taxonomy</a:t>
            </a:r>
            <a:endParaRPr lang="en-US" sz="8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Work Segments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45720" tIns="9144" rIns="45720" bIns="9144" anchor="ctr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MRO Work Segments | Depot ship repair and nuclear and complex overhauls captured ~75% of FY2025 MRO TAM.</a:t>
            </a:r>
          </a:p>
        </p:txBody>
      </p:sp>
      <p:sp>
        <p:nvSpPr>
          <p:cNvPr id="10" name="ChartCaption"/>
          <p:cNvSpPr txBox="1"/>
          <p:nvPr/>
        </p:nvSpPr>
        <p:spPr>
          <a:xfrm>
            <a:off x="403013" y="1298363"/>
            <a:ext cx="3622253" cy="2754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FY2025 reconciled FPDS-visible MRO TAM by work segment ($M)</a:t>
            </a:r>
          </a:p>
        </p:txBody>
      </p:sp>
      <p:graphicFrame>
        <p:nvGraphicFramePr>
          <p:cNvPr id="20" name="WorkSegmentTable"/>
          <p:cNvGraphicFramePr>
            <a:graphicFrameLocks noGrp="1"/>
          </p:cNvGraphicFramePr>
          <p:nvPr/>
        </p:nvGraphicFramePr>
        <p:xfrm>
          <a:off x="7004304" y="1417320"/>
          <a:ext cx="4233672" cy="4225290"/>
        </p:xfrm>
        <a:graphic>
          <a:graphicData uri="http://schemas.openxmlformats.org/drawingml/2006/table">
            <a:tbl>
              <a:tblPr firstRow="1" firstCol="1">
                <a:tableStyleId>{2D5ABB26-0587-4C30-8999-92F81FD0307C}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20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Work Segment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Coverage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Depot Ship Repair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Whole-ship maintenance availabilities at Pacific and Atlantic Regional Maintenance Centers; MAC-MO IDIQ task orders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Nuclear &amp; Complex Overhauls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PSC 1905 embedded MRO: engineered overhauls, refueling and complex overhauls (RCOH), and inactivations at SUPSHIP yards (Newport News, GDEB); separate from J998/J999 depot repair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Hull, Mechanical &amp; Electrical (HM&amp;E)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Propulsion accessories, pumps, valves, piping, HVAC, diesel engines, and ship structural systems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Combat Systems Sustainment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Weapons, fire control, VLS, and guided missiles (including Trident II on Ohio-class SSBNs); aircraft launch and arresting gear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Electronics &amp; C4ISR Sustainment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Afloat C4ISR: radar, sonar, radio and network systems, navigation, alarms, and electrical signal equipment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Port &amp; Technical Services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9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Quality control, testing, and inspection; OEM technical representation; husbanding (fuel, transport, port visits); shipyard operations support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0" name="FooterNote"/>
          <p:cNvSpPr txBox="1"/>
          <p:nvPr/>
        </p:nvSpPr>
        <p:spPr>
          <a:xfrm>
            <a:off x="457200" y="6037783"/>
            <a:ext cx="11308384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FPDS FY2025 contract obligations, U.S. Navy and U.S. Coast Guard; data as of April 2026</a:t>
            </a:r>
          </a:p>
        </p:txBody>
      </p:sp>
      <p:graphicFrame>
        <p:nvGraphicFramePr>
          <p:cNvPr id="40" name="WorkSegmentStackedColumn"/>
          <p:cNvGraphicFramePr/>
          <p:nvPr/>
        </p:nvGraphicFramePr>
        <p:xfrm>
          <a:off x="465138" y="1660000"/>
          <a:ext cx="3946525" cy="41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5" name="ChartTotal"/>
          <p:cNvSpPr txBox="1"/>
          <p:nvPr/>
        </p:nvSpPr>
        <p:spPr>
          <a:xfrm>
            <a:off x="2387600" y="1574800"/>
            <a:ext cx="427038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$8,971M</a:t>
            </a:r>
          </a:p>
        </p:txBody>
      </p:sp>
      <p:sp>
        <p:nvSpPr>
          <p:cNvPr id="50" name="LegendSwatch"/>
          <p:cNvSpPr txBox="1"/>
          <p:nvPr/>
        </p:nvSpPr>
        <p:spPr>
          <a:xfrm>
            <a:off x="4495800" y="1776413"/>
            <a:ext cx="142875" cy="106362"/>
          </a:xfrm>
          <a:prstGeom prst="rect">
            <a:avLst/>
          </a:prstGeom>
          <a:solidFill>
            <a:srgbClr val="D8E3EB"/>
          </a:solidFill>
          <a:ln w="9525">
            <a:solidFill>
              <a:srgbClr val="FFFFFF"/>
            </a:solidFill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1" name="LegendLabel"/>
          <p:cNvSpPr txBox="1"/>
          <p:nvPr/>
        </p:nvSpPr>
        <p:spPr>
          <a:xfrm>
            <a:off x="4689475" y="1771650"/>
            <a:ext cx="1750000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Port &amp; Technical Services</a:t>
            </a:r>
          </a:p>
        </p:txBody>
      </p:sp>
      <p:sp>
        <p:nvSpPr>
          <p:cNvPr id="52" name="LegendSwatch"/>
          <p:cNvSpPr txBox="1"/>
          <p:nvPr/>
        </p:nvSpPr>
        <p:spPr>
          <a:xfrm>
            <a:off x="4495800" y="1949450"/>
            <a:ext cx="142875" cy="106362"/>
          </a:xfrm>
          <a:prstGeom prst="rect">
            <a:avLst/>
          </a:prstGeom>
          <a:solidFill>
            <a:srgbClr val="AFC2CC"/>
          </a:solidFill>
          <a:ln w="9525">
            <a:solidFill>
              <a:srgbClr val="FFFFFF"/>
            </a:solidFill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3" name="LegendLabel"/>
          <p:cNvSpPr txBox="1"/>
          <p:nvPr/>
        </p:nvSpPr>
        <p:spPr>
          <a:xfrm>
            <a:off x="4689475" y="1944688"/>
            <a:ext cx="1750000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Electronics &amp; C4ISR Sustainment</a:t>
            </a:r>
          </a:p>
        </p:txBody>
      </p:sp>
      <p:sp>
        <p:nvSpPr>
          <p:cNvPr id="54" name="LegendSwatch"/>
          <p:cNvSpPr txBox="1"/>
          <p:nvPr/>
        </p:nvSpPr>
        <p:spPr>
          <a:xfrm>
            <a:off x="4495800" y="2122488"/>
            <a:ext cx="142875" cy="106362"/>
          </a:xfrm>
          <a:prstGeom prst="rect">
            <a:avLst/>
          </a:prstGeom>
          <a:solidFill>
            <a:srgbClr val="89A2B0"/>
          </a:solidFill>
          <a:ln w="9525">
            <a:solidFill>
              <a:srgbClr val="FFFFFF"/>
            </a:solidFill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5" name="LegendLabel"/>
          <p:cNvSpPr txBox="1"/>
          <p:nvPr/>
        </p:nvSpPr>
        <p:spPr>
          <a:xfrm>
            <a:off x="4689475" y="2117725"/>
            <a:ext cx="1750000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Combat Systems Sustainment</a:t>
            </a:r>
          </a:p>
        </p:txBody>
      </p:sp>
      <p:sp>
        <p:nvSpPr>
          <p:cNvPr id="56" name="LegendSwatch"/>
          <p:cNvSpPr txBox="1"/>
          <p:nvPr/>
        </p:nvSpPr>
        <p:spPr>
          <a:xfrm>
            <a:off x="4495800" y="2295525"/>
            <a:ext cx="142875" cy="106362"/>
          </a:xfrm>
          <a:prstGeom prst="rect">
            <a:avLst/>
          </a:prstGeom>
          <a:solidFill>
            <a:srgbClr val="486D82"/>
          </a:solidFill>
          <a:ln w="9525">
            <a:solidFill>
              <a:srgbClr val="FFFFFF"/>
            </a:solidFill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7" name="LegendLabel"/>
          <p:cNvSpPr txBox="1"/>
          <p:nvPr/>
        </p:nvSpPr>
        <p:spPr>
          <a:xfrm>
            <a:off x="4689475" y="2290763"/>
            <a:ext cx="1750000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Hull, Mechanical &amp; Electrical (HM&amp;E)</a:t>
            </a:r>
          </a:p>
        </p:txBody>
      </p:sp>
      <p:sp>
        <p:nvSpPr>
          <p:cNvPr id="58" name="LegendSwatch"/>
          <p:cNvSpPr txBox="1"/>
          <p:nvPr/>
        </p:nvSpPr>
        <p:spPr>
          <a:xfrm>
            <a:off x="4495800" y="2468563"/>
            <a:ext cx="142875" cy="106362"/>
          </a:xfrm>
          <a:prstGeom prst="rect">
            <a:avLst/>
          </a:prstGeom>
          <a:solidFill>
            <a:srgbClr val="1D4D68"/>
          </a:solidFill>
          <a:ln w="9525">
            <a:solidFill>
              <a:srgbClr val="FFFFFF"/>
            </a:solidFill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9" name="LegendLabel"/>
          <p:cNvSpPr txBox="1"/>
          <p:nvPr/>
        </p:nvSpPr>
        <p:spPr>
          <a:xfrm>
            <a:off x="4689475" y="2463800"/>
            <a:ext cx="1750000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&amp; Complex Overhauls</a:t>
            </a:r>
          </a:p>
        </p:txBody>
      </p:sp>
      <p:sp>
        <p:nvSpPr>
          <p:cNvPr id="60" name="LegendSwatch"/>
          <p:cNvSpPr txBox="1"/>
          <p:nvPr/>
        </p:nvSpPr>
        <p:spPr>
          <a:xfrm>
            <a:off x="4495800" y="2641600"/>
            <a:ext cx="142875" cy="106362"/>
          </a:xfrm>
          <a:prstGeom prst="rect">
            <a:avLst/>
          </a:prstGeom>
          <a:solidFill>
            <a:srgbClr val="79838F"/>
          </a:solidFill>
          <a:ln w="9525">
            <a:solidFill>
              <a:srgbClr val="FFFFFF"/>
            </a:solidFill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1" name="LegendLabel"/>
          <p:cNvSpPr txBox="1"/>
          <p:nvPr/>
        </p:nvSpPr>
        <p:spPr>
          <a:xfrm>
            <a:off x="4689475" y="2636838"/>
            <a:ext cx="1750000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Depot Ship Repair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TAM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Composition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45720" tIns="9144" rIns="45720" bIns="9144" anchor="ctr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TAM Composition | Depot ship repair and nuclear and complex overhauls drove ~74% of MRO TAM, led by DDG and SSN/CVN work.</a:t>
            </a:r>
          </a:p>
        </p:txBody>
      </p:sp>
      <p:sp>
        <p:nvSpPr>
          <p:cNvPr id="10" name="ChartCaption"/>
          <p:cNvSpPr txBox="1"/>
          <p:nvPr/>
        </p:nvSpPr>
        <p:spPr>
          <a:xfrm>
            <a:off x="511175" y="1585116"/>
            <a:ext cx="4000000" cy="2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FY2025 reconciled FPDS-visible MRO TAM by work segment and vessel type ($M)</a:t>
            </a:r>
          </a:p>
        </p:txBody>
      </p:sp>
      <p:sp>
        <p:nvSpPr>
          <p:cNvPr id="20" name="SegmentCommentary"/>
          <p:cNvSpPr txBox="1"/>
          <p:nvPr/>
        </p:nvSpPr>
        <p:spPr>
          <a:xfrm>
            <a:off x="8145755" y="2044628"/>
            <a:ext cx="3535070" cy="34778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spcAft>
                <a:spcPts val="20"/>
              </a:spcAft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Depot work concentrates in DDG and amphibious hulls.</a:t>
            </a:r>
          </a:p>
          <a:p>
            <a:pPr>
              <a:lnSpc>
                <a:spcPct val="115000"/>
              </a:lnSpc>
              <a:spcAft>
                <a:spcPts val="110"/>
              </a:spcAft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 25% ($1.2B) and LPD 13% ($613M) lead; T-AO, CVN, LSD, and LCS each 6%–7%.</a:t>
            </a:r>
          </a:p>
          <a:p>
            <a:pPr>
              <a:lnSpc>
                <a:spcPct val="115000"/>
              </a:lnSpc>
              <a:spcAft>
                <a:spcPts val="20"/>
              </a:spcAft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Nuclear and complex overhauls are submarine-led.</a:t>
            </a:r>
          </a:p>
          <a:p>
            <a:pPr>
              <a:lnSpc>
                <a:spcPct val="115000"/>
              </a:lnSpc>
              <a:spcAft>
                <a:spcPts val="110"/>
              </a:spcAft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SSN 66% ($1,255M) and CVN 18% ($337M) drive the segment; refueling overhauls at GDEB, CVN RCOH at HII Newport News.</a:t>
            </a:r>
          </a:p>
          <a:p>
            <a:pPr>
              <a:lnSpc>
                <a:spcPct val="115000"/>
              </a:lnSpc>
              <a:spcAft>
                <a:spcPts val="20"/>
              </a:spcAft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HM&amp;E spreads thinly across surface hulls.</a:t>
            </a:r>
          </a:p>
          <a:p>
            <a:pPr>
              <a:lnSpc>
                <a:spcPct val="115000"/>
              </a:lnSpc>
              <a:spcAft>
                <a:spcPts val="110"/>
              </a:spcAft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DDG 6%; LCS, LPD, T-AO, and CVN at 2%–3% each.</a:t>
            </a:r>
          </a:p>
          <a:p>
            <a:pPr>
              <a:lnSpc>
                <a:spcPct val="115000"/>
              </a:lnSpc>
              <a:spcAft>
                <a:spcPts val="20"/>
              </a:spcAft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Combat systems sustainment is SSBN-dominated.</a:t>
            </a:r>
          </a:p>
          <a:p>
            <a:pPr>
              <a:lnSpc>
                <a:spcPct val="115000"/>
              </a:lnSpc>
              <a:spcAft>
                <a:spcPts val="110"/>
              </a:spcAft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SSBN 55% ($319M); Trident II and VLS sustainment on Ohio-class SSBNs.</a:t>
            </a:r>
          </a:p>
          <a:p>
            <a:pPr>
              <a:lnSpc>
                <a:spcPct val="115000"/>
              </a:lnSpc>
              <a:spcAft>
                <a:spcPts val="20"/>
              </a:spcAft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Port and technical work tracks logistics and carrier hulls.</a:t>
            </a:r>
          </a:p>
          <a:p>
            <a:pPr>
              <a:lnSpc>
                <a:spcPct val="115000"/>
              </a:lnSpc>
              <a:spcAft>
                <a:spcPts val="110"/>
              </a:spcAft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T-AO, DDG, T-AKE, and CVN each 8%–10%; ESB 4%.</a:t>
            </a:r>
          </a:p>
          <a:p>
            <a:pPr>
              <a:lnSpc>
                <a:spcPct val="115000"/>
              </a:lnSpc>
              <a:spcAft>
                <a:spcPts val="20"/>
              </a:spcAft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Electronics and C4ISR work is SSBN-led.</a:t>
            </a:r>
          </a:p>
          <a:p>
            <a:pPr>
              <a:lnSpc>
                <a:spcPct val="115000"/>
              </a:lnSpc>
              <a:buNone/>
            </a:pPr>
            <a:r>
              <a:rPr lang="en-US" sz="10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SSBN 13% ($42M) Trident II support; CVN, SSN, and DDG trace.</a:t>
            </a:r>
          </a:p>
        </p:txBody>
      </p:sp>
      <p:sp>
        <p:nvSpPr>
          <p:cNvPr id="30" name="FooterNote"/>
          <p:cNvSpPr txBox="1"/>
          <p:nvPr/>
        </p:nvSpPr>
        <p:spPr>
          <a:xfrm>
            <a:off x="457200" y="6008287"/>
            <a:ext cx="11308384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FPDS FY2025 contract obligations, U.S. Navy and U.S. Coast Guard; data as of April 2026</a:t>
            </a:r>
          </a:p>
        </p:txBody>
      </p:sp>
      <p:graphicFrame>
        <p:nvGraphicFramePr>
          <p:cNvPr id="40" name="TamCompositionMarimekko"/>
          <p:cNvGraphicFramePr/>
          <p:nvPr/>
        </p:nvGraphicFramePr>
        <p:xfrm>
          <a:off x="430000" y="1860000"/>
          <a:ext cx="7740000" cy="39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0" name="VDiv"/>
          <p:cNvSpPr txBox="1"/>
          <p:nvPr/>
        </p:nvSpPr>
        <p:spPr>
          <a:xfrm>
            <a:off x="2639216" y="2047875"/>
            <a:ext cx="9525" cy="3584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1" name="VDiv"/>
          <p:cNvSpPr txBox="1"/>
          <p:nvPr/>
        </p:nvSpPr>
        <p:spPr>
          <a:xfrm>
            <a:off x="3772564" y="2047875"/>
            <a:ext cx="9525" cy="3584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2" name="VDiv"/>
          <p:cNvSpPr txBox="1"/>
          <p:nvPr/>
        </p:nvSpPr>
        <p:spPr>
          <a:xfrm>
            <a:off x="5437168" y="2047875"/>
            <a:ext cx="9525" cy="3584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3" name="VDiv"/>
          <p:cNvSpPr txBox="1"/>
          <p:nvPr/>
        </p:nvSpPr>
        <p:spPr>
          <a:xfrm>
            <a:off x="6039259" y="2047875"/>
            <a:ext cx="9525" cy="3584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4" name="VDiv"/>
          <p:cNvSpPr txBox="1"/>
          <p:nvPr/>
        </p:nvSpPr>
        <p:spPr>
          <a:xfrm>
            <a:off x="6641350" y="2047875"/>
            <a:ext cx="9525" cy="3584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5" name="HDiv"/>
          <p:cNvSpPr txBox="1"/>
          <p:nvPr/>
        </p:nvSpPr>
        <p:spPr>
          <a:xfrm>
            <a:off x="873123" y="2755901"/>
            <a:ext cx="177085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6" name="HDiv"/>
          <p:cNvSpPr txBox="1"/>
          <p:nvPr/>
        </p:nvSpPr>
        <p:spPr>
          <a:xfrm>
            <a:off x="873123" y="2563813"/>
            <a:ext cx="177085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7" name="HDiv"/>
          <p:cNvSpPr txBox="1"/>
          <p:nvPr/>
        </p:nvSpPr>
        <p:spPr>
          <a:xfrm>
            <a:off x="873123" y="2371725"/>
            <a:ext cx="177085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8" name="HDiv"/>
          <p:cNvSpPr txBox="1"/>
          <p:nvPr/>
        </p:nvSpPr>
        <p:spPr>
          <a:xfrm>
            <a:off x="873123" y="2181225"/>
            <a:ext cx="1770856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9" name="HDiv"/>
          <p:cNvSpPr txBox="1"/>
          <p:nvPr/>
        </p:nvSpPr>
        <p:spPr>
          <a:xfrm>
            <a:off x="2643979" y="2281238"/>
            <a:ext cx="113334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0" name="HDiv"/>
          <p:cNvSpPr txBox="1"/>
          <p:nvPr/>
        </p:nvSpPr>
        <p:spPr>
          <a:xfrm>
            <a:off x="2643979" y="2089150"/>
            <a:ext cx="1133347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1" name="HDiv"/>
          <p:cNvSpPr txBox="1"/>
          <p:nvPr/>
        </p:nvSpPr>
        <p:spPr>
          <a:xfrm>
            <a:off x="3777326" y="3478213"/>
            <a:ext cx="166460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2" name="HDiv"/>
          <p:cNvSpPr txBox="1"/>
          <p:nvPr/>
        </p:nvSpPr>
        <p:spPr>
          <a:xfrm>
            <a:off x="3777326" y="2716213"/>
            <a:ext cx="166460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3" name="HDiv"/>
          <p:cNvSpPr txBox="1"/>
          <p:nvPr/>
        </p:nvSpPr>
        <p:spPr>
          <a:xfrm>
            <a:off x="3777326" y="2397125"/>
            <a:ext cx="166460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4" name="HDiv"/>
          <p:cNvSpPr txBox="1"/>
          <p:nvPr/>
        </p:nvSpPr>
        <p:spPr>
          <a:xfrm>
            <a:off x="3777326" y="2120900"/>
            <a:ext cx="166460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5" name="HDiv"/>
          <p:cNvSpPr txBox="1"/>
          <p:nvPr/>
        </p:nvSpPr>
        <p:spPr>
          <a:xfrm>
            <a:off x="3777326" y="2049462"/>
            <a:ext cx="166460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6" name="HDiv"/>
          <p:cNvSpPr txBox="1"/>
          <p:nvPr/>
        </p:nvSpPr>
        <p:spPr>
          <a:xfrm>
            <a:off x="5441931" y="2641600"/>
            <a:ext cx="602091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7" name="HDiv"/>
          <p:cNvSpPr txBox="1"/>
          <p:nvPr/>
        </p:nvSpPr>
        <p:spPr>
          <a:xfrm>
            <a:off x="5441931" y="2232025"/>
            <a:ext cx="602091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8" name="HDiv"/>
          <p:cNvSpPr txBox="1"/>
          <p:nvPr/>
        </p:nvSpPr>
        <p:spPr>
          <a:xfrm>
            <a:off x="6044022" y="3906838"/>
            <a:ext cx="602091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9" name="HDiv"/>
          <p:cNvSpPr txBox="1"/>
          <p:nvPr/>
        </p:nvSpPr>
        <p:spPr>
          <a:xfrm>
            <a:off x="6044022" y="2314575"/>
            <a:ext cx="602091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0" name="HDiv"/>
          <p:cNvSpPr txBox="1"/>
          <p:nvPr/>
        </p:nvSpPr>
        <p:spPr>
          <a:xfrm>
            <a:off x="6044022" y="2154237"/>
            <a:ext cx="602091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1" name="HDiv"/>
          <p:cNvSpPr txBox="1"/>
          <p:nvPr/>
        </p:nvSpPr>
        <p:spPr>
          <a:xfrm>
            <a:off x="6044022" y="2058987"/>
            <a:ext cx="602091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2" name="HDiv"/>
          <p:cNvSpPr txBox="1"/>
          <p:nvPr/>
        </p:nvSpPr>
        <p:spPr>
          <a:xfrm>
            <a:off x="6646113" y="4349750"/>
            <a:ext cx="131043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3" name="HDiv"/>
          <p:cNvSpPr txBox="1"/>
          <p:nvPr/>
        </p:nvSpPr>
        <p:spPr>
          <a:xfrm>
            <a:off x="6646113" y="3289300"/>
            <a:ext cx="131043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4" name="HDiv"/>
          <p:cNvSpPr txBox="1"/>
          <p:nvPr/>
        </p:nvSpPr>
        <p:spPr>
          <a:xfrm>
            <a:off x="6646113" y="2859087"/>
            <a:ext cx="131043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5" name="HDiv"/>
          <p:cNvSpPr txBox="1"/>
          <p:nvPr/>
        </p:nvSpPr>
        <p:spPr>
          <a:xfrm>
            <a:off x="6646113" y="2443162"/>
            <a:ext cx="131043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86" name="HDiv"/>
          <p:cNvSpPr txBox="1"/>
          <p:nvPr/>
        </p:nvSpPr>
        <p:spPr>
          <a:xfrm>
            <a:off x="6646113" y="2084387"/>
            <a:ext cx="131043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304" name="Text Placeholder 25"/>
          <p:cNvSpPr>
            <a:spLocks/>
          </p:cNvSpPr>
          <p:nvPr/>
        </p:nvSpPr>
        <p:spPr bwMode="gray">
          <a:xfrm>
            <a:off x="1641475" y="4135438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80%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05" name="Text Placeholder 25"/>
          <p:cNvSpPr>
            <a:spLocks/>
          </p:cNvSpPr>
          <p:nvPr/>
        </p:nvSpPr>
        <p:spPr bwMode="gray">
          <a:xfrm>
            <a:off x="1670050" y="2220913"/>
            <a:ext cx="1762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5%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17" name="Text Placeholder 25"/>
          <p:cNvSpPr>
            <a:spLocks/>
          </p:cNvSpPr>
          <p:nvPr/>
        </p:nvSpPr>
        <p:spPr bwMode="gray">
          <a:xfrm>
            <a:off x="1670050" y="2603500"/>
            <a:ext cx="1762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5%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50" name="Text Placeholder 25"/>
          <p:cNvSpPr>
            <a:spLocks/>
          </p:cNvSpPr>
          <p:nvPr/>
        </p:nvSpPr>
        <p:spPr bwMode="gray">
          <a:xfrm>
            <a:off x="1670050" y="2411413"/>
            <a:ext cx="1762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5%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68" name="Text Placeholder 25"/>
          <p:cNvSpPr>
            <a:spLocks/>
          </p:cNvSpPr>
          <p:nvPr/>
        </p:nvSpPr>
        <p:spPr bwMode="gray">
          <a:xfrm>
            <a:off x="6224588" y="3054350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44%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27" name="Text Placeholder 25"/>
          <p:cNvSpPr>
            <a:spLocks/>
          </p:cNvSpPr>
          <p:nvPr/>
        </p:nvSpPr>
        <p:spPr bwMode="gray">
          <a:xfrm>
            <a:off x="4518025" y="2500313"/>
            <a:ext cx="1762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9%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67" name="Text Placeholder 25"/>
          <p:cNvSpPr>
            <a:spLocks/>
          </p:cNvSpPr>
          <p:nvPr/>
        </p:nvSpPr>
        <p:spPr bwMode="gray">
          <a:xfrm>
            <a:off x="6253163" y="2051050"/>
            <a:ext cx="176213" cy="12223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3%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26" name="Text Placeholder 25"/>
          <p:cNvSpPr>
            <a:spLocks/>
          </p:cNvSpPr>
          <p:nvPr/>
        </p:nvSpPr>
        <p:spPr bwMode="gray">
          <a:xfrm>
            <a:off x="4489450" y="4497388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60%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19" name="Text Placeholder 25"/>
          <p:cNvSpPr>
            <a:spLocks/>
          </p:cNvSpPr>
          <p:nvPr/>
        </p:nvSpPr>
        <p:spPr bwMode="auto">
          <a:xfrm>
            <a:off x="2606675" y="5665788"/>
            <a:ext cx="1208088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Amphibious Warfare Ships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64" name="Text Placeholder 25"/>
          <p:cNvSpPr>
            <a:spLocks/>
          </p:cNvSpPr>
          <p:nvPr/>
        </p:nvSpPr>
        <p:spPr bwMode="gray">
          <a:xfrm>
            <a:off x="6253163" y="2178050"/>
            <a:ext cx="1762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5%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43" name="Text Placeholder 25"/>
          <p:cNvSpPr>
            <a:spLocks/>
          </p:cNvSpPr>
          <p:nvPr/>
        </p:nvSpPr>
        <p:spPr bwMode="auto">
          <a:xfrm>
            <a:off x="6059488" y="5665788"/>
            <a:ext cx="711200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Aircraft Carriers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25" name="Text Placeholder 25"/>
          <p:cNvSpPr>
            <a:spLocks/>
          </p:cNvSpPr>
          <p:nvPr/>
        </p:nvSpPr>
        <p:spPr bwMode="gray">
          <a:xfrm>
            <a:off x="4105275" y="2028825"/>
            <a:ext cx="176213" cy="1222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2%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76" name="Text Placeholder 25"/>
          <p:cNvSpPr>
            <a:spLocks/>
          </p:cNvSpPr>
          <p:nvPr/>
        </p:nvSpPr>
        <p:spPr bwMode="gray">
          <a:xfrm>
            <a:off x="7181850" y="4932363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36%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51" name="Text Placeholder 25"/>
          <p:cNvSpPr>
            <a:spLocks/>
          </p:cNvSpPr>
          <p:nvPr/>
        </p:nvSpPr>
        <p:spPr bwMode="gray">
          <a:xfrm>
            <a:off x="3122613" y="2009775"/>
            <a:ext cx="176213" cy="122238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1%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75" name="Text Placeholder 25"/>
          <p:cNvSpPr>
            <a:spLocks/>
          </p:cNvSpPr>
          <p:nvPr/>
        </p:nvSpPr>
        <p:spPr bwMode="gray">
          <a:xfrm>
            <a:off x="7181850" y="2595563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12%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22" name="Text Placeholder 25"/>
          <p:cNvSpPr>
            <a:spLocks/>
          </p:cNvSpPr>
          <p:nvPr/>
        </p:nvSpPr>
        <p:spPr bwMode="gray">
          <a:xfrm>
            <a:off x="3122613" y="2128838"/>
            <a:ext cx="1762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5%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74" name="Text Placeholder 25"/>
          <p:cNvSpPr>
            <a:spLocks/>
          </p:cNvSpPr>
          <p:nvPr/>
        </p:nvSpPr>
        <p:spPr bwMode="gray">
          <a:xfrm>
            <a:off x="7181850" y="3763963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30%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20" name="Text Placeholder 25"/>
          <p:cNvSpPr>
            <a:spLocks/>
          </p:cNvSpPr>
          <p:nvPr/>
        </p:nvSpPr>
        <p:spPr bwMode="gray">
          <a:xfrm>
            <a:off x="3094038" y="3898900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93%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73" name="Text Placeholder 25"/>
          <p:cNvSpPr>
            <a:spLocks/>
          </p:cNvSpPr>
          <p:nvPr/>
        </p:nvSpPr>
        <p:spPr bwMode="gray">
          <a:xfrm>
            <a:off x="7210425" y="2008188"/>
            <a:ext cx="176213" cy="12223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1%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72" name="Text Placeholder 25"/>
          <p:cNvSpPr>
            <a:spLocks/>
          </p:cNvSpPr>
          <p:nvPr/>
        </p:nvSpPr>
        <p:spPr bwMode="gray">
          <a:xfrm>
            <a:off x="7181850" y="2208213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10%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48" name="Text Placeholder 25"/>
          <p:cNvSpPr>
            <a:spLocks/>
          </p:cNvSpPr>
          <p:nvPr/>
        </p:nvSpPr>
        <p:spPr bwMode="gray">
          <a:xfrm>
            <a:off x="1670050" y="2055813"/>
            <a:ext cx="1762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4%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71" name="Text Placeholder 25"/>
          <p:cNvSpPr>
            <a:spLocks/>
          </p:cNvSpPr>
          <p:nvPr/>
        </p:nvSpPr>
        <p:spPr bwMode="gray">
          <a:xfrm>
            <a:off x="7181850" y="3017838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12%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44" name="Text Placeholder 25"/>
          <p:cNvSpPr>
            <a:spLocks/>
          </p:cNvSpPr>
          <p:nvPr/>
        </p:nvSpPr>
        <p:spPr bwMode="auto">
          <a:xfrm>
            <a:off x="7170738" y="5665788"/>
            <a:ext cx="255588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Other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18" name="Text Placeholder 25"/>
          <p:cNvSpPr>
            <a:spLocks/>
          </p:cNvSpPr>
          <p:nvPr/>
        </p:nvSpPr>
        <p:spPr bwMode="gray">
          <a:xfrm>
            <a:off x="1614488" y="1868488"/>
            <a:ext cx="285750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b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2,239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23" name="Text Placeholder 25"/>
          <p:cNvSpPr>
            <a:spLocks/>
          </p:cNvSpPr>
          <p:nvPr/>
        </p:nvSpPr>
        <p:spPr bwMode="gray">
          <a:xfrm>
            <a:off x="3067050" y="1868488"/>
            <a:ext cx="285750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b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1,441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28" name="Text Placeholder 25"/>
          <p:cNvSpPr>
            <a:spLocks/>
          </p:cNvSpPr>
          <p:nvPr/>
        </p:nvSpPr>
        <p:spPr bwMode="gray">
          <a:xfrm>
            <a:off x="4462463" y="1868488"/>
            <a:ext cx="285750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b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2,093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57" name="Text Placeholder 25"/>
          <p:cNvSpPr>
            <a:spLocks/>
          </p:cNvSpPr>
          <p:nvPr/>
        </p:nvSpPr>
        <p:spPr bwMode="gray">
          <a:xfrm>
            <a:off x="5635625" y="1868488"/>
            <a:ext cx="200025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b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769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63" name="Text Placeholder 25"/>
          <p:cNvSpPr>
            <a:spLocks/>
          </p:cNvSpPr>
          <p:nvPr/>
        </p:nvSpPr>
        <p:spPr bwMode="gray">
          <a:xfrm>
            <a:off x="6240463" y="1868488"/>
            <a:ext cx="200025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b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759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70" name="Text Placeholder 25"/>
          <p:cNvSpPr>
            <a:spLocks/>
          </p:cNvSpPr>
          <p:nvPr/>
        </p:nvSpPr>
        <p:spPr bwMode="gray">
          <a:xfrm>
            <a:off x="7154863" y="1868488"/>
            <a:ext cx="285750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b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1,667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62" name="Text Placeholder 25"/>
          <p:cNvSpPr>
            <a:spLocks/>
          </p:cNvSpPr>
          <p:nvPr/>
        </p:nvSpPr>
        <p:spPr bwMode="gray">
          <a:xfrm>
            <a:off x="5619751" y="4078288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83%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24" name="Text Placeholder 25"/>
          <p:cNvSpPr>
            <a:spLocks/>
          </p:cNvSpPr>
          <p:nvPr/>
        </p:nvSpPr>
        <p:spPr bwMode="auto">
          <a:xfrm>
            <a:off x="4333875" y="5665788"/>
            <a:ext cx="5445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Submarines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02" name="Text Placeholder 25"/>
          <p:cNvSpPr>
            <a:spLocks/>
          </p:cNvSpPr>
          <p:nvPr/>
        </p:nvSpPr>
        <p:spPr bwMode="auto">
          <a:xfrm>
            <a:off x="1292225" y="5665788"/>
            <a:ext cx="9318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Surface Combatants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54" name="Text Placeholder 25"/>
          <p:cNvSpPr>
            <a:spLocks/>
          </p:cNvSpPr>
          <p:nvPr/>
        </p:nvSpPr>
        <p:spPr bwMode="gray">
          <a:xfrm>
            <a:off x="4932363" y="1990725"/>
            <a:ext cx="176213" cy="122238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0%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58" name="Text Placeholder 25"/>
          <p:cNvSpPr>
            <a:spLocks/>
          </p:cNvSpPr>
          <p:nvPr/>
        </p:nvSpPr>
        <p:spPr bwMode="gray">
          <a:xfrm>
            <a:off x="5619751" y="2381250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11%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42" name="Text Placeholder 25"/>
          <p:cNvSpPr>
            <a:spLocks/>
          </p:cNvSpPr>
          <p:nvPr/>
        </p:nvSpPr>
        <p:spPr bwMode="auto">
          <a:xfrm>
            <a:off x="4948238" y="5665788"/>
            <a:ext cx="1066800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Combat Logistics Ships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55" name="Text Placeholder 25"/>
          <p:cNvSpPr>
            <a:spLocks/>
          </p:cNvSpPr>
          <p:nvPr/>
        </p:nvSpPr>
        <p:spPr bwMode="gray">
          <a:xfrm>
            <a:off x="4518025" y="2203450"/>
            <a:ext cx="1762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latin typeface="+mj-lt"/>
                <a:ea typeface="+mj-ea"/>
                <a:cs typeface="+mj-cs"/>
              </a:rPr>
              <a:t>8%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69" name="Text Placeholder 25"/>
          <p:cNvSpPr>
            <a:spLocks/>
          </p:cNvSpPr>
          <p:nvPr/>
        </p:nvSpPr>
        <p:spPr bwMode="gray">
          <a:xfrm>
            <a:off x="6224588" y="4711700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48%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56" name="Text Placeholder 25"/>
          <p:cNvSpPr>
            <a:spLocks/>
          </p:cNvSpPr>
          <p:nvPr/>
        </p:nvSpPr>
        <p:spPr bwMode="gray">
          <a:xfrm>
            <a:off x="4489450" y="3041650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21%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61" name="Text Placeholder 25"/>
          <p:cNvSpPr>
            <a:spLocks/>
          </p:cNvSpPr>
          <p:nvPr/>
        </p:nvSpPr>
        <p:spPr bwMode="gray">
          <a:xfrm>
            <a:off x="5648325" y="2081213"/>
            <a:ext cx="1762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5%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43" name="Rectangle 142"/>
          <p:cNvSpPr/>
          <p:nvPr/>
        </p:nvSpPr>
        <p:spPr bwMode="auto">
          <a:xfrm>
            <a:off x="4507916" y="1164151"/>
            <a:ext cx="142875" cy="106363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4" name="Rectangle 143"/>
          <p:cNvSpPr/>
          <p:nvPr/>
        </p:nvSpPr>
        <p:spPr bwMode="auto">
          <a:xfrm>
            <a:off x="4507916" y="1337188"/>
            <a:ext cx="142875" cy="106363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5" name="Rectangle 144"/>
          <p:cNvSpPr/>
          <p:nvPr/>
        </p:nvSpPr>
        <p:spPr bwMode="auto">
          <a:xfrm>
            <a:off x="4507916" y="1510226"/>
            <a:ext cx="142875" cy="106363"/>
          </a:xfrm>
          <a:prstGeom prst="rect">
            <a:avLst/>
          </a:prstGeom>
          <a:solidFill>
            <a:schemeClr val="accent3"/>
          </a:solidFill>
          <a:ln w="9525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6" name="Rectangle 145"/>
          <p:cNvSpPr/>
          <p:nvPr/>
        </p:nvSpPr>
        <p:spPr bwMode="auto">
          <a:xfrm>
            <a:off x="6478004" y="1164151"/>
            <a:ext cx="142875" cy="106363"/>
          </a:xfrm>
          <a:prstGeom prst="rect">
            <a:avLst/>
          </a:prstGeom>
          <a:solidFill>
            <a:schemeClr val="accent4"/>
          </a:solidFill>
          <a:ln w="9525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7" name="Rectangle 146"/>
          <p:cNvSpPr/>
          <p:nvPr/>
        </p:nvSpPr>
        <p:spPr bwMode="auto">
          <a:xfrm>
            <a:off x="6478004" y="1337188"/>
            <a:ext cx="142875" cy="106363"/>
          </a:xfrm>
          <a:prstGeom prst="rect">
            <a:avLst/>
          </a:prstGeom>
          <a:solidFill>
            <a:schemeClr val="accent5"/>
          </a:solidFill>
          <a:ln w="9525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8" name="Rectangle 147"/>
          <p:cNvSpPr/>
          <p:nvPr/>
        </p:nvSpPr>
        <p:spPr bwMode="auto">
          <a:xfrm>
            <a:off x="6478004" y="1510226"/>
            <a:ext cx="142875" cy="106363"/>
          </a:xfrm>
          <a:prstGeom prst="rect">
            <a:avLst/>
          </a:prstGeom>
          <a:solidFill>
            <a:schemeClr val="accent6"/>
          </a:solidFill>
          <a:ln w="9525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9" name="Text Placeholder 25"/>
          <p:cNvSpPr>
            <a:spLocks/>
          </p:cNvSpPr>
          <p:nvPr/>
        </p:nvSpPr>
        <p:spPr bwMode="auto">
          <a:xfrm>
            <a:off x="4701591" y="1159388"/>
            <a:ext cx="835025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/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/>
              <a:t>Depot Ship Repair</a:t>
            </a:r>
            <a:endParaRPr lang="en-US" sz="800" dirty="0"/>
          </a:p>
        </p:txBody>
      </p:sp>
      <p:sp>
        <p:nvSpPr>
          <p:cNvPr id="330" name="Text Placeholder 25"/>
          <p:cNvSpPr>
            <a:spLocks/>
          </p:cNvSpPr>
          <p:nvPr/>
        </p:nvSpPr>
        <p:spPr bwMode="auto">
          <a:xfrm>
            <a:off x="4701591" y="1332426"/>
            <a:ext cx="1371600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/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/>
              <a:t>Nuclear &amp; Complex Overhauls</a:t>
            </a:r>
            <a:endParaRPr lang="en-US" sz="800" dirty="0"/>
          </a:p>
        </p:txBody>
      </p:sp>
      <p:sp>
        <p:nvSpPr>
          <p:cNvPr id="331" name="Text Placeholder 25"/>
          <p:cNvSpPr>
            <a:spLocks/>
          </p:cNvSpPr>
          <p:nvPr/>
        </p:nvSpPr>
        <p:spPr bwMode="auto">
          <a:xfrm>
            <a:off x="4701591" y="1505463"/>
            <a:ext cx="16748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/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/>
              <a:t>Hull, Mechanical &amp; Electrical (HM&amp;E)</a:t>
            </a:r>
            <a:endParaRPr lang="en-US" sz="800" dirty="0"/>
          </a:p>
        </p:txBody>
      </p:sp>
      <p:sp>
        <p:nvSpPr>
          <p:cNvPr id="345" name="Text Placeholder 25"/>
          <p:cNvSpPr>
            <a:spLocks/>
          </p:cNvSpPr>
          <p:nvPr/>
        </p:nvSpPr>
        <p:spPr bwMode="auto">
          <a:xfrm>
            <a:off x="6671679" y="1159388"/>
            <a:ext cx="1373188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/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/>
              <a:t>Combat Systems Sustainment</a:t>
            </a:r>
            <a:endParaRPr lang="en-US" sz="800" dirty="0"/>
          </a:p>
        </p:txBody>
      </p:sp>
      <p:sp>
        <p:nvSpPr>
          <p:cNvPr id="346" name="Text Placeholder 25"/>
          <p:cNvSpPr>
            <a:spLocks/>
          </p:cNvSpPr>
          <p:nvPr/>
        </p:nvSpPr>
        <p:spPr bwMode="auto">
          <a:xfrm>
            <a:off x="6671679" y="1332426"/>
            <a:ext cx="1520825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/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/>
              <a:t>Electronics &amp; C4ISR Sustainment</a:t>
            </a:r>
            <a:endParaRPr lang="en-US" sz="800" dirty="0"/>
          </a:p>
        </p:txBody>
      </p:sp>
      <p:sp>
        <p:nvSpPr>
          <p:cNvPr id="347" name="Text Placeholder 25"/>
          <p:cNvSpPr>
            <a:spLocks/>
          </p:cNvSpPr>
          <p:nvPr/>
        </p:nvSpPr>
        <p:spPr bwMode="auto">
          <a:xfrm>
            <a:off x="6671679" y="1505463"/>
            <a:ext cx="1168400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/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/>
              <a:t>Port &amp; Technical Services</a:t>
            </a:r>
            <a:endParaRPr lang="en-US" sz="800" dirty="0"/>
          </a:p>
        </p:txBody>
      </p:sp>
      <p:sp>
        <p:nvSpPr>
          <p:cNvPr id="303" name="Rectangle 2"/>
          <p:cNvSpPr/>
          <p:nvPr/>
        </p:nvSpPr>
        <p:spPr>
          <a:xfrm>
            <a:off x="8145755" y="1620565"/>
            <a:ext cx="3538728" cy="274320"/>
          </a:xfrm>
          <a:prstGeom prst="rect">
            <a:avLst/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i="1" dirty="0">
                <a:solidFill>
                  <a:srgbClr val="162029"/>
                </a:solidFill>
              </a:rPr>
              <a:t>Segment composition by hull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TAM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Top-Down Detail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45720" tIns="9144" rIns="45720" bIns="9144" anchor="ctr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Top-Down Composition | Public Naval Shipyard labor leads the $17.0B budget-anchored MRO at 44%, ahead of OMN 1B4B private availabilities at 25%.</a:t>
            </a:r>
          </a:p>
        </p:txBody>
      </p:sp>
      <p:sp>
        <p:nvSpPr>
          <p:cNvPr id="100" name="ChartCaption"/>
          <p:cNvSpPr txBox="1"/>
          <p:nvPr/>
        </p:nvSpPr>
        <p:spPr>
          <a:xfrm>
            <a:off x="403013" y="1298363"/>
            <a:ext cx="3622253" cy="2754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FY2025 budget-anchored MRO funding by source ($M)</a:t>
            </a:r>
          </a:p>
        </p:txBody>
      </p:sp>
      <p:graphicFrame>
        <p:nvGraphicFramePr>
          <p:cNvPr id="307" name="BLD.tam_top_down_detail.table.line_item_detail"/>
          <p:cNvGraphicFramePr>
            <a:graphicFrameLocks noGrp="1"/>
          </p:cNvGraphicFramePr>
          <p:nvPr/>
        </p:nvGraphicFramePr>
        <p:xfrm>
          <a:off x="6675120" y="1308266"/>
          <a:ext cx="5074920" cy="458898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Category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FY2025</a:t>
                      </a:r>
                      <a:r>
                        <a:rPr lang="en-US"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 ($M)</a:t>
                      </a:r>
                      <a:endParaRPr sz="900" b="1" i="0" dirty="0">
                        <a:solidFill>
                          <a:srgbClr val="162029"/>
                        </a:solidFill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PB26 PDF Source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000000"/>
                          </a:solidFill>
                          <a:latin typeface="+mj-lt"/>
                        </a:rPr>
                        <a:t>OMN 1B4B Total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11,764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OMN OP-5, p.157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000000"/>
                          </a:solidFill>
                          <a:latin typeface="+mj-lt"/>
                        </a:rPr>
                        <a:t>   Private avail subtotal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4,279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000000"/>
                          </a:solidFill>
                          <a:latin typeface="+mj-lt"/>
                        </a:rPr>
                        <a:t>      IL: Non-depot / Intermediate </a:t>
                      </a:r>
                      <a:r>
                        <a:rPr sz="900" b="0" i="1" dirty="0" err="1">
                          <a:solidFill>
                            <a:srgbClr val="000000"/>
                          </a:solidFill>
                          <a:latin typeface="+mj-lt"/>
                        </a:rPr>
                        <a:t>Maint</a:t>
                      </a:r>
                      <a:endParaRPr sz="900" b="0" i="1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162029"/>
                          </a:solidFill>
                          <a:latin typeface="+mj-lt"/>
                        </a:rPr>
                        <a:t>1,429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000000"/>
                          </a:solidFill>
                          <a:latin typeface="+mj-lt"/>
                        </a:rPr>
                        <a:t>      ORATA: </a:t>
                      </a:r>
                      <a:r>
                        <a:rPr sz="900" b="0" i="1" dirty="0" err="1">
                          <a:solidFill>
                            <a:srgbClr val="000000"/>
                          </a:solidFill>
                          <a:latin typeface="+mj-lt"/>
                        </a:rPr>
                        <a:t>Misc</a:t>
                      </a:r>
                      <a:r>
                        <a:rPr sz="900" b="0" i="1" dirty="0">
                          <a:solidFill>
                            <a:srgbClr val="000000"/>
                          </a:solidFill>
                          <a:latin typeface="+mj-lt"/>
                        </a:rPr>
                        <a:t> Restricted/Trade Avail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162029"/>
                          </a:solidFill>
                          <a:latin typeface="+mj-lt"/>
                        </a:rPr>
                        <a:t>990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 dirty="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000000"/>
                          </a:solidFill>
                          <a:latin typeface="+mj-lt"/>
                        </a:rPr>
                        <a:t>      CM: Continuous Maintenance (CMAV)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>
                          <a:solidFill>
                            <a:srgbClr val="162029"/>
                          </a:solidFill>
                          <a:latin typeface="+mj-lt"/>
                        </a:rPr>
                        <a:t>663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000000"/>
                          </a:solidFill>
                          <a:latin typeface="+mj-lt"/>
                        </a:rPr>
                        <a:t>      SRA: Selected Restricted Avail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>
                          <a:solidFill>
                            <a:srgbClr val="162029"/>
                          </a:solidFill>
                          <a:latin typeface="+mj-lt"/>
                        </a:rPr>
                        <a:t>384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000000"/>
                          </a:solidFill>
                          <a:latin typeface="+mj-lt"/>
                        </a:rPr>
                        <a:t>      PIA: Planned Incremental Avail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>
                          <a:solidFill>
                            <a:srgbClr val="162029"/>
                          </a:solidFill>
                          <a:latin typeface="+mj-lt"/>
                        </a:rPr>
                        <a:t>322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000000"/>
                          </a:solidFill>
                          <a:latin typeface="+mj-lt"/>
                        </a:rPr>
                        <a:t>      OH: Overhauls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>
                          <a:solidFill>
                            <a:srgbClr val="162029"/>
                          </a:solidFill>
                          <a:latin typeface="+mj-lt"/>
                        </a:rPr>
                        <a:t>250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000000"/>
                          </a:solidFill>
                          <a:latin typeface="+mj-lt"/>
                        </a:rPr>
                        <a:t>      ERATA: Emergent Repair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>
                          <a:solidFill>
                            <a:srgbClr val="162029"/>
                          </a:solidFill>
                          <a:latin typeface="+mj-lt"/>
                        </a:rPr>
                        <a:t>136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000000"/>
                          </a:solidFill>
                          <a:latin typeface="+mj-lt"/>
                        </a:rPr>
                        <a:t>      SIA: Surface Incremental Avail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>
                          <a:solidFill>
                            <a:srgbClr val="162029"/>
                          </a:solidFill>
                          <a:latin typeface="+mj-lt"/>
                        </a:rPr>
                        <a:t>64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000000"/>
                          </a:solidFill>
                          <a:latin typeface="+mj-lt"/>
                        </a:rPr>
                        <a:t>      SCO: Service Craft Overhauls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>
                          <a:solidFill>
                            <a:srgbClr val="162029"/>
                          </a:solidFill>
                          <a:latin typeface="+mj-lt"/>
                        </a:rPr>
                        <a:t>23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000000"/>
                          </a:solidFill>
                          <a:latin typeface="+mj-lt"/>
                        </a:rPr>
                        <a:t>      CIA: Carrier Incremental Avail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162029"/>
                          </a:solidFill>
                          <a:latin typeface="+mj-lt"/>
                        </a:rPr>
                        <a:t>16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000000"/>
                          </a:solidFill>
                          <a:latin typeface="+mj-lt"/>
                        </a:rPr>
                        <a:t>      PMA: Planned Maintenance Avail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1" dirty="0">
                          <a:solidFill>
                            <a:srgbClr val="162029"/>
                          </a:solidFill>
                          <a:latin typeface="+mj-lt"/>
                        </a:rPr>
                        <a:t>0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000000"/>
                          </a:solidFill>
                          <a:latin typeface="+mj-lt"/>
                        </a:rPr>
                        <a:t>   Public NSY (4 yards) subtotal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7,485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000000"/>
                          </a:solidFill>
                          <a:latin typeface="+mj-lt"/>
                        </a:rPr>
                        <a:t>OPN LI 1000: Ship </a:t>
                      </a:r>
                      <a:r>
                        <a:rPr sz="900" b="1" i="0" dirty="0" err="1">
                          <a:solidFill>
                            <a:srgbClr val="000000"/>
                          </a:solidFill>
                          <a:latin typeface="+mj-lt"/>
                        </a:rPr>
                        <a:t>Maint</a:t>
                      </a:r>
                      <a:r>
                        <a:rPr sz="900" b="1" i="0" dirty="0">
                          <a:solidFill>
                            <a:srgbClr val="000000"/>
                          </a:solidFill>
                          <a:latin typeface="+mj-lt"/>
                        </a:rPr>
                        <a:t>, Repair and Mod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2,392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OPN BA-1 P-40, p.521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000000"/>
                          </a:solidFill>
                          <a:latin typeface="+mj-lt"/>
                        </a:rPr>
                        <a:t>MSC M and R (1B1B FY2025</a:t>
                      </a:r>
                      <a:r>
                        <a:rPr lang="en-US" sz="900" b="1" i="0" dirty="0">
                          <a:solidFill>
                            <a:srgbClr val="000000"/>
                          </a:solidFill>
                          <a:latin typeface="+mj-lt"/>
                        </a:rPr>
                        <a:t> transfer</a:t>
                      </a:r>
                      <a:r>
                        <a:rPr sz="900" b="1" i="0" dirty="0">
                          <a:solidFill>
                            <a:srgbClr val="000000"/>
                          </a:solidFill>
                          <a:latin typeface="+mj-lt"/>
                        </a:rPr>
                        <a:t>)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1,240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OMN OP-5, p.129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000000"/>
                          </a:solidFill>
                          <a:latin typeface="+mj-lt"/>
                        </a:rPr>
                        <a:t>SCN LI 2086 CVN RCOH (HII NNS)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1,480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SCN P-40, p.175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37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000000"/>
                          </a:solidFill>
                          <a:latin typeface="+mj-lt"/>
                        </a:rPr>
                        <a:t>USCG ISVS (PC and I floor)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120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+mj-lt"/>
                        </a:rPr>
                        <a:t>USCG Justification, p.6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55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chemeClr val="bg1"/>
                          </a:solidFill>
                          <a:latin typeface="+mj-lt"/>
                        </a:rPr>
                        <a:t>MRO </a:t>
                      </a:r>
                      <a:r>
                        <a:rPr lang="en-US" sz="900" b="1" i="0" dirty="0">
                          <a:solidFill>
                            <a:schemeClr val="bg1"/>
                          </a:solidFill>
                          <a:latin typeface="+mj-lt"/>
                        </a:rPr>
                        <a:t>Total (Top-Down Approach)</a:t>
                      </a:r>
                      <a:endParaRPr sz="900" b="1" i="0" dirty="0">
                        <a:solidFill>
                          <a:schemeClr val="bg1"/>
                        </a:solidFill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chemeClr val="bg1"/>
                          </a:solidFill>
                          <a:latin typeface="+mj-lt"/>
                        </a:rPr>
                        <a:t>16,996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900" b="1" i="0" dirty="0">
                        <a:solidFill>
                          <a:schemeClr val="bg1"/>
                        </a:solidFill>
                        <a:latin typeface="+mj-lt"/>
                      </a:endParaRP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8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101" name="FooterNote"/>
          <p:cNvSpPr txBox="1"/>
          <p:nvPr/>
        </p:nvSpPr>
        <p:spPr>
          <a:xfrm>
            <a:off x="457200" y="6037783"/>
            <a:ext cx="11308384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(1) PB26 OMN OP-5; (2) PB26 SCN P-40 LI 2086 and OPN BA-1 P-40 LI 1000; (3) PB26 USCG Justification; data as of April 2026</a:t>
            </a:r>
          </a:p>
        </p:txBody>
      </p:sp>
      <p:graphicFrame>
        <p:nvGraphicFramePr>
          <p:cNvPr id="102" name="TopDownStackedColumn"/>
          <p:cNvGraphicFramePr/>
          <p:nvPr/>
        </p:nvGraphicFramePr>
        <p:xfrm>
          <a:off x="465138" y="1660000"/>
          <a:ext cx="3946525" cy="41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3" name="ChartTotal"/>
          <p:cNvSpPr txBox="1"/>
          <p:nvPr/>
        </p:nvSpPr>
        <p:spPr>
          <a:xfrm>
            <a:off x="2359025" y="1574800"/>
            <a:ext cx="484188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$16,996M</a:t>
            </a:r>
          </a:p>
        </p:txBody>
      </p:sp>
      <p:sp>
        <p:nvSpPr>
          <p:cNvPr id="104" name="OnePctChip"/>
          <p:cNvSpPr txBox="1"/>
          <p:nvPr/>
        </p:nvSpPr>
        <p:spPr>
          <a:xfrm>
            <a:off x="2513013" y="1697038"/>
            <a:ext cx="176213" cy="122238"/>
          </a:xfrm>
          <a:prstGeom prst="rect">
            <a:avLst/>
          </a:prstGeom>
          <a:solidFill>
            <a:srgbClr val="D8E3EB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1%</a:t>
            </a:r>
          </a:p>
        </p:txBody>
      </p:sp>
      <p:sp>
        <p:nvSpPr>
          <p:cNvPr id="110" name="LegendSwatch"/>
          <p:cNvSpPr txBox="1"/>
          <p:nvPr/>
        </p:nvSpPr>
        <p:spPr>
          <a:xfrm>
            <a:off x="4540250" y="1747838"/>
            <a:ext cx="142875" cy="106362"/>
          </a:xfrm>
          <a:prstGeom prst="rect">
            <a:avLst/>
          </a:prstGeom>
          <a:solidFill>
            <a:srgbClr val="D8E3EB"/>
          </a:solidFill>
          <a:ln w="9525">
            <a:solidFill>
              <a:srgbClr val="FFFFFF"/>
            </a:solidFill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1" name="LegendLabel"/>
          <p:cNvSpPr txBox="1"/>
          <p:nvPr/>
        </p:nvSpPr>
        <p:spPr>
          <a:xfrm>
            <a:off x="4733925" y="1743075"/>
            <a:ext cx="1750000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USCG ISVS</a:t>
            </a:r>
          </a:p>
        </p:txBody>
      </p:sp>
      <p:sp>
        <p:nvSpPr>
          <p:cNvPr id="112" name="LegendSwatch"/>
          <p:cNvSpPr txBox="1"/>
          <p:nvPr/>
        </p:nvSpPr>
        <p:spPr>
          <a:xfrm>
            <a:off x="4540250" y="1920875"/>
            <a:ext cx="142875" cy="106362"/>
          </a:xfrm>
          <a:prstGeom prst="rect">
            <a:avLst/>
          </a:prstGeom>
          <a:solidFill>
            <a:srgbClr val="AFC2CC"/>
          </a:solidFill>
          <a:ln w="9525">
            <a:solidFill>
              <a:srgbClr val="FFFFFF"/>
            </a:solidFill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3" name="LegendLabel"/>
          <p:cNvSpPr txBox="1"/>
          <p:nvPr/>
        </p:nvSpPr>
        <p:spPr>
          <a:xfrm>
            <a:off x="4733925" y="1916113"/>
            <a:ext cx="1750000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MSC M&amp;R</a:t>
            </a:r>
          </a:p>
        </p:txBody>
      </p:sp>
      <p:sp>
        <p:nvSpPr>
          <p:cNvPr id="114" name="LegendSwatch"/>
          <p:cNvSpPr txBox="1"/>
          <p:nvPr/>
        </p:nvSpPr>
        <p:spPr>
          <a:xfrm>
            <a:off x="4540250" y="2093913"/>
            <a:ext cx="142875" cy="106362"/>
          </a:xfrm>
          <a:prstGeom prst="rect">
            <a:avLst/>
          </a:prstGeom>
          <a:solidFill>
            <a:srgbClr val="89A2B0"/>
          </a:solidFill>
          <a:ln w="9525">
            <a:solidFill>
              <a:srgbClr val="FFFFFF"/>
            </a:solidFill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5" name="LegendLabel"/>
          <p:cNvSpPr txBox="1"/>
          <p:nvPr/>
        </p:nvSpPr>
        <p:spPr>
          <a:xfrm>
            <a:off x="4733925" y="2089150"/>
            <a:ext cx="1750000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SCN LI 2086 RCOH</a:t>
            </a:r>
          </a:p>
        </p:txBody>
      </p:sp>
      <p:sp>
        <p:nvSpPr>
          <p:cNvPr id="116" name="LegendSwatch"/>
          <p:cNvSpPr txBox="1"/>
          <p:nvPr/>
        </p:nvSpPr>
        <p:spPr>
          <a:xfrm>
            <a:off x="4540250" y="2266950"/>
            <a:ext cx="142875" cy="106362"/>
          </a:xfrm>
          <a:prstGeom prst="rect">
            <a:avLst/>
          </a:prstGeom>
          <a:solidFill>
            <a:srgbClr val="486D82"/>
          </a:solidFill>
          <a:ln w="9525">
            <a:solidFill>
              <a:srgbClr val="FFFFFF"/>
            </a:solidFill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7" name="LegendLabel"/>
          <p:cNvSpPr txBox="1"/>
          <p:nvPr/>
        </p:nvSpPr>
        <p:spPr>
          <a:xfrm>
            <a:off x="4733925" y="2262188"/>
            <a:ext cx="1750000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OPN LI 1000</a:t>
            </a:r>
          </a:p>
        </p:txBody>
      </p:sp>
      <p:sp>
        <p:nvSpPr>
          <p:cNvPr id="118" name="LegendSwatch"/>
          <p:cNvSpPr txBox="1"/>
          <p:nvPr/>
        </p:nvSpPr>
        <p:spPr>
          <a:xfrm>
            <a:off x="4540250" y="2439988"/>
            <a:ext cx="142875" cy="106362"/>
          </a:xfrm>
          <a:prstGeom prst="rect">
            <a:avLst/>
          </a:prstGeom>
          <a:solidFill>
            <a:srgbClr val="1D4D68"/>
          </a:solidFill>
          <a:ln w="9525">
            <a:solidFill>
              <a:srgbClr val="FFFFFF"/>
            </a:solidFill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9" name="LegendLabel"/>
          <p:cNvSpPr txBox="1"/>
          <p:nvPr/>
        </p:nvSpPr>
        <p:spPr>
          <a:xfrm>
            <a:off x="4733925" y="2435225"/>
            <a:ext cx="1750000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1B4B Private avails</a:t>
            </a:r>
          </a:p>
        </p:txBody>
      </p:sp>
      <p:sp>
        <p:nvSpPr>
          <p:cNvPr id="120" name="LegendSwatch"/>
          <p:cNvSpPr txBox="1"/>
          <p:nvPr/>
        </p:nvSpPr>
        <p:spPr>
          <a:xfrm>
            <a:off x="4540250" y="2613025"/>
            <a:ext cx="142875" cy="106362"/>
          </a:xfrm>
          <a:prstGeom prst="rect">
            <a:avLst/>
          </a:prstGeom>
          <a:solidFill>
            <a:srgbClr val="79838F"/>
          </a:solidFill>
          <a:ln w="9525">
            <a:solidFill>
              <a:srgbClr val="FFFFFF"/>
            </a:solidFill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1" name="LegendLabel"/>
          <p:cNvSpPr txBox="1"/>
          <p:nvPr/>
        </p:nvSpPr>
        <p:spPr>
          <a:xfrm>
            <a:off x="4733925" y="2608263"/>
            <a:ext cx="1750000" cy="1222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Public NSY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TAM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Top-Down Funnel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45720" tIns="9144" rIns="45720" bIns="9144" anchor="ctr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Top-Down Funnel | Removing the $7.49B Public NSY labor floor from the $17.0B budget leaves $9.5B of non-public-NSY MRO, near the $9.0B bottom-up TAM.</a:t>
            </a:r>
          </a:p>
        </p:txBody>
      </p:sp>
      <p:graphicFrame>
        <p:nvGraphicFramePr>
          <p:cNvPr id="100" name="Chart 49"/>
          <p:cNvGraphicFramePr/>
          <p:nvPr/>
        </p:nvGraphicFramePr>
        <p:xfrm>
          <a:off x="354013" y="1646238"/>
          <a:ext cx="6018212" cy="3881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8" name="BLD.tam_approach_top_down.footer.main"/>
          <p:cNvSpPr txBox="1"/>
          <p:nvPr/>
        </p:nvSpPr>
        <p:spPr>
          <a:xfrm>
            <a:off x="457200" y="6037783"/>
            <a:ext cx="11308384" cy="502920"/>
          </a:xfrm>
          <a:prstGeom prst="rect">
            <a:avLst/>
          </a:prstGeom>
          <a:noFill/>
        </p:spPr>
        <p:txBody>
          <a:bodyPr wrap="square" lIns="0" tIns="18288" rIns="0" bIns="18288">
            <a:noAutofit/>
          </a:bodyPr>
          <a:lstStyle/>
          <a:p>
            <a:pPr algn="l">
              <a:buNone/>
            </a:pPr>
            <a:r>
              <a:rPr sz="800" b="0" i="0">
                <a:solidFill>
                  <a:srgbClr val="162029"/>
                </a:solidFill>
                <a:latin typeface="Arial"/>
              </a:rPr>
              <a:t>Sources: (1) PB26 OMN OP-5 Exhibit 1B4B Ship Maintenance (p.157, MSC p.129); (2) PB26 OPN BA-1 P-40 LI 1000 (p.521); (3) PB26 SCN P-40 LI 2086 CVN RCOH (p.175); (4) PB26 USCG Justification ISVS PC and I (p.6); data as of April 2026</a:t>
            </a:r>
          </a:p>
        </p:txBody>
      </p:sp>
      <p:sp>
        <p:nvSpPr>
          <p:cNvPr id="318" name="BLD.tam_top_down_funnel.commentary.main"/>
          <p:cNvSpPr txBox="1"/>
          <p:nvPr/>
        </p:nvSpPr>
        <p:spPr>
          <a:xfrm>
            <a:off x="6675120" y="1527048"/>
            <a:ext cx="5074920" cy="4507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</a:rPr>
              <a:t>$17.0B input pool</a:t>
            </a:r>
          </a:p>
          <a:p>
            <a:pPr marL="228600" lvl="1" indent="-171450" algn="l">
              <a:buChar char="•"/>
            </a:pPr>
            <a:r>
              <a:rPr lang="en-US" sz="1000" dirty="0">
                <a:solidFill>
                  <a:srgbClr val="162029"/>
                </a:solidFill>
                <a:latin typeface="Arial"/>
              </a:rPr>
              <a:t>OMN 1B4B: $11.76B</a:t>
            </a:r>
          </a:p>
          <a:p>
            <a:pPr marL="228600" lvl="1" indent="-171450" algn="l">
              <a:buChar char="•"/>
            </a:pPr>
            <a:r>
              <a:rPr lang="en-US" sz="1000" dirty="0">
                <a:solidFill>
                  <a:srgbClr val="162029"/>
                </a:solidFill>
                <a:latin typeface="Arial"/>
              </a:rPr>
              <a:t>OPN LI 1000: $2.39B</a:t>
            </a:r>
          </a:p>
          <a:p>
            <a:pPr marL="228600" lvl="1" indent="-171450" algn="l">
              <a:buChar char="•"/>
            </a:pPr>
            <a:r>
              <a:rPr lang="en-US" sz="1000" dirty="0">
                <a:solidFill>
                  <a:srgbClr val="162029"/>
                </a:solidFill>
                <a:latin typeface="Arial"/>
              </a:rPr>
              <a:t>SCN LI 2086 CVN RCOH: $1.48B</a:t>
            </a:r>
          </a:p>
          <a:p>
            <a:pPr marL="228600" lvl="1" indent="-171450" algn="l">
              <a:buChar char="•"/>
            </a:pPr>
            <a:r>
              <a:rPr lang="en-US" sz="1000" dirty="0">
                <a:solidFill>
                  <a:srgbClr val="162029"/>
                </a:solidFill>
                <a:latin typeface="Arial"/>
              </a:rPr>
              <a:t>MSC M&amp;R: $1.24B</a:t>
            </a:r>
          </a:p>
          <a:p>
            <a:pPr marL="228600" lvl="1" indent="-171450" algn="l">
              <a:buChar char="•"/>
            </a:pPr>
            <a:r>
              <a:rPr lang="en-US" sz="1000" dirty="0">
                <a:solidFill>
                  <a:srgbClr val="162029"/>
                </a:solidFill>
                <a:latin typeface="Arial"/>
              </a:rPr>
              <a:t>USCG ISVS: $0.12B</a:t>
            </a:r>
          </a:p>
          <a:p>
            <a:pPr marL="0" indent="0" algn="l">
              <a:buNone/>
            </a:pPr>
            <a:endParaRPr lang="en-US" sz="8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</a:rPr>
              <a:t>$7.49B Public NSY (44% of input)</a:t>
            </a:r>
          </a:p>
          <a:p>
            <a:pPr marL="228600" lvl="1" indent="-171450" algn="l">
              <a:buChar char="•"/>
            </a:pPr>
            <a:r>
              <a:rPr lang="en-US" sz="1000" dirty="0">
                <a:solidFill>
                  <a:srgbClr val="162029"/>
                </a:solidFill>
                <a:latin typeface="Arial"/>
              </a:rPr>
              <a:t>Federal civilian labor at four public yards: Norfolk, Portsmouth, Puget Sound, Pearl Harbor</a:t>
            </a:r>
          </a:p>
          <a:p>
            <a:pPr marL="228600" lvl="1" indent="-171450" algn="l">
              <a:buChar char="•"/>
            </a:pPr>
            <a:r>
              <a:rPr lang="en-US" sz="1000" dirty="0">
                <a:solidFill>
                  <a:srgbClr val="162029"/>
                </a:solidFill>
                <a:latin typeface="Arial"/>
              </a:rPr>
              <a:t>Executed in-house, structurally FPDS-invisible</a:t>
            </a:r>
          </a:p>
          <a:p>
            <a:pPr marL="0" indent="0" algn="l">
              <a:buNone/>
            </a:pPr>
            <a:endParaRPr lang="en-US" sz="8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</a:rPr>
              <a:t>$9.5B non-public-NSY residual</a:t>
            </a:r>
          </a:p>
          <a:p>
            <a:pPr marL="228600" lvl="1" indent="-171450" algn="l">
              <a:buChar char="•"/>
            </a:pPr>
            <a:r>
              <a:rPr lang="en-US" sz="1000" dirty="0">
                <a:solidFill>
                  <a:srgbClr val="162029"/>
                </a:solidFill>
                <a:latin typeface="Arial"/>
              </a:rPr>
              <a:t>$4.28B OMN 1B4B private availabilities</a:t>
            </a:r>
          </a:p>
          <a:p>
            <a:pPr marL="228600" lvl="1" indent="-171450" algn="l">
              <a:buChar char="•"/>
            </a:pPr>
            <a:r>
              <a:rPr lang="en-US" sz="1000" dirty="0">
                <a:solidFill>
                  <a:srgbClr val="162029"/>
                </a:solidFill>
                <a:latin typeface="Arial"/>
              </a:rPr>
              <a:t>$5.23B non-1B4B anchors (OPN, SCN, MSC, USCG)</a:t>
            </a:r>
          </a:p>
          <a:p>
            <a:pPr marL="0" indent="0" algn="l">
              <a:buNone/>
            </a:pPr>
            <a:endParaRPr lang="en-US" sz="8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</a:rPr>
              <a:t>$9.5B FY2025 non-public-NSY MRO funding</a:t>
            </a:r>
          </a:p>
          <a:p>
            <a:pPr marL="228600" lvl="1" indent="-171450" algn="l">
              <a:buChar char="•"/>
            </a:pPr>
            <a:r>
              <a:rPr lang="en-US" sz="1000" dirty="0">
                <a:solidFill>
                  <a:srgbClr val="162029"/>
                </a:solidFill>
                <a:latin typeface="Arial"/>
              </a:rPr>
              <a:t>USN/USCG non-public-NSY scope</a:t>
            </a:r>
          </a:p>
          <a:p>
            <a:pPr marL="228600" lvl="1" indent="-171450" algn="l">
              <a:buChar char="•"/>
            </a:pPr>
            <a:r>
              <a:rPr lang="en-US" sz="1000" dirty="0">
                <a:solidFill>
                  <a:srgbClr val="162029"/>
                </a:solidFill>
                <a:latin typeface="Arial"/>
              </a:rPr>
              <a:t>Reconciles to bottom-up FPDS on slide 10</a:t>
            </a:r>
          </a:p>
        </p:txBody>
      </p:sp>
      <p:cxnSp>
        <p:nvCxnSpPr>
          <p:cNvPr id="332" name="Straight Connector 31"/>
          <p:cNvCxnSpPr/>
          <p:nvPr/>
        </p:nvCxnSpPr>
        <p:spPr bwMode="auto">
          <a:xfrm>
            <a:off x="2349500" y="1973263"/>
            <a:ext cx="787400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2"/>
          <p:cNvCxnSpPr/>
          <p:nvPr/>
        </p:nvCxnSpPr>
        <p:spPr bwMode="auto">
          <a:xfrm>
            <a:off x="4122738" y="3438525"/>
            <a:ext cx="787400" cy="0"/>
          </a:xfrm>
          <a:prstGeom prst="line">
            <a:avLst/>
          </a:prstGeom>
          <a:ln w="3175" cap="flat" cmpd="sng" algn="ctr">
            <a:solidFill>
              <a:schemeClr val="tx1"/>
            </a:solidFill>
            <a:prstDash val="lgDash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Text Placeholder 25"/>
          <p:cNvSpPr>
            <a:spLocks/>
          </p:cNvSpPr>
          <p:nvPr/>
        </p:nvSpPr>
        <p:spPr bwMode="auto">
          <a:xfrm>
            <a:off x="1265238" y="5345113"/>
            <a:ext cx="1181100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00">
                <a:latin typeface="+mj-lt"/>
                <a:ea typeface="+mj-ea"/>
                <a:cs typeface="+mj-cs"/>
              </a:rPr>
              <a:t>Total Budget-Anchored MRO</a:t>
            </a:r>
            <a:r>
              <a:rPr lang="en-US" altLang="en-US" sz="1000" dirty="0">
                <a:latin typeface="+mj-lt"/>
                <a:ea typeface="+mj-ea"/>
                <a:cs typeface="+mj-cs"/>
              </a:rPr>
              <a:t> ($M)</a:t>
            </a:r>
            <a:endParaRPr lang="en-US" sz="1000" dirty="0">
              <a:latin typeface="+mj-lt"/>
              <a:ea typeface="+mj-ea"/>
              <a:cs typeface="+mj-cs"/>
            </a:endParaRPr>
          </a:p>
        </p:txBody>
      </p:sp>
      <p:sp>
        <p:nvSpPr>
          <p:cNvPr id="323" name="Text Placeholder 25"/>
          <p:cNvSpPr>
            <a:spLocks/>
          </p:cNvSpPr>
          <p:nvPr/>
        </p:nvSpPr>
        <p:spPr bwMode="auto">
          <a:xfrm>
            <a:off x="3136900" y="5345113"/>
            <a:ext cx="984250" cy="152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00" dirty="0">
                <a:latin typeface="+mj-lt"/>
                <a:ea typeface="+mj-ea"/>
                <a:cs typeface="+mj-cs"/>
              </a:rPr>
              <a:t> </a:t>
            </a:r>
            <a:r>
              <a:rPr lang="en-US" altLang="en-US" sz="1000">
                <a:latin typeface="+mj-lt"/>
                <a:ea typeface="+mj-ea"/>
                <a:cs typeface="+mj-cs"/>
              </a:rPr>
              <a:t>Public NSY</a:t>
            </a:r>
            <a:r>
              <a:rPr lang="en-US" altLang="en-US" sz="1000" dirty="0">
                <a:latin typeface="+mj-lt"/>
                <a:ea typeface="+mj-ea"/>
                <a:cs typeface="+mj-cs"/>
              </a:rPr>
              <a:t> ($M)</a:t>
            </a:r>
            <a:endParaRPr lang="en-US" sz="1000" dirty="0">
              <a:latin typeface="+mj-lt"/>
              <a:ea typeface="+mj-ea"/>
              <a:cs typeface="+mj-cs"/>
            </a:endParaRPr>
          </a:p>
        </p:txBody>
      </p:sp>
      <p:sp>
        <p:nvSpPr>
          <p:cNvPr id="324" name="Text Placeholder 25"/>
          <p:cNvSpPr>
            <a:spLocks/>
          </p:cNvSpPr>
          <p:nvPr/>
        </p:nvSpPr>
        <p:spPr bwMode="auto">
          <a:xfrm>
            <a:off x="4827588" y="5345113"/>
            <a:ext cx="1150938" cy="30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00">
                <a:latin typeface="+mj-lt"/>
                <a:ea typeface="+mj-ea"/>
                <a:cs typeface="+mj-cs"/>
              </a:rPr>
              <a:t>Non-public-NSY MRO funding</a:t>
            </a:r>
            <a:r>
              <a:rPr lang="en-US" altLang="en-US" sz="1000" dirty="0">
                <a:latin typeface="+mj-lt"/>
                <a:ea typeface="+mj-ea"/>
                <a:cs typeface="+mj-cs"/>
              </a:rPr>
              <a:t> ($M)</a:t>
            </a:r>
            <a:endParaRPr lang="en-US" sz="1000" dirty="0">
              <a:latin typeface="+mj-lt"/>
              <a:ea typeface="+mj-ea"/>
              <a:cs typeface="+mj-cs"/>
            </a:endParaRPr>
          </a:p>
        </p:txBody>
      </p:sp>
      <p:sp>
        <p:nvSpPr>
          <p:cNvPr id="351" name="Rectangle 50"/>
          <p:cNvSpPr/>
          <p:nvPr/>
        </p:nvSpPr>
        <p:spPr>
          <a:xfrm>
            <a:off x="393181" y="1377019"/>
            <a:ext cx="3622253" cy="27543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fontAlgn="t">
              <a:defRPr/>
            </a:pPr>
            <a:r>
              <a:rPr lang="en-US" sz="800" i="1" dirty="0">
                <a:solidFill>
                  <a:schemeClr val="tx1"/>
                </a:solidFill>
              </a:rPr>
              <a:t>FY2025 MRO Top-Down Funnel ($M)</a:t>
            </a:r>
            <a:endParaRPr lang="en-US" sz="8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TAM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Reconciliation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45720" tIns="9144" rIns="45720" bIns="9144" anchor="ctr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Reconciliation Bridge | Public Naval Shipyard labor of $7.49B is the structural FPDS-invisible gap between the $17.0B top-down and $9.0B bottom-up MRO.</a:t>
            </a:r>
          </a:p>
        </p:txBody>
      </p:sp>
      <p:graphicFrame>
        <p:nvGraphicFramePr>
          <p:cNvPr id="307" name="BLD.tam_reconciliation.table.bridge_components"/>
          <p:cNvGraphicFramePr>
            <a:graphicFrameLocks noGrp="1"/>
          </p:cNvGraphicFramePr>
          <p:nvPr/>
        </p:nvGraphicFramePr>
        <p:xfrm>
          <a:off x="846560" y="1664055"/>
          <a:ext cx="10853189" cy="3916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995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66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66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9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105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Bridge Component</a:t>
                      </a:r>
                    </a:p>
                  </a:txBody>
                  <a:tcPr marL="45720" marR="45720" anchor="b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T</a:t>
                      </a:r>
                      <a:r>
                        <a:rPr lang="en-US"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op-down</a:t>
                      </a:r>
                      <a:r>
                        <a:rPr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 </a:t>
                      </a:r>
                      <a:r>
                        <a:rPr lang="en-US"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(</a:t>
                      </a:r>
                      <a:r>
                        <a:rPr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$M</a:t>
                      </a:r>
                      <a:r>
                        <a:rPr lang="en-US"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)</a:t>
                      </a:r>
                      <a:endParaRPr sz="1100" b="1" i="0" dirty="0">
                        <a:solidFill>
                          <a:srgbClr val="162029"/>
                        </a:solidFill>
                        <a:latin typeface="Arial"/>
                      </a:endParaRPr>
                    </a:p>
                  </a:txBody>
                  <a:tcPr marL="45720" marR="45720" anchor="b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B</a:t>
                      </a:r>
                      <a:r>
                        <a:rPr lang="en-US"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ottom-up</a:t>
                      </a:r>
                      <a:r>
                        <a:rPr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 </a:t>
                      </a:r>
                      <a:r>
                        <a:rPr lang="en-US"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(</a:t>
                      </a:r>
                      <a:r>
                        <a:rPr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$M</a:t>
                      </a:r>
                      <a:r>
                        <a:rPr lang="en-US"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)</a:t>
                      </a:r>
                      <a:endParaRPr sz="1100" b="1" i="0" dirty="0">
                        <a:solidFill>
                          <a:srgbClr val="162029"/>
                        </a:solidFill>
                        <a:latin typeface="Arial"/>
                      </a:endParaRPr>
                    </a:p>
                  </a:txBody>
                  <a:tcPr marL="45720" marR="4572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Gap (TD-BU)</a:t>
                      </a:r>
                    </a:p>
                  </a:txBody>
                  <a:tcPr marL="45720" marR="4572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 dirty="0">
                          <a:solidFill>
                            <a:schemeClr val="bg1"/>
                          </a:solidFill>
                          <a:latin typeface="Arial"/>
                        </a:rPr>
                        <a:t>Explanation</a:t>
                      </a:r>
                    </a:p>
                  </a:txBody>
                  <a:tcPr marL="45720" marR="4572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447B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Navy private 1B4B (avail subtotal)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4,279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3,493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+786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Primary reconciliation test: FY2025 PB26 forecast vs FPDS actual obligations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Navy Public NSY (4 yards)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7,485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+7,485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STRUCTURAL: federal civilian workforce, FPDS-invisible by construction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OPN LI 1000 Ship Maint Repair and Mod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2,392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(in PSCs)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~+1,500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Modernization side of avails, separate appropriation from OMN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MSC M and R (1B1B FY2025 to 1B4B FY2026)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1,240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+546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MSC HQ contracting flow. Reconciles within plus or minus 15%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SCN CVN RCOH (LI 2086)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1,480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2,057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-577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Multi-year incremental funding vs single-FY FPDS obligation. PSC 1905 sees more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USCG cutter MRO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-153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TD anchor (ISVS PC and I floor) is known low. FPDS sees actual cutter awards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Other (RDT and E-DW Strategic, AF/Army cross-svc, etc.)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>
                          <a:solidFill>
                            <a:srgbClr val="16202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~1,520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-1,520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 i="0" dirty="0">
                          <a:solidFill>
                            <a:srgbClr val="162029"/>
                          </a:solidFill>
                          <a:latin typeface="Arial"/>
                        </a:rPr>
                        <a:t>BU captures Strategic Systems (Draper Trident), AF/Army flows. Not in OP-5/MSC/SCN/USCG anchors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Total</a:t>
                      </a:r>
                      <a:endParaRPr sz="1100" b="1" i="0" dirty="0">
                        <a:solidFill>
                          <a:srgbClr val="162029"/>
                        </a:solidFill>
                        <a:latin typeface="Arial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16,996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8,971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+8,025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 i="0" dirty="0">
                          <a:solidFill>
                            <a:srgbClr val="162029"/>
                          </a:solidFill>
                          <a:latin typeface="Arial"/>
                        </a:rPr>
                        <a:t>Public NSY $7,485M + non-public-NSY TD $9,511M vs BU $8,971M = +$540M (~6%)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08" name="BLD.tam_reconciliation.footer.main"/>
          <p:cNvSpPr txBox="1"/>
          <p:nvPr/>
        </p:nvSpPr>
        <p:spPr>
          <a:xfrm>
            <a:off x="457200" y="6037783"/>
            <a:ext cx="11308384" cy="502920"/>
          </a:xfrm>
          <a:prstGeom prst="rect">
            <a:avLst/>
          </a:prstGeom>
          <a:noFill/>
        </p:spPr>
        <p:txBody>
          <a:bodyPr wrap="square" lIns="0" tIns="18288" rIns="0" bIns="18288">
            <a:noAutofit/>
          </a:bodyPr>
          <a:lstStyle/>
          <a:p>
            <a:pPr algn="l">
              <a:buNone/>
            </a:pPr>
            <a:r>
              <a:rPr sz="800" b="0" i="0">
                <a:solidFill>
                  <a:srgbClr val="162029"/>
                </a:solidFill>
                <a:latin typeface="Arial"/>
              </a:rPr>
              <a:t>Sources: (1) PB26 budget-book line items; (2) FPDS FY2025 contract obligations; data as of April 2026</a:t>
            </a:r>
          </a:p>
        </p:txBody>
      </p:sp>
      <p:sp>
        <p:nvSpPr>
          <p:cNvPr id="302" name="Oval 1"/>
          <p:cNvSpPr/>
          <p:nvPr/>
        </p:nvSpPr>
        <p:spPr>
          <a:xfrm>
            <a:off x="452627" y="2016151"/>
            <a:ext cx="282371" cy="274320"/>
          </a:xfrm>
          <a:prstGeom prst="ellipse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000" b="1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303" name="Oval 2"/>
          <p:cNvSpPr/>
          <p:nvPr/>
        </p:nvSpPr>
        <p:spPr>
          <a:xfrm>
            <a:off x="452627" y="2473191"/>
            <a:ext cx="282371" cy="274320"/>
          </a:xfrm>
          <a:prstGeom prst="ellipse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000" b="1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310" name="Oval 9"/>
          <p:cNvSpPr/>
          <p:nvPr/>
        </p:nvSpPr>
        <p:spPr>
          <a:xfrm>
            <a:off x="452627" y="2930231"/>
            <a:ext cx="282371" cy="274320"/>
          </a:xfrm>
          <a:prstGeom prst="ellipse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000" b="1">
                <a:solidFill>
                  <a:srgbClr val="000000"/>
                </a:solidFill>
              </a:rPr>
              <a:t>3</a:t>
            </a:r>
          </a:p>
        </p:txBody>
      </p:sp>
      <p:sp>
        <p:nvSpPr>
          <p:cNvPr id="311" name="Oval 10"/>
          <p:cNvSpPr/>
          <p:nvPr/>
        </p:nvSpPr>
        <p:spPr>
          <a:xfrm>
            <a:off x="452627" y="3387271"/>
            <a:ext cx="282371" cy="274320"/>
          </a:xfrm>
          <a:prstGeom prst="ellipse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000" b="1" dirty="0">
                <a:solidFill>
                  <a:srgbClr val="000000"/>
                </a:solidFill>
              </a:rPr>
              <a:t>4</a:t>
            </a:r>
          </a:p>
        </p:txBody>
      </p:sp>
      <p:sp>
        <p:nvSpPr>
          <p:cNvPr id="312" name="Oval 11"/>
          <p:cNvSpPr/>
          <p:nvPr/>
        </p:nvSpPr>
        <p:spPr>
          <a:xfrm>
            <a:off x="452627" y="3844311"/>
            <a:ext cx="282371" cy="274320"/>
          </a:xfrm>
          <a:prstGeom prst="ellipse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000" b="1">
                <a:solidFill>
                  <a:srgbClr val="000000"/>
                </a:solidFill>
              </a:rPr>
              <a:t>5</a:t>
            </a:r>
          </a:p>
        </p:txBody>
      </p:sp>
      <p:sp>
        <p:nvSpPr>
          <p:cNvPr id="313" name="Oval 12"/>
          <p:cNvSpPr/>
          <p:nvPr/>
        </p:nvSpPr>
        <p:spPr>
          <a:xfrm>
            <a:off x="452627" y="4758391"/>
            <a:ext cx="282371" cy="274320"/>
          </a:xfrm>
          <a:prstGeom prst="ellipse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000" b="1" dirty="0">
                <a:solidFill>
                  <a:srgbClr val="000000"/>
                </a:solidFill>
              </a:rPr>
              <a:t>7</a:t>
            </a:r>
          </a:p>
        </p:txBody>
      </p:sp>
      <p:sp>
        <p:nvSpPr>
          <p:cNvPr id="315" name="Oval 14"/>
          <p:cNvSpPr/>
          <p:nvPr/>
        </p:nvSpPr>
        <p:spPr>
          <a:xfrm>
            <a:off x="452627" y="4301351"/>
            <a:ext cx="282371" cy="274320"/>
          </a:xfrm>
          <a:prstGeom prst="ellipse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000" b="1" dirty="0">
                <a:solidFill>
                  <a:srgbClr val="000000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TAM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Non-Public-NSY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45720" tIns="9144" rIns="45720" bIns="9144" anchor="ctr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Non-Public-NSY Cross-Check | Non-public-NSY MRO of $9.51B converges within ~6% of the $8.97B reconciled bottom-up MRO TAM.</a:t>
            </a:r>
          </a:p>
        </p:txBody>
      </p:sp>
      <p:sp>
        <p:nvSpPr>
          <p:cNvPr id="307" name="BLD.tam_private_addressable.callout.convergence_result"/>
          <p:cNvSpPr/>
          <p:nvPr/>
        </p:nvSpPr>
        <p:spPr>
          <a:xfrm>
            <a:off x="457200" y="4251960"/>
            <a:ext cx="11242548" cy="868680"/>
          </a:xfrm>
          <a:prstGeom prst="rect">
            <a:avLst/>
          </a:prstGeom>
          <a:solidFill>
            <a:srgbClr val="263746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latin typeface="Arial (Body)"/>
              </a:rPr>
              <a:t>Convergence: A = $8,971M / B = $9,511M / Delta = $540M (~6%)</a:t>
            </a:r>
          </a:p>
          <a:p>
            <a:pPr algn="ctr"/>
            <a:r>
              <a:rPr sz="1000" i="1" dirty="0">
                <a:latin typeface="Arial (Body)"/>
              </a:rPr>
              <a:t>Within plus or minus 10% reconciliation target. Residual driven by RDT and E-DW Strategic Systems, AF/Army cross-service, and USCG-above-ISVS flows visible in BU FPDS but not in OP-5/MSC/SCN/USCG top-down anchors.</a:t>
            </a:r>
          </a:p>
        </p:txBody>
      </p:sp>
      <p:sp>
        <p:nvSpPr>
          <p:cNvPr id="309" name="BLD.tam_private_addressable.footer.main"/>
          <p:cNvSpPr txBox="1"/>
          <p:nvPr/>
        </p:nvSpPr>
        <p:spPr>
          <a:xfrm>
            <a:off x="457200" y="6037783"/>
            <a:ext cx="11308384" cy="502920"/>
          </a:xfrm>
          <a:prstGeom prst="rect">
            <a:avLst/>
          </a:prstGeom>
          <a:noFill/>
        </p:spPr>
        <p:txBody>
          <a:bodyPr wrap="square" lIns="0" tIns="18288" rIns="0" bIns="18288">
            <a:noAutofit/>
          </a:bodyPr>
          <a:lstStyle/>
          <a:p>
            <a:pPr algn="l">
              <a:buNone/>
            </a:pPr>
            <a:r>
              <a:rPr sz="800" b="0" i="0">
                <a:solidFill>
                  <a:srgbClr val="162029"/>
                </a:solidFill>
                <a:latin typeface="Arial"/>
              </a:rPr>
              <a:t>Sources: (1) Non-Public-NSY Bridge; (2) TAS-attributed appropriation rollup; data as of April 2026</a:t>
            </a:r>
          </a:p>
        </p:txBody>
      </p:sp>
      <p:sp>
        <p:nvSpPr>
          <p:cNvPr id="310" name="BLD.tam_private_addressable.custom.left_title"/>
          <p:cNvSpPr txBox="1"/>
          <p:nvPr/>
        </p:nvSpPr>
        <p:spPr>
          <a:xfrm>
            <a:off x="457200" y="141732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buNone/>
            </a:pPr>
            <a:r>
              <a:rPr sz="1200" b="1" i="0">
                <a:solidFill>
                  <a:srgbClr val="162029"/>
                </a:solidFill>
                <a:latin typeface="Arial"/>
              </a:rPr>
              <a:t>Narrative A: Bottom-Up (FPDS)</a:t>
            </a:r>
          </a:p>
        </p:txBody>
      </p:sp>
      <p:sp>
        <p:nvSpPr>
          <p:cNvPr id="311" name="BLD.tam_private_addressable.custom.tile_a_step_1"/>
          <p:cNvSpPr/>
          <p:nvPr/>
        </p:nvSpPr>
        <p:spPr>
          <a:xfrm>
            <a:off x="457200" y="1783080"/>
            <a:ext cx="5303520" cy="594360"/>
          </a:xfrm>
          <a:prstGeom prst="roundRect">
            <a:avLst>
              <a:gd name="adj" fmla="val 0"/>
            </a:avLst>
          </a:prstGeom>
          <a:solidFill>
            <a:srgbClr val="E2E9EF"/>
          </a:solidFill>
          <a:ln w="9525">
            <a:solidFill>
              <a:srgbClr val="00000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solidFill>
                  <a:srgbClr val="000000"/>
                </a:solidFill>
                <a:latin typeface="+mj-lt"/>
              </a:rPr>
              <a:t>FPDS 65-PSC services universe</a:t>
            </a:r>
          </a:p>
          <a:p>
            <a:pPr algn="ctr"/>
            <a:r>
              <a:rPr sz="1000" i="1" dirty="0">
                <a:solidFill>
                  <a:srgbClr val="000000"/>
                </a:solidFill>
                <a:latin typeface="+mj-lt"/>
              </a:rPr>
              <a:t>Navy $6,794M + USCG $273M = $7,067M</a:t>
            </a:r>
          </a:p>
        </p:txBody>
      </p:sp>
      <p:sp>
        <p:nvSpPr>
          <p:cNvPr id="312" name="BLD.tam_private_addressable.custom.tile_a_step_2"/>
          <p:cNvSpPr/>
          <p:nvPr/>
        </p:nvSpPr>
        <p:spPr>
          <a:xfrm>
            <a:off x="457200" y="2542032"/>
            <a:ext cx="5303520" cy="594360"/>
          </a:xfrm>
          <a:prstGeom prst="roundRect">
            <a:avLst>
              <a:gd name="adj" fmla="val 0"/>
            </a:avLst>
          </a:prstGeom>
          <a:solidFill>
            <a:srgbClr val="B6C8D8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solidFill>
                  <a:schemeClr val="tx1"/>
                </a:solidFill>
              </a:rPr>
              <a:t>+ PSC 1905 embedded MRO</a:t>
            </a:r>
          </a:p>
          <a:p>
            <a:pPr algn="ctr"/>
            <a:r>
              <a:rPr sz="1000" b="1" i="1" dirty="0">
                <a:solidFill>
                  <a:schemeClr val="tx1"/>
                </a:solidFill>
              </a:rPr>
              <a:t>Classifier-derived MRO inside shipbuilding contracts: $1,904M</a:t>
            </a:r>
          </a:p>
        </p:txBody>
      </p:sp>
      <p:sp>
        <p:nvSpPr>
          <p:cNvPr id="313" name="BLD.tam_private_addressable.custom.tile_a_step_3"/>
          <p:cNvSpPr/>
          <p:nvPr/>
        </p:nvSpPr>
        <p:spPr>
          <a:xfrm>
            <a:off x="457200" y="3300984"/>
            <a:ext cx="5303520" cy="777240"/>
          </a:xfrm>
          <a:prstGeom prst="roundRect">
            <a:avLst>
              <a:gd name="adj" fmla="val 0"/>
            </a:avLst>
          </a:prstGeom>
          <a:solidFill>
            <a:srgbClr val="3D5972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Reconciled FPDS MRO TAM: $8,971M</a:t>
            </a:r>
          </a:p>
          <a:p>
            <a:pPr algn="ctr"/>
            <a:r>
              <a:rPr sz="1000" i="1" dirty="0"/>
              <a:t>All private contractors. Public NSY = $0 by construction.</a:t>
            </a:r>
          </a:p>
        </p:txBody>
      </p:sp>
      <p:cxnSp>
        <p:nvCxnSpPr>
          <p:cNvPr id="314" name="BLD.tam_private_addressable.custom.left_connector_0"/>
          <p:cNvCxnSpPr/>
          <p:nvPr/>
        </p:nvCxnSpPr>
        <p:spPr>
          <a:xfrm>
            <a:off x="3108960" y="2377440"/>
            <a:ext cx="0" cy="164592"/>
          </a:xfrm>
          <a:prstGeom prst="line">
            <a:avLst/>
          </a:prstGeom>
          <a:ln w="12700">
            <a:solidFill>
              <a:srgbClr val="9696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BLD.tam_private_addressable.custom.left_connector_1"/>
          <p:cNvCxnSpPr/>
          <p:nvPr/>
        </p:nvCxnSpPr>
        <p:spPr>
          <a:xfrm>
            <a:off x="3108960" y="3136391"/>
            <a:ext cx="0" cy="164593"/>
          </a:xfrm>
          <a:prstGeom prst="line">
            <a:avLst/>
          </a:prstGeom>
          <a:ln w="12700">
            <a:solidFill>
              <a:srgbClr val="9696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BLD.tam_private_addressable.custom.right_title"/>
          <p:cNvSpPr txBox="1"/>
          <p:nvPr/>
        </p:nvSpPr>
        <p:spPr>
          <a:xfrm>
            <a:off x="6400800" y="141732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buNone/>
            </a:pPr>
            <a:r>
              <a:rPr sz="1200" b="1" i="0">
                <a:solidFill>
                  <a:srgbClr val="162029"/>
                </a:solidFill>
                <a:latin typeface="Arial"/>
              </a:rPr>
              <a:t>Narrative B: Top-Down (Budget Anchor)</a:t>
            </a:r>
          </a:p>
        </p:txBody>
      </p:sp>
      <p:sp>
        <p:nvSpPr>
          <p:cNvPr id="317" name="BLD.tam_private_addressable.custom.tile_b_step_1"/>
          <p:cNvSpPr/>
          <p:nvPr/>
        </p:nvSpPr>
        <p:spPr>
          <a:xfrm>
            <a:off x="6400800" y="1783080"/>
            <a:ext cx="5303520" cy="594360"/>
          </a:xfrm>
          <a:prstGeom prst="roundRect">
            <a:avLst>
              <a:gd name="adj" fmla="val 0"/>
            </a:avLst>
          </a:prstGeom>
          <a:solidFill>
            <a:srgbClr val="E2E9EF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solidFill>
                  <a:srgbClr val="000000"/>
                </a:solidFill>
                <a:latin typeface="+mj-lt"/>
              </a:rPr>
              <a:t>Top-down MRO anchor (S8 total)</a:t>
            </a:r>
          </a:p>
          <a:p>
            <a:pPr algn="ctr"/>
            <a:r>
              <a:rPr sz="1000" i="1" dirty="0">
                <a:solidFill>
                  <a:srgbClr val="000000"/>
                </a:solidFill>
                <a:latin typeface="+mj-lt"/>
              </a:rPr>
              <a:t>OMN 1B4B + OPN LI 1000 + MSC + SCN + USCG: $16,996M</a:t>
            </a:r>
          </a:p>
        </p:txBody>
      </p:sp>
      <p:sp>
        <p:nvSpPr>
          <p:cNvPr id="318" name="BLD.tam_private_addressable.custom.tile_b_step_2"/>
          <p:cNvSpPr/>
          <p:nvPr/>
        </p:nvSpPr>
        <p:spPr>
          <a:xfrm>
            <a:off x="6400800" y="2542032"/>
            <a:ext cx="5303520" cy="594360"/>
          </a:xfrm>
          <a:prstGeom prst="roundRect">
            <a:avLst>
              <a:gd name="adj" fmla="val 0"/>
            </a:avLst>
          </a:prstGeom>
          <a:solidFill>
            <a:srgbClr val="B6C8D8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>
                <a:solidFill>
                  <a:schemeClr val="tx1"/>
                </a:solidFill>
              </a:rPr>
              <a:t>minus Public NSY (4 yards)</a:t>
            </a:r>
          </a:p>
          <a:p>
            <a:pPr algn="ctr"/>
            <a:r>
              <a:rPr sz="1000" i="1" dirty="0">
                <a:solidFill>
                  <a:schemeClr val="tx1"/>
                </a:solidFill>
              </a:rPr>
              <a:t>Federal civilian workforce, not addressable to any private entrant: $7,485M</a:t>
            </a:r>
          </a:p>
        </p:txBody>
      </p:sp>
      <p:sp>
        <p:nvSpPr>
          <p:cNvPr id="319" name="BLD.tam_private_addressable.custom.tile_b_step_3"/>
          <p:cNvSpPr/>
          <p:nvPr/>
        </p:nvSpPr>
        <p:spPr>
          <a:xfrm>
            <a:off x="6400800" y="3300984"/>
            <a:ext cx="5303520" cy="777240"/>
          </a:xfrm>
          <a:prstGeom prst="roundRect">
            <a:avLst>
              <a:gd name="adj" fmla="val 0"/>
            </a:avLst>
          </a:prstGeom>
          <a:solidFill>
            <a:srgbClr val="3D5972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dirty="0"/>
              <a:t>Non-public-NSY TD: $9,511M</a:t>
            </a:r>
          </a:p>
          <a:p>
            <a:pPr algn="ctr"/>
            <a:r>
              <a:rPr sz="1000" i="1" dirty="0"/>
              <a:t>Captive HII/GDEB complex OH retained (addressability is a SAM question).</a:t>
            </a:r>
          </a:p>
        </p:txBody>
      </p:sp>
      <p:cxnSp>
        <p:nvCxnSpPr>
          <p:cNvPr id="320" name="BLD.tam_private_addressable.custom.right_connector_0"/>
          <p:cNvCxnSpPr/>
          <p:nvPr/>
        </p:nvCxnSpPr>
        <p:spPr>
          <a:xfrm>
            <a:off x="9052560" y="2377440"/>
            <a:ext cx="0" cy="164592"/>
          </a:xfrm>
          <a:prstGeom prst="line">
            <a:avLst/>
          </a:prstGeom>
          <a:ln w="12700">
            <a:solidFill>
              <a:srgbClr val="9696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BLD.tam_private_addressable.custom.right_connector_1"/>
          <p:cNvCxnSpPr/>
          <p:nvPr/>
        </p:nvCxnSpPr>
        <p:spPr>
          <a:xfrm>
            <a:off x="9052560" y="3136391"/>
            <a:ext cx="0" cy="164593"/>
          </a:xfrm>
          <a:prstGeom prst="line">
            <a:avLst/>
          </a:prstGeom>
          <a:ln w="12700">
            <a:solidFill>
              <a:srgbClr val="9696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SAM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Fleet Structure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45720" tIns="9144" rIns="45720" bIns="9144" anchor="ctr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Fleet Structure | The Marauder-comparable fleet spans 14 hull programs across three mission-fit tiers and anchors the SAM vessel universe.</a:t>
            </a:r>
          </a:p>
        </p:txBody>
      </p:sp>
      <p:graphicFrame>
        <p:nvGraphicFramePr>
          <p:cNvPr id="305" name="BLD.fleet_reference.table.tier_roster"/>
          <p:cNvGraphicFramePr>
            <a:graphicFrameLocks noGrp="1"/>
          </p:cNvGraphicFramePr>
          <p:nvPr/>
        </p:nvGraphicFramePr>
        <p:xfrm>
          <a:off x="452628" y="1514017"/>
          <a:ext cx="7772400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 i="0">
                          <a:solidFill>
                            <a:srgbClr val="162029"/>
                          </a:solidFill>
                          <a:latin typeface="Arial"/>
                        </a:rPr>
                        <a:t>Tier / mission fit</a:t>
                      </a:r>
                    </a:p>
                  </a:txBody>
                  <a:tcPr marL="45720" marR="45720" anchor="b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 i="0">
                          <a:solidFill>
                            <a:srgbClr val="162029"/>
                          </a:solidFill>
                          <a:latin typeface="Arial"/>
                        </a:rPr>
                        <a:t>Hull programs</a:t>
                      </a:r>
                    </a:p>
                  </a:txBody>
                  <a:tcPr marL="45720" marR="45720" anchor="b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 i="0">
                          <a:solidFill>
                            <a:srgbClr val="162029"/>
                          </a:solidFill>
                          <a:latin typeface="Arial"/>
                        </a:rPr>
                        <a:t>Role and Marauder fit</a:t>
                      </a:r>
                    </a:p>
                  </a:txBody>
                  <a:tcPr marL="45720" marR="45720" anchor="b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 i="0">
                          <a:solidFill>
                            <a:srgbClr val="162029"/>
                          </a:solidFill>
                          <a:latin typeface="Arial"/>
                        </a:rPr>
                        <a:t>FY2025 $M</a:t>
                      </a:r>
                    </a:p>
                  </a:txBody>
                  <a:tcPr marL="45720" marR="45720" anchor="b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 i="0" dirty="0">
                          <a:solidFill>
                            <a:sysClr val="windowText" lastClr="000000"/>
                          </a:solidFill>
                          <a:latin typeface="Arial"/>
                        </a:rPr>
                        <a:t>Tier 1: Combat Logistics and MSC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162029"/>
                          </a:solidFill>
                          <a:latin typeface="Arial"/>
                        </a:rPr>
                        <a:t>T-AKE, T-AO, T-EPF, ESB, T-ESB, T-AK, T-AKR, T-ESD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 dirty="0">
                          <a:solidFill>
                            <a:srgbClr val="162029"/>
                          </a:solidFill>
                          <a:latin typeface="Arial"/>
                        </a:rPr>
                        <a:t>Containerized logistics and at-sea payload hosting mirror Marauder's 180-foot ASV with 150MT modular deck. MSC-operated scheduled availabilities book under J998/J999.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162029"/>
                          </a:solidFill>
                          <a:latin typeface="Arial"/>
                        </a:rPr>
                        <a:t>$715M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 i="0" dirty="0">
                          <a:solidFill>
                            <a:sysClr val="windowText" lastClr="000000"/>
                          </a:solidFill>
                          <a:latin typeface="Arial"/>
                        </a:rPr>
                        <a:t>Tier 2: Amphibious connectors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 dirty="0">
                          <a:solidFill>
                            <a:srgbClr val="162029"/>
                          </a:solidFill>
                          <a:latin typeface="Arial"/>
                        </a:rPr>
                        <a:t>LSM, T-LSM, LCU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 dirty="0">
                          <a:solidFill>
                            <a:srgbClr val="162029"/>
                          </a:solidFill>
                          <a:latin typeface="Arial"/>
                        </a:rPr>
                        <a:t>Smaller connector hulls for contested-littoral payload delivery. </a:t>
                      </a:r>
                      <a:r>
                        <a:rPr sz="1000" b="0" i="0">
                          <a:solidFill>
                            <a:srgbClr val="162029"/>
                          </a:solidFill>
                          <a:latin typeface="Arial"/>
                        </a:rPr>
                        <a:t>Programs </a:t>
                      </a:r>
                      <a:r>
                        <a:rPr lang="en-US" sz="1000" b="0" i="0">
                          <a:solidFill>
                            <a:srgbClr val="162029"/>
                          </a:solidFill>
                          <a:latin typeface="Arial"/>
                        </a:rPr>
                        <a:t>relatively </a:t>
                      </a:r>
                      <a:r>
                        <a:rPr sz="1000" b="0" i="0">
                          <a:solidFill>
                            <a:srgbClr val="162029"/>
                          </a:solidFill>
                          <a:latin typeface="Arial"/>
                        </a:rPr>
                        <a:t>early </a:t>
                      </a:r>
                      <a:r>
                        <a:rPr sz="1000" b="0" i="0" dirty="0">
                          <a:solidFill>
                            <a:srgbClr val="162029"/>
                          </a:solidFill>
                          <a:latin typeface="Arial"/>
                        </a:rPr>
                        <a:t>in cycle</a:t>
                      </a:r>
                      <a:r>
                        <a:rPr lang="en-US" sz="1000" b="0" i="0" dirty="0">
                          <a:solidFill>
                            <a:srgbClr val="162029"/>
                          </a:solidFill>
                          <a:latin typeface="Arial"/>
                        </a:rPr>
                        <a:t>.</a:t>
                      </a:r>
                      <a:endParaRPr sz="1000" b="0" i="0" dirty="0">
                        <a:solidFill>
                          <a:srgbClr val="162029"/>
                        </a:solidFill>
                        <a:latin typeface="Arial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162029"/>
                          </a:solidFill>
                          <a:latin typeface="Arial"/>
                        </a:rPr>
                        <a:t>$0M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 i="0" dirty="0">
                          <a:solidFill>
                            <a:sysClr val="windowText" lastClr="000000"/>
                          </a:solidFill>
                          <a:latin typeface="Arial"/>
                        </a:rPr>
                        <a:t>Tier 3: USCG size-class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 dirty="0">
                          <a:solidFill>
                            <a:srgbClr val="162029"/>
                          </a:solidFill>
                          <a:latin typeface="Arial"/>
                        </a:rPr>
                        <a:t>FRC, WPC, WLB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162029"/>
                          </a:solidFill>
                          <a:latin typeface="Arial"/>
                        </a:rPr>
                        <a:t>150-225 ft hulls parallel to Marauder in size and deck-cargo handling. WPC and WLB are the only USCG cutters with material FY2025 MRO spend.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>
                          <a:solidFill>
                            <a:srgbClr val="162029"/>
                          </a:solidFill>
                          <a:latin typeface="Arial"/>
                        </a:rPr>
                        <a:t>$43M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1" i="0" dirty="0">
                          <a:solidFill>
                            <a:srgbClr val="FFFFFF"/>
                          </a:solidFill>
                          <a:latin typeface="Arial"/>
                        </a:rPr>
                        <a:t>Comp-set total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 dirty="0">
                          <a:solidFill>
                            <a:srgbClr val="162029"/>
                          </a:solidFill>
                          <a:latin typeface="Arial"/>
                        </a:rPr>
                        <a:t>14 hull programs across 3 tiers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 dirty="0">
                          <a:solidFill>
                            <a:srgbClr val="162029"/>
                          </a:solidFill>
                          <a:latin typeface="Arial"/>
                        </a:rPr>
                        <a:t>Segment mix: Depot 82%, Port and Technical 14%, HM&amp;E 4%, Combat/Electronics/Nuclear near 0%. See slide 11 for per-hull split.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 i="0" dirty="0">
                          <a:solidFill>
                            <a:srgbClr val="162029"/>
                          </a:solidFill>
                          <a:latin typeface="Arial"/>
                        </a:rPr>
                        <a:t>$758M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6" name="BLD.fleet_reference.callout.mission_fit"/>
          <p:cNvSpPr/>
          <p:nvPr/>
        </p:nvSpPr>
        <p:spPr>
          <a:xfrm>
            <a:off x="8428024" y="2818364"/>
            <a:ext cx="3337560" cy="1414667"/>
          </a:xfrm>
          <a:prstGeom prst="rect">
            <a:avLst/>
          </a:prstGeom>
          <a:solidFill>
            <a:srgbClr val="D8E3EB"/>
          </a:solidFill>
          <a:ln w="9525">
            <a:solidFill>
              <a:srgbClr val="1D4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>
            <a:noAutofit/>
          </a:bodyPr>
          <a:lstStyle/>
          <a:p>
            <a:pPr algn="l">
              <a:buNone/>
            </a:pPr>
            <a:r>
              <a:rPr lang="en-US" sz="1100" b="1" i="0" dirty="0">
                <a:solidFill>
                  <a:srgbClr val="162029"/>
                </a:solidFill>
                <a:latin typeface="Arial"/>
              </a:rPr>
              <a:t>Hull inclusion criteria</a:t>
            </a:r>
            <a:endParaRPr sz="1100" b="1" i="0" dirty="0">
              <a:solidFill>
                <a:srgbClr val="162029"/>
              </a:solidFill>
              <a:latin typeface="Arial"/>
            </a:endParaRPr>
          </a:p>
          <a:p>
            <a:pPr marL="228600" indent="-228600" algn="l">
              <a:buFont typeface="Arial"/>
              <a:buChar char="•"/>
            </a:pPr>
            <a:r>
              <a:rPr sz="1000" b="1" i="0" dirty="0">
                <a:solidFill>
                  <a:srgbClr val="162029"/>
                </a:solidFill>
                <a:latin typeface="Arial"/>
              </a:rPr>
              <a:t>Availability pipeline:</a:t>
            </a:r>
            <a:r>
              <a:rPr sz="1000" b="0" i="0" dirty="0">
                <a:solidFill>
                  <a:srgbClr val="162029"/>
                </a:solidFill>
                <a:latin typeface="Arial"/>
              </a:rPr>
              <a:t> MSC scheduled ROH and mid-term availabilities at MSRA yards, not NAVSEA combatant overhauls.</a:t>
            </a:r>
          </a:p>
          <a:p>
            <a:pPr marL="228600" indent="-228600" algn="l">
              <a:buFont typeface="Arial"/>
              <a:buChar char="•"/>
            </a:pPr>
            <a:r>
              <a:rPr sz="1000" b="1" i="0" dirty="0">
                <a:solidFill>
                  <a:srgbClr val="162029"/>
                </a:solidFill>
                <a:latin typeface="Arial"/>
              </a:rPr>
              <a:t>Crewing:</a:t>
            </a:r>
            <a:r>
              <a:rPr sz="1000" b="0" i="0" dirty="0">
                <a:solidFill>
                  <a:srgbClr val="162029"/>
                </a:solidFill>
                <a:latin typeface="Arial"/>
              </a:rPr>
              <a:t> Civilian mariners and commercial-style sustainment, parallel to Marauder's ASV concept.</a:t>
            </a:r>
          </a:p>
          <a:p>
            <a:pPr marL="228600" indent="-228600" algn="l">
              <a:buFont typeface="Arial"/>
              <a:buChar char="•"/>
            </a:pPr>
            <a:r>
              <a:rPr sz="1000" b="1" i="0" dirty="0">
                <a:solidFill>
                  <a:srgbClr val="162029"/>
                </a:solidFill>
                <a:latin typeface="Arial"/>
              </a:rPr>
              <a:t>Yard pool:</a:t>
            </a:r>
            <a:r>
              <a:rPr sz="1000" b="0" i="0" dirty="0">
                <a:solidFill>
                  <a:srgbClr val="162029"/>
                </a:solidFill>
                <a:latin typeface="Arial"/>
              </a:rPr>
              <a:t> Pierside and MSRA yards, not the four public shipyards.</a:t>
            </a:r>
          </a:p>
        </p:txBody>
      </p:sp>
      <p:sp>
        <p:nvSpPr>
          <p:cNvPr id="309" name="BLD.fleet_reference.footer.main"/>
          <p:cNvSpPr txBox="1"/>
          <p:nvPr/>
        </p:nvSpPr>
        <p:spPr>
          <a:xfrm>
            <a:off x="457200" y="6037783"/>
            <a:ext cx="11308384" cy="502920"/>
          </a:xfrm>
          <a:prstGeom prst="rect">
            <a:avLst/>
          </a:prstGeom>
          <a:noFill/>
        </p:spPr>
        <p:txBody>
          <a:bodyPr wrap="square" lIns="0" tIns="18288" rIns="0" bIns="18288">
            <a:noAutofit/>
          </a:bodyPr>
          <a:lstStyle/>
          <a:p>
            <a:pPr algn="l">
              <a:buNone/>
            </a:pPr>
            <a:r>
              <a:rPr sz="800" b="0" i="0">
                <a:solidFill>
                  <a:srgbClr val="162029"/>
                </a:solidFill>
                <a:latin typeface="Arial"/>
              </a:rPr>
              <a:t>Sources: (1) FPDS FY2025 contract obligations; (2) MSC fleet disposition; (3) USCG Cutter Fleet inventory; (4) Marauder ASV design envelope; data as of April 2026</a:t>
            </a:r>
          </a:p>
        </p:txBody>
      </p:sp>
      <p:sp>
        <p:nvSpPr>
          <p:cNvPr id="310" name="TextBox 9"/>
          <p:cNvSpPr txBox="1"/>
          <p:nvPr/>
        </p:nvSpPr>
        <p:spPr>
          <a:xfrm>
            <a:off x="452628" y="1434833"/>
            <a:ext cx="54864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i="1" dirty="0"/>
              <a:t>FY2025 Marauder-Like Comp-Set by Mission-Fit Tier ($M)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SAM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Marauder-Like Fleet MRO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45720" tIns="9144" rIns="45720" bIns="9144" anchor="ctr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Marauder-Like Fleet MRO | Marauder-comparable fleet MRO totals $758M, with 82% concentrated in depot ship repair.</a:t>
            </a:r>
          </a:p>
        </p:txBody>
      </p:sp>
      <p:graphicFrame>
        <p:nvGraphicFramePr>
          <p:cNvPr id="40" name="FleetMroMarimekko"/>
          <p:cNvGraphicFramePr/>
          <p:nvPr/>
        </p:nvGraphicFramePr>
        <p:xfrm>
          <a:off x="440000" y="1850000"/>
          <a:ext cx="7460000" cy="37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0" name="VDiv"/>
          <p:cNvSpPr txBox="1"/>
          <p:nvPr/>
        </p:nvSpPr>
        <p:spPr>
          <a:xfrm>
            <a:off x="4432257" y="1906610"/>
            <a:ext cx="9525" cy="35749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1" name="VDiv"/>
          <p:cNvSpPr txBox="1"/>
          <p:nvPr/>
        </p:nvSpPr>
        <p:spPr>
          <a:xfrm>
            <a:off x="6401787" y="1906610"/>
            <a:ext cx="9525" cy="35749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2" name="VDiv"/>
          <p:cNvSpPr txBox="1"/>
          <p:nvPr/>
        </p:nvSpPr>
        <p:spPr>
          <a:xfrm>
            <a:off x="6964509" y="1906610"/>
            <a:ext cx="9525" cy="35749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3" name="VDiv"/>
          <p:cNvSpPr txBox="1"/>
          <p:nvPr/>
        </p:nvSpPr>
        <p:spPr>
          <a:xfrm>
            <a:off x="7527232" y="1906610"/>
            <a:ext cx="9525" cy="35749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4" name="HDiv"/>
          <p:cNvSpPr txBox="1"/>
          <p:nvPr/>
        </p:nvSpPr>
        <p:spPr>
          <a:xfrm>
            <a:off x="814492" y="2473330"/>
            <a:ext cx="3622528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5" name="HDiv"/>
          <p:cNvSpPr txBox="1"/>
          <p:nvPr/>
        </p:nvSpPr>
        <p:spPr>
          <a:xfrm>
            <a:off x="814492" y="2092342"/>
            <a:ext cx="3622528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6" name="HDiv"/>
          <p:cNvSpPr txBox="1"/>
          <p:nvPr/>
        </p:nvSpPr>
        <p:spPr>
          <a:xfrm>
            <a:off x="4437020" y="2574927"/>
            <a:ext cx="1969529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7" name="HDiv"/>
          <p:cNvSpPr txBox="1"/>
          <p:nvPr/>
        </p:nvSpPr>
        <p:spPr>
          <a:xfrm>
            <a:off x="4437020" y="1968520"/>
            <a:ext cx="1969529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8" name="HDiv"/>
          <p:cNvSpPr txBox="1"/>
          <p:nvPr/>
        </p:nvSpPr>
        <p:spPr>
          <a:xfrm>
            <a:off x="6406549" y="3013063"/>
            <a:ext cx="56272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69" name="HDiv"/>
          <p:cNvSpPr txBox="1"/>
          <p:nvPr/>
        </p:nvSpPr>
        <p:spPr>
          <a:xfrm>
            <a:off x="6969272" y="2516191"/>
            <a:ext cx="562722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0" name="HDiv"/>
          <p:cNvSpPr txBox="1"/>
          <p:nvPr/>
        </p:nvSpPr>
        <p:spPr>
          <a:xfrm>
            <a:off x="6969272" y="2012969"/>
            <a:ext cx="562722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1" name="HDiv"/>
          <p:cNvSpPr txBox="1"/>
          <p:nvPr/>
        </p:nvSpPr>
        <p:spPr>
          <a:xfrm>
            <a:off x="7531994" y="2025669"/>
            <a:ext cx="316532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2" name="HDiv"/>
          <p:cNvSpPr txBox="1"/>
          <p:nvPr/>
        </p:nvSpPr>
        <p:spPr>
          <a:xfrm>
            <a:off x="7531994" y="1968520"/>
            <a:ext cx="316532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cxnSp>
        <p:nvCxnSpPr>
          <p:cNvPr id="328" name="Straight Connector 27"/>
          <p:cNvCxnSpPr>
            <a:cxnSpLocks/>
          </p:cNvCxnSpPr>
          <p:nvPr/>
        </p:nvCxnSpPr>
        <p:spPr bwMode="gray">
          <a:xfrm flipH="1" flipV="1">
            <a:off x="7807325" y="1935163"/>
            <a:ext cx="53975" cy="31750"/>
          </a:xfrm>
          <a:prstGeom prst="line">
            <a:avLst/>
          </a:prstGeom>
          <a:ln w="6350" cap="flat" cmpd="sng" algn="ctr">
            <a:solidFill>
              <a:schemeClr val="tx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3" name="Text Placeholder 25"/>
          <p:cNvSpPr>
            <a:spLocks/>
          </p:cNvSpPr>
          <p:nvPr/>
        </p:nvSpPr>
        <p:spPr bwMode="gray">
          <a:xfrm>
            <a:off x="6564313" y="4189413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a typeface="+mj-ea"/>
                <a:cs typeface="+mj-cs"/>
              </a:rPr>
              <a:t>69%</a:t>
            </a:r>
            <a:endParaRPr lang="en-US" sz="800" dirty="0">
              <a:solidFill>
                <a:schemeClr val="bg1"/>
              </a:solidFill>
              <a:ea typeface="+mj-ea"/>
              <a:cs typeface="+mj-cs"/>
            </a:endParaRPr>
          </a:p>
        </p:txBody>
      </p:sp>
      <p:sp>
        <p:nvSpPr>
          <p:cNvPr id="320" name="Text Placeholder 25"/>
          <p:cNvSpPr>
            <a:spLocks/>
          </p:cNvSpPr>
          <p:nvPr/>
        </p:nvSpPr>
        <p:spPr bwMode="gray">
          <a:xfrm>
            <a:off x="2524125" y="1757363"/>
            <a:ext cx="200025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b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a typeface="+mj-ea"/>
                <a:cs typeface="+mj-cs"/>
              </a:rPr>
              <a:t>384</a:t>
            </a:r>
            <a:endParaRPr lang="en-US" sz="800" dirty="0">
              <a:ea typeface="+mj-ea"/>
              <a:cs typeface="+mj-cs"/>
            </a:endParaRPr>
          </a:p>
        </p:txBody>
      </p:sp>
      <p:sp>
        <p:nvSpPr>
          <p:cNvPr id="341" name="Text Placeholder 25"/>
          <p:cNvSpPr>
            <a:spLocks/>
          </p:cNvSpPr>
          <p:nvPr/>
        </p:nvSpPr>
        <p:spPr bwMode="gray">
          <a:xfrm>
            <a:off x="5314950" y="1757363"/>
            <a:ext cx="200025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b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ffectLst/>
                <a:latin typeface="+mj-lt"/>
                <a:ea typeface="+mj-ea"/>
                <a:cs typeface="+mj-cs"/>
              </a:rPr>
              <a:t>208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32" name="Text Placeholder 25"/>
          <p:cNvSpPr>
            <a:spLocks/>
          </p:cNvSpPr>
          <p:nvPr/>
        </p:nvSpPr>
        <p:spPr bwMode="auto">
          <a:xfrm>
            <a:off x="5265738" y="5514975"/>
            <a:ext cx="300038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ffectLst/>
                <a:latin typeface="+mj-lt"/>
                <a:ea typeface="+mj-ea"/>
                <a:cs typeface="+mj-cs"/>
              </a:rPr>
              <a:t>T-AKE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51" name="Text Placeholder 25"/>
          <p:cNvSpPr>
            <a:spLocks/>
          </p:cNvSpPr>
          <p:nvPr/>
        </p:nvSpPr>
        <p:spPr bwMode="gray">
          <a:xfrm>
            <a:off x="7170738" y="1757363"/>
            <a:ext cx="142875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b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a typeface="+mj-ea"/>
                <a:cs typeface="+mj-cs"/>
              </a:rPr>
              <a:t>59</a:t>
            </a:r>
            <a:endParaRPr lang="en-US" sz="800" dirty="0">
              <a:ea typeface="+mj-ea"/>
              <a:cs typeface="+mj-cs"/>
            </a:endParaRPr>
          </a:p>
        </p:txBody>
      </p:sp>
      <p:sp>
        <p:nvSpPr>
          <p:cNvPr id="356" name="Text Placeholder 25"/>
          <p:cNvSpPr>
            <a:spLocks/>
          </p:cNvSpPr>
          <p:nvPr/>
        </p:nvSpPr>
        <p:spPr bwMode="gray">
          <a:xfrm>
            <a:off x="7612063" y="1757363"/>
            <a:ext cx="142875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b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a typeface="+mj-ea"/>
                <a:cs typeface="+mj-cs"/>
              </a:rPr>
              <a:t>35</a:t>
            </a:r>
            <a:endParaRPr lang="en-US" sz="800" dirty="0">
              <a:ea typeface="+mj-ea"/>
              <a:cs typeface="+mj-cs"/>
            </a:endParaRPr>
          </a:p>
        </p:txBody>
      </p:sp>
      <p:sp>
        <p:nvSpPr>
          <p:cNvPr id="347" name="Text Placeholder 25"/>
          <p:cNvSpPr>
            <a:spLocks/>
          </p:cNvSpPr>
          <p:nvPr/>
        </p:nvSpPr>
        <p:spPr bwMode="auto">
          <a:xfrm>
            <a:off x="7096125" y="5514975"/>
            <a:ext cx="293688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a typeface="+mj-ea"/>
                <a:cs typeface="+mj-cs"/>
              </a:rPr>
              <a:t>T-EPF</a:t>
            </a:r>
            <a:endParaRPr lang="en-US" sz="800" dirty="0">
              <a:ea typeface="+mj-ea"/>
              <a:cs typeface="+mj-cs"/>
            </a:endParaRPr>
          </a:p>
        </p:txBody>
      </p:sp>
      <p:sp>
        <p:nvSpPr>
          <p:cNvPr id="307" name="Text Placeholder 25"/>
          <p:cNvSpPr>
            <a:spLocks/>
          </p:cNvSpPr>
          <p:nvPr/>
        </p:nvSpPr>
        <p:spPr bwMode="gray">
          <a:xfrm>
            <a:off x="7154863" y="1901825"/>
            <a:ext cx="1762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a typeface="+mj-ea"/>
                <a:cs typeface="+mj-cs"/>
              </a:rPr>
              <a:t>3%</a:t>
            </a:r>
            <a:endParaRPr lang="en-US" sz="800" dirty="0">
              <a:solidFill>
                <a:schemeClr val="bg1"/>
              </a:solidFill>
              <a:ea typeface="+mj-ea"/>
              <a:cs typeface="+mj-cs"/>
            </a:endParaRPr>
          </a:p>
        </p:txBody>
      </p:sp>
      <p:sp>
        <p:nvSpPr>
          <p:cNvPr id="353" name="Text Placeholder 25"/>
          <p:cNvSpPr>
            <a:spLocks/>
          </p:cNvSpPr>
          <p:nvPr/>
        </p:nvSpPr>
        <p:spPr bwMode="gray">
          <a:xfrm>
            <a:off x="7567613" y="3695700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a typeface="+mj-ea"/>
                <a:cs typeface="+mj-cs"/>
              </a:rPr>
              <a:t>97%</a:t>
            </a:r>
            <a:endParaRPr lang="en-US" sz="800" dirty="0">
              <a:solidFill>
                <a:schemeClr val="bg1"/>
              </a:solidFill>
              <a:ea typeface="+mj-ea"/>
              <a:cs typeface="+mj-cs"/>
            </a:endParaRPr>
          </a:p>
        </p:txBody>
      </p:sp>
      <p:sp>
        <p:nvSpPr>
          <p:cNvPr id="308" name="Text Placeholder 25"/>
          <p:cNvSpPr>
            <a:spLocks/>
          </p:cNvSpPr>
          <p:nvPr/>
        </p:nvSpPr>
        <p:spPr bwMode="gray">
          <a:xfrm>
            <a:off x="7126288" y="3940175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a typeface="+mj-ea"/>
                <a:cs typeface="+mj-cs"/>
              </a:rPr>
              <a:t>83%</a:t>
            </a:r>
            <a:endParaRPr lang="en-US" sz="800" dirty="0">
              <a:solidFill>
                <a:schemeClr val="bg1"/>
              </a:solidFill>
              <a:ea typeface="+mj-ea"/>
              <a:cs typeface="+mj-cs"/>
            </a:endParaRPr>
          </a:p>
        </p:txBody>
      </p:sp>
      <p:sp>
        <p:nvSpPr>
          <p:cNvPr id="309" name="Text Placeholder 25"/>
          <p:cNvSpPr>
            <a:spLocks/>
          </p:cNvSpPr>
          <p:nvPr/>
        </p:nvSpPr>
        <p:spPr bwMode="gray">
          <a:xfrm>
            <a:off x="7596188" y="1936750"/>
            <a:ext cx="176213" cy="122238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a typeface="+mj-ea"/>
                <a:cs typeface="+mj-cs"/>
              </a:rPr>
              <a:t>2%</a:t>
            </a:r>
            <a:endParaRPr lang="en-US" sz="800" dirty="0">
              <a:solidFill>
                <a:schemeClr val="bg1"/>
              </a:solidFill>
              <a:ea typeface="+mj-ea"/>
              <a:cs typeface="+mj-cs"/>
            </a:endParaRPr>
          </a:p>
        </p:txBody>
      </p:sp>
      <p:sp>
        <p:nvSpPr>
          <p:cNvPr id="342" name="Text Placeholder 25"/>
          <p:cNvSpPr>
            <a:spLocks/>
          </p:cNvSpPr>
          <p:nvPr/>
        </p:nvSpPr>
        <p:spPr bwMode="auto">
          <a:xfrm>
            <a:off x="6578600" y="5514975"/>
            <a:ext cx="204788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a typeface="+mj-ea"/>
                <a:cs typeface="+mj-cs"/>
              </a:rPr>
              <a:t>ESB</a:t>
            </a:r>
            <a:endParaRPr lang="en-US" sz="800" dirty="0">
              <a:ea typeface="+mj-ea"/>
              <a:cs typeface="+mj-cs"/>
            </a:endParaRPr>
          </a:p>
        </p:txBody>
      </p:sp>
      <p:sp>
        <p:nvSpPr>
          <p:cNvPr id="340" name="Text Placeholder 25"/>
          <p:cNvSpPr>
            <a:spLocks/>
          </p:cNvSpPr>
          <p:nvPr/>
        </p:nvSpPr>
        <p:spPr bwMode="gray">
          <a:xfrm>
            <a:off x="5299075" y="2216150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ffectLst/>
                <a:latin typeface="+mj-lt"/>
                <a:ea typeface="+mj-ea"/>
                <a:cs typeface="+mj-cs"/>
              </a:rPr>
              <a:t>17%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55" name="Text Placeholder 25"/>
          <p:cNvSpPr>
            <a:spLocks/>
          </p:cNvSpPr>
          <p:nvPr/>
        </p:nvSpPr>
        <p:spPr bwMode="gray">
          <a:xfrm>
            <a:off x="7861300" y="1906588"/>
            <a:ext cx="1762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a typeface="+mj-ea"/>
                <a:cs typeface="+mj-cs"/>
              </a:rPr>
              <a:t>2%</a:t>
            </a:r>
            <a:endParaRPr lang="en-US" sz="800" dirty="0">
              <a:ea typeface="+mj-ea"/>
              <a:cs typeface="+mj-cs"/>
            </a:endParaRPr>
          </a:p>
        </p:txBody>
      </p:sp>
      <p:sp>
        <p:nvSpPr>
          <p:cNvPr id="345" name="Text Placeholder 25"/>
          <p:cNvSpPr>
            <a:spLocks/>
          </p:cNvSpPr>
          <p:nvPr/>
        </p:nvSpPr>
        <p:spPr bwMode="gray">
          <a:xfrm>
            <a:off x="6564313" y="2401888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a typeface="+mj-ea"/>
                <a:cs typeface="+mj-cs"/>
              </a:rPr>
              <a:t>31%</a:t>
            </a:r>
            <a:endParaRPr lang="en-US" sz="800" dirty="0">
              <a:solidFill>
                <a:schemeClr val="bg1"/>
              </a:solidFill>
              <a:ea typeface="+mj-ea"/>
              <a:cs typeface="+mj-cs"/>
            </a:endParaRPr>
          </a:p>
        </p:txBody>
      </p:sp>
      <p:sp>
        <p:nvSpPr>
          <p:cNvPr id="334" name="Text Placeholder 25"/>
          <p:cNvSpPr>
            <a:spLocks/>
          </p:cNvSpPr>
          <p:nvPr/>
        </p:nvSpPr>
        <p:spPr bwMode="gray">
          <a:xfrm>
            <a:off x="5327650" y="1879600"/>
            <a:ext cx="176213" cy="122238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ffectLst/>
                <a:latin typeface="+mj-lt"/>
                <a:ea typeface="+mj-ea"/>
                <a:cs typeface="+mj-cs"/>
              </a:rPr>
              <a:t>2%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33" name="Text Placeholder 25"/>
          <p:cNvSpPr>
            <a:spLocks/>
          </p:cNvSpPr>
          <p:nvPr/>
        </p:nvSpPr>
        <p:spPr bwMode="gray">
          <a:xfrm>
            <a:off x="5299075" y="3970338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ffectLst/>
                <a:latin typeface="+mj-lt"/>
                <a:ea typeface="+mj-ea"/>
                <a:cs typeface="+mj-cs"/>
              </a:rPr>
              <a:t>81%</a:t>
            </a:r>
            <a:endParaRPr lang="en-US" sz="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05" name="Text Placeholder 25"/>
          <p:cNvSpPr>
            <a:spLocks/>
          </p:cNvSpPr>
          <p:nvPr/>
        </p:nvSpPr>
        <p:spPr bwMode="auto">
          <a:xfrm>
            <a:off x="2503488" y="5514975"/>
            <a:ext cx="242888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a typeface="+mj-ea"/>
                <a:cs typeface="+mj-cs"/>
              </a:rPr>
              <a:t>T-AO</a:t>
            </a:r>
            <a:endParaRPr lang="en-US" sz="800" dirty="0">
              <a:ea typeface="+mj-ea"/>
              <a:cs typeface="+mj-cs"/>
            </a:endParaRPr>
          </a:p>
        </p:txBody>
      </p:sp>
      <p:sp>
        <p:nvSpPr>
          <p:cNvPr id="319" name="Text Placeholder 25"/>
          <p:cNvSpPr>
            <a:spLocks/>
          </p:cNvSpPr>
          <p:nvPr/>
        </p:nvSpPr>
        <p:spPr bwMode="gray">
          <a:xfrm>
            <a:off x="2508250" y="2227263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a typeface="+mj-ea"/>
                <a:cs typeface="+mj-cs"/>
              </a:rPr>
              <a:t>11%</a:t>
            </a:r>
            <a:endParaRPr lang="en-US" sz="800" dirty="0">
              <a:solidFill>
                <a:schemeClr val="bg1"/>
              </a:solidFill>
              <a:ea typeface="+mj-ea"/>
              <a:cs typeface="+mj-cs"/>
            </a:endParaRPr>
          </a:p>
        </p:txBody>
      </p:sp>
      <p:sp>
        <p:nvSpPr>
          <p:cNvPr id="318" name="Text Placeholder 25"/>
          <p:cNvSpPr>
            <a:spLocks/>
          </p:cNvSpPr>
          <p:nvPr/>
        </p:nvSpPr>
        <p:spPr bwMode="gray">
          <a:xfrm>
            <a:off x="2536825" y="1941513"/>
            <a:ext cx="1762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a typeface="+mj-ea"/>
                <a:cs typeface="+mj-cs"/>
              </a:rPr>
              <a:t>5%</a:t>
            </a:r>
            <a:endParaRPr lang="en-US" sz="800" dirty="0">
              <a:solidFill>
                <a:schemeClr val="bg1"/>
              </a:solidFill>
              <a:ea typeface="+mj-ea"/>
              <a:cs typeface="+mj-cs"/>
            </a:endParaRPr>
          </a:p>
        </p:txBody>
      </p:sp>
      <p:sp>
        <p:nvSpPr>
          <p:cNvPr id="317" name="Text Placeholder 25"/>
          <p:cNvSpPr>
            <a:spLocks/>
          </p:cNvSpPr>
          <p:nvPr/>
        </p:nvSpPr>
        <p:spPr bwMode="gray">
          <a:xfrm>
            <a:off x="2508250" y="3919538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a typeface="+mj-ea"/>
                <a:cs typeface="+mj-cs"/>
              </a:rPr>
              <a:t>84%</a:t>
            </a:r>
            <a:endParaRPr lang="en-US" sz="800" dirty="0">
              <a:solidFill>
                <a:schemeClr val="bg1"/>
              </a:solidFill>
              <a:ea typeface="+mj-ea"/>
              <a:cs typeface="+mj-cs"/>
            </a:endParaRPr>
          </a:p>
        </p:txBody>
      </p:sp>
      <p:sp>
        <p:nvSpPr>
          <p:cNvPr id="352" name="Text Placeholder 25"/>
          <p:cNvSpPr>
            <a:spLocks/>
          </p:cNvSpPr>
          <p:nvPr/>
        </p:nvSpPr>
        <p:spPr bwMode="auto">
          <a:xfrm>
            <a:off x="7566025" y="5514975"/>
            <a:ext cx="236538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a typeface="+mj-ea"/>
                <a:cs typeface="+mj-cs"/>
              </a:rPr>
              <a:t>WPC</a:t>
            </a:r>
            <a:endParaRPr lang="en-US" sz="800" dirty="0">
              <a:ea typeface="+mj-ea"/>
              <a:cs typeface="+mj-cs"/>
            </a:endParaRPr>
          </a:p>
        </p:txBody>
      </p:sp>
      <p:sp>
        <p:nvSpPr>
          <p:cNvPr id="306" name="Text Placeholder 25"/>
          <p:cNvSpPr>
            <a:spLocks/>
          </p:cNvSpPr>
          <p:nvPr/>
        </p:nvSpPr>
        <p:spPr bwMode="gray">
          <a:xfrm>
            <a:off x="7126288" y="2208213"/>
            <a:ext cx="23336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ctr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solidFill>
                  <a:schemeClr val="bg1"/>
                </a:solidFill>
                <a:ea typeface="+mj-ea"/>
                <a:cs typeface="+mj-cs"/>
              </a:rPr>
              <a:t>14%</a:t>
            </a:r>
            <a:endParaRPr lang="en-US" sz="800" dirty="0">
              <a:solidFill>
                <a:schemeClr val="bg1"/>
              </a:solidFill>
              <a:ea typeface="+mj-ea"/>
              <a:cs typeface="+mj-cs"/>
            </a:endParaRPr>
          </a:p>
        </p:txBody>
      </p:sp>
      <p:sp>
        <p:nvSpPr>
          <p:cNvPr id="346" name="Text Placeholder 25"/>
          <p:cNvSpPr>
            <a:spLocks/>
          </p:cNvSpPr>
          <p:nvPr/>
        </p:nvSpPr>
        <p:spPr bwMode="gray">
          <a:xfrm>
            <a:off x="6608763" y="1757363"/>
            <a:ext cx="142875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14288" tIns="0" rIns="14288" bIns="0" rtlCol="0" anchor="b">
            <a:noAutofit/>
          </a:bodyPr>
          <a:lstStyle/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a typeface="+mj-ea"/>
                <a:cs typeface="+mj-cs"/>
              </a:rPr>
              <a:t>60</a:t>
            </a:r>
            <a:endParaRPr lang="en-US" sz="800" dirty="0">
              <a:ea typeface="+mj-ea"/>
              <a:cs typeface="+mj-cs"/>
            </a:endParaRPr>
          </a:p>
        </p:txBody>
      </p:sp>
      <p:sp>
        <p:nvSpPr>
          <p:cNvPr id="451" name="Rectangle 150"/>
          <p:cNvSpPr/>
          <p:nvPr/>
        </p:nvSpPr>
        <p:spPr bwMode="auto">
          <a:xfrm>
            <a:off x="3244850" y="1422400"/>
            <a:ext cx="142875" cy="106363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2" name="Rectangle 151"/>
          <p:cNvSpPr/>
          <p:nvPr/>
        </p:nvSpPr>
        <p:spPr bwMode="auto">
          <a:xfrm>
            <a:off x="4375150" y="1422400"/>
            <a:ext cx="142875" cy="106363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3" name="Rectangle 152"/>
          <p:cNvSpPr/>
          <p:nvPr/>
        </p:nvSpPr>
        <p:spPr bwMode="auto">
          <a:xfrm>
            <a:off x="6345238" y="1422400"/>
            <a:ext cx="142875" cy="106363"/>
          </a:xfrm>
          <a:prstGeom prst="rect">
            <a:avLst/>
          </a:prstGeom>
          <a:solidFill>
            <a:schemeClr val="accent3"/>
          </a:solidFill>
          <a:ln w="9525" cap="flat" cmpd="sng" algn="ctr">
            <a:solidFill>
              <a:schemeClr val="bg1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2" name="Text Placeholder 25"/>
          <p:cNvSpPr>
            <a:spLocks/>
          </p:cNvSpPr>
          <p:nvPr/>
        </p:nvSpPr>
        <p:spPr bwMode="auto">
          <a:xfrm>
            <a:off x="3438525" y="1417638"/>
            <a:ext cx="835025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/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ffectLst/>
                <a:latin typeface="+mj-lt"/>
                <a:ea typeface="+mj-ea"/>
                <a:cs typeface="+mj-cs"/>
              </a:rPr>
              <a:t>Depot Ship Repair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73" name="Text Placeholder 25"/>
          <p:cNvSpPr>
            <a:spLocks/>
          </p:cNvSpPr>
          <p:nvPr/>
        </p:nvSpPr>
        <p:spPr bwMode="auto">
          <a:xfrm>
            <a:off x="4568825" y="1417638"/>
            <a:ext cx="1674813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/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ffectLst/>
                <a:latin typeface="+mj-lt"/>
                <a:ea typeface="+mj-ea"/>
                <a:cs typeface="+mj-cs"/>
              </a:rPr>
              <a:t>Hull, Mechanical &amp; Electrical (HM&amp;E)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374" name="Text Placeholder 25"/>
          <p:cNvSpPr>
            <a:spLocks/>
          </p:cNvSpPr>
          <p:nvPr/>
        </p:nvSpPr>
        <p:spPr bwMode="auto">
          <a:xfrm>
            <a:off x="6538913" y="1417638"/>
            <a:ext cx="1168400" cy="1222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0" rIns="0" bIns="0" rtlCol="0" anchor="ctr">
            <a:noAutofit/>
          </a:bodyPr>
          <a:lstStyle/>
          <a:p>
            <a:pPr marL="0" lvl="0" inden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00">
                <a:effectLst/>
                <a:latin typeface="+mj-lt"/>
                <a:ea typeface="+mj-ea"/>
                <a:cs typeface="+mj-cs"/>
              </a:rPr>
              <a:t>Port &amp; Technical Services</a:t>
            </a:r>
            <a:endParaRPr lang="en-US" sz="800" dirty="0">
              <a:latin typeface="+mj-lt"/>
              <a:ea typeface="+mj-ea"/>
              <a:cs typeface="+mj-cs"/>
            </a:endParaRPr>
          </a:p>
        </p:txBody>
      </p:sp>
      <p:sp>
        <p:nvSpPr>
          <p:cNvPr id="546" name="BLD.marauder_like_fleet_mro.footer.main"/>
          <p:cNvSpPr txBox="1"/>
          <p:nvPr/>
        </p:nvSpPr>
        <p:spPr>
          <a:xfrm>
            <a:off x="457200" y="6116439"/>
            <a:ext cx="11308384" cy="502920"/>
          </a:xfrm>
          <a:prstGeom prst="rect">
            <a:avLst/>
          </a:prstGeom>
          <a:noFill/>
        </p:spPr>
        <p:txBody>
          <a:bodyPr wrap="square" lIns="0" tIns="18288" rIns="0" bIns="18288">
            <a:noAutofit/>
          </a:bodyPr>
          <a:lstStyle/>
          <a:p>
            <a:pPr algn="l">
              <a:buNone/>
            </a:pPr>
            <a:r>
              <a:rPr sz="800" b="0" i="0" dirty="0">
                <a:solidFill>
                  <a:srgbClr val="162029"/>
                </a:solidFill>
                <a:latin typeface="Arial"/>
              </a:rPr>
              <a:t>Sources: (1) FPDS FY2025 contract obligations; data as of April 2026</a:t>
            </a:r>
          </a:p>
        </p:txBody>
      </p:sp>
      <p:sp>
        <p:nvSpPr>
          <p:cNvPr id="302" name="BLD.marauder_like_fleet_mro.callout.dollar_composition"/>
          <p:cNvSpPr/>
          <p:nvPr/>
        </p:nvSpPr>
        <p:spPr>
          <a:xfrm>
            <a:off x="8166101" y="2354481"/>
            <a:ext cx="3573461" cy="363176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lang="en-US" sz="1000" b="1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Primary MRO work types for Marauder-like vessels</a:t>
            </a:r>
            <a:endParaRPr sz="1000" b="1" dirty="0">
              <a:solidFill>
                <a:srgbClr val="1620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000" b="1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Depot Ship Repair: </a:t>
            </a:r>
            <a:r>
              <a:rPr sz="1000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$623M (82%). MSC ROH and mid-term availabilities at MSRA yards, booked under J998/J999.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000" b="1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Port and Technical: </a:t>
            </a:r>
            <a:r>
              <a:rPr sz="1000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$107M (14%). Husbanding, </a:t>
            </a:r>
            <a:r>
              <a:rPr sz="1000" dirty="0" err="1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pierside</a:t>
            </a:r>
            <a:r>
              <a:rPr sz="1000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tech reps, logistics support services.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000" b="1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HM&amp;E: </a:t>
            </a:r>
            <a:r>
              <a:rPr sz="1000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$28M (4%). Hull, mechanical, and electrical sustainment contracts outside the depot envelope.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000" b="1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Combat, Electronics, Nuclear: </a:t>
            </a:r>
            <a:r>
              <a:rPr lang="en-US" sz="1000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Minimal. </a:t>
            </a:r>
            <a:r>
              <a:rPr sz="1000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MSC and USCG hulls do not carry the combat system load or nuclear overhaul stream that DDG and SSN fleets do.</a:t>
            </a:r>
            <a:endParaRPr lang="en-US" sz="1000" dirty="0">
              <a:solidFill>
                <a:srgbClr val="1620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dirty="0">
              <a:solidFill>
                <a:srgbClr val="1620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Hull concentration</a:t>
            </a:r>
          </a:p>
          <a:p>
            <a:pPr marL="228600" indent="-228600">
              <a:buFont typeface="Arial"/>
              <a:buChar char="•"/>
            </a:pPr>
            <a:r>
              <a:rPr lang="en-US" sz="1000" b="1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T-AO oilers: </a:t>
            </a:r>
            <a:r>
              <a:rPr lang="en-US" sz="1000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$384M (51% of comp-set). Largest single hull program by far.</a:t>
            </a:r>
          </a:p>
          <a:p>
            <a:pPr marL="228600" indent="-228600">
              <a:buFont typeface="Arial"/>
              <a:buChar char="•"/>
            </a:pPr>
            <a:r>
              <a:rPr lang="en-US" sz="1000" b="1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T-AKE dry cargo: </a:t>
            </a:r>
            <a:r>
              <a:rPr lang="en-US" sz="1000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$208M (27%). MSC Lewis and Clark class.</a:t>
            </a:r>
          </a:p>
          <a:p>
            <a:pPr marL="228600" indent="-228600">
              <a:buFont typeface="Arial"/>
              <a:buChar char="•"/>
            </a:pPr>
            <a:r>
              <a:rPr lang="en-US" sz="1000" b="1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ESB and T-ESB: </a:t>
            </a:r>
            <a:r>
              <a:rPr lang="en-US" sz="1000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$64M combined (8%).</a:t>
            </a:r>
          </a:p>
          <a:p>
            <a:pPr marL="228600" indent="-228600">
              <a:buFont typeface="Arial"/>
              <a:buChar char="•"/>
            </a:pPr>
            <a:r>
              <a:rPr lang="en-US" sz="1000" b="1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T-EPF expeditionary fast transport: </a:t>
            </a:r>
            <a:r>
              <a:rPr lang="en-US" sz="1000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$59M (8%).</a:t>
            </a:r>
          </a:p>
          <a:p>
            <a:pPr marL="228600" indent="-228600">
              <a:buFont typeface="Arial"/>
              <a:buChar char="•"/>
            </a:pPr>
            <a:r>
              <a:rPr lang="en-US" sz="1000" b="1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WPC and WLB cutters: </a:t>
            </a:r>
            <a:r>
              <a:rPr lang="en-US" sz="1000" dirty="0">
                <a:solidFill>
                  <a:srgbClr val="1620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$43M combined (6%). Only USCG hulls with material FY2025 spend.</a:t>
            </a:r>
          </a:p>
          <a:p>
            <a:endParaRPr lang="en-US" sz="1000" dirty="0">
              <a:solidFill>
                <a:srgbClr val="1620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dirty="0">
              <a:solidFill>
                <a:srgbClr val="1620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0" name="Rectangle 29"/>
          <p:cNvSpPr/>
          <p:nvPr/>
        </p:nvSpPr>
        <p:spPr>
          <a:xfrm>
            <a:off x="452438" y="1552407"/>
            <a:ext cx="3879849" cy="27543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fontAlgn="t">
              <a:defRPr/>
            </a:pPr>
            <a:r>
              <a:rPr lang="en-US" sz="800" i="1" dirty="0">
                <a:solidFill>
                  <a:schemeClr val="tx1"/>
                </a:solidFill>
              </a:rPr>
              <a:t>FY2025 Marauder-Like Fleet MRO by Hull × Work Segment ($M)</a:t>
            </a:r>
            <a:endParaRPr lang="en-US" sz="8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9" name="Rectangle 68"/>
          <p:cNvSpPr/>
          <p:nvPr/>
        </p:nvSpPr>
        <p:spPr>
          <a:xfrm>
            <a:off x="814386" y="5711206"/>
            <a:ext cx="7043737" cy="274320"/>
          </a:xfrm>
          <a:prstGeom prst="rect">
            <a:avLst/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i="1" dirty="0">
                <a:solidFill>
                  <a:srgbClr val="162029"/>
                </a:solidFill>
              </a:rPr>
              <a:t>Marauder-comparable vessels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BLD.sam_sizing.breadcrumb.main"/>
          <p:cNvSpPr txBox="1"/>
          <p:nvPr/>
        </p:nvSpPr>
        <p:spPr>
          <a:xfrm>
            <a:off x="452628" y="263347"/>
            <a:ext cx="4875580" cy="15361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buNone/>
            </a:pPr>
            <a:r>
              <a:rPr sz="1000" b="1" i="0" dirty="0">
                <a:solidFill>
                  <a:srgbClr val="44505C"/>
                </a:solidFill>
                <a:latin typeface="Arial"/>
              </a:rPr>
              <a:t>SAM</a:t>
            </a:r>
            <a:r>
              <a:rPr sz="1000" b="0" i="0" dirty="0">
                <a:solidFill>
                  <a:srgbClr val="44505C"/>
                </a:solidFill>
                <a:latin typeface="Arial"/>
              </a:rPr>
              <a:t> / Sizing</a:t>
            </a:r>
          </a:p>
        </p:txBody>
      </p:sp>
      <p:sp>
        <p:nvSpPr>
          <p:cNvPr id="303" name="BLD.sam_sizing.title.main"/>
          <p:cNvSpPr txBox="1"/>
          <p:nvPr/>
        </p:nvSpPr>
        <p:spPr>
          <a:xfrm>
            <a:off x="452628" y="566928"/>
            <a:ext cx="11282781" cy="6400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buNone/>
            </a:pPr>
            <a:r>
              <a:rPr sz="2000" b="0" i="0" dirty="0">
                <a:solidFill>
                  <a:srgbClr val="162029"/>
                </a:solidFill>
                <a:latin typeface="Arial"/>
              </a:rPr>
              <a:t>SAM Sizing | Intersecting the Marauder-comparable fleet with depot ship repair sizes SAM at </a:t>
            </a:r>
            <a:r>
              <a:rPr lang="en-US" sz="2000" b="0" i="0" dirty="0">
                <a:solidFill>
                  <a:srgbClr val="162029"/>
                </a:solidFill>
                <a:latin typeface="Arial"/>
              </a:rPr>
              <a:t>~</a:t>
            </a:r>
            <a:r>
              <a:rPr sz="2000" b="0" i="0" dirty="0">
                <a:solidFill>
                  <a:srgbClr val="162029"/>
                </a:solidFill>
                <a:latin typeface="Arial"/>
              </a:rPr>
              <a:t>$623M, </a:t>
            </a:r>
            <a:r>
              <a:rPr lang="en-US" sz="2000" b="0" i="0" dirty="0">
                <a:solidFill>
                  <a:srgbClr val="162029"/>
                </a:solidFill>
                <a:latin typeface="Arial"/>
              </a:rPr>
              <a:t>~</a:t>
            </a:r>
            <a:r>
              <a:rPr lang="en-US" sz="2000" dirty="0">
                <a:solidFill>
                  <a:srgbClr val="162029"/>
                </a:solidFill>
                <a:latin typeface="Arial"/>
              </a:rPr>
              <a:t>7</a:t>
            </a:r>
            <a:r>
              <a:rPr sz="2000" b="0" i="0" dirty="0">
                <a:solidFill>
                  <a:srgbClr val="162029"/>
                </a:solidFill>
                <a:latin typeface="Arial"/>
              </a:rPr>
              <a:t>% of TAM.</a:t>
            </a:r>
          </a:p>
        </p:txBody>
      </p:sp>
      <p:sp>
        <p:nvSpPr>
          <p:cNvPr id="304" name="BLD.sam_sizing.prelim.main"/>
          <p:cNvSpPr/>
          <p:nvPr/>
        </p:nvSpPr>
        <p:spPr>
          <a:xfrm>
            <a:off x="10232136" y="111556"/>
            <a:ext cx="1467612" cy="265176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>
            <a:noAutofit/>
          </a:bodyPr>
          <a:lstStyle/>
          <a:p>
            <a:pPr algn="ctr">
              <a:buNone/>
            </a:pPr>
            <a:r>
              <a:rPr sz="1200" b="1" i="0">
                <a:solidFill>
                  <a:srgbClr val="000000"/>
                </a:solidFill>
                <a:latin typeface="Arial"/>
              </a:rPr>
              <a:t>Preliminary</a:t>
            </a:r>
          </a:p>
        </p:txBody>
      </p:sp>
      <p:sp>
        <p:nvSpPr>
          <p:cNvPr id="309" name="BLD.sam_sizing.footer.main"/>
          <p:cNvSpPr txBox="1"/>
          <p:nvPr/>
        </p:nvSpPr>
        <p:spPr>
          <a:xfrm>
            <a:off x="457200" y="6037783"/>
            <a:ext cx="11308384" cy="360273"/>
          </a:xfrm>
          <a:prstGeom prst="rect">
            <a:avLst/>
          </a:prstGeom>
          <a:noFill/>
        </p:spPr>
        <p:txBody>
          <a:bodyPr wrap="square" lIns="0" tIns="18288" rIns="0" bIns="18288">
            <a:noAutofit/>
          </a:bodyPr>
          <a:lstStyle/>
          <a:p>
            <a:pPr algn="l">
              <a:buNone/>
            </a:pPr>
            <a:r>
              <a:rPr sz="800" b="0" i="0">
                <a:solidFill>
                  <a:srgbClr val="162029"/>
                </a:solidFill>
                <a:latin typeface="Arial"/>
              </a:rPr>
              <a:t>Sources: (1) FPDS FY2025 contract obligations; data as of April 2026</a:t>
            </a:r>
          </a:p>
        </p:txBody>
      </p:sp>
      <p:sp>
        <p:nvSpPr>
          <p:cNvPr id="310" name="Rectangle 12"/>
          <p:cNvSpPr/>
          <p:nvPr/>
        </p:nvSpPr>
        <p:spPr>
          <a:xfrm>
            <a:off x="769908" y="1518814"/>
            <a:ext cx="4279392" cy="566928"/>
          </a:xfrm>
          <a:prstGeom prst="rect">
            <a:avLst/>
          </a:prstGeom>
          <a:solidFill>
            <a:srgbClr val="E2E9EF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000000"/>
                </a:solidFill>
                <a:latin typeface="+mj-lt"/>
              </a:rPr>
              <a:t>MRO TAM</a:t>
            </a:r>
          </a:p>
          <a:p>
            <a:pPr algn="ctr"/>
            <a:r>
              <a:rPr lang="en-US" sz="1000" i="1" dirty="0">
                <a:solidFill>
                  <a:srgbClr val="000000"/>
                </a:solidFill>
                <a:latin typeface="+mj-lt"/>
              </a:rPr>
              <a:t>FY2025 Navy + USCG services obligations. $8,971M total.</a:t>
            </a:r>
          </a:p>
        </p:txBody>
      </p:sp>
      <p:sp>
        <p:nvSpPr>
          <p:cNvPr id="311" name="Rectangle 26"/>
          <p:cNvSpPr/>
          <p:nvPr/>
        </p:nvSpPr>
        <p:spPr>
          <a:xfrm>
            <a:off x="769908" y="2649313"/>
            <a:ext cx="4279392" cy="566928"/>
          </a:xfrm>
          <a:prstGeom prst="rect">
            <a:avLst/>
          </a:prstGeom>
          <a:solidFill>
            <a:srgbClr val="B6C8D8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Depot Ship Repair</a:t>
            </a:r>
          </a:p>
          <a:p>
            <a:pPr algn="ctr"/>
            <a:r>
              <a:rPr lang="en-US" sz="1000" i="1" dirty="0">
                <a:solidFill>
                  <a:schemeClr val="tx1"/>
                </a:solidFill>
              </a:rPr>
              <a:t>$4,781M. 53% of TAM. PSCs J998 (scheduled) + J999 (unscheduled) ship repair.</a:t>
            </a:r>
          </a:p>
        </p:txBody>
      </p:sp>
      <p:sp>
        <p:nvSpPr>
          <p:cNvPr id="312" name="Rectangle 32"/>
          <p:cNvSpPr/>
          <p:nvPr/>
        </p:nvSpPr>
        <p:spPr>
          <a:xfrm>
            <a:off x="769908" y="3779812"/>
            <a:ext cx="4279392" cy="566928"/>
          </a:xfrm>
          <a:prstGeom prst="rect">
            <a:avLst/>
          </a:prstGeom>
          <a:solidFill>
            <a:srgbClr val="3D5972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Marauder-like Fleet MRO</a:t>
            </a:r>
          </a:p>
          <a:p>
            <a:pPr algn="ctr"/>
            <a:r>
              <a:rPr lang="en-US" sz="1000" i="1" dirty="0"/>
              <a:t>$758M. 8% of TAM. 14-hull comp-set across all 6 work segments (reference).</a:t>
            </a:r>
            <a:endParaRPr lang="en-US" sz="1000" b="1" dirty="0"/>
          </a:p>
        </p:txBody>
      </p:sp>
      <p:sp>
        <p:nvSpPr>
          <p:cNvPr id="313" name="Rectangle 18"/>
          <p:cNvSpPr/>
          <p:nvPr/>
        </p:nvSpPr>
        <p:spPr>
          <a:xfrm>
            <a:off x="769908" y="4910310"/>
            <a:ext cx="4279392" cy="566928"/>
          </a:xfrm>
          <a:prstGeom prst="rect">
            <a:avLst/>
          </a:prstGeom>
          <a:solidFill>
            <a:srgbClr val="263746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Arial (Body)"/>
              </a:rPr>
              <a:t>SAM = $623M</a:t>
            </a:r>
          </a:p>
        </p:txBody>
      </p:sp>
      <p:cxnSp>
        <p:nvCxnSpPr>
          <p:cNvPr id="314" name="Straight Arrow Connector 19"/>
          <p:cNvCxnSpPr>
            <a:cxnSpLocks/>
          </p:cNvCxnSpPr>
          <p:nvPr/>
        </p:nvCxnSpPr>
        <p:spPr>
          <a:xfrm>
            <a:off x="2909604" y="2085742"/>
            <a:ext cx="0" cy="563571"/>
          </a:xfrm>
          <a:prstGeom prst="straightConnector1">
            <a:avLst/>
          </a:prstGeom>
          <a:ln>
            <a:solidFill>
              <a:srgbClr val="00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Arrow Connector 33"/>
          <p:cNvCxnSpPr>
            <a:cxnSpLocks/>
          </p:cNvCxnSpPr>
          <p:nvPr/>
        </p:nvCxnSpPr>
        <p:spPr>
          <a:xfrm>
            <a:off x="2909604" y="3238508"/>
            <a:ext cx="0" cy="541304"/>
          </a:xfrm>
          <a:prstGeom prst="straightConnector1">
            <a:avLst/>
          </a:prstGeom>
          <a:ln>
            <a:solidFill>
              <a:srgbClr val="00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Arrow Connector 20"/>
          <p:cNvCxnSpPr>
            <a:cxnSpLocks/>
          </p:cNvCxnSpPr>
          <p:nvPr/>
        </p:nvCxnSpPr>
        <p:spPr>
          <a:xfrm>
            <a:off x="2909604" y="4346740"/>
            <a:ext cx="0" cy="563570"/>
          </a:xfrm>
          <a:prstGeom prst="straightConnector1">
            <a:avLst/>
          </a:prstGeom>
          <a:ln>
            <a:solidFill>
              <a:srgbClr val="00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7" name="Rectangle 34"/>
          <p:cNvSpPr/>
          <p:nvPr/>
        </p:nvSpPr>
        <p:spPr>
          <a:xfrm>
            <a:off x="3066457" y="2176483"/>
            <a:ext cx="2488767" cy="38208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fontAlgn="t">
              <a:defRPr/>
            </a:pPr>
            <a:r>
              <a:rPr lang="en-US" sz="100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J998 + J999 depot PSCs only</a:t>
            </a:r>
          </a:p>
        </p:txBody>
      </p:sp>
      <p:sp>
        <p:nvSpPr>
          <p:cNvPr id="318" name="Rectangle 35"/>
          <p:cNvSpPr/>
          <p:nvPr/>
        </p:nvSpPr>
        <p:spPr>
          <a:xfrm>
            <a:off x="3041531" y="3306982"/>
            <a:ext cx="2488767" cy="382089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fontAlgn="t">
              <a:defRPr/>
            </a:pPr>
            <a:r>
              <a:rPr lang="en-US" sz="100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14-hull Marauder-like comp-set</a:t>
            </a:r>
          </a:p>
        </p:txBody>
      </p:sp>
      <p:graphicFrame>
        <p:nvGraphicFramePr>
          <p:cNvPr id="319" name="Table 13"/>
          <p:cNvGraphicFramePr>
            <a:graphicFrameLocks noGrp="1"/>
          </p:cNvGraphicFramePr>
          <p:nvPr/>
        </p:nvGraphicFramePr>
        <p:xfrm>
          <a:off x="6013654" y="1908126"/>
          <a:ext cx="5721524" cy="3657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98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22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j-lt"/>
                          <a:ea typeface="Inter SemiBold" panose="02000503000000020004" pitchFamily="2" charset="0"/>
                        </a:rPr>
                        <a:t>Note</a:t>
                      </a:r>
                    </a:p>
                  </a:txBody>
                  <a:tcPr marL="45720" marR="45720"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j-lt"/>
                          <a:ea typeface="Inter SemiBold" panose="02000503000000020004" pitchFamily="2" charset="0"/>
                        </a:rPr>
                        <a:t>Detail</a:t>
                      </a:r>
                    </a:p>
                  </a:txBody>
                  <a:tcPr marL="45720" marR="45720" anchor="b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j-lt"/>
                          <a:ea typeface="Inter SemiBold" panose="02000503000000020004" pitchFamily="2" charset="0"/>
                        </a:rPr>
                        <a:t>SAM</a:t>
                      </a:r>
                    </a:p>
                  </a:txBody>
                  <a:tcPr marL="45720" marR="4572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Serviceable Addressable Market: depot ship repair spend on Marauder-type platforms, per the Definitions slide.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50800" marT="88900" marB="889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Comp-set</a:t>
                      </a:r>
                      <a:endParaRPr lang="en-US" sz="12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14 hull programs across 3 mission-fit tiers (slide 10). Combat logistics and MSC primary: T-EPF, T-AKE, T-AO, T-ESB, T-ESD. Amphibious connectors: LSM, LCU. USCG size-class: FRC, WPC, WLB.</a:t>
                      </a:r>
                      <a:endParaRPr lang="en-US" sz="1200" b="0" baseline="3000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000000"/>
                          </a:solidFill>
                          <a:latin typeface="+mj-lt"/>
                          <a:ea typeface="Inter SemiBold" panose="02000503000000020004" pitchFamily="2" charset="0"/>
                        </a:rPr>
                        <a:t>Derivation</a:t>
                      </a: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FY2025 FPDS contract obligations, filtered to depot PSCs (J998, J999) intersected with the 14-hull Marauder comp-set. 82% of comp-set MRO lands in depot because MSC auxiliaries book scheduled ROH and mid-term availabilities at MSRA yards under those PSCs.</a:t>
                      </a: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j-lt"/>
                          <a:ea typeface="Inter SemiBold" panose="02000503000000020004" pitchFamily="2" charset="0"/>
                        </a:rPr>
                        <a:t>Out of scope</a:t>
                      </a:r>
                      <a:endParaRPr lang="en-US" sz="1200" b="0" i="1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</a:endParaRP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Non-depot work on the comp-set ($135M: HM&amp;E, Port and Technical, Combat and Electronics and Nuclear). Depot work on non-comp-set hulls ($4,158M: CVN, DDG, SSN/SSBN, and other combatants).</a:t>
                      </a:r>
                      <a:endParaRPr lang="en-US" sz="1200" b="0" kern="1200" baseline="30000" dirty="0">
                        <a:solidFill>
                          <a:srgbClr val="000000"/>
                        </a:solidFill>
                        <a:latin typeface="+mj-lt"/>
                        <a:ea typeface="Inter SemiBold" panose="02000503000000020004" pitchFamily="2" charset="0"/>
                        <a:cs typeface="+mn-cs"/>
                      </a:endParaRPr>
                    </a:p>
                  </a:txBody>
                  <a:tcPr marL="45720" marR="4572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SAM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Contract Vehicles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lIns="45720" tIns="9144" rIns="45720" bIns="9144" anchor="ctr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Contract Vehicles &amp; Qualifications | MSRA and MAC-MO carry ~84% of Navy depot MRO, with Coast Guard cutter repair on a separate USCG track.</a:t>
            </a:r>
          </a:p>
        </p:txBody>
      </p:sp>
      <p:graphicFrame>
        <p:nvGraphicFramePr>
          <p:cNvPr id="305" name="BLD.contract_vehicles.table.table_0"/>
          <p:cNvGraphicFramePr>
            <a:graphicFrameLocks noGrp="1"/>
          </p:cNvGraphicFramePr>
          <p:nvPr/>
        </p:nvGraphicFramePr>
        <p:xfrm>
          <a:off x="452628" y="1612087"/>
          <a:ext cx="6858000" cy="44714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>
                          <a:solidFill>
                            <a:srgbClr val="162029"/>
                          </a:solidFill>
                          <a:latin typeface="Arial"/>
                        </a:rPr>
                        <a:t>Vehicle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Arial"/>
                        </a:rPr>
                        <a:t>Qualification requirements</a:t>
                      </a:r>
                    </a:p>
                  </a:txBody>
                  <a:tcPr marL="45720" marR="45720" anchor="ctr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D8E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Arial"/>
                        </a:rPr>
                        <a:t>Typical POP/ceiling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ACC4D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00" b="1" i="0" dirty="0">
                          <a:solidFill>
                            <a:srgbClr val="FFFFFF"/>
                          </a:solidFill>
                          <a:latin typeface="Arial"/>
                        </a:rPr>
                        <a:t>Example awardees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80A4B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Arial"/>
                        </a:rPr>
                        <a:t>MSR</a:t>
                      </a:r>
                      <a:r>
                        <a:rPr lang="en-US" sz="900" b="1" i="0" dirty="0">
                          <a:solidFill>
                            <a:srgbClr val="162029"/>
                          </a:solidFill>
                          <a:latin typeface="Arial"/>
                        </a:rPr>
                        <a:t>A</a:t>
                      </a:r>
                    </a:p>
                    <a:p>
                      <a:pPr algn="l">
                        <a:buNone/>
                      </a:pPr>
                      <a:r>
                        <a:rPr sz="800" b="0" i="1" dirty="0">
                          <a:solidFill>
                            <a:srgbClr val="162029"/>
                          </a:solidFill>
                          <a:latin typeface="Arial"/>
                        </a:rPr>
                        <a:t>Master Ship Repair Agreement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dirty="0">
                          <a:solidFill>
                            <a:srgbClr val="162029"/>
                          </a:solidFill>
                          <a:latin typeface="Arial"/>
                        </a:rPr>
                        <a:t>DFARS master agreement (not a contract). CNRMC application per location: ship-repair identity, on-site survey, DCMA financial capability review. Tier 1/2/3 by workload capacity (22,000 or 1,040 man-days).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dirty="0">
                          <a:solidFill>
                            <a:srgbClr val="162029"/>
                          </a:solidFill>
                          <a:latin typeface="Arial"/>
                        </a:rPr>
                        <a:t>~123-day notional (up to ~1 year actual). 5-year recert; DCMA annual reviews.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dirty="0">
                          <a:solidFill>
                            <a:srgbClr val="162029"/>
                          </a:solidFill>
                          <a:latin typeface="Arial"/>
                        </a:rPr>
                        <a:t>~11 private CONUS yards. Tier-1 primes (BAE, GD NASSCO, HII, Vigor, </a:t>
                      </a:r>
                      <a:r>
                        <a:rPr sz="900" b="0" i="0" dirty="0" err="1">
                          <a:solidFill>
                            <a:srgbClr val="162029"/>
                          </a:solidFill>
                          <a:latin typeface="Arial"/>
                        </a:rPr>
                        <a:t>Detyens</a:t>
                      </a:r>
                      <a:r>
                        <a:rPr sz="900" b="0" i="0" dirty="0">
                          <a:solidFill>
                            <a:srgbClr val="162029"/>
                          </a:solidFill>
                          <a:latin typeface="Arial"/>
                        </a:rPr>
                        <a:t>) anchor depot $ share.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00" b="1" i="0" dirty="0">
                          <a:solidFill>
                            <a:srgbClr val="162029"/>
                          </a:solidFill>
                          <a:latin typeface="+mn-lt"/>
                        </a:rPr>
                        <a:t>MAC-MO</a:t>
                      </a:r>
                    </a:p>
                    <a:p>
                      <a:pPr algn="l">
                        <a:buNone/>
                      </a:pPr>
                      <a:r>
                        <a:rPr lang="en-US" sz="800" b="0" i="1" dirty="0">
                          <a:solidFill>
                            <a:srgbClr val="162029"/>
                          </a:solidFill>
                          <a:latin typeface="+mn-lt"/>
                        </a:rPr>
                        <a:t>Multiple-Award Contract, Maintenance and Overhaul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>
                          <a:solidFill>
                            <a:srgbClr val="162029"/>
                          </a:solidFill>
                          <a:latin typeface="Arial"/>
                        </a:rPr>
                        <a:t>Navy ship-maintenance strategy, not a standing qualification. Pre-qualified contractors compete per home port (SWRMC, MARMC, SERMC).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>
                          <a:solidFill>
                            <a:srgbClr val="162029"/>
                          </a:solidFill>
                          <a:latin typeface="Arial"/>
                        </a:rPr>
                        <a:t>~5-year period. Firm-fixed-price delivery orders per availability.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dirty="0">
                          <a:solidFill>
                            <a:srgbClr val="162029"/>
                          </a:solidFill>
                          <a:latin typeface="Arial"/>
                        </a:rPr>
                        <a:t>MSRA-holders who win each home-port pool solicitation.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 err="1">
                          <a:solidFill>
                            <a:srgbClr val="162029"/>
                          </a:solidFill>
                          <a:latin typeface="Arial"/>
                        </a:rPr>
                        <a:t>SeaPort-NxG</a:t>
                      </a:r>
                      <a:endParaRPr lang="en-US" sz="900" b="1" i="0" dirty="0">
                        <a:solidFill>
                          <a:srgbClr val="162029"/>
                        </a:solidFill>
                        <a:latin typeface="Arial"/>
                      </a:endParaRPr>
                    </a:p>
                    <a:p>
                      <a:pPr algn="l">
                        <a:buNone/>
                      </a:pPr>
                      <a:r>
                        <a:rPr sz="800" b="0" i="1" dirty="0">
                          <a:solidFill>
                            <a:srgbClr val="162029"/>
                          </a:solidFill>
                          <a:latin typeface="Arial"/>
                        </a:rPr>
                        <a:t>Navy Professional Support Services IDIQ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dirty="0">
                          <a:solidFill>
                            <a:srgbClr val="162029"/>
                          </a:solidFill>
                          <a:latin typeface="Arial"/>
                        </a:rPr>
                        <a:t>Rolling Admissions qualification (current solicitation N00178-24-R-7000). Engineering, PM, technical services; not depot repair.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dirty="0">
                          <a:solidFill>
                            <a:srgbClr val="162029"/>
                          </a:solidFill>
                          <a:latin typeface="Arial"/>
                        </a:rPr>
                        <a:t>5-year POP. Timing tied to open admissions window.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>
                          <a:solidFill>
                            <a:srgbClr val="162029"/>
                          </a:solidFill>
                          <a:latin typeface="Arial"/>
                        </a:rPr>
                        <a:t>Broad prime pool. Not a substitute for MSRA on shipyard MRO.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00" b="1" i="0" dirty="0" err="1">
                          <a:solidFill>
                            <a:srgbClr val="162029"/>
                          </a:solidFill>
                          <a:latin typeface="+mn-lt"/>
                        </a:rPr>
                        <a:t>FedMall</a:t>
                      </a:r>
                      <a:r>
                        <a:rPr lang="en-US" sz="900" b="1" i="0" dirty="0">
                          <a:solidFill>
                            <a:srgbClr val="162029"/>
                          </a:solidFill>
                          <a:latin typeface="+mn-lt"/>
                        </a:rPr>
                        <a:t> / GSA</a:t>
                      </a:r>
                    </a:p>
                    <a:p>
                      <a:pPr algn="l">
                        <a:buNone/>
                      </a:pPr>
                      <a:r>
                        <a:rPr lang="en-US" sz="800" b="0" i="1" dirty="0">
                          <a:solidFill>
                            <a:srgbClr val="162029"/>
                          </a:solidFill>
                          <a:latin typeface="+mn-lt"/>
                        </a:rPr>
                        <a:t>Small-purchase and professional services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dirty="0" err="1">
                          <a:solidFill>
                            <a:srgbClr val="162029"/>
                          </a:solidFill>
                          <a:latin typeface="Arial"/>
                        </a:rPr>
                        <a:t>FedMall</a:t>
                      </a:r>
                      <a:r>
                        <a:rPr sz="900" b="0" i="0" dirty="0">
                          <a:solidFill>
                            <a:srgbClr val="162029"/>
                          </a:solidFill>
                          <a:latin typeface="Arial"/>
                        </a:rPr>
                        <a:t> is DLA's catalog portal (typically paired with LTA/BPA). GSA MAS and OASIS+ for catalog and professional services. Outside the depot MRO pipeline.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>
                          <a:solidFill>
                            <a:srgbClr val="162029"/>
                          </a:solidFill>
                          <a:latin typeface="Arial"/>
                        </a:rPr>
                        <a:t>FedMall &lt;$250K small-purchase. GSA MAS 5-year option periods.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>
                          <a:solidFill>
                            <a:srgbClr val="162029"/>
                          </a:solidFill>
                          <a:latin typeface="Arial"/>
                        </a:rPr>
                        <a:t>Broad vendor base. Typical use: OEM parts, husbanding, ancillary technical services.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6350" cap="flat" cmpd="sng" algn="ctr">
                      <a:solidFill>
                        <a:srgbClr val="16202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1" i="0" dirty="0">
                          <a:solidFill>
                            <a:srgbClr val="162029"/>
                          </a:solidFill>
                          <a:latin typeface="Arial"/>
                        </a:rPr>
                        <a:t>USCG/SFLC</a:t>
                      </a:r>
                      <a:endParaRPr lang="en-US" sz="900" b="1" i="0" dirty="0">
                        <a:solidFill>
                          <a:srgbClr val="162029"/>
                        </a:solidFill>
                        <a:latin typeface="Arial"/>
                      </a:endParaRPr>
                    </a:p>
                    <a:p>
                      <a:pPr algn="l">
                        <a:buNone/>
                      </a:pPr>
                      <a:r>
                        <a:rPr sz="800" b="0" i="1" dirty="0">
                          <a:solidFill>
                            <a:srgbClr val="162029"/>
                          </a:solidFill>
                          <a:latin typeface="Arial"/>
                        </a:rPr>
                        <a:t>Coast Guard procurement via SAM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>
                          <a:solidFill>
                            <a:srgbClr val="162029"/>
                          </a:solidFill>
                          <a:latin typeface="Arial"/>
                        </a:rPr>
                        <a:t>Separate gate, not Navy MSRA. Coast Guard solicitation requirements, NAICS 336611. For drydock work: Std Spec 8634 facility certification and qualified Dockmaster.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>
                          <a:solidFill>
                            <a:srgbClr val="162029"/>
                          </a:solidFill>
                          <a:latin typeface="Arial"/>
                        </a:rPr>
                        <a:t>Per-solicitation competition. Drydock certification submitted to the KO per facility.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00" b="0" i="0" dirty="0">
                          <a:solidFill>
                            <a:srgbClr val="162029"/>
                          </a:solidFill>
                          <a:latin typeface="Arial"/>
                        </a:rPr>
                        <a:t>CG-certified cutter repair yards. Dockside repair has lower gating than drydock.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</a:lnR>
                    <a:lnT w="6350" cap="flat" cmpd="sng" algn="ctr">
                      <a:solidFill>
                        <a:srgbClr val="162029"/>
                      </a:solidFill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7" name="BLD.contract_vehicles.callout.callout_1"/>
          <p:cNvSpPr/>
          <p:nvPr/>
        </p:nvSpPr>
        <p:spPr>
          <a:xfrm>
            <a:off x="7543800" y="2377439"/>
            <a:ext cx="4221784" cy="2548521"/>
          </a:xfrm>
          <a:prstGeom prst="rect">
            <a:avLst/>
          </a:prstGeom>
          <a:solidFill>
            <a:srgbClr val="D8E3EB"/>
          </a:solidFill>
          <a:ln w="9525">
            <a:solidFill>
              <a:srgbClr val="1D4D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>
            <a:noAutofit/>
          </a:bodyPr>
          <a:lstStyle/>
          <a:p>
            <a:pPr algn="l">
              <a:buNone/>
            </a:pPr>
            <a:r>
              <a:rPr sz="1100" b="1" i="0" dirty="0">
                <a:solidFill>
                  <a:srgbClr val="162029"/>
                </a:solidFill>
                <a:latin typeface="Arial"/>
              </a:rPr>
              <a:t>Qualification paths</a:t>
            </a:r>
          </a:p>
          <a:p>
            <a:pPr marL="228600" indent="-228600" algn="l">
              <a:buFont typeface="Arial"/>
              <a:buChar char="•"/>
            </a:pPr>
            <a:r>
              <a:rPr sz="1000" b="1" i="0" dirty="0">
                <a:solidFill>
                  <a:srgbClr val="162029"/>
                </a:solidFill>
                <a:latin typeface="Arial"/>
              </a:rPr>
              <a:t>SAM/UEI registration:</a:t>
            </a:r>
            <a:r>
              <a:rPr sz="1000" b="0" i="0" dirty="0">
                <a:solidFill>
                  <a:srgbClr val="162029"/>
                </a:solidFill>
                <a:latin typeface="Arial"/>
              </a:rPr>
              <a:t> Baseline for any federal bid; NAICS 336611 for ship repair.</a:t>
            </a:r>
          </a:p>
          <a:p>
            <a:pPr marL="228600" indent="-228600" algn="l">
              <a:buFont typeface="Arial"/>
              <a:buChar char="•"/>
            </a:pPr>
            <a:r>
              <a:rPr sz="1000" b="1" i="0" dirty="0">
                <a:solidFill>
                  <a:srgbClr val="162029"/>
                </a:solidFill>
                <a:latin typeface="Arial"/>
              </a:rPr>
              <a:t>MSRA (Navy gate):</a:t>
            </a:r>
            <a:r>
              <a:rPr sz="1000" b="0" i="0" dirty="0">
                <a:solidFill>
                  <a:srgbClr val="162029"/>
                </a:solidFill>
                <a:latin typeface="Arial"/>
              </a:rPr>
              <a:t> DFARS master agreement, location-specific, Tier 1/2/3 by workload capacity. DCMA financial review; 5-year recertification.</a:t>
            </a:r>
          </a:p>
          <a:p>
            <a:pPr marL="228600" indent="-228600" algn="l">
              <a:buFont typeface="Arial"/>
              <a:buChar char="•"/>
            </a:pPr>
            <a:r>
              <a:rPr sz="1000" b="1" i="0" dirty="0">
                <a:solidFill>
                  <a:srgbClr val="162029"/>
                </a:solidFill>
                <a:latin typeface="Arial"/>
              </a:rPr>
              <a:t>MAC-MO home-port pool:</a:t>
            </a:r>
            <a:r>
              <a:rPr sz="1000" b="0" i="0" dirty="0">
                <a:solidFill>
                  <a:srgbClr val="162029"/>
                </a:solidFill>
                <a:latin typeface="Arial"/>
              </a:rPr>
              <a:t> Win the regional competition (SWRMC, MARMC, SERMC) for FFP delivery orders on home-port availabilities.</a:t>
            </a:r>
          </a:p>
          <a:p>
            <a:pPr marL="228600" indent="-228600" algn="l">
              <a:buFont typeface="Arial"/>
              <a:buChar char="•"/>
            </a:pPr>
            <a:r>
              <a:rPr sz="1000" b="1" i="0" dirty="0">
                <a:solidFill>
                  <a:srgbClr val="162029"/>
                </a:solidFill>
                <a:latin typeface="Arial"/>
              </a:rPr>
              <a:t>Coast Guard MRO:</a:t>
            </a:r>
            <a:r>
              <a:rPr sz="1000" b="0" i="0" dirty="0">
                <a:solidFill>
                  <a:srgbClr val="162029"/>
                </a:solidFill>
                <a:latin typeface="Arial"/>
              </a:rPr>
              <a:t> USCG SFLC direct solicitations on SAM. For drydock work, Std Spec 8634 facility certification and a qualified Dockmaster.</a:t>
            </a:r>
          </a:p>
          <a:p>
            <a:pPr marL="228600" indent="-228600" algn="l">
              <a:buFont typeface="Arial"/>
              <a:buChar char="•"/>
            </a:pPr>
            <a:r>
              <a:rPr sz="1000" b="1" i="0" dirty="0">
                <a:solidFill>
                  <a:srgbClr val="162029"/>
                </a:solidFill>
                <a:latin typeface="Arial"/>
              </a:rPr>
              <a:t>Adjacent channels:</a:t>
            </a:r>
            <a:r>
              <a:rPr sz="1000" b="0" i="0" dirty="0">
                <a:solidFill>
                  <a:srgbClr val="162029"/>
                </a:solidFill>
                <a:latin typeface="Arial"/>
              </a:rPr>
              <a:t> </a:t>
            </a:r>
            <a:r>
              <a:rPr sz="1000" b="0" i="0" dirty="0" err="1">
                <a:solidFill>
                  <a:srgbClr val="162029"/>
                </a:solidFill>
                <a:latin typeface="Arial"/>
              </a:rPr>
              <a:t>SeaPort-NxG</a:t>
            </a:r>
            <a:r>
              <a:rPr sz="1000" b="0" i="0" dirty="0">
                <a:solidFill>
                  <a:srgbClr val="162029"/>
                </a:solidFill>
                <a:latin typeface="Arial"/>
              </a:rPr>
              <a:t> (pro services), </a:t>
            </a:r>
            <a:r>
              <a:rPr sz="1000" b="0" i="0" dirty="0" err="1">
                <a:solidFill>
                  <a:srgbClr val="162029"/>
                </a:solidFill>
                <a:latin typeface="Arial"/>
              </a:rPr>
              <a:t>FedMall</a:t>
            </a:r>
            <a:r>
              <a:rPr sz="1000" b="0" i="0" dirty="0">
                <a:solidFill>
                  <a:srgbClr val="162029"/>
                </a:solidFill>
                <a:latin typeface="Arial"/>
              </a:rPr>
              <a:t> (DLA catalog), GSA MAS and OASIS+; not gates for depot or drydock MRO.</a:t>
            </a:r>
          </a:p>
        </p:txBody>
      </p:sp>
      <p:sp>
        <p:nvSpPr>
          <p:cNvPr id="308" name="BLD.contract_vehicles.footer.main"/>
          <p:cNvSpPr txBox="1"/>
          <p:nvPr/>
        </p:nvSpPr>
        <p:spPr>
          <a:xfrm>
            <a:off x="457200" y="6037783"/>
            <a:ext cx="11308384" cy="502920"/>
          </a:xfrm>
          <a:prstGeom prst="rect">
            <a:avLst/>
          </a:prstGeom>
          <a:noFill/>
        </p:spPr>
        <p:txBody>
          <a:bodyPr wrap="square" lIns="0" tIns="18288" rIns="0" bIns="18288">
            <a:noAutofit/>
          </a:bodyPr>
          <a:lstStyle/>
          <a:p>
            <a:pPr algn="l">
              <a:buNone/>
            </a:pPr>
            <a:r>
              <a:rPr sz="800" b="0" i="0">
                <a:solidFill>
                  <a:srgbClr val="162029"/>
                </a:solidFill>
                <a:latin typeface="Arial"/>
              </a:rPr>
              <a:t>Sources: FPDS FY2025 obligations; DFARS 217.71 (Master Agreements); GAO MAC-MO references; CNRMC MSRA instruction (2025); USCG Std Spec 8634; data as of April 2026</a:t>
            </a:r>
          </a:p>
        </p:txBody>
      </p:sp>
      <p:sp>
        <p:nvSpPr>
          <p:cNvPr id="309" name="TextBox 8"/>
          <p:cNvSpPr txBox="1"/>
          <p:nvPr/>
        </p:nvSpPr>
        <p:spPr>
          <a:xfrm>
            <a:off x="452628" y="1340120"/>
            <a:ext cx="5029200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i="1" dirty="0"/>
              <a:t>Navy and Coast Guard MRO Contract Vehicles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4275</Words>
  <Application>Microsoft Macintosh PowerPoint</Application>
  <PresentationFormat>Widescreen</PresentationFormat>
  <Paragraphs>535</Paragraphs>
  <Slides>15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Arial (Body)</vt:lpstr>
      <vt:lpstr>Inter</vt:lpstr>
      <vt:lpstr>Wingdings</vt:lpstr>
      <vt:lpstr>Saronic Theme</vt:lpstr>
      <vt:lpstr>think-cell Slide</vt:lpstr>
      <vt:lpstr>April 2026</vt:lpstr>
      <vt:lpstr>PowerPoint Presentation</vt:lpstr>
      <vt:lpstr>Definitions | Sizing breaks the MRO market into five nested levels.</vt:lpstr>
      <vt:lpstr>Bottom-Up Methodology | Filtering FPDS awards to 65 ship-MRO service codes sizes the reconciled FPDS-visible MRO TAM at $9.0B.</vt:lpstr>
      <vt:lpstr>Vessel Taxonomy | MRO TAM scope covers every SECNAV and USCG hull category.</vt:lpstr>
      <vt:lpstr>MRO Work Segments | Depot ship repair and nuclear and complex overhauls captured ~75% of FY2025 MRO TAM.</vt:lpstr>
      <vt:lpstr>TAM Composition | Depot ship repair and nuclear and complex overhauls drove ~74% of MRO TAM, led by DDG and SSN/CVN work.</vt:lpstr>
      <vt:lpstr>Top-Down Composition | Public Naval Shipyard labor leads the $17.0B budget-anchored MRO at 44%, ahead of OMN 1B4B private availabilities at 25%.</vt:lpstr>
      <vt:lpstr>Top-Down Funnel | Removing the $7.49B Public NSY labor floor from the $17.0B budget leaves $9.5B of non-public-NSY MRO, near the $9.0B bottom-up TAM.</vt:lpstr>
      <vt:lpstr>Reconciliation Bridge | Public Naval Shipyard labor of $7.49B is the structural FPDS-invisible gap between the $17.0B top-down and $9.0B bottom-up MRO.</vt:lpstr>
      <vt:lpstr>Non-Public-NSY Cross-Check | Non-public-NSY MRO of $9.51B converges within ~6% of the $8.97B reconciled bottom-up MRO TAM.</vt:lpstr>
      <vt:lpstr>Fleet Structure | The Marauder-comparable fleet spans 14 hull programs across three mission-fit tiers and anchors the SAM vessel universe.</vt:lpstr>
      <vt:lpstr>Marauder-Like Fleet MRO | Marauder-comparable fleet MRO totals $758M, with 82% concentrated in depot ship repair.</vt:lpstr>
      <vt:lpstr>PowerPoint Presentation</vt:lpstr>
      <vt:lpstr>Contract Vehicles &amp; Qualifications | MSRA and MAC-MO carry ~84% of Navy depot MRO, with Coast Guard cutter repair on a separate USCG track.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Navy &amp; USCG Vessel MRO - Market Sizing (TAM/SAM)</dc:title>
  <dc:creator>deck_mro build_deck.py</dc:creator>
  <cp:lastModifiedBy>Brendan Toole</cp:lastModifiedBy>
  <cp:revision>2</cp:revision>
  <dcterms:created xsi:type="dcterms:W3CDTF">2026-06-11T03:14:43Z</dcterms:created>
  <dcterms:modified xsi:type="dcterms:W3CDTF">2026-06-30T01:04:39Z</dcterms:modified>
</cp:coreProperties>
</file>